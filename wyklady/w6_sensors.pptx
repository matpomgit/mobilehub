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</p:sldIdLst>
  <p:sldSz cx="9144000" cy="5143500"/>
  <p:notesSz cx="51435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33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E45485-FC1A-4087-A02F-C482B9EC0FAB}" type="slidenum">
              <a:t>1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474467-555C-49D5-BB2F-2BA83F3B2AB2}" type="slidenum">
              <a:t>2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512E595-BC38-472F-93C6-805B2BAC6AA0}" type="slidenum">
              <a:t>3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4558698-71FC-49A9-BFB1-EA24BB370130}" type="slidenum">
              <a:t>4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1AF9CB3-F95D-40C8-8743-B5840C921E20}" type="slidenum">
              <a:t>5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4F1026C-E8E7-4572-B825-E215A343068F}" type="slidenum">
              <a:t>6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025C5E2-325E-45A1-B359-7187DC3A062B}" type="slidenum">
              <a:t>7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0CF89A3-830A-4E49-9AF7-2DDCDF75450F}" type="slidenum">
              <a:t>8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DAC68A-A82F-4809-9174-306407887895}" type="slidenum">
              <a:t>9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7E6E5E-8D08-41D4-8301-7E10476627B3}" type="slidenum">
              <a:t>10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A8395B-B8F5-4E63-914A-CA2DA1CF1313}" type="slidenum">
              <a:t>11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8A4775-A78D-434E-A1F0-CC62CA56702D}" type="slidenum">
              <a:t>12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4C5F138-7A6A-464F-9F72-9E9767AFC705}" type="slidenum">
              <a:t>13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A8EF0A2-944F-4EFE-BCF0-7435822F144D}" type="slidenum">
              <a:t>14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A5C45D-581C-4266-8136-79E78FBA9463}" type="slidenum">
              <a:t>15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98820BE-A3A8-4CFD-8FE4-1FFDBEEAC4CB}" type="slidenum">
              <a:t>16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74F81D2-9FF4-4BFB-B863-CD7ABF9D86DF}" type="slidenum">
              <a:t>17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31AC9C5-0F58-43D8-8107-003F4C3D31C4}" type="slidenum">
              <a:t>18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5C899C-F875-4685-8CB8-29A6FA27D5B5}" type="slidenum">
              <a:t>19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634DC9-F954-4037-9B08-A4103E151890}" type="slidenum">
              <a:t>20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CEB30A-308D-43EF-8737-16C8614E7718}" type="slidenum">
              <a:t>21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7FC92E-13EA-439A-8B3B-47E403D3DCCB}" type="slidenum">
              <a:t>22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652FEC-2067-4787-871A-C0E65236C921}" type="slidenum">
              <a:t>23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C99F2F-7C67-4119-88B8-72D0F6B6791C}" type="slidenum">
              <a:t>24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079A09E-49D5-4392-BCF6-A8E2E0CC94D6}" type="slidenum">
              <a:t>25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3EA5719-9D06-4783-9D4F-BEDB3E50AD90}" type="slidenum">
              <a:t>26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EC3A3A6-073D-4EBA-B463-6ADB08F13361}" type="slidenum">
              <a:t>27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8563A90-7D45-4690-913A-7DF209E2FDA4}" type="slidenum">
              <a:t>28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8B1760E-9FE0-4350-B44A-4CDBA120BA3E}" type="slidenum">
              <a:t>29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2"/>
          <p:cNvSpPr txBox="1"/>
          <p:nvPr/>
        </p:nvSpPr>
        <p:spPr>
          <a:xfrm>
            <a:off x="2913058" y="0"/>
            <a:ext cx="222885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1867343-B5F0-4C04-83D1-1291D53D7882}" type="datetime1"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14.03.2026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laceHolder 3"/>
          <p:cNvSpPr txBox="1"/>
          <p:nvPr/>
        </p:nvSpPr>
        <p:spPr>
          <a:xfrm>
            <a:off x="0" y="0"/>
            <a:ext cx="222885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4" name="PlaceHolder 4"/>
          <p:cNvSpPr txBox="1"/>
          <p:nvPr/>
        </p:nvSpPr>
        <p:spPr>
          <a:xfrm>
            <a:off x="2913058" y="0"/>
            <a:ext cx="222885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5" name="PlaceHolder 5"/>
          <p:cNvSpPr txBox="1"/>
          <p:nvPr/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rPr>
              <a:t> </a:t>
            </a:r>
          </a:p>
        </p:txBody>
      </p:sp>
      <p:sp>
        <p:nvSpPr>
          <p:cNvPr id="6" name="PlaceHolder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C19A7DB-0A98-471F-A93B-22DB16285CAC}" type="slidenum">
              <a:t>30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Times New Roman"/>
              <a:ea typeface="DejaVu Sans"/>
              <a:cs typeface="DejaVu Sans"/>
            </a:endParaRPr>
          </a:p>
        </p:txBody>
      </p:sp>
      <p:sp>
        <p:nvSpPr>
          <p:cNvPr id="7" name="Symbol zastępczy numeru slajdu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A4AA21-8BF9-46A9-8C27-B4770E8CA7AA}" type="slidenum">
              <a:t>30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Times New Roman"/>
              <a:ea typeface="DejaVu Sans"/>
              <a:cs typeface="DejaVu Sans"/>
            </a:endParaRPr>
          </a:p>
        </p:txBody>
      </p:sp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solidFill>
            <a:srgbClr val="5B9BD5"/>
          </a:solidFill>
          <a:ln w="12600" cap="flat">
            <a:solidFill>
              <a:srgbClr val="41719C"/>
            </a:solidFill>
            <a:prstDash val="solid"/>
            <a:miter/>
          </a:ln>
        </p:spPr>
      </p:sp>
      <p:sp>
        <p:nvSpPr>
          <p:cNvPr id="9" name="PlaceHolder 2"/>
          <p:cNvSpPr txBox="1">
            <a:spLocks noGrp="1"/>
          </p:cNvSpPr>
          <p:nvPr>
            <p:ph type="body" idx="1"/>
          </p:nvPr>
        </p:nvSpPr>
        <p:spPr>
          <a:xfrm>
            <a:off x="685800" y="4400641"/>
            <a:ext cx="5485677" cy="35996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Najważniejszym trendem w rozwoju urządzeń mobilnych jest obecnie </a:t>
            </a:r>
            <a:r>
              <a:rPr lang="pl-PL" b="1">
                <a:solidFill>
                  <a:srgbClr val="000000"/>
                </a:solidFill>
                <a:latin typeface="Calibri"/>
              </a:rPr>
              <a:t>sztuczna inteligencja działająca bezpośrednio na urządzeniu</a:t>
            </a:r>
            <a:r>
              <a:rPr lang="pl-PL">
                <a:solidFill>
                  <a:srgbClr val="000000"/>
                </a:solidFill>
                <a:latin typeface="Calibri"/>
              </a:rPr>
              <a:t>.</a:t>
            </a:r>
          </a:p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Dzięki coraz bardziej wydajnym akceleratorom AI możliwe jest uruchamianie modeli językowych oraz modeli generatywnych bezpośrednio na smartfonie.</a:t>
            </a:r>
          </a:p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Drugim ważnym trendem jest dalsza miniaturyzacja układów scalonych. Nowoczesne procesory mobilne są produkowane w procesach technologicznych rzędu kilku nanometrów.</a:t>
            </a:r>
          </a:p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Rozwijają się również technologie komunikacyjne, w tym </a:t>
            </a:r>
            <a:r>
              <a:rPr lang="pl-PL" b="1">
                <a:solidFill>
                  <a:srgbClr val="000000"/>
                </a:solidFill>
                <a:latin typeface="Calibri"/>
              </a:rPr>
              <a:t>łączność satelitarna</a:t>
            </a:r>
            <a:r>
              <a:rPr lang="pl-PL">
                <a:solidFill>
                  <a:srgbClr val="000000"/>
                </a:solidFill>
                <a:latin typeface="Calibri"/>
              </a:rPr>
              <a:t>, która umożliwia wysyłanie wiadomości nawet poza zasięgiem sieci komórkowych.</a:t>
            </a:r>
          </a:p>
          <a:p>
            <a:pPr lvl="0"/>
            <a:endParaRPr lang="pl-PL">
              <a:solidFill>
                <a:srgbClr val="000000"/>
              </a:solidFill>
              <a:latin typeface="Calibri"/>
            </a:endParaRPr>
          </a:p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_______</a:t>
            </a:r>
          </a:p>
          <a:p>
            <a:pPr lvl="0"/>
            <a:r>
              <a:rPr lang="pl-PL">
                <a:solidFill>
                  <a:srgbClr val="000000"/>
                </a:solidFill>
                <a:latin typeface="Calibri"/>
              </a:rPr>
              <a:t>Najważniejsze trendy rozwoju technologii mobilnych to:</a:t>
            </a:r>
          </a:p>
          <a:p>
            <a:pPr marL="343082" lvl="0" indent="-343082">
              <a:buSzPct val="100000"/>
              <a:buFont typeface="Arial" pitchFamily="34"/>
              <a:buChar char="•"/>
            </a:pPr>
            <a:r>
              <a:rPr lang="pl-PL">
                <a:solidFill>
                  <a:srgbClr val="000000"/>
                </a:solidFill>
                <a:latin typeface="Calibri"/>
              </a:rPr>
              <a:t>AI działające bezpośrednio na urządzeniu</a:t>
            </a:r>
          </a:p>
          <a:p>
            <a:pPr marL="343082" lvl="0" indent="-343082">
              <a:buSzPct val="100000"/>
              <a:buFont typeface="Arial" pitchFamily="34"/>
              <a:buChar char="•"/>
            </a:pPr>
            <a:r>
              <a:rPr lang="pl-PL">
                <a:solidFill>
                  <a:srgbClr val="000000"/>
                </a:solidFill>
                <a:latin typeface="Calibri"/>
              </a:rPr>
              <a:t>szybsze ładowanie</a:t>
            </a:r>
          </a:p>
          <a:p>
            <a:pPr marL="343082" lvl="0" indent="-343082">
              <a:buSzPct val="100000"/>
              <a:buFont typeface="Arial" pitchFamily="34"/>
              <a:buChar char="•"/>
            </a:pPr>
            <a:r>
              <a:rPr lang="pl-PL">
                <a:solidFill>
                  <a:srgbClr val="000000"/>
                </a:solidFill>
                <a:latin typeface="Calibri"/>
              </a:rPr>
              <a:t>nowe technologie półprzewodnikowe.</a:t>
            </a:r>
          </a:p>
          <a:p>
            <a:pPr lvl="0"/>
            <a:endParaRPr lang="pl-PL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 txBox="1"/>
          <p:nvPr/>
        </p:nvSpPr>
        <p:spPr>
          <a:xfrm>
            <a:off x="3884755" y="8685364"/>
            <a:ext cx="2971077" cy="4579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57F235-732E-403F-9AD2-471EAF6C9C08}" type="slidenum">
              <a:t>30</a:t>
            </a:fld>
            <a:endParaRPr lang="pl-PL" sz="12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Symbol zastępczy numeru slajdu 4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36D3FF-48B8-4AC1-A33F-4058110DDFE0}" type="slidenum">
              <a:t>30</a:t>
            </a:fld>
            <a:endParaRPr lang="pl-PL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l-PL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4C30A8E-34B5-4D9A-B049-B166A97B4B5B}" type="slidenum">
              <a:t>31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552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quarte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A8120A9-8545-4B09-A153-481FEEF0102A}" type="datetime1">
              <a:rPr lang="en-US"/>
              <a:pPr lvl="0"/>
              <a:t>3/14/2026</a:t>
            </a:fld>
            <a:endParaRPr lang="en-US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pl-PL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A578DFC-EFD8-4FB6-8FFE-810478EDEE6E}" type="slidenum">
              <a:t>‹#›</a:t>
            </a:fld>
            <a:endParaRPr lang="pl-PL"/>
          </a:p>
        </p:txBody>
      </p:sp>
      <p:sp>
        <p:nvSpPr>
          <p:cNvPr id="5" name="Tytuł 4"/>
          <p:cNvSpPr txBox="1">
            <a:spLocks noGrp="1"/>
          </p:cNvSpPr>
          <p:nvPr>
            <p:ph type="title" sz="quarter" idx="4294967295"/>
          </p:nvPr>
        </p:nvSpPr>
        <p:spPr>
          <a:xfrm>
            <a:off x="457200" y="205200"/>
            <a:ext cx="8229243" cy="85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fontAlgn="auto" hangingPunct="0">
              <a:spcBef>
                <a:spcPts val="0"/>
              </a:spcBef>
              <a:spcAft>
                <a:spcPts val="0"/>
              </a:spcAft>
              <a:tabLst/>
              <a:defRPr lang="pl-PL" b="0" i="0" u="none" strike="noStrike" cap="none" spc="0" baseline="0">
                <a:solidFill>
                  <a:srgbClr val="000000"/>
                </a:solidFill>
                <a:uFillTx/>
                <a:latin typeface="Liberation Sans" pitchFamily="18"/>
              </a:defRPr>
            </a:lvl1pPr>
          </a:lstStyle>
          <a:p>
            <a:pPr lvl="0"/>
            <a:endParaRPr lang="pl-PL"/>
          </a:p>
        </p:txBody>
      </p:sp>
      <p:sp>
        <p:nvSpPr>
          <p:cNvPr id="6" name="Symbol zastępczy tekstu 5"/>
          <p:cNvSpPr txBox="1">
            <a:spLocks noGrp="1"/>
          </p:cNvSpPr>
          <p:nvPr>
            <p:ph type="body" sz="quarter" idx="4294967295"/>
          </p:nvPr>
        </p:nvSpPr>
        <p:spPr>
          <a:xfrm>
            <a:off x="457200" y="1203478"/>
            <a:ext cx="8229243" cy="29825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R="0" lvl="0" fontAlgn="auto" hangingPunct="0">
              <a:spcBef>
                <a:spcPts val="1415"/>
              </a:spcBef>
              <a:spcAft>
                <a:spcPts val="0"/>
              </a:spcAft>
              <a:buSzPct val="100000"/>
              <a:buFont typeface="Arial" pitchFamily="34"/>
              <a:tabLst/>
              <a:defRPr lang="pl-PL" sz="3200" b="0" i="0" u="none" strike="noStrike" cap="none" spc="0" baseline="0">
                <a:solidFill>
                  <a:srgbClr val="000000"/>
                </a:solidFill>
                <a:uFillTx/>
                <a:latin typeface="Liberation Sans" pitchFamily="18"/>
              </a:defRPr>
            </a:lvl1pPr>
          </a:lstStyle>
          <a:p>
            <a:pPr lvl="0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0793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66359" y="0"/>
            <a:ext cx="3977639" cy="5143499"/>
          </a:xfrm>
          <a:prstGeom prst="rect">
            <a:avLst/>
          </a:prstGeom>
          <a:solidFill>
            <a:srgbClr val="112233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48072" y="0"/>
            <a:ext cx="45720" cy="5143499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43891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500" baseline="0">
                <a:solidFill>
                  <a:srgbClr val="0891B2"/>
                </a:solidFill>
                <a:uFillTx/>
                <a:latin typeface="Calibri"/>
                <a:ea typeface="Calibri"/>
                <a:cs typeface="Calibri"/>
              </a:rPr>
              <a:t>WYKŁAD 6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389120" cy="182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Obsługa </a:t>
            </a:r>
            <a:r>
              <a:rPr lang="pl-PL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</a:t>
            </a: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ensorów</a:t>
            </a:r>
            <a:endParaRPr lang="en-US" sz="3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</a:t>
            </a: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rządze</a:t>
            </a:r>
            <a:r>
              <a:rPr lang="pl-PL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ń</a:t>
            </a: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pl-PL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</a:t>
            </a: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obiln</a:t>
            </a:r>
            <a:r>
              <a:rPr lang="pl-PL" sz="3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ych</a:t>
            </a:r>
            <a:endParaRPr lang="en-US" sz="3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1188720" cy="36576"/>
          </a:xfrm>
          <a:prstGeom prst="rect">
            <a:avLst/>
          </a:prstGeom>
          <a:solidFill>
            <a:srgbClr val="22D3E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035808"/>
            <a:ext cx="438912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Przedmiot: Programowanie Aplikacji Mobilnych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438912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15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dr inż. Mateusz Pomianek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584448"/>
            <a:ext cx="438912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Android · iOS · Flutter · Sensor Fusion · Privacy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76672" y="777240"/>
            <a:ext cx="45720" cy="40233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41264" y="777240"/>
            <a:ext cx="338328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Hardware MEMS — Fizyka Sensorów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76672" y="1527048"/>
            <a:ext cx="45720" cy="40233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41264" y="1527048"/>
            <a:ext cx="338328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Android &amp; iOS Sensor APIs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76672" y="2276856"/>
            <a:ext cx="45720" cy="40233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41264" y="2276856"/>
            <a:ext cx="338328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Fuzja Sensorów — Filtr Kalmana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76672" y="3026663"/>
            <a:ext cx="45720" cy="40233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41264" y="3026663"/>
            <a:ext cx="338328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GPS, Indoor &amp; Geofencing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376672" y="3776472"/>
            <a:ext cx="45720" cy="402336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41264" y="3776472"/>
            <a:ext cx="338328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Prywatność, Bateria &amp; Bezpieczeństwo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F1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22445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© Katedra Informatyki </a:t>
            </a:r>
            <a:r>
              <a:rPr lang="pl-PL" sz="900" b="0" i="0" u="none" strike="noStrike" kern="1200" cap="none" spc="0" baseline="0">
                <a:solidFill>
                  <a:srgbClr val="22445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i Automatyki |</a:t>
            </a:r>
            <a:r>
              <a:rPr lang="en-US" sz="900" b="0" i="0" u="none" strike="noStrike" kern="1200" cap="none" spc="0" baseline="0">
                <a:solidFill>
                  <a:srgbClr val="22445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Obsługa Sensorów Urządzenia Mobilnego</a:t>
            </a:r>
            <a:r>
              <a:rPr lang="pl-PL" sz="900" b="0" i="0" u="none" strike="noStrike" kern="1200" cap="none" spc="0" baseline="0">
                <a:solidFill>
                  <a:srgbClr val="22445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| v1.1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Plan Wykładu — 30 Slajdów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Shape 5"/>
          <p:cNvSpPr/>
          <p:nvPr/>
        </p:nvSpPr>
        <p:spPr>
          <a:xfrm>
            <a:off x="320040" y="804672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804672"/>
            <a:ext cx="54864" cy="449409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7"/>
          <p:cNvSpPr/>
          <p:nvPr/>
        </p:nvSpPr>
        <p:spPr>
          <a:xfrm>
            <a:off x="448056" y="839245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1–3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012094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Wprowadzenie — taksonomia sensorów, sprzęt MEMS, ekosystem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hape 9"/>
          <p:cNvSpPr/>
          <p:nvPr/>
        </p:nvSpPr>
        <p:spPr>
          <a:xfrm>
            <a:off x="4727448" y="804672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4727448" y="804672"/>
            <a:ext cx="54864" cy="44940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855464" y="839245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4–5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855464" y="1012094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Android Sensor Framework — architektura i API Kotlin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320040" y="1323219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1323219"/>
            <a:ext cx="54864" cy="449409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448056" y="1357792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1D4ED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6–7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1530632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iOS Core Motion — architektura i implementacja Swift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4727448" y="1323219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4727448" y="1323219"/>
            <a:ext cx="54864" cy="449409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4855464" y="1357792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D9770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8–9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855464" y="1530632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 — fizyka, pomiar, filtrowanie i zastosowania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1"/>
          <p:cNvSpPr/>
          <p:nvPr/>
        </p:nvSpPr>
        <p:spPr>
          <a:xfrm>
            <a:off x="320040" y="1841766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1841766"/>
            <a:ext cx="54864" cy="449409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48056" y="1876330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EA580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10–11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2049179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Żyroskop — orientacja, kwaterniony i AHRS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25"/>
          <p:cNvSpPr/>
          <p:nvPr/>
        </p:nvSpPr>
        <p:spPr>
          <a:xfrm>
            <a:off x="4727448" y="1841766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4727448" y="1841766"/>
            <a:ext cx="54864" cy="449409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855464" y="1876330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C3AED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12–13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855464" y="2049179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Magnetometr, kompas i sensory środowiskowe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29"/>
          <p:cNvSpPr/>
          <p:nvPr/>
        </p:nvSpPr>
        <p:spPr>
          <a:xfrm>
            <a:off x="320040" y="2360313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320040" y="2360313"/>
            <a:ext cx="54864" cy="449409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448056" y="2394877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14–15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48056" y="2567726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 i GNSS — satelity, dokładność i Fused Location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Shape 33"/>
          <p:cNvSpPr/>
          <p:nvPr/>
        </p:nvSpPr>
        <p:spPr>
          <a:xfrm>
            <a:off x="4727448" y="2360313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4727448" y="2360313"/>
            <a:ext cx="54864" cy="44940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4855464" y="2394877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16–17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855464" y="2567726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Indoor Positioning — Wi-Fi, BLE, UWB, Dead Reckoning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320040" y="2878851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8"/>
          <p:cNvSpPr/>
          <p:nvPr/>
        </p:nvSpPr>
        <p:spPr>
          <a:xfrm>
            <a:off x="320040" y="2878851"/>
            <a:ext cx="54864" cy="449409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48056" y="2913424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1D4ED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18–19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448056" y="3086273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Fuzja Sensorów — filtr komplementarny i Kalmana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4727448" y="2878851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Shape 42"/>
          <p:cNvSpPr/>
          <p:nvPr/>
        </p:nvSpPr>
        <p:spPr>
          <a:xfrm>
            <a:off x="4727448" y="2878851"/>
            <a:ext cx="54864" cy="449409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4855464" y="2913424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D9770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20–21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44"/>
          <p:cNvSpPr/>
          <p:nvPr/>
        </p:nvSpPr>
        <p:spPr>
          <a:xfrm>
            <a:off x="4855464" y="3086273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Kamera jako Sensor — Camera2, CV i ARCore/ARKit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Shape 45"/>
          <p:cNvSpPr/>
          <p:nvPr/>
        </p:nvSpPr>
        <p:spPr>
          <a:xfrm>
            <a:off x="320040" y="3397398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Shape 46"/>
          <p:cNvSpPr/>
          <p:nvPr/>
        </p:nvSpPr>
        <p:spPr>
          <a:xfrm>
            <a:off x="320040" y="3397398"/>
            <a:ext cx="54864" cy="449409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Text 47"/>
          <p:cNvSpPr/>
          <p:nvPr/>
        </p:nvSpPr>
        <p:spPr>
          <a:xfrm>
            <a:off x="448056" y="3431971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EA580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22–23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Text 48"/>
          <p:cNvSpPr/>
          <p:nvPr/>
        </p:nvSpPr>
        <p:spPr>
          <a:xfrm>
            <a:off x="448056" y="3604820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 Biometryczne — odcisk palca, Face ID, PPG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Shape 49"/>
          <p:cNvSpPr/>
          <p:nvPr/>
        </p:nvSpPr>
        <p:spPr>
          <a:xfrm>
            <a:off x="4727448" y="3397398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Shape 50"/>
          <p:cNvSpPr/>
          <p:nvPr/>
        </p:nvSpPr>
        <p:spPr>
          <a:xfrm>
            <a:off x="4727448" y="3397398"/>
            <a:ext cx="54864" cy="449409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51"/>
          <p:cNvSpPr/>
          <p:nvPr/>
        </p:nvSpPr>
        <p:spPr>
          <a:xfrm>
            <a:off x="4855464" y="3431971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C3AED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24–25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Text 52"/>
          <p:cNvSpPr/>
          <p:nvPr/>
        </p:nvSpPr>
        <p:spPr>
          <a:xfrm>
            <a:off x="4855464" y="3604820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Aktywność Fizyczna — step detection, Activity Recognition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Shape 53"/>
          <p:cNvSpPr/>
          <p:nvPr/>
        </p:nvSpPr>
        <p:spPr>
          <a:xfrm>
            <a:off x="320040" y="3915945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Shape 54"/>
          <p:cNvSpPr/>
          <p:nvPr/>
        </p:nvSpPr>
        <p:spPr>
          <a:xfrm>
            <a:off x="320040" y="3915945"/>
            <a:ext cx="54864" cy="449409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Text 55"/>
          <p:cNvSpPr/>
          <p:nvPr/>
        </p:nvSpPr>
        <p:spPr>
          <a:xfrm>
            <a:off x="448056" y="3950518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26–27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Text 56"/>
          <p:cNvSpPr/>
          <p:nvPr/>
        </p:nvSpPr>
        <p:spPr>
          <a:xfrm>
            <a:off x="448056" y="4123367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Optymalizacja Baterii — Doze, batching, strategie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Shape 57"/>
          <p:cNvSpPr/>
          <p:nvPr/>
        </p:nvSpPr>
        <p:spPr>
          <a:xfrm>
            <a:off x="4727448" y="3915945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Shape 58"/>
          <p:cNvSpPr/>
          <p:nvPr/>
        </p:nvSpPr>
        <p:spPr>
          <a:xfrm>
            <a:off x="4727448" y="3915945"/>
            <a:ext cx="54864" cy="44940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Text 59"/>
          <p:cNvSpPr/>
          <p:nvPr/>
        </p:nvSpPr>
        <p:spPr>
          <a:xfrm>
            <a:off x="4855464" y="3950518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28–29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Text 60"/>
          <p:cNvSpPr/>
          <p:nvPr/>
        </p:nvSpPr>
        <p:spPr>
          <a:xfrm>
            <a:off x="4855464" y="4123367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Prywatność i Bezpieczeństwo — RODO, ataki, zabezpieczenia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61"/>
          <p:cNvSpPr/>
          <p:nvPr/>
        </p:nvSpPr>
        <p:spPr>
          <a:xfrm>
            <a:off x="320040" y="4434492"/>
            <a:ext cx="4251959" cy="44940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Shape 62"/>
          <p:cNvSpPr/>
          <p:nvPr/>
        </p:nvSpPr>
        <p:spPr>
          <a:xfrm>
            <a:off x="320040" y="4434492"/>
            <a:ext cx="54864" cy="449409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Text 63"/>
          <p:cNvSpPr/>
          <p:nvPr/>
        </p:nvSpPr>
        <p:spPr>
          <a:xfrm>
            <a:off x="448056" y="4469065"/>
            <a:ext cx="777240" cy="1555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1D4ED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Sl. 30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64"/>
          <p:cNvSpPr/>
          <p:nvPr/>
        </p:nvSpPr>
        <p:spPr>
          <a:xfrm>
            <a:off x="448056" y="4641905"/>
            <a:ext cx="4041648" cy="2074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Trendy i Podsumowanie — Edge AI, Spatial Computing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Sensory </a:t>
            </a:r>
            <a:r>
              <a:rPr lang="pl-PL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</a:t>
            </a: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rządzeń </a:t>
            </a:r>
            <a:r>
              <a:rPr lang="pl-PL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</a:t>
            </a: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obilnych —</a:t>
            </a:r>
            <a:r>
              <a:rPr lang="pl-PL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&gt;</a:t>
            </a: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 </a:t>
            </a:r>
            <a:r>
              <a:rPr lang="pl-PL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</a:t>
            </a: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efinicja i </a:t>
            </a:r>
            <a:r>
              <a:rPr lang="pl-PL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t</a:t>
            </a: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aksonomia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to przetwornik przekształcający wielkość fizyczną na sygnał elektryczny. </a:t>
            </a:r>
            <a:r>
              <a:rPr lang="pl-PL" sz="1200" b="0" i="1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/>
            </a:r>
            <a:br>
              <a:rPr lang="pl-PL" sz="1200" b="0" i="1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200" b="0" i="1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Smartfon zawiera 30–40+ sensorów sprzętowych i wirtualnych.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1664208" cy="32918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7"/>
          <p:cNvSpPr/>
          <p:nvPr/>
        </p:nvSpPr>
        <p:spPr>
          <a:xfrm>
            <a:off x="320040" y="1152144"/>
            <a:ext cx="16642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Ruch i orientacja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44752"/>
            <a:ext cx="1664208" cy="16642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hape 9"/>
          <p:cNvSpPr/>
          <p:nvPr/>
        </p:nvSpPr>
        <p:spPr>
          <a:xfrm>
            <a:off x="411480" y="1527048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557784" y="1508760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11480" y="1828800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557784" y="1810512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Żyroskop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411480" y="2130551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557784" y="2112263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Obrotomierz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411480" y="2432304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557784" y="2414016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kroków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411480" y="2734056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557784" y="2715768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Pochylenie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2084832" y="1115568"/>
            <a:ext cx="1664208" cy="32918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2084832" y="1152144"/>
            <a:ext cx="16642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Środowiskowe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1"/>
          <p:cNvSpPr/>
          <p:nvPr/>
        </p:nvSpPr>
        <p:spPr>
          <a:xfrm>
            <a:off x="2084832" y="1444752"/>
            <a:ext cx="1664208" cy="16642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2176272" y="1527048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2322576" y="1508760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Barometr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2176272" y="1828800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2322576" y="1810512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Termometr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2176272" y="2130551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2322576" y="2112263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Higrometr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2176272" y="2432304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2322576" y="2414016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Światłomierz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2176272" y="2734056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2322576" y="2715768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UV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3849624" y="1115568"/>
            <a:ext cx="1664208" cy="32918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3849624" y="1152144"/>
            <a:ext cx="16642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Pozycja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3849624" y="1444752"/>
            <a:ext cx="1664208" cy="16642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3941063" y="1527048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087368" y="1508760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 (GNSS)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3941063" y="1828800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087368" y="1810512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Magnetometr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3941063" y="2130551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4087368" y="2112263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Proximity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3941063" y="2432304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087368" y="2414016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NFC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43"/>
          <p:cNvSpPr/>
          <p:nvPr/>
        </p:nvSpPr>
        <p:spPr>
          <a:xfrm>
            <a:off x="3941063" y="2734056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44"/>
          <p:cNvSpPr/>
          <p:nvPr/>
        </p:nvSpPr>
        <p:spPr>
          <a:xfrm>
            <a:off x="4087368" y="2715768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Wi-Fi/BLE beacon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Shape 45"/>
          <p:cNvSpPr/>
          <p:nvPr/>
        </p:nvSpPr>
        <p:spPr>
          <a:xfrm>
            <a:off x="5614416" y="1115568"/>
            <a:ext cx="1664208" cy="329184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5614416" y="1152144"/>
            <a:ext cx="16642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Biometryczne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Shape 47"/>
          <p:cNvSpPr/>
          <p:nvPr/>
        </p:nvSpPr>
        <p:spPr>
          <a:xfrm>
            <a:off x="5614416" y="1444752"/>
            <a:ext cx="1664208" cy="16642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Shape 48"/>
          <p:cNvSpPr/>
          <p:nvPr/>
        </p:nvSpPr>
        <p:spPr>
          <a:xfrm>
            <a:off x="5705856" y="1527048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Text 49"/>
          <p:cNvSpPr/>
          <p:nvPr/>
        </p:nvSpPr>
        <p:spPr>
          <a:xfrm>
            <a:off x="5852160" y="1508760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Odcisk palca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Shape 50"/>
          <p:cNvSpPr/>
          <p:nvPr/>
        </p:nvSpPr>
        <p:spPr>
          <a:xfrm>
            <a:off x="5705856" y="1828800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51"/>
          <p:cNvSpPr/>
          <p:nvPr/>
        </p:nvSpPr>
        <p:spPr>
          <a:xfrm>
            <a:off x="5852160" y="1810512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Face ID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Shape 52"/>
          <p:cNvSpPr/>
          <p:nvPr/>
        </p:nvSpPr>
        <p:spPr>
          <a:xfrm>
            <a:off x="5705856" y="2130551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53"/>
          <p:cNvSpPr/>
          <p:nvPr/>
        </p:nvSpPr>
        <p:spPr>
          <a:xfrm>
            <a:off x="5852160" y="2112263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Tętno (PPG)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Shape 54"/>
          <p:cNvSpPr/>
          <p:nvPr/>
        </p:nvSpPr>
        <p:spPr>
          <a:xfrm>
            <a:off x="5705856" y="2432304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Text 55"/>
          <p:cNvSpPr/>
          <p:nvPr/>
        </p:nvSpPr>
        <p:spPr>
          <a:xfrm>
            <a:off x="5852160" y="2414016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SpO₂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Shape 56"/>
          <p:cNvSpPr/>
          <p:nvPr/>
        </p:nvSpPr>
        <p:spPr>
          <a:xfrm>
            <a:off x="5705856" y="2734056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Text 57"/>
          <p:cNvSpPr/>
          <p:nvPr/>
        </p:nvSpPr>
        <p:spPr>
          <a:xfrm>
            <a:off x="5852160" y="2715768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EEG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Shape 58"/>
          <p:cNvSpPr/>
          <p:nvPr/>
        </p:nvSpPr>
        <p:spPr>
          <a:xfrm>
            <a:off x="7379208" y="1115568"/>
            <a:ext cx="1664208" cy="329184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Text 59"/>
          <p:cNvSpPr/>
          <p:nvPr/>
        </p:nvSpPr>
        <p:spPr>
          <a:xfrm>
            <a:off x="7379208" y="1152144"/>
            <a:ext cx="16642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Obrazowe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Shape 60"/>
          <p:cNvSpPr/>
          <p:nvPr/>
        </p:nvSpPr>
        <p:spPr>
          <a:xfrm>
            <a:off x="7379208" y="1444752"/>
            <a:ext cx="1664208" cy="16642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61"/>
          <p:cNvSpPr/>
          <p:nvPr/>
        </p:nvSpPr>
        <p:spPr>
          <a:xfrm>
            <a:off x="7470648" y="1527048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62"/>
          <p:cNvSpPr/>
          <p:nvPr/>
        </p:nvSpPr>
        <p:spPr>
          <a:xfrm>
            <a:off x="7616952" y="1508760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Kamera RGB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Shape 63"/>
          <p:cNvSpPr/>
          <p:nvPr/>
        </p:nvSpPr>
        <p:spPr>
          <a:xfrm>
            <a:off x="7470648" y="1828800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64"/>
          <p:cNvSpPr/>
          <p:nvPr/>
        </p:nvSpPr>
        <p:spPr>
          <a:xfrm>
            <a:off x="7616952" y="1810512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Kamera ToF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Shape 65"/>
          <p:cNvSpPr/>
          <p:nvPr/>
        </p:nvSpPr>
        <p:spPr>
          <a:xfrm>
            <a:off x="7470648" y="2130551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Text 66"/>
          <p:cNvSpPr/>
          <p:nvPr/>
        </p:nvSpPr>
        <p:spPr>
          <a:xfrm>
            <a:off x="7616952" y="2112263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Kamera termiczna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Shape 67"/>
          <p:cNvSpPr/>
          <p:nvPr/>
        </p:nvSpPr>
        <p:spPr>
          <a:xfrm>
            <a:off x="7470648" y="2432304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9" name="Text 68"/>
          <p:cNvSpPr/>
          <p:nvPr/>
        </p:nvSpPr>
        <p:spPr>
          <a:xfrm>
            <a:off x="7616952" y="2414016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LiDAR (Pro)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0" name="Shape 69"/>
          <p:cNvSpPr/>
          <p:nvPr/>
        </p:nvSpPr>
        <p:spPr>
          <a:xfrm>
            <a:off x="7470648" y="2734056"/>
            <a:ext cx="100584" cy="10058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1" name="Text 70"/>
          <p:cNvSpPr/>
          <p:nvPr/>
        </p:nvSpPr>
        <p:spPr>
          <a:xfrm>
            <a:off x="7616952" y="2715768"/>
            <a:ext cx="138988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Iris scanner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2" name="Shape 71"/>
          <p:cNvSpPr/>
          <p:nvPr/>
        </p:nvSpPr>
        <p:spPr>
          <a:xfrm>
            <a:off x="320040" y="3273552"/>
            <a:ext cx="1965960" cy="1078992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3" name="Shape 72"/>
          <p:cNvSpPr/>
          <p:nvPr/>
        </p:nvSpPr>
        <p:spPr>
          <a:xfrm>
            <a:off x="320040" y="3273552"/>
            <a:ext cx="196596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73"/>
          <p:cNvSpPr/>
          <p:nvPr/>
        </p:nvSpPr>
        <p:spPr>
          <a:xfrm>
            <a:off x="320040" y="3364992"/>
            <a:ext cx="1965960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0891B2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40+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Text 74"/>
          <p:cNvSpPr/>
          <p:nvPr/>
        </p:nvSpPr>
        <p:spPr>
          <a:xfrm>
            <a:off x="320040" y="3913632"/>
            <a:ext cx="19659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Sensorów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iPhone 15 Pro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6" name="Shape 75"/>
          <p:cNvSpPr/>
          <p:nvPr/>
        </p:nvSpPr>
        <p:spPr>
          <a:xfrm>
            <a:off x="2423160" y="3273552"/>
            <a:ext cx="1965960" cy="1078992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7" name="Shape 76"/>
          <p:cNvSpPr/>
          <p:nvPr/>
        </p:nvSpPr>
        <p:spPr>
          <a:xfrm>
            <a:off x="2423160" y="3273552"/>
            <a:ext cx="1965960" cy="4572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8" name="Text 77"/>
          <p:cNvSpPr/>
          <p:nvPr/>
        </p:nvSpPr>
        <p:spPr>
          <a:xfrm>
            <a:off x="2423160" y="3364992"/>
            <a:ext cx="1965960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70%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9" name="Text 78"/>
          <p:cNvSpPr/>
          <p:nvPr/>
        </p:nvSpPr>
        <p:spPr>
          <a:xfrm>
            <a:off x="2423160" y="3913632"/>
            <a:ext cx="19659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Smartfonów z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combined IMU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0" name="Shape 79"/>
          <p:cNvSpPr/>
          <p:nvPr/>
        </p:nvSpPr>
        <p:spPr>
          <a:xfrm>
            <a:off x="4526280" y="3273552"/>
            <a:ext cx="1965960" cy="1078992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1" name="Shape 80"/>
          <p:cNvSpPr/>
          <p:nvPr/>
        </p:nvSpPr>
        <p:spPr>
          <a:xfrm>
            <a:off x="4526280" y="3273552"/>
            <a:ext cx="1965960" cy="4572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2" name="Text 81"/>
          <p:cNvSpPr/>
          <p:nvPr/>
        </p:nvSpPr>
        <p:spPr>
          <a:xfrm>
            <a:off x="4526280" y="3364992"/>
            <a:ext cx="1965960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1 kHz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4526280" y="3913632"/>
            <a:ext cx="19659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Max częstotliwość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próbkowania IMU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4" name="Shape 83"/>
          <p:cNvSpPr/>
          <p:nvPr/>
        </p:nvSpPr>
        <p:spPr>
          <a:xfrm>
            <a:off x="6629400" y="3273552"/>
            <a:ext cx="1965960" cy="1078992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5" name="Shape 84"/>
          <p:cNvSpPr/>
          <p:nvPr/>
        </p:nvSpPr>
        <p:spPr>
          <a:xfrm>
            <a:off x="6629400" y="3273552"/>
            <a:ext cx="1965960" cy="4572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6" name="Text 85"/>
          <p:cNvSpPr/>
          <p:nvPr/>
        </p:nvSpPr>
        <p:spPr>
          <a:xfrm>
            <a:off x="6629400" y="3364992"/>
            <a:ext cx="1965960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D9770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&lt; 1mA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7" name="Text 86"/>
          <p:cNvSpPr/>
          <p:nvPr/>
        </p:nvSpPr>
        <p:spPr>
          <a:xfrm>
            <a:off x="6629400" y="3913632"/>
            <a:ext cx="19659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CHRE zużycie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mocy (always-on)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87"/>
          <p:cNvSpPr/>
          <p:nvPr/>
        </p:nvSpPr>
        <p:spPr>
          <a:xfrm>
            <a:off x="320040" y="4535424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 wirtualne (fusion) = obliczane z kilku źródeł sprzętowych, np. Rotation Vector (acc+gyro+mag) · Linear Acceleration · Gravity · Orientation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Sensor Framework — Architektura Warstwowa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Android Sensor Framework (android.hardware) standaryzuje dostęp do wszystkich sensorów przez jednolite API, niezależnie od producenta sprzętu.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85039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115568"/>
            <a:ext cx="64008" cy="60350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115568"/>
            <a:ext cx="8503920" cy="3657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75488" y="1207008"/>
            <a:ext cx="34747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Aplikacja (Java/Kotlin/Native)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114800" y="1188720"/>
            <a:ext cx="46634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D4ED8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SensorManager · SensorEventListener · SensorEvent · SensorAdditionalInfo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389120" y="1719072"/>
            <a:ext cx="365760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1792224"/>
            <a:ext cx="85039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320040" y="1792224"/>
            <a:ext cx="64008" cy="60350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1792224"/>
            <a:ext cx="8503920" cy="3657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475488" y="1883664"/>
            <a:ext cx="34747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Framework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114800" y="1865376"/>
            <a:ext cx="46634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SensorService (system_server) · Sensor Fusion Engine · Calibration Service · CHRE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389120" y="2395728"/>
            <a:ext cx="365760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2468880"/>
            <a:ext cx="85039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2468880"/>
            <a:ext cx="64008" cy="60350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2468880"/>
            <a:ext cx="8503920" cy="3657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75488" y="2560320"/>
            <a:ext cx="34747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HAL 2.0 (AIDL/HIDL)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114800" y="2542032"/>
            <a:ext cx="46634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59669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ISensors → ISensorsCallback · Batch/Flush protocol · Direct Channel (shared memory)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389120" y="3072384"/>
            <a:ext cx="365760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320040" y="3145536"/>
            <a:ext cx="85039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25"/>
          <p:cNvSpPr/>
          <p:nvPr/>
        </p:nvSpPr>
        <p:spPr>
          <a:xfrm>
            <a:off x="320040" y="3145536"/>
            <a:ext cx="64008" cy="603504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320040" y="3145536"/>
            <a:ext cx="8503920" cy="3657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75488" y="3236976"/>
            <a:ext cx="34747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Kernel — Linux IIO Subsystem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114800" y="3218688"/>
            <a:ext cx="46634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D97706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Industrial I/O drivers · iio:device → sysfs attributes · DMA ring buffer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389120" y="3749039"/>
            <a:ext cx="365760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↓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320040" y="3822191"/>
            <a:ext cx="85039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320040" y="3822191"/>
            <a:ext cx="64008" cy="603504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320040" y="3822191"/>
            <a:ext cx="8503920" cy="36576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5488" y="3913632"/>
            <a:ext cx="34747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Sprzęt MEMS + SoC DSP/DSP Hub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114800" y="3895344"/>
            <a:ext cx="46634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EA580C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MEMS die (silicon springs) · ADC (Σ-Δ) · Dedicated DSP core (CHRE/M-coprocessor)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0F7FA"/>
          </a:solidFill>
          <a:ln w="12701" cap="flat">
            <a:solidFill>
              <a:srgbClr val="0891B2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🔬  CHRE (Context Hub Runtime Environment): dedykowany low-power DSP — przetwarza sensory gdy CPU uśpiony. Pobór &lt; 1 mA. Kluczowy dla Always-On (pedometr, OK Google, crash detection).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SensorManager — Rejestracja i Odczyt Sensorów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Każda aplikacja wchodzi w interakcję z sensorami przez SensorManager — centralny punkt dostępu, unikalny per kontekst systemowy.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Kluczowe klasy API: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SensorManager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getSystemService(SENSOR_SERVICE). Metody: getDefaultSensor(type), registerListener(), unregisterListener(). Jeden na aplikację.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084832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084832"/>
            <a:ext cx="54864" cy="6400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3969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04872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Obiekt czujnika. Właściwości: getType(), getName(), getVendor(), getResolution(), getMaximumRange(), getPower() [mA].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61488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61488"/>
            <a:ext cx="54864" cy="64008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1635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SensorEvent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081527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Zdarzenie: values[] (float[]), sensor, accuracy (0–3), timestamp [ns od boot]. Jedno zdarzenie per wywołanie callbacku.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38144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438144"/>
            <a:ext cx="54864" cy="64008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49300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Częstotliwości próbkowania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758183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NORMAL (200ms) · GAME (20ms) · FASTEST (0ms, max HW). Android 12+: żądana szybkość to wskazówka — nie gwarancja HW.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114800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320040" y="4114800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169663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Accuracy Callback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48056" y="4434840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onAccuracyChanged() → ACCURACY_HIGH / MEDIUM / LOW / UNRELIABLE. Kluczowe dla magnetometru — kalibracja ósemką.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Implementacja SensorEventListener: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1408176"/>
            <a:ext cx="4206240" cy="3328416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786384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54880" y="1463040"/>
            <a:ext cx="4041648" cy="32095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class SensorActivity : AppCompatActivity(),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SensorEventListener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private lateinit var sensorMgr: SensorManager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private var accel: Sensor? = null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override fun onCreate(b: Bundle?)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super.onCreate(b)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sensorMgr = getSystemService(SENSOR_SERVICE)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as SensorManager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accel = sensorMgr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.getDefaultSensor(Sensor.TYPE_ACCELEROMETER)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override fun onResume()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super.onResume()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accel?.also { sensor -&gt;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sensorMgr.registerListener(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this, sensor, SENSOR_DELAY_GAME,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5_000_000L // maxReportLatencyUs = 5 s batch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override fun onPause() {   // ZAWSZE odrejestruj!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super.onPause()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sensorMgr.unregisterListener(this)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Core Motion Framework — Architektura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Apple Core Motion unifikuje dostęp do IMU </a:t>
            </a:r>
            <a:r>
              <a:rPr lang="pl-PL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/>
            </a:r>
            <a:br>
              <a:rPr lang="pl-PL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akcelerometr, żyroskop, magnetometr, barometr i pedometr przez jeden obiekt CMMotionManager.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115568"/>
            <a:ext cx="54864" cy="82296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CMMotionManager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356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Centralny obiekt IMU. Jeden na aplikację (singleton). Zarządza startowaniem i zatrzymywaniem wszystkich czujników IMU.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4727448" y="11155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727448" y="1115568"/>
            <a:ext cx="54864" cy="82296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CMDeviceMotion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855464" y="14356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Fuzja — attitude (roll/pitch/yaw), rotationRate, gravity, userAcceleration, magneticField. Najlepsze API do ogólnego użytku.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0299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029968"/>
            <a:ext cx="54864" cy="82296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0848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CMAccelerometerData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3500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Surowe dane akcelerometru — acceleration.x/y/z [g]. Zawiera grawitację + przyspieszenie użytkownika łącznie.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4727448" y="20299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4727448" y="2029968"/>
            <a:ext cx="54864" cy="82296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855464" y="20848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CMGyroData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855464" y="23500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Surowy żyroskop — rotationRate.x/y/z [rad/s]. Dostępny od iPhone 4. Bez fuzji akumuluje drift kątowy.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29443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2944368"/>
            <a:ext cx="54864" cy="82296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29992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CMAltimeter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32644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Barometr — relativeAltitude [m od startu], pressure [kPa]. Zawsze aktywny (CHRE equivalent). Bardzo low-power.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4727448" y="29443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727448" y="2944368"/>
            <a:ext cx="54864" cy="82296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855464" y="29992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CMPedometer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855464" y="32644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Kroki, dystans, piętro (floorsAscended/Descended), pace, cadence. Historia do 7 dni wstecz. Sensor zdrowotny.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320040" y="38587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320040" y="3858768"/>
            <a:ext cx="54864" cy="82296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48056" y="39136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CMMotionActivityManager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48056" y="41788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Rozpoznawanie aktywności: stationary, walking, running, automotive, cycling, unknown. Confidence: low/medium/high.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4727448" y="3858768"/>
            <a:ext cx="4251959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727448" y="3858768"/>
            <a:ext cx="54864" cy="82296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855464" y="3913632"/>
            <a:ext cx="406908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CMHeadphoneMotionManager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855464" y="4178808"/>
            <a:ext cx="406908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AirPods Pro/Max — orientacja głowy jako IMU. Head tracking dla Spatial Audio i nowych form interakcji.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320040" y="4791456"/>
            <a:ext cx="8503920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Motion Coprocessor (Apple M-series): przetwarza sensory niezależnie od CPU/GPU — Always-On fitness tracking &lt; 1 mA. Dane zdrowotne trafiają do HealthKit.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Core Motion — Implementacja Swift i Układy Odniesienia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CMMotionManager oferuje dwa modele odczytu: </a:t>
            </a:r>
            <a:r>
              <a:rPr lang="pl-PL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/>
            </a:r>
            <a:br>
              <a:rPr lang="pl-PL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</a:b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polling (synchroniczny pull) i bloki closure (asynchroniczny push) — push jest rekomendowany.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CMDeviceMotion — start i handler: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2386584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347472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11480" y="1444752"/>
            <a:ext cx="3995928" cy="22037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let motion = CMMotionManager()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let queue  = OperationQueue()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func startSensors()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guard motion.isDeviceMotionAvailable else { return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motion.deviceMotionUpdateInterval = 1.0 / 60.0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motion.startDeviceMotionUpdates(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using: .xArbitraryZVertical, to: queue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) { [weak self] data, error in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guard let d = data, error == nil else { return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DispatchQueue.main.async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  self?.roll  = d.attitude.roll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  self?.pitch = d.attitude.pitch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  self?.yaw   = d.attitude.yaw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  self?.userAccel = d.userAcceleration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func stopSensors() {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  motion.stopDeviceMotionUpdates()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A5D6A7"/>
                </a:solidFill>
                <a:uFillTx/>
                <a:latin typeface="Cascadia Mono" pitchFamily="49"/>
                <a:ea typeface="Consolas" pitchFamily="34"/>
                <a:cs typeface="Cascadia Mono" pitchFamily="49"/>
              </a:rPr>
              <a:t>}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scadia Mono" pitchFamily="49"/>
              <a:cs typeface="Cascadia Mono" pitchFamily="49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320040" y="3823179"/>
            <a:ext cx="4160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EA580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Zatrzymaj sensor w viewDidDisappear() / sceneDidEnterBackground() — aktywny sensor blokuje uśpienie CPU.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12" name="Grupa 37"/>
          <p:cNvGrpSpPr/>
          <p:nvPr/>
        </p:nvGrpSpPr>
        <p:grpSpPr>
          <a:xfrm>
            <a:off x="320040" y="4232181"/>
            <a:ext cx="4160520" cy="621792"/>
            <a:chOff x="320040" y="4232181"/>
            <a:chExt cx="4160520" cy="621792"/>
          </a:xfrm>
        </p:grpSpPr>
        <p:sp>
          <p:nvSpPr>
            <p:cNvPr id="13" name="Shape 11"/>
            <p:cNvSpPr/>
            <p:nvPr/>
          </p:nvSpPr>
          <p:spPr>
            <a:xfrm>
              <a:off x="320040" y="4232181"/>
              <a:ext cx="4160520" cy="621792"/>
            </a:xfrm>
            <a:prstGeom prst="rect">
              <a:avLst/>
            </a:prstGeom>
            <a:solidFill>
              <a:srgbClr val="FFFFFF"/>
            </a:solidFill>
            <a:ln w="12701" cap="flat">
              <a:solidFill>
                <a:srgbClr val="E2E8F0"/>
              </a:solidFill>
              <a:prstDash val="solid"/>
              <a:miter/>
            </a:ln>
            <a:effectLst>
              <a:outerShdw dist="25396" dir="8100000" algn="tl">
                <a:srgbClr val="000000">
                  <a:alpha val="6000"/>
                </a:srgbClr>
              </a:outerShdw>
            </a:effectLst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l-PL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320040" y="4232181"/>
              <a:ext cx="54864" cy="621792"/>
            </a:xfrm>
            <a:prstGeom prst="rect">
              <a:avLst/>
            </a:prstGeom>
            <a:solidFill>
              <a:srgbClr val="0891B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l-PL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5" name="Text 13"/>
          <p:cNvSpPr/>
          <p:nvPr/>
        </p:nvSpPr>
        <p:spPr>
          <a:xfrm>
            <a:off x="448056" y="419438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Pull vs Push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" y="449661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Pull: startAccelerometerUpdates() → Timer → accelerometerData? Prostszy, może miss zdarzeń. Push: startAccelerometerUpdates(to:queue:handler:) — rekomendowane.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Układy odniesienia (Reference Frames):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4081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408176"/>
            <a:ext cx="54864" cy="82296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xArbitraryZVertical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91456" y="1728216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Oś Z pionowo (grawitacja). X dowolnie — nie wymaga magnetometru. Zalecane dla gier i ogólnych zastosowań.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23225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2322576"/>
            <a:ext cx="54864" cy="82296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91456" y="23774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xMagneticNorthZVertical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91456" y="2642615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X → magnetyczna Północ. Wymaga sprawnego magnetometru. Dla kompasów i map.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32369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3236976"/>
            <a:ext cx="54864" cy="82296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xTrueNorthZVertical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91456" y="3557015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X → geograficzna Północ (korekcja deklinacji). Wymaga dostępu do lokalizacji GPS.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41513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63440" y="4151376"/>
            <a:ext cx="54864" cy="82296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91456" y="42062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xArbitraryCorrectedZVertical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91456" y="4471416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Jak xArbitrary ale z korekcją dryfu — dokładniejszy długoterminowo, wyższy koszt.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4187952"/>
            <a:ext cx="4206240" cy="54864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4187952"/>
            <a:ext cx="54864" cy="54864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91456" y="424281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CMAttitude.multiply(byInverse:)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91456" y="4507992"/>
            <a:ext cx="402336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Oblicz delta-orientację względem punktu referencyjnego: attitude.multiply(byInverse: referenceAttitude) → relative rotation.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Akcelerometr — Fizyka, Filtrowanie i Zastosowania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 mierzy przyspieszenie właściwe — siłę na jednostkę masy, włącznie z grawitacją. Wynik w m/s² lub g (1g ≈ 9.81 m/s²).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09728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097280"/>
            <a:ext cx="54864" cy="69494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5214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Budowa MEMS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1732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Beleczki (proof mass) zawieszone na sprężynach krzemowych. Przyspieszenie → ugięcie → zmiana pojemności kondensatora → ADC → wartość cyfrowa.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82880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1828800"/>
            <a:ext cx="54864" cy="69494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188366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Układ osi (right-handed)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48839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X: poziomo (right), Y: pionowo (up), Z: prostopadle do ekranu (toward user). Spoczynek Android: [0, 0, 9.81] m/s². iOS: [0, 0, 1] g — inna konwencja!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56032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560320"/>
            <a:ext cx="54864" cy="69494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6151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Separacja grawitacji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8036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Linear Acceleration = Total − Gravity. Android TYPE_LINEAR_ACCELERATION (wirtualny). iOS: d.userAcceleration. Konieczne filtrowanie low-pass.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329184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291840"/>
            <a:ext cx="54864" cy="694944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334670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Bias i kalibracja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611879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Bias (zero-g offset) — stały błąd systematyczny. Temperature drift — zmiana biasu z temperaturą. Fabrycznie kalibrowane, drift rośnie z wiekiem.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402336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023360"/>
            <a:ext cx="54864" cy="694944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407822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Zastosowania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34340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Rotacja ekranu · Detekcja upadku · Pedometr · Tilt steering gry · Crash detection (iOS 16) · Shake gesture · Fitness intensity (METs).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Filtr dolno- i górnoprzepustowy: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389888"/>
            <a:ext cx="4206240" cy="2084832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7863840" y="1435608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18488"/>
            <a:ext cx="4041648" cy="1792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Low-pass: izolacja grawitacji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const val ALPHA = 0.8f  // wyższe = więcej smoothing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var gravity = FloatArray(3)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fun separateGravity(e: SensorEvent)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gravity[0] = ALPHA*gravity[0] + (1-ALPHA)*e.values[0]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gravity[1] = ALPHA*gravity[1] + (1-ALPHA)*e.values[1]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gravity[2] = ALPHA*gravity[2] + (1-ALPHA)*e.values[2]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// High-pass: izolacja ruchu użytkownika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linX = e.values[0] - gravity[0]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linY = e.values[1] - gravity[1]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linZ = e.values[2] - gravity[2]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// Tilt: kąt pochylenia urządzenia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pitch = atan2(-linX,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sqrt(linY*linY + linZ*linZ))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roll  = atan2(linY, linZ)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663440" y="3529584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Detekcja potrząśnięcia (Shake):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822191"/>
            <a:ext cx="4206240" cy="914400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7863840" y="3867912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54880" y="4050792"/>
            <a:ext cx="4041648" cy="6217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SHAKE_THRESHOLD = 2.5f // g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magnitude = sqrt(x*x + y*y + z*z) / GRAVITY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if (magnitude &gt; SHAKE_THRESHOLD) onShakeDetected()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Żyroskop — Prędkość Kątowa, Kwaterniony i AHRS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Żyroskop mierzy prędkość kątową (angular velocity) wokół 3 osi w rad/s. Całkowanie daje kąt — ale z driftem, który rośnie w czasie.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09728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097280"/>
            <a:ext cx="54864" cy="69494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5214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Zasada Efektu Coriolisa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1732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Wibrująca masa rezonuje z freq. naturalną. Obrót → siła Coriolisa → prostopadłe ugięcie → pomiar pojemnościowy. Rozdzielczość: 0.01°/s.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82880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1828800"/>
            <a:ext cx="54864" cy="694944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188366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Drift żyroskopu — problem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48839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Całkowanie rad/s → kąt. Błąd biasu kumuluje się: 0.1°/s drift → po 10 min błąd 60°! Konieczna fuzja z akcelerometrem lub magnetometrem.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56032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560320"/>
            <a:ext cx="54864" cy="69494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6151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Kwaterniony vs Euler Angles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8036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Kąty Eulera (roll, pitch, yaw) → gimbal lock przy pitch=±90°. Kwaterniony q=[w,x,y,z] |q|=1 — pozbawione degeneracji. Standard VR/AR/lotnictwo.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329184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291840"/>
            <a:ext cx="54864" cy="69494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334670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TYPE_ROTATION_VECTOR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611879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wirtualny Android — kwaternion z fuzji acc+gyro+mag. Najdokładniejsza orientacja. TYPE_GAME_ROTATION_VECTOR — bez mag, stabilniejszy przy magnesach.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4023360"/>
            <a:ext cx="4160520" cy="6949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023360"/>
            <a:ext cx="54864" cy="694944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407822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Zastosowania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343400"/>
            <a:ext cx="397763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VR/AR head tracking · OIS stabilizacja obrazu · Sterowanie kamerą w grach · Handwriting angle · Dead reckoning nawigacja bez GPS.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Odczyt Rotation Vector i kwaternion: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389888"/>
            <a:ext cx="4206240" cy="2322576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7863840" y="1435608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18488"/>
            <a:ext cx="4041648" cy="20299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TYPE_ROTATION_VECTOR → macierz → kąty Eulera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override fun onSensorChanged(e: SensorEvent)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if (e.sensor.type == Sensor.TYPE_ROTATION_VECTOR)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rotMat = FloatArray(9)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SensorManager.getRotationMatrixFromVector(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rotMat, e.values)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orientation = FloatArray(3)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SensorManager.getOrientation(rotMat, orientation)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azimuth = Math.toDegrees(orientation[0].toDouble())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pitch   = Math.toDegrees(orientation[1].toDouble())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roll    = Math.toDegrees(orientation[2].toDouble())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// Lub bezpośrednio kwaternion: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quat = FloatArray(4)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SensorManager.getQuaternionFromVector(quat, e.values)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// quat = [w, x, y, z]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663440" y="3767327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Systemy orientacji (IMU → AHRS → INS):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4059936"/>
            <a:ext cx="1335024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4059936"/>
            <a:ext cx="1335024" cy="3657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663440" y="4114800"/>
            <a:ext cx="133502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D9770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IMU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663440" y="4343400"/>
            <a:ext cx="133502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acc+gyro — drift bez referencji zewnętrznej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6053327" y="4059936"/>
            <a:ext cx="1335024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6053327" y="4059936"/>
            <a:ext cx="1335024" cy="3657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6053327" y="4114800"/>
            <a:ext cx="133502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AHRS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6053327" y="4343400"/>
            <a:ext cx="133502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IMU+mag — pełna orientacja z kursem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7443215" y="4059936"/>
            <a:ext cx="1335024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7443215" y="4059936"/>
            <a:ext cx="1335024" cy="3657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7443215" y="4114800"/>
            <a:ext cx="133502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891B2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INS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7443215" y="4343400"/>
            <a:ext cx="1335024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AHRS+GPS — fuzja kursów i pozycji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Magnetometr — Kompas Cyfrowy i Pole Magnetyczne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Magnetometr (AMR lub Hall-effect) mierzy natężenie pola magnetycznego Ziemi w µT — umożliwia określenie kierunku geograficznego.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Zasada i wyzwania pomiarowe: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Pole magnetyczne Ziemi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Wartość: 25–65 µT (zależy od lokalizacji). 3-osiowy pomiar (Bx, By, Bz). Inklinacja: kierunek pola ≠ poziom (ważne dla tilt-compensated compass).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084832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084832"/>
            <a:ext cx="54864" cy="640080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3969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Hard Iron Distortion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04872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Stałe magnesy w urządzeniu (głośnik, aparat, silniki wibracji) — addytywny bias. Kalibracja: baza stała — eliminowana przez zebranie danych i wyznaczenie offset.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61488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61488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1635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Soft Iron Distortion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081527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Materiały ferromagnetyczne — zniekształcenie kształtu pola (elipsa zamiast koła). Korekcja macierzą 3×3. Kalibracja figure-8 zbiera próbki z wszystkich orientacji.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38144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438144"/>
            <a:ext cx="54864" cy="6400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49300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Deklinacja magnetyczna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758183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Kąt między magnetyczną a geograficzną Północą (0–30°). Android: GeomagneticField(lat,lon,alt,time).getDeclination(). Konieczne dla true north heading.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114800"/>
            <a:ext cx="4160520" cy="713232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3474720" y="4160520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11480" y="4343400"/>
            <a:ext cx="3995928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azimuth = atan2(By, Bx) * 180f / PI  // -180..180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bearing = (azimuth + 360f) % 360f     // 0..360°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i iOS — API magnetometru: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08176"/>
            <a:ext cx="4206240" cy="2377440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786384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Kotlin/Swift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36776"/>
            <a:ext cx="4041648" cy="20848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Android — sensor types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TYPE_MAGNETIC_FIELD         → surowe µT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TYPE_MAGNETIC_FIELD_UNCALIBRATED → + bias estymacja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Tilt-compensated kompas (acc + mag)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R = FloatArray(9); val I = FloatArray(9)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SensorManager.getRotationMatrix(R, I,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gravityValues, geomagneticValues)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orientation = FloatArray(3)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SensorManager.getOrientation(R, orientation)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azimuth = Math.toDegrees(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orientation[0].toDouble())  // 0..360°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iOS — CLLocationManager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locationManager.startUpdatingHeading()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func locationManager(_ m: CLLocationManager,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didUpdateHeading h: CLHeading)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let magnetic = h.magneticHeading   // 0..360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let trueNorth = h.trueHeading      // wymaga GPS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let accuracy  = h.headingAccuracy  // stopnie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4663440" y="3822191"/>
            <a:ext cx="4206240" cy="54864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822191"/>
            <a:ext cx="54864" cy="54864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791456" y="387705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Zastosowania magnetometru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4142232"/>
            <a:ext cx="402336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Kompas · Indoor navigation (geomagnetic fingerprinting) · Detekcja metalowych obiektów · NFC trigger · Czy telefon na metalowej powierzchni.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4663440" y="4407407"/>
            <a:ext cx="4206240" cy="50292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4407407"/>
            <a:ext cx="54864" cy="50292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791456" y="446227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Ograniczenia środowiskowe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4727448"/>
            <a:ext cx="4023360" cy="1188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Elektronika, stale budynków, magnesy: odchylenie do 50° w biurowcach. Zawsze sprawdzaj headingAccuracy przed użyciem!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Barometr i Sensory Środowiskowe — Ciśnienie, Światło, Proximity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 środowiskowe dostarczają kontekstu fizycznego otoczenia — kluczowe dla fitness, smart home i adaptacyjnego UX.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Barometr (ciśnienie atmosferyczne):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5836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Zasada pomiaru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MEMS piezooporowy: membrana ugina się pod ciśnieniem → zmiana rezystancji. Zakres: 300–1100 hPa. Rozdzielczość: 0.1 Pa → ΔZ ≈ 8 mm.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103120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103120"/>
            <a:ext cx="54864" cy="658368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579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Altitude estimation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23160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 = 44330×(1−(P/P₀)^0.1903) [m]. P₀=1013.25 hPa. Dokładność ±1 m przy stabilnych warunkach. Kalibruj GPS — drift z pogodą.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98064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98064"/>
            <a:ext cx="54864" cy="658368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5292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Floors Climbed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118103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CMPedometer.floorsAscended/floorsDescended — Apple oblicza piętro z barometru. Dane w HealthKit. Wymagany sensor ciśnienia.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93008"/>
            <a:ext cx="4160520" cy="1280160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3474720" y="3538727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Kotlin/Swift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374904" y="3506723"/>
            <a:ext cx="3995928" cy="9875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Android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Sensor.TYPE_PRESSURE  // event.values[0] [hPa]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alt = SensorManager.getAltitude(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SensorManager.PRESSURE_STANDARD_ATMOSPHERE, hPa)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iOS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altimeter.startRelativeAltitudeUpdates(to: .main)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d, _ 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let relAlt  = d!.relativeAltitude.floatValue // [m]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let pressure = d!.pressure.floatValue        // [kPa]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4663440" y="1115568"/>
            <a:ext cx="2148839" cy="12070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4663440" y="1115568"/>
            <a:ext cx="54864" cy="1207008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791456" y="1170432"/>
            <a:ext cx="1965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światła (ALS)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791456" y="1435608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TYPE_LIGHT [lux]. Auto-brightness ekranu. Zakres: 0–100 000 lux. Odpowiedź &lt; 50 ms.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6876288" y="1115568"/>
            <a:ext cx="2148839" cy="12070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6876288" y="1115568"/>
            <a:ext cx="54864" cy="1207008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7004303" y="1170432"/>
            <a:ext cx="1965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proximy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7004303" y="1435608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TYPE_PROXIMITY: 0 (blisko) / 5 cm (daleko) — binarny. IR LED + IR detektor. Wyciszenie ekranu podczas połączenia.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4663440" y="2450592"/>
            <a:ext cx="2148839" cy="12070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2450592"/>
            <a:ext cx="54864" cy="1207008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791456" y="2505456"/>
            <a:ext cx="1965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temperatury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2770632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TYPE_AMBIENT_TEMPERATURE — wycofany z większości urządzeń. ThermalManager (Android 10+) monitoruje SoC.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6876288" y="2450592"/>
            <a:ext cx="2148839" cy="120700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6876288" y="2450592"/>
            <a:ext cx="54864" cy="1207008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7004303" y="2505456"/>
            <a:ext cx="1965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UV Index Sensor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7004303" y="2770632"/>
            <a:ext cx="196596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Rzadki — Samsung Galaxy S. Mierzy UV 0–11+. Typowo w smartwatch i wearables dla sport apps.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663440" y="3822191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wilgotności TYPE_RELATIVE_HUMIDITY — rzadki na telefonach, częstszy w Samsung Galaxy S i smartwatch oraz czujnikach IoT.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4114800"/>
            <a:ext cx="420624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4114800"/>
            <a:ext cx="54864" cy="621792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91456" y="4169663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Geomagnetic Rotation Vector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44348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TYPE_GEOMAGNETIC_ROTATION_VECTOR — orientacja z acc+mag bez żyroskopu. Mniejsze zużycie baterii kosztem dokładności dynamicznej.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GPS i GNSS — Lokalizacja Satelitarna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 (USA) jest częścią GNSS — obejmuje GPS, GLONASS (Rosja), Galileo (EU) i BeiDou (Chiny). Multi-constellation → lepsza dokładność i availability.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097280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097280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5214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Zasada trilateracji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17320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Min. 3 satelity → pozycja 3D. 4. satelita → eliminacja błędu zegara odbiornika. Więcej → wyższa dokładność (PDOP).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77393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1773936"/>
            <a:ext cx="54864" cy="6400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182880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TTFF (Time To First Fix)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093976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Cold start: 45–90 s (pobieranie almanach). Warm: 5–30 s. Hot: &lt; 2 s. A-GPS (Assisted) skraca cold TTFF &lt; 5 s przez sieć.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450592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450592"/>
            <a:ext cx="54864" cy="64008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50545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Dokładność smartfona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770632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CEP 3–5 m przy otwartym niebie. SBAS (WAAS/EGNOS) &lt; 1 m. Multipath w miastach: 10–50 m. Dual-Frequency (L1+L5) &lt; 1 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3127248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127248"/>
            <a:ext cx="54864" cy="64008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318211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Dual-Frequency L1+L5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447288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iPhone 15 Pro, Pixel 6+: korekcja jonosferyczna — precyzja &lt; 1 m w terenie miejskim. Przyszłość precyzyjnej nawigacji mobilnej.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3803903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3803903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385876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Błędy i zakłócenia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12394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Multipath (odbicia), spoofing (fałszywe sygnały), efekty troposferyczne/jonosferyczne, canyon miejski. Wnioski z jakości fix: HDOP, numSatellites.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Fused Location Provider (Android):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389888"/>
            <a:ext cx="4206240" cy="267004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7863840" y="1435608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18488"/>
            <a:ext cx="4041648" cy="2377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fusedClient = LocationServices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.getFusedLocationProviderClient(this)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request = LocationRequest.Builder(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Priority.PRIORITY_HIGH_ACCURACY, 1000L)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.setMinUpdateDistanceMeters(1f)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.setWaitForAccurateLocation(true)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.build()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callback = object : LocationCallback()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override fun onLocationResult(r: LocationResult)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loc = r.lastLocation ?: return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lat  = loc.latitude      // stopnie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lon  = loc.longitude     // stopnie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alt  = loc.altitude      // metry MSL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acc  = loc.accuracy      // CEP 68% [m]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spd  = loc.speed         // [m/s]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val bear = loc.bearing       // kurs [°]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fusedClient.requestLocationUpdates(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request, callback, mainLooper)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ZAWSZE zatrzymaj: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fusedClient.removeLocationUpdates(callback)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4663440" y="4096512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4096512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791456" y="415137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CLLocationManager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4416552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requestWhenInUseAuthorization() / requestAlwaysAuthorization(). desiredAccuracy: kCLLocationAccuracyBest. distanceFilter [m] minimalizuje wywołania.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Lokalizacja Sieciowa i Indoor Positioning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 zawodzi w budynkach i gęstej zabudowie — hybrydowe techniki lokalizacji kompensują ograniczenia każdego z systemów.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115568"/>
            <a:ext cx="4251959" cy="32918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11480" y="1170432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Wi-Fi Positioning (WPS)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3410712" y="1207008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5–40 m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11480" y="1517904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RSSI triangulacja z baz AP w Google/Apple Location DB. Dokładność: 5–40 m. Fingerprinting — survey bazą danych AP.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727448" y="1115568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4727448" y="1115568"/>
            <a:ext cx="4251959" cy="32918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818888" y="1170432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Cell Tower Triangulation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7818120" y="1207008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100–2000 m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4818888" y="1517904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MCC+MNC+LAC+CellID → baza OpenCellID/Google. Fallback gdy GPS/Wi-Fi niedostępne. Działa zawsze (GSM).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377440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320040" y="2377440"/>
            <a:ext cx="4251959" cy="32918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11480" y="2432304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BLE Beacon Proximity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3410712" y="2468880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1–5 m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11480" y="2779776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iBeacon / Eddystone. RSSI → dystans path loss model. Indoor muzeum, lotnisko, centrum handlowe. &lt; 5 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1"/>
          <p:cNvSpPr/>
          <p:nvPr/>
        </p:nvSpPr>
        <p:spPr>
          <a:xfrm>
            <a:off x="4727448" y="2377440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4727448" y="2377440"/>
            <a:ext cx="4251959" cy="329184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818888" y="2432304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Dead Reckoning (PDR)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7818120" y="2468880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2–10 m drift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818888" y="2779776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Pedestrian Dead Reckoning — krok + kierunek z IMU. Zliczanie kroków + azymut z kompasu → track. Błąd 1–5%.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320040" y="3639312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320040" y="3639312"/>
            <a:ext cx="4251959" cy="329184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11480" y="3694176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Ultra-Wideband (UWB)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3410712" y="3730752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&lt; 30 cm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11480" y="4041648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iPhone 11+ (chip U1). TOF (Time of Flight) &lt; 30 cm precyzji. AirDrop, Find My, AirTag. Wymaga UWB peer.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727448" y="3639312"/>
            <a:ext cx="4251959" cy="11521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727448" y="3639312"/>
            <a:ext cx="4251959" cy="329184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818888" y="3694176"/>
            <a:ext cx="31089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Geomagnetic Fingerprinting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7818120" y="3730752"/>
            <a:ext cx="10972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Dok: 1–3 m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4818888" y="4041648"/>
            <a:ext cx="4069080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Mapa anomalii pola magnetycznego budynku. Bez infrastruktury — tylko baza fingerprints i magnetometr telefonu.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Fused Location Priority: HIGH_ACCURACY (GPS+all) · BALANCED_POWER_ACCURACY (Wi-Fi+cell) · LOW_POWER (cell only) · NO_POWER (passive — korzysta z fix innych apek).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Fuzja Sensorów — Filtr Komplementarny i Teoria Kalmana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 fusion = algorytmiczne łączenie danych z wielu czujników — każdy sensor ma komplementarne wady i zalety, razem dają dokładniejszy wynik.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Filtr Komplementarny — prosta i skuteczna fuzja: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Idea — dwa komplementarne źródła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Akcelerometr: stabilny długoterminowo, szumny w dynamicznym ruchu. Żyroskop: szybki i precyzyjny krótkoterminowo, drift długoterminowy. Waga α łączy oba.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084832"/>
            <a:ext cx="4160520" cy="1225296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3474720" y="2130551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11480" y="2313432"/>
            <a:ext cx="3995928" cy="9326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α dobierane empirycznie: 0.96–0.99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α = 0.98f; val dt = 0.02f  // 50 Hz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Akcelerometr → kąt (długoterminowo stabilny)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accelAngle = atan2(ay, az) * 180f / PI.toFloat()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Żyroskop → całkowanie (krótkoterminowo precyzyjny)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gyroAngle += gyroPitch * dt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Fuzja: α * gyro + (1-α) * accelerometer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angle = α * (angle + gyroPitch * dt) +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(1-α) * accelAngle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3346704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3346704"/>
            <a:ext cx="54864" cy="64008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340156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Madgwick / Mahony Filter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366674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Zaawansowane filtry komplementarne w kwaternionach — poprawna obsługa gimbal lock. AHRS standard w dronach, VR i robotyce. β parametr reguluje gain.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4023360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4023360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407822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Ograniczenia filtra komplementarnego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4343400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Stałe α — nie adaptuje się do dynamiki. Nie modeluje szumu pomiarowego. Wystarczający dla 90% aplikacji mobilnych (gry, UI, fitness).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Filtr Kalmana — optymalna fuzja bayesowska: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4663440" y="1408176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4663440" y="1408176"/>
            <a:ext cx="54864" cy="6400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Idea filtru Kalmana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91456" y="1728216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Bayesowski estymator stanu: predykcja modelem ruchu → korekta pomiarem. Minimalizuje błąd MMSE przy gaussowskim szumie procesowym i pomiarowym.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2084832"/>
            <a:ext cx="4206240" cy="51206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754880" y="2139696"/>
            <a:ext cx="1234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1. Predykcja stanu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6035040" y="2139696"/>
            <a:ext cx="278892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475569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x̂ₖ⁻ = Fₖ·x̂ₖ₋₁ + Bₖ·uₖ          Pₖ⁻ = Fₖ·Pₖ₋₁·FₖT + Qₖ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4663440" y="2651760"/>
            <a:ext cx="4206240" cy="512064"/>
          </a:xfrm>
          <a:prstGeom prst="rect">
            <a:avLst/>
          </a:prstGeom>
          <a:solidFill>
            <a:srgbClr val="F0F9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4754880" y="2706624"/>
            <a:ext cx="1234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2. Kalman Gain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6035040" y="2706624"/>
            <a:ext cx="278892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475569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Kₖ = Pₖ⁻·HₖT · (Hₖ·Pₖ⁻·HₖT + Rₖ)⁻¹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Shape 33"/>
          <p:cNvSpPr/>
          <p:nvPr/>
        </p:nvSpPr>
        <p:spPr>
          <a:xfrm>
            <a:off x="4663440" y="3218688"/>
            <a:ext cx="4206240" cy="51206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54880" y="3273552"/>
            <a:ext cx="1234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3. Korekcja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pomiarem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6035040" y="3273552"/>
            <a:ext cx="278892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475569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x̂ₖ = x̂ₖ⁻ + Kₖ·(zₖ − Hₖ·x̂ₖ⁻)      Pₖ = (I − Kₖ·Hₖ)·Pₖ⁻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785615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4663440" y="3785615"/>
            <a:ext cx="54864" cy="64008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384048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EKF — Extended Kalman Filter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791456" y="4105656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Dla nieliniowych systemów (GPS+IMU) — linearyzacja przez Jakobiany. Używany w: Google Maps dead reckoning, autonomiczne drony, AR HMD.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4462272"/>
            <a:ext cx="4206240" cy="49377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4663440" y="4462272"/>
            <a:ext cx="54864" cy="493776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451713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UKF i Particle Filter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4791456" y="4782312"/>
            <a:ext cx="4023360" cy="1097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Unscented KF (sigma points) i Monte Carlo — silnie nieliniowe systemy. Wyższy koszt obliczeniowy. SLAM, robotyka mobilna.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Orientacja 3D — Kwaterniony, SLERP i Reprezentacje Obrotu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Precyzyjna orientacja 3D wymaga kwaternionów — odpowiedź na gimbal lock kątów Eulera i niestabilność macierzy rotacji.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097280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5214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Definicja kwaternionu jednostkowego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17320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q = w + xi + yj + zk, gdzie w²+x²+y²+z²=1. Obrót o θ wokół osi n: q=[cos(θ/2), sin(θ/2)·n]. Pozbawiony gimbal lock.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792224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1792224"/>
            <a:ext cx="54864" cy="658368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184708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Konwersja Kwaternion → Euler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12263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roll  = atan2(2(wy+xz), 1−2(y²+z²))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pitch = arcsin(2(wy−zx))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yaw   = atan2(2(wz+xy), 1−2(x²+y²))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487168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487168"/>
            <a:ext cx="54864" cy="658368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54203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SLERP — Spherical Linear Interpolation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07208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Interpolacja między orientacjami po sferze jednostkowej: q(t) = q₀·(q₀⁻¹·q₁)^t. Smooth animacja kamery, korekcja VR.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3182112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182112"/>
            <a:ext cx="54864" cy="658368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323697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Gimbal Lock — dlaczego jest problemem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502151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Przy pitch=±90° dwie osie obrotowe pokrywają się → utrata stopnia swobody. Widoczne w modelowaniu 3D i stabilizatorach gimbal. Kwaterniony: brak tego problemu.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3877056"/>
            <a:ext cx="4160520" cy="914400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3474720" y="392277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11480" y="4105656"/>
            <a:ext cx="3995928" cy="6217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Odczyt kwaterniona orientacji (Android)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if (e.sensor.type == Sensor.TYPE_ROTATION_VECTOR)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q = FloatArray(4)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SensorManager.getQuaternionFromVector(q, e.values)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// q[0]=w, q[1]=x, q[2]=y, q[3]=z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Porównanie reprezentacji orientacji: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4663440" y="1408176"/>
            <a:ext cx="4206240" cy="8046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08176"/>
            <a:ext cx="54864" cy="804672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754880" y="1463040"/>
            <a:ext cx="4041648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Kąty Eulera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82496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Intuicyjne, czytelne dla człowieka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54880" y="1920240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DC262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✗ Gimbal lock, zależność od kolejności obrotu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2286000"/>
            <a:ext cx="4206240" cy="8046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2286000"/>
            <a:ext cx="54864" cy="804672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54880" y="2340864"/>
            <a:ext cx="4041648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Macierz rotacji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54880" y="2560320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Szybkie transformacje wektorów (SIMD)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4754880" y="2798064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DC262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✗ 9 wartości, 6 redund. — normalizacja trudna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163824"/>
            <a:ext cx="4206240" cy="8046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4663440" y="3163824"/>
            <a:ext cx="54864" cy="804672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54880" y="3218688"/>
            <a:ext cx="4041648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Kwaternion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754880" y="3438144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Brak gimbal lock, płynna interpolacja SLERP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4754880" y="3675887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DC262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✗ Nieintuicyjny, podwójna okładka (q ≡ -q)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4663440" y="4041648"/>
            <a:ext cx="4206240" cy="8046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Shape 42"/>
          <p:cNvSpPr/>
          <p:nvPr/>
        </p:nvSpPr>
        <p:spPr>
          <a:xfrm>
            <a:off x="4663440" y="4041648"/>
            <a:ext cx="54864" cy="804672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4754880" y="4096512"/>
            <a:ext cx="4041648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Axis-Angle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44"/>
          <p:cNvSpPr/>
          <p:nvPr/>
        </p:nvSpPr>
        <p:spPr>
          <a:xfrm>
            <a:off x="4754880" y="4315968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Geometrycznie jasny — oś + kąt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45"/>
          <p:cNvSpPr/>
          <p:nvPr/>
        </p:nvSpPr>
        <p:spPr>
          <a:xfrm>
            <a:off x="4754880" y="4553712"/>
            <a:ext cx="4041648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DC2626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✗ Nieciągły przy 0° i 360°, trudny do składania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Kamera jako Sensor — Camera2 API i Computer Vision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76804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Kamera mobilna ewoluowała w universalny sensor — dokumenty, AR, ML, depth sensing i health monitoring — wszystko z jednego układu optycznego.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CameraX (Jetpack) — ImageAnalysis: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2084832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347472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11480" y="1636776"/>
            <a:ext cx="3995928" cy="1792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imageAnalysis = ImageAnalysis.Builder()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.setTargetResolution(Size(1280, 720))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.setBackpressureStrategy(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STRATEGY_KEEP_ONLY_LATEST)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.build()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imageAnalysis.setAnalyzer(executor) { proxy -&gt;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bitmap = proxy.toBitmap()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rotation = proxy.imageInfo.rotationDegrees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input = InputImage.fromBitmap(bitmap, rotation)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// ML Kit barcode scanning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barcodeScanner.process(input)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.addOnSuccessListener { barcodes -&gt;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barcodes.forEach { processBarcode(it)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.addOnCompleteListener { proxy.close()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3529584"/>
            <a:ext cx="41605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3529584"/>
            <a:ext cx="54864" cy="60350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358444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Camera2 vs CameraX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3849624"/>
            <a:ext cx="397763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Camera2 (API 21+): pełna kontrola ISO, shutter, AF/AE/AWB, RAW. CameraX: wysoki poziom abstrakcji, lifecycle-aware, rekomendowane dla ML. AVFoundation (iOS): analogicznie.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4169663"/>
            <a:ext cx="4160520" cy="60350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4169663"/>
            <a:ext cx="54864" cy="60350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4224527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Formaty pikseli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4489704"/>
            <a:ext cx="397763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YUV_420_888: wydajny, 3 płaszczyzny, konieczna konwersja do Bitmap. JPEG: gotowy, wolniejszy. RGBA_8888: bezpośrednio Bitmap, duże bufory pamięci.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Computer Vision — zastosowania on-device: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4663440" y="1408176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4663440" y="1408176"/>
            <a:ext cx="54864" cy="530352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OCR (Tekst)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791456" y="1728216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ML Kit Text Recognition v2 — 119 języków. Off-line, &lt; 50 ms. Latin, cyrylica, CJK.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4663440" y="2011680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4663440" y="2011680"/>
            <a:ext cx="54864" cy="530352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791456" y="2066544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Barcode / QR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91456" y="2331720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ML Kit Barcode: 1D/2D, &lt; 30 ms. AVMetadataObject (iOS). Płatności, linki, AR triggery.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2615184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2615184"/>
            <a:ext cx="54864" cy="530352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2670048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Object Detection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2935224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TFLite SSD MobileNet v2 — 80 klas. 30+ FPS na mid-range. Tracking mode dla ciągłości.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218688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3218688"/>
            <a:ext cx="54864" cy="530352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327355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Pose Estimation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3538727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ML Kit Pose: 33 keypoints ciała. Fitness, rehabilitacja, dance games, sports analysis.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3822191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822191"/>
            <a:ext cx="54864" cy="530352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387705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Face Detection/Mesh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4142232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ML Kit Face: landmarks, contours, emocje. MediaPipe Face Mesh: 468 punktów twarzy.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4425696"/>
            <a:ext cx="4206240" cy="53035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4425696"/>
            <a:ext cx="54864" cy="530352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91456" y="448056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Depth / LiDAR / ToF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4745736"/>
            <a:ext cx="4023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iPhone Pro LiDAR: ARKit MeshAnchors. Google ToF: depth maps. ARCore depth fusion.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Rozszerzona Rzeczywistość — ARCore, ARKit i Visual-Inertial Odometry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AR łączy kamerę z IMU i LiDAR (world tracking) aby umieszczać obiekty wirtualne w przestrzeni fizycznej z milimetrową dokładnością.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2743200" cy="32918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7"/>
          <p:cNvSpPr/>
          <p:nvPr/>
        </p:nvSpPr>
        <p:spPr>
          <a:xfrm>
            <a:off x="320040" y="1161288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ARKit (iOS 11+)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44752"/>
            <a:ext cx="2743200" cy="18288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hape 9"/>
          <p:cNvSpPr/>
          <p:nvPr/>
        </p:nvSpPr>
        <p:spPr>
          <a:xfrm>
            <a:off x="411480" y="152704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557784" y="151790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World Tracking — Visual-Inertial Odometry (VIO)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411480" y="1810512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557784" y="1801368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Plane Detection (horizontal, vertical, angled)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411480" y="20939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557784" y="2084832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LiDAR Scene Reconstruction (iPhone Pro)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411480" y="2377440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557784" y="2368296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Image/Object Tracking — ReferenceImage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411480" y="2660903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557784" y="2651760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Face Tracking — TrueDepth 52-pt mesh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411480" y="294436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557784" y="293522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Depth API — ARDepthData + smoothing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1"/>
          <p:cNvSpPr/>
          <p:nvPr/>
        </p:nvSpPr>
        <p:spPr>
          <a:xfrm>
            <a:off x="3200400" y="1115568"/>
            <a:ext cx="2743200" cy="32918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3200400" y="1161288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ARCore (Android)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0" y="1444752"/>
            <a:ext cx="2743200" cy="18288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3291840" y="152704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3438144" y="151790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Motion Tracking — Feature Points + IMU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3291840" y="1810512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3438144" y="1801368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Plane Detection + anchors na powierzchniach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3291840" y="20939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3438144" y="2084832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Light Estimation — HDR environment probes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3291840" y="2377440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3438144" y="2368296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Depth API — Depth Image (phone cameras)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3291840" y="2660903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3438144" y="2651760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Cloud Anchors — wspólne AR experiences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3291840" y="294436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3438144" y="293522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Geospatial API — Street View 3D alignment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6080759" y="1115568"/>
            <a:ext cx="2743200" cy="32918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6080759" y="1161288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WebXR (browser)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8"/>
          <p:cNvSpPr/>
          <p:nvPr/>
        </p:nvSpPr>
        <p:spPr>
          <a:xfrm>
            <a:off x="6080759" y="1444752"/>
            <a:ext cx="2743200" cy="18288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6172200" y="152704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6318504" y="151790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Hit Testing — ray casting do sceny AR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6172200" y="1810512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6318504" y="1801368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DOM Overlay — HTML nad warstwą AR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43"/>
          <p:cNvSpPr/>
          <p:nvPr/>
        </p:nvSpPr>
        <p:spPr>
          <a:xfrm>
            <a:off x="6172200" y="20939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44"/>
          <p:cNvSpPr/>
          <p:nvPr/>
        </p:nvSpPr>
        <p:spPr>
          <a:xfrm>
            <a:off x="6318504" y="2084832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Immersive-ar + Immersive-vr sessions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Shape 45"/>
          <p:cNvSpPr/>
          <p:nvPr/>
        </p:nvSpPr>
        <p:spPr>
          <a:xfrm>
            <a:off x="6172200" y="2377440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6318504" y="2368296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Light Estimation API (eksperymentalne)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Shape 47"/>
          <p:cNvSpPr/>
          <p:nvPr/>
        </p:nvSpPr>
        <p:spPr>
          <a:xfrm>
            <a:off x="6172200" y="2660903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Text 48"/>
          <p:cNvSpPr/>
          <p:nvPr/>
        </p:nvSpPr>
        <p:spPr>
          <a:xfrm>
            <a:off x="6318504" y="2651760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Anchors API dla persystencji sceny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Shape 49"/>
          <p:cNvSpPr/>
          <p:nvPr/>
        </p:nvSpPr>
        <p:spPr>
          <a:xfrm>
            <a:off x="6172200" y="294436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Text 50"/>
          <p:cNvSpPr/>
          <p:nvPr/>
        </p:nvSpPr>
        <p:spPr>
          <a:xfrm>
            <a:off x="6318504" y="2935224"/>
            <a:ext cx="244144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Depth Sensing (Chrome flag)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51"/>
          <p:cNvSpPr/>
          <p:nvPr/>
        </p:nvSpPr>
        <p:spPr>
          <a:xfrm>
            <a:off x="320040" y="3401568"/>
            <a:ext cx="8503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Visual-Inertial Odometry (VIO) — serce każdego AR systemu: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Shape 52"/>
          <p:cNvSpPr/>
          <p:nvPr/>
        </p:nvSpPr>
        <p:spPr>
          <a:xfrm>
            <a:off x="320040" y="3694176"/>
            <a:ext cx="2011680" cy="10424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Shape 53"/>
          <p:cNvSpPr/>
          <p:nvPr/>
        </p:nvSpPr>
        <p:spPr>
          <a:xfrm>
            <a:off x="320040" y="3694176"/>
            <a:ext cx="2011680" cy="3657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Text 54"/>
          <p:cNvSpPr/>
          <p:nvPr/>
        </p:nvSpPr>
        <p:spPr>
          <a:xfrm>
            <a:off x="411480" y="3749039"/>
            <a:ext cx="187451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Feature Tracking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Text 55"/>
          <p:cNvSpPr/>
          <p:nvPr/>
        </p:nvSpPr>
        <p:spPr>
          <a:xfrm>
            <a:off x="411480" y="4005072"/>
            <a:ext cx="1874519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FAST/ORB punkty śledzone między klatkami kamery — relative motion pose estimation.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Shape 56"/>
          <p:cNvSpPr/>
          <p:nvPr/>
        </p:nvSpPr>
        <p:spPr>
          <a:xfrm>
            <a:off x="2468880" y="3694176"/>
            <a:ext cx="2011680" cy="10424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Shape 57"/>
          <p:cNvSpPr/>
          <p:nvPr/>
        </p:nvSpPr>
        <p:spPr>
          <a:xfrm>
            <a:off x="2468880" y="3694176"/>
            <a:ext cx="2011680" cy="3657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Text 58"/>
          <p:cNvSpPr/>
          <p:nvPr/>
        </p:nvSpPr>
        <p:spPr>
          <a:xfrm>
            <a:off x="2560320" y="3749039"/>
            <a:ext cx="187451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891B2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IMU Pre-integration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Text 59"/>
          <p:cNvSpPr/>
          <p:nvPr/>
        </p:nvSpPr>
        <p:spPr>
          <a:xfrm>
            <a:off x="2560320" y="4005072"/>
            <a:ext cx="1874519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Gyro+acc @ 1000 Hz między klatkami 30 Hz kamery — eliminacja motion blur.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Shape 60"/>
          <p:cNvSpPr/>
          <p:nvPr/>
        </p:nvSpPr>
        <p:spPr>
          <a:xfrm>
            <a:off x="4617720" y="3694176"/>
            <a:ext cx="2011680" cy="10424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61"/>
          <p:cNvSpPr/>
          <p:nvPr/>
        </p:nvSpPr>
        <p:spPr>
          <a:xfrm>
            <a:off x="4617720" y="3694176"/>
            <a:ext cx="2011680" cy="3657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62"/>
          <p:cNvSpPr/>
          <p:nvPr/>
        </p:nvSpPr>
        <p:spPr>
          <a:xfrm>
            <a:off x="4709159" y="3749039"/>
            <a:ext cx="187451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Bundle Adjustment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Text 63"/>
          <p:cNvSpPr/>
          <p:nvPr/>
        </p:nvSpPr>
        <p:spPr>
          <a:xfrm>
            <a:off x="4709159" y="4005072"/>
            <a:ext cx="1874519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Optymalizacja mapy keyframes i trajektorii (g2o/Ceres). Pełna rekonstrukcja sceny.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Shape 64"/>
          <p:cNvSpPr/>
          <p:nvPr/>
        </p:nvSpPr>
        <p:spPr>
          <a:xfrm>
            <a:off x="6766560" y="3694176"/>
            <a:ext cx="2011680" cy="10424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Shape 65"/>
          <p:cNvSpPr/>
          <p:nvPr/>
        </p:nvSpPr>
        <p:spPr>
          <a:xfrm>
            <a:off x="6766560" y="3694176"/>
            <a:ext cx="2011680" cy="3657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Text 66"/>
          <p:cNvSpPr/>
          <p:nvPr/>
        </p:nvSpPr>
        <p:spPr>
          <a:xfrm>
            <a:off x="6858000" y="3749039"/>
            <a:ext cx="1874519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D9770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LiDAR Mesh Fusion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Text 67"/>
          <p:cNvSpPr/>
          <p:nvPr/>
        </p:nvSpPr>
        <p:spPr>
          <a:xfrm>
            <a:off x="6858000" y="4005072"/>
            <a:ext cx="1874519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iPhone Pro LiDAR @ 15 fps → ARMeshAnchor — rzeczywiste siatki 3D dla okludowania.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Programowanie Reaktywne — Strumienie Danych Sensorów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33668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Obsługa Sensorów Urządzenia Mobilnego  |  Studia Magisterskie Informatyki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Dane sensorów to strumienie zdarzeń — reaktywne podejście (Kotlin Flow, Swift AsyncStream, RxJava) redukuje callback hell i upraszcza transformacje.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Kotlin Flow — sensor jako callbackFlow: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4160520" cy="2560320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636776"/>
            <a:ext cx="3995928" cy="22677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fun SensorManager.sensorFlow(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type: Int,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period: Int = SENSOR_DELAY_GAME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): Flow&lt;SensorEvent&gt; = callbackFlow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listener = object : SensorEventListener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override fun onSensorChanged(e: SensorEvent)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trySend(e)  // non-blocking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override fun onAccuracyChanged(s: Sensor, a: Int) {}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val sensor = getDefaultSensor(type)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?: throw SensorUnavailableException(type)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registerListener(listener, sensor, period)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awaitClose { unregisterListener(listener)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Użycie w ViewModel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accelState = sensorMgr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.sensorFlow(Sensor.TYPE_ACCELEROMETER)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.map { Triple(it.values[0], it.values[1], it.values[2])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.debounce(100)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.stateIn(viewModelScope,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SharingStarted.WhileSubscribed(), null)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4023360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Kluczowe operatory reaktywne dla sensorów: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4334256"/>
            <a:ext cx="2029968" cy="256032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4361688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map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4361688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surowe ADC → jednostki fizyczne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04872" y="4334256"/>
            <a:ext cx="2029968" cy="256032"/>
          </a:xfrm>
          <a:prstGeom prst="rect">
            <a:avLst/>
          </a:prstGeom>
          <a:solidFill>
            <a:srgbClr val="F0FFFE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96312" y="4361688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filter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56432" y="4361688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odrzuć zdarzenia &lt; threshold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4626864"/>
            <a:ext cx="2029968" cy="256032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654296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debounce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4654296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max 1 UI update na 50 ms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04872" y="4626864"/>
            <a:ext cx="2029968" cy="256032"/>
          </a:xfrm>
          <a:prstGeom prst="rect">
            <a:avLst/>
          </a:prstGeom>
          <a:solidFill>
            <a:srgbClr val="F0FFFE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96312" y="4654296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distinctUntilChanged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56432" y="4654296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emituj gdy wartość się zmieniła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919472"/>
            <a:ext cx="2029968" cy="256032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4946904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scan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" y="4946904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rolling average, kąt z całkowania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404872" y="4919472"/>
            <a:ext cx="2029968" cy="256032"/>
          </a:xfrm>
          <a:prstGeom prst="rect">
            <a:avLst/>
          </a:prstGeom>
          <a:solidFill>
            <a:srgbClr val="F0FFFE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96312" y="4946904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0891B2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combineLatest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56432" y="4946904"/>
            <a:ext cx="9144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fuzja acc+mag → kompas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Swift — AsyncStream / Combine: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1408176"/>
            <a:ext cx="4206240" cy="2084832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6384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4880" y="1636776"/>
            <a:ext cx="4041648" cy="1792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AsyncStream wrapper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func accelStream()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-&gt; AsyncStream&lt;CMAccelerometerData&gt;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AsyncStream { cont 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motion.accelerometerUpdateInterval = 1.0/50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motion.startAccelerometerUpdates(to:.main)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d, _ in guard let d else { return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cont.yield(d)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cont.onTermination = { _ 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self.motion.stopAccelerometerUpdates()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Użycie async/await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@MainActor func listen() async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for await data in accelStream()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let mag = sqrt(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pow(data.acceleration.x, 2) +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pow(data.acceleration.y, 2) +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pow(data.acceleration.z, 2))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if mag &gt; threshold { handleShake()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529584"/>
            <a:ext cx="420624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63440" y="3529584"/>
            <a:ext cx="54864" cy="58521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91456" y="3584448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RxJava dla Android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91456" y="3849624"/>
            <a:ext cx="402336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Observable.create() + SensorEventListener. Operatory: observeOn(AndroidSchedulers.mainThread()), throttleLast(50, MILLISECONDS), map, filter.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4151376"/>
            <a:ext cx="420624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4151376"/>
            <a:ext cx="54864" cy="585216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91456" y="42062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Thread Safety — ważne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91456" y="4471416"/>
            <a:ext cx="402336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Dane sensora przychodą na dowolnym wątku. Zawsze dispatch na main thread przed aktualizacją UI. Kotlin: flowOn(Dispatchers.Main). Swift: DispatchQueue.main.async.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DSP na Urządzeniu Mobilnym — Filtrowanie Sygnałów Sensorów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Surowe dane sensorów zawierają szum, drift i artefakty — cyfrowe przetwarzanie sygnałów (DSP) jest konieczne dla użytecznych pomiarów aplikacji.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097280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097280"/>
            <a:ext cx="54864" cy="64008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8"/>
          <p:cNvSpPr/>
          <p:nvPr/>
        </p:nvSpPr>
        <p:spPr>
          <a:xfrm>
            <a:off x="448056" y="115214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Moving Average SMA/EMA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17320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SMA: x̄ₙ=(1/N)·Σxₙ. EMA: xₙ=α·xₙ+(1-α)·xₙ₋₁. EMA adaptuje szybciej. O(1) memory. Wygładzanie kroków, altitude. Opóźnienie N/2 próbek (SMA).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77393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1773936"/>
            <a:ext cx="54864" cy="6400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48056" y="182880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Butterworth IIR Filter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093976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Maksymalnie płaskie pasmo przepustowe. Biquad sekcje (SOS). Obliczanie współczynników offline w Python: scipy.signal.butter(). Real-time on-device.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2450592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450592"/>
            <a:ext cx="54864" cy="64008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448056" y="250545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FIR Filter (windowed)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770632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Liniowa faza — brak zniekształceń fazowych. Kaiser/Hamming okna. Wyższe opóźnienie niż IIR ale stabilniejszy. Dla orientacji preferowany.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8"/>
          <p:cNvSpPr/>
          <p:nvPr/>
        </p:nvSpPr>
        <p:spPr>
          <a:xfrm>
            <a:off x="320040" y="3127248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127248"/>
            <a:ext cx="54864" cy="64008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48056" y="318211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Median Filter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447288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Odporność na spike outliers (artefakty). Zastępuje próbkę medianą N sąsiadów. Skuteczne dla GPS position glitches. O(N log N).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3803903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3803903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48056" y="385876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FFT — analiza częstotliwościowa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12394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Krok dominuje 1.5–3 Hz. Jazda &lt; 1 Hz. Drżenie &gt; 5 Hz. FFT do klasyfikacji aktywności, analizy tętna PPG i wykrywania anomalii.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09728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Model szumów sensorów (Allan Deviation):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081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1408176"/>
            <a:ext cx="54864" cy="82296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Białe (Gaussian white noise)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1728216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ARW (Angle Random Walk) [°/√h] dla żyroskopu. VRW dla akcelerometru. Dominuje na wysokich częstotliwościach.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23225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2322576"/>
            <a:ext cx="54864" cy="82296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23774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Bias Instability (flicker)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2642615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Powolna losowa zmiana biasu. Widoczna w Allan Deviation w środkowych częstotliwościach (0.001–1 Hz). Trudna do korekcji.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32369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236976"/>
            <a:ext cx="54864" cy="82296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32918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Rate Random Walk (drift)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3557015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Silnie skorelowany, kumulatywny drift. Akumulacja błędu pozycji: σ²_pos ~ t³. Główne wyzwanie nawigacji inercyjnej.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4151376"/>
            <a:ext cx="4206240" cy="8229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4151376"/>
            <a:ext cx="54864" cy="822960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91456" y="42062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Quantization Noise (ADC)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4471416"/>
            <a:ext cx="402336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16-bit acc, zakres ±4g: rozdzielczość ~0.12 mg. ±0.5 LSB losowy błąd kwantyzacji. Redukcja dithering/oversampling.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4663440" y="4681727"/>
            <a:ext cx="420624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Allan Deviation plot: narzędzie analizy szumów IMU — identyfikuje ARW, Bias Instability, RRW i Rate Ramp. Kluczowe przy doborze filtrów.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Sensory Biometryczne — Odcisk Palca, Face ID i PPG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 biometryczne realizują uwierzytelnianie użytkownika — dane biometryczne nigdy nie opuszczają Secure Enclave / StrongBox urządzenia.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Odcisk palca — technologie sensora: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58521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Pojemnościowy (capacitive)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Siatka mikroelektrod — różnica pojemności grzebienie/bruzdy. Pod-szybkowe iPhone (Touch ID gen 2). Odporny na zabrudzenia.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029968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029968"/>
            <a:ext cx="54864" cy="58521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08483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Optyczny (optical in-display)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350008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Ekran OLED jako źródło światła, CMOS pod ekranem. Popularny Android. Podatny na zaawansowane reprodukcje odcisków.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651760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651760"/>
            <a:ext cx="54864" cy="58521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70662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Ultradźwiękowy (Qualcomm)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2971800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3D Sonic piezoelektryczny. Działa przez wodę, brud, cienkie folie. 3D obraz linii papilarnych. Samsung Galaxy S flagship.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320040" y="331012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BiometricPrompt API: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602736"/>
            <a:ext cx="4160520" cy="120700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3474720" y="364845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11480" y="3831335"/>
            <a:ext cx="3995928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prompt = BiometricPrompt(this, mainExecutor,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object : BiometricPrompt.AuthenticationCallback()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override fun onAuthenticationSucceeded(r: Result)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unlockContent()  // r.cryptoObject?.cipher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info = BiometricPrompt.PromptInfo.Builder()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.setTitle("Potwierdź tożsamość")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.setAllowedAuthenticators(BIOMETRIC_STRONG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or DEVICE_CREDENTIAL)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.build()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prompt.authenticate(info)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Apple Face ID — TrueDepth Camera: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4663440" y="1408176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25"/>
          <p:cNvSpPr/>
          <p:nvPr/>
        </p:nvSpPr>
        <p:spPr>
          <a:xfrm>
            <a:off x="4663440" y="1408176"/>
            <a:ext cx="54864" cy="64008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Structured Light 3D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791456" y="1728216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IR projektor + IR kamera: 30 000 punktów IR → chmura punktów 3D twarzy. Neural Engine → Secure Enclave. FAR &lt; 1:1 000 000.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2084832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29"/>
          <p:cNvSpPr/>
          <p:nvPr/>
        </p:nvSpPr>
        <p:spPr>
          <a:xfrm>
            <a:off x="4663440" y="2084832"/>
            <a:ext cx="54864" cy="64008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213969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vs Android Face Unlock (2D)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4791456" y="2404872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Szybszy, tańszy — ale możliwy do oszukania zdjęciem. Przeznaczony dla wygody (convenience), NIE dla transakcji finansowych.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2761488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Shape 33"/>
          <p:cNvSpPr/>
          <p:nvPr/>
        </p:nvSpPr>
        <p:spPr>
          <a:xfrm>
            <a:off x="4663440" y="2761488"/>
            <a:ext cx="54864" cy="640080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281635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Secure Enclave / StrongBox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4791456" y="3081527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Apple SEP / Android StrongBox (HSM): izolowany koprocesor. Szablon biometrii nigdy nie wychodzi poza hardware secure storage. Klucze w TEE.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663440" y="347472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LocalAuthentication: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4663440" y="3767327"/>
            <a:ext cx="4206240" cy="102412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7863840" y="3813048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754880" y="3995928"/>
            <a:ext cx="4041648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let ctx = LAContext()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ctx.evaluatePolicy(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.deviceOwnerAuthentication,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localizedReason: "Potwierdź tożsamość"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) { success, error 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DispatchQueue.main.async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if success { self.unlockContent()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Pedometr i Rozpoznawanie Aktywności Fizycznej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Step detection i activity recognition to kluczowe zastosowania IMU w fitness — miliardy urządzeń zbierają dane aktywności non-stop przez CHRE.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Algorytm detekcji kroków (Step Detection):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58521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1. Filtrowanie sygnału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Bandpass 1–3 Hz — zakres częstotliwości kroków. Eliminacja DC bias (grawitacja) i szumu HF &gt; 5 Hz.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029968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029968"/>
            <a:ext cx="54864" cy="58521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08483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2. Peak Detection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350008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Lokalne maksima powyżej dynamicznego threshold. Schmidt trigger — hystereza dla odporności na szum.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651760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651760"/>
            <a:ext cx="54864" cy="58521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70662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3. False Step Rejection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2971800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Odrzuć kroki poza zakresem 0.4–2.5 kr/s. Min czas między krokami: 300 ms. Shake ≠ krok.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273552"/>
            <a:ext cx="4160520" cy="5852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273552"/>
            <a:ext cx="54864" cy="58521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32841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4. Dystans i kalibracja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593591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Dystans = kroki × długość kroku. Model Weinberga: L = 0.41×√(acc_max) [m]. Kalibracja GPS.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3895344"/>
            <a:ext cx="4160520" cy="93268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11480" y="4123944"/>
            <a:ext cx="3995928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Sensor.TYPE_STEP_COUNTER  // całk. od boot (CHRE)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Sensor.TYPE_STEP_DETECTOR // event per krok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iOS — CMPedometer z HealthKit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CMPedometer.queryPedometerData(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from: start, to: end) { data, _ 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print(data?.numberOfSteps ?? 0)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Rozpoznawanie aktywności — cechy sygnału: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4663440" y="1408176"/>
            <a:ext cx="4206240" cy="493776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08176"/>
            <a:ext cx="54864" cy="49377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4754880" y="1463040"/>
            <a:ext cx="118872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Walking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54880" y="1664208"/>
            <a:ext cx="4059936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Amplituda 0.5–2g · Freq 1.7–2.3 Hz · Regularne szczyty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0"/>
          <p:cNvSpPr/>
          <p:nvPr/>
        </p:nvSpPr>
        <p:spPr>
          <a:xfrm>
            <a:off x="4663440" y="1956816"/>
            <a:ext cx="4206240" cy="493776"/>
          </a:xfrm>
          <a:prstGeom prst="rect">
            <a:avLst/>
          </a:prstGeom>
          <a:solidFill>
            <a:srgbClr val="F0FFFE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1956816"/>
            <a:ext cx="54864" cy="49377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754880" y="2011680"/>
            <a:ext cx="118872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Running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54880" y="2212848"/>
            <a:ext cx="4059936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Amplituda 2–5g · Freq 2.5–4 Hz · Impulsowy charakter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4663440" y="2505456"/>
            <a:ext cx="4206240" cy="493776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2505456"/>
            <a:ext cx="54864" cy="49377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754880" y="2560320"/>
            <a:ext cx="118872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Cycling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54880" y="2761488"/>
            <a:ext cx="4059936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Niska amplituda pionowa · Regularne pedałowanie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8"/>
          <p:cNvSpPr/>
          <p:nvPr/>
        </p:nvSpPr>
        <p:spPr>
          <a:xfrm>
            <a:off x="4663440" y="3054096"/>
            <a:ext cx="4206240" cy="493776"/>
          </a:xfrm>
          <a:prstGeom prst="rect">
            <a:avLst/>
          </a:prstGeom>
          <a:solidFill>
            <a:srgbClr val="F0FFFE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3054096"/>
            <a:ext cx="54864" cy="49377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4754880" y="3108960"/>
            <a:ext cx="118872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Driving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54880" y="3310128"/>
            <a:ext cx="4059936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Niskie przyspieszenie pionowe · Brak kroków · GPS &gt; 10 km/h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Shape 42"/>
          <p:cNvSpPr/>
          <p:nvPr/>
        </p:nvSpPr>
        <p:spPr>
          <a:xfrm>
            <a:off x="4663440" y="3602736"/>
            <a:ext cx="4206240" cy="493776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43"/>
          <p:cNvSpPr/>
          <p:nvPr/>
        </p:nvSpPr>
        <p:spPr>
          <a:xfrm>
            <a:off x="4663440" y="3602736"/>
            <a:ext cx="54864" cy="493776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44"/>
          <p:cNvSpPr/>
          <p:nvPr/>
        </p:nvSpPr>
        <p:spPr>
          <a:xfrm>
            <a:off x="4754880" y="3657600"/>
            <a:ext cx="118872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Stairs Up/Down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45"/>
          <p:cNvSpPr/>
          <p:nvPr/>
        </p:nvSpPr>
        <p:spPr>
          <a:xfrm>
            <a:off x="4754880" y="3858768"/>
            <a:ext cx="4059936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Barometr zmiana ciśnienia + kroki z komponentem pionowym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Shape 46"/>
          <p:cNvSpPr/>
          <p:nvPr/>
        </p:nvSpPr>
        <p:spPr>
          <a:xfrm>
            <a:off x="4663440" y="4151376"/>
            <a:ext cx="420624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Shape 47"/>
          <p:cNvSpPr/>
          <p:nvPr/>
        </p:nvSpPr>
        <p:spPr>
          <a:xfrm>
            <a:off x="4663440" y="4151376"/>
            <a:ext cx="54864" cy="64008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Text 48"/>
          <p:cNvSpPr/>
          <p:nvPr/>
        </p:nvSpPr>
        <p:spPr>
          <a:xfrm>
            <a:off x="4791456" y="42062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ML dla Activity Recognition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Text 49"/>
          <p:cNvSpPr/>
          <p:nvPr/>
        </p:nvSpPr>
        <p:spPr>
          <a:xfrm>
            <a:off x="4791456" y="4471416"/>
            <a:ext cx="4023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Klasyczne: SVM, Random Forest (cechy w dziedzinie czasu i częstotliwości). Deep Learning: 1D-CNN na surowym sygnale IMU. Android Awareness API / CoreML (iOS).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Shape 50"/>
          <p:cNvSpPr/>
          <p:nvPr/>
        </p:nvSpPr>
        <p:spPr>
          <a:xfrm>
            <a:off x="4663440" y="4828032"/>
            <a:ext cx="4206240" cy="12801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Shape 51"/>
          <p:cNvSpPr/>
          <p:nvPr/>
        </p:nvSpPr>
        <p:spPr>
          <a:xfrm>
            <a:off x="4663440" y="4828032"/>
            <a:ext cx="54864" cy="12801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Text 52"/>
          <p:cNvSpPr/>
          <p:nvPr/>
        </p:nvSpPr>
        <p:spPr>
          <a:xfrm>
            <a:off x="4791456" y="488289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53"/>
          <p:cNvSpPr/>
          <p:nvPr/>
        </p:nvSpPr>
        <p:spPr>
          <a:xfrm>
            <a:off x="4791456" y="5148072"/>
            <a:ext cx="4023360" cy="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Optymalizacja Zużycia Baterii — Sensory i Lokalizacja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 to główni konsumenci energii — GPS wyczerpuje baterię w 4–6h, ciągły IMU przy SENSOR_DELAY_FASTEST: ~50 mW. Oszczędzanie jest obowiązkiem.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Orientacyjne zużycie mocy sensorów: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408176"/>
          <a:ext cx="8503920" cy="2019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8789755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410722575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34417977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368581879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894230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Sensor</a:t>
                      </a:r>
                      <a:endParaRPr lang="en-US" sz="105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Tryb ciągły</a:t>
                      </a:r>
                      <a:endParaRPr lang="en-US" sz="105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Batched</a:t>
                      </a:r>
                      <a:endParaRPr lang="en-US" sz="105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Odpyt. co 5s</a:t>
                      </a:r>
                      <a:endParaRPr lang="en-US" sz="105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Uwagi</a:t>
                      </a:r>
                      <a:endParaRPr lang="en-US" sz="105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0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GPS (High Accuracy)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150–200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N/D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5–15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Największy konsument — używaj Balanced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11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Wi-Fi Scan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30–60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5–10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OS throttle: min 30s / scan (Android 8+)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57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Akcelerometr 100 Hz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1.5–3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0.1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0.05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CHRE &lt; 0.5 mW — hardware batching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86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Żyroskop 100 Hz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5–8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0.5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0.1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Wyłącz gdy brak aktywnego ruchu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095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Barometr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0.8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0.15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0.02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Bardzo energooszczędny — zawsze aktywny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8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1">
                          <a:solidFill>
                            <a:srgbClr val="0891B2"/>
                          </a:solidFill>
                          <a:latin typeface="Cambria" pitchFamily="34"/>
                          <a:ea typeface="Cambria" pitchFamily="34"/>
                          <a:cs typeface="Cambria" pitchFamily="34"/>
                        </a:rPr>
                        <a:t>Kamera Preview 30fps</a:t>
                      </a:r>
                      <a:endParaRPr lang="en-US" sz="1000">
                        <a:latin typeface="Cambria"/>
                        <a:ea typeface="Cambria"/>
                        <a:cs typeface="Cambria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200–400 mW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N/D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N/D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Najdroższy — minimize resolution dla ML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425116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320040" y="3858768"/>
            <a:ext cx="8503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Strategie oszczędzania energii: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4169663"/>
            <a:ext cx="4251959" cy="384048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4169663"/>
            <a:ext cx="54864" cy="38404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" y="4242816"/>
            <a:ext cx="12801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891B2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Batching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4242816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maxReportLatencyUs — bufor, obudź CPU raz/5s zamiast 500×/s. Redukcja wake-ups o 95%.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27448" y="4169663"/>
            <a:ext cx="4251959" cy="384048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27448" y="4169663"/>
            <a:ext cx="54864" cy="384048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55464" y="4242816"/>
            <a:ext cx="12801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Adaptive Sampling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90488" y="4242816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Zwiększ interval gdy statyczny (wariancja &lt; threshold). STEP_DETECTOR: brak kroków → wolniej.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590288"/>
            <a:ext cx="4251959" cy="384048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4590288"/>
            <a:ext cx="54864" cy="384048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056" y="4663440"/>
            <a:ext cx="12801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GPS OFF Indoor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83080" y="4663440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Geofencing + WiFi scan → indoor → wyłącz GPS. Oszczędność 80% w trybie indoor.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27448" y="4590288"/>
            <a:ext cx="4251959" cy="384048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27448" y="4590288"/>
            <a:ext cx="54864" cy="384048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55464" y="4663440"/>
            <a:ext cx="12801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D9770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WorkManager + Constraints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90488" y="4663440"/>
            <a:ext cx="2743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Zbieraj GPS gdy ładowanie: Constraints.requiresCharging(). Opóźnienie akceptowalne dla track logging.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Doze Mode i iOS Background — Ograniczenia Systemowe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OS aktywnie ogranicza dostęp do sensorów w tle — projektowanie aplikacji musi uwzględniać politykę energetyczną i dopuszczalne tryby pracy.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Doze Mode (Android 6+):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58368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Active — pełny dostęp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Bateria podłączona lub screen on. GPS, sieci, sensory — wszystko bez ograniczeń.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103120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103120"/>
            <a:ext cx="54864" cy="658368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579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Doze Light (idle)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23160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Screen off + nieruchomy. GPS wstrzymany. Sieci ograniczone. Alarmy defer. CHRE sensory działają (step, tilt).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98064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98064"/>
            <a:ext cx="54864" cy="658368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5292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Doze Deep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118103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Screen off + statyczny + odłączony. Brak sieci, GPS, sync. Tylko high-priority FCM. Maintenance window rzadko.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93008"/>
            <a:ext cx="4160520" cy="1335024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3474720" y="3538727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11480" y="3721608"/>
            <a:ext cx="3995928" cy="10424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pm = getSystemService(POWER_SERVICE) as PowerManager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Sprawdź wykluczenie z optymalizacji baterii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pm.isIgnoringBatteryOptimizations(packageName)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Foreground Service = dostęp do GPS w tle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startForegroundService(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Intent(this, LocationService::class.java))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WorkManager z NetworkType/Charging constraints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work = OneTimeWorkRequestBuilder&lt;GpsWork&gt;()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.setConstraints(Constraints.Builder()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.setRequiresCharging(true).build())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.build()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iOS Background Location Modes: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4663440" y="1408176"/>
            <a:ext cx="420624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4663440" y="1408176"/>
            <a:ext cx="54864" cy="76809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Always Authorization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91456" y="1728216"/>
            <a:ext cx="402336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Info.plist: NSLocationAlwaysAndWhenInUseUsageDescription. App Store: wymagane uzasadnienie. iOS 13+: przycisk Allow Once ogranicza.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2267712"/>
            <a:ext cx="420624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2267712"/>
            <a:ext cx="54864" cy="76809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2322576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Significant Location Changes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2587751"/>
            <a:ext cx="402336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startMonitoringSignificantLocationChanges() — budzenie apki co ~500m (cell changes). Bardzo energooszczędne, minimalne uprawnienia.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127248"/>
            <a:ext cx="420624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3127248"/>
            <a:ext cx="54864" cy="76809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318211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Region Monitoring (Geofencing)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3447288"/>
            <a:ext cx="402336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startMonitoring(for:CLCircularRegion) — enter/exit callback. Max 20 regionów per app. OS monitoruje automatycznie.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3986783"/>
            <a:ext cx="420624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986783"/>
            <a:ext cx="54864" cy="76809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4041648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Visit Monitoring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4306824"/>
            <a:ext cx="402336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startMonitoringVisits() — auto-wykrywanie odwiedzin (przybycie/wyjście ze stałych miejsc). Minimalne zużycie baterii.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663440" y="4882896"/>
            <a:ext cx="420624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EA580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Android Privacy Dashboard (Android 12+): użytkownicy widzą które aplikacje używały GPS/kamery/mikrofonu w ostatnich 7 dniach → nadużycie = odinstalowanie.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Prywatność i Uprawnienia — Privacy by Design dla Sensorów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>
                <a:solidFill>
                  <a:srgbClr val="0891B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"Jeśli możesz zidentyfikować osobę na podstawie danych — to dane osobowe" (RODO Art. 4). Trajektoria GPS ujawnia dom, pracę i lekarza.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43000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Model uprawnień Android 12+: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35608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35608"/>
            <a:ext cx="54864" cy="640080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9047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ACCESS_FINE_LOCATION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55648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Runtime — dialog z opcjami: Precise / Approximate / Deny. Android 12: opcja przybliżonej lokalizacji (AGP ~3 km). Proś o Approximate gdy wystarczy.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112263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112263"/>
            <a:ext cx="54864" cy="640080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67127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ACCESS_BACKGROUND_LOCATION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3230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Oddzielna zgoda — przekierowuje do Settings. Play Store: wymagane uzasadnienie pisemne. Bardzo trudna do uzyskania od użytkownika.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88920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88920"/>
            <a:ext cx="54864" cy="640080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437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BODY_SENSORS (API 33+)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108960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Wymagane dla PPG, tętna, SpO₂. Android 13: BODY_SENSORS_BACKGROUND oddzielnie. Dane zdrowotne — najwyższa klasa ochrony.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65576"/>
            <a:ext cx="4160520" cy="6400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465576"/>
            <a:ext cx="54864" cy="640080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520439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IMU — brak uprawnień!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785615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Akcelerometr, żyroskop, barometr dostępne BEZ uprawnień runtime. Android 12+ ogranicza do 200 Hz dla 3rd-party. Wciąż wektor ataku!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142232"/>
            <a:ext cx="4160520" cy="65836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3474720" y="4187952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Kotlin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11480" y="4370832"/>
            <a:ext cx="3995928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Pytaj o uprawnienia w kontekście użycia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val launcher = registerForActivityResult(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RequestMultiplePermissions()) { handleResult(it)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NIE pytaj przy starcie apki — pytaj gdy użytkownik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chce skorzystać z funkcji wymagającej uprawnienia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143000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Privacy by Design — zasady dla sensorów: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35608"/>
            <a:ext cx="420624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1435608"/>
            <a:ext cx="54864" cy="65836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149047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Data Minimization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1755648"/>
            <a:ext cx="4023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Zbieraj tylko dane niezbędne do funkcji. GPS: kraj zamiast ulicy. IMU: 10 Hz zamiast 100 Hz jeśli wystarczy.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2167127"/>
            <a:ext cx="420624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2167127"/>
            <a:ext cx="54864" cy="658368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2221991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Purpose Limitation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2487168"/>
            <a:ext cx="4023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Dane do nawigacji → nie wysyłaj do advertiserów. RODO Art. 5 — cel zbierania musi być konkretny i legalny.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2898648"/>
            <a:ext cx="420624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2898648"/>
            <a:ext cx="54864" cy="658368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295351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Storage Limitation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3218688"/>
            <a:ext cx="4023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Nie przechowuj dłużej niż potrzeba. Auto-usuwanie po sesji lub N dniach. Minimalizacja logów lokalizacji.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3630168"/>
            <a:ext cx="420624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3630168"/>
            <a:ext cx="54864" cy="658368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91456" y="368503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Pseudonymization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3950207"/>
            <a:ext cx="4023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Trajectory data: generalizacja + szum Laplace (Differential Privacy). Usuń identyfikatory przed analizą ML.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43"/>
          <p:cNvSpPr/>
          <p:nvPr/>
        </p:nvSpPr>
        <p:spPr>
          <a:xfrm>
            <a:off x="4663440" y="4361688"/>
            <a:ext cx="420624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Shape 44"/>
          <p:cNvSpPr/>
          <p:nvPr/>
        </p:nvSpPr>
        <p:spPr>
          <a:xfrm>
            <a:off x="4663440" y="4361688"/>
            <a:ext cx="54864" cy="658368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45"/>
          <p:cNvSpPr/>
          <p:nvPr/>
        </p:nvSpPr>
        <p:spPr>
          <a:xfrm>
            <a:off x="4791456" y="441655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User Control (RODO DSAR)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4791456" y="4681727"/>
            <a:ext cx="4023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UI do wyświetlania zbieranych danych, eksportu i usunięcia konta + danych. Android HealthConnect API.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Bezpieczeństwo Danych Sensorów — Ataki i Obrona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Dane sensorów to wektor ataku — side-channel przez IMU ujawnia PIN, GPS śledzi codzienne trasy, kamera rozpoznaje twarze bez zgody.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4160520" cy="329184"/>
          </a:xfrm>
          <a:prstGeom prst="rect">
            <a:avLst/>
          </a:prstGeom>
          <a:solidFill>
            <a:srgbClr val="DC262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7"/>
          <p:cNvSpPr/>
          <p:nvPr/>
        </p:nvSpPr>
        <p:spPr>
          <a:xfrm>
            <a:off x="411480" y="115214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⚠ Wektory Ataków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4663440" y="1115568"/>
            <a:ext cx="4160520" cy="32918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754880" y="1152144"/>
            <a:ext cx="3977639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✓ Zabezpieczenia i mitigacje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1481328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11480" y="1517904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DC262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IMU Keylogging (bez uprawnień)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411480" y="1755648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Akcelerometr wykrywa wibracje klawiatury → rekonstrukcja PIN. Demo akademickie: 80% skuteczność.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4663440" y="1481328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754880" y="1517904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Android 12: 200 Hz limit IMU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4754880" y="1755648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Ograniczenie częstotliwości dla 3rd-party. Fuzzing wartości. CHRE wymaga uprawnień.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139696"/>
            <a:ext cx="4160520" cy="603504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11480" y="2176272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DC262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GPS Trajectory Deanonymization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11480" y="2414016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Codzienne trasy identyfikują dom i pracę z 95% dokładnością nawet po pseudonimizacji.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4663440" y="2139696"/>
            <a:ext cx="4160520" cy="603504"/>
          </a:xfrm>
          <a:prstGeom prst="rect">
            <a:avLst/>
          </a:prstGeom>
          <a:solidFill>
            <a:srgbClr val="ECFDF5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754880" y="2176272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Differential Privacy + Generalization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754880" y="2414016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Szum Laplace'a do współrzędnych. Uogólnienie do poziomu dzielnicy. Usuwanie skrajnych punktów.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20040" y="2798064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11480" y="2834640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DC262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Ultrasonic Beacon Tracking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411480" y="3072384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Reklamy TV emitują ultradźwięki → mikrofon smartfona → cross-device tracking bez zgody.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25"/>
          <p:cNvSpPr/>
          <p:nvPr/>
        </p:nvSpPr>
        <p:spPr>
          <a:xfrm>
            <a:off x="4663440" y="2798064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54880" y="2834640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Mic Permission Indicator (Hardware)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754880" y="3072384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iOS: pomarańczowy indicator hardwarowy. Android 12+: zielony pasek kamery/mikrofonu.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320040" y="3456432"/>
            <a:ext cx="4160520" cy="603504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11480" y="3493008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DC262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Fingerprinting (gait)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11480" y="3730752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Unikalny bias i szum IMU każdego urządzenia → identyfikacja (fingerprint) bez cookies i IDFA.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456432"/>
            <a:ext cx="4160520" cy="603504"/>
          </a:xfrm>
          <a:prstGeom prst="rect">
            <a:avLst/>
          </a:prstGeom>
          <a:solidFill>
            <a:srgbClr val="ECFDF5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4754880" y="3493008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 Randomization per session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54880" y="3730752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Losowy offset do wartości sensorów per sesja. Android Privacy Sandbox ogranicza IDFA.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4"/>
          <p:cNvSpPr/>
          <p:nvPr/>
        </p:nvSpPr>
        <p:spPr>
          <a:xfrm>
            <a:off x="320040" y="4114800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5"/>
          <p:cNvSpPr/>
          <p:nvPr/>
        </p:nvSpPr>
        <p:spPr>
          <a:xfrm>
            <a:off x="411480" y="4151376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DC262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Kamera w tle (malware)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6"/>
          <p:cNvSpPr/>
          <p:nvPr/>
        </p:nvSpPr>
        <p:spPr>
          <a:xfrm>
            <a:off x="411480" y="4389120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Malware aktywuje kamerę i nagrywa bez wskaźnika. Identyfikacja twarzy, monitorowanie.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7"/>
          <p:cNvSpPr/>
          <p:nvPr/>
        </p:nvSpPr>
        <p:spPr>
          <a:xfrm>
            <a:off x="4663440" y="4114800"/>
            <a:ext cx="4160520" cy="603504"/>
          </a:xfrm>
          <a:prstGeom prst="rect">
            <a:avLst/>
          </a:prstGeom>
          <a:solidFill>
            <a:srgbClr val="FFFFFF"/>
          </a:solidFill>
          <a:ln w="6345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54880" y="4151376"/>
            <a:ext cx="3977639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Hardware Privacy Indicator (non-bypassable)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Text 39"/>
          <p:cNvSpPr/>
          <p:nvPr/>
        </p:nvSpPr>
        <p:spPr>
          <a:xfrm>
            <a:off x="4754880" y="4389120"/>
            <a:ext cx="3977639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Nie można wyłączyć software'm. iOS 14+: zielona kropka. Android 12+: status bar indicator.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Cross-Platform — Sensory w Flutter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Flutter umożliwia obsługę sensorów z jednej bazy kodu Dart — bogaty ekosystem pakietów pub.dev z zestandaryzowanym, stream-based API.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Kluczowe pakiety Flutter dla sensorów: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21792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sensors_plus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IMU — AccelerometerEvent, GyroscopeEvent, MagnetometerEvent. Stream-based. Android+iOS+Web.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103120"/>
            <a:ext cx="416052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103120"/>
            <a:ext cx="54864" cy="621792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579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geolocator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2316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GPS — getCurrentPosition(), getPositionStream(). LocationPermission. Platform channels.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98064"/>
            <a:ext cx="416052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98064"/>
            <a:ext cx="54864" cy="621792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5292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camera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118103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Camera2/AVFoundation. ImageStream per-frame. Exposure, zoom, flash control.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93008"/>
            <a:ext cx="416052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493008"/>
            <a:ext cx="54864" cy="621792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54787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flutter_activity_recognition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81304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CMMotionActivityManager (iOS) / ActivityRecognitionClient (Android). Aktywność: still/walking/running.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187952"/>
            <a:ext cx="4160520" cy="62179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320040" y="4187952"/>
            <a:ext cx="54864" cy="621792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48056" y="424281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barometer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48056" y="450799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Ciśnienie atmosferyczne → Stream&lt;BarometerEvent&gt; w hPa. Low-power.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7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Implementacja sensors_plus + geolocator: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1408176"/>
            <a:ext cx="4206240" cy="2542032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786384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Dart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54880" y="1636776"/>
            <a:ext cx="4041648" cy="22494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import 'package:sensors_plus/sensors_plus.dart';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import 'package:geolocator/geolocator.dart';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class SensorViewModel extends ChangeNotifier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StreamSubscription&lt;AccelerometerEvent&gt;? _accelSub;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StreamSubscription&lt;Position&gt;? _gpsSub;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void startSensors()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_accelSub = accelerometerEventStream(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samplingPeriod: SensorInterval.gameInterval,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).listen((e)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accel = e; notifyListeners();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_gpsSub = Geolocator.getPositionStream(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locationSettings: const LocationSettings(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accuracy: LocationAccuracy.high,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  distanceFilter: 5, // min 5m zmiana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).listen((pos)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position = pos; notifyListeners();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@override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void dispose()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_accelSub?.cancel(); _gpsSub?.cancel();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super.dispose();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3986783"/>
            <a:ext cx="4206240" cy="56692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3986783"/>
            <a:ext cx="54864" cy="56692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4041648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Platform Channels — własne API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4306824"/>
            <a:ext cx="40233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Brak pakietu pub.dev → MethodChannel (jednorazowe wywołanie) lub EventChannel (ciągły stream) do natywnego Kotlin/Swift.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4590288"/>
            <a:ext cx="4206240" cy="18288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4590288"/>
            <a:ext cx="54864" cy="18288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464515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Expo vs bare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4910328"/>
            <a:ext cx="4023360" cy="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Expo SDK: sensors_plus wbudowany w Expo Sensors — zero konfiguracji natywnej.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Cross-Platform — Sensory w React Native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React Native dostarcza sensory przez JavaScript bridge (JSI w nowej architekturze) i ekosystem bibliotek community, w tym Expo SDK.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Biblioteki dla sensorów (React Native):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76809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react-native-sensors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Accelerometer, Gyroscope, Magnetometer — observables RxJS. setUpdateIntervalForType(SensorTypes.accelerometer, 100ms).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249424"/>
            <a:ext cx="416052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249424"/>
            <a:ext cx="54864" cy="76809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30428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react-native-geolocation-service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569463"/>
            <a:ext cx="39776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Precyzyjny GPS foreground+background. navigator.geolocation kompatybilny. Android FusedLocation pod spodem.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3090672"/>
            <a:ext cx="416052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3090672"/>
            <a:ext cx="54864" cy="76809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3145536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expo-sensors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410712"/>
            <a:ext cx="39776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Expo SDK: Accelerometer, Gyroscope, Magnetometer, Barometer, Pedometer, LightSensor, DeviceMotion.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931920"/>
            <a:ext cx="4160520" cy="76809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931920"/>
            <a:ext cx="54864" cy="76809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986783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react-native-vision-camera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4251959"/>
            <a:ext cx="3977639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VisionCamera v3: Frame Processors — natywny Kotlin/Swift kod per klatka bez bridge. &lt; 5 ms ML latencja.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Implementacja RxJS + VisionCamera: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4"/>
          <p:cNvSpPr/>
          <p:nvPr/>
        </p:nvSpPr>
        <p:spPr>
          <a:xfrm>
            <a:off x="4663440" y="1408176"/>
            <a:ext cx="4206240" cy="2432304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7863840" y="1453896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JavaScript/TS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754880" y="1636776"/>
            <a:ext cx="4041648" cy="21396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import { Accelerometer } from 'react-native-sensors';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import { setUpdateIntervalForType, SensorTypes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from 'react-native-sensors';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import { map, filter, throttleTime } from 'rxjs/operators';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setUpdateIntervalForType(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SensorTypes.accelerometer, 200);  // ms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const subscription = new Accelerometer({ updateInterval: 200 })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.pipe(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map(({ x, y, z }) =&gt; ({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x, y, z,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  magnitude: Math.sqrt(x*x + y*y + z*z)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})),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filter(({ magnitude }) =&gt; magnitude &gt; 1.2),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throttleTime(50),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)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.subscribe(data =&gt; setAccelData(data));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VisionCamera Frame Processor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const frameProcessor = useFrameProcessor(frame =&gt; {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'worklet';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const barcodes = scanBarcodes(frame, [BarcodeFormat.QR]);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runOnJS(setBarcodes)(barcodes);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}, []);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return () =&gt; subscription.unsubscribe();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3877056"/>
            <a:ext cx="4206240" cy="56692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3877056"/>
            <a:ext cx="54864" cy="566928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393192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Nowa Architektura JSI (RN 0.71+)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4197096"/>
            <a:ext cx="40233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JavaScript Interface zastępuje bridge — synchroniczne wywołania native, brak serializacji JSON. Turbo Modules + Fabric Renderer. Sensory bezpośrednio w wątku JS.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4480560"/>
            <a:ext cx="4206240" cy="56692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4480560"/>
            <a:ext cx="54864" cy="56692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4535424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Expo vs bare workflow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4800600"/>
            <a:ext cx="402336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Expo: szybki start, managed permissions, zero natywnej konfiguracji. Bare: pełna kontrola gdy potrzebujesz własnych wrappers lub obscure platform APIs.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Wearables i Sensory Peryferyjne — Wear OS, watchOS i IoT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Smartwatch jako hub sensoryczny — bliżej ciała, ciągłe monitorowanie zdrowia i nowe formy interakcji niedostępne dla smartfonów.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Wear OS — Health Services API: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7"/>
          <p:cNvSpPr/>
          <p:nvPr/>
        </p:nvSpPr>
        <p:spPr>
          <a:xfrm>
            <a:off x="320040" y="1408176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08176"/>
            <a:ext cx="54864" cy="658368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48056" y="1463040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Health Services (Wear OS 3.0)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448056" y="1728216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Unified API: HeartRateSource, SpO₂, VO2max, EDA, temperatura skóry. ExerciseClient dla śledzenia treningów z automatyczną detekcją aktywności.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320040" y="2103120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103120"/>
            <a:ext cx="54864" cy="658368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48056" y="2157984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PassiveMonitoringClient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48056" y="2423160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Ciągłe zbieranie danych w tle — kroki, tętno, aktywność. CHRE — zawsze aktywny. Dane do HealthKit/HealthConnect.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320040" y="2798064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2798064"/>
            <a:ext cx="54864" cy="658368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48056" y="2852928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AmbientMode i Always-On Display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8"/>
          <p:cNvSpPr/>
          <p:nvPr/>
        </p:nvSpPr>
        <p:spPr>
          <a:xfrm>
            <a:off x="448056" y="3118103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onAmbientModeChanged() — zredukuj animacje. Aktualizuj UI co minutę. Watchface API wyświetla dane sensorów stale.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20040" y="3493008"/>
            <a:ext cx="4160520" cy="65836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320040" y="3493008"/>
            <a:ext cx="54864" cy="658368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448056" y="3547872"/>
            <a:ext cx="397763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Data Layer API (Phone↔Watch)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448056" y="3813048"/>
            <a:ext cx="3977639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ChannelClient, MessageClient, DataClient — synchronizacja danych sensorów w czasie rzeczywistym. WearableListenerService.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320040" y="4187952"/>
            <a:ext cx="4160520" cy="658368"/>
          </a:xfrm>
          <a:prstGeom prst="rect">
            <a:avLst/>
          </a:prstGeom>
          <a:solidFill>
            <a:srgbClr val="0D1117"/>
          </a:solidFill>
          <a:ln w="12701" cap="flat">
            <a:solidFill>
              <a:srgbClr val="30363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3474720" y="4233672"/>
            <a:ext cx="91440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7D859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Swift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411480" y="4416552"/>
            <a:ext cx="3995928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// watchOS — HealthKit sensor access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let hrType = HKObjectType.quantityType(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forIdentifier: .heartRate)!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hkStore.requestAuthorization(toShare: nil,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A5D6A7"/>
                </a:solidFill>
                <a:uFillTx/>
                <a:latin typeface="Consolas" pitchFamily="34"/>
                <a:ea typeface="Consolas" pitchFamily="34"/>
                <a:cs typeface="Consolas" pitchFamily="34"/>
              </a:rPr>
              <a:t>    read: [hrType]) { ok, _ in startHRQuery() }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BLE i zewnętrzne sensory IoT: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7"/>
          <p:cNvSpPr/>
          <p:nvPr/>
        </p:nvSpPr>
        <p:spPr>
          <a:xfrm>
            <a:off x="4663440" y="1408176"/>
            <a:ext cx="4206240" cy="78638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Shape 28"/>
          <p:cNvSpPr/>
          <p:nvPr/>
        </p:nvSpPr>
        <p:spPr>
          <a:xfrm>
            <a:off x="4663440" y="1408176"/>
            <a:ext cx="54864" cy="78638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4791456" y="1463040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BLE Medical Devices (SIG Profiles)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4791456" y="1728216"/>
            <a:ext cx="40233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GATT: Heart Rate (0x180D), Blood Pressure (0x1810), Glucose (0x1808), Thermometer (0x1809). Interoperabilność bez custom protokołu.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1"/>
          <p:cNvSpPr/>
          <p:nvPr/>
        </p:nvSpPr>
        <p:spPr>
          <a:xfrm>
            <a:off x="4663440" y="2286000"/>
            <a:ext cx="4206240" cy="78638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4663440" y="2286000"/>
            <a:ext cx="54864" cy="78638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3"/>
          <p:cNvSpPr/>
          <p:nvPr/>
        </p:nvSpPr>
        <p:spPr>
          <a:xfrm>
            <a:off x="4791456" y="2340864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ANT+ Fitness Sensors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4791456" y="2606039"/>
            <a:ext cx="40233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ANT+ (Garmin ecosystem) — HR strap, cadence, power meter. Standard w sporcie wyczynowym. Mniejsza społeczność niż BLE ale stały protokół.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4663440" y="3163824"/>
            <a:ext cx="4206240" cy="78638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Shape 36"/>
          <p:cNvSpPr/>
          <p:nvPr/>
        </p:nvSpPr>
        <p:spPr>
          <a:xfrm>
            <a:off x="4663440" y="3163824"/>
            <a:ext cx="54864" cy="786384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4791456" y="3218688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Polar H10 / Shimmer3 (research)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8"/>
          <p:cNvSpPr/>
          <p:nvPr/>
        </p:nvSpPr>
        <p:spPr>
          <a:xfrm>
            <a:off x="4791456" y="3483863"/>
            <a:ext cx="40233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ECG badawczy — 12-lead przez BLE, raw IMU 512 Hz. Open SDK. Popularny w akademickich studiach aktywności i HCI.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9"/>
          <p:cNvSpPr/>
          <p:nvPr/>
        </p:nvSpPr>
        <p:spPr>
          <a:xfrm>
            <a:off x="4663440" y="4041648"/>
            <a:ext cx="4206240" cy="78638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  <a:effectLst>
            <a:outerShdw dist="25396" dir="8100000" algn="tl">
              <a:srgbClr val="000000">
                <a:alpha val="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0"/>
          <p:cNvSpPr/>
          <p:nvPr/>
        </p:nvSpPr>
        <p:spPr>
          <a:xfrm>
            <a:off x="4663440" y="4041648"/>
            <a:ext cx="54864" cy="786384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1"/>
          <p:cNvSpPr/>
          <p:nvPr/>
        </p:nvSpPr>
        <p:spPr>
          <a:xfrm>
            <a:off x="4791456" y="4096512"/>
            <a:ext cx="402336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E293B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Environmental IoT (MQTT)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42"/>
          <p:cNvSpPr/>
          <p:nvPr/>
        </p:nvSpPr>
        <p:spPr>
          <a:xfrm>
            <a:off x="4791456" y="4361688"/>
            <a:ext cx="402336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Stacje pogodowe, PM2.5, CO₂, TVOC — BLE lub Wi-Fi + MQTT broker. Telefon jako agregator. InfluxDB + Grafana wizualizacja.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4663440" y="4882896"/>
            <a:ext cx="420624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Matter (Apple/Google/Amazon): unified IoT standard — sensory smart home: temperatura, drzwi, ruch, jakość powietrza — telefon jako controller hub.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C2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Case Studies — Zaawansowane Zastosowania Sensorów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84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5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Analiza rzeczywistych systemów pokazuje jak połączenie sensorów tworzy wartość niemożliwą do uzyskania z jednego czujnika.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7"/>
          <p:cNvSpPr/>
          <p:nvPr/>
        </p:nvSpPr>
        <p:spPr>
          <a:xfrm>
            <a:off x="411480" y="1161288"/>
            <a:ext cx="82296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Google Maps — Nawigacja piesza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8"/>
          <p:cNvSpPr/>
          <p:nvPr/>
        </p:nvSpPr>
        <p:spPr>
          <a:xfrm>
            <a:off x="320040" y="1444752"/>
            <a:ext cx="8503920" cy="87782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38912" y="1481328"/>
            <a:ext cx="832104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Fuzja: GPS (5m) + PDR akcelerometr + magnetometr (kierunek) + barometr (piętro) + Wi-Fi scan (indoor) → pozycja &lt; 2m outdoor, &lt; 5m indoor.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Krok bazowy: gdy GPS słaby (canyon) → PDR przejmuje. Kroki z STEP_DETECTOR → dystans modelem Weinberga → azymut z fuzji mag+gyro.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Indoor: Google Indoor Maps fingerprinting Wi-Fi RSSI — lotniska, centra handlowe. Barometr wyznacza piętro ±1.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20040" y="2377440"/>
            <a:ext cx="8503920" cy="329184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11480" y="2423160"/>
            <a:ext cx="82296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Apple Crash Detection — iOS 16 / Pixel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20040" y="2706624"/>
            <a:ext cx="8503920" cy="87782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438912" y="2743200"/>
            <a:ext cx="832104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Sensory: akcelerometr high-g (do 256g) + żyroskop + barometr + GPS (prędkość→0) + mikrofon (dźwięk uderzenia) → klasyfikator ML.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Wzorzec: nagłe przyspieszenie &gt; 2.5g → zatrzymanie → cisza lub airbag deploy sound → GPS prędkość 0 → brak aktywności → Emergency SOS.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Wyzwanie false positives: rollercoaster, sporty ekstremalne → explicit 'I'm safe' button z 10s oknem potwierdzenia.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320040" y="3639312"/>
            <a:ext cx="8503920" cy="329184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411480" y="3685032"/>
            <a:ext cx="82296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AR Nawigacja Chirurgiczna — iPad Pro LiDAR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20040" y="3968496"/>
            <a:ext cx="8503920" cy="87782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38912" y="4005072"/>
            <a:ext cx="832104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iPad Pro 2020+ LiDAR: ARKit MeshAnchor rekonstruuje anatomię pacjenta 3D → nakładanie modelu CT/MRI z precyzją &lt; 3 mm.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Pipeline: CT DICOM → segmentacja AI → model STL → ARKit anchor do fizycznej anatomii przez LiDAR registration.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Wyniki kliniczne: intraoperative guidance ortopedii i neurochirurgii. Kilka systemów w FDA clearance pipeline (2024).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55"/>
          <p:cNvGrpSpPr/>
          <p:nvPr/>
        </p:nvGrpSpPr>
        <p:grpSpPr>
          <a:xfrm>
            <a:off x="-2377" y="4884907"/>
            <a:ext cx="9146377" cy="260147"/>
            <a:chOff x="-2377" y="4884907"/>
            <a:chExt cx="9146377" cy="260147"/>
          </a:xfrm>
        </p:grpSpPr>
        <p:sp>
          <p:nvSpPr>
            <p:cNvPr id="3" name="Shape 52"/>
            <p:cNvSpPr/>
            <p:nvPr/>
          </p:nvSpPr>
          <p:spPr>
            <a:xfrm>
              <a:off x="0" y="4884907"/>
              <a:ext cx="9144000" cy="251999"/>
            </a:xfrm>
            <a:prstGeom prst="rect">
              <a:avLst/>
            </a:prstGeom>
            <a:solidFill>
              <a:srgbClr val="071523"/>
            </a:solidFill>
            <a:ln w="12701" cap="flat">
              <a:solidFill>
                <a:srgbClr val="071523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pl-PL"/>
            </a:p>
          </p:txBody>
        </p:sp>
        <p:sp>
          <p:nvSpPr>
            <p:cNvPr id="4" name="Text 38"/>
            <p:cNvSpPr/>
            <p:nvPr/>
          </p:nvSpPr>
          <p:spPr>
            <a:xfrm>
              <a:off x="32954" y="4917350"/>
              <a:ext cx="3613681" cy="17999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800" b="0" i="0" u="none" strike="noStrike" kern="1200" cap="none" spc="0" baseline="0">
                  <a:solidFill>
                    <a:srgbClr val="595959"/>
                  </a:solidFill>
                  <a:uFillTx/>
                  <a:latin typeface="Calibri"/>
                </a:rPr>
                <a:t>Programowanie Aplikacji Mobilnych</a:t>
              </a:r>
            </a:p>
          </p:txBody>
        </p:sp>
        <p:grpSp>
          <p:nvGrpSpPr>
            <p:cNvPr id="5" name="Grupa 58"/>
            <p:cNvGrpSpPr/>
            <p:nvPr/>
          </p:nvGrpSpPr>
          <p:grpSpPr>
            <a:xfrm>
              <a:off x="-2377" y="5099325"/>
              <a:ext cx="9146376" cy="45729"/>
              <a:chOff x="-2377" y="5099325"/>
              <a:chExt cx="9146376" cy="45729"/>
            </a:xfrm>
          </p:grpSpPr>
          <p:sp>
            <p:nvSpPr>
              <p:cNvPr id="6" name="Shape 52"/>
              <p:cNvSpPr/>
              <p:nvPr/>
            </p:nvSpPr>
            <p:spPr>
              <a:xfrm>
                <a:off x="-2377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7" name="Shape 52"/>
              <p:cNvSpPr/>
              <p:nvPr/>
            </p:nvSpPr>
            <p:spPr>
              <a:xfrm>
                <a:off x="198772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8" name="Shape 52"/>
              <p:cNvSpPr/>
              <p:nvPr/>
            </p:nvSpPr>
            <p:spPr>
              <a:xfrm>
                <a:off x="397544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9" name="Shape 52"/>
              <p:cNvSpPr/>
              <p:nvPr/>
            </p:nvSpPr>
            <p:spPr>
              <a:xfrm>
                <a:off x="596307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0" name="Shape 52"/>
              <p:cNvSpPr/>
              <p:nvPr/>
            </p:nvSpPr>
            <p:spPr>
              <a:xfrm>
                <a:off x="795079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1" name="Shape 52"/>
              <p:cNvSpPr/>
              <p:nvPr/>
            </p:nvSpPr>
            <p:spPr>
              <a:xfrm>
                <a:off x="993843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2" name="Shape 52"/>
              <p:cNvSpPr/>
              <p:nvPr/>
            </p:nvSpPr>
            <p:spPr>
              <a:xfrm>
                <a:off x="1192606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3" name="Shape 52"/>
              <p:cNvSpPr/>
              <p:nvPr/>
            </p:nvSpPr>
            <p:spPr>
              <a:xfrm>
                <a:off x="1391378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4" name="Shape 52"/>
              <p:cNvSpPr/>
              <p:nvPr/>
            </p:nvSpPr>
            <p:spPr>
              <a:xfrm>
                <a:off x="1590141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5" name="Shape 52"/>
              <p:cNvSpPr/>
              <p:nvPr/>
            </p:nvSpPr>
            <p:spPr>
              <a:xfrm>
                <a:off x="1788913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6" name="Shape 52"/>
              <p:cNvSpPr/>
              <p:nvPr/>
            </p:nvSpPr>
            <p:spPr>
              <a:xfrm>
                <a:off x="1987677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7" name="Shape 52"/>
              <p:cNvSpPr/>
              <p:nvPr/>
            </p:nvSpPr>
            <p:spPr>
              <a:xfrm>
                <a:off x="2186449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8" name="Shape 52"/>
              <p:cNvSpPr/>
              <p:nvPr/>
            </p:nvSpPr>
            <p:spPr>
              <a:xfrm>
                <a:off x="2385212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19" name="Shape 52"/>
              <p:cNvSpPr/>
              <p:nvPr/>
            </p:nvSpPr>
            <p:spPr>
              <a:xfrm>
                <a:off x="2583975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0" name="Shape 52"/>
              <p:cNvSpPr/>
              <p:nvPr/>
            </p:nvSpPr>
            <p:spPr>
              <a:xfrm>
                <a:off x="2783461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1" name="Shape 52"/>
              <p:cNvSpPr/>
              <p:nvPr/>
            </p:nvSpPr>
            <p:spPr>
              <a:xfrm>
                <a:off x="2982224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2" name="Shape 52"/>
              <p:cNvSpPr/>
              <p:nvPr/>
            </p:nvSpPr>
            <p:spPr>
              <a:xfrm>
                <a:off x="3180996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3" name="Shape 52"/>
              <p:cNvSpPr/>
              <p:nvPr/>
            </p:nvSpPr>
            <p:spPr>
              <a:xfrm>
                <a:off x="3379759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4" name="Shape 52"/>
              <p:cNvSpPr/>
              <p:nvPr/>
            </p:nvSpPr>
            <p:spPr>
              <a:xfrm>
                <a:off x="3578531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5" name="Shape 52"/>
              <p:cNvSpPr/>
              <p:nvPr/>
            </p:nvSpPr>
            <p:spPr>
              <a:xfrm>
                <a:off x="3777294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6" name="Shape 52"/>
              <p:cNvSpPr/>
              <p:nvPr/>
            </p:nvSpPr>
            <p:spPr>
              <a:xfrm>
                <a:off x="3976058" y="5099361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7" name="Shape 52"/>
              <p:cNvSpPr/>
              <p:nvPr/>
            </p:nvSpPr>
            <p:spPr>
              <a:xfrm>
                <a:off x="4174830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8" name="Shape 52"/>
              <p:cNvSpPr/>
              <p:nvPr/>
            </p:nvSpPr>
            <p:spPr>
              <a:xfrm>
                <a:off x="4373593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29" name="Shape 52"/>
              <p:cNvSpPr/>
              <p:nvPr/>
            </p:nvSpPr>
            <p:spPr>
              <a:xfrm>
                <a:off x="4572365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0" name="Shape 52"/>
              <p:cNvSpPr/>
              <p:nvPr/>
            </p:nvSpPr>
            <p:spPr>
              <a:xfrm>
                <a:off x="4771128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1" name="Shape 52"/>
              <p:cNvSpPr/>
              <p:nvPr/>
            </p:nvSpPr>
            <p:spPr>
              <a:xfrm>
                <a:off x="4969892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2" name="Shape 52"/>
              <p:cNvSpPr/>
              <p:nvPr/>
            </p:nvSpPr>
            <p:spPr>
              <a:xfrm>
                <a:off x="5168664" y="5099325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3" name="Shape 52"/>
              <p:cNvSpPr/>
              <p:nvPr/>
            </p:nvSpPr>
            <p:spPr>
              <a:xfrm>
                <a:off x="5367427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4" name="Shape 52"/>
              <p:cNvSpPr/>
              <p:nvPr/>
            </p:nvSpPr>
            <p:spPr>
              <a:xfrm>
                <a:off x="5566199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5" name="Shape 52"/>
              <p:cNvSpPr/>
              <p:nvPr/>
            </p:nvSpPr>
            <p:spPr>
              <a:xfrm>
                <a:off x="5764962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6" name="Shape 52"/>
              <p:cNvSpPr/>
              <p:nvPr/>
            </p:nvSpPr>
            <p:spPr>
              <a:xfrm>
                <a:off x="5963725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7" name="Shape 52"/>
              <p:cNvSpPr/>
              <p:nvPr/>
            </p:nvSpPr>
            <p:spPr>
              <a:xfrm>
                <a:off x="6162498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8" name="Shape 52"/>
              <p:cNvSpPr/>
              <p:nvPr/>
            </p:nvSpPr>
            <p:spPr>
              <a:xfrm>
                <a:off x="6361261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39" name="Shape 52"/>
              <p:cNvSpPr/>
              <p:nvPr/>
            </p:nvSpPr>
            <p:spPr>
              <a:xfrm>
                <a:off x="6560033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0" name="Shape 52"/>
              <p:cNvSpPr/>
              <p:nvPr/>
            </p:nvSpPr>
            <p:spPr>
              <a:xfrm>
                <a:off x="6758796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1" name="Shape 52"/>
              <p:cNvSpPr/>
              <p:nvPr/>
            </p:nvSpPr>
            <p:spPr>
              <a:xfrm>
                <a:off x="6957559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2" name="Shape 52"/>
              <p:cNvSpPr/>
              <p:nvPr/>
            </p:nvSpPr>
            <p:spPr>
              <a:xfrm>
                <a:off x="7156332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3" name="Shape 52"/>
              <p:cNvSpPr/>
              <p:nvPr/>
            </p:nvSpPr>
            <p:spPr>
              <a:xfrm>
                <a:off x="7355095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4" name="Shape 52"/>
              <p:cNvSpPr/>
              <p:nvPr/>
            </p:nvSpPr>
            <p:spPr>
              <a:xfrm>
                <a:off x="7553867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5" name="Shape 52"/>
              <p:cNvSpPr/>
              <p:nvPr/>
            </p:nvSpPr>
            <p:spPr>
              <a:xfrm>
                <a:off x="7752630" y="5100422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6" name="Shape 52"/>
              <p:cNvSpPr/>
              <p:nvPr/>
            </p:nvSpPr>
            <p:spPr>
              <a:xfrm>
                <a:off x="7951402" y="5101218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7" name="Shape 52"/>
              <p:cNvSpPr/>
              <p:nvPr/>
            </p:nvSpPr>
            <p:spPr>
              <a:xfrm>
                <a:off x="8150166" y="5101218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8" name="Shape 52"/>
              <p:cNvSpPr/>
              <p:nvPr/>
            </p:nvSpPr>
            <p:spPr>
              <a:xfrm>
                <a:off x="8348929" y="5101218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49" name="Shape 52"/>
              <p:cNvSpPr/>
              <p:nvPr/>
            </p:nvSpPr>
            <p:spPr>
              <a:xfrm>
                <a:off x="8547701" y="5101218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50" name="Shape 52"/>
              <p:cNvSpPr/>
              <p:nvPr/>
            </p:nvSpPr>
            <p:spPr>
              <a:xfrm>
                <a:off x="8746464" y="5101218"/>
                <a:ext cx="198763" cy="43836"/>
              </a:xfrm>
              <a:prstGeom prst="rect">
                <a:avLst/>
              </a:prstGeom>
              <a:solidFill>
                <a:srgbClr val="DAE3F3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  <p:sp>
            <p:nvSpPr>
              <p:cNvPr id="51" name="Shape 52"/>
              <p:cNvSpPr/>
              <p:nvPr/>
            </p:nvSpPr>
            <p:spPr>
              <a:xfrm>
                <a:off x="8945236" y="5101218"/>
                <a:ext cx="198763" cy="43836"/>
              </a:xfrm>
              <a:prstGeom prst="rect">
                <a:avLst/>
              </a:pr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lIns="0" tIns="0" rIns="0" bIns="0"/>
              <a:lstStyle/>
              <a:p>
                <a:endParaRPr lang="pl-PL"/>
              </a:p>
            </p:txBody>
          </p:sp>
        </p:grpSp>
      </p:grpSp>
      <p:sp>
        <p:nvSpPr>
          <p:cNvPr id="52" name="Shape 0"/>
          <p:cNvSpPr/>
          <p:nvPr/>
        </p:nvSpPr>
        <p:spPr>
          <a:xfrm>
            <a:off x="0" y="0"/>
            <a:ext cx="9143277" cy="657718"/>
          </a:xfrm>
          <a:prstGeom prst="rect">
            <a:avLst/>
          </a:prstGeom>
          <a:solidFill>
            <a:srgbClr val="0A1628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658441"/>
            <a:ext cx="9143277" cy="18004"/>
          </a:xfrm>
          <a:prstGeom prst="rect">
            <a:avLst/>
          </a:prstGeom>
          <a:solidFill>
            <a:srgbClr val="00B4C5"/>
          </a:solidFill>
          <a:ln cap="flat">
            <a:noFill/>
            <a:prstDash val="solid"/>
          </a:ln>
        </p:spPr>
        <p:txBody>
          <a:bodyPr vert="horz" wrap="square" lIns="90004" tIns="722" rIns="90004" bIns="722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20040" y="54717"/>
            <a:ext cx="8503197" cy="5662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2000" b="1" i="0" u="none" strike="noStrike" kern="0" cap="none" spc="0" baseline="0">
                <a:solidFill>
                  <a:srgbClr val="FFFFFF"/>
                </a:solidFill>
                <a:uFillTx/>
                <a:latin typeface="Cambria"/>
                <a:ea typeface="Cambria"/>
                <a:cs typeface="Noto Sans Devanagari"/>
              </a:rPr>
              <a:t>Pytania 6</a:t>
            </a:r>
            <a:endParaRPr lang="pl-PL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214134" y="757717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214134" y="757717"/>
            <a:ext cx="36594" cy="971998"/>
          </a:xfrm>
          <a:prstGeom prst="rect">
            <a:avLst/>
          </a:prstGeom>
          <a:solidFill>
            <a:srgbClr val="00B4C5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301139" y="784911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problemy architektoniczne są szczególnie istotne przy projektowaniu aplikacji mobilnych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w porównaniu z aplikacjami desktopowymi?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367753" y="1119426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brak wielozadaniowości systemu operacyjnego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brak systemów plików w urządzeniach mobilnych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niestabilność połączenia sieciowego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ograniczona dostępność energii</a:t>
            </a:r>
          </a:p>
        </p:txBody>
      </p:sp>
      <p:sp>
        <p:nvSpPr>
          <p:cNvPr id="59" name="Shape 19"/>
          <p:cNvSpPr/>
          <p:nvPr/>
        </p:nvSpPr>
        <p:spPr>
          <a:xfrm>
            <a:off x="214134" y="1774685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214134" y="1782302"/>
            <a:ext cx="36594" cy="971998"/>
          </a:xfrm>
          <a:prstGeom prst="rect">
            <a:avLst/>
          </a:prstGeom>
          <a:solidFill>
            <a:srgbClr val="ED7D31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301139" y="1825672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czynniki mają największy wpływ na fragmentację platformy Android z punktu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widzenia projektowania aplikacji?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367753" y="2166862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otwartość kodu źródłowego systemu Android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obecność wielu języków programowania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różnorodność konfiguracji sprzętowych urządzeń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różnorodność producentów sprzętu i konfiguracji hardware</a:t>
            </a:r>
            <a:endParaRPr lang="en-US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3" name="Shape 19"/>
          <p:cNvSpPr/>
          <p:nvPr/>
        </p:nvSpPr>
        <p:spPr>
          <a:xfrm>
            <a:off x="214134" y="2809969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4" name="Shape 20"/>
          <p:cNvSpPr/>
          <p:nvPr/>
        </p:nvSpPr>
        <p:spPr>
          <a:xfrm>
            <a:off x="214134" y="2809969"/>
            <a:ext cx="36594" cy="971998"/>
          </a:xfrm>
          <a:prstGeom prst="rect">
            <a:avLst/>
          </a:prstGeom>
          <a:solidFill>
            <a:srgbClr val="548235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301139" y="2850504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elementy architektury aplikacji mobilnej zmniejszają sprzężenie między warstwą UI,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a logiką biznesową?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367753" y="3171669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bezpośrednie wywoływanie zapytań do bazy danych z Activity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umieszczanie logiki biznesowej w klasach widoku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zastosowanie architektury MVVM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wykorzystanie warstwy repozytorium (repository pattern)</a:t>
            </a:r>
            <a:endParaRPr lang="en-US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214134" y="3841613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8" name="Shape 20"/>
          <p:cNvSpPr/>
          <p:nvPr/>
        </p:nvSpPr>
        <p:spPr>
          <a:xfrm>
            <a:off x="214134" y="3841613"/>
            <a:ext cx="36594" cy="971998"/>
          </a:xfrm>
          <a:prstGeom prst="rect">
            <a:avLst/>
          </a:prstGeom>
          <a:solidFill>
            <a:srgbClr val="7030A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301139" y="3882149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mechanizmy systemu Android umożliwiają komunikację między komponentami aplikacji lub między aplikacjami?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367753" y="4203313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ViewModel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Fragment transactions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Binder IPC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Intents</a:t>
            </a: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 </a:t>
            </a:r>
          </a:p>
        </p:txBody>
      </p:sp>
      <p:sp>
        <p:nvSpPr>
          <p:cNvPr id="71" name="Shape 19"/>
          <p:cNvSpPr/>
          <p:nvPr/>
        </p:nvSpPr>
        <p:spPr>
          <a:xfrm>
            <a:off x="3159279" y="756016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3163129" y="756016"/>
            <a:ext cx="36594" cy="971998"/>
          </a:xfrm>
          <a:prstGeom prst="rect">
            <a:avLst/>
          </a:prstGeom>
          <a:solidFill>
            <a:srgbClr val="F4B183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3250134" y="783211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czynniki mają największy wpływ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na zużycie energii przez aplikację mobilną?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3316748" y="1117725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liczba bibliotek Gradle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liczba klas w projekcie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intensywne użycie GPU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częste operacje sieciowe</a:t>
            </a:r>
          </a:p>
        </p:txBody>
      </p:sp>
      <p:sp>
        <p:nvSpPr>
          <p:cNvPr id="75" name="Shape 19"/>
          <p:cNvSpPr/>
          <p:nvPr/>
        </p:nvSpPr>
        <p:spPr>
          <a:xfrm>
            <a:off x="3163129" y="1772985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3163129" y="1772985"/>
            <a:ext cx="36594" cy="971998"/>
          </a:xfrm>
          <a:prstGeom prst="rect">
            <a:avLst/>
          </a:prstGeom>
          <a:solidFill>
            <a:srgbClr val="2E75B6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3250134" y="1823971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cechy architektury offline-first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są kluczowe dla aplikacji mobilnych?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3316748" y="2165162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blokowanie UI w przypadku braku połączenia z siecią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przechowywanie danych wyłącznie w pamięci RAM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mechanizmy synchronizacji konfliktów danych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lokalna baza danych synchronizowana z serwerem</a:t>
            </a:r>
            <a:endParaRPr lang="en-US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3163129" y="2808268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3163129" y="2808268"/>
            <a:ext cx="36594" cy="971998"/>
          </a:xfrm>
          <a:prstGeom prst="rect">
            <a:avLst/>
          </a:prstGeom>
          <a:solidFill>
            <a:srgbClr val="FFD966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3250134" y="2848804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czynniki wpływają na decyzję o wyborze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native development zamiast cross-platform?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3316748" y="3169968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brak interfejsu użytkownika w aplikacji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brak potrzeby publikacji w sklepach aplikacji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maksymalizacja wydajności aplikacji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potrzeba dostępu do zaawansowanych API sprzętowych</a:t>
            </a:r>
            <a:endParaRPr lang="en-US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3163129" y="3847520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3163129" y="3847520"/>
            <a:ext cx="36594" cy="971998"/>
          </a:xfrm>
          <a:prstGeom prst="rect">
            <a:avLst/>
          </a:prstGeom>
          <a:solidFill>
            <a:srgbClr val="333F5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3250134" y="3867098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elementy procesu CI/CD są szczególnie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istotne dla projektów mobilnych?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3316748" y="4201613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ograniczona pamięć ROM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brak wielowątkowości w systemie operacyjnym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operacje sieciowe o wysokiej latencji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automatyczne budowanie aplikacji dla wielu architektur CPU</a:t>
            </a: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 </a:t>
            </a:r>
          </a:p>
        </p:txBody>
      </p:sp>
      <p:sp>
        <p:nvSpPr>
          <p:cNvPr id="87" name="Shape 19"/>
          <p:cNvSpPr/>
          <p:nvPr/>
        </p:nvSpPr>
        <p:spPr>
          <a:xfrm>
            <a:off x="6119027" y="768946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6119027" y="768946"/>
            <a:ext cx="36594" cy="971998"/>
          </a:xfrm>
          <a:prstGeom prst="rect">
            <a:avLst/>
          </a:prstGeom>
          <a:solidFill>
            <a:srgbClr val="C5E0B4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6206032" y="796131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Georgia Pro Cond"/>
                <a:ea typeface="Calibri"/>
                <a:cs typeface="Calibri"/>
              </a:rPr>
              <a:t>Które elementy są typowymi komponentami architektury aplikacji mobilnej opartej na Clean Architecture?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Georgia Pro Cond"/>
              <a:ea typeface="Calibri"/>
              <a:cs typeface="Calibri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6272646" y="1130646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warstwa kernel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warstwa HAL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warstwa data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warstwa domain</a:t>
            </a:r>
          </a:p>
        </p:txBody>
      </p:sp>
      <p:sp>
        <p:nvSpPr>
          <p:cNvPr id="91" name="Shape 19"/>
          <p:cNvSpPr/>
          <p:nvPr/>
        </p:nvSpPr>
        <p:spPr>
          <a:xfrm>
            <a:off x="6119027" y="1785905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2" name="Shape 20"/>
          <p:cNvSpPr/>
          <p:nvPr/>
        </p:nvSpPr>
        <p:spPr>
          <a:xfrm>
            <a:off x="6111410" y="1785905"/>
            <a:ext cx="36594" cy="971998"/>
          </a:xfrm>
          <a:prstGeom prst="rect">
            <a:avLst/>
          </a:prstGeom>
          <a:solidFill>
            <a:srgbClr val="7C7C7C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6206032" y="1836901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cechy architektury aplikacji mobilnych poprawiają skalowalność i testowalność kodu?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6272646" y="2178082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globalne zmienne stanu aplikacji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bezpośredni dostęp UI do bazy danych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dependency injection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separacja warstw (domain / data / presentation)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6119027" y="2821189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6119027" y="2821189"/>
            <a:ext cx="36594" cy="971998"/>
          </a:xfrm>
          <a:prstGeom prst="rect">
            <a:avLst/>
          </a:prstGeom>
          <a:solidFill>
            <a:srgbClr val="92D05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6206032" y="2861724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mechanizmy systemowe ograniczają </a:t>
            </a:r>
            <a:b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</a:b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aktywność aplikacji w tle w Androidzie?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272646" y="3182889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Garbage collector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Fragment lifecycle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Doze mode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App Standby buckets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9" name="Shape 19"/>
          <p:cNvSpPr/>
          <p:nvPr/>
        </p:nvSpPr>
        <p:spPr>
          <a:xfrm>
            <a:off x="6119027" y="3852833"/>
            <a:ext cx="2880003" cy="971998"/>
          </a:xfrm>
          <a:prstGeom prst="rect">
            <a:avLst/>
          </a:prstGeom>
          <a:solidFill>
            <a:srgbClr val="FFFFFF"/>
          </a:solidFill>
          <a:ln w="12600" cap="flat">
            <a:solidFill>
              <a:srgbClr val="CBD5E5"/>
            </a:solidFill>
            <a:prstDash val="solid"/>
            <a:round/>
          </a:ln>
          <a:effectLst>
            <a:outerShdw dist="25462" dir="81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6119027" y="3852833"/>
            <a:ext cx="36594" cy="971998"/>
          </a:xfrm>
          <a:prstGeom prst="rect">
            <a:avLst/>
          </a:prstGeom>
          <a:solidFill>
            <a:srgbClr val="0070C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1" name="Text 21"/>
          <p:cNvSpPr/>
          <p:nvPr/>
        </p:nvSpPr>
        <p:spPr>
          <a:xfrm>
            <a:off x="6206032" y="3880018"/>
            <a:ext cx="2772003" cy="359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defTabSz="914400" rtl="0" fontAlgn="auto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850" b="1" i="0" u="none" strike="noStrike" kern="0" cap="none" spc="0" baseline="0">
                <a:solidFill>
                  <a:srgbClr val="182030"/>
                </a:solidFill>
                <a:uFillTx/>
                <a:latin typeface="Arial Nova" pitchFamily="34"/>
                <a:ea typeface="Calibri"/>
                <a:cs typeface="Calibri"/>
              </a:rPr>
              <a:t>Które mechanizmy pozwalają aplikacjom Android korzystać z kodów natywnych (C/C++)?</a:t>
            </a:r>
            <a:endParaRPr lang="pl-PL" sz="850" b="1" i="0" u="none" strike="noStrike" kern="0" cap="none" spc="0" baseline="0">
              <a:solidFill>
                <a:srgbClr val="000000"/>
              </a:solidFill>
              <a:uFillTx/>
              <a:latin typeface="Arial Nova" pitchFamily="34"/>
              <a:ea typeface="Calibri"/>
              <a:cs typeface="Calibri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6272646" y="4214533"/>
            <a:ext cx="2596310" cy="6119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Binder IPC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3B5168"/>
                </a:solidFill>
                <a:uFillTx/>
                <a:latin typeface="Calibri"/>
                <a:ea typeface="Calibri"/>
                <a:cs typeface="Calibri"/>
              </a:rPr>
              <a:t>ART bytecode verifier</a:t>
            </a:r>
            <a:endParaRPr lang="pl-PL" sz="800" b="0" i="0" u="none" strike="noStrike" kern="0" cap="none" spc="-31" baseline="0">
              <a:solidFill>
                <a:srgbClr val="3B5168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Android NDK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lphaUcPeriod"/>
              <a:tabLst>
                <a:tab pos="0" algn="l"/>
              </a:tabLst>
              <a:defRPr lang="pl-PL"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31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JNI (Java Native Interface)</a:t>
            </a:r>
            <a:endParaRPr lang="pl-PL" sz="800" b="0" i="0" u="none" strike="noStrike" kern="0" cap="none" spc="-31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3" name="Text 28"/>
          <p:cNvSpPr/>
          <p:nvPr/>
        </p:nvSpPr>
        <p:spPr>
          <a:xfrm>
            <a:off x="8046720" y="4901183"/>
            <a:ext cx="82296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8899AA"/>
                </a:solidFill>
                <a:uFillTx/>
                <a:latin typeface="Calibri"/>
              </a:rPr>
              <a:t>4</a:t>
            </a:r>
            <a:r>
              <a:rPr lang="pl-PL" sz="800" b="0" i="0" u="none" strike="noStrike" kern="1200" cap="none" spc="0" baseline="0">
                <a:solidFill>
                  <a:srgbClr val="8899AA"/>
                </a:solidFill>
                <a:uFillTx/>
                <a:latin typeface="Calibri"/>
              </a:rPr>
              <a:t>5</a:t>
            </a:r>
            <a:r>
              <a:rPr lang="en-US" sz="800" b="0" i="0" u="none" strike="noStrike" kern="1200" cap="none" spc="0" baseline="0">
                <a:solidFill>
                  <a:srgbClr val="8899AA"/>
                </a:solidFill>
                <a:uFillTx/>
                <a:latin typeface="Calibri"/>
              </a:rPr>
              <a:t> / </a:t>
            </a:r>
            <a:r>
              <a:rPr lang="pl-PL" sz="800" b="0" i="0" u="none" strike="noStrike" kern="1200" cap="none" spc="0" baseline="0">
                <a:solidFill>
                  <a:srgbClr val="8899AA"/>
                </a:solidFill>
                <a:uFillTx/>
                <a:latin typeface="Calibri"/>
              </a:rPr>
              <a:t>46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22960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Trendy i Podsumowanie</a:t>
            </a:r>
            <a:endParaRPr lang="en-US" sz="2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0891B2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3657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0891B2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Generatywna AI + Sensory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LLM + IMU/GPS/kamera → kontekstowe odpowiedzi w czasie rzeczywistym. Gemini Nano on-device.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27832" y="822960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27832" y="822960"/>
            <a:ext cx="2743200" cy="3657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19272" y="914400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059669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Continuous Health Monitoring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19272" y="1225296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Nieinwazyjny glukometr przez skórę (Samsung R&amp;D), EKG przez watch, FDA clearance 2024.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35624" y="822960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1D4ED8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35624" y="822960"/>
            <a:ext cx="2743200" cy="36576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27064" y="914400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D4ED8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Neural IMU (Sensor Fusion ML)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27064" y="1225296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Deep learning zastępuje filtry — on-device transformer &lt; 2ms, wyższa dokładność orientacji.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1810512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7C3AED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1810512"/>
            <a:ext cx="2743200" cy="36576"/>
          </a:xfrm>
          <a:prstGeom prst="rect">
            <a:avLst/>
          </a:prstGeom>
          <a:solidFill>
            <a:srgbClr val="7C3AE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1901952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7C3AED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Privacy-First On-Device ML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2212848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Dane sensorów nie wychodzą z urządzenia. Apple Private Relay, local processing jako USP.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27832" y="1810512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D97706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27832" y="1810512"/>
            <a:ext cx="2743200" cy="36576"/>
          </a:xfrm>
          <a:prstGeom prst="rect">
            <a:avLst/>
          </a:prstGeom>
          <a:solidFill>
            <a:srgbClr val="D9770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9272" y="1901952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D97706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Spatial Computing (Vision Pro)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19272" y="2212848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6DoF + kamera + IMU + LiDAR = nowa era spatial UX. M2 Motion Coprocessor jako model.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35624" y="1810512"/>
            <a:ext cx="2743200" cy="914400"/>
          </a:xfrm>
          <a:prstGeom prst="rect">
            <a:avLst/>
          </a:prstGeom>
          <a:solidFill>
            <a:srgbClr val="112233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35624" y="1810512"/>
            <a:ext cx="2743200" cy="36576"/>
          </a:xfrm>
          <a:prstGeom prst="rect">
            <a:avLst/>
          </a:prstGeom>
          <a:solidFill>
            <a:srgbClr val="EA580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27064" y="1901952"/>
            <a:ext cx="2560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EA580C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UWB Precise Positioning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27064" y="2212848"/>
            <a:ext cx="256032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CADCFC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U1/U2 chip: centimetrowa precyzja indoor. Keyless entry, AirTag, shared AR handoff.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8503920" cy="27432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Kluczowe wnioski wykładu: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306918"/>
            <a:ext cx="109728" cy="1097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" y="3255264"/>
            <a:ext cx="8275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Żaden pojedynczy sensor nie jest wystarczający — fuzja (Kalman, komplementarny) to produkcyjny standard każdej aplikacji mobilnej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3599526"/>
            <a:ext cx="109728" cy="1097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" y="3547872"/>
            <a:ext cx="8275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Prywatność i bateria to ograniczenia niefunkcjonalne pierwszej klasy — projektuj z nimi od dnia 1, nie na końcu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3892134"/>
            <a:ext cx="109728" cy="1097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3840480"/>
            <a:ext cx="8275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IMU dostępne BEZ uprawnień runtime — potencjalny wektor ataku; Android 12+ ogranicza, ale nie eliminuje ryzyka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4184742"/>
            <a:ext cx="109728" cy="1097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4133087"/>
            <a:ext cx="82753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CHRE / Motion Coprocessor zmienił paradygmat: Always-On sensing nie kosztuje baterii tyle co kiedyś — sensory ciągłe są możliwe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46120" y="4498848"/>
            <a:ext cx="2651760" cy="402336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46120" y="4544568"/>
            <a:ext cx="265176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Cambria" pitchFamily="34"/>
                <a:ea typeface="Cambria" pitchFamily="34"/>
                <a:cs typeface="Cambria" pitchFamily="34"/>
              </a:rPr>
              <a:t>Pytania i Dyskusja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F1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l-PL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8510</Words>
  <Application>Microsoft Office PowerPoint</Application>
  <PresentationFormat>Panoramiczny</PresentationFormat>
  <Paragraphs>1107</Paragraphs>
  <Slides>31</Slides>
  <Notes>31</Notes>
  <HiddenSlides>0</HiddenSlides>
  <MMClips>0</MMClips>
  <ScaleCrop>false</ScaleCrop>
  <HeadingPairs>
    <vt:vector size="6" baseType="variant">
      <vt:variant>
        <vt:lpstr>Używane czcionki</vt:lpstr>
      </vt:variant>
      <vt:variant>
        <vt:i4>13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45" baseType="lpstr">
      <vt:lpstr>Arial</vt:lpstr>
      <vt:lpstr>Arial Nova</vt:lpstr>
      <vt:lpstr>Calibri</vt:lpstr>
      <vt:lpstr>Calibri Light</vt:lpstr>
      <vt:lpstr>Cambria</vt:lpstr>
      <vt:lpstr>Cascadia Mono</vt:lpstr>
      <vt:lpstr>Consolas</vt:lpstr>
      <vt:lpstr>DejaVu Sans</vt:lpstr>
      <vt:lpstr>Georgia Pro Cond</vt:lpstr>
      <vt:lpstr>Liberation Sans</vt:lpstr>
      <vt:lpstr>Noto Sans CJK SC</vt:lpstr>
      <vt:lpstr>Noto Sans Devanagari</vt:lpstr>
      <vt:lpstr>Times New Roman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Obsługa Sensorów Urządzenia Mobilnego</dc:title>
  <dc:subject>PptxGenJS Presentation</dc:subject>
  <dc:creator>Katedra Informatyki</dc:creator>
  <cp:lastModifiedBy>Mateusz Pomianek</cp:lastModifiedBy>
  <cp:revision>5</cp:revision>
  <dcterms:created xsi:type="dcterms:W3CDTF">2026-02-22T21:18:15Z</dcterms:created>
  <dcterms:modified xsi:type="dcterms:W3CDTF">2026-03-14T18:07:13Z</dcterms:modified>
</cp:coreProperties>
</file>