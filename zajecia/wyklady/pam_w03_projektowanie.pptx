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7" r:id="rId17"/>
    <p:sldId id="271" r:id="rId18"/>
    <p:sldId id="288" r:id="rId19"/>
    <p:sldId id="272" r:id="rId20"/>
    <p:sldId id="273" r:id="rId21"/>
    <p:sldId id="277" r:id="rId22"/>
    <p:sldId id="278" r:id="rId23"/>
    <p:sldId id="279" r:id="rId24"/>
    <p:sldId id="280" r:id="rId25"/>
    <p:sldId id="281" r:id="rId26"/>
    <p:sldId id="282" r:id="rId27"/>
    <p:sldId id="283" r:id="rId28"/>
    <p:sldId id="284" r:id="rId29"/>
    <p:sldId id="274" r:id="rId30"/>
    <p:sldId id="276" r:id="rId31"/>
    <p:sldId id="275" r:id="rId32"/>
    <p:sldId id="286" r:id="rId33"/>
    <p:sldId id="285" r:id="rId34"/>
  </p:sldIdLst>
  <p:sldSz cx="9144000" cy="5143500" type="screen16x9"/>
  <p:notesSz cx="51435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91CF"/>
    <a:srgbClr val="EE9360"/>
    <a:srgbClr val="76EC70"/>
    <a:srgbClr val="5DFF5D"/>
    <a:srgbClr val="7860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854" autoAdjust="0"/>
  </p:normalViewPr>
  <p:slideViewPr>
    <p:cSldViewPr snapToGrid="0">
      <p:cViewPr varScale="1">
        <p:scale>
          <a:sx n="103" d="100"/>
          <a:sy n="103" d="100"/>
        </p:scale>
        <p:origin x="185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pl-PL" sz="4400" b="0" u="none" strike="noStrike">
                <a:solidFill>
                  <a:srgbClr val="000000"/>
                </a:solidFill>
                <a:effectLst/>
                <a:uFillTx/>
                <a:latin typeface="Arial"/>
              </a:rPr>
              <a:t>Kliknij, aby przesunąć slajd</a:t>
            </a: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pl-PL" sz="2000" b="0" u="none" strike="noStrike">
                <a:solidFill>
                  <a:srgbClr val="000000"/>
                </a:solidFill>
                <a:effectLst/>
                <a:uFillTx/>
                <a:latin typeface="Arial"/>
              </a:rPr>
              <a:t>Kliknij, aby edytować format notatek</a:t>
            </a: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pl-PL"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pl-PL" sz="1400" b="0" u="none" strike="noStrike">
                <a:solidFill>
                  <a:srgbClr val="000000"/>
                </a:solidFill>
                <a:effectLst/>
                <a:uFillTx/>
                <a:latin typeface="Times New Roman"/>
              </a:defRPr>
            </a:lvl1pPr>
          </a:lstStyle>
          <a:p>
            <a:pPr indent="0" algn="r">
              <a:buNone/>
            </a:pPr>
            <a:r>
              <a:rPr lang="pl-PL"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pl-PL" sz="1400" b="0" u="none" strike="noStrike">
                <a:solidFill>
                  <a:srgbClr val="000000"/>
                </a:solidFill>
                <a:effectLst/>
                <a:uFillTx/>
                <a:latin typeface="Times New Roman"/>
              </a:defRPr>
            </a:lvl1pPr>
          </a:lstStyle>
          <a:p>
            <a:pPr indent="0">
              <a:buNone/>
            </a:pPr>
            <a:r>
              <a:rPr lang="pl-PL"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pl-PL" sz="1400" b="0" u="none" strike="noStrike">
                <a:solidFill>
                  <a:srgbClr val="000000"/>
                </a:solidFill>
                <a:effectLst/>
                <a:uFillTx/>
                <a:latin typeface="Times New Roman"/>
              </a:defRPr>
            </a:lvl1pPr>
          </a:lstStyle>
          <a:p>
            <a:pPr indent="0" algn="r">
              <a:buNone/>
            </a:pPr>
            <a:fld id="{BDEB9A38-7CCA-4F65-961A-124B42FA533A}" type="slidenum">
              <a:rPr lang="pl-PL" sz="1400" b="0" u="none" strike="noStrike">
                <a:solidFill>
                  <a:srgbClr val="000000"/>
                </a:solidFill>
                <a:effectLst/>
                <a:uFillTx/>
                <a:latin typeface="Times New Roman"/>
              </a:rPr>
              <a:t>‹#›</a:t>
            </a:fld>
            <a:endParaRPr lang="pl-PL"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0" name="PlaceHolder 1"/>
          <p:cNvSpPr>
            <a:spLocks noGrp="1" noRot="1" noChangeAspect="1"/>
          </p:cNvSpPr>
          <p:nvPr>
            <p:ph type="sldImg"/>
          </p:nvPr>
        </p:nvSpPr>
        <p:spPr>
          <a:xfrm>
            <a:off x="0" y="0"/>
            <a:ext cx="0" cy="0"/>
          </a:xfrm>
          <a:prstGeom prst="rect">
            <a:avLst/>
          </a:prstGeom>
          <a:ln w="0">
            <a:noFill/>
          </a:ln>
        </p:spPr>
      </p:sp>
      <p:sp>
        <p:nvSpPr>
          <p:cNvPr id="113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W tej części chcę pokazać, że tworzenie aplikacji mobilnej bardzo rzadko zaczyna się od programowania. W praktyce najważniejsze decyzje zapadają jeszcze zanim powstanie pierwszy ekran czy pierwsza linia kodu. Dobrze zaplanowany projekt wymaga połączenia kompetencji biznesowych, technicznych i organizacyjnych. Będę też podkreślał, że współczesne aplikacje są rozwijane iteracyjnie, a sukces produktu zależy nie tylko od jakości technologii, ale również od zdolności zespołu do szybkiego reagowania na potrzeby rynku. </a:t>
            </a:r>
          </a:p>
        </p:txBody>
      </p:sp>
      <p:sp>
        <p:nvSpPr>
          <p:cNvPr id="1132"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0DCF4F71-3E69-4043-BE7A-DBD12C74B833}" type="slidenum">
              <a:rPr lang="pl-PL" sz="1800" b="0" u="none" strike="noStrike">
                <a:solidFill>
                  <a:schemeClr val="dk1"/>
                </a:solidFill>
                <a:effectLst/>
                <a:uFillTx/>
                <a:latin typeface="+mn-lt"/>
                <a:ea typeface="+mn-ea"/>
              </a:rPr>
              <a:t>1</a:t>
            </a:fld>
            <a:endParaRPr lang="pl-PL" sz="18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3" name="PlaceHolder 1"/>
          <p:cNvSpPr>
            <a:spLocks noGrp="1" noRot="1" noChangeAspect="1"/>
          </p:cNvSpPr>
          <p:nvPr>
            <p:ph type="sldImg"/>
          </p:nvPr>
        </p:nvSpPr>
        <p:spPr>
          <a:xfrm>
            <a:off x="-360" y="-360"/>
            <a:ext cx="720" cy="720"/>
          </a:xfrm>
          <a:prstGeom prst="rect">
            <a:avLst/>
          </a:prstGeom>
          <a:ln w="0">
            <a:noFill/>
          </a:ln>
        </p:spPr>
      </p:sp>
      <p:sp>
        <p:nvSpPr>
          <p:cNvPr id="113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Na początku warto spojrzeć na cały cykl życia produktu mobilnego jako na ciąg wzajemnie powiązanych etapów. W praktyce problemy po wdrożeniu często wynikają z błędów popełnionych już na etapie planowania albo komunikacji w zespole. Dlatego podczas projektowania produktu nie można myśleć wyłącznie o technologii. Trzeba jednocześnie uwzględniać użytkownika, architekturę, organizację pracy, strategię biznesową i utrzymanie systemu po premierze. </a:t>
            </a:r>
          </a:p>
        </p:txBody>
      </p:sp>
      <p:sp>
        <p:nvSpPr>
          <p:cNvPr id="1135"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DD070306-0182-4A0C-8AC6-59F9C332666B}" type="slidenum">
              <a:rPr lang="pl-PL" sz="1800" b="0" u="none" strike="noStrike">
                <a:solidFill>
                  <a:schemeClr val="dk1"/>
                </a:solidFill>
                <a:effectLst/>
                <a:uFillTx/>
                <a:latin typeface="+mn-lt"/>
                <a:ea typeface="+mn-ea"/>
              </a:rPr>
              <a:t>2</a:t>
            </a:fld>
            <a:endParaRPr lang="pl-PL" sz="18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 name="PlaceHolder 1"/>
          <p:cNvSpPr>
            <a:spLocks noGrp="1" noRot="1" noChangeAspect="1"/>
          </p:cNvSpPr>
          <p:nvPr>
            <p:ph type="sldImg"/>
          </p:nvPr>
        </p:nvSpPr>
        <p:spPr>
          <a:xfrm>
            <a:off x="0" y="0"/>
            <a:ext cx="0" cy="0"/>
          </a:xfrm>
          <a:prstGeom prst="rect">
            <a:avLst/>
          </a:prstGeom>
          <a:ln w="0">
            <a:noFill/>
          </a:ln>
        </p:spPr>
      </p:sp>
      <p:sp>
        <p:nvSpPr>
          <p:cNvPr id="113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Wiele osób zakłada, że dobre pomysły same prowadzą do sukcesu produktu. W rzeczywistości większość projektów kończy się problemami organizacyjnymi, finansowymi albo brakiem realnej potrzeby rynkowej. Chcę zwrócić uwagę na to, że planowanie nie eliminuje ryzyka, ale pozwala je kontrolować. W profesjonalnych zespołach ogromną część czasu poświęca się na analizę zagrożeń, estymację kosztów oraz przygotowanie scenariuszy awaryjnych. To właśnie odróżnia projekty hobbystyczne od produktów rozwijanych w środowisku biznesowym. </a:t>
            </a:r>
          </a:p>
        </p:txBody>
      </p:sp>
      <p:sp>
        <p:nvSpPr>
          <p:cNvPr id="1138"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809D56C7-F7A6-4759-8FB8-8FDC38C1B017}" type="slidenum">
              <a:rPr lang="pl-PL" sz="1800" b="0" u="none" strike="noStrike">
                <a:solidFill>
                  <a:schemeClr val="dk1"/>
                </a:solidFill>
                <a:effectLst/>
                <a:uFillTx/>
                <a:latin typeface="+mn-lt"/>
                <a:ea typeface="+mn-ea"/>
              </a:rPr>
              <a:t>3</a:t>
            </a:fld>
            <a:endParaRPr lang="pl-PL" sz="18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9" name="PlaceHolder 1"/>
          <p:cNvSpPr>
            <a:spLocks noGrp="1" noRot="1" noChangeAspect="1"/>
          </p:cNvSpPr>
          <p:nvPr>
            <p:ph type="sldImg"/>
          </p:nvPr>
        </p:nvSpPr>
        <p:spPr>
          <a:xfrm>
            <a:off x="0" y="0"/>
            <a:ext cx="0" cy="0"/>
          </a:xfrm>
          <a:prstGeom prst="rect">
            <a:avLst/>
          </a:prstGeom>
          <a:ln w="0">
            <a:noFill/>
          </a:ln>
        </p:spPr>
      </p:sp>
      <p:sp>
        <p:nvSpPr>
          <p:cNvPr id="114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W praktyce największym błędem nie jest zła implementacja techniczna, lecz budowanie produktu, którego nikt realnie nie potrzebuje. Bardzo często zespoły koncentrują się na funkcjach i technologiach, zamiast analizować problemy użytkowników. Warto też pamiętać, że użytkownik mobilny jest wyjątkowo niecierpliwy. Jeśli aplikacja od początku nie dostarcza wartości, zostaje bardzo szybko odinstalowana. Dlatego nowoczesne projektowanie produktów opiera się na szybkim testowaniu hipotez i ciągłym zbieraniu danych, zamiast wielomiesięcznego rozwijania rozwiązania „w ciemno”. </a:t>
            </a:r>
          </a:p>
        </p:txBody>
      </p:sp>
      <p:sp>
        <p:nvSpPr>
          <p:cNvPr id="1141"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85AF0D0B-4233-42F6-B516-262F2FA0E902}" type="slidenum">
              <a:rPr lang="pl-PL" sz="1800" b="0" u="none" strike="noStrike">
                <a:solidFill>
                  <a:schemeClr val="dk1"/>
                </a:solidFill>
                <a:effectLst/>
                <a:uFillTx/>
                <a:latin typeface="+mn-lt"/>
                <a:ea typeface="+mn-ea"/>
              </a:rPr>
              <a:t>4</a:t>
            </a:fld>
            <a:endParaRPr lang="pl-PL" sz="18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2" name="PlaceHolder 1"/>
          <p:cNvSpPr>
            <a:spLocks noGrp="1" noRot="1" noChangeAspect="1"/>
          </p:cNvSpPr>
          <p:nvPr>
            <p:ph type="sldImg"/>
          </p:nvPr>
        </p:nvSpPr>
        <p:spPr>
          <a:xfrm>
            <a:off x="0" y="0"/>
            <a:ext cx="0" cy="0"/>
          </a:xfrm>
          <a:prstGeom prst="rect">
            <a:avLst/>
          </a:prstGeom>
          <a:ln w="0">
            <a:noFill/>
          </a:ln>
        </p:spPr>
      </p:sp>
      <p:sp>
        <p:nvSpPr>
          <p:cNvPr id="114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Zanim rozpocznę implementację, muszę zrozumieć problem biznesowy i kontekst użytkownika. Faza odkrywania produktu jest momentem, w którym analizuje się rynek, konkurencję i zachowania przyszłych odbiorców. To etap zadawania pytań, a nie udzielania odpowiedzi. W nowoczesnych projektach mobilnych ogromną rolę odgrywa umiejętność odrzucania złych pomysłów możliwie wcześnie i możliwie tanio. Dzięki temu zespół nie traci miesięcy pracy na rozwijanie produktu bez potencjału. </a:t>
            </a:r>
          </a:p>
        </p:txBody>
      </p:sp>
      <p:sp>
        <p:nvSpPr>
          <p:cNvPr id="1144"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08CB68FF-0823-42F4-A2E7-30D15A335278}" type="slidenum">
              <a:rPr lang="pl-PL" sz="1800" b="0" u="none" strike="noStrike">
                <a:solidFill>
                  <a:schemeClr val="dk1"/>
                </a:solidFill>
                <a:effectLst/>
                <a:uFillTx/>
                <a:latin typeface="+mn-lt"/>
                <a:ea typeface="+mn-ea"/>
              </a:rPr>
              <a:t>5</a:t>
            </a:fld>
            <a:endParaRPr lang="pl-PL" sz="18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5" name="PlaceHolder 1"/>
          <p:cNvSpPr>
            <a:spLocks noGrp="1" noRot="1" noChangeAspect="1"/>
          </p:cNvSpPr>
          <p:nvPr>
            <p:ph type="sldImg"/>
          </p:nvPr>
        </p:nvSpPr>
        <p:spPr>
          <a:xfrm>
            <a:off x="0" y="0"/>
            <a:ext cx="0" cy="0"/>
          </a:xfrm>
          <a:prstGeom prst="rect">
            <a:avLst/>
          </a:prstGeom>
          <a:ln w="0">
            <a:noFill/>
          </a:ln>
        </p:spPr>
      </p:sp>
      <p:sp>
        <p:nvSpPr>
          <p:cNvPr id="114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Projektowanie produktu powinno zaczynać się od problemu użytkownika, a nie od technologii. Bardzo często startupy budują rozwiązania, które są technicznie imponujące, ale nie rozwiązują żadnego realnego problemu. Dlatego w praktyce stosuje się podejście eksperymentalne: najpierw formułuje się hipotezę biznesową, następnie testuje ją minimalnym kosztem, a dopiero później inwestuje większe środki w rozwój produktu. Chcę też podkreślić znaczenie rozmów z użytkownikami. Dane analityczne są ważne, ale bez bezpośredniego kontaktu z odbiorcami trudno zrozumieć ich rzeczywiste potrzeby i motywacje. </a:t>
            </a:r>
          </a:p>
        </p:txBody>
      </p:sp>
      <p:sp>
        <p:nvSpPr>
          <p:cNvPr id="1147"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0F5EB7B7-2241-4485-B2E6-B9DFE3F37423}" type="slidenum">
              <a:rPr lang="pl-PL" sz="1800" b="0" u="none" strike="noStrike">
                <a:solidFill>
                  <a:schemeClr val="dk1"/>
                </a:solidFill>
                <a:effectLst/>
                <a:uFillTx/>
                <a:latin typeface="+mn-lt"/>
                <a:ea typeface="+mn-ea"/>
              </a:rPr>
              <a:t>6</a:t>
            </a:fld>
            <a:endParaRPr lang="pl-PL" sz="18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8" name="PlaceHolder 1"/>
          <p:cNvSpPr>
            <a:spLocks noGrp="1" noRot="1" noChangeAspect="1"/>
          </p:cNvSpPr>
          <p:nvPr>
            <p:ph type="sldImg"/>
          </p:nvPr>
        </p:nvSpPr>
        <p:spPr>
          <a:xfrm>
            <a:off x="0" y="0"/>
            <a:ext cx="0" cy="0"/>
          </a:xfrm>
          <a:prstGeom prst="rect">
            <a:avLst/>
          </a:prstGeom>
          <a:ln w="0">
            <a:noFill/>
          </a:ln>
        </p:spPr>
      </p:sp>
      <p:sp>
        <p:nvSpPr>
          <p:cNvPr id="114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W środowisku mobilnym praktycznie nie istnieją całkowicie unikalne pomysły. Zwykle konkurujemy nie tylko z podobnymi aplikacjami, ale także z przyzwyczajeniami użytkowników. Dlatego analiza konkurencji powinna koncentrować się nie na kopiowaniu funkcji, lecz na identyfikacji słabych punktów istniejących rozwiązań. Istotne jest również rozumienie idei MVP, czyli produktu minimalnego. W praktyce najlepsze pierwsze wersje aplikacji są bardzo ograniczone funkcjonalnie, ale rozwiązują jeden problem wyjątkowo dobrze. To pozwala szybciej wejść na rynek i wcześniej rozpocząć zbieranie informacji zwrotnych. </a:t>
            </a:r>
          </a:p>
        </p:txBody>
      </p:sp>
      <p:sp>
        <p:nvSpPr>
          <p:cNvPr id="1150"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9CDC9D31-C80F-435F-B74F-5A85D808CABF}" type="slidenum">
              <a:rPr lang="pl-PL" sz="1800" b="0" u="none" strike="noStrike">
                <a:solidFill>
                  <a:schemeClr val="dk1"/>
                </a:solidFill>
                <a:effectLst/>
                <a:uFillTx/>
                <a:latin typeface="+mn-lt"/>
                <a:ea typeface="+mn-ea"/>
              </a:rPr>
              <a:t>7</a:t>
            </a:fld>
            <a:endParaRPr lang="pl-PL" sz="18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1" name="PlaceHolder 1"/>
          <p:cNvSpPr>
            <a:spLocks noGrp="1" noRot="1" noChangeAspect="1"/>
          </p:cNvSpPr>
          <p:nvPr>
            <p:ph type="sldImg"/>
          </p:nvPr>
        </p:nvSpPr>
        <p:spPr>
          <a:xfrm>
            <a:off x="0" y="0"/>
            <a:ext cx="0" cy="0"/>
          </a:xfrm>
          <a:prstGeom prst="rect">
            <a:avLst/>
          </a:prstGeom>
          <a:ln w="0">
            <a:noFill/>
          </a:ln>
        </p:spPr>
      </p:sp>
      <p:sp>
        <p:nvSpPr>
          <p:cNvPr id="115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Nowoczesne projekty mobilne są przedsięwzięciami interdyscyplinarnymi. Nawet stosunkowo niewielka aplikacja wymaga współpracy specjalistów o bardzo różnych kompetencjach. W praktyce sukces projektu zależy nie tylko od jakości pojedynczych ekspertów, ale przede wszystkim od skutecznej komunikacji między nimi. Dobrze funkcjonujący zespół musi rozumieć wspólny cel produktu, a nie wyłącznie własny zakres obowiązków. Warto też zauważyć, że wraz ze wzrostem skali projektu rośnie znaczenie procesów organizacyjnych oraz zarządzania przepływem wiedzy. </a:t>
            </a:r>
          </a:p>
        </p:txBody>
      </p:sp>
      <p:sp>
        <p:nvSpPr>
          <p:cNvPr id="1153" name="PlaceHolder 3"/>
          <p:cNvSpPr>
            <a:spLocks noGrp="1"/>
          </p:cNvSpPr>
          <p:nvPr>
            <p:ph type="sldNum" idx="11"/>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1B0FF62D-3503-4558-9765-2F461135C1E6}" type="slidenum">
              <a:rPr lang="pl-PL" sz="1800" b="0" u="none" strike="noStrike">
                <a:solidFill>
                  <a:schemeClr val="dk1"/>
                </a:solidFill>
                <a:effectLst/>
                <a:uFillTx/>
                <a:latin typeface="+mn-lt"/>
                <a:ea typeface="+mn-ea"/>
              </a:rPr>
              <a:t>8</a:t>
            </a:fld>
            <a:endParaRPr lang="pl-PL" sz="18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4" name="PlaceHolder 1"/>
          <p:cNvSpPr>
            <a:spLocks noGrp="1" noRot="1" noChangeAspect="1"/>
          </p:cNvSpPr>
          <p:nvPr>
            <p:ph type="sldImg"/>
          </p:nvPr>
        </p:nvSpPr>
        <p:spPr>
          <a:xfrm>
            <a:off x="0" y="0"/>
            <a:ext cx="0" cy="0"/>
          </a:xfrm>
          <a:prstGeom prst="rect">
            <a:avLst/>
          </a:prstGeom>
          <a:ln w="0">
            <a:noFill/>
          </a:ln>
        </p:spPr>
      </p:sp>
      <p:sp>
        <p:nvSpPr>
          <p:cNvPr id="115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W profesjonalnym środowisku projektowym każda rola odpowiada za inny rodzaj ryzyka. Product Owner minimalizuje ryzyko biznesowe, projektanci UX redukują ryzyko niezrozumienia użytkownika, a liderzy techniczni ograniczają ryzyko problemów architektonicznych. Chcę zwrócić uwagę, że nowoczesny development nie polega wyłącznie na pisaniu kodu. Programiści uczestniczą w analizie wymagań, testowaniu, przeglądach kodu i podejmowaniu decyzji architektonicznych. Coraz większe znaczenie mają także kompetencje miękkie, takie jak komunikacja, umiejętność pracy zespołowej i dzielenie się wiedzą. </a:t>
            </a:r>
          </a:p>
        </p:txBody>
      </p:sp>
      <p:sp>
        <p:nvSpPr>
          <p:cNvPr id="1156" name="PlaceHolder 3"/>
          <p:cNvSpPr>
            <a:spLocks noGrp="1"/>
          </p:cNvSpPr>
          <p:nvPr>
            <p:ph type="sldNum" idx="12"/>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E479AFA7-C9D7-4D6C-A375-D4B2D4AC8D84}" type="slidenum">
              <a:rPr lang="pl-PL" sz="1800" b="0" u="none" strike="noStrike">
                <a:solidFill>
                  <a:schemeClr val="dk1"/>
                </a:solidFill>
                <a:effectLst/>
                <a:uFillTx/>
                <a:latin typeface="+mn-lt"/>
                <a:ea typeface="+mn-ea"/>
              </a:rPr>
              <a:t>9</a:t>
            </a:fld>
            <a:endParaRPr lang="pl-PL" sz="18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 name="PlaceHolder 1"/>
          <p:cNvSpPr>
            <a:spLocks noGrp="1" noRot="1" noChangeAspect="1"/>
          </p:cNvSpPr>
          <p:nvPr>
            <p:ph type="sldImg"/>
          </p:nvPr>
        </p:nvSpPr>
        <p:spPr>
          <a:xfrm>
            <a:off x="0" y="0"/>
            <a:ext cx="0" cy="0"/>
          </a:xfrm>
          <a:prstGeom prst="rect">
            <a:avLst/>
          </a:prstGeom>
          <a:ln w="0">
            <a:noFill/>
          </a:ln>
        </p:spPr>
      </p:sp>
      <p:sp>
        <p:nvSpPr>
          <p:cNvPr id="115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r>
              <a:rPr lang="pl-PL" sz="2000" b="0" u="none" strike="noStrike">
                <a:solidFill>
                  <a:srgbClr val="000000"/>
                </a:solidFill>
                <a:effectLst/>
                <a:uFillTx/>
                <a:latin typeface="Arial"/>
              </a:rPr>
              <a:t>Wybór modelu organizacyjnego wpływa bezpośrednio na tempo rozwoju produktu, koszty i poziom kontroli nad projektem. W praktyce organizacje bardzo często łączą różne modele współpracy, aby zachować elastyczność i jednocześnie utrzymać kluczowe kompetencje wewnątrz firmy. Chcę też podkreślić, że zwiększanie liczby osób w projekcie nie zawsze przyspiesza development. W pewnym momencie komunikacja i koordynacja zaczynają generować większy koszt niż realny wzrost produktywności. Dlatego małe, dobrze zorganizowane zespoły często osiągają lepsze rezultaty niż rozbudowane struktury organizacyjne. </a:t>
            </a:r>
          </a:p>
        </p:txBody>
      </p:sp>
      <p:sp>
        <p:nvSpPr>
          <p:cNvPr id="1159" name="PlaceHolder 3"/>
          <p:cNvSpPr>
            <a:spLocks noGrp="1"/>
          </p:cNvSpPr>
          <p:nvPr>
            <p:ph type="sldNum" idx="13"/>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CE26B1F0-C158-4C70-AA0A-014AF43DA68A}" type="slidenum">
              <a:rPr lang="pl-PL" sz="1800" b="0" u="none" strike="noStrike">
                <a:solidFill>
                  <a:schemeClr val="dk1"/>
                </a:solidFill>
                <a:effectLst/>
                <a:uFillTx/>
                <a:latin typeface="+mn-lt"/>
                <a:ea typeface="+mn-ea"/>
              </a:rPr>
              <a:t>10</a:t>
            </a:fld>
            <a:endParaRPr lang="pl-PL" sz="18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0" name="PlaceHolder 1"/>
          <p:cNvSpPr>
            <a:spLocks noGrp="1" noRot="1" noChangeAspect="1"/>
          </p:cNvSpPr>
          <p:nvPr>
            <p:ph type="sldImg"/>
          </p:nvPr>
        </p:nvSpPr>
        <p:spPr>
          <a:xfrm>
            <a:off x="0" y="0"/>
            <a:ext cx="0" cy="0"/>
          </a:xfrm>
          <a:prstGeom prst="rect">
            <a:avLst/>
          </a:prstGeom>
          <a:ln w="0">
            <a:noFill/>
          </a:ln>
        </p:spPr>
      </p:sp>
      <p:sp>
        <p:nvSpPr>
          <p:cNvPr id="116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pl-PL" sz="1800" b="0" u="none" strike="noStrike">
              <a:solidFill>
                <a:srgbClr val="000000"/>
              </a:solidFill>
              <a:effectLst/>
              <a:uFillTx/>
              <a:latin typeface="Arial"/>
            </a:endParaRPr>
          </a:p>
        </p:txBody>
      </p:sp>
      <p:sp>
        <p:nvSpPr>
          <p:cNvPr id="1162" name="PlaceHolder 3"/>
          <p:cNvSpPr>
            <a:spLocks noGrp="1"/>
          </p:cNvSpPr>
          <p:nvPr>
            <p:ph type="sldNum" idx="14"/>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B2FAC1C8-15A1-4001-91CA-0BC242EC1220}" type="slidenum">
              <a:rPr lang="pl-PL" sz="1800" b="0" u="none" strike="noStrike">
                <a:solidFill>
                  <a:schemeClr val="dk1"/>
                </a:solidFill>
                <a:effectLst/>
                <a:uFillTx/>
                <a:latin typeface="+mn-lt"/>
                <a:ea typeface="+mn-ea"/>
              </a:rPr>
              <a:t>11</a:t>
            </a:fld>
            <a:endParaRPr lang="pl-PL" sz="18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3" name="PlaceHolder 1"/>
          <p:cNvSpPr>
            <a:spLocks noGrp="1" noRot="1" noChangeAspect="1"/>
          </p:cNvSpPr>
          <p:nvPr>
            <p:ph type="sldImg"/>
          </p:nvPr>
        </p:nvSpPr>
        <p:spPr>
          <a:xfrm>
            <a:off x="0" y="0"/>
            <a:ext cx="0" cy="0"/>
          </a:xfrm>
          <a:prstGeom prst="rect">
            <a:avLst/>
          </a:prstGeom>
          <a:ln w="0">
            <a:noFill/>
          </a:ln>
        </p:spPr>
      </p:sp>
      <p:sp>
        <p:nvSpPr>
          <p:cNvPr id="116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pl-PL" sz="1800" b="0" u="none" strike="noStrike">
              <a:solidFill>
                <a:srgbClr val="000000"/>
              </a:solidFill>
              <a:effectLst/>
              <a:uFillTx/>
              <a:latin typeface="Arial"/>
            </a:endParaRPr>
          </a:p>
        </p:txBody>
      </p:sp>
      <p:sp>
        <p:nvSpPr>
          <p:cNvPr id="1165" name="PlaceHolder 3"/>
          <p:cNvSpPr>
            <a:spLocks noGrp="1"/>
          </p:cNvSpPr>
          <p:nvPr>
            <p:ph type="sldNum" idx="15"/>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2BEDD7E1-89F6-4AC7-9305-84ECC1517353}" type="slidenum">
              <a:rPr lang="pl-PL" sz="1800" b="0" u="none" strike="noStrike">
                <a:solidFill>
                  <a:schemeClr val="dk1"/>
                </a:solidFill>
                <a:effectLst/>
                <a:uFillTx/>
                <a:latin typeface="+mn-lt"/>
                <a:ea typeface="+mn-ea"/>
              </a:rPr>
              <a:t>12</a:t>
            </a:fld>
            <a:endParaRPr lang="pl-PL" sz="18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 name="PlaceHolder 1"/>
          <p:cNvSpPr>
            <a:spLocks noGrp="1" noRot="1" noChangeAspect="1"/>
          </p:cNvSpPr>
          <p:nvPr>
            <p:ph type="sldImg"/>
          </p:nvPr>
        </p:nvSpPr>
        <p:spPr>
          <a:xfrm>
            <a:off x="0" y="0"/>
            <a:ext cx="0" cy="0"/>
          </a:xfrm>
          <a:prstGeom prst="rect">
            <a:avLst/>
          </a:prstGeom>
          <a:ln w="0">
            <a:noFill/>
          </a:ln>
        </p:spPr>
      </p:sp>
      <p:sp>
        <p:nvSpPr>
          <p:cNvPr id="116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buNone/>
            </a:pPr>
            <a:endParaRPr lang="pl-PL" sz="1800" b="0" u="none" strike="noStrike">
              <a:solidFill>
                <a:srgbClr val="000000"/>
              </a:solidFill>
              <a:effectLst/>
              <a:uFillTx/>
              <a:latin typeface="Arial"/>
            </a:endParaRPr>
          </a:p>
        </p:txBody>
      </p:sp>
      <p:sp>
        <p:nvSpPr>
          <p:cNvPr id="1168" name="PlaceHolder 3"/>
          <p:cNvSpPr>
            <a:spLocks noGrp="1"/>
          </p:cNvSpPr>
          <p:nvPr>
            <p:ph type="sldNum" idx="16"/>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3DADA410-0C00-4522-8C51-3522BFC89DC1}" type="slidenum">
              <a:rPr lang="pl-PL" sz="1800" b="0" u="none" strike="noStrike">
                <a:solidFill>
                  <a:schemeClr val="dk1"/>
                </a:solidFill>
                <a:effectLst/>
                <a:uFillTx/>
                <a:latin typeface="+mn-lt"/>
                <a:ea typeface="+mn-ea"/>
              </a:rPr>
              <a:t>13</a:t>
            </a:fld>
            <a:endParaRPr lang="pl-PL" sz="18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9" name="PlaceHolder 1"/>
          <p:cNvSpPr>
            <a:spLocks noGrp="1" noRot="1" noChangeAspect="1"/>
          </p:cNvSpPr>
          <p:nvPr>
            <p:ph type="sldImg"/>
          </p:nvPr>
        </p:nvSpPr>
        <p:spPr>
          <a:xfrm>
            <a:off x="0" y="0"/>
            <a:ext cx="0" cy="0"/>
          </a:xfrm>
          <a:prstGeom prst="rect">
            <a:avLst/>
          </a:prstGeom>
          <a:ln w="0">
            <a:noFill/>
          </a:ln>
        </p:spPr>
      </p:sp>
      <p:sp>
        <p:nvSpPr>
          <p:cNvPr id="11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Kiedy zaczynam projekt aplikacji mobilnej, nie traktuję planowania technicznego jako formalności. To jest moment, w którym decyduję, jak bardzo projekt będzie odporny na przyszłe zmiany. Można napisać pierwszą wersję aplikacji szybko, ale jeżeli architektura, stos technologiczny i sposób integracji z </a:t>
            </a:r>
            <a:r>
              <a:rPr lang="pl-PL" sz="1800" dirty="0" err="1" smtClean="0"/>
              <a:t>backendem</a:t>
            </a:r>
            <a:r>
              <a:rPr lang="pl-PL" sz="1800" dirty="0" smtClean="0"/>
              <a:t> są przypadkowe, to po kilku miesiącach każda zmiana zaczyna być coraz droższa.</a:t>
            </a:r>
          </a:p>
          <a:p>
            <a:endParaRPr lang="pl-PL" sz="1800" dirty="0" smtClean="0"/>
          </a:p>
          <a:p>
            <a:r>
              <a:rPr lang="pl-PL" sz="1800" dirty="0" smtClean="0"/>
              <a:t>Warto podkreślić młodym programistom, że technologia nie jest wybierana dlatego, że jest modna. Technologia jest wybierana dlatego, że pasuje do problemu, zespołu, budżetu, terminu i przewidywanego rozwoju produktu. Inaczej projektuje się prostą aplikację MVP, inaczej system bankowy, a jeszcze inaczej aplikację z intensywnym przetwarzaniem obrazu, lokalizacją, pracą offline albo wysokimi wymaganiami bezpieczeństwa.</a:t>
            </a:r>
          </a:p>
          <a:p>
            <a:endParaRPr lang="pl-PL" sz="1800" dirty="0" smtClean="0"/>
          </a:p>
          <a:p>
            <a:r>
              <a:rPr lang="pl-PL" sz="1800" dirty="0" smtClean="0"/>
              <a:t>Ciekawostka: wiele dużych problemów w projektach IT nie zaczyna się od błędnego kodu, lecz od błędnych decyzji architektonicznych podjętych zbyt wcześnie i bez zapisu uzasadnienia. Dlatego dojrzałe zespoły coraz częściej dokumentują decyzje techniczne nie po to, żeby produkować dokumentację, lecz po to, żeby za trzy miesiące wiedzieć, dlaczego wybrano dane rozwiązanie.</a:t>
            </a:r>
          </a:p>
          <a:p>
            <a:pPr indent="0">
              <a:buNone/>
            </a:pPr>
            <a:endParaRPr lang="pl-PL" sz="1800" b="0" u="none" strike="noStrike" dirty="0">
              <a:solidFill>
                <a:srgbClr val="000000"/>
              </a:solidFill>
              <a:effectLst/>
              <a:uFillTx/>
              <a:latin typeface="Arial"/>
            </a:endParaRPr>
          </a:p>
        </p:txBody>
      </p:sp>
      <p:sp>
        <p:nvSpPr>
          <p:cNvPr id="1171" name="PlaceHolder 3"/>
          <p:cNvSpPr>
            <a:spLocks noGrp="1"/>
          </p:cNvSpPr>
          <p:nvPr>
            <p:ph type="sldNum" idx="17"/>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7006BB6D-CB28-4C0E-A407-DD7C9BEB5C75}" type="slidenum">
              <a:rPr lang="pl-PL" sz="1800" b="0" u="none" strike="noStrike">
                <a:solidFill>
                  <a:schemeClr val="dk1"/>
                </a:solidFill>
                <a:effectLst/>
                <a:uFillTx/>
                <a:latin typeface="+mn-lt"/>
                <a:ea typeface="+mn-ea"/>
              </a:rPr>
              <a:t>14</a:t>
            </a:fld>
            <a:endParaRPr lang="pl-PL" sz="18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 name="PlaceHolder 1"/>
          <p:cNvSpPr>
            <a:spLocks noGrp="1" noRot="1" noChangeAspect="1"/>
          </p:cNvSpPr>
          <p:nvPr>
            <p:ph type="sldImg"/>
          </p:nvPr>
        </p:nvSpPr>
        <p:spPr>
          <a:xfrm>
            <a:off x="0" y="0"/>
            <a:ext cx="0" cy="0"/>
          </a:xfrm>
          <a:prstGeom prst="rect">
            <a:avLst/>
          </a:prstGeom>
          <a:ln w="0">
            <a:noFill/>
          </a:ln>
        </p:spPr>
      </p:sp>
      <p:sp>
        <p:nvSpPr>
          <p:cNvPr id="11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W decyzjach architektonicznych szczególnie ważne jest dla mnie to, aby nie udawać, że istnieją rozwiązania idealne. Każdy wybór ma konsekwencje. </a:t>
            </a:r>
            <a:r>
              <a:rPr lang="pl-PL" sz="1800" dirty="0" err="1" smtClean="0"/>
              <a:t>React</a:t>
            </a:r>
            <a:r>
              <a:rPr lang="pl-PL" sz="1800" dirty="0" smtClean="0"/>
              <a:t> Native może przyspieszyć development, ale może też wprowadzić ograniczenia przy bardzo natywnych funkcjach. Aplikacja natywna może dać większą kontrolę, ale zwykle wymaga większego zespołu i osobnej pracy dla iOS oraz Androida.</a:t>
            </a:r>
          </a:p>
          <a:p>
            <a:endParaRPr lang="pl-PL" sz="1800" dirty="0" smtClean="0"/>
          </a:p>
          <a:p>
            <a:r>
              <a:rPr lang="pl-PL" sz="1800" dirty="0" smtClean="0"/>
              <a:t>Dlatego lubię podejście ADR, czyli krótkich zapisów decyzji architektonicznych. Dobry ADR nie powinien być esejem. Powinien odpowiedzieć na kilka prostych pytań: jaki mieliśmy problem, jakie opcje rozważaliśmy, co wybraliśmy i jakie kompromisy akceptujemy. To bardzo pomaga, gdy po czasie w zespole pojawiają się nowe osoby i pytają: „dlaczego to jest zrobione właśnie tak?”.</a:t>
            </a:r>
          </a:p>
          <a:p>
            <a:endParaRPr lang="pl-PL" sz="1800" dirty="0" smtClean="0"/>
          </a:p>
          <a:p>
            <a:r>
              <a:rPr lang="pl-PL" sz="1800" dirty="0" smtClean="0"/>
              <a:t>Wiele praktyk dokumentowania decyzji technicznych rozwinęło się jako odpowiedź na problem „pamięci organizacyjnej”. W dużych projektach ludzie odchodzą, zespoły się zmieniają, a kod zostaje. Bez zapisu decyzji kolejne osoby często odtwarzają tę samą dyskusję od początku. ADR działa więc jak techniczna pamięć projektu.</a:t>
            </a:r>
          </a:p>
          <a:p>
            <a:pPr indent="0">
              <a:buNone/>
            </a:pPr>
            <a:endParaRPr lang="pl-PL" sz="1800" b="0" u="none" strike="noStrike" dirty="0">
              <a:solidFill>
                <a:srgbClr val="000000"/>
              </a:solidFill>
              <a:effectLst/>
              <a:uFillTx/>
              <a:latin typeface="Arial"/>
            </a:endParaRPr>
          </a:p>
        </p:txBody>
      </p:sp>
      <p:sp>
        <p:nvSpPr>
          <p:cNvPr id="1174"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0BCB81E6-8D69-41FF-943C-7A5E908AA28A}" type="slidenum">
              <a:rPr lang="pl-PL" sz="1800" b="0" u="none" strike="noStrike">
                <a:solidFill>
                  <a:schemeClr val="dk1"/>
                </a:solidFill>
                <a:effectLst/>
                <a:uFillTx/>
                <a:latin typeface="+mn-lt"/>
                <a:ea typeface="+mn-ea"/>
              </a:rPr>
              <a:t>15</a:t>
            </a:fld>
            <a:endParaRPr lang="pl-PL" sz="18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 name="PlaceHolder 1"/>
          <p:cNvSpPr>
            <a:spLocks noGrp="1" noRot="1" noChangeAspect="1"/>
          </p:cNvSpPr>
          <p:nvPr>
            <p:ph type="sldImg"/>
          </p:nvPr>
        </p:nvSpPr>
        <p:spPr>
          <a:xfrm>
            <a:off x="0" y="0"/>
            <a:ext cx="0" cy="0"/>
          </a:xfrm>
          <a:prstGeom prst="rect">
            <a:avLst/>
          </a:prstGeom>
          <a:ln w="0">
            <a:noFill/>
          </a:ln>
        </p:spPr>
      </p:sp>
      <p:sp>
        <p:nvSpPr>
          <p:cNvPr id="11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ADR, czyli Architecture </a:t>
            </a:r>
            <a:r>
              <a:rPr lang="pl-PL" sz="1800" dirty="0" err="1" smtClean="0"/>
              <a:t>Decision</a:t>
            </a:r>
            <a:r>
              <a:rPr lang="pl-PL" sz="1800" dirty="0" smtClean="0"/>
              <a:t> </a:t>
            </a:r>
            <a:r>
              <a:rPr lang="pl-PL" sz="1800" dirty="0" err="1" smtClean="0"/>
              <a:t>Record</a:t>
            </a:r>
            <a:r>
              <a:rPr lang="pl-PL" sz="1800" dirty="0" smtClean="0"/>
              <a:t>, traktuję jako krótki zapis ważnej decyzji technicznej. Nie jest to rozbudowana dokumentacja całego systemu, ale konkretna odpowiedź na pytanie: jaką decyzję podjęliśmy, dlaczego ją podjęliśmy i jakie będą jej konsekwencje.</a:t>
            </a:r>
          </a:p>
          <a:p>
            <a:endParaRPr lang="pl-PL" sz="1800" dirty="0" smtClean="0"/>
          </a:p>
          <a:p>
            <a:r>
              <a:rPr lang="pl-PL" sz="1800" dirty="0" smtClean="0"/>
              <a:t>W przykładzie ADR decyzja dotyczy wyboru architektury aplikacji Android. Zespół przyjmuje podejście MVVM, ponieważ dobrze pasuje ono do ekosystemu Androida, Kotlina i </a:t>
            </a:r>
            <a:r>
              <a:rPr lang="pl-PL" sz="1800" dirty="0" err="1" smtClean="0"/>
              <a:t>Jetpack</a:t>
            </a:r>
            <a:r>
              <a:rPr lang="pl-PL" sz="1800" dirty="0" smtClean="0"/>
              <a:t> </a:t>
            </a:r>
            <a:r>
              <a:rPr lang="pl-PL" sz="1800" dirty="0" err="1" smtClean="0"/>
              <a:t>Compose</a:t>
            </a:r>
            <a:r>
              <a:rPr lang="pl-PL" sz="1800" dirty="0" smtClean="0"/>
              <a:t>. Pozwala oddzielić interfejs użytkownika od logiki aplikacji oraz od warstwy danych.</a:t>
            </a:r>
          </a:p>
          <a:p>
            <a:endParaRPr lang="pl-PL" sz="1800" dirty="0" smtClean="0"/>
          </a:p>
          <a:p>
            <a:r>
              <a:rPr lang="pl-PL" sz="1800" dirty="0" smtClean="0"/>
              <a:t>Najważniejsze jest to, że ADR pokazuje kontekst decyzji. Projekt ma obsługiwać logowanie, komunikację z API, lokalne przechowywanie danych i dalszą rozbudowę. To oznacza, że kod powinien być czytelny, testowalny i możliwy do rozwijania przez kolejne osoby w zespole.</a:t>
            </a:r>
          </a:p>
          <a:p>
            <a:endParaRPr lang="pl-PL" sz="1800" dirty="0" smtClean="0"/>
          </a:p>
          <a:p>
            <a:r>
              <a:rPr lang="pl-PL" sz="1800" dirty="0" smtClean="0"/>
              <a:t>W ADR zapisuję też alternatywy. To bardzo ważne, ponieważ dobra decyzja architektoniczna nie polega tylko na wyborze jednej technologii. Trzeba również pokazać, dlaczego odrzucono inne opcje, na przykład MVC, MVP albo pełną </a:t>
            </a:r>
            <a:r>
              <a:rPr lang="pl-PL" sz="1800" dirty="0" err="1" smtClean="0"/>
              <a:t>Clean</a:t>
            </a:r>
            <a:r>
              <a:rPr lang="pl-PL" sz="1800" dirty="0" smtClean="0"/>
              <a:t> Architecture.</a:t>
            </a:r>
          </a:p>
          <a:p>
            <a:endParaRPr lang="pl-PL" sz="1800" dirty="0" smtClean="0"/>
          </a:p>
          <a:p>
            <a:r>
              <a:rPr lang="pl-PL" sz="1800" dirty="0" smtClean="0"/>
              <a:t>Istotną częścią ADR są konsekwencje. Pozytywne skutki to lepsza testowalność, wyraźny podział odpowiedzialności i łatwiejszy </a:t>
            </a:r>
            <a:r>
              <a:rPr lang="pl-PL" sz="1800" dirty="0" err="1" smtClean="0"/>
              <a:t>onboarding</a:t>
            </a:r>
            <a:r>
              <a:rPr lang="pl-PL" sz="1800" dirty="0" smtClean="0"/>
              <a:t> nowych programistów. Negatywne skutki to większa liczba plików, konieczność pilnowania struktury projektu i ryzyko nadmiernej abstrakcji.</a:t>
            </a:r>
          </a:p>
          <a:p>
            <a:endParaRPr lang="pl-PL" sz="1800" dirty="0" smtClean="0"/>
          </a:p>
          <a:p>
            <a:r>
              <a:rPr lang="pl-PL" sz="1800" dirty="0" smtClean="0"/>
              <a:t>Taki dokument pomaga zespołowi unikać powtarzania tych samych dyskusji technicznych. Gdy po kilku miesiącach ktoś zapyta, dlaczego aplikacja została zaprojektowana w taki sposób, ADR daje jasną odpowiedź.</a:t>
            </a:r>
          </a:p>
          <a:p>
            <a:r>
              <a:rPr lang="pl-PL" sz="1800" dirty="0" smtClean="0"/>
              <a:t>Najważniejszy wniosek: ADR nie służy biurokracji. Służy pamięci technicznej projektu. Dzięki niemu zespół wie nie tylko, co zostało wybrane, ale także jakie kompromisy świadomie zaakceptowano.</a:t>
            </a:r>
          </a:p>
          <a:p>
            <a:pPr indent="0">
              <a:buNone/>
            </a:pPr>
            <a:endParaRPr lang="pl-PL" sz="1800" b="0" u="none" strike="noStrike" dirty="0">
              <a:solidFill>
                <a:srgbClr val="000000"/>
              </a:solidFill>
              <a:effectLst/>
              <a:uFillTx/>
              <a:latin typeface="Arial"/>
            </a:endParaRPr>
          </a:p>
        </p:txBody>
      </p:sp>
      <p:sp>
        <p:nvSpPr>
          <p:cNvPr id="1174"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0BCB81E6-8D69-41FF-943C-7A5E908AA28A}" type="slidenum">
              <a:rPr lang="pl-PL" sz="1800" b="0" u="none" strike="noStrike">
                <a:solidFill>
                  <a:schemeClr val="dk1"/>
                </a:solidFill>
                <a:effectLst/>
                <a:uFillTx/>
                <a:latin typeface="+mn-lt"/>
                <a:ea typeface="+mn-ea"/>
              </a:rPr>
              <a:t>16</a:t>
            </a:fld>
            <a:endParaRPr lang="pl-PL"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1206631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5" name="PlaceHolder 1"/>
          <p:cNvSpPr>
            <a:spLocks noGrp="1" noRot="1" noChangeAspect="1"/>
          </p:cNvSpPr>
          <p:nvPr>
            <p:ph type="sldImg"/>
          </p:nvPr>
        </p:nvSpPr>
        <p:spPr>
          <a:xfrm>
            <a:off x="0" y="0"/>
            <a:ext cx="0" cy="0"/>
          </a:xfrm>
          <a:prstGeom prst="rect">
            <a:avLst/>
          </a:prstGeom>
          <a:ln w="0">
            <a:noFill/>
          </a:ln>
        </p:spPr>
      </p:sp>
      <p:sp>
        <p:nvSpPr>
          <p:cNvPr id="117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err="1" smtClean="0"/>
              <a:t>Roadmapę</a:t>
            </a:r>
            <a:r>
              <a:rPr lang="pl-PL" sz="1800" dirty="0" smtClean="0"/>
              <a:t> traktuję jako narzędzie myślenia strategicznego, a nie jako sztywny harmonogram obietnic. Jej celem jest uporządkowanie rozwoju produktu: najpierw walidacja, później MVP, następnie wzrost, optymalizacja i skalowanie. W projektach mobilnych to szczególnie ważne, ponieważ zbyt szybkie dodawanie funkcji może zabić prostotę aplikacji.</a:t>
            </a:r>
          </a:p>
          <a:p>
            <a:endParaRPr lang="pl-PL" sz="1800" dirty="0" smtClean="0"/>
          </a:p>
          <a:p>
            <a:r>
              <a:rPr lang="pl-PL" sz="1800" dirty="0" smtClean="0"/>
              <a:t>Przy estymacji kosztów warto pamiętać, że development to tylko część wydatków. Trzeba uwzględnić UX/UI, </a:t>
            </a:r>
            <a:r>
              <a:rPr lang="pl-PL" sz="1800" dirty="0" err="1" smtClean="0"/>
              <a:t>backend</a:t>
            </a:r>
            <a:r>
              <a:rPr lang="pl-PL" sz="1800" dirty="0" smtClean="0"/>
              <a:t>, testowanie, utrzymanie infrastruktury, monitoring, poprawki po publikacji i zarządzanie produktem. Młode zespoły często nie </a:t>
            </a:r>
            <a:r>
              <a:rPr lang="pl-PL" sz="1800" dirty="0" err="1" smtClean="0"/>
              <a:t>doszacowują</a:t>
            </a:r>
            <a:r>
              <a:rPr lang="pl-PL" sz="1800" dirty="0" smtClean="0"/>
              <a:t> tych elementów, bo myślą głównie o ekranach i funkcjach. Tymczasem aplikacja mobilna to cały ekosystem: kod, dane, API, sklep, analityka, wsparcie użytkownika i proces aktualizacji.</a:t>
            </a:r>
          </a:p>
          <a:p>
            <a:endParaRPr lang="pl-PL" sz="1800" dirty="0" smtClean="0"/>
          </a:p>
          <a:p>
            <a:r>
              <a:rPr lang="pl-PL" sz="1800" dirty="0" smtClean="0"/>
              <a:t>Wiele startupów upada nie dlatego, że nie potrafi zbudować aplikacji, ale dlatego, że buduje zbyt dużo przed sprawdzeniem, czy użytkownicy naprawdę tego potrzebują. </a:t>
            </a:r>
            <a:r>
              <a:rPr lang="pl-PL" sz="1800" dirty="0" err="1" smtClean="0"/>
              <a:t>Roadmapa</a:t>
            </a:r>
            <a:r>
              <a:rPr lang="pl-PL" sz="1800" dirty="0" smtClean="0"/>
              <a:t> powinna więc nie tylko mówić „co zrobimy”, ale też „czego jeszcze świadomie nie robimy”.</a:t>
            </a:r>
          </a:p>
          <a:p>
            <a:pPr indent="0">
              <a:buNone/>
            </a:pPr>
            <a:endParaRPr lang="pl-PL" sz="1800" b="0" u="none" strike="noStrike" dirty="0">
              <a:solidFill>
                <a:srgbClr val="000000"/>
              </a:solidFill>
              <a:effectLst/>
              <a:uFillTx/>
              <a:latin typeface="Arial"/>
            </a:endParaRPr>
          </a:p>
        </p:txBody>
      </p:sp>
      <p:sp>
        <p:nvSpPr>
          <p:cNvPr id="1177" name="PlaceHolder 3"/>
          <p:cNvSpPr>
            <a:spLocks noGrp="1"/>
          </p:cNvSpPr>
          <p:nvPr>
            <p:ph type="sldNum" idx="19"/>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7B92821E-2F12-4869-8830-BBE8BD5D276B}" type="slidenum">
              <a:rPr lang="pl-PL" sz="1800" b="0" u="none" strike="noStrike">
                <a:solidFill>
                  <a:schemeClr val="dk1"/>
                </a:solidFill>
                <a:effectLst/>
                <a:uFillTx/>
                <a:latin typeface="+mn-lt"/>
                <a:ea typeface="+mn-ea"/>
              </a:rPr>
              <a:t>17</a:t>
            </a:fld>
            <a:endParaRPr lang="pl-PL" sz="18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2" name="PlaceHolder 1"/>
          <p:cNvSpPr>
            <a:spLocks noGrp="1" noRot="1" noChangeAspect="1"/>
          </p:cNvSpPr>
          <p:nvPr>
            <p:ph type="sldImg"/>
          </p:nvPr>
        </p:nvSpPr>
        <p:spPr>
          <a:xfrm>
            <a:off x="0" y="0"/>
            <a:ext cx="0" cy="0"/>
          </a:xfrm>
          <a:prstGeom prst="rect">
            <a:avLst/>
          </a:prstGeom>
          <a:ln w="0">
            <a:noFill/>
          </a:ln>
        </p:spPr>
      </p:sp>
      <p:sp>
        <p:nvSpPr>
          <p:cNvPr id="11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err="1" smtClean="0"/>
              <a:t>Roadmapę</a:t>
            </a:r>
            <a:r>
              <a:rPr lang="pl-PL" sz="1800" dirty="0" smtClean="0"/>
              <a:t> traktuję jako uporządkowaną drogę od pomysłu do działającego produktu. Nie jest to wyłącznie harmonogram programowania, ale plan pokazujący, kiedy zespół sprawdza sens aplikacji, projektuje UX/UI, podejmuje decyzje techniczne, buduje MVP, testuje produkt i rozwija go po publikacji.</a:t>
            </a:r>
          </a:p>
          <a:p>
            <a:endParaRPr lang="pl-PL" sz="1800" dirty="0" smtClean="0"/>
          </a:p>
          <a:p>
            <a:r>
              <a:rPr lang="pl-PL" sz="1800" dirty="0" smtClean="0"/>
              <a:t>Na początku najważniejsza jest faza </a:t>
            </a:r>
            <a:r>
              <a:rPr lang="pl-PL" sz="1800" dirty="0" err="1" smtClean="0"/>
              <a:t>discovery</a:t>
            </a:r>
            <a:r>
              <a:rPr lang="pl-PL" sz="1800" dirty="0" smtClean="0"/>
              <a:t>. W tym etapie nie piszę jeszcze kodu, tylko sprawdzam, czy problem użytkownika naprawdę istnieje i czy proponowane rozwiązanie ma sens. Wiele aplikacji nie upada przez słabą technologię, ale przez brak realnej potrzeby rynkowej.</a:t>
            </a:r>
          </a:p>
          <a:p>
            <a:endParaRPr lang="pl-PL" sz="1800" dirty="0" smtClean="0"/>
          </a:p>
          <a:p>
            <a:r>
              <a:rPr lang="pl-PL" sz="1800" dirty="0" smtClean="0"/>
              <a:t>Następnie przechodzę do projektowania UX/UI. Prototyp w </a:t>
            </a:r>
            <a:r>
              <a:rPr lang="pl-PL" sz="1800" dirty="0" err="1" smtClean="0"/>
              <a:t>Figmie</a:t>
            </a:r>
            <a:r>
              <a:rPr lang="pl-PL" sz="1800" dirty="0" smtClean="0"/>
              <a:t> pozwala szybko sprawdzić główne ścieżki użytkownika, zanim zespół poniesie koszt implementacji. Testy użyteczności pomagają wykryć problemy, których projektanci i programiści często sami nie zauważają.</a:t>
            </a:r>
          </a:p>
          <a:p>
            <a:endParaRPr lang="pl-PL" sz="1800" dirty="0" smtClean="0"/>
          </a:p>
          <a:p>
            <a:r>
              <a:rPr lang="pl-PL" sz="1800" dirty="0" smtClean="0"/>
              <a:t>Kolejna faza to planowanie techniczne. Tutaj wybieram architekturę, technologie, sposób komunikacji z API, przechowywanie danych i strukturę projektu. Warto przygotować ADR, aby zespół wiedział nie tylko, co zostało wybrane, ale też dlaczego.</a:t>
            </a:r>
          </a:p>
          <a:p>
            <a:endParaRPr lang="pl-PL" sz="1800" dirty="0" smtClean="0"/>
          </a:p>
          <a:p>
            <a:r>
              <a:rPr lang="pl-PL" sz="1800" dirty="0" smtClean="0"/>
              <a:t>Dopiero potem rozpoczyna się development MVP. MVP nie oznacza produktu byle jakiego, lecz najmniejszą sensowną wersję aplikacji, która dostarcza użytkownikowi podstawową wartość. Lepiej zbudować mniej funkcji, ale stabilnie i czytelnie.</a:t>
            </a:r>
          </a:p>
          <a:p>
            <a:endParaRPr lang="pl-PL" sz="1800" dirty="0" smtClean="0"/>
          </a:p>
          <a:p>
            <a:r>
              <a:rPr lang="pl-PL" sz="1800" dirty="0" smtClean="0"/>
              <a:t>Po MVP następują testy </a:t>
            </a:r>
            <a:r>
              <a:rPr lang="pl-PL" sz="1800" dirty="0" err="1" smtClean="0"/>
              <a:t>alpha</a:t>
            </a:r>
            <a:r>
              <a:rPr lang="pl-PL" sz="1800" dirty="0" smtClean="0"/>
              <a:t> oraz beta. Najpierw sprawdzam aplikację wewnętrznie, a potem udostępniam ją ograniczonej grupie realnych użytkowników. To pozwala zebrać dane o błędach, </a:t>
            </a:r>
            <a:r>
              <a:rPr lang="pl-PL" sz="1800" dirty="0" err="1" smtClean="0"/>
              <a:t>onboardingu</a:t>
            </a:r>
            <a:r>
              <a:rPr lang="pl-PL" sz="1800" dirty="0" smtClean="0"/>
              <a:t>, retencji i problemach z użytecznością.</a:t>
            </a:r>
          </a:p>
          <a:p>
            <a:r>
              <a:rPr lang="pl-PL" sz="1800" dirty="0" smtClean="0"/>
              <a:t>Publiczny </a:t>
            </a:r>
            <a:r>
              <a:rPr lang="pl-PL" sz="1800" dirty="0" err="1" smtClean="0"/>
              <a:t>launch</a:t>
            </a:r>
            <a:r>
              <a:rPr lang="pl-PL" sz="1800" dirty="0" smtClean="0"/>
              <a:t> nie jest końcem projektu, lecz kontrolowanym wejściem na rynek. Trzeba przygotować stronę w Google Play, monitoring, politykę prywatności i plan stopniowego udostępniania aplikacji.</a:t>
            </a:r>
          </a:p>
          <a:p>
            <a:endParaRPr lang="pl-PL" sz="1800" dirty="0" smtClean="0"/>
          </a:p>
          <a:p>
            <a:r>
              <a:rPr lang="pl-PL" sz="1800" dirty="0" smtClean="0"/>
              <a:t>Po publikacji zaczyna się iteracja. </a:t>
            </a:r>
            <a:r>
              <a:rPr lang="pl-PL" sz="1800" dirty="0" err="1" smtClean="0"/>
              <a:t>Roadmapa</a:t>
            </a:r>
            <a:r>
              <a:rPr lang="pl-PL" sz="1800" dirty="0" smtClean="0"/>
              <a:t> powinna być korygowana na podstawie danych: </a:t>
            </a:r>
            <a:r>
              <a:rPr lang="pl-PL" sz="1800" dirty="0" err="1" smtClean="0"/>
              <a:t>crash</a:t>
            </a:r>
            <a:r>
              <a:rPr lang="pl-PL" sz="1800" dirty="0" smtClean="0"/>
              <a:t> </a:t>
            </a:r>
            <a:r>
              <a:rPr lang="pl-PL" sz="1800" dirty="0" err="1" smtClean="0"/>
              <a:t>rate</a:t>
            </a:r>
            <a:r>
              <a:rPr lang="pl-PL" sz="1800" dirty="0" smtClean="0"/>
              <a:t>, opinii użytkowników, retencji, konwersji i zachowania w aplikacji. Dopiero po potwierdzeniu wartości produktu warto przechodzić do skalowania.</a:t>
            </a:r>
          </a:p>
          <a:p>
            <a:endParaRPr lang="pl-PL" sz="1800" dirty="0" smtClean="0"/>
          </a:p>
          <a:p>
            <a:r>
              <a:rPr lang="pl-PL" sz="1800" dirty="0" smtClean="0"/>
              <a:t>Najważniejszy wniosek: dobra </a:t>
            </a:r>
            <a:r>
              <a:rPr lang="pl-PL" sz="1800" dirty="0" err="1" smtClean="0"/>
              <a:t>roadmapa</a:t>
            </a:r>
            <a:r>
              <a:rPr lang="pl-PL" sz="1800" dirty="0" smtClean="0"/>
              <a:t> nie jest listą funkcji. Jest planem stopniowego redukowania ryzyka — biznesowego, projektowego, technicznego i rynkowego.</a:t>
            </a:r>
            <a:endParaRPr lang="pl-PL" sz="1800" dirty="0"/>
          </a:p>
        </p:txBody>
      </p:sp>
      <p:sp>
        <p:nvSpPr>
          <p:cNvPr id="1174" name="PlaceHolder 3"/>
          <p:cNvSpPr>
            <a:spLocks noGrp="1"/>
          </p:cNvSpPr>
          <p:nvPr>
            <p:ph type="sldNum" idx="18"/>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0BCB81E6-8D69-41FF-943C-7A5E908AA28A}" type="slidenum">
              <a:rPr lang="pl-PL" sz="1800" b="0" u="none" strike="noStrike">
                <a:solidFill>
                  <a:schemeClr val="dk1"/>
                </a:solidFill>
                <a:effectLst/>
                <a:uFillTx/>
                <a:latin typeface="+mn-lt"/>
                <a:ea typeface="+mn-ea"/>
              </a:rPr>
              <a:t>18</a:t>
            </a:fld>
            <a:endParaRPr lang="pl-PL"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2874157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 name="PlaceHolder 1"/>
          <p:cNvSpPr>
            <a:spLocks noGrp="1" noRot="1" noChangeAspect="1"/>
          </p:cNvSpPr>
          <p:nvPr>
            <p:ph type="sldImg"/>
          </p:nvPr>
        </p:nvSpPr>
        <p:spPr>
          <a:xfrm>
            <a:off x="0" y="0"/>
            <a:ext cx="0" cy="0"/>
          </a:xfrm>
          <a:prstGeom prst="rect">
            <a:avLst/>
          </a:prstGeom>
          <a:ln w="0">
            <a:noFill/>
          </a:ln>
        </p:spPr>
      </p:sp>
      <p:sp>
        <p:nvSpPr>
          <p:cNvPr id="11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W projektowaniu UX/UI najważniejsze jest dla mnie przesunięcie uwagi z pytania „czy to ładnie wygląda?” na pytanie „czy użytkownik potrafi dzięki temu skutecznie działać?”. Estetyka jest ważna, ale nie zastępuje użyteczności. Aplikacja może wyglądać nowocześnie, a jednocześnie być poznawczo męcząca, nieintuicyjna albo chaotyczna.</a:t>
            </a:r>
          </a:p>
          <a:p>
            <a:endParaRPr lang="pl-PL" sz="1800" dirty="0" smtClean="0"/>
          </a:p>
          <a:p>
            <a:r>
              <a:rPr lang="pl-PL" sz="1800" dirty="0" smtClean="0"/>
              <a:t>W kontekście aplikacji mobilnych trzeba pamiętać, że użytkownik często korzysta z nich w warunkach rozproszenia: w autobusie, w kolejce, między innymi czynnościami, jedną ręką, na małym ekranie i przy zmiennym dostępie do </a:t>
            </a:r>
            <a:r>
              <a:rPr lang="pl-PL" sz="1800" dirty="0" err="1" smtClean="0"/>
              <a:t>internetu</a:t>
            </a:r>
            <a:r>
              <a:rPr lang="pl-PL" sz="1800" dirty="0" smtClean="0"/>
              <a:t>. Dlatego dobry UX to nie tylko ładny interfejs. To redukcja wysiłku poznawczego, jasna hierarchia informacji i przewidywalne działanie.</a:t>
            </a:r>
          </a:p>
          <a:p>
            <a:endParaRPr lang="pl-PL" sz="1800" dirty="0" smtClean="0"/>
          </a:p>
          <a:p>
            <a:r>
              <a:rPr lang="pl-PL" sz="1800" dirty="0" smtClean="0"/>
              <a:t>Pojęcie „user </a:t>
            </a:r>
            <a:r>
              <a:rPr lang="pl-PL" sz="1800" dirty="0" err="1" smtClean="0"/>
              <a:t>experience</a:t>
            </a:r>
            <a:r>
              <a:rPr lang="pl-PL" sz="1800" dirty="0" smtClean="0"/>
              <a:t>” zostało silnie spopularyzowane przez Dona Normana, który pracował m.in. w Apple. Norman podkreślał, że doświadczenie użytkownika obejmuje nie tylko sam interfejs, ale całe doświadczenie kontaktu z produktem. To bardzo dobrze pasuje do aplikacji mobilnych, gdzie użytkownik ocenia nie tylko ekran, ale też szybkość, płynność, komunikaty błędów i poczucie kontroli.</a:t>
            </a:r>
          </a:p>
          <a:p>
            <a:pPr indent="0">
              <a:buNone/>
            </a:pPr>
            <a:endParaRPr lang="pl-PL" sz="1800" b="0" u="none" strike="noStrike" dirty="0">
              <a:solidFill>
                <a:srgbClr val="000000"/>
              </a:solidFill>
              <a:effectLst/>
              <a:uFillTx/>
              <a:latin typeface="Arial"/>
            </a:endParaRPr>
          </a:p>
        </p:txBody>
      </p:sp>
      <p:sp>
        <p:nvSpPr>
          <p:cNvPr id="1180" name="PlaceHolder 3"/>
          <p:cNvSpPr>
            <a:spLocks noGrp="1"/>
          </p:cNvSpPr>
          <p:nvPr>
            <p:ph type="sldNum" idx="20"/>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BD8DF8B0-B21B-4F75-B8BD-C34CBABEDC2A}" type="slidenum">
              <a:rPr lang="pl-PL" sz="1800" b="0" u="none" strike="noStrike">
                <a:solidFill>
                  <a:schemeClr val="dk1"/>
                </a:solidFill>
                <a:effectLst/>
                <a:uFillTx/>
                <a:latin typeface="+mn-lt"/>
                <a:ea typeface="+mn-ea"/>
              </a:rPr>
              <a:t>19</a:t>
            </a:fld>
            <a:endParaRPr lang="pl-PL" sz="18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1" name="PlaceHolder 1"/>
          <p:cNvSpPr>
            <a:spLocks noGrp="1" noRot="1" noChangeAspect="1"/>
          </p:cNvSpPr>
          <p:nvPr>
            <p:ph type="sldImg"/>
          </p:nvPr>
        </p:nvSpPr>
        <p:spPr>
          <a:xfrm>
            <a:off x="0" y="0"/>
            <a:ext cx="0" cy="0"/>
          </a:xfrm>
          <a:prstGeom prst="rect">
            <a:avLst/>
          </a:prstGeom>
          <a:ln w="0">
            <a:noFill/>
          </a:ln>
        </p:spPr>
      </p:sp>
      <p:sp>
        <p:nvSpPr>
          <p:cNvPr id="11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Design Sprint jest dla mnie interesujący, ponieważ wymusza szybkie przejście od problemu do prototypu i testu z użytkownikami. Zamiast przez kilka tygodni dyskutować abstrakcyjnie, zespół tworzy coś, co można pokazać, sprawdzić i skrytykować. To ogranicza ryzyko inwestowania w pomysł, który dobrze brzmi na spotkaniu, ale nie działa w praktyce.</a:t>
            </a:r>
          </a:p>
          <a:p>
            <a:endParaRPr lang="pl-PL" sz="1800" dirty="0" smtClean="0"/>
          </a:p>
          <a:p>
            <a:r>
              <a:rPr lang="pl-PL" sz="1800" dirty="0" smtClean="0"/>
              <a:t>W badaniach UX szczególnie ważne jest obserwowanie realnego zachowania użytkownika. Ludzie często deklarują jedno, a robią coś innego. Mogą powiedzieć, że interfejs jest zrozumiały, ale podczas testu nie potrafią znaleźć podstawowej funkcji. Dlatego testy użyteczności są tak cenne: pokazują napięcie między projektem w głowie twórcy a doświadczeniem realnej osoby.</a:t>
            </a:r>
          </a:p>
          <a:p>
            <a:endParaRPr lang="pl-PL" sz="1800" dirty="0" smtClean="0"/>
          </a:p>
          <a:p>
            <a:r>
              <a:rPr lang="pl-PL" sz="1800" b="1" dirty="0" smtClean="0"/>
              <a:t>Ciekawostka</a:t>
            </a:r>
            <a:r>
              <a:rPr lang="pl-PL" sz="1800" dirty="0" smtClean="0"/>
              <a:t>: Jakob Nielsen spopularyzował obserwację, że już testy z niewielką liczbą użytkowników mogą ujawnić znaczną część najważniejszych problemów użyteczności. Nie oznacza to, że pięć osób wystarczy do każdego badania, ale pokazuje ważną zasadę: lepiej testować wcześnie i często na małych próbach niż czekać na idealne, kosztowne badanie pod koniec projektu.</a:t>
            </a:r>
          </a:p>
          <a:p>
            <a:pPr indent="0">
              <a:buNone/>
            </a:pPr>
            <a:endParaRPr lang="pl-PL" sz="1800" b="0" u="none" strike="noStrike" dirty="0" smtClean="0">
              <a:solidFill>
                <a:srgbClr val="000000"/>
              </a:solidFill>
              <a:effectLst/>
              <a:uFillTx/>
              <a:latin typeface="Arial"/>
            </a:endParaRPr>
          </a:p>
          <a:p>
            <a:r>
              <a:rPr lang="pl-PL" sz="1800" dirty="0" smtClean="0"/>
              <a:t>W projektowaniu mobilnym najważniejsze jest ograniczenie wysiłku użytkownika. Mały ekran, obsługa dotykiem, praca jedną ręką, rozproszenie uwagi i krótki czas kontaktu powodują, że interfejs musi być prostszy niż w aplikacjach desktopowych. Użytkownik mobilny często nie „analizuje” aplikacji, tylko reaguje intuicyjnie: rozumie albo porzuca.</a:t>
            </a:r>
          </a:p>
          <a:p>
            <a:r>
              <a:rPr lang="pl-PL" sz="1800" dirty="0" smtClean="0"/>
              <a:t>W praktyce oznacza to, że dobry UX/UI powinien redukować liczbę decyzji, upraszczać ścieżki działania, jasno pokazywać priorytety i natychmiast informować użytkownika o skutkach jego akcji.</a:t>
            </a:r>
          </a:p>
          <a:p>
            <a:endParaRPr lang="pl-PL" sz="1800" b="1" dirty="0" smtClean="0"/>
          </a:p>
          <a:p>
            <a:r>
              <a:rPr lang="pl-PL" sz="1800" b="1" dirty="0" smtClean="0"/>
              <a:t>2. Testy z małą liczbą użytkowników mają wysoką wartość diagnostyczną</a:t>
            </a:r>
          </a:p>
          <a:p>
            <a:r>
              <a:rPr lang="pl-PL" sz="1800" dirty="0" smtClean="0"/>
              <a:t>Jakob Nielsen wskazuje, że w jakościowych testach użyteczności bardzo duży zwrot informacyjny daje już testowanie z około 5 użytkownikami. Nie chodzi o reprezentatywność statystyczną, lecz o szybkie wykrywanie najczęstszych problemów interakcji. Nielsen rekomenduje raczej wiele małych iteracyjnych testów niż jeden duży test wykonany zbyt późno. </a:t>
            </a:r>
          </a:p>
          <a:p>
            <a:r>
              <a:rPr lang="pl-PL" sz="1800" dirty="0" smtClean="0"/>
              <a:t>To jest ważne dydaktycznie: młody zespół nie powinien czekać z testowaniem do końca projektu. Nawet 5 dobrze przeprowadzonych obserwacji może ujawnić problemy z nawigacją, etykietami przycisków, kolejnością kroków albo niezrozumiałymi komunikatami.</a:t>
            </a:r>
          </a:p>
          <a:p>
            <a:endParaRPr lang="pl-PL" sz="1800" b="1" dirty="0" smtClean="0"/>
          </a:p>
          <a:p>
            <a:r>
              <a:rPr lang="pl-PL" sz="1800" b="1" dirty="0" smtClean="0"/>
              <a:t>3. Retencja aplikacji mobilnych jest bardzo niska</a:t>
            </a:r>
          </a:p>
          <a:p>
            <a:r>
              <a:rPr lang="pl-PL" sz="1800" dirty="0" smtClean="0"/>
              <a:t>Dane </a:t>
            </a:r>
            <a:r>
              <a:rPr lang="pl-PL" sz="1800" dirty="0" err="1" smtClean="0"/>
              <a:t>benchmarkowe</a:t>
            </a:r>
            <a:r>
              <a:rPr lang="pl-PL" sz="1800" dirty="0" smtClean="0"/>
              <a:t> pokazują, że aplikacje mobilne bardzo szybko tracą użytkowników po instalacji. Według zestawienia </a:t>
            </a:r>
            <a:r>
              <a:rPr lang="pl-PL" sz="1800" dirty="0" err="1" smtClean="0"/>
              <a:t>GetStream</a:t>
            </a:r>
            <a:r>
              <a:rPr lang="pl-PL" sz="1800" dirty="0" smtClean="0"/>
              <a:t> z 2026 roku średnio około 28,29% użytkowników wraca dzień po instalacji, 17,86% po tygodniu, a 7,88% po 30 dniach. </a:t>
            </a:r>
          </a:p>
          <a:p>
            <a:r>
              <a:rPr lang="pl-PL" sz="1800" dirty="0" smtClean="0"/>
              <a:t>Wniosek dla UX/UI jest prosty: pierwszy kontakt z aplikacją jest krytyczny. </a:t>
            </a:r>
            <a:r>
              <a:rPr lang="pl-PL" sz="1800" dirty="0" err="1" smtClean="0"/>
              <a:t>Onboarding</a:t>
            </a:r>
            <a:r>
              <a:rPr lang="pl-PL" sz="1800" dirty="0" smtClean="0"/>
              <a:t>, pierwsze zadanie, szybkość działania i zrozumienie wartości produktu muszą pojawić się natychmiast. Jeżeli użytkownik nie zrozumie aplikacji w pierwszej sesji, zwykle nie wróci.</a:t>
            </a:r>
          </a:p>
          <a:p>
            <a:endParaRPr lang="pl-PL" sz="1800" b="1" dirty="0" smtClean="0"/>
          </a:p>
          <a:p>
            <a:r>
              <a:rPr lang="pl-PL" sz="1800" b="1" dirty="0" smtClean="0"/>
              <a:t>4. Szybkość działania jest częścią UX</a:t>
            </a:r>
          </a:p>
          <a:p>
            <a:r>
              <a:rPr lang="pl-PL" sz="1800" dirty="0" smtClean="0"/>
              <a:t>W UX aplikacji mobilnej wydajność nie jest wyłącznie problemem programistycznym. Jest bezpośrednim elementem doświadczenia użytkownika. Google podaje, że 53% wizyt mobilnych może zostać porzuconych, jeśli strona ładuje się dłużej niż 3 sekundy. W innym raporcie Google wskazano, że wzrost czasu ładowania z 1 do 10 sekund zwiększa prawdopodobieństwo odrzucenia o 123%. </a:t>
            </a:r>
          </a:p>
          <a:p>
            <a:r>
              <a:rPr lang="pl-PL" sz="1800" dirty="0" smtClean="0"/>
              <a:t>Dla aplikacji mobilnych oznacza to konieczność projektowania pod krótką percepcję czasu: szybki start, skeleton </a:t>
            </a:r>
            <a:r>
              <a:rPr lang="pl-PL" sz="1800" dirty="0" err="1" smtClean="0"/>
              <a:t>screens</a:t>
            </a:r>
            <a:r>
              <a:rPr lang="pl-PL" sz="1800" dirty="0" smtClean="0"/>
              <a:t>, progresywne ładowanie, lokalne cache, ograniczenie ciężkich animacji i natychmiastowa informacja zwrotna po dotknięciu elementu.</a:t>
            </a:r>
          </a:p>
          <a:p>
            <a:endParaRPr lang="pl-PL" sz="1800" b="1" dirty="0" smtClean="0"/>
          </a:p>
          <a:p>
            <a:r>
              <a:rPr lang="pl-PL" sz="1800" b="1" dirty="0" smtClean="0"/>
              <a:t>5. Istnieją mierzalne progi jakości interakcji</a:t>
            </a:r>
          </a:p>
          <a:p>
            <a:r>
              <a:rPr lang="pl-PL" sz="1800" dirty="0" smtClean="0"/>
              <a:t>Dla aplikacji webowych i PWA Google </a:t>
            </a:r>
            <a:r>
              <a:rPr lang="pl-PL" sz="1800" dirty="0" err="1" smtClean="0"/>
              <a:t>Core</a:t>
            </a:r>
            <a:r>
              <a:rPr lang="pl-PL" sz="1800" dirty="0" smtClean="0"/>
              <a:t> Web </a:t>
            </a:r>
            <a:r>
              <a:rPr lang="pl-PL" sz="1800" dirty="0" err="1" smtClean="0"/>
              <a:t>Vitals</a:t>
            </a:r>
            <a:r>
              <a:rPr lang="pl-PL" sz="1800" dirty="0" smtClean="0"/>
              <a:t> definiują praktyczne progi jakości doświadczenia: LCP powinno wynosić maksymalnie 2,5 sekundy, INP maksymalnie 200 ms, a CLS maksymalnie 0,1. Są to metryki dotyczące odpowiednio szybkości ładowania, </a:t>
            </a:r>
            <a:r>
              <a:rPr lang="pl-PL" sz="1800" dirty="0" err="1" smtClean="0"/>
              <a:t>responsywności</a:t>
            </a:r>
            <a:r>
              <a:rPr lang="pl-PL" sz="1800" dirty="0" smtClean="0"/>
              <a:t> interakcji i stabilności wizualnej. </a:t>
            </a:r>
          </a:p>
          <a:p>
            <a:r>
              <a:rPr lang="pl-PL" sz="1800" dirty="0" smtClean="0"/>
              <a:t>W aplikacjach natywnych analogicznie warto mierzyć czas startu, opóźnienie reakcji na dotyk, płynność animacji, liczbę klatek na sekundę, </a:t>
            </a:r>
            <a:r>
              <a:rPr lang="pl-PL" sz="1800" dirty="0" err="1" smtClean="0"/>
              <a:t>crash</a:t>
            </a:r>
            <a:r>
              <a:rPr lang="pl-PL" sz="1800" dirty="0" smtClean="0"/>
              <a:t> </a:t>
            </a:r>
            <a:r>
              <a:rPr lang="pl-PL" sz="1800" dirty="0" err="1" smtClean="0"/>
              <a:t>rate</a:t>
            </a:r>
            <a:r>
              <a:rPr lang="pl-PL" sz="1800" dirty="0" smtClean="0"/>
              <a:t> oraz czas wykonania kluczowych przepływów. UX powinien być mierzony, nie tylko oceniany subiektywnie.</a:t>
            </a:r>
          </a:p>
          <a:p>
            <a:endParaRPr lang="pl-PL" sz="1800" b="1" dirty="0" smtClean="0"/>
          </a:p>
          <a:p>
            <a:r>
              <a:rPr lang="pl-PL" sz="1800" b="1" dirty="0" smtClean="0"/>
              <a:t>6. Rozmiar elementów dotykowych ma podstawy ergonomiczne</a:t>
            </a:r>
          </a:p>
          <a:p>
            <a:r>
              <a:rPr lang="pl-PL" sz="1800" dirty="0" smtClean="0"/>
              <a:t>Apple zaleca, aby obszar trafienia przycisku miał co najmniej 44 × 44 punkty, a </a:t>
            </a:r>
            <a:r>
              <a:rPr lang="pl-PL" sz="1800" dirty="0" err="1" smtClean="0"/>
              <a:t>Material</a:t>
            </a:r>
            <a:r>
              <a:rPr lang="pl-PL" sz="1800" dirty="0" smtClean="0"/>
              <a:t> Design rekomenduje cele dotykowe co najmniej 48 × 48 </a:t>
            </a:r>
            <a:r>
              <a:rPr lang="pl-PL" sz="1800" dirty="0" err="1" smtClean="0"/>
              <a:t>dp</a:t>
            </a:r>
            <a:r>
              <a:rPr lang="pl-PL" sz="1800" dirty="0" smtClean="0"/>
              <a:t>, co odpowiada fizycznie około 9 mm. WCAG 2.2 wskazuje minimalny rozmiar celu wskaźnika 24 × 24 CSS </a:t>
            </a:r>
            <a:r>
              <a:rPr lang="pl-PL" sz="1800" dirty="0" err="1" smtClean="0"/>
              <a:t>px</a:t>
            </a:r>
            <a:r>
              <a:rPr lang="pl-PL" sz="1800" dirty="0" smtClean="0"/>
              <a:t>, z określonymi wyjątkami. </a:t>
            </a:r>
          </a:p>
          <a:p>
            <a:r>
              <a:rPr lang="pl-PL" sz="1800" dirty="0" smtClean="0"/>
              <a:t>To nie jest arbitralna zasada graficzna. Wynika z ograniczeń motorycznych palca, zmienności precyzji dotyku, pracy w ruchu, obsługi jedną ręką oraz potrzeb użytkowników z ograniczeniami sprawności.</a:t>
            </a:r>
          </a:p>
          <a:p>
            <a:endParaRPr lang="pl-PL" sz="1800" b="1" dirty="0" smtClean="0"/>
          </a:p>
          <a:p>
            <a:r>
              <a:rPr lang="pl-PL" sz="1800" b="1" dirty="0" smtClean="0"/>
              <a:t>7. Kontrast i dostępność wpływają na realną używalność</a:t>
            </a:r>
          </a:p>
          <a:p>
            <a:r>
              <a:rPr lang="pl-PL" sz="1800" dirty="0" smtClean="0"/>
              <a:t>WCAG 2.2 określa, że tekst standardowy powinien mieć kontrast co najmniej 4,5:1, a duży tekst co najmniej 3:1 względem tła. Dla komponentów interfejsu i elementów graficznych istotny jest także kontrast nietekstowy. </a:t>
            </a:r>
          </a:p>
          <a:p>
            <a:r>
              <a:rPr lang="pl-PL" sz="1800" dirty="0" smtClean="0"/>
              <a:t>W aplikacji mobilnej słaby kontrast jest szczególnie problematyczny, ponieważ użytkownik korzysta z niej w zmiennych warunkach: na zewnątrz, w słońcu, w ruchu, na ekranie z obniżoną jasnością albo przy zmęczeniu wzroku. Dostępność nie jest więc dodatkiem etycznym, lecz praktycznym warunkiem używalności.</a:t>
            </a:r>
          </a:p>
          <a:p>
            <a:endParaRPr lang="pl-PL" sz="1800" b="1" dirty="0" smtClean="0"/>
          </a:p>
          <a:p>
            <a:r>
              <a:rPr lang="pl-PL" sz="1800" b="1" dirty="0" smtClean="0"/>
              <a:t>8. </a:t>
            </a:r>
            <a:r>
              <a:rPr lang="pl-PL" sz="1800" b="1" dirty="0" err="1" smtClean="0"/>
              <a:t>Checkout</a:t>
            </a:r>
            <a:r>
              <a:rPr lang="pl-PL" sz="1800" b="1" dirty="0" smtClean="0"/>
              <a:t> i formularze są krytycznymi punktami utraty użytkowników</a:t>
            </a:r>
          </a:p>
          <a:p>
            <a:r>
              <a:rPr lang="pl-PL" sz="1800" dirty="0" err="1" smtClean="0"/>
              <a:t>Baymard</a:t>
            </a:r>
            <a:r>
              <a:rPr lang="pl-PL" sz="1800" dirty="0" smtClean="0"/>
              <a:t> </a:t>
            </a:r>
            <a:r>
              <a:rPr lang="pl-PL" sz="1800" dirty="0" err="1" smtClean="0"/>
              <a:t>Institute</a:t>
            </a:r>
            <a:r>
              <a:rPr lang="pl-PL" sz="1800" dirty="0" smtClean="0"/>
              <a:t> szacuje średni współczynnik porzucenia koszyka online na około 70%. W swoich badaniach </a:t>
            </a:r>
            <a:r>
              <a:rPr lang="pl-PL" sz="1800" dirty="0" err="1" smtClean="0"/>
              <a:t>checkoutu</a:t>
            </a:r>
            <a:r>
              <a:rPr lang="pl-PL" sz="1800" dirty="0" smtClean="0"/>
              <a:t> </a:t>
            </a:r>
            <a:r>
              <a:rPr lang="pl-PL" sz="1800" dirty="0" err="1" smtClean="0"/>
              <a:t>Baymard</a:t>
            </a:r>
            <a:r>
              <a:rPr lang="pl-PL" sz="1800" dirty="0" smtClean="0"/>
              <a:t> wskazuje też, że duże serwisy e-commerce mogą znacząco poprawić konwersję przez same zmiany projektowe w procesie zakupowym. </a:t>
            </a:r>
          </a:p>
          <a:p>
            <a:r>
              <a:rPr lang="pl-PL" sz="1800" dirty="0" smtClean="0"/>
              <a:t>Dla UX/UI aplikacji mobilnych oznacza to, że formularze, logowanie, płatności i rejestracja muszą być projektowane szczególnie ostrożnie. Każde dodatkowe pole, niejasny błąd walidacji, brak autouzupełniania albo wymuszona rejestracja może obniżać konwersję.</a:t>
            </a:r>
          </a:p>
          <a:p>
            <a:endParaRPr lang="pl-PL" sz="1800" b="1" dirty="0" smtClean="0"/>
          </a:p>
          <a:p>
            <a:r>
              <a:rPr lang="pl-PL" sz="1800" b="1" dirty="0" smtClean="0"/>
              <a:t>9. Liczba funkcji nie jest równoznaczna z wartością produktu</a:t>
            </a:r>
          </a:p>
          <a:p>
            <a:r>
              <a:rPr lang="pl-PL" sz="1800" dirty="0" smtClean="0"/>
              <a:t>Z perspektywy UX nadmiar funkcji często pogarsza doświadczenie. Więcej opcji oznacza większe obciążenie poznawcze, więcej decyzji i większe ryzyko, że użytkownik nie znajdzie głównej wartości aplikacji. W projektowaniu mobilnym szczególnie ważna jest selekcja: co pokazuję teraz, co ukrywam głębiej, a czego w ogóle nie dodaję.</a:t>
            </a:r>
          </a:p>
          <a:p>
            <a:r>
              <a:rPr lang="pl-PL" sz="1800" dirty="0" smtClean="0"/>
              <a:t>Dlatego MVP nie powinno być „biedną wersją dużego systemu”. Powinno być najprostszą wersją produktu, która pozwala użytkownikowi osiągnąć główną wartość.</a:t>
            </a:r>
          </a:p>
          <a:p>
            <a:endParaRPr lang="pl-PL" sz="1800" b="1" dirty="0" smtClean="0"/>
          </a:p>
          <a:p>
            <a:r>
              <a:rPr lang="pl-PL" sz="1800" b="1" dirty="0" smtClean="0"/>
              <a:t>10. UX trzeba badać kilkoma metodami jednocześnie</a:t>
            </a:r>
          </a:p>
          <a:p>
            <a:r>
              <a:rPr lang="pl-PL" sz="1800" dirty="0" smtClean="0"/>
              <a:t>Same ankiety nie wystarczą, ponieważ użytkownicy często deklarują coś innego, niż rzeczywiście robią. Same dane ilościowe też nie wystarczą, ponieważ pokazują „gdzie” jest problem, ale nie zawsze pokazują „dlaczego”. Najlepsze podejście łączy testy użyteczności, analitykę zachowań, nagrania sesji, wywiady, dane retencyjne, </a:t>
            </a:r>
            <a:r>
              <a:rPr lang="pl-PL" sz="1800" dirty="0" err="1" smtClean="0"/>
              <a:t>crash</a:t>
            </a:r>
            <a:r>
              <a:rPr lang="pl-PL" sz="1800" dirty="0" smtClean="0"/>
              <a:t> </a:t>
            </a:r>
            <a:r>
              <a:rPr lang="pl-PL" sz="1800" dirty="0" err="1" smtClean="0"/>
              <a:t>reports</a:t>
            </a:r>
            <a:r>
              <a:rPr lang="pl-PL" sz="1800" dirty="0" smtClean="0"/>
              <a:t> i analizę opinii w sklepach.</a:t>
            </a:r>
          </a:p>
          <a:p>
            <a:r>
              <a:rPr lang="pl-PL" sz="1800" dirty="0" smtClean="0"/>
              <a:t>Najważniejszy wniosek: UX/UI aplikacji mobilnej powinien być traktowany jako empiryczny proces projektowy. Najpierw formułuję hipotezę, potem projektuję interakcję, testuję ją na użytkownikach, mierzę zachowanie i iteruję. To bardziej przypomina eksperyment niż jednorazowe „rysowanie ekranów”.</a:t>
            </a:r>
          </a:p>
          <a:p>
            <a:pPr indent="0">
              <a:buNone/>
            </a:pPr>
            <a:endParaRPr lang="pl-PL" sz="1800" b="0" u="none" strike="noStrike" dirty="0">
              <a:solidFill>
                <a:srgbClr val="000000"/>
              </a:solidFill>
              <a:effectLst/>
              <a:uFillTx/>
              <a:latin typeface="Arial"/>
            </a:endParaRPr>
          </a:p>
        </p:txBody>
      </p:sp>
      <p:sp>
        <p:nvSpPr>
          <p:cNvPr id="1183" name="PlaceHolder 3"/>
          <p:cNvSpPr>
            <a:spLocks noGrp="1"/>
          </p:cNvSpPr>
          <p:nvPr>
            <p:ph type="sldNum" idx="21"/>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329744E8-4AB4-49D6-89AE-5E5C77DB9A3D}" type="slidenum">
              <a:rPr lang="pl-PL" sz="1800" b="0" u="none" strike="noStrike">
                <a:solidFill>
                  <a:schemeClr val="dk1"/>
                </a:solidFill>
                <a:effectLst/>
                <a:uFillTx/>
                <a:latin typeface="+mn-lt"/>
                <a:ea typeface="+mn-ea"/>
              </a:rPr>
              <a:t>20</a:t>
            </a:fld>
            <a:endParaRPr lang="pl-PL" sz="18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3" name="PlaceHolder 1"/>
          <p:cNvSpPr>
            <a:spLocks noGrp="1" noRot="1" noChangeAspect="1"/>
          </p:cNvSpPr>
          <p:nvPr>
            <p:ph type="sldImg"/>
          </p:nvPr>
        </p:nvSpPr>
        <p:spPr>
          <a:xfrm>
            <a:off x="0" y="0"/>
            <a:ext cx="0" cy="0"/>
          </a:xfrm>
          <a:prstGeom prst="rect">
            <a:avLst/>
          </a:prstGeom>
          <a:ln w="0">
            <a:noFill/>
          </a:ln>
        </p:spPr>
      </p:sp>
      <p:sp>
        <p:nvSpPr>
          <p:cNvPr id="11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Testowanie aplikacji mobilnych traktuję jako część procesu projektowego, a nie jako etap wykonywany na końcu. To bardzo ważna różnica. Jeżeli testy pojawiają się dopiero tuż przed publikacją aplikacji, to zwykle nie są już narzędziem poprawy jakości, tylko narzędziem wykrywania strat.</a:t>
            </a:r>
          </a:p>
          <a:p>
            <a:endParaRPr lang="pl-PL" sz="1800" dirty="0" smtClean="0"/>
          </a:p>
          <a:p>
            <a:r>
              <a:rPr lang="pl-PL" sz="1800" dirty="0" smtClean="0"/>
              <a:t>W aplikacjach mobilnych jakość jest szczególnie wrażliwa, ponieważ użytkownik bardzo szybko podejmuje decyzję o odinstalowaniu. Aplikacja może mieć świetny pomysł, ale jeśli często się zawiesza, długo startuje albo ma błędy w podstawowym przepływie, użytkownik rzadko daje jej drugą szansę. Ciekawostką jest to, że w środowisku mobilnym jakość techniczna bardzo szybko staje się jakością psychologiczną: użytkownik odczuwa frustrację, traci zaufanie i zaczyna postrzegać produkt jako nieprofesjonalny.</a:t>
            </a:r>
          </a:p>
          <a:p>
            <a:pPr indent="0">
              <a:buNone/>
            </a:pPr>
            <a:endParaRPr lang="pl-PL" sz="1800" b="0" u="none" strike="noStrike" dirty="0" smtClean="0">
              <a:solidFill>
                <a:srgbClr val="000000"/>
              </a:solidFill>
              <a:effectLst/>
              <a:uFillTx/>
              <a:latin typeface="Arial"/>
            </a:endParaRPr>
          </a:p>
          <a:p>
            <a:pPr indent="0">
              <a:buNone/>
            </a:pPr>
            <a:r>
              <a:rPr lang="pl-PL" sz="1800" dirty="0" smtClean="0"/>
              <a:t>Dobra historyczna lekcja pochodzi z misji Apollo. Oprogramowanie komputerów pokładowych było testowane wyjątkowo rygorystycznie, bo błąd nie oznaczał tylko niedziałającego produktu, ale realne zagrożenie dla życia. Oczywiście aplikacja mobilna zwykle nie ma takiego poziomu krytyczności, ale zasada pozostaje ta sama: im wcześniej sprawdzamy założenia i zachowanie systemu, tym mniejsze ryzyko awarii w środowisku produkcyjnym.</a:t>
            </a:r>
            <a:endParaRPr lang="pl-PL" sz="1800" b="0" u="none" strike="noStrike" dirty="0">
              <a:solidFill>
                <a:srgbClr val="000000"/>
              </a:solidFill>
              <a:effectLst/>
              <a:uFillTx/>
              <a:latin typeface="Arial"/>
            </a:endParaRPr>
          </a:p>
        </p:txBody>
      </p:sp>
      <p:sp>
        <p:nvSpPr>
          <p:cNvPr id="1195" name="PlaceHolder 3"/>
          <p:cNvSpPr>
            <a:spLocks noGrp="1"/>
          </p:cNvSpPr>
          <p:nvPr>
            <p:ph type="sldNum" idx="25"/>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DC8F733F-C38F-43CD-B2FB-A74B9173E1F6}" type="slidenum">
              <a:rPr lang="pl-PL" sz="1800" b="0" u="none" strike="noStrike">
                <a:solidFill>
                  <a:schemeClr val="dk1"/>
                </a:solidFill>
                <a:effectLst/>
                <a:uFillTx/>
                <a:latin typeface="+mn-lt"/>
                <a:ea typeface="+mn-ea"/>
              </a:rPr>
              <a:t>21</a:t>
            </a:fld>
            <a:endParaRPr lang="pl-PL" sz="18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6" name="PlaceHolder 1"/>
          <p:cNvSpPr>
            <a:spLocks noGrp="1" noRot="1" noChangeAspect="1"/>
          </p:cNvSpPr>
          <p:nvPr>
            <p:ph type="sldImg"/>
          </p:nvPr>
        </p:nvSpPr>
        <p:spPr>
          <a:xfrm>
            <a:off x="0" y="0"/>
            <a:ext cx="0" cy="0"/>
          </a:xfrm>
          <a:prstGeom prst="rect">
            <a:avLst/>
          </a:prstGeom>
          <a:ln w="0">
            <a:noFill/>
          </a:ln>
        </p:spPr>
      </p:sp>
      <p:sp>
        <p:nvSpPr>
          <p:cNvPr id="11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Kiedy myślę o testowaniu, najważniejsze jest dla mnie zachowanie proporcji. Nie wszystko powinno być testowane przez interfejs użytkownika, bo takie testy są drogie, wolne i często niestabilne. Dużo bardziej opłaca się budować solidną podstawę z testów jednostkowych, a dopiero wyżej dokładać testy integracyjne i końcowe testy interfejsu.</a:t>
            </a:r>
          </a:p>
          <a:p>
            <a:endParaRPr lang="pl-PL" sz="1800" dirty="0" smtClean="0"/>
          </a:p>
          <a:p>
            <a:r>
              <a:rPr lang="pl-PL" sz="1800" dirty="0" smtClean="0"/>
              <a:t>W praktyce piramida testów uczy bardzo zdrowej zasady: im szybciej wykryję błąd, tym taniej go naprawię. Ciekawostką jest to, że wiele zespołów na początku chce automatyzować głównie testy końcowe, bo najbardziej przypominają działanie użytkownika. To intuicyjne, ale często błędne. Stabilność produktu zaczyna się niżej — w logice, walidacji danych, komunikacji z API i przewidywalnym zachowaniu </a:t>
            </a:r>
          </a:p>
          <a:p>
            <a:pPr indent="0">
              <a:buNone/>
            </a:pPr>
            <a:endParaRPr lang="pl-PL" sz="1800" b="0" u="none" strike="noStrike" dirty="0" smtClean="0">
              <a:solidFill>
                <a:srgbClr val="000000"/>
              </a:solidFill>
              <a:effectLst/>
              <a:uFillTx/>
              <a:latin typeface="Arial"/>
            </a:endParaRPr>
          </a:p>
          <a:p>
            <a:pPr indent="0">
              <a:buNone/>
            </a:pPr>
            <a:r>
              <a:rPr lang="pl-PL" sz="1800" dirty="0" smtClean="0"/>
              <a:t>Ciekawostką jest to, że idea testowania jednostkowego silnie rozwinęła się razem z metodykami ekstremalnego programowania, czyli Extreme Programming, w latach 90. XX wieku. Kent Beck promował podejście, w którym testy są pisane bardzo wcześnie, często nawet przed właściwym kodem. Z dzisiejszej perspektywy brzmi to standardowo, ale wtedy było to radykalne przesunięcie: test nie był dodatkiem, tylko narzędziem projektowania.</a:t>
            </a:r>
            <a:endParaRPr lang="pl-PL" sz="1800" b="0" u="none" strike="noStrike" dirty="0">
              <a:solidFill>
                <a:srgbClr val="000000"/>
              </a:solidFill>
              <a:effectLst/>
              <a:uFillTx/>
              <a:latin typeface="Arial"/>
            </a:endParaRPr>
          </a:p>
        </p:txBody>
      </p:sp>
      <p:sp>
        <p:nvSpPr>
          <p:cNvPr id="1198" name="PlaceHolder 3"/>
          <p:cNvSpPr>
            <a:spLocks noGrp="1"/>
          </p:cNvSpPr>
          <p:nvPr>
            <p:ph type="sldNum" idx="26"/>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B9643CEF-2F12-4602-8025-810085A80873}" type="slidenum">
              <a:rPr lang="pl-PL" sz="1800" b="0" u="none" strike="noStrike">
                <a:solidFill>
                  <a:schemeClr val="dk1"/>
                </a:solidFill>
                <a:effectLst/>
                <a:uFillTx/>
                <a:latin typeface="+mn-lt"/>
                <a:ea typeface="+mn-ea"/>
              </a:rPr>
              <a:t>22</a:t>
            </a:fld>
            <a:endParaRPr lang="pl-PL" sz="18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9" name="PlaceHolder 1"/>
          <p:cNvSpPr>
            <a:spLocks noGrp="1" noRot="1" noChangeAspect="1"/>
          </p:cNvSpPr>
          <p:nvPr>
            <p:ph type="sldImg"/>
          </p:nvPr>
        </p:nvSpPr>
        <p:spPr>
          <a:xfrm>
            <a:off x="0" y="0"/>
            <a:ext cx="0" cy="0"/>
          </a:xfrm>
          <a:prstGeom prst="rect">
            <a:avLst/>
          </a:prstGeom>
          <a:ln w="0">
            <a:noFill/>
          </a:ln>
        </p:spPr>
      </p:sp>
      <p:sp>
        <p:nvSpPr>
          <p:cNvPr id="120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Dług techniczny porównuję do kredytu. Sam w sobie nie zawsze jest zły. Czasem świadomie podejmujemy decyzję, że robimy coś szybciej, aby przetestować hipotezę biznesową albo zdążyć z wersją demonstracyjną. Problem zaczyna się wtedy, gdy zaciągamy taki dług, ale nie planujemy jego spłaty.</a:t>
            </a:r>
          </a:p>
          <a:p>
            <a:endParaRPr lang="pl-PL" sz="1800" dirty="0" smtClean="0"/>
          </a:p>
          <a:p>
            <a:r>
              <a:rPr lang="pl-PL" sz="1800" dirty="0" smtClean="0"/>
              <a:t>Najgroźniejszy jest dług niewidoczny: przestarzałe biblioteki, brak testów, fragmenty kodu, których nikt nie rozumie, albo obejścia dopisane „na chwilę”, które zostają w systemie na lata. Ciekawostką jest to, że dług techniczny nie rośnie liniowo. Po pewnym czasie zaczyna działać jak odsetki składane: każda nowa funkcja powstaje wolniej, bo musi omijać stare problemy. Dlatego dojrzałe zespoły nie traktują </a:t>
            </a:r>
            <a:r>
              <a:rPr lang="pl-PL" sz="1800" dirty="0" err="1" smtClean="0"/>
              <a:t>refaktoryzacji</a:t>
            </a:r>
            <a:r>
              <a:rPr lang="pl-PL" sz="1800" dirty="0" smtClean="0"/>
              <a:t> jako luksusu, tylko jako element utrzymania zdolności produkcyjnej.</a:t>
            </a:r>
          </a:p>
          <a:p>
            <a:pPr indent="0">
              <a:buNone/>
            </a:pPr>
            <a:endParaRPr lang="pl-PL" sz="1800" b="0" u="none" strike="noStrike" dirty="0" smtClean="0">
              <a:solidFill>
                <a:srgbClr val="000000"/>
              </a:solidFill>
              <a:effectLst/>
              <a:uFillTx/>
              <a:latin typeface="Arial"/>
            </a:endParaRPr>
          </a:p>
          <a:p>
            <a:pPr indent="0">
              <a:buNone/>
            </a:pPr>
            <a:r>
              <a:rPr lang="pl-PL" sz="1800" dirty="0" smtClean="0"/>
              <a:t>Sam termin „</a:t>
            </a:r>
            <a:r>
              <a:rPr lang="pl-PL" sz="1800" dirty="0" err="1" smtClean="0"/>
              <a:t>technical</a:t>
            </a:r>
            <a:r>
              <a:rPr lang="pl-PL" sz="1800" dirty="0" smtClean="0"/>
              <a:t> </a:t>
            </a:r>
            <a:r>
              <a:rPr lang="pl-PL" sz="1800" dirty="0" err="1" smtClean="0"/>
              <a:t>debt</a:t>
            </a:r>
            <a:r>
              <a:rPr lang="pl-PL" sz="1800" dirty="0" smtClean="0"/>
              <a:t>” wprowadził </a:t>
            </a:r>
            <a:r>
              <a:rPr lang="pl-PL" sz="1800" dirty="0" err="1" smtClean="0"/>
              <a:t>Ward</a:t>
            </a:r>
            <a:r>
              <a:rPr lang="pl-PL" sz="1800" dirty="0" smtClean="0"/>
              <a:t> Cunningham na początku lat 90. To ważna postać, bo Cunningham stworzył również pierwsze </a:t>
            </a:r>
            <a:r>
              <a:rPr lang="pl-PL" sz="1800" dirty="0" err="1" smtClean="0"/>
              <a:t>wiki</a:t>
            </a:r>
            <a:r>
              <a:rPr lang="pl-PL" sz="1800" dirty="0" smtClean="0"/>
              <a:t>. Jego metafora była bardzo trafna: szybkie rozwiązanie może przyspieszyć rozwój, ale później trzeba płacić „odsetki” w postaci wolniejszego </a:t>
            </a:r>
            <a:r>
              <a:rPr lang="pl-PL" sz="1800" dirty="0" err="1" smtClean="0"/>
              <a:t>developmentu</a:t>
            </a:r>
            <a:r>
              <a:rPr lang="pl-PL" sz="1800" dirty="0" smtClean="0"/>
              <a:t>, większej liczby błędów i trudniejszego utrzymania. Ta metafora przetrwała dekady, bo bardzo dobrze oddaje ekonomię decyzji technicznych.</a:t>
            </a:r>
            <a:endParaRPr lang="pl-PL" sz="1800" b="0" u="none" strike="noStrike" dirty="0">
              <a:solidFill>
                <a:srgbClr val="000000"/>
              </a:solidFill>
              <a:effectLst/>
              <a:uFillTx/>
              <a:latin typeface="Arial"/>
            </a:endParaRPr>
          </a:p>
        </p:txBody>
      </p:sp>
      <p:sp>
        <p:nvSpPr>
          <p:cNvPr id="1201" name="PlaceHolder 3"/>
          <p:cNvSpPr>
            <a:spLocks noGrp="1"/>
          </p:cNvSpPr>
          <p:nvPr>
            <p:ph type="sldNum" idx="27"/>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0116116F-8315-438F-BF71-CB931317D18D}" type="slidenum">
              <a:rPr lang="pl-PL" sz="1800" b="0" u="none" strike="noStrike">
                <a:solidFill>
                  <a:schemeClr val="dk1"/>
                </a:solidFill>
                <a:effectLst/>
                <a:uFillTx/>
                <a:latin typeface="+mn-lt"/>
                <a:ea typeface="+mn-ea"/>
              </a:rPr>
              <a:t>23</a:t>
            </a:fld>
            <a:endParaRPr lang="pl-PL" sz="18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2" name="PlaceHolder 1"/>
          <p:cNvSpPr>
            <a:spLocks noGrp="1" noRot="1" noChangeAspect="1"/>
          </p:cNvSpPr>
          <p:nvPr>
            <p:ph type="sldImg"/>
          </p:nvPr>
        </p:nvSpPr>
        <p:spPr>
          <a:xfrm>
            <a:off x="0" y="0"/>
            <a:ext cx="0" cy="0"/>
          </a:xfrm>
          <a:prstGeom prst="rect">
            <a:avLst/>
          </a:prstGeom>
          <a:ln w="0">
            <a:noFill/>
          </a:ln>
        </p:spPr>
      </p:sp>
      <p:sp>
        <p:nvSpPr>
          <p:cNvPr id="120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Publikacja aplikacji nie jest końcem projektu. W wielu przypadkach jest dopiero początkiem prawdziwej weryfikacji. Dopóki aplikacja jest testowana wewnętrznie, działamy w kontrolowanym środowisku. Po publikacji pojawiają się prawdziwe urządzenia, prawdziwe sieci, różne wersje systemów, nietypowe zachowania użytkowników i presja ocen w sklepie.</a:t>
            </a:r>
          </a:p>
          <a:p>
            <a:endParaRPr lang="pl-PL" sz="1800" dirty="0" smtClean="0"/>
          </a:p>
          <a:p>
            <a:r>
              <a:rPr lang="pl-PL" sz="1800" dirty="0" smtClean="0"/>
              <a:t>Dlatego </a:t>
            </a:r>
            <a:r>
              <a:rPr lang="pl-PL" sz="1800" dirty="0" err="1" smtClean="0"/>
              <a:t>launch</a:t>
            </a:r>
            <a:r>
              <a:rPr lang="pl-PL" sz="1800" dirty="0" smtClean="0"/>
              <a:t> traktuję jako operację techniczno-organizacyjną. Trzeba mieć plan dystrybucji, monitoring, procedurę reakcji na awarie i jasne kryteria sukcesu. Ciekawostką jest to, że w dojrzałych zespołach moment publikacji bywa mniej dramatyczny niż w zespołach początkujących, bo dobry </a:t>
            </a:r>
            <a:r>
              <a:rPr lang="pl-PL" sz="1800" dirty="0" err="1" smtClean="0"/>
              <a:t>release</a:t>
            </a:r>
            <a:r>
              <a:rPr lang="pl-PL" sz="1800" dirty="0" smtClean="0"/>
              <a:t> jest przygotowywany stopniowo: przez betę, </a:t>
            </a:r>
            <a:r>
              <a:rPr lang="pl-PL" sz="1800" dirty="0" err="1" smtClean="0"/>
              <a:t>rollout</a:t>
            </a:r>
            <a:r>
              <a:rPr lang="pl-PL" sz="1800" dirty="0" smtClean="0"/>
              <a:t> etapowy, monitoring i gotowość do szybkiej reakcji.</a:t>
            </a:r>
          </a:p>
          <a:p>
            <a:pPr indent="0">
              <a:buNone/>
            </a:pPr>
            <a:endParaRPr lang="pl-PL" sz="1800" b="0" u="none" strike="noStrike" dirty="0" smtClean="0">
              <a:solidFill>
                <a:srgbClr val="000000"/>
              </a:solidFill>
              <a:effectLst/>
              <a:uFillTx/>
              <a:latin typeface="Arial"/>
            </a:endParaRPr>
          </a:p>
          <a:p>
            <a:pPr indent="0">
              <a:buNone/>
            </a:pPr>
            <a:r>
              <a:rPr lang="pl-PL" sz="1800" dirty="0" smtClean="0"/>
              <a:t>Ciekawym przykładem jest premiera Apple </a:t>
            </a:r>
            <a:r>
              <a:rPr lang="pl-PL" sz="1800" dirty="0" err="1" smtClean="0"/>
              <a:t>Maps</a:t>
            </a:r>
            <a:r>
              <a:rPr lang="pl-PL" sz="1800" dirty="0" smtClean="0"/>
              <a:t> w 2012 roku. Produkt został wypuszczony jako domyślna aplikacja mapowa na iOS, ale użytkownicy szybko zaczęli zgłaszać błędy lokalizacji, zdeformowane widoki i problemy z trasami. Sprawa była na tyle poważna, że Apple publicznie przeprosiło użytkowników. To pokazuje, że </a:t>
            </a:r>
            <a:r>
              <a:rPr lang="pl-PL" sz="1800" dirty="0" err="1" smtClean="0"/>
              <a:t>launch</a:t>
            </a:r>
            <a:r>
              <a:rPr lang="pl-PL" sz="1800" dirty="0" smtClean="0"/>
              <a:t> nie kończy odpowiedzialności zespołu. Przeciwnie — dopiero wtedy zaczyna się testowanie w skali rzeczywistej.</a:t>
            </a:r>
            <a:endParaRPr lang="pl-PL" sz="1800" b="0" u="none" strike="noStrike" dirty="0">
              <a:solidFill>
                <a:srgbClr val="000000"/>
              </a:solidFill>
              <a:effectLst/>
              <a:uFillTx/>
              <a:latin typeface="Arial"/>
            </a:endParaRPr>
          </a:p>
        </p:txBody>
      </p:sp>
      <p:sp>
        <p:nvSpPr>
          <p:cNvPr id="1204" name="PlaceHolder 3"/>
          <p:cNvSpPr>
            <a:spLocks noGrp="1"/>
          </p:cNvSpPr>
          <p:nvPr>
            <p:ph type="sldNum" idx="28"/>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BE24DABE-D0E3-48A9-ADC7-DA1C1DAECBE4}" type="slidenum">
              <a:rPr lang="pl-PL" sz="1800" b="0" u="none" strike="noStrike">
                <a:solidFill>
                  <a:schemeClr val="dk1"/>
                </a:solidFill>
                <a:effectLst/>
                <a:uFillTx/>
                <a:latin typeface="+mn-lt"/>
                <a:ea typeface="+mn-ea"/>
              </a:rPr>
              <a:t>24</a:t>
            </a:fld>
            <a:endParaRPr lang="pl-PL" sz="18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5" name="PlaceHolder 1"/>
          <p:cNvSpPr>
            <a:spLocks noGrp="1" noRot="1" noChangeAspect="1"/>
          </p:cNvSpPr>
          <p:nvPr>
            <p:ph type="sldImg"/>
          </p:nvPr>
        </p:nvSpPr>
        <p:spPr>
          <a:xfrm>
            <a:off x="0" y="0"/>
            <a:ext cx="0" cy="0"/>
          </a:xfrm>
          <a:prstGeom prst="rect">
            <a:avLst/>
          </a:prstGeom>
          <a:ln w="0">
            <a:noFill/>
          </a:ln>
        </p:spPr>
      </p:sp>
      <p:sp>
        <p:nvSpPr>
          <p:cNvPr id="120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Przed publikacją aplikacji mobilnej trzeba zadbać nie tylko o kod, ale też o całe otoczenie produktu. Użytkownik bardzo często poznaje aplikację jeszcze zanim ją zainstaluje: przez ikonę, zrzuty ekranu, opis, oceny, film demonstracyjny i pierwsze wrażenie w sklepie.</a:t>
            </a:r>
          </a:p>
          <a:p>
            <a:endParaRPr lang="pl-PL" sz="1800" dirty="0" smtClean="0"/>
          </a:p>
          <a:p>
            <a:r>
              <a:rPr lang="pl-PL" sz="1800" dirty="0" smtClean="0"/>
              <a:t>To oznacza, że </a:t>
            </a:r>
            <a:r>
              <a:rPr lang="pl-PL" sz="1800" dirty="0" err="1" smtClean="0"/>
              <a:t>App</a:t>
            </a:r>
            <a:r>
              <a:rPr lang="pl-PL" sz="1800" dirty="0" smtClean="0"/>
              <a:t> </a:t>
            </a:r>
            <a:r>
              <a:rPr lang="pl-PL" sz="1800" dirty="0" err="1" smtClean="0"/>
              <a:t>Store</a:t>
            </a:r>
            <a:r>
              <a:rPr lang="pl-PL" sz="1800" dirty="0" smtClean="0"/>
              <a:t> i Google Play są częścią doświadczenia użytkownika. Dobra aplikacja może mieć słabą konwersję, jeśli jej strona w sklepie jest nieczytelna, nie pokazuje wartości albo wygląda nieprofesjonalnie. Ciekawostką jest to, że pierwsze sekundy kontaktu z materiałami promocyjnymi często decydują o instalacji. Użytkownik nie analizuje długo — raczej szybko rozpoznaje, czy aplikacja odpowiada na jego potrzebę.</a:t>
            </a:r>
          </a:p>
          <a:p>
            <a:pPr indent="0">
              <a:buNone/>
            </a:pPr>
            <a:endParaRPr lang="pl-PL" sz="1800" b="0" u="none" strike="noStrike" dirty="0" smtClean="0">
              <a:solidFill>
                <a:srgbClr val="000000"/>
              </a:solidFill>
              <a:effectLst/>
              <a:uFillTx/>
              <a:latin typeface="Arial"/>
            </a:endParaRPr>
          </a:p>
          <a:p>
            <a:pPr indent="0">
              <a:buNone/>
            </a:pPr>
            <a:r>
              <a:rPr lang="pl-PL" sz="1800" dirty="0" smtClean="0"/>
              <a:t>Historycznie ważny jest start </a:t>
            </a:r>
            <a:r>
              <a:rPr lang="pl-PL" sz="1800" dirty="0" err="1" smtClean="0"/>
              <a:t>App</a:t>
            </a:r>
            <a:r>
              <a:rPr lang="pl-PL" sz="1800" dirty="0" smtClean="0"/>
              <a:t> </a:t>
            </a:r>
            <a:r>
              <a:rPr lang="pl-PL" sz="1800" dirty="0" err="1" smtClean="0"/>
              <a:t>Store</a:t>
            </a:r>
            <a:r>
              <a:rPr lang="pl-PL" sz="1800" dirty="0" smtClean="0"/>
              <a:t> w 2008 roku. Na początku sklep miał około 500 aplikacji. Dziś problemem nie jest samo opublikowanie aplikacji, ale bycie zauważonym w ogromnym ekosystemie. To zmieniło znaczenie projektowania produktu: aplikacja musi być nie tylko użyteczna, ale także zrozumiała już na poziomie strony w sklepie. W praktyce opis, grafiki i pierwsze sekundy filmu promocyjnego są częścią UX.</a:t>
            </a:r>
          </a:p>
          <a:p>
            <a:pPr indent="0">
              <a:buNone/>
            </a:pPr>
            <a:endParaRPr lang="pl-PL" sz="1800" b="0" u="none" strike="noStrike" dirty="0" smtClean="0">
              <a:solidFill>
                <a:srgbClr val="000000"/>
              </a:solidFill>
              <a:effectLst/>
              <a:uFillTx/>
              <a:latin typeface="Arial"/>
            </a:endParaRPr>
          </a:p>
          <a:p>
            <a:pPr indent="0">
              <a:buNone/>
            </a:pPr>
            <a:endParaRPr lang="pl-PL" sz="1800" b="0" u="none" strike="noStrike" dirty="0">
              <a:solidFill>
                <a:srgbClr val="000000"/>
              </a:solidFill>
              <a:effectLst/>
              <a:uFillTx/>
              <a:latin typeface="Arial"/>
            </a:endParaRPr>
          </a:p>
        </p:txBody>
      </p:sp>
      <p:sp>
        <p:nvSpPr>
          <p:cNvPr id="1207" name="PlaceHolder 3"/>
          <p:cNvSpPr>
            <a:spLocks noGrp="1"/>
          </p:cNvSpPr>
          <p:nvPr>
            <p:ph type="sldNum" idx="29"/>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B8D69CFB-CE3F-4A29-BD79-8567EE5A4B37}" type="slidenum">
              <a:rPr lang="pl-PL" sz="1800" b="0" u="none" strike="noStrike">
                <a:solidFill>
                  <a:schemeClr val="dk1"/>
                </a:solidFill>
                <a:effectLst/>
                <a:uFillTx/>
                <a:latin typeface="+mn-lt"/>
                <a:ea typeface="+mn-ea"/>
              </a:rPr>
              <a:t>25</a:t>
            </a:fld>
            <a:endParaRPr lang="pl-PL" sz="18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 name="PlaceHolder 1"/>
          <p:cNvSpPr>
            <a:spLocks noGrp="1" noRot="1" noChangeAspect="1"/>
          </p:cNvSpPr>
          <p:nvPr>
            <p:ph type="sldImg"/>
          </p:nvPr>
        </p:nvSpPr>
        <p:spPr>
          <a:xfrm>
            <a:off x="0" y="0"/>
            <a:ext cx="0" cy="0"/>
          </a:xfrm>
          <a:prstGeom prst="rect">
            <a:avLst/>
          </a:prstGeom>
          <a:ln w="0">
            <a:noFill/>
          </a:ln>
        </p:spPr>
      </p:sp>
      <p:sp>
        <p:nvSpPr>
          <p:cNvPr id="120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Po publikacji nie wystarczy zapytać, czy aplikacja „działa”. Trzeba mierzyć, czy tworzy wartość. Dlatego ważne są metryki akwizycji, aktywacji, retencji, przychodów i poleceń. Dla mnie najważniejsza jest retencja, bo pokazuje, czy użytkownik rzeczywiście wraca do produktu.</a:t>
            </a:r>
          </a:p>
          <a:p>
            <a:endParaRPr lang="pl-PL" sz="1800" dirty="0" smtClean="0"/>
          </a:p>
          <a:p>
            <a:r>
              <a:rPr lang="pl-PL" sz="1800" dirty="0" smtClean="0"/>
              <a:t>Liczba pobrań bywa bardzo myląca. Można mieć tysiące instalacji i jednocześnie produkt, którego nikt realnie nie używa. Dlatego w projektowaniu aplikacji mobilnych bardziej interesuje mnie zachowanie kohort użytkowników niż sama liczba instalacji. Dobra metryka powinna odpowiadać na pytanie: czy użytkownik osiąga dzięki aplikacji wartość, dla której ją zainstalował?</a:t>
            </a:r>
          </a:p>
          <a:p>
            <a:pPr indent="0">
              <a:buNone/>
            </a:pPr>
            <a:endParaRPr lang="pl-PL" sz="1800" b="0" u="none" strike="noStrike" dirty="0" smtClean="0">
              <a:solidFill>
                <a:srgbClr val="000000"/>
              </a:solidFill>
              <a:effectLst/>
              <a:uFillTx/>
              <a:latin typeface="Arial"/>
            </a:endParaRPr>
          </a:p>
          <a:p>
            <a:pPr indent="0">
              <a:buNone/>
            </a:pPr>
            <a:r>
              <a:rPr lang="pl-PL" sz="1800" dirty="0" smtClean="0"/>
              <a:t>Ciekawy jest rozwój Facebooka. W początkowej fazie firma bardzo uważnie analizowała, co sprawia, że nowy użytkownik zostaje w serwisie. Jedna z często przywoływanych obserwacji dotyczyła znaczenia szybkiego zbudowania sieci kontaktów — użytkownik, który szybko nawiązywał relacje, miał większą szansę wrócić. To dobra lekcja dla aplikacji mobilnych: sama instalacja niczego nie dowodzi. Kluczowe jest pierwsze doświadczenie wartości.</a:t>
            </a:r>
          </a:p>
          <a:p>
            <a:pPr indent="0">
              <a:buNone/>
            </a:pPr>
            <a:endParaRPr lang="pl-PL" sz="1800" b="0" u="none" strike="noStrike" dirty="0" smtClean="0">
              <a:solidFill>
                <a:srgbClr val="000000"/>
              </a:solidFill>
              <a:effectLst/>
              <a:uFillTx/>
              <a:latin typeface="Arial"/>
            </a:endParaRPr>
          </a:p>
          <a:p>
            <a:pPr indent="0">
              <a:buNone/>
            </a:pPr>
            <a:endParaRPr lang="pl-PL" sz="1800" b="0" u="none" strike="noStrike" dirty="0">
              <a:solidFill>
                <a:srgbClr val="000000"/>
              </a:solidFill>
              <a:effectLst/>
              <a:uFillTx/>
              <a:latin typeface="Arial"/>
            </a:endParaRPr>
          </a:p>
        </p:txBody>
      </p:sp>
      <p:sp>
        <p:nvSpPr>
          <p:cNvPr id="1210" name="PlaceHolder 3"/>
          <p:cNvSpPr>
            <a:spLocks noGrp="1"/>
          </p:cNvSpPr>
          <p:nvPr>
            <p:ph type="sldNum" idx="30"/>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A3094B5C-4A51-4554-98CA-827E1065915F}" type="slidenum">
              <a:rPr lang="pl-PL" sz="1800" b="0" u="none" strike="noStrike">
                <a:solidFill>
                  <a:schemeClr val="dk1"/>
                </a:solidFill>
                <a:effectLst/>
                <a:uFillTx/>
                <a:latin typeface="+mn-lt"/>
                <a:ea typeface="+mn-ea"/>
              </a:rPr>
              <a:t>26</a:t>
            </a:fld>
            <a:endParaRPr lang="pl-PL" sz="18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1" name="PlaceHolder 1"/>
          <p:cNvSpPr>
            <a:spLocks noGrp="1" noRot="1" noChangeAspect="1"/>
          </p:cNvSpPr>
          <p:nvPr>
            <p:ph type="sldImg"/>
          </p:nvPr>
        </p:nvSpPr>
        <p:spPr>
          <a:xfrm>
            <a:off x="0" y="0"/>
            <a:ext cx="0" cy="0"/>
          </a:xfrm>
          <a:prstGeom prst="rect">
            <a:avLst/>
          </a:prstGeom>
          <a:ln w="0">
            <a:noFill/>
          </a:ln>
        </p:spPr>
      </p:sp>
      <p:sp>
        <p:nvSpPr>
          <p:cNvPr id="121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Każdy zespół powinien zakładać, że awarie się zdarzą. Dojrzałość nie polega na udawaniu, że system nigdy się nie zepsuje, ale na tym, że wiemy, jak reagować. W aplikacjach mobilnych kryzys może oznaczać </a:t>
            </a:r>
            <a:r>
              <a:rPr lang="pl-PL" sz="1800" dirty="0" err="1" smtClean="0"/>
              <a:t>crash</a:t>
            </a:r>
            <a:r>
              <a:rPr lang="pl-PL" sz="1800" dirty="0" smtClean="0"/>
              <a:t> po aktualizacji, błąd logowania, problem z płatnościami albo utratę danych.</a:t>
            </a:r>
          </a:p>
          <a:p>
            <a:endParaRPr lang="pl-PL" sz="1800" dirty="0" smtClean="0"/>
          </a:p>
          <a:p>
            <a:r>
              <a:rPr lang="pl-PL" sz="1800" dirty="0" smtClean="0"/>
              <a:t>Dla mnie kluczowe jest </a:t>
            </a:r>
            <a:r>
              <a:rPr lang="pl-PL" sz="1800" dirty="0" err="1" smtClean="0"/>
              <a:t>blameless</a:t>
            </a:r>
            <a:r>
              <a:rPr lang="pl-PL" sz="1800" dirty="0" smtClean="0"/>
              <a:t> post-</a:t>
            </a:r>
            <a:r>
              <a:rPr lang="pl-PL" sz="1800" dirty="0" err="1" smtClean="0"/>
              <a:t>mortem</a:t>
            </a:r>
            <a:r>
              <a:rPr lang="pl-PL" sz="1800" dirty="0" smtClean="0"/>
              <a:t>, czyli analiza bez szukania kozła ofiarnego. Ciekawostką jest to, że zespoły, które karzą za zgłaszanie błędów, zwykle dowiadują się o problemach później. Zespoły, które analizują przyczyny systemowo, szybciej poprawiają proces. W praktyce nie pytam więc tylko „kto popełnił błąd?”, ale „dlaczego nasz proces pozwolił, żeby ten błąd dotarł do użytkownika?”.</a:t>
            </a:r>
          </a:p>
          <a:p>
            <a:pPr indent="0">
              <a:buNone/>
            </a:pPr>
            <a:endParaRPr lang="pl-PL" sz="1800" b="0" u="none" strike="noStrike" dirty="0" smtClean="0">
              <a:solidFill>
                <a:srgbClr val="000000"/>
              </a:solidFill>
              <a:effectLst/>
              <a:uFillTx/>
              <a:latin typeface="Arial"/>
            </a:endParaRPr>
          </a:p>
          <a:p>
            <a:pPr indent="0">
              <a:buNone/>
            </a:pPr>
            <a:r>
              <a:rPr lang="pl-PL" sz="1800" dirty="0" smtClean="0"/>
              <a:t>Dobrym przykładem jest awaria Amazon Web Services z 2017 roku, kiedy problem w usłudze S3 wpłynął na działanie wielu serwisów internetowych. Co ciekawe, przyczyną była pozornie rutynowa operacja administracyjna, która miała większe skutki niż przewidywano. Takie przypadki pokazują, że incydenty rzadko wynikają z jednego błędu jednej osoby. Zwykle są efektem łańcucha decyzji, zależności i niedostatecznych zabezpieczeń procesowych.</a:t>
            </a:r>
          </a:p>
          <a:p>
            <a:pPr indent="0">
              <a:buNone/>
            </a:pPr>
            <a:endParaRPr lang="pl-PL" sz="1800" b="0" u="none" strike="noStrike" dirty="0" smtClean="0">
              <a:solidFill>
                <a:srgbClr val="000000"/>
              </a:solidFill>
              <a:effectLst/>
              <a:uFillTx/>
              <a:latin typeface="Arial"/>
            </a:endParaRPr>
          </a:p>
          <a:p>
            <a:pPr indent="0">
              <a:buNone/>
            </a:pPr>
            <a:endParaRPr lang="pl-PL" sz="1800" b="0" u="none" strike="noStrike" dirty="0">
              <a:solidFill>
                <a:srgbClr val="000000"/>
              </a:solidFill>
              <a:effectLst/>
              <a:uFillTx/>
              <a:latin typeface="Arial"/>
            </a:endParaRPr>
          </a:p>
        </p:txBody>
      </p:sp>
      <p:sp>
        <p:nvSpPr>
          <p:cNvPr id="1213" name="PlaceHolder 3"/>
          <p:cNvSpPr>
            <a:spLocks noGrp="1"/>
          </p:cNvSpPr>
          <p:nvPr>
            <p:ph type="sldNum" idx="31"/>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90679119-A833-415F-97E6-FBE9B9922BA0}" type="slidenum">
              <a:rPr lang="pl-PL" sz="1800" b="0" u="none" strike="noStrike">
                <a:solidFill>
                  <a:schemeClr val="dk1"/>
                </a:solidFill>
                <a:effectLst/>
                <a:uFillTx/>
                <a:latin typeface="+mn-lt"/>
                <a:ea typeface="+mn-ea"/>
              </a:rPr>
              <a:t>27</a:t>
            </a:fld>
            <a:endParaRPr lang="pl-PL" sz="18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4" name="PlaceHolder 1"/>
          <p:cNvSpPr>
            <a:spLocks noGrp="1" noRot="1" noChangeAspect="1"/>
          </p:cNvSpPr>
          <p:nvPr>
            <p:ph type="sldImg"/>
          </p:nvPr>
        </p:nvSpPr>
        <p:spPr>
          <a:xfrm>
            <a:off x="0" y="0"/>
            <a:ext cx="0" cy="0"/>
          </a:xfrm>
          <a:prstGeom prst="rect">
            <a:avLst/>
          </a:prstGeom>
          <a:ln w="0">
            <a:noFill/>
          </a:ln>
        </p:spPr>
      </p:sp>
      <p:sp>
        <p:nvSpPr>
          <p:cNvPr id="121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Po uruchomieniu aplikacji najważniejsza staje się pętla uczenia. Produkt powinien stale zbierać dane: z analityki, opinii użytkowników, recenzji, zgłoszeń błędów, wywiadów i testów A/B. Dopiero połączenie tych źródeł pozwala podejmować rozsądne decyzje.</a:t>
            </a:r>
          </a:p>
          <a:p>
            <a:endParaRPr lang="pl-PL" sz="1800" dirty="0" smtClean="0"/>
          </a:p>
          <a:p>
            <a:r>
              <a:rPr lang="pl-PL" sz="1800" dirty="0" smtClean="0"/>
              <a:t>Ciekawostką jest to, że najlepsze produkty cyfrowe rzadko powstają jako kompletna wizja wdrożona od razu. Częściej są wynikiem wielu drobnych korekt. Każda iteracja coś ujawnia: czasem potwierdza hipotezę, czasem pokazuje, że funkcja nie ma sensu, a czasem ujawnia zupełnie nowe zastosowanie produktu. Dlatego dobra </a:t>
            </a:r>
            <a:r>
              <a:rPr lang="pl-PL" sz="1800" dirty="0" err="1" smtClean="0"/>
              <a:t>roadmapa</a:t>
            </a:r>
            <a:r>
              <a:rPr lang="pl-PL" sz="1800" dirty="0" smtClean="0"/>
              <a:t> nie powinna być sztywną listą życzeń, ale narzędziem uczenia się rynku.</a:t>
            </a:r>
          </a:p>
          <a:p>
            <a:pPr indent="0">
              <a:buNone/>
            </a:pPr>
            <a:endParaRPr lang="pl-PL" sz="1800" b="0" u="none" strike="noStrike" dirty="0" smtClean="0">
              <a:solidFill>
                <a:srgbClr val="000000"/>
              </a:solidFill>
              <a:effectLst/>
              <a:uFillTx/>
              <a:latin typeface="Arial"/>
            </a:endParaRPr>
          </a:p>
          <a:p>
            <a:pPr indent="0">
              <a:buNone/>
            </a:pPr>
            <a:r>
              <a:rPr lang="pl-PL" sz="1800" dirty="0" smtClean="0"/>
              <a:t>Ciekawą historią jest rozwój Instagrama. Aplikacja wywodziła się z projektu </a:t>
            </a:r>
            <a:r>
              <a:rPr lang="pl-PL" sz="1800" dirty="0" err="1" smtClean="0"/>
              <a:t>Burbn</a:t>
            </a:r>
            <a:r>
              <a:rPr lang="pl-PL" sz="1800" dirty="0" smtClean="0"/>
              <a:t>, który miał znacznie szerszy zakres funkcji: meldowanie się w lokalizacjach, plany, elementy społecznościowe i zdjęcia. Twórcy zauważyli jednak, że użytkownicy najbardziej angażują się w zdjęcia, więc ograniczyli produkt i skupili się na jednej funkcji. To bardzo dobry przykład iteracji: sukces nie zawsze polega na dodawaniu funkcji, czasem polega na radykalnym uproszczeniu.</a:t>
            </a:r>
            <a:endParaRPr lang="pl-PL" sz="1800" b="0" u="none" strike="noStrike" dirty="0">
              <a:solidFill>
                <a:srgbClr val="000000"/>
              </a:solidFill>
              <a:effectLst/>
              <a:uFillTx/>
              <a:latin typeface="Arial"/>
            </a:endParaRPr>
          </a:p>
        </p:txBody>
      </p:sp>
      <p:sp>
        <p:nvSpPr>
          <p:cNvPr id="1216" name="PlaceHolder 3"/>
          <p:cNvSpPr>
            <a:spLocks noGrp="1"/>
          </p:cNvSpPr>
          <p:nvPr>
            <p:ph type="sldNum" idx="32"/>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21E7B836-6B21-49D4-800E-CE26C243ACE8}" type="slidenum">
              <a:rPr lang="pl-PL" sz="1800" b="0" u="none" strike="noStrike">
                <a:solidFill>
                  <a:schemeClr val="dk1"/>
                </a:solidFill>
                <a:effectLst/>
                <a:uFillTx/>
                <a:latin typeface="+mn-lt"/>
                <a:ea typeface="+mn-ea"/>
              </a:rPr>
              <a:t>28</a:t>
            </a:fld>
            <a:endParaRPr lang="pl-PL" sz="18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 name="PlaceHolder 1"/>
          <p:cNvSpPr>
            <a:spLocks noGrp="1" noRot="1" noChangeAspect="1"/>
          </p:cNvSpPr>
          <p:nvPr>
            <p:ph type="sldImg"/>
          </p:nvPr>
        </p:nvSpPr>
        <p:spPr>
          <a:xfrm>
            <a:off x="0" y="0"/>
            <a:ext cx="0" cy="0"/>
          </a:xfrm>
          <a:prstGeom prst="rect">
            <a:avLst/>
          </a:prstGeom>
          <a:ln w="0">
            <a:noFill/>
          </a:ln>
        </p:spPr>
      </p:sp>
      <p:sp>
        <p:nvSpPr>
          <p:cNvPr id="118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Kiedy przechodzę do tematu lidera zespołu, traktuję go jako element łączący technologię, ludzi i organizację pracy. Lider nie powinien być tylko osobą od rozdzielania zadań. Powinien dbać o to, żeby zespół rozumiał cel, miał jasne priorytety, pracował w rozsądnym rytmie i nie gromadził problemów, które później eksplodują pod koniec projektu.</a:t>
            </a:r>
          </a:p>
          <a:p>
            <a:endParaRPr lang="pl-PL" sz="1800" dirty="0" smtClean="0"/>
          </a:p>
          <a:p>
            <a:r>
              <a:rPr lang="pl-PL" sz="1800" dirty="0" smtClean="0"/>
              <a:t>W pracy lidera bardzo ważna jest zdolność do wczesnego wykrywania ryzyka. Jeśli programiści nie rozumieją wymagań, jeśli </a:t>
            </a:r>
            <a:r>
              <a:rPr lang="pl-PL" sz="1800" dirty="0" err="1" smtClean="0"/>
              <a:t>backend</a:t>
            </a:r>
            <a:r>
              <a:rPr lang="pl-PL" sz="1800" dirty="0" smtClean="0"/>
              <a:t> nie jest gotowy, jeśli projekt UX zmienia się co kilka dni albo jeśli zespół regularnie pracuje po godzinach, to nie są drobne niedogodności. To sygnały systemowe. Dobry lider powinien je zauważyć i nazwać, zanim staną się kryzysem.</a:t>
            </a:r>
          </a:p>
          <a:p>
            <a:endParaRPr lang="pl-PL" sz="1800" dirty="0" smtClean="0"/>
          </a:p>
          <a:p>
            <a:r>
              <a:rPr lang="pl-PL" sz="1800" dirty="0" smtClean="0"/>
              <a:t>Współczesne myślenie o liderze jako osobie wspierającej zespół, a nie tylko kontrolującej go, ma wiele wspólnego z koncepcją </a:t>
            </a:r>
            <a:r>
              <a:rPr lang="pl-PL" sz="1800" dirty="0" err="1" smtClean="0"/>
              <a:t>servant</a:t>
            </a:r>
            <a:r>
              <a:rPr lang="pl-PL" sz="1800" dirty="0" smtClean="0"/>
              <a:t> </a:t>
            </a:r>
            <a:r>
              <a:rPr lang="pl-PL" sz="1800" dirty="0" err="1" smtClean="0"/>
              <a:t>leadership</a:t>
            </a:r>
            <a:r>
              <a:rPr lang="pl-PL" sz="1800" dirty="0" smtClean="0"/>
              <a:t> opisaną przez Roberta K. </a:t>
            </a:r>
            <a:r>
              <a:rPr lang="pl-PL" sz="1800" dirty="0" err="1" smtClean="0"/>
              <a:t>Greenleafa</a:t>
            </a:r>
            <a:r>
              <a:rPr lang="pl-PL" sz="1800" dirty="0" smtClean="0"/>
              <a:t> w latach 70. XX wieku. W IT ta idea jest szczególnie użyteczna, bo zespoły programistyczne potrzebują autonomii, zaufania i szybkiego usuwania przeszkód, a nie ciągłego mikrozarządzania.</a:t>
            </a:r>
          </a:p>
          <a:p>
            <a:endParaRPr lang="pl-PL" sz="1800" dirty="0" smtClean="0"/>
          </a:p>
          <a:p>
            <a:endParaRPr lang="pl-PL" sz="1800" dirty="0" smtClean="0"/>
          </a:p>
          <a:p>
            <a:r>
              <a:rPr lang="pl-PL" sz="1800" dirty="0" smtClean="0"/>
              <a:t>W projektach mobilnych coraz częściej widzę, że lider nie jest osobą, która „wydaje polecenia”, ale kimś, kto zmniejsza chaos. Dobra aplikacja mobilna powstaje na styku technologii, produktu, psychologii użytkownika i organizacji pracy. Lider musi więc pilnować nie tylko kodu, ale też kierunku, </a:t>
            </a:r>
            <a:r>
              <a:rPr lang="pl-PL" sz="1800" dirty="0" err="1" smtClean="0"/>
              <a:t>ryzyk</a:t>
            </a:r>
            <a:r>
              <a:rPr lang="pl-PL" sz="1800" dirty="0" smtClean="0"/>
              <a:t>, komunikacji i jakości decyzji.</a:t>
            </a:r>
          </a:p>
          <a:p>
            <a:endParaRPr lang="pl-PL" sz="1800" dirty="0" smtClean="0"/>
          </a:p>
          <a:p>
            <a:r>
              <a:rPr lang="pl-PL" sz="1800" dirty="0" smtClean="0"/>
              <a:t>Dla mnie szczególnie ważne jest to, że lider techniczny powinien umieć tłumaczyć złożoność. Programiści często widzą szczegóły implementacyjne, biznes widzi terminy i koszty, a użytkownik widzi tylko to, czy aplikacja działa. Lider musi połączyć te trzy perspektywy. Ciekawostką jest to, że w wielu zespołach największe opóźnienia nie wynikają z samego pisania kodu, lecz z niejasnych decyzji, nieustalonych odpowiedzialności i zbyt późnego reagowania na ryzyko.</a:t>
            </a:r>
          </a:p>
          <a:p>
            <a:pPr indent="0">
              <a:buNone/>
            </a:pPr>
            <a:endParaRPr lang="pl-PL" sz="1800" b="0" u="none" strike="noStrike" dirty="0" smtClean="0">
              <a:solidFill>
                <a:srgbClr val="000000"/>
              </a:solidFill>
              <a:effectLst/>
              <a:uFillTx/>
              <a:latin typeface="+mn-lt"/>
            </a:endParaRPr>
          </a:p>
          <a:p>
            <a:r>
              <a:rPr lang="pl-PL" sz="1800" dirty="0" smtClean="0"/>
              <a:t>W projektach mobilnych coraz częściej widzę, że lider nie jest osobą, która „wydaje polecenia”, ale kimś, kto zmniejsza chaos. Dobra aplikacja mobilna powstaje na styku technologii, produktu, psychologii użytkownika i organizacji pracy. Lider musi więc pilnować nie tylko kodu, ale też kierunku, </a:t>
            </a:r>
            <a:r>
              <a:rPr lang="pl-PL" sz="1800" dirty="0" err="1" smtClean="0"/>
              <a:t>ryzyk</a:t>
            </a:r>
            <a:r>
              <a:rPr lang="pl-PL" sz="1800" dirty="0" smtClean="0"/>
              <a:t>, komunikacji i jakości decyzji.</a:t>
            </a:r>
          </a:p>
          <a:p>
            <a:endParaRPr lang="pl-PL" sz="1800" dirty="0" smtClean="0"/>
          </a:p>
          <a:p>
            <a:r>
              <a:rPr lang="pl-PL" sz="1800" dirty="0" smtClean="0"/>
              <a:t>Ciekawa anegdota pochodzi z początków prac nad </a:t>
            </a:r>
            <a:r>
              <a:rPr lang="pl-PL" sz="1800" dirty="0" err="1" smtClean="0"/>
              <a:t>iPhonem</a:t>
            </a:r>
            <a:r>
              <a:rPr lang="pl-PL" sz="1800" dirty="0" smtClean="0"/>
              <a:t>. Steve </a:t>
            </a:r>
            <a:r>
              <a:rPr lang="pl-PL" sz="1800" dirty="0" err="1" smtClean="0"/>
              <a:t>Jobs</a:t>
            </a:r>
            <a:r>
              <a:rPr lang="pl-PL" sz="1800" dirty="0" smtClean="0"/>
              <a:t> miał obsesyjnie naciskać na prostotę interakcji, ale to zespoły inżynierskie musiały przełożyć tę wizję na realne decyzje techniczne. Liderzy techniczni znajdowali się więc między bardzo silną wizją produktu a ograniczeniami sprzętu, baterii, ekranu i wydajności. To dobry przykład, że lider w projekcie mobilnym musi tłumaczyć wizję na wykonalną architekturę.</a:t>
            </a:r>
          </a:p>
          <a:p>
            <a:pPr indent="0">
              <a:buNone/>
            </a:pPr>
            <a:endParaRPr lang="pl-PL" sz="1800" b="0" u="none" strike="noStrike" dirty="0" smtClean="0">
              <a:solidFill>
                <a:srgbClr val="000000"/>
              </a:solidFill>
              <a:effectLst/>
              <a:uFillTx/>
              <a:latin typeface="+mn-lt"/>
            </a:endParaRPr>
          </a:p>
          <a:p>
            <a:pPr indent="0">
              <a:buNone/>
            </a:pPr>
            <a:r>
              <a:rPr lang="pl-PL" sz="1800" b="0" u="none" strike="noStrike" dirty="0" smtClean="0">
                <a:solidFill>
                  <a:srgbClr val="000000"/>
                </a:solidFill>
                <a:effectLst/>
                <a:uFillTx/>
                <a:latin typeface="+mn-lt"/>
              </a:rPr>
              <a:t>---- </a:t>
            </a:r>
          </a:p>
          <a:p>
            <a:pPr indent="0">
              <a:buNone/>
            </a:pPr>
            <a:endParaRPr lang="pl-PL" sz="1800" b="0" u="none" strike="noStrike" dirty="0">
              <a:solidFill>
                <a:srgbClr val="000000"/>
              </a:solidFill>
              <a:effectLst/>
              <a:uFillTx/>
              <a:latin typeface="Arial"/>
            </a:endParaRPr>
          </a:p>
        </p:txBody>
      </p:sp>
      <p:sp>
        <p:nvSpPr>
          <p:cNvPr id="1186" name="PlaceHolder 3"/>
          <p:cNvSpPr>
            <a:spLocks noGrp="1"/>
          </p:cNvSpPr>
          <p:nvPr>
            <p:ph type="sldNum" idx="22"/>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E0C98F01-D57B-475A-AA0A-B270B5FC4650}" type="slidenum">
              <a:rPr lang="pl-PL" sz="1800" b="0" u="none" strike="noStrike">
                <a:solidFill>
                  <a:schemeClr val="dk1"/>
                </a:solidFill>
                <a:effectLst/>
                <a:uFillTx/>
                <a:latin typeface="+mn-lt"/>
                <a:ea typeface="+mn-ea"/>
              </a:rPr>
              <a:t>29</a:t>
            </a:fld>
            <a:endParaRPr lang="pl-PL" sz="18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0" name="PlaceHolder 1"/>
          <p:cNvSpPr>
            <a:spLocks noGrp="1" noRot="1" noChangeAspect="1"/>
          </p:cNvSpPr>
          <p:nvPr>
            <p:ph type="sldImg"/>
          </p:nvPr>
        </p:nvSpPr>
        <p:spPr>
          <a:xfrm>
            <a:off x="0" y="0"/>
            <a:ext cx="0" cy="0"/>
          </a:xfrm>
          <a:prstGeom prst="rect">
            <a:avLst/>
          </a:prstGeom>
          <a:ln w="0">
            <a:noFill/>
          </a:ln>
        </p:spPr>
      </p:sp>
      <p:sp>
        <p:nvSpPr>
          <p:cNvPr id="11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W zarządzaniu zespołem technologicznym bardzo ważna jest regularna, ale nieprzesadna komunikacja. Z mojego punktu widzenia dobre spotkanie nie powinno być rytuałem dla samego rytuału. Powinno usuwać blokady, porządkować priorytety albo pomagać ludziom rozwijać kompetencje.</a:t>
            </a:r>
          </a:p>
          <a:p>
            <a:endParaRPr lang="pl-PL" sz="1800" dirty="0" smtClean="0"/>
          </a:p>
          <a:p>
            <a:r>
              <a:rPr lang="pl-PL" sz="1800" dirty="0" smtClean="0"/>
              <a:t>Szczególne znaczenie mają spotkania jeden na jeden. To nie jest tylko rozmowa o zadaniach. To moment, w którym można wcześnie zauważyć frustrację, przeciążenie, brak jasności albo konflikt. Ciekawostką jest to, że wiele poważnych problemów projektowych daje się wykryć wcześniej właśnie przez krótkie, regularne rozmowy indywidualne. Zespół rzadko psuje się nagle. Najczęściej problemy narastają stopniowo, a lider powinien umieć je zauważyć, zanim staną się kryzysem.</a:t>
            </a:r>
          </a:p>
          <a:p>
            <a:pPr indent="0">
              <a:buNone/>
            </a:pPr>
            <a:endParaRPr lang="pl-PL" sz="1800" b="0" u="none" strike="noStrike" dirty="0" smtClean="0">
              <a:solidFill>
                <a:srgbClr val="000000"/>
              </a:solidFill>
              <a:effectLst/>
              <a:uFillTx/>
              <a:latin typeface="Arial"/>
            </a:endParaRPr>
          </a:p>
          <a:p>
            <a:r>
              <a:rPr lang="pl-PL" sz="1800" dirty="0" smtClean="0"/>
              <a:t>Historycznie ciekawy jest przykład firmy Toyota, z której wywodzi się wiele praktyk szczupłego zarządzania. W systemie produkcyjnym Toyoty pracownik mógł zatrzymać linię produkcyjną, jeśli zauważył poważny problem. W świecie software’u podobnie działa dobra kultura zespołu: każdy powinien mieć prawo zgłosić ryzyko, błąd lub niejasność, zanim problem przejdzie dalej. To pokazuje, że komunikacja nie służy kontroli, ale wczesnemu wykrywaniu zakłóceń.</a:t>
            </a:r>
          </a:p>
          <a:p>
            <a:pPr indent="0">
              <a:buNone/>
            </a:pPr>
            <a:endParaRPr lang="pl-PL" sz="1800" b="0" u="none" strike="noStrike" dirty="0" smtClean="0">
              <a:solidFill>
                <a:srgbClr val="000000"/>
              </a:solidFill>
              <a:effectLst/>
              <a:uFillTx/>
              <a:latin typeface="Arial"/>
            </a:endParaRPr>
          </a:p>
          <a:p>
            <a:r>
              <a:rPr lang="pl-PL" sz="1800" b="1" dirty="0" smtClean="0"/>
              <a:t>Dobrostan psychiczny młodego programisty</a:t>
            </a:r>
          </a:p>
          <a:p>
            <a:r>
              <a:rPr lang="pl-PL" sz="1800" b="0" dirty="0" smtClean="0"/>
              <a:t>Na początku pracy </a:t>
            </a:r>
            <a:r>
              <a:rPr lang="pl-PL" sz="1800" dirty="0" smtClean="0"/>
              <a:t>w IT, łatwo można odnieść wrażenie, że muszę wszystko wiedzieć, szybko dowozić zadania, nie zadawać zbyt wielu pytań i stale udowadniać swoją wartość. To bardzo ryzykowne nastawienie. Programowanie nie polega na tym, że od razu znam odpowiedzi. Programowanie polega na systematycznym rozwiązywaniu problemów, uczeniu się, testowaniu hipotez i proszeniu o pomoc wtedy, gdy jest to racjonalne.</a:t>
            </a:r>
          </a:p>
          <a:p>
            <a:endParaRPr lang="pl-PL" sz="1800" dirty="0" smtClean="0"/>
          </a:p>
          <a:p>
            <a:r>
              <a:rPr lang="pl-PL" sz="1800" dirty="0" smtClean="0"/>
              <a:t>Na początku kariery najważniejsze jest zrozumienie, że niewiedza nie jest porażką. Jest naturalnym stanem pracy inżynierskiej. Senior też wielu rzeczy nie wie, ale zwykle lepiej wie, jak szukać, jak zawężać problem, jak czytać dokumentację i jak nie panikować. Dlatego nie powinienem budować swojej samooceny na tym, czy od razu rozumiem każde zadanie. Zdrowsze pytanie brzmi: czy potrafię robić postęp?</a:t>
            </a:r>
          </a:p>
          <a:p>
            <a:endParaRPr lang="pl-PL" sz="1800" dirty="0" smtClean="0"/>
          </a:p>
          <a:p>
            <a:r>
              <a:rPr lang="pl-PL" sz="1800" dirty="0" smtClean="0"/>
              <a:t>Pierwsza ważna reguła: nie mylić intensywności z efektywnością. Długie siedzenie przy komputerze nie oznacza dobrej pracy. Po kilku godzinach przeciążenia poznawczego spada uwaga, rośnie impulsywność, pogarsza się jakość decyzji i zwiększa liczba błędów. W IT bardzo łatwo wejść w tryb „jeszcze tylko naprawię ten jeden problem”, który trwa do późnej nocy. Czasem jest to konieczne, ale jeśli staje się normą, prowadzi do wypalenia.</a:t>
            </a:r>
          </a:p>
          <a:p>
            <a:endParaRPr lang="pl-PL" sz="1800" dirty="0" smtClean="0"/>
          </a:p>
          <a:p>
            <a:r>
              <a:rPr lang="pl-PL" sz="1800" dirty="0" smtClean="0"/>
              <a:t>Druga reguła: zadawać pytania, ale po wykonaniu własnej pracy diagnostycznej. Dobre pytanie nie brzmi: „nie działa, co robić?”. Dobre pytanie brzmi: „sprawdziłem logi, błąd pojawia się przy tym wywołaniu, dokumentacja sugeruje takie rozwiązanie, ale nie rozumiem tej zależności”. Takie pytanie pokazuje samodzielność i szacunek do czasu zespołu. Jednocześnie chroni mnie przed samotnym, wielogodzinnym utknięciem.</a:t>
            </a:r>
          </a:p>
          <a:p>
            <a:endParaRPr lang="pl-PL" sz="1800" dirty="0" smtClean="0"/>
          </a:p>
          <a:p>
            <a:r>
              <a:rPr lang="pl-PL" sz="1800" dirty="0" smtClean="0"/>
              <a:t>Trzecia reguła: oddzielać ocenę kodu od oceny siebie. </a:t>
            </a:r>
            <a:r>
              <a:rPr lang="pl-PL" sz="1800" dirty="0" err="1" smtClean="0"/>
              <a:t>Code</a:t>
            </a:r>
            <a:r>
              <a:rPr lang="pl-PL" sz="1800" dirty="0" smtClean="0"/>
              <a:t> </a:t>
            </a:r>
            <a:r>
              <a:rPr lang="pl-PL" sz="1800" dirty="0" err="1" smtClean="0"/>
              <a:t>review</a:t>
            </a:r>
            <a:r>
              <a:rPr lang="pl-PL" sz="1800" dirty="0" smtClean="0"/>
              <a:t> nie jest atakiem personalnym. To mechanizm ochrony jakości. Jeśli ktoś komentuje mój kod, nie oznacza to, że jestem słabym programistą. Oznacza to, że kod jest wspólnym produktem zespołu i musi być zrozumiały, testowalny oraz </a:t>
            </a:r>
            <a:r>
              <a:rPr lang="pl-PL" sz="1800" dirty="0" err="1" smtClean="0"/>
              <a:t>utrzymywalny</a:t>
            </a:r>
            <a:r>
              <a:rPr lang="pl-PL" sz="1800" dirty="0" smtClean="0"/>
              <a:t>. Młody programista powinien nauczyć się przyjmować feedback rzeczowo, bez obronnej reakcji emocjonalnej.</a:t>
            </a:r>
          </a:p>
          <a:p>
            <a:endParaRPr lang="pl-PL" sz="1800" dirty="0" smtClean="0"/>
          </a:p>
          <a:p>
            <a:r>
              <a:rPr lang="pl-PL" sz="1800" dirty="0" smtClean="0"/>
              <a:t>Czwarta reguła: pilnować granic. W IT istnieje kultura ciągłego rozwoju, ale można ją źle zrozumieć. Nie muszę po pracy codziennie uczyć się kolejnego </a:t>
            </a:r>
            <a:r>
              <a:rPr lang="pl-PL" sz="1800" dirty="0" err="1" smtClean="0"/>
              <a:t>frameworka</a:t>
            </a:r>
            <a:r>
              <a:rPr lang="pl-PL" sz="1800" dirty="0" smtClean="0"/>
              <a:t>, robić projektów pobocznych, czytać dokumentacji i oglądać kursów. Rozwój zawodowy jest ważny, ale mózg potrzebuje regeneracji. Brak odpoczynku nie przyspiesza kariery w dłuższym okresie. Raczej zwiększa ryzyko przemęczenia, cynizmu i utraty motywacji.</a:t>
            </a:r>
          </a:p>
          <a:p>
            <a:endParaRPr lang="pl-PL" sz="1800" dirty="0" smtClean="0"/>
          </a:p>
          <a:p>
            <a:r>
              <a:rPr lang="pl-PL" sz="1800" dirty="0" smtClean="0"/>
              <a:t>Piąta reguła: nie porównywać swojego zaplecza z cudzą ekspozycją. W </a:t>
            </a:r>
            <a:r>
              <a:rPr lang="pl-PL" sz="1800" dirty="0" err="1" smtClean="0"/>
              <a:t>internecie</a:t>
            </a:r>
            <a:r>
              <a:rPr lang="pl-PL" sz="1800" dirty="0" smtClean="0"/>
              <a:t> widzę ludzi, którzy publikują projekty, zmieniają pracę, znają wiele technologii i sprawiają wrażenie, jakby cały czas byli produktywni. Nie widzę jednak ich porażek, chaosu, pomocy, którą otrzymali, ani kontekstu. Porównywanie się z wyidealizowanym obrazem innych jest prostą drogą do syndromu oszusta.</a:t>
            </a:r>
          </a:p>
          <a:p>
            <a:endParaRPr lang="pl-PL" sz="1800" dirty="0" smtClean="0"/>
          </a:p>
          <a:p>
            <a:r>
              <a:rPr lang="pl-PL" sz="1800" dirty="0" smtClean="0"/>
              <a:t>Na początku kariery trzeba uważać szczególnie na trzy pułapki. Pierwsza to perfekcjonizm: przekonanie, że kod musi być idealny, zanim komukolwiek go pokażę. Druga to nadmierne podporządkowanie: zgadzanie się na wszystko, żeby „dobrze wypaść”. Trzecia to izolacja: zbyt długie samodzielne męczenie się z problemem, którego rozwiązanie ktoś z zespołu mógłby wyjaśnić w pięć minut.</a:t>
            </a:r>
          </a:p>
          <a:p>
            <a:endParaRPr lang="pl-PL" sz="1800" dirty="0" smtClean="0"/>
          </a:p>
          <a:p>
            <a:r>
              <a:rPr lang="pl-PL" sz="1800" dirty="0" smtClean="0"/>
              <a:t>Zdrowe nastawienie w IT polega na traktowaniu siebie jak osoby uczącej się zawodu, a nie jak produktu, który musi natychmiast działać bezbłędnie. Mam prawo potrzebować czasu. Mam prawo nie rozumieć architektury dużego systemu po kilku dniach. Mam prawo popełniać błędy, jeśli wyciągam z nich wnioski. Profesjonalizm nie polega na braku błędów, tylko na odpowiedzialnej reakcji na błędy.</a:t>
            </a:r>
          </a:p>
          <a:p>
            <a:endParaRPr lang="pl-PL" sz="1800" dirty="0" smtClean="0"/>
          </a:p>
          <a:p>
            <a:r>
              <a:rPr lang="pl-PL" sz="1800" dirty="0" smtClean="0"/>
              <a:t>Warto też dbać o higienę pracy poznawczej. Dobrą praktyką jest robienie krótkich przerw, zapisywanie problemów, prowadzenie notatek technicznych, dzielenie dużych zadań na mniejsze kroki i kończenie dnia krótkim podsumowaniem: co zrobiłem, co blokuje dalszą pracę, co sprawdzę jutro. Taki prosty rytuał zmniejsza chaos i pozwala nie przenosić całego napięcia zawodowego do życia prywatnego.</a:t>
            </a:r>
          </a:p>
          <a:p>
            <a:endParaRPr lang="pl-PL" sz="1800" dirty="0" smtClean="0"/>
          </a:p>
          <a:p>
            <a:r>
              <a:rPr lang="pl-PL" sz="1800" dirty="0" smtClean="0"/>
              <a:t>Młody programista powinien również pamiętać, że IT to praca zespołowa. Nawet jeśli większość czasu spędzam przy kodzie, realnie uczestniczę w procesie komunikacji, planowania, podejmowania decyzji i rozwiązywania konfliktów. Kompetencje miękkie nie są dodatkiem do kompetencji technicznych. Są warunkiem tego, żeby wiedza techniczna mogła być skutecznie wykorzystana.</a:t>
            </a:r>
          </a:p>
          <a:p>
            <a:endParaRPr lang="pl-PL" sz="1800" dirty="0" smtClean="0"/>
          </a:p>
          <a:p>
            <a:r>
              <a:rPr lang="pl-PL" sz="1800" dirty="0" smtClean="0"/>
              <a:t>Najbardziej praktyczna zasada brzmi: rozwijaj się stabilnie, nie kompulsywnie. Lepiej codziennie robić mały, sensowny postęp niż przez kilka tygodni pracować ponad siły, a potem stracić energię na miesiące. Kariera w IT to maraton poznawczy, nie sprint rekrutacyjny. Dobrostan psychiczny nie jest przeciwieństwem ambicji. Jest warunkiem tego, żeby ambicja była długoterminowo możliwa do utrzymania.</a:t>
            </a:r>
          </a:p>
          <a:p>
            <a:pPr indent="0">
              <a:buNone/>
            </a:pPr>
            <a:endParaRPr lang="pl-PL" sz="1800" b="0" u="none" strike="noStrike" dirty="0">
              <a:solidFill>
                <a:srgbClr val="000000"/>
              </a:solidFill>
              <a:effectLst/>
              <a:uFillTx/>
              <a:latin typeface="Arial"/>
            </a:endParaRPr>
          </a:p>
        </p:txBody>
      </p:sp>
      <p:sp>
        <p:nvSpPr>
          <p:cNvPr id="1192" name="PlaceHolder 3"/>
          <p:cNvSpPr>
            <a:spLocks noGrp="1"/>
          </p:cNvSpPr>
          <p:nvPr>
            <p:ph type="sldNum" idx="24"/>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7AFF1C3A-C162-435C-ADB6-92D005878A8E}" type="slidenum">
              <a:rPr lang="pl-PL" sz="1800" b="0" u="none" strike="noStrike">
                <a:solidFill>
                  <a:schemeClr val="dk1"/>
                </a:solidFill>
                <a:effectLst/>
                <a:uFillTx/>
                <a:latin typeface="+mn-lt"/>
                <a:ea typeface="+mn-ea"/>
              </a:rPr>
              <a:t>30</a:t>
            </a:fld>
            <a:endParaRPr lang="pl-PL" sz="18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 name="PlaceHolder 1"/>
          <p:cNvSpPr>
            <a:spLocks noGrp="1" noRot="1" noChangeAspect="1"/>
          </p:cNvSpPr>
          <p:nvPr>
            <p:ph type="sldImg"/>
          </p:nvPr>
        </p:nvSpPr>
        <p:spPr>
          <a:xfrm>
            <a:off x="0" y="0"/>
            <a:ext cx="0" cy="0"/>
          </a:xfrm>
          <a:prstGeom prst="rect">
            <a:avLst/>
          </a:prstGeom>
          <a:ln w="0">
            <a:noFill/>
          </a:ln>
        </p:spPr>
      </p:sp>
      <p:sp>
        <p:nvSpPr>
          <p:cNvPr id="11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Kiedy zaczynam prowadzić zespół, muszę zrozumieć jedną rzecz: lider nie jest „najlepszym programistą z dodatkowymi uprawnieniami”. Lider jest osobą, która organizuje warunki do dobrej pracy innych ludzi. Jego zadaniem nie jest kontrolowanie każdego szczegółu, lecz redukowanie chaosu, usuwanie blokad, dbanie o jakość decyzji i tworzenie środowiska, w którym zespół może pracować przewidywalnie.</a:t>
            </a:r>
          </a:p>
          <a:p>
            <a:endParaRPr lang="pl-PL" sz="1800" dirty="0" smtClean="0"/>
          </a:p>
          <a:p>
            <a:r>
              <a:rPr lang="pl-PL" sz="1800" dirty="0" smtClean="0"/>
              <a:t>Młody lider często popełnia błąd polegający na tym, że próbuje wszystko rozwiązać sam. Bierze najtrudniejsze zadania, poprawia kod za innych, siedzi po godzinach i ratuje sprint. Na krótką metę może to wyglądać bohatersko. Na dłuższą metę niszczy zespół, bo ludzie nie uczą się odpowiedzialności, nie rozwijają kompetencji i zaczynają zakładać, że lider zawsze wszystko naprawi. Dobry lider nie zastępuje zespołu. Dobry lider wzmacnia zespół.</a:t>
            </a:r>
          </a:p>
          <a:p>
            <a:endParaRPr lang="pl-PL" sz="1800" dirty="0" smtClean="0"/>
          </a:p>
          <a:p>
            <a:r>
              <a:rPr lang="pl-PL" sz="1800" dirty="0" smtClean="0"/>
              <a:t>Pierwsza zasada zarządzania brzmi: jasność jest ważniejsza niż intensywność. Zespół nie potrzebuje ciągłej presji, tylko jasnych priorytetów. Każdy powinien wiedzieć, co robimy, dlaczego to robimy, jaki jest oczekiwany efekt i co oznacza zakończenie zadania. Brak jasności bardzo szybko prowadzi do frustracji. Programista może pracować wiele godzin, ale jeśli cel jest niejasny, wysiłek łatwo idzie w złym kierunku.</a:t>
            </a:r>
          </a:p>
          <a:p>
            <a:endParaRPr lang="pl-PL" sz="1800" dirty="0" smtClean="0"/>
          </a:p>
          <a:p>
            <a:r>
              <a:rPr lang="pl-PL" sz="1800" dirty="0" smtClean="0"/>
              <a:t>Druga zasada: nie zarządzać przez domysły. Jeżeli coś jest ważne, trzeba to nazwać. Jeśli termin jest krytyczny, trzeba to powiedzieć. Jeśli jakość jest niewystarczająca, trzeba dać konkretny feedback. Jeśli ktoś robi dobrą pracę, też trzeba to nazwać. Milczenie lidera rzadko jest neutralne. Zespół często interpretuje milczenie jako brak zainteresowania, dezaprobatę albo ukrytą frustrację.</a:t>
            </a:r>
          </a:p>
          <a:p>
            <a:endParaRPr lang="pl-PL" sz="1800" dirty="0" smtClean="0"/>
          </a:p>
          <a:p>
            <a:r>
              <a:rPr lang="pl-PL" sz="1800" dirty="0" smtClean="0"/>
              <a:t>Trzecia zasada: organizować pracę w małych, kontrolowalnych porcjach. Duże zadania zwiększają niepewność, utrudniają estymację i opóźniają feedback. Lepiej rozbić pracę na mniejsze kroki: analiza, projekt rozwiązania, implementacja, testy, </a:t>
            </a:r>
            <a:r>
              <a:rPr lang="pl-PL" sz="1800" dirty="0" err="1" smtClean="0"/>
              <a:t>code</a:t>
            </a:r>
            <a:r>
              <a:rPr lang="pl-PL" sz="1800" dirty="0" smtClean="0"/>
              <a:t> </a:t>
            </a:r>
            <a:r>
              <a:rPr lang="pl-PL" sz="1800" dirty="0" err="1" smtClean="0"/>
              <a:t>review</a:t>
            </a:r>
            <a:r>
              <a:rPr lang="pl-PL" sz="1800" dirty="0" smtClean="0"/>
              <a:t>, poprawki, dokumentacja. Wtedy łatwiej zauważyć problem wcześniej. To szczególnie ważne w aplikacjach mobilnych, gdzie błędy architektoniczne, problemy wydajnościowe albo niejasne wymagania szybko kumulują się w kosztowny dług techniczny. </a:t>
            </a:r>
          </a:p>
          <a:p>
            <a:endParaRPr lang="pl-PL" sz="1800" dirty="0" smtClean="0"/>
          </a:p>
          <a:p>
            <a:r>
              <a:rPr lang="pl-PL" sz="1800" dirty="0" smtClean="0"/>
              <a:t>Czwarta zasada: chronić zespół przed nadmiarem pracy w toku. Jeżeli każdy robi pięć rzeczy naraz, to formalnie wszyscy są zajęci, ale realnie niewiele jest kończone. Młody lider powinien pilnować limitów WIP, czyli liczby zadań równocześnie wykonywanych. Dobra organizacja pracy nie polega na tym, że każdy jest maksymalnie obciążony. Polega na tym, że zadania przepływają przez proces bez ciągłego blokowania się.</a:t>
            </a:r>
          </a:p>
          <a:p>
            <a:endParaRPr lang="pl-PL" sz="1800" dirty="0" smtClean="0"/>
          </a:p>
          <a:p>
            <a:r>
              <a:rPr lang="pl-PL" sz="1800" dirty="0" smtClean="0"/>
              <a:t>Piąta zasada: feedback powinien być szybki, konkretny i spokojny. Nie warto czekać kilka miesięcy, aby powiedzieć komuś, że coś nie działa. Jednocześnie feedback nie powinien być emocjonalnym rozładowaniem frustracji. Dobry feedback opisuje sytuację, zachowanie i konsekwencję. Na przykład: „W ostatnich dwóch </a:t>
            </a:r>
            <a:r>
              <a:rPr lang="pl-PL" sz="1800" dirty="0" err="1" smtClean="0"/>
              <a:t>pull</a:t>
            </a:r>
            <a:r>
              <a:rPr lang="pl-PL" sz="1800" dirty="0" smtClean="0"/>
              <a:t> </a:t>
            </a:r>
            <a:r>
              <a:rPr lang="pl-PL" sz="1800" dirty="0" err="1" smtClean="0"/>
              <a:t>requestach</a:t>
            </a:r>
            <a:r>
              <a:rPr lang="pl-PL" sz="1800" dirty="0" smtClean="0"/>
              <a:t> zabrakło testów dla logiki walidacji. To zwiększa ryzyko regresji. Przy następnych zadaniach ustalmy minimalny zakres testów przed rozpoczęciem implementacji”. Taki komunikat jest precyzyjny i nie atakuje osoby.</a:t>
            </a:r>
          </a:p>
          <a:p>
            <a:endParaRPr lang="pl-PL" sz="1800" dirty="0" smtClean="0"/>
          </a:p>
          <a:p>
            <a:r>
              <a:rPr lang="pl-PL" sz="1800" dirty="0" smtClean="0"/>
              <a:t>Szósta zasada: </a:t>
            </a:r>
            <a:r>
              <a:rPr lang="pl-PL" sz="1800" dirty="0" err="1" smtClean="0"/>
              <a:t>code</a:t>
            </a:r>
            <a:r>
              <a:rPr lang="pl-PL" sz="1800" dirty="0" smtClean="0"/>
              <a:t> </a:t>
            </a:r>
            <a:r>
              <a:rPr lang="pl-PL" sz="1800" dirty="0" err="1" smtClean="0"/>
              <a:t>review</a:t>
            </a:r>
            <a:r>
              <a:rPr lang="pl-PL" sz="1800" dirty="0" smtClean="0"/>
              <a:t> nie może być areną dominacji. Lider powinien pilnować, aby przegląd kodu służył jakości, a nie pokazywaniu wyższości. Komentarze powinny być rzeczowe, techniczne i możliwe do wykonania. Zamiast „to jest złe”, lepiej napisać: „ta funkcja ma dwie odpowiedzialności, rozdzielmy walidację od zapisu danych”. Dobra kultura </a:t>
            </a:r>
            <a:r>
              <a:rPr lang="pl-PL" sz="1800" dirty="0" err="1" smtClean="0"/>
              <a:t>code</a:t>
            </a:r>
            <a:r>
              <a:rPr lang="pl-PL" sz="1800" dirty="0" smtClean="0"/>
              <a:t> </a:t>
            </a:r>
            <a:r>
              <a:rPr lang="pl-PL" sz="1800" dirty="0" err="1" smtClean="0"/>
              <a:t>review</a:t>
            </a:r>
            <a:r>
              <a:rPr lang="pl-PL" sz="1800" dirty="0" smtClean="0"/>
              <a:t> uczy zespół myślenia inżynierskiego.</a:t>
            </a:r>
          </a:p>
          <a:p>
            <a:endParaRPr lang="pl-PL" sz="1800" dirty="0" smtClean="0"/>
          </a:p>
          <a:p>
            <a:r>
              <a:rPr lang="pl-PL" sz="1800" dirty="0" smtClean="0"/>
              <a:t>Siódma zasada: spotkania muszą mieć funkcję. </a:t>
            </a:r>
            <a:r>
              <a:rPr lang="pl-PL" sz="1800" dirty="0" err="1" smtClean="0"/>
              <a:t>Daily</a:t>
            </a:r>
            <a:r>
              <a:rPr lang="pl-PL" sz="1800" dirty="0" smtClean="0"/>
              <a:t> nie jest raportem dla lidera, tylko krótkim mechanizmem synchronizacji. Sprint </a:t>
            </a:r>
            <a:r>
              <a:rPr lang="pl-PL" sz="1800" dirty="0" err="1" smtClean="0"/>
              <a:t>review</a:t>
            </a:r>
            <a:r>
              <a:rPr lang="pl-PL" sz="1800" dirty="0" smtClean="0"/>
              <a:t> nie jest pokazem slajdów, tylko demonstracją działającego efektu. Retrospektywa nie jest narzekaniem, tylko narzędziem poprawy procesu. Spotkanie bez celu, decyzji albo działania końcowego jest kosztem poznawczym dla zespołu.</a:t>
            </a:r>
          </a:p>
          <a:p>
            <a:endParaRPr lang="pl-PL" sz="1800" dirty="0" smtClean="0"/>
          </a:p>
          <a:p>
            <a:r>
              <a:rPr lang="pl-PL" sz="1800" dirty="0" smtClean="0"/>
              <a:t>Młody lider powinien też nauczyć się odróżniać kontrolę od odpowiedzialności. Kontrola polega na pytaniu: „co robiłeś przez cały dzień?”. Odpowiedzialność polega na pytaniu: „co blokuje postęp i jak możemy to usunąć?”. Ludzie pracują lepiej, kiedy rozumieją cel i mają autonomię w sposobie dojścia do niego. Mikrozarządzanie może dawać liderowi chwilowe poczucie bezpieczeństwa, ale zwykle obniża motywację i dojrzałość zespołu.</a:t>
            </a:r>
          </a:p>
          <a:p>
            <a:endParaRPr lang="pl-PL" sz="1800" dirty="0" smtClean="0"/>
          </a:p>
          <a:p>
            <a:r>
              <a:rPr lang="pl-PL" sz="1800" dirty="0" smtClean="0"/>
              <a:t>Bardzo ważna jest również ochrona dobrostanu psychicznego zespołu. Lider powinien obserwować przeciążenie, spadek energii, konflikty, wycofanie, cynizm i chroniczne pośpiechy. Jeżeli zespół regularnie pracuje po godzinach, to nie jest dowód zaangażowania. To sygnał, że źle planujemy, mamy za duży zakres, za mało ludzi, zbyt wiele długu technicznego albo zbyt późno wykrywamy problemy.</a:t>
            </a:r>
          </a:p>
          <a:p>
            <a:endParaRPr lang="pl-PL" sz="1800" dirty="0" smtClean="0"/>
          </a:p>
          <a:p>
            <a:r>
              <a:rPr lang="pl-PL" sz="1800" dirty="0" smtClean="0"/>
              <a:t>W zarządzaniu ludźmi trzeba uważać na trzy szczególnie groźne pułapki. Pierwsza to syndrom bohatera: lider sam dowozi projekt kosztem własnego zdrowia. Druga to unikanie konfliktu: lider nie mówi trudnych rzeczy, przez co problemy narastają. Trzecia to fałszywa dostępność: lider jest na każdym spotkaniu, w każdym wątku i przy każdym problemie, przez co sam staje się wąskim gardłem.</a:t>
            </a:r>
          </a:p>
          <a:p>
            <a:endParaRPr lang="pl-PL" sz="1800" dirty="0" smtClean="0"/>
          </a:p>
          <a:p>
            <a:r>
              <a:rPr lang="pl-PL" sz="1800" dirty="0" smtClean="0"/>
              <a:t>Dobra organizacja pracy wymaga rytmu. Zespół powinien mieć stały cykl planowania, realizacji, przeglądu i poprawy. W praktyce oznacza to: jasny </a:t>
            </a:r>
            <a:r>
              <a:rPr lang="pl-PL" sz="1800" dirty="0" err="1" smtClean="0"/>
              <a:t>backlog</a:t>
            </a:r>
            <a:r>
              <a:rPr lang="pl-PL" sz="1800" dirty="0" smtClean="0"/>
              <a:t>, dobrze opisane zadania, kryteria akceptacji, regularne </a:t>
            </a:r>
            <a:r>
              <a:rPr lang="pl-PL" sz="1800" dirty="0" err="1" smtClean="0"/>
              <a:t>code</a:t>
            </a:r>
            <a:r>
              <a:rPr lang="pl-PL" sz="1800" dirty="0" smtClean="0"/>
              <a:t> </a:t>
            </a:r>
            <a:r>
              <a:rPr lang="pl-PL" sz="1800" dirty="0" err="1" smtClean="0"/>
              <a:t>review</a:t>
            </a:r>
            <a:r>
              <a:rPr lang="pl-PL" sz="1800" dirty="0" smtClean="0"/>
              <a:t>, automatyczne testy, definicję ukończenia i przegląd </a:t>
            </a:r>
            <a:r>
              <a:rPr lang="pl-PL" sz="1800" dirty="0" err="1" smtClean="0"/>
              <a:t>ryzyk</a:t>
            </a:r>
            <a:r>
              <a:rPr lang="pl-PL" sz="1800" dirty="0" smtClean="0"/>
              <a:t>. Bez tego zespół może być pracowity, ale niekoniecznie skuteczny.</a:t>
            </a:r>
          </a:p>
          <a:p>
            <a:endParaRPr lang="pl-PL" sz="1800" dirty="0" smtClean="0"/>
          </a:p>
          <a:p>
            <a:r>
              <a:rPr lang="pl-PL" sz="1800" dirty="0" smtClean="0"/>
              <a:t>Lider powinien też pilnować długu technicznego. Nie można go traktować jako prywatnego problemu programistów. Dług techniczny wpływa na tempo pracy, jakość produktu, frustrację zespołu i przewidywalność projektu. Jeżeli lider ignoruje dług techniczny, to po pewnym czasie każda nowa funkcja zaczyna kosztować więcej, niż powinna. Dlatego część czasu w każdym cyklu pracy powinna być przeznaczona na </a:t>
            </a:r>
            <a:r>
              <a:rPr lang="pl-PL" sz="1800" dirty="0" err="1" smtClean="0"/>
              <a:t>refaktoryzację</a:t>
            </a:r>
            <a:r>
              <a:rPr lang="pl-PL" sz="1800" dirty="0" smtClean="0"/>
              <a:t>, aktualizację zależności, poprawę testów i upraszczanie architektury. </a:t>
            </a:r>
          </a:p>
          <a:p>
            <a:endParaRPr lang="pl-PL" sz="1800" dirty="0" smtClean="0"/>
          </a:p>
          <a:p>
            <a:r>
              <a:rPr lang="pl-PL" sz="1800" dirty="0" smtClean="0"/>
              <a:t>Najważniejsze nastawienie młodego lidera można ująć prosto: nie mam być centrum zespołu, tylko projektantem warunków jego działania. Mam dbać o jasność, tempo, jakość, bezpieczeństwo psychologiczne i odpowiedzialność. Mam uczyć ludzi samodzielności, a nie uzależniać ich od siebie. Mam reagować wcześnie, zanim problemy staną się kryzysami.</a:t>
            </a:r>
          </a:p>
          <a:p>
            <a:endParaRPr lang="pl-PL" sz="1800" dirty="0" smtClean="0"/>
          </a:p>
          <a:p>
            <a:r>
              <a:rPr lang="pl-PL" sz="1800" dirty="0" smtClean="0"/>
              <a:t>Dobry lider zespołu IT nie musi znać odpowiedzi na każde pytanie. Powinien jednak umieć stworzyć proces, w którym odpowiedzi są znajdowane szybko, spokojnie i zespołowo. To jest dojrzałe zarządzanie: mniej improwizacji, mniej presji, mniej chaosu — więcej jasnych reguł, dobrego feedbacku i świadomej pracy.</a:t>
            </a:r>
          </a:p>
          <a:p>
            <a:endParaRPr lang="pl-PL" sz="1800" b="0" u="none" strike="noStrike" dirty="0">
              <a:solidFill>
                <a:srgbClr val="000000"/>
              </a:solidFill>
              <a:effectLst/>
              <a:uFillTx/>
              <a:latin typeface="Arial"/>
            </a:endParaRPr>
          </a:p>
        </p:txBody>
      </p:sp>
      <p:sp>
        <p:nvSpPr>
          <p:cNvPr id="1189"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7EB883F0-D2A2-4278-874B-B73CB4A4FA69}" type="slidenum">
              <a:rPr lang="pl-PL" sz="1800" b="0" u="none" strike="noStrike">
                <a:solidFill>
                  <a:schemeClr val="dk1"/>
                </a:solidFill>
                <a:effectLst/>
                <a:uFillTx/>
                <a:latin typeface="+mn-lt"/>
                <a:ea typeface="+mn-ea"/>
              </a:rPr>
              <a:t>31</a:t>
            </a:fld>
            <a:endParaRPr lang="pl-PL" sz="1800" b="0" u="none" strike="noStrike">
              <a:solidFill>
                <a:srgbClr val="000000"/>
              </a:solidFill>
              <a:effectLst/>
              <a:uFillTx/>
              <a:latin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 name="PlaceHolder 1"/>
          <p:cNvSpPr>
            <a:spLocks noGrp="1" noRot="1" noChangeAspect="1"/>
          </p:cNvSpPr>
          <p:nvPr>
            <p:ph type="sldImg"/>
          </p:nvPr>
        </p:nvSpPr>
        <p:spPr>
          <a:xfrm>
            <a:off x="0" y="0"/>
            <a:ext cx="0" cy="0"/>
          </a:xfrm>
          <a:prstGeom prst="rect">
            <a:avLst/>
          </a:prstGeom>
          <a:ln w="0">
            <a:noFill/>
          </a:ln>
        </p:spPr>
      </p:sp>
      <p:sp>
        <p:nvSpPr>
          <p:cNvPr id="11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Kiedy zaczynam prowadzić zespół, muszę zrozumieć jedną rzecz: lider nie jest „najlepszym programistą z dodatkowymi uprawnieniami”. Lider jest osobą, która organizuje warunki do dobrej pracy innych ludzi. Jego zadaniem nie jest kontrolowanie każdego szczegółu, lecz redukowanie chaosu, usuwanie blokad, dbanie o jakość decyzji i tworzenie środowiska, w którym zespół może pracować przewidywalnie.</a:t>
            </a:r>
          </a:p>
          <a:p>
            <a:endParaRPr lang="pl-PL" sz="1800" dirty="0" smtClean="0"/>
          </a:p>
          <a:p>
            <a:r>
              <a:rPr lang="pl-PL" sz="1800" dirty="0" smtClean="0"/>
              <a:t>Młody lider często popełnia błąd polegający na tym, że próbuje wszystko rozwiązać sam. Bierze najtrudniejsze zadania, poprawia kod za innych, siedzi po godzinach i ratuje sprint. Na krótką metę może to wyglądać bohatersko. Na dłuższą metę niszczy zespół, bo ludzie nie uczą się odpowiedzialności, nie rozwijają kompetencji i zaczynają zakładać, że lider zawsze wszystko naprawi. Dobry lider nie zastępuje zespołu. Dobry lider wzmacnia zespół.</a:t>
            </a:r>
          </a:p>
          <a:p>
            <a:endParaRPr lang="pl-PL" sz="1800" dirty="0" smtClean="0"/>
          </a:p>
          <a:p>
            <a:r>
              <a:rPr lang="pl-PL" sz="1800" dirty="0" smtClean="0"/>
              <a:t>Pierwsza zasada zarządzania brzmi: jasność jest ważniejsza niż intensywność. Zespół nie potrzebuje ciągłej presji, tylko jasnych priorytetów. Każdy powinien wiedzieć, co robimy, dlaczego to robimy, jaki jest oczekiwany efekt i co oznacza zakończenie zadania. Brak jasności bardzo szybko prowadzi do frustracji. Programista może pracować wiele godzin, ale jeśli cel jest niejasny, wysiłek łatwo idzie w złym kierunku.</a:t>
            </a:r>
          </a:p>
          <a:p>
            <a:endParaRPr lang="pl-PL" sz="1800" dirty="0" smtClean="0"/>
          </a:p>
          <a:p>
            <a:r>
              <a:rPr lang="pl-PL" sz="1800" dirty="0" smtClean="0"/>
              <a:t>Druga zasada: nie zarządzać przez domysły. Jeżeli coś jest ważne, trzeba to nazwać. Jeśli termin jest krytyczny, trzeba to powiedzieć. Jeśli jakość jest niewystarczająca, trzeba dać konkretny feedback. Jeśli ktoś robi dobrą pracę, też trzeba to nazwać. Milczenie lidera rzadko jest neutralne. Zespół często interpretuje milczenie jako brak zainteresowania, dezaprobatę albo ukrytą frustrację.</a:t>
            </a:r>
          </a:p>
          <a:p>
            <a:endParaRPr lang="pl-PL" sz="1800" dirty="0" smtClean="0"/>
          </a:p>
          <a:p>
            <a:r>
              <a:rPr lang="pl-PL" sz="1800" dirty="0" smtClean="0"/>
              <a:t>Trzecia zasada: organizować pracę w małych, kontrolowalnych porcjach. Duże zadania zwiększają niepewność, utrudniają estymację i opóźniają feedback. Lepiej rozbić pracę na mniejsze kroki: analiza, projekt rozwiązania, implementacja, testy, </a:t>
            </a:r>
            <a:r>
              <a:rPr lang="pl-PL" sz="1800" dirty="0" err="1" smtClean="0"/>
              <a:t>code</a:t>
            </a:r>
            <a:r>
              <a:rPr lang="pl-PL" sz="1800" dirty="0" smtClean="0"/>
              <a:t> </a:t>
            </a:r>
            <a:r>
              <a:rPr lang="pl-PL" sz="1800" dirty="0" err="1" smtClean="0"/>
              <a:t>review</a:t>
            </a:r>
            <a:r>
              <a:rPr lang="pl-PL" sz="1800" dirty="0" smtClean="0"/>
              <a:t>, poprawki, dokumentacja. Wtedy łatwiej zauważyć problem wcześniej. To szczególnie ważne w aplikacjach mobilnych, gdzie błędy architektoniczne, problemy wydajnościowe albo niejasne wymagania szybko kumulują się w kosztowny dług techniczny. </a:t>
            </a:r>
          </a:p>
          <a:p>
            <a:endParaRPr lang="pl-PL" sz="1800" dirty="0" smtClean="0"/>
          </a:p>
          <a:p>
            <a:r>
              <a:rPr lang="pl-PL" sz="1800" dirty="0" smtClean="0"/>
              <a:t>Czwarta zasada: chronić zespół przed nadmiarem pracy w toku. Jeżeli każdy robi pięć rzeczy naraz, to formalnie wszyscy są zajęci, ale realnie niewiele jest kończone. Młody lider powinien pilnować limitów WIP, czyli liczby zadań równocześnie wykonywanych. Dobra organizacja pracy nie polega na tym, że każdy jest maksymalnie obciążony. Polega na tym, że zadania przepływają przez proces bez ciągłego blokowania się.</a:t>
            </a:r>
          </a:p>
          <a:p>
            <a:endParaRPr lang="pl-PL" sz="1800" dirty="0" smtClean="0"/>
          </a:p>
          <a:p>
            <a:r>
              <a:rPr lang="pl-PL" sz="1800" dirty="0" smtClean="0"/>
              <a:t>Piąta zasada: feedback powinien być szybki, konkretny i spokojny. Nie warto czekać kilka miesięcy, aby powiedzieć komuś, że coś nie działa. Jednocześnie feedback nie powinien być emocjonalnym rozładowaniem frustracji. Dobry feedback opisuje sytuację, zachowanie i konsekwencję. Na przykład: „W ostatnich dwóch </a:t>
            </a:r>
            <a:r>
              <a:rPr lang="pl-PL" sz="1800" dirty="0" err="1" smtClean="0"/>
              <a:t>pull</a:t>
            </a:r>
            <a:r>
              <a:rPr lang="pl-PL" sz="1800" dirty="0" smtClean="0"/>
              <a:t> </a:t>
            </a:r>
            <a:r>
              <a:rPr lang="pl-PL" sz="1800" dirty="0" err="1" smtClean="0"/>
              <a:t>requestach</a:t>
            </a:r>
            <a:r>
              <a:rPr lang="pl-PL" sz="1800" dirty="0" smtClean="0"/>
              <a:t> zabrakło testów dla logiki walidacji. To zwiększa ryzyko regresji. Przy następnych zadaniach ustalmy minimalny zakres testów przed rozpoczęciem implementacji”. Taki komunikat jest precyzyjny i nie atakuje osoby.</a:t>
            </a:r>
          </a:p>
          <a:p>
            <a:endParaRPr lang="pl-PL" sz="1800" dirty="0" smtClean="0"/>
          </a:p>
          <a:p>
            <a:r>
              <a:rPr lang="pl-PL" sz="1800" dirty="0" smtClean="0"/>
              <a:t>Szósta zasada: </a:t>
            </a:r>
            <a:r>
              <a:rPr lang="pl-PL" sz="1800" dirty="0" err="1" smtClean="0"/>
              <a:t>code</a:t>
            </a:r>
            <a:r>
              <a:rPr lang="pl-PL" sz="1800" dirty="0" smtClean="0"/>
              <a:t> </a:t>
            </a:r>
            <a:r>
              <a:rPr lang="pl-PL" sz="1800" dirty="0" err="1" smtClean="0"/>
              <a:t>review</a:t>
            </a:r>
            <a:r>
              <a:rPr lang="pl-PL" sz="1800" dirty="0" smtClean="0"/>
              <a:t> nie może być areną dominacji. Lider powinien pilnować, aby przegląd kodu służył jakości, a nie pokazywaniu wyższości. Komentarze powinny być rzeczowe, techniczne i możliwe do wykonania. Zamiast „to jest złe”, lepiej napisać: „ta funkcja ma dwie odpowiedzialności, rozdzielmy walidację od zapisu danych”. Dobra kultura </a:t>
            </a:r>
            <a:r>
              <a:rPr lang="pl-PL" sz="1800" dirty="0" err="1" smtClean="0"/>
              <a:t>code</a:t>
            </a:r>
            <a:r>
              <a:rPr lang="pl-PL" sz="1800" dirty="0" smtClean="0"/>
              <a:t> </a:t>
            </a:r>
            <a:r>
              <a:rPr lang="pl-PL" sz="1800" dirty="0" err="1" smtClean="0"/>
              <a:t>review</a:t>
            </a:r>
            <a:r>
              <a:rPr lang="pl-PL" sz="1800" dirty="0" smtClean="0"/>
              <a:t> uczy zespół myślenia inżynierskiego.</a:t>
            </a:r>
          </a:p>
          <a:p>
            <a:endParaRPr lang="pl-PL" sz="1800" dirty="0" smtClean="0"/>
          </a:p>
          <a:p>
            <a:r>
              <a:rPr lang="pl-PL" sz="1800" dirty="0" smtClean="0"/>
              <a:t>Siódma zasada: spotkania muszą mieć funkcję. </a:t>
            </a:r>
            <a:r>
              <a:rPr lang="pl-PL" sz="1800" dirty="0" err="1" smtClean="0"/>
              <a:t>Daily</a:t>
            </a:r>
            <a:r>
              <a:rPr lang="pl-PL" sz="1800" dirty="0" smtClean="0"/>
              <a:t> nie jest raportem dla lidera, tylko krótkim mechanizmem synchronizacji. Sprint </a:t>
            </a:r>
            <a:r>
              <a:rPr lang="pl-PL" sz="1800" dirty="0" err="1" smtClean="0"/>
              <a:t>review</a:t>
            </a:r>
            <a:r>
              <a:rPr lang="pl-PL" sz="1800" dirty="0" smtClean="0"/>
              <a:t> nie jest pokazem slajdów, tylko demonstracją działającego efektu. Retrospektywa nie jest narzekaniem, tylko narzędziem poprawy procesu. Spotkanie bez celu, decyzji albo działania końcowego jest kosztem poznawczym dla zespołu.</a:t>
            </a:r>
          </a:p>
          <a:p>
            <a:endParaRPr lang="pl-PL" sz="1800" dirty="0" smtClean="0"/>
          </a:p>
          <a:p>
            <a:r>
              <a:rPr lang="pl-PL" sz="1800" dirty="0" smtClean="0"/>
              <a:t>Młody lider powinien też nauczyć się odróżniać kontrolę od odpowiedzialności. Kontrola polega na pytaniu: „co robiłeś przez cały dzień?”. Odpowiedzialność polega na pytaniu: „co blokuje postęp i jak możemy to usunąć?”. Ludzie pracują lepiej, kiedy rozumieją cel i mają autonomię w sposobie dojścia do niego. Mikrozarządzanie może dawać liderowi chwilowe poczucie bezpieczeństwa, ale zwykle obniża motywację i dojrzałość zespołu.</a:t>
            </a:r>
          </a:p>
          <a:p>
            <a:endParaRPr lang="pl-PL" sz="1800" dirty="0" smtClean="0"/>
          </a:p>
          <a:p>
            <a:r>
              <a:rPr lang="pl-PL" sz="1800" dirty="0" smtClean="0"/>
              <a:t>Bardzo ważna jest również ochrona dobrostanu psychicznego zespołu. Lider powinien obserwować przeciążenie, spadek energii, konflikty, wycofanie, cynizm i chroniczne pośpiechy. Jeżeli zespół regularnie pracuje po godzinach, to nie jest dowód zaangażowania. To sygnał, że źle planujemy, mamy za duży zakres, za mało ludzi, zbyt wiele długu technicznego albo zbyt późno wykrywamy problemy.</a:t>
            </a:r>
          </a:p>
          <a:p>
            <a:endParaRPr lang="pl-PL" sz="1800" dirty="0" smtClean="0"/>
          </a:p>
          <a:p>
            <a:r>
              <a:rPr lang="pl-PL" sz="1800" dirty="0" smtClean="0"/>
              <a:t>W zarządzaniu ludźmi trzeba uważać na trzy szczególnie groźne pułapki. Pierwsza to syndrom bohatera: lider sam dowozi projekt kosztem własnego zdrowia. Druga to unikanie konfliktu: lider nie mówi trudnych rzeczy, przez co problemy narastają. Trzecia to fałszywa dostępność: lider jest na każdym spotkaniu, w każdym wątku i przy każdym problemie, przez co sam staje się wąskim gardłem.</a:t>
            </a:r>
          </a:p>
          <a:p>
            <a:endParaRPr lang="pl-PL" sz="1800" dirty="0" smtClean="0"/>
          </a:p>
          <a:p>
            <a:r>
              <a:rPr lang="pl-PL" sz="1800" dirty="0" smtClean="0"/>
              <a:t>Dobra organizacja pracy wymaga rytmu. Zespół powinien mieć stały cykl planowania, realizacji, przeglądu i poprawy. W praktyce oznacza to: jasny </a:t>
            </a:r>
            <a:r>
              <a:rPr lang="pl-PL" sz="1800" dirty="0" err="1" smtClean="0"/>
              <a:t>backlog</a:t>
            </a:r>
            <a:r>
              <a:rPr lang="pl-PL" sz="1800" dirty="0" smtClean="0"/>
              <a:t>, dobrze opisane zadania, kryteria akceptacji, regularne </a:t>
            </a:r>
            <a:r>
              <a:rPr lang="pl-PL" sz="1800" dirty="0" err="1" smtClean="0"/>
              <a:t>code</a:t>
            </a:r>
            <a:r>
              <a:rPr lang="pl-PL" sz="1800" dirty="0" smtClean="0"/>
              <a:t> </a:t>
            </a:r>
            <a:r>
              <a:rPr lang="pl-PL" sz="1800" dirty="0" err="1" smtClean="0"/>
              <a:t>review</a:t>
            </a:r>
            <a:r>
              <a:rPr lang="pl-PL" sz="1800" dirty="0" smtClean="0"/>
              <a:t>, automatyczne testy, definicję ukończenia i przegląd </a:t>
            </a:r>
            <a:r>
              <a:rPr lang="pl-PL" sz="1800" dirty="0" err="1" smtClean="0"/>
              <a:t>ryzyk</a:t>
            </a:r>
            <a:r>
              <a:rPr lang="pl-PL" sz="1800" dirty="0" smtClean="0"/>
              <a:t>. Bez tego zespół może być pracowity, ale niekoniecznie skuteczny.</a:t>
            </a:r>
          </a:p>
          <a:p>
            <a:endParaRPr lang="pl-PL" sz="1800" dirty="0" smtClean="0"/>
          </a:p>
          <a:p>
            <a:r>
              <a:rPr lang="pl-PL" sz="1800" dirty="0" smtClean="0"/>
              <a:t>Lider powinien też pilnować długu technicznego. Nie można go traktować jako prywatnego problemu programistów. Dług techniczny wpływa na tempo pracy, jakość produktu, frustrację zespołu i przewidywalność projektu. Jeżeli lider ignoruje dług techniczny, to po pewnym czasie każda nowa funkcja zaczyna kosztować więcej, niż powinna. Dlatego część czasu w każdym cyklu pracy powinna być przeznaczona na </a:t>
            </a:r>
            <a:r>
              <a:rPr lang="pl-PL" sz="1800" dirty="0" err="1" smtClean="0"/>
              <a:t>refaktoryzację</a:t>
            </a:r>
            <a:r>
              <a:rPr lang="pl-PL" sz="1800" dirty="0" smtClean="0"/>
              <a:t>, aktualizację zależności, poprawę testów i upraszczanie architektury. </a:t>
            </a:r>
          </a:p>
          <a:p>
            <a:endParaRPr lang="pl-PL" sz="1800" dirty="0" smtClean="0"/>
          </a:p>
          <a:p>
            <a:r>
              <a:rPr lang="pl-PL" sz="1800" dirty="0" smtClean="0"/>
              <a:t>Najważniejsze nastawienie młodego lidera można ująć prosto: nie mam być centrum zespołu, tylko projektantem warunków jego działania. Mam dbać o jasność, tempo, jakość, bezpieczeństwo psychologiczne i odpowiedzialność. Mam uczyć ludzi samodzielności, a nie uzależniać ich od siebie. Mam reagować wcześnie, zanim problemy staną się kryzysami.</a:t>
            </a:r>
          </a:p>
          <a:p>
            <a:r>
              <a:rPr lang="pl-PL" sz="1800" dirty="0" smtClean="0"/>
              <a:t>Dobry lider zespołu IT nie musi znać odpowiedzi na każde pytanie. Powinien jednak umieć stworzyć proces, w którym odpowiedzi są znajdowane szybko, spokojnie i zespołowo. To jest dojrzałe zarządzanie: mniej improwizacji, mniej presji, mniej chaosu — więcej jasnych reguł, dobrego feedbacku i świadomej pracy.</a:t>
            </a:r>
          </a:p>
          <a:p>
            <a:endParaRPr lang="pl-PL" sz="1800" b="0" u="none" strike="noStrike" dirty="0">
              <a:solidFill>
                <a:srgbClr val="000000"/>
              </a:solidFill>
              <a:effectLst/>
              <a:uFillTx/>
              <a:latin typeface="Arial"/>
            </a:endParaRPr>
          </a:p>
        </p:txBody>
      </p:sp>
      <p:sp>
        <p:nvSpPr>
          <p:cNvPr id="1189" name="PlaceHolder 3"/>
          <p:cNvSpPr>
            <a:spLocks noGrp="1"/>
          </p:cNvSpPr>
          <p:nvPr>
            <p:ph type="sldNum" idx="23"/>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7EB883F0-D2A2-4278-874B-B73CB4A4FA69}" type="slidenum">
              <a:rPr lang="pl-PL" sz="1800" b="0" u="none" strike="noStrike">
                <a:solidFill>
                  <a:schemeClr val="dk1"/>
                </a:solidFill>
                <a:effectLst/>
                <a:uFillTx/>
                <a:latin typeface="+mn-lt"/>
                <a:ea typeface="+mn-ea"/>
              </a:rPr>
              <a:t>32</a:t>
            </a:fld>
            <a:endParaRPr lang="pl-PL" sz="1800" b="0" u="none" strike="noStrike">
              <a:solidFill>
                <a:srgbClr val="000000"/>
              </a:solidFill>
              <a:effectLst/>
              <a:uFillTx/>
              <a:latin typeface="Times New Roman"/>
            </a:endParaRPr>
          </a:p>
        </p:txBody>
      </p:sp>
    </p:spTree>
    <p:extLst>
      <p:ext uri="{BB962C8B-B14F-4D97-AF65-F5344CB8AC3E}">
        <p14:creationId xmlns:p14="http://schemas.microsoft.com/office/powerpoint/2010/main" val="32982098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7" name="PlaceHolder 1"/>
          <p:cNvSpPr>
            <a:spLocks noGrp="1" noRot="1" noChangeAspect="1"/>
          </p:cNvSpPr>
          <p:nvPr>
            <p:ph type="sldImg"/>
          </p:nvPr>
        </p:nvSpPr>
        <p:spPr>
          <a:xfrm>
            <a:off x="0" y="0"/>
            <a:ext cx="0" cy="0"/>
          </a:xfrm>
          <a:prstGeom prst="rect">
            <a:avLst/>
          </a:prstGeom>
          <a:ln w="0">
            <a:noFill/>
          </a:ln>
        </p:spPr>
      </p:sp>
      <p:sp>
        <p:nvSpPr>
          <p:cNvPr id="121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r>
              <a:rPr lang="pl-PL" sz="1800" dirty="0" smtClean="0"/>
              <a:t>Gdy podsumowuję proces tworzenia aplikacji mobilnej, najważniejsza wydaje mi się równowaga między planowaniem a adaptacją. Z jednej strony trzeba walidować pomysł, dokumentować decyzje, szacować koszty, projektować architekturę i mierzyć jakość. Z drugiej strony nie wolno przywiązywać się do planu tak mocno, żeby ignorować dane z rynku.</a:t>
            </a:r>
          </a:p>
          <a:p>
            <a:endParaRPr lang="pl-PL" sz="1800" dirty="0" smtClean="0"/>
          </a:p>
          <a:p>
            <a:r>
              <a:rPr lang="pl-PL" sz="1800" dirty="0" smtClean="0"/>
              <a:t>W projektach mobilnych technologia jest tylko jedną częścią sukcesu. Równie ważne są: zespół, komunikacja, testowanie, analiza danych, tempo iteracji i umiejętność rezygnowania z funkcji, które nie tworzą wartości. Ciekawostką jest to, że wiele nieudanych aplikacji nie przegrywa dlatego, że były źle zaprogramowane, ale dlatego, że rozwiązywały niewłaściwy problem albo zbyt późno zaczęły słuchać użytkowników.</a:t>
            </a:r>
          </a:p>
          <a:p>
            <a:pPr indent="0">
              <a:buNone/>
            </a:pPr>
            <a:endParaRPr lang="pl-PL" sz="1800" b="0" u="none" strike="noStrike" dirty="0" smtClean="0">
              <a:solidFill>
                <a:srgbClr val="000000"/>
              </a:solidFill>
              <a:effectLst/>
              <a:uFillTx/>
              <a:latin typeface="Arial"/>
            </a:endParaRPr>
          </a:p>
          <a:p>
            <a:pPr indent="0">
              <a:buNone/>
            </a:pPr>
            <a:r>
              <a:rPr lang="pl-PL" sz="1800" dirty="0" smtClean="0"/>
              <a:t>Dobrze pasuje tu historyczna myśl przypisywana Dwightowi Eisenhowerowi: plany mogą okazać się bezużyteczne, ale samo planowanie jest niezbędne. Eisenhower mówił to w kontekście działań wojskowych, ale w projektach technologicznych działa to bardzo podobnie. Plan nie przewidzi wszystkiego, ale proces planowania zmusza nas do rozpoznania </a:t>
            </a:r>
            <a:r>
              <a:rPr lang="pl-PL" sz="1800" dirty="0" err="1" smtClean="0"/>
              <a:t>ryzyk</a:t>
            </a:r>
            <a:r>
              <a:rPr lang="pl-PL" sz="1800" dirty="0" smtClean="0"/>
              <a:t>, zależności, zasobów i możliwych scenariuszy. Dlatego w projektowaniu aplikacji mobilnych nie chodzi o stworzenie idealnego planu, lecz o zbudowanie zespołu i procesu, który potrafi rozsądnie reagować na rzeczywistość.</a:t>
            </a:r>
            <a:endParaRPr lang="pl-PL" sz="1800" b="0" u="none" strike="noStrike" dirty="0">
              <a:solidFill>
                <a:srgbClr val="000000"/>
              </a:solidFill>
              <a:effectLst/>
              <a:uFillTx/>
              <a:latin typeface="Arial"/>
            </a:endParaRPr>
          </a:p>
        </p:txBody>
      </p:sp>
      <p:sp>
        <p:nvSpPr>
          <p:cNvPr id="1219" name="PlaceHolder 3"/>
          <p:cNvSpPr>
            <a:spLocks noGrp="1"/>
          </p:cNvSpPr>
          <p:nvPr>
            <p:ph type="sldNum" idx="33"/>
          </p:nvPr>
        </p:nvSpPr>
        <p:spPr>
          <a:xfrm>
            <a:off x="0" y="0"/>
            <a:ext cx="0" cy="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pl-PL" sz="1800" b="0" u="none" strike="noStrike">
                <a:solidFill>
                  <a:schemeClr val="dk1"/>
                </a:solidFill>
                <a:effectLst/>
                <a:uFillTx/>
                <a:latin typeface="+mn-lt"/>
                <a:ea typeface="+mn-ea"/>
              </a:defRPr>
            </a:lvl1pPr>
          </a:lstStyle>
          <a:p>
            <a:pPr indent="0" algn="r" defTabSz="914400">
              <a:lnSpc>
                <a:spcPct val="100000"/>
              </a:lnSpc>
              <a:buNone/>
              <a:tabLst>
                <a:tab pos="0" algn="l"/>
              </a:tabLst>
            </a:pPr>
            <a:fld id="{B60A8E59-B427-4280-95DB-E43B768137F2}" type="slidenum">
              <a:rPr lang="pl-PL" sz="1800" b="0" u="none" strike="noStrike">
                <a:solidFill>
                  <a:schemeClr val="dk1"/>
                </a:solidFill>
                <a:effectLst/>
                <a:uFillTx/>
                <a:latin typeface="+mn-lt"/>
                <a:ea typeface="+mn-ea"/>
              </a:rPr>
              <a:t>33</a:t>
            </a:fld>
            <a:endParaRPr lang="pl-PL" sz="18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pl-PL" sz="4400" b="0" u="none" strike="noStrike">
                <a:solidFill>
                  <a:srgbClr val="000000"/>
                </a:solidFill>
                <a:effectLst/>
                <a:uFillTx/>
                <a:latin typeface="Arial"/>
              </a:rPr>
              <a:t>Kliknij, aby edytować format tekstu tytułu</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p>
            <a:pPr marL="432000" indent="-324000">
              <a:spcBef>
                <a:spcPts val="1417"/>
              </a:spcBef>
              <a:buClr>
                <a:srgbClr val="000000"/>
              </a:buClr>
              <a:buSzPct val="45000"/>
              <a:buFont typeface="Wingdings" charset="2"/>
              <a:buChar char=""/>
            </a:pPr>
            <a:r>
              <a:rPr lang="pl-PL" sz="3200" b="0" u="none" strike="noStrike">
                <a:solidFill>
                  <a:srgbClr val="000000"/>
                </a:solidFill>
                <a:effectLst/>
                <a:uFillTx/>
                <a:latin typeface="Arial"/>
              </a:rPr>
              <a:t>Kliknij, aby edytować format tekstu konspektu</a:t>
            </a:r>
          </a:p>
          <a:p>
            <a:pPr marL="864000" lvl="1" indent="-324000">
              <a:spcBef>
                <a:spcPts val="1134"/>
              </a:spcBef>
              <a:buClr>
                <a:srgbClr val="000000"/>
              </a:buClr>
              <a:buSzPct val="75000"/>
              <a:buFont typeface="Symbol" charset="2"/>
              <a:buChar char=""/>
            </a:pPr>
            <a:r>
              <a:rPr lang="pl-PL" sz="2800" b="0" u="none" strike="noStrike">
                <a:solidFill>
                  <a:srgbClr val="000000"/>
                </a:solidFill>
                <a:effectLst/>
                <a:uFillTx/>
                <a:latin typeface="Arial"/>
              </a:rPr>
              <a:t>Drugi poziom konspektu</a:t>
            </a:r>
          </a:p>
          <a:p>
            <a:pPr marL="1296000" lvl="2" indent="-288000">
              <a:spcBef>
                <a:spcPts val="850"/>
              </a:spcBef>
              <a:buClr>
                <a:srgbClr val="000000"/>
              </a:buClr>
              <a:buSzPct val="45000"/>
              <a:buFont typeface="Wingdings" charset="2"/>
              <a:buChar char=""/>
            </a:pPr>
            <a:r>
              <a:rPr lang="pl-PL" sz="2400" b="0" u="none" strike="noStrike">
                <a:solidFill>
                  <a:srgbClr val="000000"/>
                </a:solidFill>
                <a:effectLst/>
                <a:uFillTx/>
                <a:latin typeface="Arial"/>
              </a:rPr>
              <a:t>Trzeci poziom konspektu</a:t>
            </a:r>
          </a:p>
          <a:p>
            <a:pPr marL="1728000" lvl="3" indent="-216000">
              <a:spcBef>
                <a:spcPts val="567"/>
              </a:spcBef>
              <a:buClr>
                <a:srgbClr val="000000"/>
              </a:buClr>
              <a:buSzPct val="75000"/>
              <a:buFont typeface="Symbol" charset="2"/>
              <a:buChar char=""/>
            </a:pPr>
            <a:r>
              <a:rPr lang="pl-PL" sz="2000" b="0" u="none" strike="noStrike">
                <a:solidFill>
                  <a:srgbClr val="000000"/>
                </a:solidFill>
                <a:effectLst/>
                <a:uFillTx/>
                <a:latin typeface="Arial"/>
              </a:rPr>
              <a:t>Czwarty poziom konspektu</a:t>
            </a:r>
          </a:p>
          <a:p>
            <a:pPr marL="2160000" lvl="4"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Piąty poziom konspektu</a:t>
            </a:r>
          </a:p>
          <a:p>
            <a:pPr marL="2592000" lvl="5"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Szósty poziom konspektu</a:t>
            </a:r>
          </a:p>
          <a:p>
            <a:pPr marL="3024000" lvl="6" indent="-216000">
              <a:spcBef>
                <a:spcPts val="283"/>
              </a:spcBef>
              <a:buClr>
                <a:srgbClr val="000000"/>
              </a:buClr>
              <a:buSzPct val="45000"/>
              <a:buFont typeface="Wingdings" charset="2"/>
              <a:buChar char=""/>
            </a:pPr>
            <a:r>
              <a:rPr lang="pl-PL" sz="2000" b="0" u="none" strike="noStrike">
                <a:solidFill>
                  <a:srgbClr val="000000"/>
                </a:solidFill>
                <a:effectLst/>
                <a:uFillTx/>
                <a:latin typeface="Arial"/>
              </a:rPr>
              <a:t>Siódmy poziom konspektu</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10" name="Shape 0"/>
          <p:cNvSpPr/>
          <p:nvPr/>
        </p:nvSpPr>
        <p:spPr>
          <a:xfrm>
            <a:off x="6035040" y="0"/>
            <a:ext cx="3107880" cy="5142600"/>
          </a:xfrm>
          <a:prstGeom prst="rect">
            <a:avLst/>
          </a:prstGeom>
          <a:solidFill>
            <a:srgbClr val="061422"/>
          </a:solidFill>
          <a:ln w="12700">
            <a:solidFill>
              <a:srgbClr val="06142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 name="Shape 1"/>
          <p:cNvSpPr/>
          <p:nvPr/>
        </p:nvSpPr>
        <p:spPr>
          <a:xfrm>
            <a:off x="6016680" y="0"/>
            <a:ext cx="72000" cy="495504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2" name="Shape 2"/>
          <p:cNvSpPr/>
          <p:nvPr/>
        </p:nvSpPr>
        <p:spPr>
          <a:xfrm>
            <a:off x="457200" y="457200"/>
            <a:ext cx="1690560" cy="273240"/>
          </a:xfrm>
          <a:prstGeom prst="roundRect">
            <a:avLst>
              <a:gd name="adj" fmla="val 33333"/>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3" name="Text 3"/>
          <p:cNvSpPr/>
          <p:nvPr/>
        </p:nvSpPr>
        <p:spPr>
          <a:xfrm>
            <a:off x="457200" y="457200"/>
            <a:ext cx="1690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FFFFFF"/>
                </a:solidFill>
                <a:effectLst/>
                <a:uFillTx/>
                <a:latin typeface="Calibri"/>
              </a:rPr>
              <a:t>WYKŁAD</a:t>
            </a:r>
            <a:r>
              <a:rPr lang="pl-PL" sz="1200" b="1" u="none" strike="noStrike" dirty="0">
                <a:solidFill>
                  <a:srgbClr val="FFFFFF"/>
                </a:solidFill>
                <a:effectLst/>
                <a:uFillTx/>
                <a:latin typeface="Calibri"/>
              </a:rPr>
              <a:t> 3</a:t>
            </a:r>
            <a:endParaRPr lang="pl-PL" sz="1200" b="0" u="none" strike="noStrike" dirty="0">
              <a:solidFill>
                <a:srgbClr val="FFFFFF"/>
              </a:solidFill>
              <a:effectLst/>
              <a:uFillTx/>
              <a:latin typeface="Arial"/>
            </a:endParaRPr>
          </a:p>
        </p:txBody>
      </p:sp>
      <p:sp>
        <p:nvSpPr>
          <p:cNvPr id="14" name="Text 4"/>
          <p:cNvSpPr/>
          <p:nvPr/>
        </p:nvSpPr>
        <p:spPr>
          <a:xfrm>
            <a:off x="457200" y="868680"/>
            <a:ext cx="5393880" cy="21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3600" b="1" u="none" strike="noStrike" dirty="0">
                <a:solidFill>
                  <a:srgbClr val="FFFFFF"/>
                </a:solidFill>
                <a:effectLst/>
                <a:uFillTx/>
                <a:latin typeface="Calibri"/>
              </a:rPr>
              <a:t>Projektowanie</a:t>
            </a:r>
            <a:endParaRPr lang="pl-PL" sz="3600" b="0" u="none" strike="noStrike" dirty="0">
              <a:solidFill>
                <a:srgbClr val="FFFFFF"/>
              </a:solidFill>
              <a:effectLst/>
              <a:uFillTx/>
              <a:latin typeface="Arial"/>
            </a:endParaRPr>
          </a:p>
          <a:p>
            <a:pPr defTabSz="914400">
              <a:lnSpc>
                <a:spcPct val="100000"/>
              </a:lnSpc>
              <a:tabLst>
                <a:tab pos="0" algn="l"/>
              </a:tabLst>
            </a:pPr>
            <a:r>
              <a:rPr lang="pl-PL" sz="3600" b="1" u="none" strike="noStrike" dirty="0" smtClean="0">
                <a:solidFill>
                  <a:srgbClr val="FFFFFF"/>
                </a:solidFill>
                <a:effectLst/>
                <a:uFillTx/>
                <a:latin typeface="Calibri"/>
              </a:rPr>
              <a:t>    i </a:t>
            </a:r>
            <a:r>
              <a:rPr lang="pl-PL" sz="3600" b="1" u="none" strike="noStrike" dirty="0">
                <a:solidFill>
                  <a:srgbClr val="FFFFFF"/>
                </a:solidFill>
                <a:effectLst/>
                <a:uFillTx/>
                <a:latin typeface="Calibri"/>
              </a:rPr>
              <a:t>planowanie</a:t>
            </a:r>
            <a:endParaRPr lang="pl-PL" sz="3600" b="0" u="none" strike="noStrike" dirty="0">
              <a:solidFill>
                <a:srgbClr val="FFFFFF"/>
              </a:solidFill>
              <a:effectLst/>
              <a:uFillTx/>
              <a:latin typeface="Arial"/>
            </a:endParaRPr>
          </a:p>
          <a:p>
            <a:pPr defTabSz="914400">
              <a:lnSpc>
                <a:spcPct val="100000"/>
              </a:lnSpc>
              <a:tabLst>
                <a:tab pos="0" algn="l"/>
              </a:tabLst>
            </a:pPr>
            <a:r>
              <a:rPr lang="pl-PL" sz="3600" b="1" u="none" strike="noStrike" dirty="0" smtClean="0">
                <a:solidFill>
                  <a:srgbClr val="FFFFFF"/>
                </a:solidFill>
                <a:effectLst/>
                <a:uFillTx/>
                <a:latin typeface="Calibri"/>
              </a:rPr>
              <a:t>        aplikacji </a:t>
            </a:r>
            <a:r>
              <a:rPr lang="pl-PL" sz="3600" b="1" u="none" strike="noStrike" dirty="0">
                <a:solidFill>
                  <a:srgbClr val="FFFFFF"/>
                </a:solidFill>
                <a:effectLst/>
                <a:uFillTx/>
                <a:latin typeface="Calibri"/>
              </a:rPr>
              <a:t>mobilnych</a:t>
            </a:r>
            <a:endParaRPr lang="pl-PL" sz="3600" b="0" u="none" strike="noStrike" dirty="0">
              <a:solidFill>
                <a:srgbClr val="FFFFFF"/>
              </a:solidFill>
              <a:effectLst/>
              <a:uFillTx/>
              <a:latin typeface="Arial"/>
            </a:endParaRPr>
          </a:p>
        </p:txBody>
      </p:sp>
      <p:sp>
        <p:nvSpPr>
          <p:cNvPr id="15" name="Text 5"/>
          <p:cNvSpPr/>
          <p:nvPr/>
        </p:nvSpPr>
        <p:spPr>
          <a:xfrm>
            <a:off x="457200" y="3063240"/>
            <a:ext cx="2970720" cy="63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tabLst>
                <a:tab pos="0" algn="l"/>
              </a:tabLst>
            </a:pPr>
            <a:r>
              <a:rPr lang="pl-PL" sz="1200" i="1" dirty="0">
                <a:solidFill>
                  <a:srgbClr val="8ECAE6"/>
                </a:solidFill>
              </a:rPr>
              <a:t>Od pomysłu do wdrożenia. Proces, zarządzanie zespołem i obowiązki lidera </a:t>
            </a:r>
            <a:r>
              <a:rPr lang="pl-PL" sz="1200" i="1" dirty="0" smtClean="0">
                <a:solidFill>
                  <a:srgbClr val="8ECAE6"/>
                </a:solidFill>
              </a:rPr>
              <a:t>projektu.</a:t>
            </a:r>
            <a:endParaRPr lang="pl-PL" sz="1200" i="1" dirty="0">
              <a:solidFill>
                <a:srgbClr val="8ECAE6"/>
              </a:solidFill>
            </a:endParaRPr>
          </a:p>
        </p:txBody>
      </p:sp>
      <p:sp>
        <p:nvSpPr>
          <p:cNvPr id="16" name="Shape 6"/>
          <p:cNvSpPr/>
          <p:nvPr/>
        </p:nvSpPr>
        <p:spPr>
          <a:xfrm>
            <a:off x="457200" y="3822120"/>
            <a:ext cx="512640" cy="218520"/>
          </a:xfrm>
          <a:prstGeom prst="roundRect">
            <a:avLst>
              <a:gd name="adj" fmla="val 29167"/>
            </a:avLst>
          </a:prstGeom>
          <a:solidFill>
            <a:srgbClr val="0A2540"/>
          </a:solidFill>
          <a:ln w="1016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7" name="Text 7"/>
          <p:cNvSpPr/>
          <p:nvPr/>
        </p:nvSpPr>
        <p:spPr>
          <a:xfrm>
            <a:off x="457200" y="3822120"/>
            <a:ext cx="51264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00BCD4"/>
                </a:solidFill>
                <a:effectLst/>
                <a:uFillTx/>
                <a:latin typeface="Calibri"/>
              </a:rPr>
              <a:t>2026</a:t>
            </a:r>
            <a:endParaRPr lang="pl-PL" sz="1000" b="0" u="none" strike="noStrike">
              <a:solidFill>
                <a:srgbClr val="FFFFFF"/>
              </a:solidFill>
              <a:effectLst/>
              <a:uFillTx/>
              <a:latin typeface="Arial"/>
            </a:endParaRPr>
          </a:p>
        </p:txBody>
      </p:sp>
      <p:sp>
        <p:nvSpPr>
          <p:cNvPr id="18" name="Shape 8"/>
          <p:cNvSpPr/>
          <p:nvPr/>
        </p:nvSpPr>
        <p:spPr>
          <a:xfrm>
            <a:off x="1108080" y="3822120"/>
            <a:ext cx="1011960" cy="218520"/>
          </a:xfrm>
          <a:prstGeom prst="roundRect">
            <a:avLst>
              <a:gd name="adj" fmla="val 29167"/>
            </a:avLst>
          </a:prstGeom>
          <a:solidFill>
            <a:srgbClr val="0A2540"/>
          </a:solidFill>
          <a:ln w="1016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9" name="Text 9"/>
          <p:cNvSpPr/>
          <p:nvPr/>
        </p:nvSpPr>
        <p:spPr>
          <a:xfrm>
            <a:off x="1108080" y="3822120"/>
            <a:ext cx="101196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FF7043"/>
                </a:solidFill>
                <a:effectLst/>
                <a:uFillTx/>
                <a:latin typeface="Calibri"/>
              </a:rPr>
              <a:t>Informatyka</a:t>
            </a:r>
            <a:endParaRPr lang="pl-PL" sz="1000" b="0" u="none" strike="noStrike">
              <a:solidFill>
                <a:srgbClr val="FFFFFF"/>
              </a:solidFill>
              <a:effectLst/>
              <a:uFillTx/>
              <a:latin typeface="Arial"/>
            </a:endParaRPr>
          </a:p>
        </p:txBody>
      </p:sp>
      <p:sp>
        <p:nvSpPr>
          <p:cNvPr id="20" name="Shape 10"/>
          <p:cNvSpPr/>
          <p:nvPr/>
        </p:nvSpPr>
        <p:spPr>
          <a:xfrm>
            <a:off x="2258640" y="3822120"/>
            <a:ext cx="1939320" cy="218520"/>
          </a:xfrm>
          <a:prstGeom prst="roundRect">
            <a:avLst>
              <a:gd name="adj" fmla="val 29167"/>
            </a:avLst>
          </a:prstGeom>
          <a:solidFill>
            <a:srgbClr val="0A2540"/>
          </a:solidFill>
          <a:ln w="10160">
            <a:solidFill>
              <a:srgbClr val="8ECA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1" name="Text 11"/>
          <p:cNvSpPr/>
          <p:nvPr/>
        </p:nvSpPr>
        <p:spPr>
          <a:xfrm>
            <a:off x="2258640" y="3822120"/>
            <a:ext cx="193932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a:solidFill>
                  <a:srgbClr val="8ECAE6"/>
                </a:solidFill>
                <a:effectLst/>
                <a:uFillTx/>
                <a:latin typeface="Calibri"/>
              </a:rPr>
              <a:t>dr inż. Mateusz Pomianek</a:t>
            </a:r>
            <a:endParaRPr lang="pl-PL" sz="1000" b="0" u="none" strike="noStrike">
              <a:solidFill>
                <a:srgbClr val="FFFFFF"/>
              </a:solidFill>
              <a:effectLst/>
              <a:uFillTx/>
              <a:latin typeface="Arial"/>
            </a:endParaRPr>
          </a:p>
        </p:txBody>
      </p:sp>
      <p:sp>
        <p:nvSpPr>
          <p:cNvPr id="22" name="Text 12"/>
          <p:cNvSpPr/>
          <p:nvPr/>
        </p:nvSpPr>
        <p:spPr>
          <a:xfrm>
            <a:off x="6217920" y="82296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8ECAE6"/>
                </a:solidFill>
                <a:effectLst/>
                <a:uFillTx/>
                <a:latin typeface="Calibri"/>
              </a:rPr>
              <a:t>Faza ideacji i badania rynku</a:t>
            </a:r>
            <a:endParaRPr lang="pl-PL" sz="1400" b="0" u="none" strike="noStrike">
              <a:solidFill>
                <a:srgbClr val="FFFFFF"/>
              </a:solidFill>
              <a:effectLst/>
              <a:uFillTx/>
              <a:latin typeface="Arial"/>
            </a:endParaRPr>
          </a:p>
        </p:txBody>
      </p:sp>
      <p:sp>
        <p:nvSpPr>
          <p:cNvPr id="23" name="Shape 13"/>
          <p:cNvSpPr/>
          <p:nvPr/>
        </p:nvSpPr>
        <p:spPr>
          <a:xfrm>
            <a:off x="6217920" y="1143000"/>
            <a:ext cx="2606040" cy="360"/>
          </a:xfrm>
          <a:prstGeom prst="line">
            <a:avLst/>
          </a:prstGeom>
          <a:ln w="5080">
            <a:solidFill>
              <a:srgbClr val="00697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24" name="Text 14"/>
          <p:cNvSpPr/>
          <p:nvPr/>
        </p:nvSpPr>
        <p:spPr>
          <a:xfrm>
            <a:off x="6217920" y="144468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8ECAE6"/>
                </a:solidFill>
                <a:effectLst/>
                <a:uFillTx/>
                <a:latin typeface="Calibri"/>
              </a:rPr>
              <a:t>Skład i role zespołu</a:t>
            </a:r>
            <a:endParaRPr lang="pl-PL" sz="1400" b="0" u="none" strike="noStrike">
              <a:solidFill>
                <a:srgbClr val="FFFFFF"/>
              </a:solidFill>
              <a:effectLst/>
              <a:uFillTx/>
              <a:latin typeface="Arial"/>
            </a:endParaRPr>
          </a:p>
        </p:txBody>
      </p:sp>
      <p:sp>
        <p:nvSpPr>
          <p:cNvPr id="25" name="Shape 15"/>
          <p:cNvSpPr/>
          <p:nvPr/>
        </p:nvSpPr>
        <p:spPr>
          <a:xfrm>
            <a:off x="6217920" y="1764720"/>
            <a:ext cx="2606040" cy="360"/>
          </a:xfrm>
          <a:prstGeom prst="line">
            <a:avLst/>
          </a:prstGeom>
          <a:ln w="5080">
            <a:solidFill>
              <a:srgbClr val="00697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26" name="Text 16"/>
          <p:cNvSpPr/>
          <p:nvPr/>
        </p:nvSpPr>
        <p:spPr>
          <a:xfrm>
            <a:off x="6217920" y="206640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8ECAE6"/>
                </a:solidFill>
                <a:effectLst/>
                <a:uFillTx/>
                <a:latin typeface="Calibri"/>
              </a:rPr>
              <a:t>Agile / Scrum / Kanban</a:t>
            </a:r>
            <a:endParaRPr lang="pl-PL" sz="1400" b="0" u="none" strike="noStrike">
              <a:solidFill>
                <a:srgbClr val="FFFFFF"/>
              </a:solidFill>
              <a:effectLst/>
              <a:uFillTx/>
              <a:latin typeface="Arial"/>
            </a:endParaRPr>
          </a:p>
        </p:txBody>
      </p:sp>
      <p:sp>
        <p:nvSpPr>
          <p:cNvPr id="27" name="Shape 17"/>
          <p:cNvSpPr/>
          <p:nvPr/>
        </p:nvSpPr>
        <p:spPr>
          <a:xfrm>
            <a:off x="6217920" y="2386440"/>
            <a:ext cx="2606040" cy="360"/>
          </a:xfrm>
          <a:prstGeom prst="line">
            <a:avLst/>
          </a:prstGeom>
          <a:ln w="5080">
            <a:solidFill>
              <a:srgbClr val="00697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28" name="Text 18"/>
          <p:cNvSpPr/>
          <p:nvPr/>
        </p:nvSpPr>
        <p:spPr>
          <a:xfrm>
            <a:off x="6217920" y="268848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8ECAE6"/>
                </a:solidFill>
                <a:effectLst/>
                <a:uFillTx/>
                <a:latin typeface="Calibri"/>
              </a:rPr>
              <a:t>UX/UI i roadmapa produktu</a:t>
            </a:r>
            <a:endParaRPr lang="pl-PL" sz="1400" b="0" u="none" strike="noStrike">
              <a:solidFill>
                <a:srgbClr val="FFFFFF"/>
              </a:solidFill>
              <a:effectLst/>
              <a:uFillTx/>
              <a:latin typeface="Arial"/>
            </a:endParaRPr>
          </a:p>
        </p:txBody>
      </p:sp>
      <p:sp>
        <p:nvSpPr>
          <p:cNvPr id="29" name="Shape 19"/>
          <p:cNvSpPr/>
          <p:nvPr/>
        </p:nvSpPr>
        <p:spPr>
          <a:xfrm>
            <a:off x="6217920" y="3008160"/>
            <a:ext cx="2606040" cy="360"/>
          </a:xfrm>
          <a:prstGeom prst="line">
            <a:avLst/>
          </a:prstGeom>
          <a:ln w="5080">
            <a:solidFill>
              <a:srgbClr val="00697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30" name="Text 20"/>
          <p:cNvSpPr/>
          <p:nvPr/>
        </p:nvSpPr>
        <p:spPr>
          <a:xfrm>
            <a:off x="6217920" y="331020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8ECAE6"/>
                </a:solidFill>
                <a:effectLst/>
                <a:uFillTx/>
                <a:latin typeface="Calibri"/>
              </a:rPr>
              <a:t>Release &amp; App Store Launch</a:t>
            </a:r>
            <a:endParaRPr lang="pl-PL" sz="1400" b="0" u="none" strike="noStrike">
              <a:solidFill>
                <a:srgbClr val="FFFFFF"/>
              </a:solidFill>
              <a:effectLst/>
              <a:uFillTx/>
              <a:latin typeface="Arial"/>
            </a:endParaRPr>
          </a:p>
        </p:txBody>
      </p:sp>
      <p:sp>
        <p:nvSpPr>
          <p:cNvPr id="31" name="Shape 21"/>
          <p:cNvSpPr/>
          <p:nvPr/>
        </p:nvSpPr>
        <p:spPr>
          <a:xfrm>
            <a:off x="6217920" y="3629880"/>
            <a:ext cx="2606040" cy="360"/>
          </a:xfrm>
          <a:prstGeom prst="line">
            <a:avLst/>
          </a:prstGeom>
          <a:ln w="5080">
            <a:solidFill>
              <a:srgbClr val="00697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32" name="Text 22"/>
          <p:cNvSpPr/>
          <p:nvPr/>
        </p:nvSpPr>
        <p:spPr>
          <a:xfrm>
            <a:off x="6217920" y="393192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8ECAE6"/>
                </a:solidFill>
                <a:effectLst/>
                <a:uFillTx/>
                <a:latin typeface="Calibri"/>
              </a:rPr>
              <a:t>Metryki i ciągłe doskonalenie</a:t>
            </a:r>
            <a:endParaRPr lang="pl-PL" sz="1400" b="0" u="none" strike="noStrike">
              <a:solidFill>
                <a:srgbClr val="FFFFFF"/>
              </a:solidFill>
              <a:effectLst/>
              <a:uFillTx/>
              <a:latin typeface="Arial"/>
            </a:endParaRPr>
          </a:p>
        </p:txBody>
      </p:sp>
      <p:sp>
        <p:nvSpPr>
          <p:cNvPr id="33" name="Shape 23"/>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4" name="Text 24"/>
          <p:cNvSpPr/>
          <p:nvPr/>
        </p:nvSpPr>
        <p:spPr>
          <a:xfrm>
            <a:off x="228600" y="4951440"/>
            <a:ext cx="31993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00" b="0" u="none" strike="noStrike" dirty="0">
                <a:solidFill>
                  <a:srgbClr val="5A8FAA"/>
                </a:solidFill>
                <a:effectLst/>
                <a:uFillTx/>
                <a:latin typeface="Calibri"/>
              </a:rPr>
              <a:t>KIA | PAM | </a:t>
            </a:r>
            <a:r>
              <a:rPr lang="pl-PL" sz="700" b="0" u="none" strike="noStrike" dirty="0" smtClean="0">
                <a:solidFill>
                  <a:srgbClr val="5A8FAA"/>
                </a:solidFill>
                <a:effectLst/>
                <a:uFillTx/>
                <a:latin typeface="Calibri"/>
              </a:rPr>
              <a:t>Planowanie i projektowanie</a:t>
            </a:r>
            <a:r>
              <a:rPr lang="en-US" sz="700" b="0" u="none" strike="noStrike" dirty="0" smtClean="0">
                <a:solidFill>
                  <a:srgbClr val="5A8FAA"/>
                </a:solidFill>
                <a:effectLst/>
                <a:uFillTx/>
                <a:latin typeface="Calibri"/>
              </a:rPr>
              <a:t> </a:t>
            </a:r>
            <a:r>
              <a:rPr lang="en-US" sz="700" b="0" u="none" strike="noStrike" dirty="0">
                <a:solidFill>
                  <a:srgbClr val="5A8FAA"/>
                </a:solidFill>
                <a:effectLst/>
                <a:uFillTx/>
                <a:latin typeface="Calibri"/>
              </a:rPr>
              <a:t>| </a:t>
            </a:r>
            <a:r>
              <a:rPr lang="en-US" sz="700" b="0" u="none" strike="noStrike" dirty="0" smtClean="0">
                <a:solidFill>
                  <a:srgbClr val="5A8FAA"/>
                </a:solidFill>
                <a:effectLst/>
                <a:uFillTx/>
                <a:latin typeface="Calibri"/>
              </a:rPr>
              <a:t>v1.0</a:t>
            </a:r>
            <a:r>
              <a:rPr lang="pl-PL" sz="700" dirty="0" smtClean="0">
                <a:solidFill>
                  <a:srgbClr val="5A8FAA"/>
                </a:solidFill>
                <a:latin typeface="Calibri"/>
              </a:rPr>
              <a:t>.5</a:t>
            </a:r>
            <a:endParaRPr lang="pl-PL" sz="700" b="0" u="none" strike="noStrike" dirty="0">
              <a:solidFill>
                <a:srgbClr val="FFFFFF"/>
              </a:solidFill>
              <a:effectLst/>
              <a:uFillTx/>
              <a:latin typeface="Arial"/>
            </a:endParaRPr>
          </a:p>
        </p:txBody>
      </p:sp>
      <p:sp>
        <p:nvSpPr>
          <p:cNvPr id="35" name="Text 26"/>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8ECAE6"/>
                </a:solidFill>
                <a:effectLst/>
                <a:uFillTx/>
                <a:latin typeface="Calibri"/>
              </a:rPr>
              <a:t>1 / 30</a:t>
            </a:r>
            <a:endParaRPr lang="pl-PL" sz="800" b="0" u="none" strike="noStrike">
              <a:solidFill>
                <a:srgbClr val="FFFFFF"/>
              </a:solidFill>
              <a:effectLst/>
              <a:uFillTx/>
              <a:latin typeface="Arial"/>
            </a:endParaRPr>
          </a:p>
        </p:txBody>
      </p:sp>
      <p:sp>
        <p:nvSpPr>
          <p:cNvPr id="36" name="Shape 21"/>
          <p:cNvSpPr/>
          <p:nvPr/>
        </p:nvSpPr>
        <p:spPr>
          <a:xfrm>
            <a:off x="6217920" y="4251960"/>
            <a:ext cx="2606040" cy="360"/>
          </a:xfrm>
          <a:prstGeom prst="line">
            <a:avLst/>
          </a:prstGeom>
          <a:ln w="5080">
            <a:solidFill>
              <a:srgbClr val="00697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37" name="Shape 0"/>
          <p:cNvSpPr/>
          <p:nvPr/>
        </p:nvSpPr>
        <p:spPr>
          <a:xfrm>
            <a:off x="384120" y="118800"/>
            <a:ext cx="1125360" cy="218520"/>
          </a:xfrm>
          <a:prstGeom prst="roundRect">
            <a:avLst>
              <a:gd name="adj" fmla="val 33333"/>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8" name="Text 1"/>
          <p:cNvSpPr/>
          <p:nvPr/>
        </p:nvSpPr>
        <p:spPr>
          <a:xfrm>
            <a:off x="384120" y="118800"/>
            <a:ext cx="112536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SPIS TREŚCI</a:t>
            </a:r>
            <a:endParaRPr lang="pl-PL" sz="1200" b="0" u="none" strike="noStrike">
              <a:solidFill>
                <a:srgbClr val="FFFFFF"/>
              </a:solidFill>
              <a:effectLst/>
              <a:uFillTx/>
              <a:latin typeface="Arial"/>
            </a:endParaRPr>
          </a:p>
        </p:txBody>
      </p:sp>
      <p:sp>
        <p:nvSpPr>
          <p:cNvPr id="39" name="Text 2"/>
          <p:cNvSpPr/>
          <p:nvPr/>
        </p:nvSpPr>
        <p:spPr>
          <a:xfrm>
            <a:off x="1620360" y="73080"/>
            <a:ext cx="71020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50" b="1" u="none" strike="noStrike">
                <a:solidFill>
                  <a:srgbClr val="FFFFFF"/>
                </a:solidFill>
                <a:effectLst/>
                <a:uFillTx/>
                <a:latin typeface="Calibri"/>
              </a:rPr>
              <a:t>Plan wykładu</a:t>
            </a:r>
            <a:endParaRPr lang="pl-PL" sz="1650" b="0" u="none" strike="noStrike">
              <a:solidFill>
                <a:srgbClr val="FFFFFF"/>
              </a:solidFill>
              <a:effectLst/>
              <a:uFillTx/>
              <a:latin typeface="Arial"/>
            </a:endParaRPr>
          </a:p>
        </p:txBody>
      </p:sp>
      <p:sp>
        <p:nvSpPr>
          <p:cNvPr id="40"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41" name="Shape 4"/>
          <p:cNvSpPr/>
          <p:nvPr/>
        </p:nvSpPr>
        <p:spPr>
          <a:xfrm>
            <a:off x="384120" y="694080"/>
            <a:ext cx="4314960" cy="68472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2" name="Shape 5"/>
          <p:cNvSpPr/>
          <p:nvPr/>
        </p:nvSpPr>
        <p:spPr>
          <a:xfrm>
            <a:off x="384120" y="694080"/>
            <a:ext cx="63000" cy="68472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3" name="Shape 6"/>
          <p:cNvSpPr/>
          <p:nvPr/>
        </p:nvSpPr>
        <p:spPr>
          <a:xfrm>
            <a:off x="521280" y="812880"/>
            <a:ext cx="254880" cy="254880"/>
          </a:xfrm>
          <a:prstGeom prst="roundRect">
            <a:avLst>
              <a:gd name="adj" fmla="val 21429"/>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4" name="Text 7"/>
          <p:cNvSpPr/>
          <p:nvPr/>
        </p:nvSpPr>
        <p:spPr>
          <a:xfrm>
            <a:off x="521280" y="81288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1</a:t>
            </a:r>
            <a:endParaRPr lang="pl-PL" sz="1000" b="0" u="none" strike="noStrike">
              <a:solidFill>
                <a:srgbClr val="FFFFFF"/>
              </a:solidFill>
              <a:effectLst/>
              <a:uFillTx/>
              <a:latin typeface="Arial"/>
            </a:endParaRPr>
          </a:p>
        </p:txBody>
      </p:sp>
      <p:sp>
        <p:nvSpPr>
          <p:cNvPr id="45" name="Text 8"/>
          <p:cNvSpPr/>
          <p:nvPr/>
        </p:nvSpPr>
        <p:spPr>
          <a:xfrm>
            <a:off x="887040" y="7855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0BCD4"/>
                </a:solidFill>
                <a:effectLst/>
                <a:uFillTx/>
                <a:latin typeface="Calibri"/>
              </a:rPr>
              <a:t>Kontekst rynkowy</a:t>
            </a:r>
            <a:endParaRPr lang="pl-PL" sz="1600" b="0" u="none" strike="noStrike">
              <a:solidFill>
                <a:srgbClr val="FFFFFF"/>
              </a:solidFill>
              <a:effectLst/>
              <a:uFillTx/>
              <a:latin typeface="Arial"/>
            </a:endParaRPr>
          </a:p>
        </p:txBody>
      </p:sp>
      <p:sp>
        <p:nvSpPr>
          <p:cNvPr id="46" name="Text 9"/>
          <p:cNvSpPr/>
          <p:nvPr/>
        </p:nvSpPr>
        <p:spPr>
          <a:xfrm>
            <a:off x="887040" y="1041480"/>
            <a:ext cx="367488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Dlaczego planowanie jest kluczowe? Statystyki porażek</a:t>
            </a:r>
            <a:endParaRPr lang="pl-PL" sz="1100" b="0" u="none" strike="noStrike">
              <a:solidFill>
                <a:srgbClr val="FFFFFF"/>
              </a:solidFill>
              <a:effectLst/>
              <a:uFillTx/>
              <a:latin typeface="Arial"/>
            </a:endParaRPr>
          </a:p>
        </p:txBody>
      </p:sp>
      <p:sp>
        <p:nvSpPr>
          <p:cNvPr id="47" name="Shape 10"/>
          <p:cNvSpPr/>
          <p:nvPr/>
        </p:nvSpPr>
        <p:spPr>
          <a:xfrm>
            <a:off x="384120" y="1498680"/>
            <a:ext cx="4314960" cy="68472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8" name="Shape 11"/>
          <p:cNvSpPr/>
          <p:nvPr/>
        </p:nvSpPr>
        <p:spPr>
          <a:xfrm>
            <a:off x="384120" y="1498680"/>
            <a:ext cx="63000" cy="68472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9" name="Shape 12"/>
          <p:cNvSpPr/>
          <p:nvPr/>
        </p:nvSpPr>
        <p:spPr>
          <a:xfrm>
            <a:off x="521280" y="1617480"/>
            <a:ext cx="254880" cy="254880"/>
          </a:xfrm>
          <a:prstGeom prst="roundRect">
            <a:avLst>
              <a:gd name="adj" fmla="val 21429"/>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0" name="Text 13"/>
          <p:cNvSpPr/>
          <p:nvPr/>
        </p:nvSpPr>
        <p:spPr>
          <a:xfrm>
            <a:off x="521280" y="161748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2</a:t>
            </a:r>
            <a:endParaRPr lang="pl-PL" sz="1000" b="0" u="none" strike="noStrike">
              <a:solidFill>
                <a:srgbClr val="FFFFFF"/>
              </a:solidFill>
              <a:effectLst/>
              <a:uFillTx/>
              <a:latin typeface="Arial"/>
            </a:endParaRPr>
          </a:p>
        </p:txBody>
      </p:sp>
      <p:sp>
        <p:nvSpPr>
          <p:cNvPr id="51" name="Text 14"/>
          <p:cNvSpPr/>
          <p:nvPr/>
        </p:nvSpPr>
        <p:spPr>
          <a:xfrm>
            <a:off x="887040" y="15901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7043"/>
                </a:solidFill>
                <a:effectLst/>
                <a:uFillTx/>
                <a:latin typeface="Calibri"/>
              </a:rPr>
              <a:t>Faza odkrywania</a:t>
            </a:r>
            <a:endParaRPr lang="pl-PL" sz="1600" b="0" u="none" strike="noStrike">
              <a:solidFill>
                <a:srgbClr val="FFFFFF"/>
              </a:solidFill>
              <a:effectLst/>
              <a:uFillTx/>
              <a:latin typeface="Arial"/>
            </a:endParaRPr>
          </a:p>
        </p:txBody>
      </p:sp>
      <p:sp>
        <p:nvSpPr>
          <p:cNvPr id="52" name="Text 15"/>
          <p:cNvSpPr/>
          <p:nvPr/>
        </p:nvSpPr>
        <p:spPr>
          <a:xfrm>
            <a:off x="887040" y="1846080"/>
            <a:ext cx="367488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Ideacja, badania rynku, walidacja pomysłu</a:t>
            </a:r>
            <a:endParaRPr lang="pl-PL" sz="1100" b="0" u="none" strike="noStrike">
              <a:solidFill>
                <a:srgbClr val="FFFFFF"/>
              </a:solidFill>
              <a:effectLst/>
              <a:uFillTx/>
              <a:latin typeface="Arial"/>
            </a:endParaRPr>
          </a:p>
        </p:txBody>
      </p:sp>
      <p:sp>
        <p:nvSpPr>
          <p:cNvPr id="53" name="Shape 16"/>
          <p:cNvSpPr/>
          <p:nvPr/>
        </p:nvSpPr>
        <p:spPr>
          <a:xfrm>
            <a:off x="384120" y="2303280"/>
            <a:ext cx="4314960" cy="684720"/>
          </a:xfrm>
          <a:prstGeom prst="rect">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4" name="Shape 17"/>
          <p:cNvSpPr/>
          <p:nvPr/>
        </p:nvSpPr>
        <p:spPr>
          <a:xfrm>
            <a:off x="384120" y="2303280"/>
            <a:ext cx="63000" cy="68472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5" name="Shape 18"/>
          <p:cNvSpPr/>
          <p:nvPr/>
        </p:nvSpPr>
        <p:spPr>
          <a:xfrm>
            <a:off x="521280" y="2422080"/>
            <a:ext cx="254880" cy="254880"/>
          </a:xfrm>
          <a:prstGeom prst="roundRect">
            <a:avLst>
              <a:gd name="adj" fmla="val 21429"/>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6" name="Text 19"/>
          <p:cNvSpPr/>
          <p:nvPr/>
        </p:nvSpPr>
        <p:spPr>
          <a:xfrm>
            <a:off x="521280" y="242208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3</a:t>
            </a:r>
            <a:endParaRPr lang="pl-PL" sz="1000" b="0" u="none" strike="noStrike">
              <a:solidFill>
                <a:srgbClr val="FFFFFF"/>
              </a:solidFill>
              <a:effectLst/>
              <a:uFillTx/>
              <a:latin typeface="Arial"/>
            </a:endParaRPr>
          </a:p>
        </p:txBody>
      </p:sp>
      <p:sp>
        <p:nvSpPr>
          <p:cNvPr id="57" name="Text 20"/>
          <p:cNvSpPr/>
          <p:nvPr/>
        </p:nvSpPr>
        <p:spPr>
          <a:xfrm>
            <a:off x="887040" y="23947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4CAF50"/>
                </a:solidFill>
                <a:effectLst/>
                <a:uFillTx/>
                <a:latin typeface="Calibri"/>
              </a:rPr>
              <a:t>Skład zespołu</a:t>
            </a:r>
            <a:endParaRPr lang="pl-PL" sz="1600" b="0" u="none" strike="noStrike">
              <a:solidFill>
                <a:srgbClr val="FFFFFF"/>
              </a:solidFill>
              <a:effectLst/>
              <a:uFillTx/>
              <a:latin typeface="Arial"/>
            </a:endParaRPr>
          </a:p>
        </p:txBody>
      </p:sp>
      <p:sp>
        <p:nvSpPr>
          <p:cNvPr id="58" name="Text 21"/>
          <p:cNvSpPr/>
          <p:nvPr/>
        </p:nvSpPr>
        <p:spPr>
          <a:xfrm>
            <a:off x="887040" y="2650680"/>
            <a:ext cx="367488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Role, odpowiedzialności, modele współpracy</a:t>
            </a:r>
            <a:endParaRPr lang="pl-PL" sz="1100" b="0" u="none" strike="noStrike">
              <a:solidFill>
                <a:srgbClr val="FFFFFF"/>
              </a:solidFill>
              <a:effectLst/>
              <a:uFillTx/>
              <a:latin typeface="Arial"/>
            </a:endParaRPr>
          </a:p>
        </p:txBody>
      </p:sp>
      <p:sp>
        <p:nvSpPr>
          <p:cNvPr id="59" name="Shape 22"/>
          <p:cNvSpPr/>
          <p:nvPr/>
        </p:nvSpPr>
        <p:spPr>
          <a:xfrm>
            <a:off x="384120" y="3107880"/>
            <a:ext cx="4314960" cy="684720"/>
          </a:xfrm>
          <a:prstGeom prst="rect">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0" name="Shape 23"/>
          <p:cNvSpPr/>
          <p:nvPr/>
        </p:nvSpPr>
        <p:spPr>
          <a:xfrm>
            <a:off x="384120" y="3107880"/>
            <a:ext cx="63000" cy="68472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1" name="Shape 24"/>
          <p:cNvSpPr/>
          <p:nvPr/>
        </p:nvSpPr>
        <p:spPr>
          <a:xfrm>
            <a:off x="521280" y="3226680"/>
            <a:ext cx="254880" cy="254880"/>
          </a:xfrm>
          <a:prstGeom prst="roundRect">
            <a:avLst>
              <a:gd name="adj" fmla="val 21429"/>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2" name="Text 25"/>
          <p:cNvSpPr/>
          <p:nvPr/>
        </p:nvSpPr>
        <p:spPr>
          <a:xfrm>
            <a:off x="521280" y="322668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4</a:t>
            </a:r>
            <a:endParaRPr lang="pl-PL" sz="1000" b="0" u="none" strike="noStrike">
              <a:solidFill>
                <a:srgbClr val="FFFFFF"/>
              </a:solidFill>
              <a:effectLst/>
              <a:uFillTx/>
              <a:latin typeface="Arial"/>
            </a:endParaRPr>
          </a:p>
        </p:txBody>
      </p:sp>
      <p:sp>
        <p:nvSpPr>
          <p:cNvPr id="63" name="Text 26"/>
          <p:cNvSpPr/>
          <p:nvPr/>
        </p:nvSpPr>
        <p:spPr>
          <a:xfrm>
            <a:off x="887040" y="31993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7C4DFF"/>
                </a:solidFill>
                <a:effectLst/>
                <a:uFillTx/>
                <a:latin typeface="Calibri"/>
              </a:rPr>
              <a:t>Metodyki pracy</a:t>
            </a:r>
            <a:endParaRPr lang="pl-PL" sz="1600" b="0" u="none" strike="noStrike">
              <a:solidFill>
                <a:srgbClr val="FFFFFF"/>
              </a:solidFill>
              <a:effectLst/>
              <a:uFillTx/>
              <a:latin typeface="Arial"/>
            </a:endParaRPr>
          </a:p>
        </p:txBody>
      </p:sp>
      <p:sp>
        <p:nvSpPr>
          <p:cNvPr id="64" name="Text 27"/>
          <p:cNvSpPr/>
          <p:nvPr/>
        </p:nvSpPr>
        <p:spPr>
          <a:xfrm>
            <a:off x="887040" y="3455280"/>
            <a:ext cx="367488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Scrum, Kanban, SAFe – wybór i konfiguracja</a:t>
            </a:r>
            <a:endParaRPr lang="pl-PL" sz="1100" b="0" u="none" strike="noStrike">
              <a:solidFill>
                <a:srgbClr val="FFFFFF"/>
              </a:solidFill>
              <a:effectLst/>
              <a:uFillTx/>
              <a:latin typeface="Arial"/>
            </a:endParaRPr>
          </a:p>
        </p:txBody>
      </p:sp>
      <p:sp>
        <p:nvSpPr>
          <p:cNvPr id="65" name="Shape 28"/>
          <p:cNvSpPr/>
          <p:nvPr/>
        </p:nvSpPr>
        <p:spPr>
          <a:xfrm>
            <a:off x="384120" y="3912480"/>
            <a:ext cx="4314960" cy="684720"/>
          </a:xfrm>
          <a:prstGeom prst="rect">
            <a:avLst/>
          </a:prstGeom>
          <a:solidFill>
            <a:srgbClr val="0A2540"/>
          </a:solidFill>
          <a:ln w="889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6" name="Shape 29"/>
          <p:cNvSpPr/>
          <p:nvPr/>
        </p:nvSpPr>
        <p:spPr>
          <a:xfrm>
            <a:off x="384120" y="3912480"/>
            <a:ext cx="63000" cy="68472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7" name="Shape 30"/>
          <p:cNvSpPr/>
          <p:nvPr/>
        </p:nvSpPr>
        <p:spPr>
          <a:xfrm>
            <a:off x="521280" y="4031640"/>
            <a:ext cx="254880" cy="254880"/>
          </a:xfrm>
          <a:prstGeom prst="roundRect">
            <a:avLst>
              <a:gd name="adj" fmla="val 21429"/>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8" name="Text 31"/>
          <p:cNvSpPr/>
          <p:nvPr/>
        </p:nvSpPr>
        <p:spPr>
          <a:xfrm>
            <a:off x="521280" y="403164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5</a:t>
            </a:r>
            <a:endParaRPr lang="pl-PL" sz="1000" b="0" u="none" strike="noStrike">
              <a:solidFill>
                <a:srgbClr val="FFFFFF"/>
              </a:solidFill>
              <a:effectLst/>
              <a:uFillTx/>
              <a:latin typeface="Arial"/>
            </a:endParaRPr>
          </a:p>
        </p:txBody>
      </p:sp>
      <p:sp>
        <p:nvSpPr>
          <p:cNvPr id="69" name="Text 32"/>
          <p:cNvSpPr/>
          <p:nvPr/>
        </p:nvSpPr>
        <p:spPr>
          <a:xfrm>
            <a:off x="887040" y="40039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B300"/>
                </a:solidFill>
                <a:effectLst/>
                <a:uFillTx/>
                <a:latin typeface="Calibri"/>
              </a:rPr>
              <a:t>Planowanie techniczne</a:t>
            </a:r>
            <a:endParaRPr lang="pl-PL" sz="1600" b="0" u="none" strike="noStrike">
              <a:solidFill>
                <a:srgbClr val="FFFFFF"/>
              </a:solidFill>
              <a:effectLst/>
              <a:uFillTx/>
              <a:latin typeface="Arial"/>
            </a:endParaRPr>
          </a:p>
        </p:txBody>
      </p:sp>
      <p:sp>
        <p:nvSpPr>
          <p:cNvPr id="70" name="Text 33"/>
          <p:cNvSpPr/>
          <p:nvPr/>
        </p:nvSpPr>
        <p:spPr>
          <a:xfrm>
            <a:off x="887040" y="4260240"/>
            <a:ext cx="367488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Architektura, tech stack, roadmapa produktu</a:t>
            </a:r>
            <a:endParaRPr lang="pl-PL" sz="1100" b="0" u="none" strike="noStrike">
              <a:solidFill>
                <a:srgbClr val="FFFFFF"/>
              </a:solidFill>
              <a:effectLst/>
              <a:uFillTx/>
              <a:latin typeface="Arial"/>
            </a:endParaRPr>
          </a:p>
        </p:txBody>
      </p:sp>
      <p:sp>
        <p:nvSpPr>
          <p:cNvPr id="71" name="Shape 34"/>
          <p:cNvSpPr/>
          <p:nvPr/>
        </p:nvSpPr>
        <p:spPr>
          <a:xfrm>
            <a:off x="4837320" y="694080"/>
            <a:ext cx="3921840" cy="68472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2" name="Shape 35"/>
          <p:cNvSpPr/>
          <p:nvPr/>
        </p:nvSpPr>
        <p:spPr>
          <a:xfrm>
            <a:off x="4837320" y="694080"/>
            <a:ext cx="63000" cy="68472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3" name="Shape 36"/>
          <p:cNvSpPr/>
          <p:nvPr/>
        </p:nvSpPr>
        <p:spPr>
          <a:xfrm>
            <a:off x="4974480" y="812880"/>
            <a:ext cx="254880" cy="254880"/>
          </a:xfrm>
          <a:prstGeom prst="roundRect">
            <a:avLst>
              <a:gd name="adj" fmla="val 21429"/>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4" name="Text 37"/>
          <p:cNvSpPr/>
          <p:nvPr/>
        </p:nvSpPr>
        <p:spPr>
          <a:xfrm>
            <a:off x="4974480" y="81288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6</a:t>
            </a:r>
            <a:endParaRPr lang="pl-PL" sz="1000" b="0" u="none" strike="noStrike">
              <a:solidFill>
                <a:srgbClr val="FFFFFF"/>
              </a:solidFill>
              <a:effectLst/>
              <a:uFillTx/>
              <a:latin typeface="Arial"/>
            </a:endParaRPr>
          </a:p>
        </p:txBody>
      </p:sp>
      <p:sp>
        <p:nvSpPr>
          <p:cNvPr id="75" name="Text 38"/>
          <p:cNvSpPr/>
          <p:nvPr/>
        </p:nvSpPr>
        <p:spPr>
          <a:xfrm>
            <a:off x="5340240" y="7855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0BCD4"/>
                </a:solidFill>
                <a:effectLst/>
                <a:uFillTx/>
                <a:latin typeface="Calibri"/>
              </a:rPr>
              <a:t>Proces UX/UI</a:t>
            </a:r>
            <a:endParaRPr lang="pl-PL" sz="1600" b="0" u="none" strike="noStrike">
              <a:solidFill>
                <a:srgbClr val="FFFFFF"/>
              </a:solidFill>
              <a:effectLst/>
              <a:uFillTx/>
              <a:latin typeface="Arial"/>
            </a:endParaRPr>
          </a:p>
        </p:txBody>
      </p:sp>
      <p:sp>
        <p:nvSpPr>
          <p:cNvPr id="76" name="Text 39"/>
          <p:cNvSpPr/>
          <p:nvPr/>
        </p:nvSpPr>
        <p:spPr>
          <a:xfrm>
            <a:off x="5340240" y="1041480"/>
            <a:ext cx="322380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Design sprint, prototypowanie, testy użyteczności</a:t>
            </a:r>
            <a:endParaRPr lang="pl-PL" sz="1100" b="0" u="none" strike="noStrike">
              <a:solidFill>
                <a:srgbClr val="FFFFFF"/>
              </a:solidFill>
              <a:effectLst/>
              <a:uFillTx/>
              <a:latin typeface="Arial"/>
            </a:endParaRPr>
          </a:p>
        </p:txBody>
      </p:sp>
      <p:sp>
        <p:nvSpPr>
          <p:cNvPr id="77" name="Shape 40"/>
          <p:cNvSpPr/>
          <p:nvPr/>
        </p:nvSpPr>
        <p:spPr>
          <a:xfrm>
            <a:off x="4837320" y="1498680"/>
            <a:ext cx="3921840" cy="68472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8" name="Shape 41"/>
          <p:cNvSpPr/>
          <p:nvPr/>
        </p:nvSpPr>
        <p:spPr>
          <a:xfrm>
            <a:off x="4837320" y="1498680"/>
            <a:ext cx="63000" cy="68472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9" name="Shape 42"/>
          <p:cNvSpPr/>
          <p:nvPr/>
        </p:nvSpPr>
        <p:spPr>
          <a:xfrm>
            <a:off x="4974480" y="1617480"/>
            <a:ext cx="254880" cy="254880"/>
          </a:xfrm>
          <a:prstGeom prst="roundRect">
            <a:avLst>
              <a:gd name="adj" fmla="val 21429"/>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0" name="Text 43"/>
          <p:cNvSpPr/>
          <p:nvPr/>
        </p:nvSpPr>
        <p:spPr>
          <a:xfrm>
            <a:off x="4974480" y="161748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7</a:t>
            </a:r>
            <a:endParaRPr lang="pl-PL" sz="1000" b="0" u="none" strike="noStrike">
              <a:solidFill>
                <a:srgbClr val="FFFFFF"/>
              </a:solidFill>
              <a:effectLst/>
              <a:uFillTx/>
              <a:latin typeface="Arial"/>
            </a:endParaRPr>
          </a:p>
        </p:txBody>
      </p:sp>
      <p:sp>
        <p:nvSpPr>
          <p:cNvPr id="81" name="Text 44"/>
          <p:cNvSpPr/>
          <p:nvPr/>
        </p:nvSpPr>
        <p:spPr>
          <a:xfrm>
            <a:off x="5340240" y="15901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7043"/>
                </a:solidFill>
                <a:effectLst/>
                <a:uFillTx/>
                <a:latin typeface="Calibri"/>
              </a:rPr>
              <a:t>Development</a:t>
            </a:r>
            <a:endParaRPr lang="pl-PL" sz="1600" b="0" u="none" strike="noStrike">
              <a:solidFill>
                <a:srgbClr val="FFFFFF"/>
              </a:solidFill>
              <a:effectLst/>
              <a:uFillTx/>
              <a:latin typeface="Arial"/>
            </a:endParaRPr>
          </a:p>
        </p:txBody>
      </p:sp>
      <p:sp>
        <p:nvSpPr>
          <p:cNvPr id="82" name="Text 45"/>
          <p:cNvSpPr/>
          <p:nvPr/>
        </p:nvSpPr>
        <p:spPr>
          <a:xfrm>
            <a:off x="5340240" y="1846080"/>
            <a:ext cx="331524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100" b="0" u="none" strike="noStrike" spc="-40">
                <a:solidFill>
                  <a:srgbClr val="8ECAE6"/>
                </a:solidFill>
                <a:effectLst/>
                <a:uFillTx/>
                <a:latin typeface="Calibri"/>
              </a:rPr>
              <a:t>Sprinty, code review, CI/CD, zarządzanie długiem technicznym</a:t>
            </a:r>
            <a:endParaRPr lang="pl-PL" sz="1100" b="0" u="none" strike="noStrike">
              <a:solidFill>
                <a:srgbClr val="FFFFFF"/>
              </a:solidFill>
              <a:effectLst/>
              <a:uFillTx/>
              <a:latin typeface="Arial"/>
            </a:endParaRPr>
          </a:p>
        </p:txBody>
      </p:sp>
      <p:sp>
        <p:nvSpPr>
          <p:cNvPr id="83" name="Shape 46"/>
          <p:cNvSpPr/>
          <p:nvPr/>
        </p:nvSpPr>
        <p:spPr>
          <a:xfrm>
            <a:off x="4837320" y="2303280"/>
            <a:ext cx="3921840" cy="684720"/>
          </a:xfrm>
          <a:prstGeom prst="rect">
            <a:avLst/>
          </a:prstGeom>
          <a:solidFill>
            <a:srgbClr val="0A2540"/>
          </a:solidFill>
          <a:ln w="889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4" name="Shape 47"/>
          <p:cNvSpPr/>
          <p:nvPr/>
        </p:nvSpPr>
        <p:spPr>
          <a:xfrm>
            <a:off x="4837320" y="2303280"/>
            <a:ext cx="63000" cy="684720"/>
          </a:xfrm>
          <a:prstGeom prst="rect">
            <a:avLst/>
          </a:prstGeom>
          <a:solidFill>
            <a:srgbClr val="E91E8C"/>
          </a:solidFill>
          <a:ln w="1270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5" name="Shape 48"/>
          <p:cNvSpPr/>
          <p:nvPr/>
        </p:nvSpPr>
        <p:spPr>
          <a:xfrm>
            <a:off x="4974480" y="2422080"/>
            <a:ext cx="254880" cy="254880"/>
          </a:xfrm>
          <a:prstGeom prst="roundRect">
            <a:avLst>
              <a:gd name="adj" fmla="val 21429"/>
            </a:avLst>
          </a:prstGeom>
          <a:solidFill>
            <a:srgbClr val="E91E8C"/>
          </a:solidFill>
          <a:ln w="1270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6" name="Text 49"/>
          <p:cNvSpPr/>
          <p:nvPr/>
        </p:nvSpPr>
        <p:spPr>
          <a:xfrm>
            <a:off x="4974480" y="242208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8</a:t>
            </a:r>
            <a:endParaRPr lang="pl-PL" sz="1000" b="0" u="none" strike="noStrike">
              <a:solidFill>
                <a:srgbClr val="FFFFFF"/>
              </a:solidFill>
              <a:effectLst/>
              <a:uFillTx/>
              <a:latin typeface="Arial"/>
            </a:endParaRPr>
          </a:p>
        </p:txBody>
      </p:sp>
      <p:sp>
        <p:nvSpPr>
          <p:cNvPr id="87" name="Text 50"/>
          <p:cNvSpPr/>
          <p:nvPr/>
        </p:nvSpPr>
        <p:spPr>
          <a:xfrm>
            <a:off x="5340240" y="23947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E91E8C"/>
                </a:solidFill>
                <a:effectLst/>
                <a:uFillTx/>
                <a:latin typeface="Calibri"/>
              </a:rPr>
              <a:t>Lider zespołu</a:t>
            </a:r>
            <a:endParaRPr lang="pl-PL" sz="1600" b="0" u="none" strike="noStrike">
              <a:solidFill>
                <a:srgbClr val="FFFFFF"/>
              </a:solidFill>
              <a:effectLst/>
              <a:uFillTx/>
              <a:latin typeface="Arial"/>
            </a:endParaRPr>
          </a:p>
        </p:txBody>
      </p:sp>
      <p:sp>
        <p:nvSpPr>
          <p:cNvPr id="88" name="Text 51"/>
          <p:cNvSpPr/>
          <p:nvPr/>
        </p:nvSpPr>
        <p:spPr>
          <a:xfrm>
            <a:off x="5340240" y="2650680"/>
            <a:ext cx="322380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Obowiązki, kompetencje, techniki zarządzania</a:t>
            </a:r>
            <a:endParaRPr lang="pl-PL" sz="1100" b="0" u="none" strike="noStrike">
              <a:solidFill>
                <a:srgbClr val="FFFFFF"/>
              </a:solidFill>
              <a:effectLst/>
              <a:uFillTx/>
              <a:latin typeface="Arial"/>
            </a:endParaRPr>
          </a:p>
        </p:txBody>
      </p:sp>
      <p:sp>
        <p:nvSpPr>
          <p:cNvPr id="89" name="Shape 52"/>
          <p:cNvSpPr/>
          <p:nvPr/>
        </p:nvSpPr>
        <p:spPr>
          <a:xfrm>
            <a:off x="4837320" y="3107880"/>
            <a:ext cx="3921840" cy="684720"/>
          </a:xfrm>
          <a:prstGeom prst="rect">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0" name="Shape 53"/>
          <p:cNvSpPr/>
          <p:nvPr/>
        </p:nvSpPr>
        <p:spPr>
          <a:xfrm>
            <a:off x="4837320" y="3107880"/>
            <a:ext cx="63000" cy="68472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1" name="Shape 54"/>
          <p:cNvSpPr/>
          <p:nvPr/>
        </p:nvSpPr>
        <p:spPr>
          <a:xfrm>
            <a:off x="4974480" y="3226680"/>
            <a:ext cx="254880" cy="254880"/>
          </a:xfrm>
          <a:prstGeom prst="roundRect">
            <a:avLst>
              <a:gd name="adj" fmla="val 21429"/>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2" name="Text 55"/>
          <p:cNvSpPr/>
          <p:nvPr/>
        </p:nvSpPr>
        <p:spPr>
          <a:xfrm>
            <a:off x="4974480" y="322668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9</a:t>
            </a:r>
            <a:endParaRPr lang="pl-PL" sz="1000" b="0" u="none" strike="noStrike">
              <a:solidFill>
                <a:srgbClr val="FFFFFF"/>
              </a:solidFill>
              <a:effectLst/>
              <a:uFillTx/>
              <a:latin typeface="Arial"/>
            </a:endParaRPr>
          </a:p>
        </p:txBody>
      </p:sp>
      <p:sp>
        <p:nvSpPr>
          <p:cNvPr id="93" name="Text 56"/>
          <p:cNvSpPr/>
          <p:nvPr/>
        </p:nvSpPr>
        <p:spPr>
          <a:xfrm>
            <a:off x="5340240" y="31993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4CAF50"/>
                </a:solidFill>
                <a:effectLst/>
                <a:uFillTx/>
                <a:latin typeface="Calibri"/>
              </a:rPr>
              <a:t>QA i testowanie</a:t>
            </a:r>
            <a:endParaRPr lang="pl-PL" sz="1600" b="0" u="none" strike="noStrike">
              <a:solidFill>
                <a:srgbClr val="FFFFFF"/>
              </a:solidFill>
              <a:effectLst/>
              <a:uFillTx/>
              <a:latin typeface="Arial"/>
            </a:endParaRPr>
          </a:p>
        </p:txBody>
      </p:sp>
      <p:sp>
        <p:nvSpPr>
          <p:cNvPr id="94" name="Text 57"/>
          <p:cNvSpPr/>
          <p:nvPr/>
        </p:nvSpPr>
        <p:spPr>
          <a:xfrm>
            <a:off x="5340240" y="3455280"/>
            <a:ext cx="322380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Strategie, automatyzacja, definicja Done</a:t>
            </a:r>
            <a:endParaRPr lang="pl-PL" sz="1100" b="0" u="none" strike="noStrike">
              <a:solidFill>
                <a:srgbClr val="FFFFFF"/>
              </a:solidFill>
              <a:effectLst/>
              <a:uFillTx/>
              <a:latin typeface="Arial"/>
            </a:endParaRPr>
          </a:p>
        </p:txBody>
      </p:sp>
      <p:sp>
        <p:nvSpPr>
          <p:cNvPr id="95" name="Shape 58"/>
          <p:cNvSpPr/>
          <p:nvPr/>
        </p:nvSpPr>
        <p:spPr>
          <a:xfrm>
            <a:off x="4837320" y="3912480"/>
            <a:ext cx="3921840" cy="684720"/>
          </a:xfrm>
          <a:prstGeom prst="rect">
            <a:avLst/>
          </a:prstGeom>
          <a:solidFill>
            <a:srgbClr val="0A2540"/>
          </a:solidFill>
          <a:ln w="889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6" name="Shape 59"/>
          <p:cNvSpPr/>
          <p:nvPr/>
        </p:nvSpPr>
        <p:spPr>
          <a:xfrm>
            <a:off x="4837320" y="3912480"/>
            <a:ext cx="63000" cy="68472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7" name="Shape 60"/>
          <p:cNvSpPr/>
          <p:nvPr/>
        </p:nvSpPr>
        <p:spPr>
          <a:xfrm>
            <a:off x="4974480" y="4031640"/>
            <a:ext cx="254880" cy="254880"/>
          </a:xfrm>
          <a:prstGeom prst="roundRect">
            <a:avLst>
              <a:gd name="adj" fmla="val 21429"/>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8" name="Text 61"/>
          <p:cNvSpPr/>
          <p:nvPr/>
        </p:nvSpPr>
        <p:spPr>
          <a:xfrm>
            <a:off x="4974480" y="4031640"/>
            <a:ext cx="25488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10</a:t>
            </a:r>
            <a:endParaRPr lang="pl-PL" sz="1000" b="0" u="none" strike="noStrike">
              <a:solidFill>
                <a:srgbClr val="FFFFFF"/>
              </a:solidFill>
              <a:effectLst/>
              <a:uFillTx/>
              <a:latin typeface="Arial"/>
            </a:endParaRPr>
          </a:p>
        </p:txBody>
      </p:sp>
      <p:sp>
        <p:nvSpPr>
          <p:cNvPr id="99" name="Text 62"/>
          <p:cNvSpPr/>
          <p:nvPr/>
        </p:nvSpPr>
        <p:spPr>
          <a:xfrm>
            <a:off x="5340240" y="4003920"/>
            <a:ext cx="3109320" cy="23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EF5350"/>
                </a:solidFill>
                <a:effectLst/>
                <a:uFillTx/>
                <a:latin typeface="Calibri"/>
              </a:rPr>
              <a:t>Launch i po launchu</a:t>
            </a:r>
            <a:endParaRPr lang="pl-PL" sz="1600" b="0" u="none" strike="noStrike">
              <a:solidFill>
                <a:srgbClr val="FFFFFF"/>
              </a:solidFill>
              <a:effectLst/>
              <a:uFillTx/>
              <a:latin typeface="Arial"/>
            </a:endParaRPr>
          </a:p>
        </p:txBody>
      </p:sp>
      <p:sp>
        <p:nvSpPr>
          <p:cNvPr id="100" name="Text 63"/>
          <p:cNvSpPr/>
          <p:nvPr/>
        </p:nvSpPr>
        <p:spPr>
          <a:xfrm>
            <a:off x="5340240" y="4260240"/>
            <a:ext cx="322380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App Store, metryki, iteracja, zarządzanie kryzysem</a:t>
            </a:r>
            <a:endParaRPr lang="pl-PL" sz="1100" b="0" u="none" strike="noStrike">
              <a:solidFill>
                <a:srgbClr val="FFFFFF"/>
              </a:solidFill>
              <a:effectLst/>
              <a:uFillTx/>
              <a:latin typeface="Arial"/>
            </a:endParaRPr>
          </a:p>
        </p:txBody>
      </p:sp>
      <p:sp>
        <p:nvSpPr>
          <p:cNvPr id="101" name="Shape 64"/>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2" name="Text 67"/>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8ECAE6"/>
                </a:solidFill>
                <a:effectLst/>
                <a:uFillTx/>
                <a:latin typeface="Calibri"/>
              </a:rPr>
              <a:t>2 / 30</a:t>
            </a:r>
            <a:endParaRPr lang="pl-PL" sz="10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1422"/>
        </a:solidFill>
        <a:effectLst/>
      </p:bgPr>
    </p:bg>
    <p:spTree>
      <p:nvGrpSpPr>
        <p:cNvPr id="1" name=""/>
        <p:cNvGrpSpPr/>
        <p:nvPr/>
      </p:nvGrpSpPr>
      <p:grpSpPr>
        <a:xfrm>
          <a:off x="0" y="0"/>
          <a:ext cx="0" cy="0"/>
          <a:chOff x="0" y="0"/>
          <a:chExt cx="0" cy="0"/>
        </a:xfrm>
      </p:grpSpPr>
      <p:sp>
        <p:nvSpPr>
          <p:cNvPr id="103" name="Shape 0"/>
          <p:cNvSpPr/>
          <p:nvPr/>
        </p:nvSpPr>
        <p:spPr>
          <a:xfrm>
            <a:off x="0" y="0"/>
            <a:ext cx="90360" cy="495504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4" name="Shape 1"/>
          <p:cNvSpPr/>
          <p:nvPr/>
        </p:nvSpPr>
        <p:spPr>
          <a:xfrm>
            <a:off x="0" y="2897640"/>
            <a:ext cx="9142920" cy="2039040"/>
          </a:xfrm>
          <a:prstGeom prst="rect">
            <a:avLst/>
          </a:prstGeom>
          <a:solidFill>
            <a:srgbClr val="081828"/>
          </a:solidFill>
          <a:ln w="12700">
            <a:solidFill>
              <a:srgbClr val="08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5" name="Shape 2"/>
          <p:cNvSpPr/>
          <p:nvPr/>
        </p:nvSpPr>
        <p:spPr>
          <a:xfrm>
            <a:off x="502920" y="1005840"/>
            <a:ext cx="1114560" cy="273240"/>
          </a:xfrm>
          <a:prstGeom prst="roundRect">
            <a:avLst>
              <a:gd name="adj" fmla="val 26667"/>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6" name="Text 3"/>
          <p:cNvSpPr/>
          <p:nvPr/>
        </p:nvSpPr>
        <p:spPr>
          <a:xfrm>
            <a:off x="502920" y="1005840"/>
            <a:ext cx="1114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ROZDZIAŁ 1</a:t>
            </a:r>
            <a:endParaRPr lang="pl-PL" sz="1200" b="0" u="none" strike="noStrike">
              <a:solidFill>
                <a:srgbClr val="FFFFFF"/>
              </a:solidFill>
              <a:effectLst/>
              <a:uFillTx/>
              <a:latin typeface="Arial"/>
            </a:endParaRPr>
          </a:p>
        </p:txBody>
      </p:sp>
      <p:sp>
        <p:nvSpPr>
          <p:cNvPr id="107" name="Text 4"/>
          <p:cNvSpPr/>
          <p:nvPr/>
        </p:nvSpPr>
        <p:spPr>
          <a:xfrm>
            <a:off x="502920" y="1389960"/>
            <a:ext cx="8045640" cy="15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4000" b="1" u="none" strike="noStrike" dirty="0" err="1">
                <a:solidFill>
                  <a:srgbClr val="FFFFFF"/>
                </a:solidFill>
                <a:effectLst/>
                <a:uFillTx/>
                <a:latin typeface="Calibri"/>
              </a:rPr>
              <a:t>Kontekst</a:t>
            </a:r>
            <a:r>
              <a:rPr lang="en-US" sz="4000" b="1" u="none" strike="noStrike" dirty="0">
                <a:solidFill>
                  <a:srgbClr val="FFFFFF"/>
                </a:solidFill>
                <a:effectLst/>
                <a:uFillTx/>
                <a:latin typeface="Calibri"/>
              </a:rPr>
              <a:t> </a:t>
            </a:r>
            <a:endParaRPr lang="pl-PL" sz="4000" b="1" u="none" strike="noStrike" dirty="0" smtClean="0">
              <a:solidFill>
                <a:srgbClr val="FFFFFF"/>
              </a:solidFill>
              <a:effectLst/>
              <a:uFillTx/>
              <a:latin typeface="Calibri"/>
            </a:endParaRPr>
          </a:p>
          <a:p>
            <a:pPr defTabSz="914400">
              <a:lnSpc>
                <a:spcPct val="100000"/>
              </a:lnSpc>
              <a:tabLst>
                <a:tab pos="0" algn="l"/>
              </a:tabLst>
            </a:pPr>
            <a:r>
              <a:rPr lang="pl-PL" sz="4000" b="1" dirty="0">
                <a:solidFill>
                  <a:srgbClr val="FFFFFF"/>
                </a:solidFill>
                <a:latin typeface="Calibri"/>
              </a:rPr>
              <a:t> </a:t>
            </a:r>
            <a:r>
              <a:rPr lang="pl-PL" sz="4000" b="1" dirty="0" smtClean="0">
                <a:solidFill>
                  <a:srgbClr val="FFFFFF"/>
                </a:solidFill>
                <a:latin typeface="Calibri"/>
              </a:rPr>
              <a:t>   </a:t>
            </a:r>
            <a:r>
              <a:rPr lang="en-US" sz="4000" b="1" u="none" strike="noStrike" dirty="0" err="1" smtClean="0">
                <a:solidFill>
                  <a:srgbClr val="FFFFFF"/>
                </a:solidFill>
                <a:effectLst/>
                <a:uFillTx/>
                <a:latin typeface="Calibri"/>
              </a:rPr>
              <a:t>rynkowy</a:t>
            </a:r>
            <a:endParaRPr lang="pl-PL" sz="4000" b="0" u="none" strike="noStrike" dirty="0">
              <a:solidFill>
                <a:srgbClr val="FFFFFF"/>
              </a:solidFill>
              <a:effectLst/>
              <a:uFillTx/>
              <a:latin typeface="Arial"/>
            </a:endParaRPr>
          </a:p>
        </p:txBody>
      </p:sp>
      <p:sp>
        <p:nvSpPr>
          <p:cNvPr id="108" name="Text 5"/>
          <p:cNvSpPr/>
          <p:nvPr/>
        </p:nvSpPr>
        <p:spPr>
          <a:xfrm>
            <a:off x="502920" y="3063240"/>
            <a:ext cx="6856920" cy="59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600" b="0" u="none" strike="noStrike">
                <a:solidFill>
                  <a:srgbClr val="8ECAE6"/>
                </a:solidFill>
                <a:effectLst/>
                <a:uFillTx/>
                <a:latin typeface="Calibri"/>
              </a:rPr>
              <a:t>Dlaczego planowanie jest kluczowe? Statystyki porażek i sukcesów</a:t>
            </a:r>
            <a:endParaRPr lang="pl-PL" sz="1600" b="0" u="none" strike="noStrike">
              <a:solidFill>
                <a:srgbClr val="FFFFFF"/>
              </a:solidFill>
              <a:effectLst/>
              <a:uFillTx/>
              <a:latin typeface="Arial"/>
            </a:endParaRPr>
          </a:p>
        </p:txBody>
      </p:sp>
      <p:sp>
        <p:nvSpPr>
          <p:cNvPr id="109" name="Shape 6"/>
          <p:cNvSpPr/>
          <p:nvPr/>
        </p:nvSpPr>
        <p:spPr>
          <a:xfrm>
            <a:off x="502920" y="3373560"/>
            <a:ext cx="4869000" cy="360"/>
          </a:xfrm>
          <a:prstGeom prst="line">
            <a:avLst/>
          </a:prstGeom>
          <a:ln w="1524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110" name="Shape 8"/>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1" name="Text 11"/>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8ECAE6"/>
                </a:solidFill>
                <a:effectLst/>
                <a:uFillTx/>
                <a:latin typeface="Calibri"/>
              </a:rPr>
              <a:t>3 / 30</a:t>
            </a:r>
            <a:endParaRPr lang="pl-PL" sz="10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112" name="Shape 0"/>
          <p:cNvSpPr/>
          <p:nvPr/>
        </p:nvSpPr>
        <p:spPr>
          <a:xfrm>
            <a:off x="384120" y="118800"/>
            <a:ext cx="639000" cy="218520"/>
          </a:xfrm>
          <a:prstGeom prst="roundRect">
            <a:avLst>
              <a:gd name="adj" fmla="val 33333"/>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13" name="Text 1"/>
          <p:cNvSpPr/>
          <p:nvPr/>
        </p:nvSpPr>
        <p:spPr>
          <a:xfrm>
            <a:off x="384120" y="118800"/>
            <a:ext cx="63900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1.1</a:t>
            </a:r>
            <a:endParaRPr lang="pl-PL" sz="1200" b="0" u="none" strike="noStrike">
              <a:solidFill>
                <a:srgbClr val="FFFFFF"/>
              </a:solidFill>
              <a:effectLst/>
              <a:uFillTx/>
              <a:latin typeface="Arial"/>
            </a:endParaRPr>
          </a:p>
        </p:txBody>
      </p:sp>
      <p:sp>
        <p:nvSpPr>
          <p:cNvPr id="114" name="Text 2"/>
          <p:cNvSpPr/>
          <p:nvPr/>
        </p:nvSpPr>
        <p:spPr>
          <a:xfrm>
            <a:off x="1134000" y="73080"/>
            <a:ext cx="7588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a:solidFill>
                  <a:srgbClr val="FFFFFF"/>
                </a:solidFill>
                <a:effectLst/>
                <a:uFillTx/>
                <a:latin typeface="Calibri"/>
              </a:rPr>
              <a:t>Dlaczego</a:t>
            </a:r>
            <a:r>
              <a:rPr lang="en-US" sz="2000" b="1" u="none" strike="noStrike">
                <a:solidFill>
                  <a:srgbClr val="FFFFFF"/>
                </a:solidFill>
                <a:effectLst/>
                <a:uFillTx/>
                <a:latin typeface="Calibri"/>
              </a:rPr>
              <a:t> </a:t>
            </a:r>
            <a:r>
              <a:rPr lang="pl-PL" sz="2000" b="1" u="none" strike="noStrike">
                <a:solidFill>
                  <a:srgbClr val="FFFFFF"/>
                </a:solidFill>
                <a:effectLst/>
                <a:uFillTx/>
                <a:latin typeface="Calibri"/>
              </a:rPr>
              <a:t>projekty</a:t>
            </a:r>
            <a:r>
              <a:rPr lang="en-US" sz="2000" b="1" u="none" strike="noStrike">
                <a:solidFill>
                  <a:srgbClr val="FFFFFF"/>
                </a:solidFill>
                <a:effectLst/>
                <a:uFillTx/>
                <a:latin typeface="Calibri"/>
              </a:rPr>
              <a:t> </a:t>
            </a:r>
            <a:r>
              <a:rPr lang="pl-PL" sz="2000" b="1" u="none" strike="noStrike">
                <a:solidFill>
                  <a:srgbClr val="FFFFFF"/>
                </a:solidFill>
                <a:effectLst/>
                <a:uFillTx/>
                <a:latin typeface="Calibri"/>
              </a:rPr>
              <a:t>mobilne zawodzą:</a:t>
            </a:r>
            <a:r>
              <a:rPr lang="en-US" sz="2000" b="0" u="none" strike="noStrike">
                <a:solidFill>
                  <a:srgbClr val="FFFFFF"/>
                </a:solidFill>
                <a:effectLst/>
                <a:uFillTx/>
                <a:latin typeface="Calibri"/>
              </a:rPr>
              <a:t> twarde dane</a:t>
            </a:r>
            <a:endParaRPr lang="pl-PL" sz="2000" b="0" u="none" strike="noStrike">
              <a:solidFill>
                <a:srgbClr val="FFFFFF"/>
              </a:solidFill>
              <a:effectLst/>
              <a:uFillTx/>
              <a:latin typeface="Arial"/>
            </a:endParaRPr>
          </a:p>
        </p:txBody>
      </p:sp>
      <p:sp>
        <p:nvSpPr>
          <p:cNvPr id="115"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116" name="Shape 4"/>
          <p:cNvSpPr/>
          <p:nvPr/>
        </p:nvSpPr>
        <p:spPr>
          <a:xfrm>
            <a:off x="384120" y="605160"/>
            <a:ext cx="2010600" cy="1097280"/>
          </a:xfrm>
          <a:prstGeom prst="rect">
            <a:avLst/>
          </a:prstGeom>
          <a:solidFill>
            <a:srgbClr val="0A2540"/>
          </a:solidFill>
          <a:ln w="1016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7" name="Shape 5"/>
          <p:cNvSpPr/>
          <p:nvPr/>
        </p:nvSpPr>
        <p:spPr>
          <a:xfrm>
            <a:off x="384120" y="605160"/>
            <a:ext cx="2010600" cy="4968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5760" rIns="90000" bIns="5760" anchor="t">
            <a:noAutofit/>
          </a:bodyPr>
          <a:lstStyle/>
          <a:p>
            <a:pPr>
              <a:lnSpc>
                <a:spcPct val="100000"/>
              </a:lnSpc>
            </a:pPr>
            <a:endParaRPr lang="pl-PL" sz="1800" b="0" u="none" strike="noStrike">
              <a:solidFill>
                <a:srgbClr val="FFFFFF"/>
              </a:solidFill>
              <a:effectLst/>
              <a:uFillTx/>
              <a:latin typeface="Arial"/>
            </a:endParaRPr>
          </a:p>
        </p:txBody>
      </p:sp>
      <p:sp>
        <p:nvSpPr>
          <p:cNvPr id="118" name="Text 6"/>
          <p:cNvSpPr/>
          <p:nvPr/>
        </p:nvSpPr>
        <p:spPr>
          <a:xfrm>
            <a:off x="429840" y="658440"/>
            <a:ext cx="19191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EF5350"/>
                </a:solidFill>
                <a:effectLst/>
                <a:uFillTx/>
                <a:latin typeface="Calibri"/>
              </a:rPr>
              <a:t>42%</a:t>
            </a:r>
            <a:endParaRPr lang="pl-PL" sz="3600" b="0" u="none" strike="noStrike">
              <a:solidFill>
                <a:srgbClr val="FFFFFF"/>
              </a:solidFill>
              <a:effectLst/>
              <a:uFillTx/>
              <a:latin typeface="Arial"/>
            </a:endParaRPr>
          </a:p>
        </p:txBody>
      </p:sp>
      <p:sp>
        <p:nvSpPr>
          <p:cNvPr id="119" name="Text 7"/>
          <p:cNvSpPr/>
          <p:nvPr/>
        </p:nvSpPr>
        <p:spPr>
          <a:xfrm>
            <a:off x="429840" y="1179720"/>
            <a:ext cx="1919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600" b="1" u="none" strike="noStrike">
                <a:solidFill>
                  <a:srgbClr val="FFFFFF"/>
                </a:solidFill>
                <a:effectLst/>
                <a:uFillTx/>
                <a:latin typeface="Calibri"/>
              </a:rPr>
              <a:t>projektów mobilnych</a:t>
            </a:r>
            <a:endParaRPr lang="pl-PL" sz="1600" b="0" u="none" strike="noStrike">
              <a:solidFill>
                <a:srgbClr val="FFFFFF"/>
              </a:solidFill>
              <a:effectLst/>
              <a:uFillTx/>
              <a:latin typeface="Arial"/>
            </a:endParaRPr>
          </a:p>
        </p:txBody>
      </p:sp>
      <p:sp>
        <p:nvSpPr>
          <p:cNvPr id="120" name="Text 8"/>
          <p:cNvSpPr/>
          <p:nvPr/>
        </p:nvSpPr>
        <p:spPr>
          <a:xfrm>
            <a:off x="429840" y="1408320"/>
            <a:ext cx="191916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900" b="0" u="none" strike="noStrike">
                <a:solidFill>
                  <a:srgbClr val="8ECAE6"/>
                </a:solidFill>
                <a:effectLst/>
                <a:uFillTx/>
                <a:latin typeface="Calibri"/>
              </a:rPr>
              <a:t>upada z powodu braku potrzeby rynkowej</a:t>
            </a:r>
            <a:endParaRPr lang="pl-PL" sz="900" b="0" u="none" strike="noStrike">
              <a:solidFill>
                <a:srgbClr val="FFFFFF"/>
              </a:solidFill>
              <a:effectLst/>
              <a:uFillTx/>
              <a:latin typeface="Arial"/>
            </a:endParaRPr>
          </a:p>
        </p:txBody>
      </p:sp>
      <p:sp>
        <p:nvSpPr>
          <p:cNvPr id="121" name="Shape 9"/>
          <p:cNvSpPr/>
          <p:nvPr/>
        </p:nvSpPr>
        <p:spPr>
          <a:xfrm>
            <a:off x="2487240" y="605160"/>
            <a:ext cx="2010600" cy="1097280"/>
          </a:xfrm>
          <a:prstGeom prst="rect">
            <a:avLst/>
          </a:prstGeom>
          <a:solidFill>
            <a:srgbClr val="0A2540"/>
          </a:solidFill>
          <a:ln w="1016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22" name="Shape 10"/>
          <p:cNvSpPr/>
          <p:nvPr/>
        </p:nvSpPr>
        <p:spPr>
          <a:xfrm>
            <a:off x="2487240" y="605160"/>
            <a:ext cx="2010600" cy="4968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5760" rIns="90000" bIns="5760" anchor="t">
            <a:noAutofit/>
          </a:bodyPr>
          <a:lstStyle/>
          <a:p>
            <a:pPr>
              <a:lnSpc>
                <a:spcPct val="100000"/>
              </a:lnSpc>
            </a:pPr>
            <a:endParaRPr lang="pl-PL" sz="1800" b="0" u="none" strike="noStrike">
              <a:solidFill>
                <a:srgbClr val="FFFFFF"/>
              </a:solidFill>
              <a:effectLst/>
              <a:uFillTx/>
              <a:latin typeface="Arial"/>
            </a:endParaRPr>
          </a:p>
        </p:txBody>
      </p:sp>
      <p:sp>
        <p:nvSpPr>
          <p:cNvPr id="123" name="Text 11"/>
          <p:cNvSpPr/>
          <p:nvPr/>
        </p:nvSpPr>
        <p:spPr>
          <a:xfrm>
            <a:off x="2532960" y="658440"/>
            <a:ext cx="19191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FF7043"/>
                </a:solidFill>
                <a:effectLst/>
                <a:uFillTx/>
                <a:latin typeface="Calibri"/>
              </a:rPr>
              <a:t>68%</a:t>
            </a:r>
            <a:endParaRPr lang="pl-PL" sz="3600" b="0" u="none" strike="noStrike">
              <a:solidFill>
                <a:srgbClr val="FFFFFF"/>
              </a:solidFill>
              <a:effectLst/>
              <a:uFillTx/>
              <a:latin typeface="Arial"/>
            </a:endParaRPr>
          </a:p>
        </p:txBody>
      </p:sp>
      <p:sp>
        <p:nvSpPr>
          <p:cNvPr id="124" name="Text 12"/>
          <p:cNvSpPr/>
          <p:nvPr/>
        </p:nvSpPr>
        <p:spPr>
          <a:xfrm>
            <a:off x="2532960" y="1179720"/>
            <a:ext cx="1919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600" b="1" u="none" strike="noStrike">
                <a:solidFill>
                  <a:srgbClr val="FFFFFF"/>
                </a:solidFill>
                <a:effectLst/>
                <a:uFillTx/>
                <a:latin typeface="Calibri"/>
              </a:rPr>
              <a:t>projektów IT</a:t>
            </a:r>
            <a:endParaRPr lang="pl-PL" sz="1600" b="0" u="none" strike="noStrike">
              <a:solidFill>
                <a:srgbClr val="FFFFFF"/>
              </a:solidFill>
              <a:effectLst/>
              <a:uFillTx/>
              <a:latin typeface="Arial"/>
            </a:endParaRPr>
          </a:p>
        </p:txBody>
      </p:sp>
      <p:sp>
        <p:nvSpPr>
          <p:cNvPr id="125" name="Text 13"/>
          <p:cNvSpPr/>
          <p:nvPr/>
        </p:nvSpPr>
        <p:spPr>
          <a:xfrm>
            <a:off x="2532960" y="1408320"/>
            <a:ext cx="191916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000" b="0" u="none" strike="noStrike">
                <a:solidFill>
                  <a:srgbClr val="8ECAE6"/>
                </a:solidFill>
                <a:effectLst/>
                <a:uFillTx/>
                <a:latin typeface="Calibri"/>
              </a:rPr>
              <a:t>przekracza budżet lub harmonogram</a:t>
            </a:r>
            <a:endParaRPr lang="pl-PL" sz="1000" b="0" u="none" strike="noStrike">
              <a:solidFill>
                <a:srgbClr val="FFFFFF"/>
              </a:solidFill>
              <a:effectLst/>
              <a:uFillTx/>
              <a:latin typeface="Arial"/>
            </a:endParaRPr>
          </a:p>
        </p:txBody>
      </p:sp>
      <p:sp>
        <p:nvSpPr>
          <p:cNvPr id="126" name="Shape 14"/>
          <p:cNvSpPr/>
          <p:nvPr/>
        </p:nvSpPr>
        <p:spPr>
          <a:xfrm>
            <a:off x="4590360" y="605160"/>
            <a:ext cx="2010600" cy="1097280"/>
          </a:xfrm>
          <a:prstGeom prst="rect">
            <a:avLst/>
          </a:prstGeom>
          <a:solidFill>
            <a:srgbClr val="0A2540"/>
          </a:solidFill>
          <a:ln w="1016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27" name="Shape 15"/>
          <p:cNvSpPr/>
          <p:nvPr/>
        </p:nvSpPr>
        <p:spPr>
          <a:xfrm>
            <a:off x="4590360" y="605160"/>
            <a:ext cx="2010600" cy="4968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5760" rIns="90000" bIns="5760" anchor="t">
            <a:noAutofit/>
          </a:bodyPr>
          <a:lstStyle/>
          <a:p>
            <a:pPr>
              <a:lnSpc>
                <a:spcPct val="100000"/>
              </a:lnSpc>
            </a:pPr>
            <a:endParaRPr lang="pl-PL" sz="1800" b="0" u="none" strike="noStrike">
              <a:solidFill>
                <a:srgbClr val="000000"/>
              </a:solidFill>
              <a:effectLst/>
              <a:uFillTx/>
              <a:latin typeface="Arial"/>
            </a:endParaRPr>
          </a:p>
        </p:txBody>
      </p:sp>
      <p:sp>
        <p:nvSpPr>
          <p:cNvPr id="128" name="Text 16"/>
          <p:cNvSpPr/>
          <p:nvPr/>
        </p:nvSpPr>
        <p:spPr>
          <a:xfrm>
            <a:off x="4636080" y="658440"/>
            <a:ext cx="19191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FFB300"/>
                </a:solidFill>
                <a:effectLst/>
                <a:uFillTx/>
                <a:latin typeface="Calibri"/>
              </a:rPr>
              <a:t>77%</a:t>
            </a:r>
            <a:endParaRPr lang="pl-PL" sz="3600" b="0" u="none" strike="noStrike">
              <a:solidFill>
                <a:srgbClr val="FFFFFF"/>
              </a:solidFill>
              <a:effectLst/>
              <a:uFillTx/>
              <a:latin typeface="Arial"/>
            </a:endParaRPr>
          </a:p>
        </p:txBody>
      </p:sp>
      <p:sp>
        <p:nvSpPr>
          <p:cNvPr id="129" name="Text 17"/>
          <p:cNvSpPr/>
          <p:nvPr/>
        </p:nvSpPr>
        <p:spPr>
          <a:xfrm>
            <a:off x="4636080" y="1179720"/>
            <a:ext cx="1919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600" b="1" u="none" strike="noStrike">
                <a:solidFill>
                  <a:srgbClr val="FFFFFF"/>
                </a:solidFill>
                <a:effectLst/>
                <a:uFillTx/>
                <a:latin typeface="Calibri"/>
              </a:rPr>
              <a:t>użytkowników</a:t>
            </a:r>
            <a:endParaRPr lang="pl-PL" sz="1600" b="0" u="none" strike="noStrike">
              <a:solidFill>
                <a:srgbClr val="FFFFFF"/>
              </a:solidFill>
              <a:effectLst/>
              <a:uFillTx/>
              <a:latin typeface="Arial"/>
            </a:endParaRPr>
          </a:p>
        </p:txBody>
      </p:sp>
      <p:sp>
        <p:nvSpPr>
          <p:cNvPr id="130" name="Text 18"/>
          <p:cNvSpPr/>
          <p:nvPr/>
        </p:nvSpPr>
        <p:spPr>
          <a:xfrm>
            <a:off x="4636080" y="1408320"/>
            <a:ext cx="191916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900" b="0" u="none" strike="noStrike">
                <a:solidFill>
                  <a:srgbClr val="8ECAE6"/>
                </a:solidFill>
                <a:effectLst/>
                <a:uFillTx/>
                <a:latin typeface="Calibri"/>
              </a:rPr>
              <a:t>porzuca aplikację w ciągu pierwszych 3 dni</a:t>
            </a:r>
            <a:endParaRPr lang="pl-PL" sz="900" b="0" u="none" strike="noStrike">
              <a:solidFill>
                <a:srgbClr val="FFFFFF"/>
              </a:solidFill>
              <a:effectLst/>
              <a:uFillTx/>
              <a:latin typeface="Arial"/>
            </a:endParaRPr>
          </a:p>
        </p:txBody>
      </p:sp>
      <p:sp>
        <p:nvSpPr>
          <p:cNvPr id="131" name="Shape 19"/>
          <p:cNvSpPr/>
          <p:nvPr/>
        </p:nvSpPr>
        <p:spPr>
          <a:xfrm>
            <a:off x="6693480" y="605160"/>
            <a:ext cx="2010600" cy="1097280"/>
          </a:xfrm>
          <a:prstGeom prst="rect">
            <a:avLst/>
          </a:prstGeom>
          <a:solidFill>
            <a:srgbClr val="0A2540"/>
          </a:solidFill>
          <a:ln w="1016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32" name="Shape 20"/>
          <p:cNvSpPr/>
          <p:nvPr/>
        </p:nvSpPr>
        <p:spPr>
          <a:xfrm>
            <a:off x="6693480" y="605160"/>
            <a:ext cx="2010600" cy="4968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5760" rIns="90000" bIns="5760" anchor="t">
            <a:noAutofit/>
          </a:bodyPr>
          <a:lstStyle/>
          <a:p>
            <a:pPr>
              <a:lnSpc>
                <a:spcPct val="100000"/>
              </a:lnSpc>
            </a:pPr>
            <a:endParaRPr lang="pl-PL" sz="1800" b="0" u="none" strike="noStrike">
              <a:solidFill>
                <a:srgbClr val="FFFFFF"/>
              </a:solidFill>
              <a:effectLst/>
              <a:uFillTx/>
              <a:latin typeface="Arial"/>
            </a:endParaRPr>
          </a:p>
        </p:txBody>
      </p:sp>
      <p:sp>
        <p:nvSpPr>
          <p:cNvPr id="133" name="Text 21"/>
          <p:cNvSpPr/>
          <p:nvPr/>
        </p:nvSpPr>
        <p:spPr>
          <a:xfrm>
            <a:off x="6739200" y="658440"/>
            <a:ext cx="19191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EF5350"/>
                </a:solidFill>
                <a:effectLst/>
                <a:uFillTx/>
                <a:latin typeface="Calibri"/>
              </a:rPr>
              <a:t>0.5%</a:t>
            </a:r>
            <a:endParaRPr lang="pl-PL" sz="3600" b="0" u="none" strike="noStrike">
              <a:solidFill>
                <a:srgbClr val="FFFFFF"/>
              </a:solidFill>
              <a:effectLst/>
              <a:uFillTx/>
              <a:latin typeface="Arial"/>
            </a:endParaRPr>
          </a:p>
        </p:txBody>
      </p:sp>
      <p:sp>
        <p:nvSpPr>
          <p:cNvPr id="134" name="Text 22"/>
          <p:cNvSpPr/>
          <p:nvPr/>
        </p:nvSpPr>
        <p:spPr>
          <a:xfrm>
            <a:off x="6739200" y="1179720"/>
            <a:ext cx="1919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600" b="1" u="none" strike="noStrike">
                <a:solidFill>
                  <a:srgbClr val="FFFFFF"/>
                </a:solidFill>
                <a:effectLst/>
                <a:uFillTx/>
                <a:latin typeface="Calibri"/>
              </a:rPr>
              <a:t>aplikacji</a:t>
            </a:r>
            <a:endParaRPr lang="pl-PL" sz="1600" b="0" u="none" strike="noStrike">
              <a:solidFill>
                <a:srgbClr val="FFFFFF"/>
              </a:solidFill>
              <a:effectLst/>
              <a:uFillTx/>
              <a:latin typeface="Arial"/>
            </a:endParaRPr>
          </a:p>
        </p:txBody>
      </p:sp>
      <p:sp>
        <p:nvSpPr>
          <p:cNvPr id="135" name="Text 23"/>
          <p:cNvSpPr/>
          <p:nvPr/>
        </p:nvSpPr>
        <p:spPr>
          <a:xfrm>
            <a:off x="6739200" y="1408320"/>
            <a:ext cx="191916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000" b="0" u="none" strike="noStrike">
                <a:solidFill>
                  <a:srgbClr val="8ECAE6"/>
                </a:solidFill>
                <a:effectLst/>
                <a:uFillTx/>
                <a:latin typeface="Calibri"/>
              </a:rPr>
              <a:t>osiąga finansowy sukces (Gartner, 2024)</a:t>
            </a:r>
            <a:endParaRPr lang="pl-PL" sz="1000" b="0" u="none" strike="noStrike">
              <a:solidFill>
                <a:srgbClr val="FFFFFF"/>
              </a:solidFill>
              <a:effectLst/>
              <a:uFillTx/>
              <a:latin typeface="Arial"/>
            </a:endParaRPr>
          </a:p>
        </p:txBody>
      </p:sp>
      <p:sp>
        <p:nvSpPr>
          <p:cNvPr id="136" name="Text 24"/>
          <p:cNvSpPr/>
          <p:nvPr/>
        </p:nvSpPr>
        <p:spPr>
          <a:xfrm>
            <a:off x="384120" y="1883520"/>
            <a:ext cx="837468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FFFFFF"/>
                </a:solidFill>
                <a:effectLst/>
                <a:uFillTx/>
                <a:latin typeface="Calibri"/>
              </a:rPr>
              <a:t>Główne przyczyny niepowodzeń </a:t>
            </a:r>
            <a:r>
              <a:rPr lang="en-US" sz="1400" b="0" u="none" strike="noStrike">
                <a:solidFill>
                  <a:srgbClr val="FFFFFF"/>
                </a:solidFill>
                <a:effectLst/>
                <a:uFillTx/>
                <a:latin typeface="Calibri"/>
              </a:rPr>
              <a:t>(wg Standish Group CHAOS Report)</a:t>
            </a:r>
            <a:endParaRPr lang="pl-PL" sz="1400" b="0" u="none" strike="noStrike">
              <a:solidFill>
                <a:srgbClr val="FFFFFF"/>
              </a:solidFill>
              <a:effectLst/>
              <a:uFillTx/>
              <a:latin typeface="Arial"/>
            </a:endParaRPr>
          </a:p>
        </p:txBody>
      </p:sp>
      <p:sp>
        <p:nvSpPr>
          <p:cNvPr id="137" name="Shape 25"/>
          <p:cNvSpPr/>
          <p:nvPr/>
        </p:nvSpPr>
        <p:spPr>
          <a:xfrm>
            <a:off x="384120" y="2125440"/>
            <a:ext cx="8374680" cy="346320"/>
          </a:xfrm>
          <a:prstGeom prst="rect">
            <a:avLst/>
          </a:prstGeom>
          <a:solidFill>
            <a:srgbClr val="0A2540"/>
          </a:solidFill>
          <a:ln w="508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38" name="Text 26"/>
          <p:cNvSpPr/>
          <p:nvPr/>
        </p:nvSpPr>
        <p:spPr>
          <a:xfrm>
            <a:off x="502920" y="2148120"/>
            <a:ext cx="594252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Brak zaangażowania użytkowników w proces</a:t>
            </a:r>
            <a:endParaRPr lang="pl-PL" sz="1400" b="0" u="none" strike="noStrike">
              <a:solidFill>
                <a:srgbClr val="FFFFFF"/>
              </a:solidFill>
              <a:effectLst/>
              <a:uFillTx/>
              <a:latin typeface="Arial"/>
            </a:endParaRPr>
          </a:p>
        </p:txBody>
      </p:sp>
      <p:sp>
        <p:nvSpPr>
          <p:cNvPr id="139" name="Shape 27"/>
          <p:cNvSpPr/>
          <p:nvPr/>
        </p:nvSpPr>
        <p:spPr>
          <a:xfrm>
            <a:off x="6583680" y="2216160"/>
            <a:ext cx="1397880" cy="11232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40" name="Text 28"/>
          <p:cNvSpPr/>
          <p:nvPr/>
        </p:nvSpPr>
        <p:spPr>
          <a:xfrm>
            <a:off x="8229600" y="2148120"/>
            <a:ext cx="50184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00BCD4"/>
                </a:solidFill>
                <a:effectLst/>
                <a:uFillTx/>
                <a:latin typeface="Calibri"/>
              </a:rPr>
              <a:t>13.1%</a:t>
            </a:r>
            <a:endParaRPr lang="pl-PL" sz="1400" b="0" u="none" strike="noStrike">
              <a:solidFill>
                <a:srgbClr val="FFFFFF"/>
              </a:solidFill>
              <a:effectLst/>
              <a:uFillTx/>
              <a:latin typeface="Arial"/>
            </a:endParaRPr>
          </a:p>
        </p:txBody>
      </p:sp>
      <p:sp>
        <p:nvSpPr>
          <p:cNvPr id="141" name="Shape 29"/>
          <p:cNvSpPr/>
          <p:nvPr/>
        </p:nvSpPr>
        <p:spPr>
          <a:xfrm>
            <a:off x="384120" y="2548440"/>
            <a:ext cx="8374680" cy="346320"/>
          </a:xfrm>
          <a:prstGeom prst="rect">
            <a:avLst/>
          </a:prstGeom>
          <a:solidFill>
            <a:srgbClr val="0A2540"/>
          </a:solidFill>
          <a:ln w="508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42" name="Text 30"/>
          <p:cNvSpPr/>
          <p:nvPr/>
        </p:nvSpPr>
        <p:spPr>
          <a:xfrm>
            <a:off x="502920" y="2571120"/>
            <a:ext cx="594252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Niekompletne wymagania</a:t>
            </a:r>
            <a:endParaRPr lang="pl-PL" sz="1400" b="0" u="none" strike="noStrike">
              <a:solidFill>
                <a:srgbClr val="FFFFFF"/>
              </a:solidFill>
              <a:effectLst/>
              <a:uFillTx/>
              <a:latin typeface="Arial"/>
            </a:endParaRPr>
          </a:p>
        </p:txBody>
      </p:sp>
      <p:sp>
        <p:nvSpPr>
          <p:cNvPr id="143" name="Shape 31"/>
          <p:cNvSpPr/>
          <p:nvPr/>
        </p:nvSpPr>
        <p:spPr>
          <a:xfrm>
            <a:off x="6583680" y="2639160"/>
            <a:ext cx="1315800" cy="11232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44" name="Text 32"/>
          <p:cNvSpPr/>
          <p:nvPr/>
        </p:nvSpPr>
        <p:spPr>
          <a:xfrm>
            <a:off x="8229600" y="2571120"/>
            <a:ext cx="50184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FF7043"/>
                </a:solidFill>
                <a:effectLst/>
                <a:uFillTx/>
                <a:latin typeface="Calibri"/>
              </a:rPr>
              <a:t>12.4%</a:t>
            </a:r>
            <a:endParaRPr lang="pl-PL" sz="1400" b="0" u="none" strike="noStrike">
              <a:solidFill>
                <a:srgbClr val="FFFFFF"/>
              </a:solidFill>
              <a:effectLst/>
              <a:uFillTx/>
              <a:latin typeface="Arial"/>
            </a:endParaRPr>
          </a:p>
        </p:txBody>
      </p:sp>
      <p:sp>
        <p:nvSpPr>
          <p:cNvPr id="145" name="Shape 33"/>
          <p:cNvSpPr/>
          <p:nvPr/>
        </p:nvSpPr>
        <p:spPr>
          <a:xfrm>
            <a:off x="384120" y="2971440"/>
            <a:ext cx="8374680" cy="346320"/>
          </a:xfrm>
          <a:prstGeom prst="rect">
            <a:avLst/>
          </a:prstGeom>
          <a:solidFill>
            <a:srgbClr val="0A2540"/>
          </a:solidFill>
          <a:ln w="508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46" name="Text 34"/>
          <p:cNvSpPr/>
          <p:nvPr/>
        </p:nvSpPr>
        <p:spPr>
          <a:xfrm>
            <a:off x="502920" y="2994120"/>
            <a:ext cx="594252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Zmieniające się wymagania i zakres</a:t>
            </a:r>
            <a:endParaRPr lang="pl-PL" sz="1400" b="0" u="none" strike="noStrike">
              <a:solidFill>
                <a:srgbClr val="FFFFFF"/>
              </a:solidFill>
              <a:effectLst/>
              <a:uFillTx/>
              <a:latin typeface="Arial"/>
            </a:endParaRPr>
          </a:p>
        </p:txBody>
      </p:sp>
      <p:sp>
        <p:nvSpPr>
          <p:cNvPr id="147" name="Shape 35"/>
          <p:cNvSpPr/>
          <p:nvPr/>
        </p:nvSpPr>
        <p:spPr>
          <a:xfrm>
            <a:off x="6583680" y="3061800"/>
            <a:ext cx="1249920" cy="11232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48" name="Text 36"/>
          <p:cNvSpPr/>
          <p:nvPr/>
        </p:nvSpPr>
        <p:spPr>
          <a:xfrm>
            <a:off x="8229600" y="2994120"/>
            <a:ext cx="50184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FFB300"/>
                </a:solidFill>
                <a:effectLst/>
                <a:uFillTx/>
                <a:latin typeface="Calibri"/>
              </a:rPr>
              <a:t>11.8%</a:t>
            </a:r>
            <a:endParaRPr lang="pl-PL" sz="1400" b="0" u="none" strike="noStrike">
              <a:solidFill>
                <a:srgbClr val="FFFFFF"/>
              </a:solidFill>
              <a:effectLst/>
              <a:uFillTx/>
              <a:latin typeface="Arial"/>
            </a:endParaRPr>
          </a:p>
        </p:txBody>
      </p:sp>
      <p:sp>
        <p:nvSpPr>
          <p:cNvPr id="149" name="Shape 37"/>
          <p:cNvSpPr/>
          <p:nvPr/>
        </p:nvSpPr>
        <p:spPr>
          <a:xfrm>
            <a:off x="384120" y="3394080"/>
            <a:ext cx="8374680" cy="346320"/>
          </a:xfrm>
          <a:prstGeom prst="rect">
            <a:avLst/>
          </a:prstGeom>
          <a:solidFill>
            <a:srgbClr val="0A2540"/>
          </a:solidFill>
          <a:ln w="508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50" name="Text 38"/>
          <p:cNvSpPr/>
          <p:nvPr/>
        </p:nvSpPr>
        <p:spPr>
          <a:xfrm>
            <a:off x="502920" y="3416760"/>
            <a:ext cx="594252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Brak wsparcia kierownictwa wyższego szczebla</a:t>
            </a:r>
            <a:endParaRPr lang="pl-PL" sz="1400" b="0" u="none" strike="noStrike">
              <a:solidFill>
                <a:srgbClr val="FFFFFF"/>
              </a:solidFill>
              <a:effectLst/>
              <a:uFillTx/>
              <a:latin typeface="Arial"/>
            </a:endParaRPr>
          </a:p>
        </p:txBody>
      </p:sp>
      <p:sp>
        <p:nvSpPr>
          <p:cNvPr id="151" name="Shape 39"/>
          <p:cNvSpPr/>
          <p:nvPr/>
        </p:nvSpPr>
        <p:spPr>
          <a:xfrm>
            <a:off x="6583680" y="3484800"/>
            <a:ext cx="789120" cy="11232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52" name="Text 40"/>
          <p:cNvSpPr/>
          <p:nvPr/>
        </p:nvSpPr>
        <p:spPr>
          <a:xfrm>
            <a:off x="8229600" y="3416760"/>
            <a:ext cx="50184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EF5350"/>
                </a:solidFill>
                <a:effectLst/>
                <a:uFillTx/>
                <a:latin typeface="Calibri"/>
              </a:rPr>
              <a:t>7.5%</a:t>
            </a:r>
            <a:endParaRPr lang="pl-PL" sz="1400" b="0" u="none" strike="noStrike">
              <a:solidFill>
                <a:srgbClr val="FFFFFF"/>
              </a:solidFill>
              <a:effectLst/>
              <a:uFillTx/>
              <a:latin typeface="Arial"/>
            </a:endParaRPr>
          </a:p>
        </p:txBody>
      </p:sp>
      <p:sp>
        <p:nvSpPr>
          <p:cNvPr id="153" name="Shape 41"/>
          <p:cNvSpPr/>
          <p:nvPr/>
        </p:nvSpPr>
        <p:spPr>
          <a:xfrm>
            <a:off x="384120" y="3817080"/>
            <a:ext cx="8374680" cy="346320"/>
          </a:xfrm>
          <a:prstGeom prst="rect">
            <a:avLst/>
          </a:prstGeom>
          <a:solidFill>
            <a:srgbClr val="0A2540"/>
          </a:solidFill>
          <a:ln w="508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54" name="Text 42"/>
          <p:cNvSpPr/>
          <p:nvPr/>
        </p:nvSpPr>
        <p:spPr>
          <a:xfrm>
            <a:off x="502920" y="3839760"/>
            <a:ext cx="594252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Brak kompetencji technicznych w zespole</a:t>
            </a:r>
            <a:endParaRPr lang="pl-PL" sz="1400" b="0" u="none" strike="noStrike">
              <a:solidFill>
                <a:srgbClr val="FFFFFF"/>
              </a:solidFill>
              <a:effectLst/>
              <a:uFillTx/>
              <a:latin typeface="Arial"/>
            </a:endParaRPr>
          </a:p>
        </p:txBody>
      </p:sp>
      <p:sp>
        <p:nvSpPr>
          <p:cNvPr id="155" name="Shape 43"/>
          <p:cNvSpPr/>
          <p:nvPr/>
        </p:nvSpPr>
        <p:spPr>
          <a:xfrm>
            <a:off x="6583680" y="3907800"/>
            <a:ext cx="739440" cy="11232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56" name="Text 44"/>
          <p:cNvSpPr/>
          <p:nvPr/>
        </p:nvSpPr>
        <p:spPr>
          <a:xfrm>
            <a:off x="8229600" y="3839760"/>
            <a:ext cx="501840" cy="300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a:solidFill>
                  <a:srgbClr val="7C4DFF"/>
                </a:solidFill>
                <a:effectLst/>
                <a:uFillTx/>
                <a:latin typeface="Calibri"/>
              </a:rPr>
              <a:t>7.0%</a:t>
            </a:r>
            <a:endParaRPr lang="pl-PL" sz="1400" b="0" u="none" strike="noStrike">
              <a:solidFill>
                <a:srgbClr val="FFFFFF"/>
              </a:solidFill>
              <a:effectLst/>
              <a:uFillTx/>
              <a:latin typeface="Arial"/>
            </a:endParaRPr>
          </a:p>
        </p:txBody>
      </p:sp>
      <p:sp>
        <p:nvSpPr>
          <p:cNvPr id="157" name="Shape 45"/>
          <p:cNvSpPr/>
          <p:nvPr/>
        </p:nvSpPr>
        <p:spPr>
          <a:xfrm>
            <a:off x="384120" y="4524120"/>
            <a:ext cx="8374680" cy="245880"/>
          </a:xfrm>
          <a:prstGeom prst="rect">
            <a:avLst/>
          </a:prstGeom>
          <a:solidFill>
            <a:srgbClr val="1020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pl-PL" sz="1200" b="0" u="none" strike="noStrike" spc="-20" dirty="0" smtClean="0">
                <a:solidFill>
                  <a:srgbClr val="8ECAE6"/>
                </a:solidFill>
                <a:effectLst/>
                <a:uFillTx/>
                <a:latin typeface="Calibri"/>
              </a:rPr>
              <a:t>Średni </a:t>
            </a:r>
            <a:r>
              <a:rPr lang="pl-PL" sz="1200" b="0" u="none" strike="noStrike" spc="-20" dirty="0">
                <a:solidFill>
                  <a:srgbClr val="8ECAE6"/>
                </a:solidFill>
                <a:effectLst/>
                <a:uFillTx/>
                <a:latin typeface="Calibri"/>
              </a:rPr>
              <a:t>koszt nieudanego projektu mobilnego dla MŚP wynosi $240 000 (</a:t>
            </a:r>
            <a:r>
              <a:rPr lang="pl-PL" sz="1200" b="0" u="none" strike="noStrike" spc="-20" dirty="0" err="1">
                <a:solidFill>
                  <a:srgbClr val="8ECAE6"/>
                </a:solidFill>
                <a:effectLst/>
                <a:uFillTx/>
                <a:latin typeface="Calibri"/>
              </a:rPr>
              <a:t>Clutch</a:t>
            </a:r>
            <a:r>
              <a:rPr lang="pl-PL" sz="1200" b="0" u="none" strike="noStrike" spc="-20" dirty="0">
                <a:solidFill>
                  <a:srgbClr val="8ECAE6"/>
                </a:solidFill>
                <a:effectLst/>
                <a:uFillTx/>
                <a:latin typeface="Calibri"/>
              </a:rPr>
              <a:t>, 2024). Prawidłowe planowanie redukuje ryzyko o 35%.</a:t>
            </a:r>
            <a:endParaRPr lang="pl-PL" sz="1200" b="0" u="none" strike="noStrike" dirty="0">
              <a:solidFill>
                <a:srgbClr val="FFFFFF"/>
              </a:solidFill>
              <a:effectLst/>
              <a:uFillTx/>
              <a:latin typeface="Arial"/>
            </a:endParaRPr>
          </a:p>
        </p:txBody>
      </p:sp>
      <p:sp>
        <p:nvSpPr>
          <p:cNvPr id="158" name="Shape 47"/>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59" name="Text 50"/>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4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1422"/>
        </a:solidFill>
        <a:effectLst/>
      </p:bgPr>
    </p:bg>
    <p:spTree>
      <p:nvGrpSpPr>
        <p:cNvPr id="1" name=""/>
        <p:cNvGrpSpPr/>
        <p:nvPr/>
      </p:nvGrpSpPr>
      <p:grpSpPr>
        <a:xfrm>
          <a:off x="0" y="0"/>
          <a:ext cx="0" cy="0"/>
          <a:chOff x="0" y="0"/>
          <a:chExt cx="0" cy="0"/>
        </a:xfrm>
      </p:grpSpPr>
      <p:sp>
        <p:nvSpPr>
          <p:cNvPr id="160" name="Shape 0"/>
          <p:cNvSpPr/>
          <p:nvPr/>
        </p:nvSpPr>
        <p:spPr>
          <a:xfrm>
            <a:off x="0" y="0"/>
            <a:ext cx="90360" cy="495504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61" name="Shape 1"/>
          <p:cNvSpPr/>
          <p:nvPr/>
        </p:nvSpPr>
        <p:spPr>
          <a:xfrm>
            <a:off x="0" y="2897640"/>
            <a:ext cx="9142920" cy="2039040"/>
          </a:xfrm>
          <a:prstGeom prst="rect">
            <a:avLst/>
          </a:prstGeom>
          <a:solidFill>
            <a:srgbClr val="081828"/>
          </a:solidFill>
          <a:ln w="12700">
            <a:solidFill>
              <a:srgbClr val="08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62" name="Shape 2"/>
          <p:cNvSpPr/>
          <p:nvPr/>
        </p:nvSpPr>
        <p:spPr>
          <a:xfrm>
            <a:off x="502920" y="1005840"/>
            <a:ext cx="1114560" cy="273240"/>
          </a:xfrm>
          <a:prstGeom prst="roundRect">
            <a:avLst>
              <a:gd name="adj" fmla="val 26667"/>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63" name="Text 3"/>
          <p:cNvSpPr/>
          <p:nvPr/>
        </p:nvSpPr>
        <p:spPr>
          <a:xfrm>
            <a:off x="502920" y="1005840"/>
            <a:ext cx="1114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ROZDZIAŁ 2</a:t>
            </a:r>
            <a:endParaRPr lang="pl-PL" sz="1200" b="0" u="none" strike="noStrike">
              <a:solidFill>
                <a:srgbClr val="FFFFFF"/>
              </a:solidFill>
              <a:effectLst/>
              <a:uFillTx/>
              <a:latin typeface="Arial"/>
            </a:endParaRPr>
          </a:p>
        </p:txBody>
      </p:sp>
      <p:sp>
        <p:nvSpPr>
          <p:cNvPr id="164" name="Text 4"/>
          <p:cNvSpPr/>
          <p:nvPr/>
        </p:nvSpPr>
        <p:spPr>
          <a:xfrm>
            <a:off x="502920" y="1389960"/>
            <a:ext cx="8045640" cy="15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4400" b="1" u="none" strike="noStrike" dirty="0" err="1">
                <a:solidFill>
                  <a:srgbClr val="FFFFFF"/>
                </a:solidFill>
                <a:effectLst/>
                <a:uFillTx/>
                <a:latin typeface="Calibri"/>
              </a:rPr>
              <a:t>Faza</a:t>
            </a:r>
            <a:r>
              <a:rPr lang="en-US" sz="4400" b="1" u="none" strike="noStrike" dirty="0">
                <a:solidFill>
                  <a:srgbClr val="FFFFFF"/>
                </a:solidFill>
                <a:effectLst/>
                <a:uFillTx/>
                <a:latin typeface="Calibri"/>
              </a:rPr>
              <a:t> </a:t>
            </a:r>
            <a:endParaRPr lang="pl-PL" sz="4400" b="1" u="none" strike="noStrike" dirty="0" smtClean="0">
              <a:solidFill>
                <a:srgbClr val="FFFFFF"/>
              </a:solidFill>
              <a:effectLst/>
              <a:uFillTx/>
              <a:latin typeface="Calibri"/>
            </a:endParaRPr>
          </a:p>
          <a:p>
            <a:pPr defTabSz="914400">
              <a:lnSpc>
                <a:spcPct val="100000"/>
              </a:lnSpc>
              <a:tabLst>
                <a:tab pos="0" algn="l"/>
              </a:tabLst>
            </a:pPr>
            <a:r>
              <a:rPr lang="pl-PL" sz="4400" b="1" dirty="0">
                <a:solidFill>
                  <a:srgbClr val="FFFFFF"/>
                </a:solidFill>
                <a:latin typeface="Calibri"/>
              </a:rPr>
              <a:t> </a:t>
            </a:r>
            <a:r>
              <a:rPr lang="pl-PL" sz="4400" b="1" dirty="0" smtClean="0">
                <a:solidFill>
                  <a:srgbClr val="FFFFFF"/>
                </a:solidFill>
                <a:latin typeface="Calibri"/>
              </a:rPr>
              <a:t>   </a:t>
            </a:r>
            <a:r>
              <a:rPr lang="en-US" sz="4400" b="1" u="none" strike="noStrike" dirty="0" err="1" smtClean="0">
                <a:solidFill>
                  <a:srgbClr val="FFFFFF"/>
                </a:solidFill>
                <a:effectLst/>
                <a:uFillTx/>
                <a:latin typeface="Calibri"/>
              </a:rPr>
              <a:t>odkrywania</a:t>
            </a:r>
            <a:endParaRPr lang="pl-PL" sz="4400" b="0" u="none" strike="noStrike" dirty="0">
              <a:solidFill>
                <a:srgbClr val="FFFFFF"/>
              </a:solidFill>
              <a:effectLst/>
              <a:uFillTx/>
              <a:latin typeface="Arial"/>
            </a:endParaRPr>
          </a:p>
        </p:txBody>
      </p:sp>
      <p:sp>
        <p:nvSpPr>
          <p:cNvPr id="165" name="Text 5"/>
          <p:cNvSpPr/>
          <p:nvPr/>
        </p:nvSpPr>
        <p:spPr>
          <a:xfrm>
            <a:off x="502920" y="3063240"/>
            <a:ext cx="6856920" cy="59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0" u="none" strike="noStrike">
                <a:solidFill>
                  <a:srgbClr val="8ECAE6"/>
                </a:solidFill>
                <a:effectLst/>
                <a:uFillTx/>
                <a:latin typeface="Calibri"/>
              </a:rPr>
              <a:t>Ideacja, badania rynku i walidacja pomysłu przed napisaniem pierwszej linii kodu.</a:t>
            </a:r>
            <a:endParaRPr lang="pl-PL" sz="1600" b="0" u="none" strike="noStrike">
              <a:solidFill>
                <a:srgbClr val="FFFFFF"/>
              </a:solidFill>
              <a:effectLst/>
              <a:uFillTx/>
              <a:latin typeface="Arial"/>
            </a:endParaRPr>
          </a:p>
        </p:txBody>
      </p:sp>
      <p:sp>
        <p:nvSpPr>
          <p:cNvPr id="166" name="Shape 6"/>
          <p:cNvSpPr/>
          <p:nvPr/>
        </p:nvSpPr>
        <p:spPr>
          <a:xfrm>
            <a:off x="502920" y="3373560"/>
            <a:ext cx="5910480" cy="360"/>
          </a:xfrm>
          <a:prstGeom prst="line">
            <a:avLst/>
          </a:prstGeom>
          <a:ln w="15240">
            <a:solidFill>
              <a:srgbClr val="FF704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167" name="Shape 8"/>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68" name="Text 11"/>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5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169" name="Shape 0"/>
          <p:cNvSpPr/>
          <p:nvPr/>
        </p:nvSpPr>
        <p:spPr>
          <a:xfrm>
            <a:off x="384120" y="118800"/>
            <a:ext cx="639000" cy="218520"/>
          </a:xfrm>
          <a:prstGeom prst="roundRect">
            <a:avLst>
              <a:gd name="adj" fmla="val 33333"/>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70" name="Text 1"/>
          <p:cNvSpPr/>
          <p:nvPr/>
        </p:nvSpPr>
        <p:spPr>
          <a:xfrm>
            <a:off x="384120" y="118800"/>
            <a:ext cx="63900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2.1</a:t>
            </a:r>
            <a:endParaRPr lang="pl-PL" sz="1200" b="0" u="none" strike="noStrike">
              <a:solidFill>
                <a:srgbClr val="FFFFFF"/>
              </a:solidFill>
              <a:effectLst/>
              <a:uFillTx/>
              <a:latin typeface="Arial"/>
            </a:endParaRPr>
          </a:p>
        </p:txBody>
      </p:sp>
      <p:sp>
        <p:nvSpPr>
          <p:cNvPr id="171" name="Text 2"/>
          <p:cNvSpPr/>
          <p:nvPr/>
        </p:nvSpPr>
        <p:spPr>
          <a:xfrm>
            <a:off x="1134000" y="73080"/>
            <a:ext cx="7588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a:solidFill>
                  <a:srgbClr val="FFFFFF"/>
                </a:solidFill>
                <a:effectLst/>
                <a:uFillTx/>
                <a:latin typeface="Calibri"/>
              </a:rPr>
              <a:t>Ideacja i walidacja pomysłu:</a:t>
            </a:r>
            <a:r>
              <a:rPr lang="pl-PL" sz="2000" b="0" u="none" strike="noStrike">
                <a:solidFill>
                  <a:srgbClr val="FFFFFF"/>
                </a:solidFill>
                <a:effectLst/>
                <a:uFillTx/>
                <a:latin typeface="Calibri"/>
              </a:rPr>
              <a:t> lean startup approach</a:t>
            </a:r>
            <a:endParaRPr lang="pl-PL" sz="2000" b="0" u="none" strike="noStrike">
              <a:solidFill>
                <a:srgbClr val="FFFFFF"/>
              </a:solidFill>
              <a:effectLst/>
              <a:uFillTx/>
              <a:latin typeface="Arial"/>
            </a:endParaRPr>
          </a:p>
        </p:txBody>
      </p:sp>
      <p:sp>
        <p:nvSpPr>
          <p:cNvPr id="172"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173" name="Shape 4"/>
          <p:cNvSpPr/>
          <p:nvPr/>
        </p:nvSpPr>
        <p:spPr>
          <a:xfrm>
            <a:off x="384120" y="739800"/>
            <a:ext cx="8374680" cy="70056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74" name="Shape 5"/>
          <p:cNvSpPr/>
          <p:nvPr/>
        </p:nvSpPr>
        <p:spPr>
          <a:xfrm>
            <a:off x="384120" y="739800"/>
            <a:ext cx="63000" cy="70056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75" name="Shape 6"/>
          <p:cNvSpPr/>
          <p:nvPr/>
        </p:nvSpPr>
        <p:spPr>
          <a:xfrm>
            <a:off x="502920" y="793800"/>
            <a:ext cx="318960" cy="268920"/>
          </a:xfrm>
          <a:prstGeom prst="roundRect">
            <a:avLst>
              <a:gd name="adj" fmla="val 20000"/>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76" name="Text 7"/>
          <p:cNvSpPr/>
          <p:nvPr/>
        </p:nvSpPr>
        <p:spPr>
          <a:xfrm>
            <a:off x="502920" y="793800"/>
            <a:ext cx="31896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rPr>
              <a:t>1</a:t>
            </a:r>
            <a:endParaRPr lang="pl-PL" sz="1300" b="0" u="none" strike="noStrike">
              <a:solidFill>
                <a:srgbClr val="FFFFFF"/>
              </a:solidFill>
              <a:effectLst/>
              <a:uFillTx/>
              <a:latin typeface="Arial"/>
            </a:endParaRPr>
          </a:p>
        </p:txBody>
      </p:sp>
      <p:sp>
        <p:nvSpPr>
          <p:cNvPr id="177" name="Text 8"/>
          <p:cNvSpPr/>
          <p:nvPr/>
        </p:nvSpPr>
        <p:spPr>
          <a:xfrm>
            <a:off x="960120" y="778320"/>
            <a:ext cx="2742120" cy="23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800" b="1" u="none" strike="noStrike">
                <a:solidFill>
                  <a:srgbClr val="00BCD4"/>
                </a:solidFill>
                <a:effectLst/>
                <a:uFillTx/>
                <a:latin typeface="Calibri"/>
              </a:rPr>
              <a:t>Problem Statement</a:t>
            </a:r>
            <a:endParaRPr lang="pl-PL" sz="1800" b="0" u="none" strike="noStrike">
              <a:solidFill>
                <a:srgbClr val="FFFFFF"/>
              </a:solidFill>
              <a:effectLst/>
              <a:uFillTx/>
              <a:latin typeface="Arial"/>
            </a:endParaRPr>
          </a:p>
        </p:txBody>
      </p:sp>
      <p:sp>
        <p:nvSpPr>
          <p:cNvPr id="178" name="Text 9"/>
          <p:cNvSpPr/>
          <p:nvPr/>
        </p:nvSpPr>
        <p:spPr>
          <a:xfrm>
            <a:off x="960120" y="1024920"/>
            <a:ext cx="7762320" cy="39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Zdefiniuj problem, nie rozwiązanie. Użyj formatu: Dla [persona], która ma [problem], nasza aplikacja [rozwiązanie] daje [korzyść] w odróżnieniu od [alternatywy].</a:t>
            </a:r>
            <a:endParaRPr lang="pl-PL" sz="1400" b="0" u="none" strike="noStrike">
              <a:solidFill>
                <a:srgbClr val="FFFFFF"/>
              </a:solidFill>
              <a:effectLst/>
              <a:uFillTx/>
              <a:latin typeface="Arial"/>
            </a:endParaRPr>
          </a:p>
        </p:txBody>
      </p:sp>
      <p:sp>
        <p:nvSpPr>
          <p:cNvPr id="179" name="Shape 10"/>
          <p:cNvSpPr/>
          <p:nvPr/>
        </p:nvSpPr>
        <p:spPr>
          <a:xfrm>
            <a:off x="384120" y="1603440"/>
            <a:ext cx="8374680" cy="70056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80" name="Shape 11"/>
          <p:cNvSpPr/>
          <p:nvPr/>
        </p:nvSpPr>
        <p:spPr>
          <a:xfrm>
            <a:off x="384120" y="1603440"/>
            <a:ext cx="63000" cy="70056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81" name="Shape 12"/>
          <p:cNvSpPr/>
          <p:nvPr/>
        </p:nvSpPr>
        <p:spPr>
          <a:xfrm>
            <a:off x="502920" y="1657080"/>
            <a:ext cx="318960" cy="268920"/>
          </a:xfrm>
          <a:prstGeom prst="roundRect">
            <a:avLst>
              <a:gd name="adj" fmla="val 20000"/>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82" name="Text 13"/>
          <p:cNvSpPr/>
          <p:nvPr/>
        </p:nvSpPr>
        <p:spPr>
          <a:xfrm>
            <a:off x="502920" y="1657080"/>
            <a:ext cx="31896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rPr>
              <a:t>2</a:t>
            </a:r>
            <a:endParaRPr lang="pl-PL" sz="1300" b="0" u="none" strike="noStrike">
              <a:solidFill>
                <a:srgbClr val="FFFFFF"/>
              </a:solidFill>
              <a:effectLst/>
              <a:uFillTx/>
              <a:latin typeface="Arial"/>
            </a:endParaRPr>
          </a:p>
        </p:txBody>
      </p:sp>
      <p:sp>
        <p:nvSpPr>
          <p:cNvPr id="183" name="Text 14"/>
          <p:cNvSpPr/>
          <p:nvPr/>
        </p:nvSpPr>
        <p:spPr>
          <a:xfrm>
            <a:off x="960120" y="1641960"/>
            <a:ext cx="2742120" cy="23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800" b="1" u="none" strike="noStrike">
                <a:solidFill>
                  <a:srgbClr val="FF7043"/>
                </a:solidFill>
                <a:effectLst/>
                <a:uFillTx/>
                <a:latin typeface="Calibri"/>
              </a:rPr>
              <a:t>Market Research</a:t>
            </a:r>
            <a:endParaRPr lang="pl-PL" sz="1800" b="0" u="none" strike="noStrike">
              <a:solidFill>
                <a:srgbClr val="FFFFFF"/>
              </a:solidFill>
              <a:effectLst/>
              <a:uFillTx/>
              <a:latin typeface="Arial"/>
            </a:endParaRPr>
          </a:p>
        </p:txBody>
      </p:sp>
      <p:sp>
        <p:nvSpPr>
          <p:cNvPr id="184" name="Text 15"/>
          <p:cNvSpPr/>
          <p:nvPr/>
        </p:nvSpPr>
        <p:spPr>
          <a:xfrm>
            <a:off x="960120" y="1888560"/>
            <a:ext cx="7762320" cy="39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TAM / SAM / SOM. Analiza konkurencji (App Annie, SensorTower). Minimum 20 wywiadów z potencjalnymi użytkownikami przed projektem.</a:t>
            </a:r>
            <a:endParaRPr lang="pl-PL" sz="1400" b="0" u="none" strike="noStrike">
              <a:solidFill>
                <a:srgbClr val="FFFFFF"/>
              </a:solidFill>
              <a:effectLst/>
              <a:uFillTx/>
              <a:latin typeface="Arial"/>
            </a:endParaRPr>
          </a:p>
        </p:txBody>
      </p:sp>
      <p:sp>
        <p:nvSpPr>
          <p:cNvPr id="185" name="Shape 16"/>
          <p:cNvSpPr/>
          <p:nvPr/>
        </p:nvSpPr>
        <p:spPr>
          <a:xfrm>
            <a:off x="384120" y="2467080"/>
            <a:ext cx="8374680" cy="700560"/>
          </a:xfrm>
          <a:prstGeom prst="rect">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86" name="Shape 17"/>
          <p:cNvSpPr/>
          <p:nvPr/>
        </p:nvSpPr>
        <p:spPr>
          <a:xfrm>
            <a:off x="384120" y="2467080"/>
            <a:ext cx="63000" cy="70056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87" name="Shape 18"/>
          <p:cNvSpPr/>
          <p:nvPr/>
        </p:nvSpPr>
        <p:spPr>
          <a:xfrm>
            <a:off x="502920" y="2520720"/>
            <a:ext cx="318960" cy="268920"/>
          </a:xfrm>
          <a:prstGeom prst="roundRect">
            <a:avLst>
              <a:gd name="adj" fmla="val 20000"/>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88" name="Text 19"/>
          <p:cNvSpPr/>
          <p:nvPr/>
        </p:nvSpPr>
        <p:spPr>
          <a:xfrm>
            <a:off x="502920" y="2520720"/>
            <a:ext cx="31896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rPr>
              <a:t>3</a:t>
            </a:r>
            <a:endParaRPr lang="pl-PL" sz="1300" b="0" u="none" strike="noStrike">
              <a:solidFill>
                <a:srgbClr val="FFFFFF"/>
              </a:solidFill>
              <a:effectLst/>
              <a:uFillTx/>
              <a:latin typeface="Arial"/>
            </a:endParaRPr>
          </a:p>
        </p:txBody>
      </p:sp>
      <p:sp>
        <p:nvSpPr>
          <p:cNvPr id="189" name="Text 20"/>
          <p:cNvSpPr/>
          <p:nvPr/>
        </p:nvSpPr>
        <p:spPr>
          <a:xfrm>
            <a:off x="960120" y="2505600"/>
            <a:ext cx="2742120" cy="23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800" b="1" u="none" strike="noStrike">
                <a:solidFill>
                  <a:srgbClr val="4CAF50"/>
                </a:solidFill>
                <a:effectLst/>
                <a:uFillTx/>
                <a:latin typeface="Calibri"/>
              </a:rPr>
              <a:t>Walidacja hipotez</a:t>
            </a:r>
            <a:endParaRPr lang="pl-PL" sz="1800" b="0" u="none" strike="noStrike">
              <a:solidFill>
                <a:srgbClr val="FFFFFF"/>
              </a:solidFill>
              <a:effectLst/>
              <a:uFillTx/>
              <a:latin typeface="Arial"/>
            </a:endParaRPr>
          </a:p>
        </p:txBody>
      </p:sp>
      <p:sp>
        <p:nvSpPr>
          <p:cNvPr id="190" name="Text 21"/>
          <p:cNvSpPr/>
          <p:nvPr/>
        </p:nvSpPr>
        <p:spPr>
          <a:xfrm>
            <a:off x="960120" y="2752200"/>
            <a:ext cx="7762320" cy="39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Build-Measure-Learn. Landing page z CTA + Google Ads = test gotowości rynku za ~500 zł. Cel: &gt;5% konwersja.</a:t>
            </a:r>
            <a:endParaRPr lang="pl-PL" sz="1400" b="0" u="none" strike="noStrike">
              <a:solidFill>
                <a:srgbClr val="FFFFFF"/>
              </a:solidFill>
              <a:effectLst/>
              <a:uFillTx/>
              <a:latin typeface="Arial"/>
            </a:endParaRPr>
          </a:p>
        </p:txBody>
      </p:sp>
      <p:sp>
        <p:nvSpPr>
          <p:cNvPr id="191" name="Shape 22"/>
          <p:cNvSpPr/>
          <p:nvPr/>
        </p:nvSpPr>
        <p:spPr>
          <a:xfrm>
            <a:off x="384120" y="3330720"/>
            <a:ext cx="8374680" cy="700560"/>
          </a:xfrm>
          <a:prstGeom prst="rect">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92" name="Shape 23"/>
          <p:cNvSpPr/>
          <p:nvPr/>
        </p:nvSpPr>
        <p:spPr>
          <a:xfrm>
            <a:off x="384120" y="3330720"/>
            <a:ext cx="63000" cy="70056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93" name="Shape 24"/>
          <p:cNvSpPr/>
          <p:nvPr/>
        </p:nvSpPr>
        <p:spPr>
          <a:xfrm>
            <a:off x="502920" y="3384360"/>
            <a:ext cx="318960" cy="268920"/>
          </a:xfrm>
          <a:prstGeom prst="roundRect">
            <a:avLst>
              <a:gd name="adj" fmla="val 20000"/>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94" name="Text 25"/>
          <p:cNvSpPr/>
          <p:nvPr/>
        </p:nvSpPr>
        <p:spPr>
          <a:xfrm>
            <a:off x="502920" y="3384360"/>
            <a:ext cx="318960" cy="26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rPr>
              <a:t>4</a:t>
            </a:r>
            <a:endParaRPr lang="pl-PL" sz="1300" b="0" u="none" strike="noStrike">
              <a:solidFill>
                <a:srgbClr val="FFFFFF"/>
              </a:solidFill>
              <a:effectLst/>
              <a:uFillTx/>
              <a:latin typeface="Arial"/>
            </a:endParaRPr>
          </a:p>
        </p:txBody>
      </p:sp>
      <p:sp>
        <p:nvSpPr>
          <p:cNvPr id="195" name="Text 26"/>
          <p:cNvSpPr/>
          <p:nvPr/>
        </p:nvSpPr>
        <p:spPr>
          <a:xfrm>
            <a:off x="960120" y="3369240"/>
            <a:ext cx="2742120" cy="230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800" b="1" u="none" strike="noStrike" dirty="0">
                <a:solidFill>
                  <a:srgbClr val="A191CF"/>
                </a:solidFill>
                <a:effectLst/>
                <a:uFillTx/>
                <a:latin typeface="Calibri"/>
              </a:rPr>
              <a:t>Business Model </a:t>
            </a:r>
            <a:r>
              <a:rPr lang="pl-PL" sz="1800" b="1" u="none" strike="noStrike" dirty="0" err="1">
                <a:solidFill>
                  <a:srgbClr val="A191CF"/>
                </a:solidFill>
                <a:effectLst/>
                <a:uFillTx/>
                <a:latin typeface="Calibri"/>
              </a:rPr>
              <a:t>Canvas</a:t>
            </a:r>
            <a:endParaRPr lang="pl-PL" sz="1800" b="0" u="none" strike="noStrike" dirty="0">
              <a:solidFill>
                <a:srgbClr val="A191CF"/>
              </a:solidFill>
              <a:effectLst/>
              <a:uFillTx/>
              <a:latin typeface="Arial"/>
            </a:endParaRPr>
          </a:p>
        </p:txBody>
      </p:sp>
      <p:sp>
        <p:nvSpPr>
          <p:cNvPr id="196" name="Text 27"/>
          <p:cNvSpPr/>
          <p:nvPr/>
        </p:nvSpPr>
        <p:spPr>
          <a:xfrm>
            <a:off x="960120" y="3615840"/>
            <a:ext cx="7762320" cy="39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9 bloków: segmenty, propozycja wartości, kanały, relacje, przychody, zasoby, aktywności, partnerzy, koszty.</a:t>
            </a:r>
            <a:endParaRPr lang="pl-PL" sz="1400" b="0" u="none" strike="noStrike">
              <a:solidFill>
                <a:srgbClr val="FFFFFF"/>
              </a:solidFill>
              <a:effectLst/>
              <a:uFillTx/>
              <a:latin typeface="Arial"/>
            </a:endParaRPr>
          </a:p>
        </p:txBody>
      </p:sp>
      <p:sp>
        <p:nvSpPr>
          <p:cNvPr id="197" name="Shape 28"/>
          <p:cNvSpPr/>
          <p:nvPr/>
        </p:nvSpPr>
        <p:spPr>
          <a:xfrm>
            <a:off x="384120" y="4250520"/>
            <a:ext cx="8374680" cy="592560"/>
          </a:xfrm>
          <a:prstGeom prst="rect">
            <a:avLst/>
          </a:prstGeom>
          <a:solidFill>
            <a:srgbClr val="1020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r>
              <a:rPr lang="pl-PL" sz="1400" b="0" u="none" strike="noStrike" spc="-20" dirty="0">
                <a:solidFill>
                  <a:srgbClr val="8ECAE6"/>
                </a:solidFill>
                <a:effectLst/>
                <a:uFillTx/>
                <a:latin typeface="Calibri"/>
              </a:rPr>
              <a:t>Firmy inwestujące w fazę Discovery skracają czas </a:t>
            </a:r>
            <a:r>
              <a:rPr lang="pl-PL" sz="1400" b="0" u="none" strike="noStrike" spc="-20" dirty="0" err="1">
                <a:solidFill>
                  <a:srgbClr val="8ECAE6"/>
                </a:solidFill>
                <a:effectLst/>
                <a:uFillTx/>
                <a:latin typeface="Calibri"/>
              </a:rPr>
              <a:t>developmentu</a:t>
            </a:r>
            <a:r>
              <a:rPr lang="pl-PL" sz="1400" b="0" u="none" strike="noStrike" spc="-20" dirty="0">
                <a:solidFill>
                  <a:srgbClr val="8ECAE6"/>
                </a:solidFill>
                <a:effectLst/>
                <a:uFillTx/>
                <a:latin typeface="Calibri"/>
              </a:rPr>
              <a:t> o </a:t>
            </a:r>
            <a:r>
              <a:rPr lang="pl-PL" sz="1400" b="1" u="none" strike="noStrike" spc="-20" dirty="0">
                <a:solidFill>
                  <a:srgbClr val="8ECAE6"/>
                </a:solidFill>
                <a:effectLst/>
                <a:uFillTx/>
                <a:latin typeface="Calibri"/>
              </a:rPr>
              <a:t>33% </a:t>
            </a:r>
            <a:r>
              <a:rPr lang="pl-PL" sz="1400" b="0" u="none" strike="noStrike" spc="-20" dirty="0">
                <a:solidFill>
                  <a:srgbClr val="8ECAE6"/>
                </a:solidFill>
                <a:effectLst/>
                <a:uFillTx/>
                <a:latin typeface="Calibri"/>
              </a:rPr>
              <a:t>i redukują przeróbki o</a:t>
            </a:r>
            <a:r>
              <a:rPr lang="pl-PL" sz="1400" b="1" u="none" strike="noStrike" spc="-20" dirty="0">
                <a:solidFill>
                  <a:srgbClr val="8ECAE6"/>
                </a:solidFill>
                <a:effectLst/>
                <a:uFillTx/>
                <a:latin typeface="Calibri"/>
              </a:rPr>
              <a:t> 72%</a:t>
            </a:r>
            <a:r>
              <a:rPr lang="pl-PL" sz="1400" b="0" u="none" strike="noStrike" spc="-20" dirty="0">
                <a:solidFill>
                  <a:srgbClr val="8ECAE6"/>
                </a:solidFill>
                <a:effectLst/>
                <a:uFillTx/>
                <a:latin typeface="Calibri"/>
              </a:rPr>
              <a:t> (</a:t>
            </a:r>
            <a:r>
              <a:rPr lang="pl-PL" sz="1400" b="0" u="none" strike="noStrike" spc="-20" dirty="0" err="1">
                <a:solidFill>
                  <a:srgbClr val="8ECAE6"/>
                </a:solidFill>
                <a:effectLst/>
                <a:uFillTx/>
                <a:latin typeface="Calibri"/>
              </a:rPr>
              <a:t>Forrester</a:t>
            </a:r>
            <a:r>
              <a:rPr lang="pl-PL" sz="1400" b="0" u="none" strike="noStrike" spc="-20" dirty="0">
                <a:solidFill>
                  <a:srgbClr val="8ECAE6"/>
                </a:solidFill>
                <a:effectLst/>
                <a:uFillTx/>
                <a:latin typeface="Calibri"/>
              </a:rPr>
              <a:t>, 2023). </a:t>
            </a:r>
            <a:endParaRPr lang="pl-PL" sz="1400" b="0" u="none" strike="noStrike" dirty="0">
              <a:solidFill>
                <a:srgbClr val="FFFFFF"/>
              </a:solidFill>
              <a:effectLst/>
              <a:uFillTx/>
              <a:latin typeface="Arial"/>
            </a:endParaRPr>
          </a:p>
          <a:p>
            <a:pPr defTabSz="914400">
              <a:lnSpc>
                <a:spcPct val="100000"/>
              </a:lnSpc>
            </a:pPr>
            <a:r>
              <a:rPr lang="pl-PL" sz="1400" b="1" u="none" strike="noStrike" spc="-20" dirty="0">
                <a:solidFill>
                  <a:srgbClr val="8ECAE6"/>
                </a:solidFill>
                <a:effectLst/>
                <a:uFillTx/>
                <a:latin typeface="Calibri"/>
              </a:rPr>
              <a:t>Każda złotówka </a:t>
            </a:r>
            <a:r>
              <a:rPr lang="pl-PL" sz="1400" b="0" u="none" strike="noStrike" spc="-20" dirty="0">
                <a:solidFill>
                  <a:srgbClr val="8ECAE6"/>
                </a:solidFill>
                <a:effectLst/>
                <a:uFillTx/>
                <a:latin typeface="Calibri"/>
              </a:rPr>
              <a:t>wydana na badania</a:t>
            </a:r>
            <a:r>
              <a:rPr lang="pl-PL" sz="1400" b="1" u="none" strike="noStrike" spc="-20" dirty="0">
                <a:solidFill>
                  <a:srgbClr val="8ECAE6"/>
                </a:solidFill>
                <a:effectLst/>
                <a:uFillTx/>
                <a:latin typeface="Calibri"/>
              </a:rPr>
              <a:t> oszczędza 10 zł </a:t>
            </a:r>
            <a:r>
              <a:rPr lang="pl-PL" sz="1400" b="0" u="none" strike="noStrike" spc="-20" dirty="0">
                <a:solidFill>
                  <a:srgbClr val="8ECAE6"/>
                </a:solidFill>
                <a:effectLst/>
                <a:uFillTx/>
                <a:latin typeface="Calibri"/>
              </a:rPr>
              <a:t>na poprawkach.</a:t>
            </a:r>
            <a:endParaRPr lang="pl-PL" sz="1400" b="0" u="none" strike="noStrike" dirty="0">
              <a:solidFill>
                <a:srgbClr val="FFFFFF"/>
              </a:solidFill>
              <a:effectLst/>
              <a:uFillTx/>
              <a:latin typeface="Arial"/>
            </a:endParaRPr>
          </a:p>
        </p:txBody>
      </p:sp>
      <p:sp>
        <p:nvSpPr>
          <p:cNvPr id="198" name="Shape 30"/>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99" name="Text 33"/>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6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00" name="Shape 0"/>
          <p:cNvSpPr/>
          <p:nvPr/>
        </p:nvSpPr>
        <p:spPr>
          <a:xfrm>
            <a:off x="384120" y="118800"/>
            <a:ext cx="639000" cy="218520"/>
          </a:xfrm>
          <a:prstGeom prst="roundRect">
            <a:avLst>
              <a:gd name="adj" fmla="val 33333"/>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01" name="Text 1"/>
          <p:cNvSpPr/>
          <p:nvPr/>
        </p:nvSpPr>
        <p:spPr>
          <a:xfrm>
            <a:off x="384120" y="118800"/>
            <a:ext cx="63900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2.2</a:t>
            </a:r>
            <a:endParaRPr lang="pl-PL" sz="1200" b="0" u="none" strike="noStrike">
              <a:solidFill>
                <a:srgbClr val="FFFFFF"/>
              </a:solidFill>
              <a:effectLst/>
              <a:uFillTx/>
              <a:latin typeface="Arial"/>
            </a:endParaRPr>
          </a:p>
        </p:txBody>
      </p:sp>
      <p:sp>
        <p:nvSpPr>
          <p:cNvPr id="202" name="Text 2"/>
          <p:cNvSpPr/>
          <p:nvPr/>
        </p:nvSpPr>
        <p:spPr>
          <a:xfrm>
            <a:off x="1134000" y="73080"/>
            <a:ext cx="7588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Calibri"/>
              </a:rPr>
              <a:t>Analiza konkurencji i definicja MVP</a:t>
            </a:r>
            <a:endParaRPr lang="pl-PL" sz="2000" b="0" u="none" strike="noStrike">
              <a:solidFill>
                <a:srgbClr val="FFFFFF"/>
              </a:solidFill>
              <a:effectLst/>
              <a:uFillTx/>
              <a:latin typeface="Arial"/>
            </a:endParaRPr>
          </a:p>
        </p:txBody>
      </p:sp>
      <p:sp>
        <p:nvSpPr>
          <p:cNvPr id="203"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204" name="Text 4"/>
          <p:cNvSpPr/>
          <p:nvPr/>
        </p:nvSpPr>
        <p:spPr>
          <a:xfrm>
            <a:off x="384120" y="567000"/>
            <a:ext cx="45709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dirty="0">
                <a:solidFill>
                  <a:srgbClr val="FFFFFF"/>
                </a:solidFill>
                <a:effectLst/>
                <a:uFillTx/>
                <a:latin typeface="Calibri"/>
              </a:rPr>
              <a:t>Framework analizy konkurencji</a:t>
            </a:r>
            <a:endParaRPr lang="pl-PL" sz="1600" b="0" u="none" strike="noStrike" dirty="0">
              <a:solidFill>
                <a:srgbClr val="FFFFFF"/>
              </a:solidFill>
              <a:effectLst/>
              <a:uFillTx/>
              <a:latin typeface="Arial"/>
            </a:endParaRPr>
          </a:p>
        </p:txBody>
      </p:sp>
      <p:sp>
        <p:nvSpPr>
          <p:cNvPr id="205" name="Shape 5"/>
          <p:cNvSpPr/>
          <p:nvPr/>
        </p:nvSpPr>
        <p:spPr>
          <a:xfrm>
            <a:off x="384120" y="841320"/>
            <a:ext cx="2541600" cy="291600"/>
          </a:xfrm>
          <a:prstGeom prst="rect">
            <a:avLst/>
          </a:prstGeom>
          <a:solidFill>
            <a:srgbClr val="1A3350"/>
          </a:solidFill>
          <a:ln w="635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06" name="Text 6"/>
          <p:cNvSpPr/>
          <p:nvPr/>
        </p:nvSpPr>
        <p:spPr>
          <a:xfrm>
            <a:off x="434880" y="841320"/>
            <a:ext cx="243972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a:solidFill>
                  <a:schemeClr val="lt2"/>
                </a:solidFill>
                <a:effectLst/>
                <a:uFillTx/>
                <a:latin typeface="Calibri"/>
              </a:rPr>
              <a:t>Kryterium</a:t>
            </a:r>
            <a:endParaRPr lang="pl-PL" sz="2000" b="0" u="none" strike="noStrike">
              <a:solidFill>
                <a:srgbClr val="FFFFFF"/>
              </a:solidFill>
              <a:effectLst/>
              <a:uFillTx/>
              <a:latin typeface="Arial"/>
            </a:endParaRPr>
          </a:p>
        </p:txBody>
      </p:sp>
      <p:sp>
        <p:nvSpPr>
          <p:cNvPr id="207" name="Shape 13"/>
          <p:cNvSpPr/>
          <p:nvPr/>
        </p:nvSpPr>
        <p:spPr>
          <a:xfrm>
            <a:off x="384120" y="1134000"/>
            <a:ext cx="2541600" cy="3063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08" name="Text 14"/>
          <p:cNvSpPr/>
          <p:nvPr/>
        </p:nvSpPr>
        <p:spPr>
          <a:xfrm>
            <a:off x="465480" y="1134000"/>
            <a:ext cx="237888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0" u="none" strike="noStrike">
                <a:solidFill>
                  <a:srgbClr val="8ECAE6"/>
                </a:solidFill>
                <a:effectLst/>
                <a:uFillTx/>
                <a:latin typeface="Calibri"/>
              </a:rPr>
              <a:t>Czas do wartości (TTFV)</a:t>
            </a:r>
            <a:endParaRPr lang="pl-PL" sz="1600" b="0" u="none" strike="noStrike">
              <a:solidFill>
                <a:srgbClr val="FFFFFF"/>
              </a:solidFill>
              <a:effectLst/>
              <a:uFillTx/>
              <a:latin typeface="Arial"/>
            </a:endParaRPr>
          </a:p>
        </p:txBody>
      </p:sp>
      <p:sp>
        <p:nvSpPr>
          <p:cNvPr id="209" name="Shape 15"/>
          <p:cNvSpPr/>
          <p:nvPr/>
        </p:nvSpPr>
        <p:spPr>
          <a:xfrm>
            <a:off x="2926800" y="1134000"/>
            <a:ext cx="1829520" cy="3063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10" name="Text 16"/>
          <p:cNvSpPr/>
          <p:nvPr/>
        </p:nvSpPr>
        <p:spPr>
          <a:xfrm>
            <a:off x="3008160" y="113400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00BCD4"/>
                </a:solidFill>
                <a:effectLst/>
                <a:uFillTx/>
                <a:latin typeface="Calibri"/>
              </a:rPr>
              <a:t>&lt; 60s</a:t>
            </a:r>
            <a:endParaRPr lang="pl-PL" sz="2000" b="0" u="none" strike="noStrike">
              <a:solidFill>
                <a:srgbClr val="FFFFFF"/>
              </a:solidFill>
              <a:effectLst/>
              <a:uFillTx/>
              <a:latin typeface="Arial"/>
            </a:endParaRPr>
          </a:p>
        </p:txBody>
      </p:sp>
      <p:sp>
        <p:nvSpPr>
          <p:cNvPr id="211" name="Shape 17"/>
          <p:cNvSpPr/>
          <p:nvPr/>
        </p:nvSpPr>
        <p:spPr>
          <a:xfrm>
            <a:off x="4757400" y="1134000"/>
            <a:ext cx="1829520" cy="3063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12" name="Text 18"/>
          <p:cNvSpPr/>
          <p:nvPr/>
        </p:nvSpPr>
        <p:spPr>
          <a:xfrm>
            <a:off x="4838760" y="113400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FF7043"/>
                </a:solidFill>
                <a:effectLst/>
                <a:uFillTx/>
                <a:latin typeface="Calibri"/>
              </a:rPr>
              <a:t>3 min</a:t>
            </a:r>
            <a:endParaRPr lang="pl-PL" sz="2000" b="0" u="none" strike="noStrike">
              <a:solidFill>
                <a:srgbClr val="FFFFFF"/>
              </a:solidFill>
              <a:effectLst/>
              <a:uFillTx/>
              <a:latin typeface="Arial"/>
            </a:endParaRPr>
          </a:p>
        </p:txBody>
      </p:sp>
      <p:sp>
        <p:nvSpPr>
          <p:cNvPr id="213" name="Shape 19"/>
          <p:cNvSpPr/>
          <p:nvPr/>
        </p:nvSpPr>
        <p:spPr>
          <a:xfrm>
            <a:off x="6588000" y="1134000"/>
            <a:ext cx="1829520" cy="3063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14" name="Text 20"/>
          <p:cNvSpPr/>
          <p:nvPr/>
        </p:nvSpPr>
        <p:spPr>
          <a:xfrm>
            <a:off x="6669360" y="113400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4CAF50"/>
                </a:solidFill>
                <a:effectLst/>
                <a:uFillTx/>
                <a:latin typeface="Calibri"/>
              </a:rPr>
              <a:t>5 min</a:t>
            </a:r>
            <a:endParaRPr lang="pl-PL" sz="2000" b="0" u="none" strike="noStrike">
              <a:solidFill>
                <a:srgbClr val="FFFFFF"/>
              </a:solidFill>
              <a:effectLst/>
              <a:uFillTx/>
              <a:latin typeface="Arial"/>
            </a:endParaRPr>
          </a:p>
        </p:txBody>
      </p:sp>
      <p:sp>
        <p:nvSpPr>
          <p:cNvPr id="215" name="Shape 21"/>
          <p:cNvSpPr/>
          <p:nvPr/>
        </p:nvSpPr>
        <p:spPr>
          <a:xfrm>
            <a:off x="384120" y="1441440"/>
            <a:ext cx="2541600" cy="3063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16" name="Text 22"/>
          <p:cNvSpPr/>
          <p:nvPr/>
        </p:nvSpPr>
        <p:spPr>
          <a:xfrm>
            <a:off x="465480" y="1441440"/>
            <a:ext cx="237888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0" u="none" strike="noStrike">
                <a:solidFill>
                  <a:srgbClr val="8ECAE6"/>
                </a:solidFill>
                <a:effectLst/>
                <a:uFillTx/>
                <a:latin typeface="Calibri"/>
              </a:rPr>
              <a:t>Monetyzacja</a:t>
            </a:r>
            <a:endParaRPr lang="pl-PL" sz="1600" b="0" u="none" strike="noStrike">
              <a:solidFill>
                <a:srgbClr val="FFFFFF"/>
              </a:solidFill>
              <a:effectLst/>
              <a:uFillTx/>
              <a:latin typeface="Arial"/>
            </a:endParaRPr>
          </a:p>
        </p:txBody>
      </p:sp>
      <p:sp>
        <p:nvSpPr>
          <p:cNvPr id="217" name="Shape 23"/>
          <p:cNvSpPr/>
          <p:nvPr/>
        </p:nvSpPr>
        <p:spPr>
          <a:xfrm>
            <a:off x="2926800" y="1441440"/>
            <a:ext cx="1829520" cy="3063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18" name="Text 24"/>
          <p:cNvSpPr/>
          <p:nvPr/>
        </p:nvSpPr>
        <p:spPr>
          <a:xfrm>
            <a:off x="3008160" y="144144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00BCD4"/>
                </a:solidFill>
                <a:effectLst/>
                <a:uFillTx/>
                <a:latin typeface="Calibri"/>
              </a:rPr>
              <a:t>Freemium</a:t>
            </a:r>
            <a:endParaRPr lang="pl-PL" sz="2000" b="0" u="none" strike="noStrike">
              <a:solidFill>
                <a:srgbClr val="FFFFFF"/>
              </a:solidFill>
              <a:effectLst/>
              <a:uFillTx/>
              <a:latin typeface="Arial"/>
            </a:endParaRPr>
          </a:p>
        </p:txBody>
      </p:sp>
      <p:sp>
        <p:nvSpPr>
          <p:cNvPr id="219" name="Shape 25"/>
          <p:cNvSpPr/>
          <p:nvPr/>
        </p:nvSpPr>
        <p:spPr>
          <a:xfrm>
            <a:off x="4757400" y="1441440"/>
            <a:ext cx="1829520" cy="3063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20" name="Text 26"/>
          <p:cNvSpPr/>
          <p:nvPr/>
        </p:nvSpPr>
        <p:spPr>
          <a:xfrm>
            <a:off x="4838760" y="144144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FF7043"/>
                </a:solidFill>
                <a:effectLst/>
                <a:uFillTx/>
                <a:latin typeface="Calibri"/>
              </a:rPr>
              <a:t>Paid</a:t>
            </a:r>
            <a:endParaRPr lang="pl-PL" sz="2000" b="0" u="none" strike="noStrike">
              <a:solidFill>
                <a:srgbClr val="FFFFFF"/>
              </a:solidFill>
              <a:effectLst/>
              <a:uFillTx/>
              <a:latin typeface="Arial"/>
            </a:endParaRPr>
          </a:p>
        </p:txBody>
      </p:sp>
      <p:sp>
        <p:nvSpPr>
          <p:cNvPr id="221" name="Shape 27"/>
          <p:cNvSpPr/>
          <p:nvPr/>
        </p:nvSpPr>
        <p:spPr>
          <a:xfrm>
            <a:off x="6588000" y="1441440"/>
            <a:ext cx="1829520" cy="3063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22" name="Text 28"/>
          <p:cNvSpPr/>
          <p:nvPr/>
        </p:nvSpPr>
        <p:spPr>
          <a:xfrm>
            <a:off x="6669360" y="144144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4CAF50"/>
                </a:solidFill>
                <a:effectLst/>
                <a:uFillTx/>
                <a:latin typeface="Calibri"/>
              </a:rPr>
              <a:t>Ads</a:t>
            </a:r>
            <a:endParaRPr lang="pl-PL" sz="2000" b="0" u="none" strike="noStrike">
              <a:solidFill>
                <a:srgbClr val="FFFFFF"/>
              </a:solidFill>
              <a:effectLst/>
              <a:uFillTx/>
              <a:latin typeface="Arial"/>
            </a:endParaRPr>
          </a:p>
        </p:txBody>
      </p:sp>
      <p:sp>
        <p:nvSpPr>
          <p:cNvPr id="223" name="Shape 29"/>
          <p:cNvSpPr/>
          <p:nvPr/>
        </p:nvSpPr>
        <p:spPr>
          <a:xfrm>
            <a:off x="384120" y="1748880"/>
            <a:ext cx="2541600" cy="3063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24" name="Text 30"/>
          <p:cNvSpPr/>
          <p:nvPr/>
        </p:nvSpPr>
        <p:spPr>
          <a:xfrm>
            <a:off x="465480" y="1748880"/>
            <a:ext cx="237888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0" u="none" strike="noStrike">
                <a:solidFill>
                  <a:srgbClr val="8ECAE6"/>
                </a:solidFill>
                <a:effectLst/>
                <a:uFillTx/>
                <a:latin typeface="Calibri"/>
              </a:rPr>
              <a:t>Offline support</a:t>
            </a:r>
            <a:endParaRPr lang="pl-PL" sz="1600" b="0" u="none" strike="noStrike">
              <a:solidFill>
                <a:srgbClr val="FFFFFF"/>
              </a:solidFill>
              <a:effectLst/>
              <a:uFillTx/>
              <a:latin typeface="Arial"/>
            </a:endParaRPr>
          </a:p>
        </p:txBody>
      </p:sp>
      <p:sp>
        <p:nvSpPr>
          <p:cNvPr id="225" name="Shape 31"/>
          <p:cNvSpPr/>
          <p:nvPr/>
        </p:nvSpPr>
        <p:spPr>
          <a:xfrm>
            <a:off x="2926800" y="1748880"/>
            <a:ext cx="1829520" cy="3063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26" name="Text 32"/>
          <p:cNvSpPr/>
          <p:nvPr/>
        </p:nvSpPr>
        <p:spPr>
          <a:xfrm>
            <a:off x="3008160" y="174888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00BCD4"/>
                </a:solidFill>
                <a:effectLst/>
                <a:uFillTx/>
                <a:latin typeface="Calibri"/>
              </a:rPr>
              <a:t>Tak</a:t>
            </a:r>
            <a:endParaRPr lang="pl-PL" sz="2000" b="0" u="none" strike="noStrike">
              <a:solidFill>
                <a:srgbClr val="FFFFFF"/>
              </a:solidFill>
              <a:effectLst/>
              <a:uFillTx/>
              <a:latin typeface="Arial"/>
            </a:endParaRPr>
          </a:p>
        </p:txBody>
      </p:sp>
      <p:sp>
        <p:nvSpPr>
          <p:cNvPr id="227" name="Shape 33"/>
          <p:cNvSpPr/>
          <p:nvPr/>
        </p:nvSpPr>
        <p:spPr>
          <a:xfrm>
            <a:off x="4757400" y="1748880"/>
            <a:ext cx="1829520" cy="3063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28" name="Text 34"/>
          <p:cNvSpPr/>
          <p:nvPr/>
        </p:nvSpPr>
        <p:spPr>
          <a:xfrm>
            <a:off x="4838760" y="174888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FF7043"/>
                </a:solidFill>
                <a:effectLst/>
                <a:uFillTx/>
                <a:latin typeface="Calibri"/>
              </a:rPr>
              <a:t>Nie</a:t>
            </a:r>
            <a:endParaRPr lang="pl-PL" sz="2000" b="0" u="none" strike="noStrike">
              <a:solidFill>
                <a:srgbClr val="FFFFFF"/>
              </a:solidFill>
              <a:effectLst/>
              <a:uFillTx/>
              <a:latin typeface="Arial"/>
            </a:endParaRPr>
          </a:p>
        </p:txBody>
      </p:sp>
      <p:sp>
        <p:nvSpPr>
          <p:cNvPr id="229" name="Shape 35"/>
          <p:cNvSpPr/>
          <p:nvPr/>
        </p:nvSpPr>
        <p:spPr>
          <a:xfrm>
            <a:off x="6588000" y="1748880"/>
            <a:ext cx="1829520" cy="3063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30" name="Text 36"/>
          <p:cNvSpPr/>
          <p:nvPr/>
        </p:nvSpPr>
        <p:spPr>
          <a:xfrm>
            <a:off x="6669360" y="174888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4CAF50"/>
                </a:solidFill>
                <a:effectLst/>
                <a:uFillTx/>
                <a:latin typeface="Calibri"/>
              </a:rPr>
              <a:t>Częściowy</a:t>
            </a:r>
            <a:endParaRPr lang="pl-PL" sz="2000" b="0" u="none" strike="noStrike">
              <a:solidFill>
                <a:srgbClr val="FFFFFF"/>
              </a:solidFill>
              <a:effectLst/>
              <a:uFillTx/>
              <a:latin typeface="Arial"/>
            </a:endParaRPr>
          </a:p>
        </p:txBody>
      </p:sp>
      <p:sp>
        <p:nvSpPr>
          <p:cNvPr id="231" name="Shape 37"/>
          <p:cNvSpPr/>
          <p:nvPr/>
        </p:nvSpPr>
        <p:spPr>
          <a:xfrm>
            <a:off x="384120" y="2056320"/>
            <a:ext cx="2541600" cy="3063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32" name="Text 38"/>
          <p:cNvSpPr/>
          <p:nvPr/>
        </p:nvSpPr>
        <p:spPr>
          <a:xfrm>
            <a:off x="465480" y="2056320"/>
            <a:ext cx="237888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0" u="none" strike="noStrike">
                <a:solidFill>
                  <a:srgbClr val="8ECAE6"/>
                </a:solidFill>
                <a:effectLst/>
                <a:uFillTx/>
                <a:latin typeface="Calibri"/>
              </a:rPr>
              <a:t>Ocena App Store</a:t>
            </a:r>
            <a:endParaRPr lang="pl-PL" sz="1600" b="0" u="none" strike="noStrike">
              <a:solidFill>
                <a:srgbClr val="FFFFFF"/>
              </a:solidFill>
              <a:effectLst/>
              <a:uFillTx/>
              <a:latin typeface="Arial"/>
            </a:endParaRPr>
          </a:p>
        </p:txBody>
      </p:sp>
      <p:sp>
        <p:nvSpPr>
          <p:cNvPr id="233" name="Shape 39"/>
          <p:cNvSpPr/>
          <p:nvPr/>
        </p:nvSpPr>
        <p:spPr>
          <a:xfrm>
            <a:off x="2926800" y="2056320"/>
            <a:ext cx="1829520" cy="3063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34" name="Text 40"/>
          <p:cNvSpPr/>
          <p:nvPr/>
        </p:nvSpPr>
        <p:spPr>
          <a:xfrm>
            <a:off x="3008160" y="205632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00BCD4"/>
                </a:solidFill>
                <a:effectLst/>
                <a:uFillTx/>
                <a:latin typeface="Calibri"/>
              </a:rPr>
              <a:t>–</a:t>
            </a:r>
            <a:endParaRPr lang="pl-PL" sz="2000" b="0" u="none" strike="noStrike">
              <a:solidFill>
                <a:srgbClr val="FFFFFF"/>
              </a:solidFill>
              <a:effectLst/>
              <a:uFillTx/>
              <a:latin typeface="Arial"/>
            </a:endParaRPr>
          </a:p>
        </p:txBody>
      </p:sp>
      <p:sp>
        <p:nvSpPr>
          <p:cNvPr id="235" name="Shape 41"/>
          <p:cNvSpPr/>
          <p:nvPr/>
        </p:nvSpPr>
        <p:spPr>
          <a:xfrm>
            <a:off x="4757400" y="2056320"/>
            <a:ext cx="1829520" cy="3063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36" name="Text 42"/>
          <p:cNvSpPr/>
          <p:nvPr/>
        </p:nvSpPr>
        <p:spPr>
          <a:xfrm>
            <a:off x="4838760" y="205632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FF7043"/>
                </a:solidFill>
                <a:effectLst/>
                <a:uFillTx/>
                <a:latin typeface="Calibri"/>
              </a:rPr>
              <a:t>3.8★</a:t>
            </a:r>
            <a:endParaRPr lang="pl-PL" sz="2000" b="0" u="none" strike="noStrike">
              <a:solidFill>
                <a:srgbClr val="FFFFFF"/>
              </a:solidFill>
              <a:effectLst/>
              <a:uFillTx/>
              <a:latin typeface="Arial"/>
            </a:endParaRPr>
          </a:p>
        </p:txBody>
      </p:sp>
      <p:sp>
        <p:nvSpPr>
          <p:cNvPr id="237" name="Shape 43"/>
          <p:cNvSpPr/>
          <p:nvPr/>
        </p:nvSpPr>
        <p:spPr>
          <a:xfrm>
            <a:off x="6588000" y="2056320"/>
            <a:ext cx="1829520" cy="3063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38" name="Text 44"/>
          <p:cNvSpPr/>
          <p:nvPr/>
        </p:nvSpPr>
        <p:spPr>
          <a:xfrm>
            <a:off x="6669360" y="2056320"/>
            <a:ext cx="1666800" cy="306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0" u="none" strike="noStrike">
                <a:solidFill>
                  <a:srgbClr val="4CAF50"/>
                </a:solidFill>
                <a:effectLst/>
                <a:uFillTx/>
                <a:latin typeface="Calibri"/>
              </a:rPr>
              <a:t>4.1★</a:t>
            </a:r>
            <a:endParaRPr lang="pl-PL" sz="2000" b="0" u="none" strike="noStrike">
              <a:solidFill>
                <a:srgbClr val="FFFFFF"/>
              </a:solidFill>
              <a:effectLst/>
              <a:uFillTx/>
              <a:latin typeface="Arial"/>
            </a:endParaRPr>
          </a:p>
        </p:txBody>
      </p:sp>
      <p:sp>
        <p:nvSpPr>
          <p:cNvPr id="239" name="Text 45"/>
          <p:cNvSpPr/>
          <p:nvPr/>
        </p:nvSpPr>
        <p:spPr>
          <a:xfrm>
            <a:off x="384120" y="2606040"/>
            <a:ext cx="344016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dirty="0">
                <a:solidFill>
                  <a:srgbClr val="FFFFFF"/>
                </a:solidFill>
                <a:effectLst/>
                <a:uFillTx/>
                <a:latin typeface="Calibri"/>
              </a:rPr>
              <a:t>Definicja MVP: </a:t>
            </a:r>
            <a:r>
              <a:rPr lang="pl-PL" sz="1600" b="0" u="none" strike="noStrike" dirty="0">
                <a:solidFill>
                  <a:srgbClr val="FFFFFF"/>
                </a:solidFill>
                <a:effectLst/>
                <a:uFillTx/>
                <a:latin typeface="Calibri"/>
              </a:rPr>
              <a:t>Minimum </a:t>
            </a:r>
            <a:r>
              <a:rPr lang="pl-PL" sz="1600" b="0" u="none" strike="noStrike" dirty="0" err="1">
                <a:solidFill>
                  <a:srgbClr val="FFFFFF"/>
                </a:solidFill>
                <a:effectLst/>
                <a:uFillTx/>
                <a:latin typeface="Calibri"/>
              </a:rPr>
              <a:t>Viable</a:t>
            </a:r>
            <a:r>
              <a:rPr lang="pl-PL" sz="1600" b="0" u="none" strike="noStrike" dirty="0">
                <a:solidFill>
                  <a:srgbClr val="FFFFFF"/>
                </a:solidFill>
                <a:effectLst/>
                <a:uFillTx/>
                <a:latin typeface="Calibri"/>
              </a:rPr>
              <a:t> Product</a:t>
            </a:r>
            <a:endParaRPr lang="pl-PL" sz="1600" b="0" u="none" strike="noStrike" dirty="0">
              <a:solidFill>
                <a:srgbClr val="FFFFFF"/>
              </a:solidFill>
              <a:effectLst/>
              <a:uFillTx/>
              <a:latin typeface="Arial"/>
            </a:endParaRPr>
          </a:p>
        </p:txBody>
      </p:sp>
      <p:sp>
        <p:nvSpPr>
          <p:cNvPr id="240" name="Shape 46"/>
          <p:cNvSpPr/>
          <p:nvPr/>
        </p:nvSpPr>
        <p:spPr>
          <a:xfrm>
            <a:off x="384120" y="2898720"/>
            <a:ext cx="3798360" cy="529200"/>
          </a:xfrm>
          <a:prstGeom prst="rect">
            <a:avLst/>
          </a:prstGeom>
          <a:solidFill>
            <a:srgbClr val="0A2540"/>
          </a:solidFill>
          <a:ln w="762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41" name="Shape 47"/>
          <p:cNvSpPr/>
          <p:nvPr/>
        </p:nvSpPr>
        <p:spPr>
          <a:xfrm>
            <a:off x="384120" y="2898720"/>
            <a:ext cx="63000" cy="52920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42" name="Text 48"/>
          <p:cNvSpPr/>
          <p:nvPr/>
        </p:nvSpPr>
        <p:spPr>
          <a:xfrm>
            <a:off x="539640" y="2953440"/>
            <a:ext cx="3839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800" b="1" u="none" strike="noStrike">
                <a:solidFill>
                  <a:srgbClr val="00BCD4"/>
                </a:solidFill>
                <a:effectLst/>
                <a:uFillTx/>
                <a:latin typeface="Calibri"/>
              </a:rPr>
              <a:t>Must Have (MoSCoW)</a:t>
            </a:r>
            <a:endParaRPr lang="pl-PL" sz="1800" b="0" u="none" strike="noStrike">
              <a:solidFill>
                <a:srgbClr val="FFFFFF"/>
              </a:solidFill>
              <a:effectLst/>
              <a:uFillTx/>
              <a:latin typeface="Arial"/>
            </a:endParaRPr>
          </a:p>
        </p:txBody>
      </p:sp>
      <p:sp>
        <p:nvSpPr>
          <p:cNvPr id="243" name="Text 49"/>
          <p:cNvSpPr/>
          <p:nvPr/>
        </p:nvSpPr>
        <p:spPr>
          <a:xfrm>
            <a:off x="539640" y="3173040"/>
            <a:ext cx="364284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u="none" strike="noStrike">
                <a:solidFill>
                  <a:srgbClr val="FFFFFF"/>
                </a:solidFill>
                <a:effectLst/>
                <a:uFillTx/>
                <a:latin typeface="Calibri"/>
              </a:rPr>
              <a:t>Funkcje bez których produkt nie ma sensu. Maks. 3-5 dla pierwszego releasu.</a:t>
            </a:r>
            <a:endParaRPr lang="pl-PL" sz="900" b="0" u="none" strike="noStrike">
              <a:solidFill>
                <a:srgbClr val="FFFFFF"/>
              </a:solidFill>
              <a:effectLst/>
              <a:uFillTx/>
              <a:latin typeface="Arial"/>
            </a:endParaRPr>
          </a:p>
        </p:txBody>
      </p:sp>
      <p:sp>
        <p:nvSpPr>
          <p:cNvPr id="244" name="Shape 50"/>
          <p:cNvSpPr/>
          <p:nvPr/>
        </p:nvSpPr>
        <p:spPr>
          <a:xfrm>
            <a:off x="4636080" y="2898720"/>
            <a:ext cx="3798360" cy="529200"/>
          </a:xfrm>
          <a:prstGeom prst="rect">
            <a:avLst/>
          </a:prstGeom>
          <a:solidFill>
            <a:srgbClr val="0A2540"/>
          </a:solidFill>
          <a:ln w="762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45" name="Shape 51"/>
          <p:cNvSpPr/>
          <p:nvPr/>
        </p:nvSpPr>
        <p:spPr>
          <a:xfrm>
            <a:off x="4636080" y="2898720"/>
            <a:ext cx="63000" cy="52920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46" name="Text 52"/>
          <p:cNvSpPr/>
          <p:nvPr/>
        </p:nvSpPr>
        <p:spPr>
          <a:xfrm>
            <a:off x="4791600" y="2953440"/>
            <a:ext cx="3839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800" b="1" u="none" strike="noStrike">
                <a:solidFill>
                  <a:srgbClr val="FF7043"/>
                </a:solidFill>
                <a:effectLst/>
                <a:uFillTx/>
                <a:latin typeface="Calibri"/>
              </a:rPr>
              <a:t>Should Have</a:t>
            </a:r>
            <a:endParaRPr lang="pl-PL" sz="1800" b="0" u="none" strike="noStrike">
              <a:solidFill>
                <a:srgbClr val="FFFFFF"/>
              </a:solidFill>
              <a:effectLst/>
              <a:uFillTx/>
              <a:latin typeface="Arial"/>
            </a:endParaRPr>
          </a:p>
        </p:txBody>
      </p:sp>
      <p:sp>
        <p:nvSpPr>
          <p:cNvPr id="247" name="Text 53"/>
          <p:cNvSpPr/>
          <p:nvPr/>
        </p:nvSpPr>
        <p:spPr>
          <a:xfrm>
            <a:off x="4791600" y="3173040"/>
            <a:ext cx="364284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FFFFFF"/>
                </a:solidFill>
                <a:effectLst/>
                <a:uFillTx/>
                <a:latin typeface="Calibri"/>
              </a:rPr>
              <a:t>Ważne</a:t>
            </a:r>
            <a:r>
              <a:rPr lang="en-US" sz="1100" b="0" u="none" strike="noStrike" dirty="0">
                <a:solidFill>
                  <a:srgbClr val="FFFFFF"/>
                </a:solidFill>
                <a:effectLst/>
                <a:uFillTx/>
                <a:latin typeface="Calibri"/>
              </a:rPr>
              <a:t>, ale </a:t>
            </a:r>
            <a:r>
              <a:rPr lang="en-US" sz="1100" b="0" u="none" strike="noStrike" dirty="0" err="1">
                <a:solidFill>
                  <a:srgbClr val="FFFFFF"/>
                </a:solidFill>
                <a:effectLst/>
                <a:uFillTx/>
                <a:latin typeface="Calibri"/>
              </a:rPr>
              <a:t>można</a:t>
            </a:r>
            <a:r>
              <a:rPr lang="en-US" sz="1100" b="0" u="none" strike="noStrike" dirty="0">
                <a:solidFill>
                  <a:srgbClr val="FFFFFF"/>
                </a:solidFill>
                <a:effectLst/>
                <a:uFillTx/>
                <a:latin typeface="Calibri"/>
              </a:rPr>
              <a:t> </a:t>
            </a:r>
            <a:r>
              <a:rPr lang="en-US" sz="1100" b="0" u="none" strike="noStrike" dirty="0" err="1">
                <a:solidFill>
                  <a:srgbClr val="FFFFFF"/>
                </a:solidFill>
                <a:effectLst/>
                <a:uFillTx/>
                <a:latin typeface="Calibri"/>
              </a:rPr>
              <a:t>wydać</a:t>
            </a:r>
            <a:r>
              <a:rPr lang="en-US" sz="1100" b="0" u="none" strike="noStrike" dirty="0">
                <a:solidFill>
                  <a:srgbClr val="FFFFFF"/>
                </a:solidFill>
                <a:effectLst/>
                <a:uFillTx/>
                <a:latin typeface="Calibri"/>
              </a:rPr>
              <a:t> bez. </a:t>
            </a:r>
            <a:r>
              <a:rPr lang="en-US" sz="1100" b="0" u="none" strike="noStrike" dirty="0" err="1">
                <a:solidFill>
                  <a:srgbClr val="FFFFFF"/>
                </a:solidFill>
                <a:effectLst/>
                <a:uFillTx/>
                <a:latin typeface="Calibri"/>
              </a:rPr>
              <a:t>Dodawane</a:t>
            </a:r>
            <a:r>
              <a:rPr lang="en-US" sz="1100" b="0" u="none" strike="noStrike" dirty="0">
                <a:solidFill>
                  <a:srgbClr val="FFFFFF"/>
                </a:solidFill>
                <a:effectLst/>
                <a:uFillTx/>
                <a:latin typeface="Calibri"/>
              </a:rPr>
              <a:t> w sprint 2-3.</a:t>
            </a:r>
            <a:endParaRPr lang="pl-PL" sz="1100" b="0" u="none" strike="noStrike" dirty="0">
              <a:solidFill>
                <a:srgbClr val="FFFFFF"/>
              </a:solidFill>
              <a:effectLst/>
              <a:uFillTx/>
              <a:latin typeface="Arial"/>
            </a:endParaRPr>
          </a:p>
        </p:txBody>
      </p:sp>
      <p:sp>
        <p:nvSpPr>
          <p:cNvPr id="248" name="Shape 54"/>
          <p:cNvSpPr/>
          <p:nvPr/>
        </p:nvSpPr>
        <p:spPr>
          <a:xfrm>
            <a:off x="384120" y="3520440"/>
            <a:ext cx="3798360" cy="529200"/>
          </a:xfrm>
          <a:prstGeom prst="rect">
            <a:avLst/>
          </a:prstGeom>
          <a:solidFill>
            <a:srgbClr val="0A2540"/>
          </a:solidFill>
          <a:ln w="762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49" name="Shape 55"/>
          <p:cNvSpPr/>
          <p:nvPr/>
        </p:nvSpPr>
        <p:spPr>
          <a:xfrm>
            <a:off x="384120" y="3520440"/>
            <a:ext cx="63000" cy="52920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50" name="Text 56"/>
          <p:cNvSpPr/>
          <p:nvPr/>
        </p:nvSpPr>
        <p:spPr>
          <a:xfrm>
            <a:off x="539640" y="3575160"/>
            <a:ext cx="3839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800" b="1" u="none" strike="noStrike">
                <a:solidFill>
                  <a:srgbClr val="FFB300"/>
                </a:solidFill>
                <a:effectLst/>
                <a:uFillTx/>
                <a:latin typeface="Calibri"/>
              </a:rPr>
              <a:t>Could Have</a:t>
            </a:r>
            <a:endParaRPr lang="pl-PL" sz="1800" b="0" u="none" strike="noStrike">
              <a:solidFill>
                <a:srgbClr val="FFFFFF"/>
              </a:solidFill>
              <a:effectLst/>
              <a:uFillTx/>
              <a:latin typeface="Arial"/>
            </a:endParaRPr>
          </a:p>
        </p:txBody>
      </p:sp>
      <p:sp>
        <p:nvSpPr>
          <p:cNvPr id="251" name="Text 57"/>
          <p:cNvSpPr/>
          <p:nvPr/>
        </p:nvSpPr>
        <p:spPr>
          <a:xfrm>
            <a:off x="539640" y="3794760"/>
            <a:ext cx="357408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dirty="0">
                <a:solidFill>
                  <a:srgbClr val="FFFFFF"/>
                </a:solidFill>
                <a:effectLst/>
                <a:uFillTx/>
                <a:latin typeface="Calibri"/>
              </a:rPr>
              <a:t>Nice-to-have. Backlog </a:t>
            </a:r>
            <a:r>
              <a:rPr lang="en-US" sz="1200" b="0" u="none" strike="noStrike" dirty="0" err="1">
                <a:solidFill>
                  <a:srgbClr val="FFFFFF"/>
                </a:solidFill>
                <a:effectLst/>
                <a:uFillTx/>
                <a:latin typeface="Calibri"/>
              </a:rPr>
              <a:t>priorytet</a:t>
            </a:r>
            <a:r>
              <a:rPr lang="en-US" sz="1200" b="0" u="none" strike="noStrike" dirty="0">
                <a:solidFill>
                  <a:srgbClr val="FFFFFF"/>
                </a:solidFill>
                <a:effectLst/>
                <a:uFillTx/>
                <a:latin typeface="Calibri"/>
              </a:rPr>
              <a:t> B.</a:t>
            </a:r>
            <a:endParaRPr lang="pl-PL" sz="1200" b="0" u="none" strike="noStrike" dirty="0">
              <a:solidFill>
                <a:srgbClr val="FFFFFF"/>
              </a:solidFill>
              <a:effectLst/>
              <a:uFillTx/>
              <a:latin typeface="Arial"/>
            </a:endParaRPr>
          </a:p>
        </p:txBody>
      </p:sp>
      <p:sp>
        <p:nvSpPr>
          <p:cNvPr id="252" name="Shape 58"/>
          <p:cNvSpPr/>
          <p:nvPr/>
        </p:nvSpPr>
        <p:spPr>
          <a:xfrm>
            <a:off x="4636080" y="3520440"/>
            <a:ext cx="3798360" cy="529200"/>
          </a:xfrm>
          <a:prstGeom prst="rect">
            <a:avLst/>
          </a:prstGeom>
          <a:solidFill>
            <a:srgbClr val="0A2540"/>
          </a:solidFill>
          <a:ln w="7620">
            <a:solidFill>
              <a:srgbClr val="5A8FA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53" name="Shape 59"/>
          <p:cNvSpPr/>
          <p:nvPr/>
        </p:nvSpPr>
        <p:spPr>
          <a:xfrm>
            <a:off x="4636080" y="3520440"/>
            <a:ext cx="63000" cy="529200"/>
          </a:xfrm>
          <a:prstGeom prst="rect">
            <a:avLst/>
          </a:prstGeom>
          <a:solidFill>
            <a:srgbClr val="5A8FAA"/>
          </a:solidFill>
          <a:ln w="12700">
            <a:solidFill>
              <a:srgbClr val="5A8FA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54" name="Text 60"/>
          <p:cNvSpPr/>
          <p:nvPr/>
        </p:nvSpPr>
        <p:spPr>
          <a:xfrm>
            <a:off x="4791600" y="3575160"/>
            <a:ext cx="3839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800" b="1" u="none" strike="noStrike">
                <a:solidFill>
                  <a:srgbClr val="5A8FAA"/>
                </a:solidFill>
                <a:effectLst/>
                <a:uFillTx/>
                <a:latin typeface="Calibri"/>
              </a:rPr>
              <a:t>Won't Have (v1)</a:t>
            </a:r>
            <a:endParaRPr lang="pl-PL" sz="1800" b="0" u="none" strike="noStrike">
              <a:solidFill>
                <a:srgbClr val="FFFFFF"/>
              </a:solidFill>
              <a:effectLst/>
              <a:uFillTx/>
              <a:latin typeface="Arial"/>
            </a:endParaRPr>
          </a:p>
        </p:txBody>
      </p:sp>
      <p:sp>
        <p:nvSpPr>
          <p:cNvPr id="255" name="Text 61"/>
          <p:cNvSpPr/>
          <p:nvPr/>
        </p:nvSpPr>
        <p:spPr>
          <a:xfrm>
            <a:off x="4791600" y="3794760"/>
            <a:ext cx="364284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FFFFFF"/>
                </a:solidFill>
                <a:effectLst/>
                <a:uFillTx/>
                <a:latin typeface="Calibri"/>
              </a:rPr>
              <a:t>Explicite</a:t>
            </a:r>
            <a:r>
              <a:rPr lang="en-US" sz="1100" b="0" u="none" strike="noStrike" dirty="0">
                <a:solidFill>
                  <a:srgbClr val="FFFFFF"/>
                </a:solidFill>
                <a:effectLst/>
                <a:uFillTx/>
                <a:latin typeface="Calibri"/>
              </a:rPr>
              <a:t> </a:t>
            </a:r>
            <a:r>
              <a:rPr lang="en-US" sz="1100" b="0" u="none" strike="noStrike" dirty="0" err="1">
                <a:solidFill>
                  <a:srgbClr val="FFFFFF"/>
                </a:solidFill>
                <a:effectLst/>
                <a:uFillTx/>
                <a:latin typeface="Calibri"/>
              </a:rPr>
              <a:t>wykluczone</a:t>
            </a:r>
            <a:r>
              <a:rPr lang="en-US" sz="1100" b="0" u="none" strike="noStrike" dirty="0">
                <a:solidFill>
                  <a:srgbClr val="FFFFFF"/>
                </a:solidFill>
                <a:effectLst/>
                <a:uFillTx/>
                <a:latin typeface="Calibri"/>
              </a:rPr>
              <a:t> z </a:t>
            </a:r>
            <a:r>
              <a:rPr lang="en-US" sz="1100" b="0" u="none" strike="noStrike" dirty="0" err="1">
                <a:solidFill>
                  <a:srgbClr val="FFFFFF"/>
                </a:solidFill>
                <a:effectLst/>
                <a:uFillTx/>
                <a:latin typeface="Calibri"/>
              </a:rPr>
              <a:t>releasu</a:t>
            </a:r>
            <a:r>
              <a:rPr lang="en-US" sz="1100" b="0" u="none" strike="noStrike" dirty="0">
                <a:solidFill>
                  <a:srgbClr val="FFFFFF"/>
                </a:solidFill>
                <a:effectLst/>
                <a:uFillTx/>
                <a:latin typeface="Calibri"/>
              </a:rPr>
              <a:t> 1.0. </a:t>
            </a:r>
            <a:r>
              <a:rPr lang="en-US" sz="1100" b="0" u="none" strike="noStrike" dirty="0" err="1">
                <a:solidFill>
                  <a:srgbClr val="FFFFFF"/>
                </a:solidFill>
                <a:effectLst/>
                <a:uFillTx/>
                <a:latin typeface="Calibri"/>
              </a:rPr>
              <a:t>Zarządzanie</a:t>
            </a:r>
            <a:r>
              <a:rPr lang="en-US" sz="1100" b="0" u="none" strike="noStrike" dirty="0">
                <a:solidFill>
                  <a:srgbClr val="FFFFFF"/>
                </a:solidFill>
                <a:effectLst/>
                <a:uFillTx/>
                <a:latin typeface="Calibri"/>
              </a:rPr>
              <a:t> </a:t>
            </a:r>
            <a:r>
              <a:rPr lang="en-US" sz="1100" b="0" u="none" strike="noStrike" dirty="0" err="1">
                <a:solidFill>
                  <a:srgbClr val="FFFFFF"/>
                </a:solidFill>
                <a:effectLst/>
                <a:uFillTx/>
                <a:latin typeface="Calibri"/>
              </a:rPr>
              <a:t>oczekiwaniami</a:t>
            </a:r>
            <a:r>
              <a:rPr lang="en-US" sz="1100" b="0" u="none" strike="noStrike" dirty="0">
                <a:solidFill>
                  <a:srgbClr val="FFFFFF"/>
                </a:solidFill>
                <a:effectLst/>
                <a:uFillTx/>
                <a:latin typeface="Calibri"/>
              </a:rPr>
              <a:t>.</a:t>
            </a:r>
            <a:endParaRPr lang="pl-PL" sz="1100" b="0" u="none" strike="noStrike" dirty="0">
              <a:solidFill>
                <a:srgbClr val="FFFFFF"/>
              </a:solidFill>
              <a:effectLst/>
              <a:uFillTx/>
              <a:latin typeface="Arial"/>
            </a:endParaRPr>
          </a:p>
        </p:txBody>
      </p:sp>
      <p:sp>
        <p:nvSpPr>
          <p:cNvPr id="256" name="Shape 62"/>
          <p:cNvSpPr/>
          <p:nvPr/>
        </p:nvSpPr>
        <p:spPr>
          <a:xfrm>
            <a:off x="380880" y="4281480"/>
            <a:ext cx="8064360" cy="571320"/>
          </a:xfrm>
          <a:prstGeom prst="rect">
            <a:avLst/>
          </a:prstGeom>
          <a:solidFill>
            <a:srgbClr val="102040"/>
          </a:solidFill>
          <a:ln w="635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pl-PL" sz="1600" b="1" u="none" strike="noStrike" dirty="0" err="1">
                <a:solidFill>
                  <a:schemeClr val="bg1"/>
                </a:solidFill>
                <a:effectLst/>
                <a:uFillTx/>
                <a:latin typeface="Calibri"/>
              </a:rPr>
              <a:t>Spotify</a:t>
            </a:r>
            <a:r>
              <a:rPr lang="pl-PL" sz="1600" b="0" u="none" strike="noStrike" dirty="0">
                <a:solidFill>
                  <a:schemeClr val="bg1"/>
                </a:solidFill>
                <a:effectLst/>
                <a:uFillTx/>
                <a:latin typeface="Calibri"/>
              </a:rPr>
              <a:t> wypuścił MVP z jedną funkcją (streaming muzyki), bez </a:t>
            </a:r>
            <a:r>
              <a:rPr lang="pl-PL" sz="1600" b="0" u="none" strike="noStrike" dirty="0" err="1">
                <a:solidFill>
                  <a:schemeClr val="bg1"/>
                </a:solidFill>
                <a:effectLst/>
                <a:uFillTx/>
                <a:latin typeface="Calibri"/>
              </a:rPr>
              <a:t>playlist</a:t>
            </a:r>
            <a:r>
              <a:rPr lang="pl-PL" sz="1600" b="0" u="none" strike="noStrike" dirty="0">
                <a:solidFill>
                  <a:schemeClr val="bg1"/>
                </a:solidFill>
                <a:effectLst/>
                <a:uFillTx/>
                <a:latin typeface="Calibri"/>
              </a:rPr>
              <a:t>, offline, czy </a:t>
            </a:r>
            <a:r>
              <a:rPr lang="pl-PL" sz="1600" b="0" u="none" strike="noStrike" dirty="0" err="1">
                <a:solidFill>
                  <a:schemeClr val="bg1"/>
                </a:solidFill>
                <a:effectLst/>
                <a:uFillTx/>
                <a:latin typeface="Calibri"/>
              </a:rPr>
              <a:t>social</a:t>
            </a:r>
            <a:r>
              <a:rPr lang="pl-PL" sz="1600" b="0" u="none" strike="noStrike" dirty="0">
                <a:solidFill>
                  <a:schemeClr val="bg1"/>
                </a:solidFill>
                <a:effectLst/>
                <a:uFillTx/>
                <a:latin typeface="Calibri"/>
              </a:rPr>
              <a:t>.</a:t>
            </a:r>
            <a:endParaRPr lang="pl-PL" sz="1600" b="0" u="none" strike="noStrike" dirty="0">
              <a:solidFill>
                <a:schemeClr val="bg1"/>
              </a:solidFill>
              <a:effectLst/>
              <a:uFillTx/>
              <a:latin typeface="Arial"/>
            </a:endParaRPr>
          </a:p>
          <a:p>
            <a:pPr defTabSz="914400">
              <a:lnSpc>
                <a:spcPct val="100000"/>
              </a:lnSpc>
            </a:pPr>
            <a:r>
              <a:rPr lang="pl-PL" sz="1600" b="1" u="none" strike="noStrike" dirty="0">
                <a:solidFill>
                  <a:schemeClr val="bg1"/>
                </a:solidFill>
                <a:effectLst/>
                <a:uFillTx/>
                <a:latin typeface="Calibri"/>
              </a:rPr>
              <a:t>Instagram</a:t>
            </a:r>
            <a:r>
              <a:rPr lang="pl-PL" sz="1600" b="0" u="none" strike="noStrike" dirty="0">
                <a:solidFill>
                  <a:schemeClr val="bg1"/>
                </a:solidFill>
                <a:effectLst/>
                <a:uFillTx/>
                <a:latin typeface="Calibri"/>
              </a:rPr>
              <a:t> startował wyłącznie jako </a:t>
            </a:r>
            <a:r>
              <a:rPr lang="pl-PL" sz="1600" b="0" u="none" strike="noStrike" dirty="0" err="1">
                <a:solidFill>
                  <a:schemeClr val="bg1"/>
                </a:solidFill>
                <a:effectLst/>
                <a:uFillTx/>
                <a:latin typeface="Calibri"/>
              </a:rPr>
              <a:t>apka</a:t>
            </a:r>
            <a:r>
              <a:rPr lang="pl-PL" sz="1600" b="0" u="none" strike="noStrike" dirty="0">
                <a:solidFill>
                  <a:schemeClr val="bg1"/>
                </a:solidFill>
                <a:effectLst/>
                <a:uFillTx/>
                <a:latin typeface="Calibri"/>
              </a:rPr>
              <a:t> do filtrowania zdjęć (bez </a:t>
            </a:r>
            <a:r>
              <a:rPr lang="pl-PL" sz="1600" b="0" u="none" strike="noStrike" dirty="0" err="1">
                <a:solidFill>
                  <a:schemeClr val="bg1"/>
                </a:solidFill>
                <a:effectLst/>
                <a:uFillTx/>
                <a:latin typeface="Calibri"/>
              </a:rPr>
              <a:t>stories</a:t>
            </a:r>
            <a:r>
              <a:rPr lang="pl-PL" sz="1600" b="0" u="none" strike="noStrike" dirty="0">
                <a:solidFill>
                  <a:schemeClr val="bg1"/>
                </a:solidFill>
                <a:effectLst/>
                <a:uFillTx/>
                <a:latin typeface="Calibri"/>
              </a:rPr>
              <a:t>, </a:t>
            </a:r>
            <a:r>
              <a:rPr lang="pl-PL" sz="1600" b="0" u="none" strike="noStrike" dirty="0" err="1">
                <a:solidFill>
                  <a:schemeClr val="bg1"/>
                </a:solidFill>
                <a:effectLst/>
                <a:uFillTx/>
                <a:latin typeface="Calibri"/>
              </a:rPr>
              <a:t>reels</a:t>
            </a:r>
            <a:r>
              <a:rPr lang="pl-PL" sz="1600" b="0" u="none" strike="noStrike" dirty="0">
                <a:solidFill>
                  <a:schemeClr val="bg1"/>
                </a:solidFill>
                <a:effectLst/>
                <a:uFillTx/>
                <a:latin typeface="Calibri"/>
              </a:rPr>
              <a:t>, zakupów).</a:t>
            </a:r>
            <a:endParaRPr lang="pl-PL" sz="1600" b="0" u="none" strike="noStrike" dirty="0">
              <a:solidFill>
                <a:schemeClr val="bg1"/>
              </a:solidFill>
              <a:effectLst/>
              <a:uFillTx/>
              <a:latin typeface="Arial"/>
            </a:endParaRPr>
          </a:p>
        </p:txBody>
      </p:sp>
      <p:sp>
        <p:nvSpPr>
          <p:cNvPr id="257" name="Shape 64"/>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58" name="Text 67"/>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8ECAE6"/>
                </a:solidFill>
                <a:effectLst/>
                <a:uFillTx/>
                <a:latin typeface="Calibri"/>
              </a:rPr>
              <a:t>7 / 30</a:t>
            </a:r>
            <a:endParaRPr lang="pl-PL" sz="1000" b="0" u="none" strike="noStrike">
              <a:solidFill>
                <a:srgbClr val="FFFFFF"/>
              </a:solidFill>
              <a:effectLst/>
              <a:uFillTx/>
              <a:latin typeface="Arial"/>
            </a:endParaRPr>
          </a:p>
        </p:txBody>
      </p:sp>
      <p:sp>
        <p:nvSpPr>
          <p:cNvPr id="259" name="Shape 7"/>
          <p:cNvSpPr/>
          <p:nvPr/>
        </p:nvSpPr>
        <p:spPr>
          <a:xfrm>
            <a:off x="2926800" y="841320"/>
            <a:ext cx="1829520" cy="291600"/>
          </a:xfrm>
          <a:prstGeom prst="rect">
            <a:avLst/>
          </a:prstGeom>
          <a:solidFill>
            <a:srgbClr val="0A25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0" name="Text 8"/>
          <p:cNvSpPr/>
          <p:nvPr/>
        </p:nvSpPr>
        <p:spPr>
          <a:xfrm>
            <a:off x="2977560" y="841320"/>
            <a:ext cx="172764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2000" b="1" u="none" strike="noStrike">
                <a:solidFill>
                  <a:srgbClr val="00BCD4"/>
                </a:solidFill>
                <a:effectLst/>
                <a:uFillTx/>
                <a:latin typeface="Calibri"/>
              </a:rPr>
              <a:t>Twoja app</a:t>
            </a:r>
            <a:endParaRPr lang="pl-PL" sz="2000" b="0" u="none" strike="noStrike">
              <a:solidFill>
                <a:srgbClr val="FFFFFF"/>
              </a:solidFill>
              <a:effectLst/>
              <a:uFillTx/>
              <a:latin typeface="Arial"/>
            </a:endParaRPr>
          </a:p>
        </p:txBody>
      </p:sp>
      <p:sp>
        <p:nvSpPr>
          <p:cNvPr id="261" name="Shape 9"/>
          <p:cNvSpPr/>
          <p:nvPr/>
        </p:nvSpPr>
        <p:spPr>
          <a:xfrm>
            <a:off x="4757400" y="841320"/>
            <a:ext cx="1829520" cy="291600"/>
          </a:xfrm>
          <a:prstGeom prst="rect">
            <a:avLst/>
          </a:prstGeom>
          <a:solidFill>
            <a:srgbClr val="0A2540"/>
          </a:solidFill>
          <a:ln w="635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2" name="Text 10"/>
          <p:cNvSpPr/>
          <p:nvPr/>
        </p:nvSpPr>
        <p:spPr>
          <a:xfrm>
            <a:off x="4808160" y="841320"/>
            <a:ext cx="172800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2000" b="1" u="none" strike="noStrike">
                <a:solidFill>
                  <a:srgbClr val="FF7043"/>
                </a:solidFill>
                <a:effectLst/>
                <a:uFillTx/>
                <a:latin typeface="Calibri"/>
              </a:rPr>
              <a:t>Konkurent A</a:t>
            </a:r>
            <a:endParaRPr lang="pl-PL" sz="2000" b="0" u="none" strike="noStrike">
              <a:solidFill>
                <a:srgbClr val="FFFFFF"/>
              </a:solidFill>
              <a:effectLst/>
              <a:uFillTx/>
              <a:latin typeface="Arial"/>
            </a:endParaRPr>
          </a:p>
        </p:txBody>
      </p:sp>
      <p:sp>
        <p:nvSpPr>
          <p:cNvPr id="263" name="Shape 11"/>
          <p:cNvSpPr/>
          <p:nvPr/>
        </p:nvSpPr>
        <p:spPr>
          <a:xfrm>
            <a:off x="6588000" y="841320"/>
            <a:ext cx="1829520" cy="291600"/>
          </a:xfrm>
          <a:prstGeom prst="rect">
            <a:avLst/>
          </a:prstGeom>
          <a:solidFill>
            <a:srgbClr val="0A2540"/>
          </a:solidFill>
          <a:ln w="635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4" name="Text 12"/>
          <p:cNvSpPr/>
          <p:nvPr/>
        </p:nvSpPr>
        <p:spPr>
          <a:xfrm>
            <a:off x="6638760" y="841320"/>
            <a:ext cx="1728000" cy="2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2000" b="1" u="none" strike="noStrike">
                <a:solidFill>
                  <a:srgbClr val="4CAF50"/>
                </a:solidFill>
                <a:effectLst/>
                <a:uFillTx/>
                <a:latin typeface="Calibri"/>
              </a:rPr>
              <a:t>Konkurent B</a:t>
            </a:r>
            <a:endParaRPr lang="pl-PL" sz="20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1422"/>
        </a:solidFill>
        <a:effectLst/>
      </p:bgPr>
    </p:bg>
    <p:spTree>
      <p:nvGrpSpPr>
        <p:cNvPr id="1" name=""/>
        <p:cNvGrpSpPr/>
        <p:nvPr/>
      </p:nvGrpSpPr>
      <p:grpSpPr>
        <a:xfrm>
          <a:off x="0" y="0"/>
          <a:ext cx="0" cy="0"/>
          <a:chOff x="0" y="0"/>
          <a:chExt cx="0" cy="0"/>
        </a:xfrm>
      </p:grpSpPr>
      <p:sp>
        <p:nvSpPr>
          <p:cNvPr id="265" name="Shape 0"/>
          <p:cNvSpPr/>
          <p:nvPr/>
        </p:nvSpPr>
        <p:spPr>
          <a:xfrm>
            <a:off x="0" y="0"/>
            <a:ext cx="90360" cy="495504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6" name="Shape 1"/>
          <p:cNvSpPr/>
          <p:nvPr/>
        </p:nvSpPr>
        <p:spPr>
          <a:xfrm>
            <a:off x="0" y="3008520"/>
            <a:ext cx="9142920" cy="1928160"/>
          </a:xfrm>
          <a:prstGeom prst="rect">
            <a:avLst/>
          </a:prstGeom>
          <a:solidFill>
            <a:srgbClr val="081828"/>
          </a:solidFill>
          <a:ln w="12700">
            <a:solidFill>
              <a:srgbClr val="08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7" name="Shape 2"/>
          <p:cNvSpPr/>
          <p:nvPr/>
        </p:nvSpPr>
        <p:spPr>
          <a:xfrm>
            <a:off x="502920" y="1005840"/>
            <a:ext cx="1114560" cy="273240"/>
          </a:xfrm>
          <a:prstGeom prst="roundRect">
            <a:avLst>
              <a:gd name="adj" fmla="val 26667"/>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68" name="Text 3"/>
          <p:cNvSpPr/>
          <p:nvPr/>
        </p:nvSpPr>
        <p:spPr>
          <a:xfrm>
            <a:off x="502920" y="1005840"/>
            <a:ext cx="1114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ROZDZIAŁ 3</a:t>
            </a:r>
            <a:endParaRPr lang="pl-PL" sz="1200" b="0" u="none" strike="noStrike">
              <a:solidFill>
                <a:srgbClr val="FFFFFF"/>
              </a:solidFill>
              <a:effectLst/>
              <a:uFillTx/>
              <a:latin typeface="Arial"/>
            </a:endParaRPr>
          </a:p>
        </p:txBody>
      </p:sp>
      <p:sp>
        <p:nvSpPr>
          <p:cNvPr id="269" name="Text 4"/>
          <p:cNvSpPr/>
          <p:nvPr/>
        </p:nvSpPr>
        <p:spPr>
          <a:xfrm>
            <a:off x="502920" y="1389960"/>
            <a:ext cx="8045640" cy="15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4400" b="1" u="none" strike="noStrike" dirty="0">
                <a:solidFill>
                  <a:srgbClr val="FFFFFF"/>
                </a:solidFill>
                <a:effectLst/>
                <a:uFillTx/>
                <a:latin typeface="Calibri"/>
              </a:rPr>
              <a:t>Skład </a:t>
            </a:r>
            <a:endParaRPr lang="pl-PL" sz="4400" b="1" u="none" strike="noStrike" dirty="0" smtClean="0">
              <a:solidFill>
                <a:srgbClr val="FFFFFF"/>
              </a:solidFill>
              <a:effectLst/>
              <a:uFillTx/>
              <a:latin typeface="Calibri"/>
            </a:endParaRPr>
          </a:p>
          <a:p>
            <a:pPr defTabSz="914400">
              <a:lnSpc>
                <a:spcPct val="100000"/>
              </a:lnSpc>
              <a:tabLst>
                <a:tab pos="0" algn="l"/>
              </a:tabLst>
            </a:pPr>
            <a:r>
              <a:rPr lang="pl-PL" sz="4400" b="1" dirty="0">
                <a:solidFill>
                  <a:srgbClr val="FFFFFF"/>
                </a:solidFill>
                <a:latin typeface="Calibri"/>
              </a:rPr>
              <a:t> </a:t>
            </a:r>
            <a:r>
              <a:rPr lang="pl-PL" sz="4400" b="1" dirty="0" smtClean="0">
                <a:solidFill>
                  <a:srgbClr val="FFFFFF"/>
                </a:solidFill>
                <a:latin typeface="Calibri"/>
              </a:rPr>
              <a:t>   </a:t>
            </a:r>
            <a:r>
              <a:rPr lang="pl-PL" sz="4400" b="1" u="none" strike="noStrike" dirty="0" smtClean="0">
                <a:solidFill>
                  <a:srgbClr val="FFFFFF"/>
                </a:solidFill>
                <a:effectLst/>
                <a:uFillTx/>
                <a:latin typeface="Calibri"/>
              </a:rPr>
              <a:t>i </a:t>
            </a:r>
            <a:r>
              <a:rPr lang="pl-PL" sz="4400" b="1" u="none" strike="noStrike" dirty="0">
                <a:solidFill>
                  <a:srgbClr val="FFFFFF"/>
                </a:solidFill>
                <a:effectLst/>
                <a:uFillTx/>
                <a:latin typeface="Calibri"/>
              </a:rPr>
              <a:t>role zespołu</a:t>
            </a:r>
            <a:endParaRPr lang="pl-PL" sz="4400" b="0" u="none" strike="noStrike" dirty="0">
              <a:solidFill>
                <a:srgbClr val="FFFFFF"/>
              </a:solidFill>
              <a:effectLst/>
              <a:uFillTx/>
              <a:latin typeface="Arial"/>
            </a:endParaRPr>
          </a:p>
        </p:txBody>
      </p:sp>
      <p:sp>
        <p:nvSpPr>
          <p:cNvPr id="270" name="Text 5"/>
          <p:cNvSpPr/>
          <p:nvPr/>
        </p:nvSpPr>
        <p:spPr>
          <a:xfrm>
            <a:off x="502920" y="3063240"/>
            <a:ext cx="6856920" cy="59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0" u="none" strike="noStrike">
                <a:solidFill>
                  <a:srgbClr val="8ECAE6"/>
                </a:solidFill>
                <a:effectLst/>
                <a:uFillTx/>
                <a:latin typeface="Calibri"/>
              </a:rPr>
              <a:t>Kto jest potrzebny i za co odpowiada. Modele współpracy i struktury organizacyjne.</a:t>
            </a:r>
            <a:endParaRPr lang="pl-PL" sz="1600" b="0" u="none" strike="noStrike">
              <a:solidFill>
                <a:srgbClr val="FFFFFF"/>
              </a:solidFill>
              <a:effectLst/>
              <a:uFillTx/>
              <a:latin typeface="Arial"/>
            </a:endParaRPr>
          </a:p>
        </p:txBody>
      </p:sp>
      <p:sp>
        <p:nvSpPr>
          <p:cNvPr id="271" name="Shape 6"/>
          <p:cNvSpPr/>
          <p:nvPr/>
        </p:nvSpPr>
        <p:spPr>
          <a:xfrm>
            <a:off x="502920" y="3367080"/>
            <a:ext cx="5453280" cy="360"/>
          </a:xfrm>
          <a:prstGeom prst="line">
            <a:avLst/>
          </a:prstGeom>
          <a:ln w="15240">
            <a:solidFill>
              <a:srgbClr val="4CAF5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272" name="Shape 8"/>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73" name="Text 11"/>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8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76" name="Text 2"/>
          <p:cNvSpPr/>
          <p:nvPr/>
        </p:nvSpPr>
        <p:spPr>
          <a:xfrm>
            <a:off x="1134000" y="73080"/>
            <a:ext cx="7588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Calibri"/>
              </a:rPr>
              <a:t>Role w zespole mobilnym</a:t>
            </a:r>
            <a:r>
              <a:rPr lang="pl-PL" sz="2000" b="1" u="none" strike="noStrike">
                <a:solidFill>
                  <a:srgbClr val="FFFFFF"/>
                </a:solidFill>
                <a:effectLst/>
                <a:uFillTx/>
                <a:latin typeface="Calibri"/>
              </a:rPr>
              <a:t>:</a:t>
            </a:r>
            <a:r>
              <a:rPr lang="en-US" sz="2000" b="1" u="none" strike="noStrike">
                <a:solidFill>
                  <a:srgbClr val="FFFFFF"/>
                </a:solidFill>
                <a:effectLst/>
                <a:uFillTx/>
                <a:latin typeface="Calibri"/>
              </a:rPr>
              <a:t> </a:t>
            </a:r>
            <a:r>
              <a:rPr lang="en-US" sz="2000" b="0" u="none" strike="noStrike">
                <a:solidFill>
                  <a:srgbClr val="FFFFFF"/>
                </a:solidFill>
                <a:effectLst/>
                <a:uFillTx/>
                <a:latin typeface="Calibri"/>
              </a:rPr>
              <a:t>odpowiedzialności i kompetencje</a:t>
            </a:r>
            <a:endParaRPr lang="pl-PL" sz="2000" b="0" u="none" strike="noStrike">
              <a:solidFill>
                <a:srgbClr val="FFFFFF"/>
              </a:solidFill>
              <a:effectLst/>
              <a:uFillTx/>
              <a:latin typeface="Arial"/>
            </a:endParaRPr>
          </a:p>
        </p:txBody>
      </p:sp>
      <p:sp>
        <p:nvSpPr>
          <p:cNvPr id="277" name="Shape 3"/>
          <p:cNvSpPr/>
          <p:nvPr/>
        </p:nvSpPr>
        <p:spPr>
          <a:xfrm>
            <a:off x="383760" y="4244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278" name="Shape 4"/>
          <p:cNvSpPr/>
          <p:nvPr/>
        </p:nvSpPr>
        <p:spPr>
          <a:xfrm>
            <a:off x="642960" y="693360"/>
            <a:ext cx="3653640" cy="90936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79" name="Shape 5"/>
          <p:cNvSpPr/>
          <p:nvPr/>
        </p:nvSpPr>
        <p:spPr>
          <a:xfrm>
            <a:off x="642960" y="693360"/>
            <a:ext cx="67680" cy="90936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80" name="Text 6"/>
          <p:cNvSpPr/>
          <p:nvPr/>
        </p:nvSpPr>
        <p:spPr>
          <a:xfrm>
            <a:off x="798480" y="752040"/>
            <a:ext cx="2169000" cy="22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dirty="0">
                <a:solidFill>
                  <a:srgbClr val="00BCD4"/>
                </a:solidFill>
                <a:effectLst/>
                <a:uFillTx/>
                <a:latin typeface="Calibri"/>
              </a:rPr>
              <a:t>Product Owner </a:t>
            </a:r>
            <a:r>
              <a:rPr lang="en-US" b="0" u="none" strike="noStrike" dirty="0">
                <a:solidFill>
                  <a:srgbClr val="00BCD4"/>
                </a:solidFill>
                <a:effectLst/>
                <a:uFillTx/>
                <a:latin typeface="Calibri"/>
              </a:rPr>
              <a:t>(PO)</a:t>
            </a:r>
            <a:endParaRPr lang="pl-PL" b="0" u="none" strike="noStrike" dirty="0">
              <a:solidFill>
                <a:srgbClr val="FFFFFF"/>
              </a:solidFill>
              <a:effectLst/>
              <a:uFillTx/>
              <a:latin typeface="Arial"/>
            </a:endParaRPr>
          </a:p>
        </p:txBody>
      </p:sp>
      <p:sp>
        <p:nvSpPr>
          <p:cNvPr id="281" name="Text 7"/>
          <p:cNvSpPr/>
          <p:nvPr/>
        </p:nvSpPr>
        <p:spPr>
          <a:xfrm>
            <a:off x="798480" y="1032480"/>
            <a:ext cx="3396600" cy="51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dirty="0" smtClean="0">
                <a:solidFill>
                  <a:srgbClr val="FFFFFF"/>
                </a:solidFill>
                <a:effectLst/>
                <a:uFillTx/>
                <a:latin typeface="Calibri"/>
              </a:rPr>
              <a:t>Właściciel </a:t>
            </a:r>
            <a:r>
              <a:rPr lang="pl-PL" sz="1200" b="0" u="none" strike="noStrike" dirty="0" err="1" smtClean="0">
                <a:solidFill>
                  <a:srgbClr val="FFFFFF"/>
                </a:solidFill>
                <a:effectLst/>
                <a:uFillTx/>
                <a:latin typeface="Calibri"/>
              </a:rPr>
              <a:t>backlogu</a:t>
            </a:r>
            <a:r>
              <a:rPr lang="pl-PL" sz="1200" b="0" u="none" strike="noStrike" dirty="0" smtClean="0">
                <a:solidFill>
                  <a:srgbClr val="FFFFFF"/>
                </a:solidFill>
                <a:effectLst/>
                <a:uFillTx/>
                <a:latin typeface="Calibri"/>
              </a:rPr>
              <a:t>. Priorytety </a:t>
            </a:r>
            <a:r>
              <a:rPr lang="pl-PL" sz="1200" b="0" u="none" strike="noStrike" dirty="0" err="1" smtClean="0">
                <a:solidFill>
                  <a:srgbClr val="FFFFFF"/>
                </a:solidFill>
                <a:effectLst/>
                <a:uFillTx/>
                <a:latin typeface="Calibri"/>
              </a:rPr>
              <a:t>feature'ów</a:t>
            </a:r>
            <a:r>
              <a:rPr lang="pl-PL" sz="1200" b="0" u="none" strike="noStrike" dirty="0" smtClean="0">
                <a:solidFill>
                  <a:srgbClr val="FFFFFF"/>
                </a:solidFill>
                <a:effectLst/>
                <a:uFillTx/>
                <a:latin typeface="Calibri"/>
              </a:rPr>
              <a:t>. Jedyna osoba która może powiedzieć NIE. Odpowiada za ROI produktu. Czas: 100% projektu.</a:t>
            </a:r>
            <a:endParaRPr lang="pl-PL" sz="1200" b="0" u="none" strike="noStrike" dirty="0">
              <a:solidFill>
                <a:srgbClr val="FFFFFF"/>
              </a:solidFill>
              <a:effectLst/>
              <a:uFillTx/>
              <a:latin typeface="Arial"/>
            </a:endParaRPr>
          </a:p>
        </p:txBody>
      </p:sp>
      <p:sp>
        <p:nvSpPr>
          <p:cNvPr id="282" name="Shape 8"/>
          <p:cNvSpPr/>
          <p:nvPr/>
        </p:nvSpPr>
        <p:spPr>
          <a:xfrm>
            <a:off x="4677180" y="693360"/>
            <a:ext cx="3795120" cy="90936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83" name="Shape 9"/>
          <p:cNvSpPr/>
          <p:nvPr/>
        </p:nvSpPr>
        <p:spPr>
          <a:xfrm>
            <a:off x="4677180" y="693360"/>
            <a:ext cx="63000" cy="90936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84" name="Text 10"/>
          <p:cNvSpPr/>
          <p:nvPr/>
        </p:nvSpPr>
        <p:spPr>
          <a:xfrm>
            <a:off x="4832700" y="782640"/>
            <a:ext cx="2801520" cy="22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a:solidFill>
                  <a:srgbClr val="FF7043"/>
                </a:solidFill>
                <a:effectLst/>
                <a:uFillTx/>
                <a:latin typeface="Calibri"/>
              </a:rPr>
              <a:t>Scrum Master / Agile Coach</a:t>
            </a:r>
            <a:endParaRPr lang="pl-PL" b="0" u="none" strike="noStrike">
              <a:solidFill>
                <a:srgbClr val="FFFFFF"/>
              </a:solidFill>
              <a:effectLst/>
              <a:uFillTx/>
              <a:latin typeface="Arial"/>
            </a:endParaRPr>
          </a:p>
        </p:txBody>
      </p:sp>
      <p:sp>
        <p:nvSpPr>
          <p:cNvPr id="285" name="Text 11"/>
          <p:cNvSpPr/>
          <p:nvPr/>
        </p:nvSpPr>
        <p:spPr>
          <a:xfrm>
            <a:off x="4832700" y="1042005"/>
            <a:ext cx="3586320" cy="51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dirty="0" err="1" smtClean="0">
                <a:solidFill>
                  <a:srgbClr val="FFFFFF"/>
                </a:solidFill>
                <a:effectLst/>
                <a:uFillTx/>
                <a:latin typeface="Calibri"/>
              </a:rPr>
              <a:t>Facylituje</a:t>
            </a:r>
            <a:r>
              <a:rPr lang="pl-PL" sz="1200" b="0" u="none" strike="noStrike" dirty="0" smtClean="0">
                <a:solidFill>
                  <a:srgbClr val="FFFFFF"/>
                </a:solidFill>
                <a:effectLst/>
                <a:uFillTx/>
                <a:latin typeface="Calibri"/>
              </a:rPr>
              <a:t> ceremonie. Usuwa przeszkody </a:t>
            </a:r>
            <a:r>
              <a:rPr lang="en-US" sz="1200" b="0" u="none" strike="noStrike" dirty="0" smtClean="0">
                <a:solidFill>
                  <a:srgbClr val="FFFFFF"/>
                </a:solidFill>
                <a:effectLst/>
                <a:uFillTx/>
                <a:latin typeface="Calibri"/>
              </a:rPr>
              <a:t>(</a:t>
            </a:r>
            <a:r>
              <a:rPr lang="en-US" sz="1200" b="0" u="none" strike="noStrike" dirty="0">
                <a:solidFill>
                  <a:srgbClr val="FFFFFF"/>
                </a:solidFill>
                <a:effectLst/>
                <a:uFillTx/>
                <a:latin typeface="Calibri"/>
              </a:rPr>
              <a:t>impediments). NIE </a:t>
            </a:r>
            <a:r>
              <a:rPr lang="en-US" sz="1200" b="0" u="none" strike="noStrike" dirty="0" err="1">
                <a:solidFill>
                  <a:srgbClr val="FFFFFF"/>
                </a:solidFill>
                <a:effectLst/>
                <a:uFillTx/>
                <a:latin typeface="Calibri"/>
              </a:rPr>
              <a:t>zarządza</a:t>
            </a:r>
            <a:r>
              <a:rPr lang="en-US" sz="1200" b="0" u="none" strike="noStrike" dirty="0">
                <a:solidFill>
                  <a:srgbClr val="FFFFFF"/>
                </a:solidFill>
                <a:effectLst/>
                <a:uFillTx/>
                <a:latin typeface="Calibri"/>
              </a:rPr>
              <a:t> </a:t>
            </a:r>
            <a:r>
              <a:rPr lang="en-US" sz="1200" b="0" u="none" strike="noStrike" dirty="0" err="1">
                <a:solidFill>
                  <a:srgbClr val="FFFFFF"/>
                </a:solidFill>
                <a:effectLst/>
                <a:uFillTx/>
                <a:latin typeface="Calibri"/>
              </a:rPr>
              <a:t>zespołem</a:t>
            </a:r>
            <a:r>
              <a:rPr lang="en-US" sz="1200" b="0" u="none" strike="noStrike" dirty="0">
                <a:solidFill>
                  <a:srgbClr val="FFFFFF"/>
                </a:solidFill>
                <a:effectLst/>
                <a:uFillTx/>
                <a:latin typeface="Calibri"/>
              </a:rPr>
              <a:t> </a:t>
            </a:r>
            <a:r>
              <a:rPr lang="pl-PL" sz="1200" b="0" u="none" strike="noStrike" dirty="0" smtClean="0">
                <a:solidFill>
                  <a:srgbClr val="FFFFFF"/>
                </a:solidFill>
                <a:effectLst/>
                <a:uFillTx/>
                <a:latin typeface="Calibri"/>
              </a:rPr>
              <a:t>(„</a:t>
            </a:r>
            <a:r>
              <a:rPr lang="en-US" sz="1200" b="0" u="none" strike="noStrike" dirty="0" smtClean="0">
                <a:solidFill>
                  <a:srgbClr val="FFFFFF"/>
                </a:solidFill>
                <a:effectLst/>
                <a:uFillTx/>
                <a:latin typeface="Calibri"/>
              </a:rPr>
              <a:t>servant leader</a:t>
            </a:r>
            <a:r>
              <a:rPr lang="pl-PL" sz="1200" b="0" u="none" strike="noStrike" dirty="0" smtClean="0">
                <a:solidFill>
                  <a:srgbClr val="FFFFFF"/>
                </a:solidFill>
                <a:effectLst/>
                <a:uFillTx/>
                <a:latin typeface="Calibri"/>
              </a:rPr>
              <a:t>”)</a:t>
            </a:r>
            <a:r>
              <a:rPr lang="en-US" sz="1200" b="0" u="none" strike="noStrike" dirty="0" smtClean="0">
                <a:solidFill>
                  <a:srgbClr val="FFFFFF"/>
                </a:solidFill>
                <a:effectLst/>
                <a:uFillTx/>
                <a:latin typeface="Calibri"/>
              </a:rPr>
              <a:t>.</a:t>
            </a:r>
            <a:endParaRPr lang="pl-PL" sz="1200" b="0" u="none" strike="noStrike" dirty="0">
              <a:solidFill>
                <a:srgbClr val="FFFFFF"/>
              </a:solidFill>
              <a:effectLst/>
              <a:uFillTx/>
              <a:latin typeface="Arial"/>
            </a:endParaRPr>
          </a:p>
        </p:txBody>
      </p:sp>
      <p:sp>
        <p:nvSpPr>
          <p:cNvPr id="286" name="Shape 12"/>
          <p:cNvSpPr/>
          <p:nvPr/>
        </p:nvSpPr>
        <p:spPr>
          <a:xfrm>
            <a:off x="642960" y="1769280"/>
            <a:ext cx="3653640" cy="909360"/>
          </a:xfrm>
          <a:prstGeom prst="rect">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87" name="Shape 13"/>
          <p:cNvSpPr/>
          <p:nvPr/>
        </p:nvSpPr>
        <p:spPr>
          <a:xfrm>
            <a:off x="642960" y="1769280"/>
            <a:ext cx="67680" cy="90936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88" name="Text 14"/>
          <p:cNvSpPr/>
          <p:nvPr/>
        </p:nvSpPr>
        <p:spPr>
          <a:xfrm>
            <a:off x="798480" y="1858560"/>
            <a:ext cx="3102960" cy="22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dirty="0">
                <a:solidFill>
                  <a:schemeClr val="bg1"/>
                </a:solidFill>
                <a:effectLst/>
                <a:uFillTx/>
                <a:latin typeface="Calibri"/>
              </a:rPr>
              <a:t>Tech Lead / </a:t>
            </a:r>
            <a:r>
              <a:rPr lang="en-US" b="1" u="none" strike="noStrike" dirty="0" err="1">
                <a:solidFill>
                  <a:schemeClr val="bg1"/>
                </a:solidFill>
                <a:effectLst/>
                <a:uFillTx/>
                <a:latin typeface="Calibri"/>
              </a:rPr>
              <a:t>Lider</a:t>
            </a:r>
            <a:r>
              <a:rPr lang="en-US" b="1" u="none" strike="noStrike" dirty="0">
                <a:solidFill>
                  <a:schemeClr val="bg1"/>
                </a:solidFill>
                <a:effectLst/>
                <a:uFillTx/>
                <a:latin typeface="Calibri"/>
              </a:rPr>
              <a:t> </a:t>
            </a:r>
            <a:r>
              <a:rPr lang="en-US" b="1" u="none" strike="noStrike" dirty="0" err="1">
                <a:solidFill>
                  <a:schemeClr val="bg1"/>
                </a:solidFill>
                <a:effectLst/>
                <a:uFillTx/>
                <a:latin typeface="Calibri"/>
              </a:rPr>
              <a:t>Techniczny</a:t>
            </a:r>
            <a:endParaRPr lang="pl-PL" b="0" u="none" strike="noStrike" dirty="0">
              <a:solidFill>
                <a:schemeClr val="bg1"/>
              </a:solidFill>
              <a:effectLst/>
              <a:uFillTx/>
              <a:latin typeface="Arial"/>
            </a:endParaRPr>
          </a:p>
        </p:txBody>
      </p:sp>
      <p:sp>
        <p:nvSpPr>
          <p:cNvPr id="289" name="Text 15"/>
          <p:cNvSpPr/>
          <p:nvPr/>
        </p:nvSpPr>
        <p:spPr>
          <a:xfrm>
            <a:off x="798480" y="2108400"/>
            <a:ext cx="3396600" cy="51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dirty="0" smtClean="0">
                <a:solidFill>
                  <a:srgbClr val="FFFFFF"/>
                </a:solidFill>
                <a:effectLst/>
                <a:uFillTx/>
                <a:latin typeface="Calibri"/>
              </a:rPr>
              <a:t>Decyzje architektoniczne. </a:t>
            </a:r>
            <a:r>
              <a:rPr lang="pl-PL" sz="1200" b="0" u="none" strike="noStrike" dirty="0" err="1" smtClean="0">
                <a:solidFill>
                  <a:srgbClr val="FFFFFF"/>
                </a:solidFill>
                <a:effectLst/>
                <a:uFillTx/>
                <a:latin typeface="Calibri"/>
              </a:rPr>
              <a:t>Code</a:t>
            </a:r>
            <a:r>
              <a:rPr lang="pl-PL" sz="1200" b="0" u="none" strike="noStrike" dirty="0" smtClean="0">
                <a:solidFill>
                  <a:srgbClr val="FFFFFF"/>
                </a:solidFill>
                <a:effectLst/>
                <a:uFillTx/>
                <a:latin typeface="Calibri"/>
              </a:rPr>
              <a:t> </a:t>
            </a:r>
            <a:r>
              <a:rPr lang="pl-PL" sz="1200" b="0" u="none" strike="noStrike" dirty="0" err="1" smtClean="0">
                <a:solidFill>
                  <a:srgbClr val="FFFFFF"/>
                </a:solidFill>
                <a:effectLst/>
                <a:uFillTx/>
                <a:latin typeface="Calibri"/>
              </a:rPr>
              <a:t>review</a:t>
            </a:r>
            <a:r>
              <a:rPr lang="pl-PL" sz="1200" b="0" u="none" strike="noStrike" dirty="0" smtClean="0">
                <a:solidFill>
                  <a:srgbClr val="FFFFFF"/>
                </a:solidFill>
                <a:effectLst/>
                <a:uFillTx/>
                <a:latin typeface="Calibri"/>
              </a:rPr>
              <a:t>. Mentoring juniora. 30% zarządzania, 70% kodowania.</a:t>
            </a:r>
            <a:endParaRPr lang="pl-PL" sz="1200" b="0" u="none" strike="noStrike" dirty="0">
              <a:solidFill>
                <a:srgbClr val="FFFFFF"/>
              </a:solidFill>
              <a:effectLst/>
              <a:uFillTx/>
              <a:latin typeface="Arial"/>
            </a:endParaRPr>
          </a:p>
        </p:txBody>
      </p:sp>
      <p:sp>
        <p:nvSpPr>
          <p:cNvPr id="290" name="Shape 16"/>
          <p:cNvSpPr/>
          <p:nvPr/>
        </p:nvSpPr>
        <p:spPr>
          <a:xfrm>
            <a:off x="4677180" y="1769280"/>
            <a:ext cx="3795120" cy="90936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91" name="Shape 17"/>
          <p:cNvSpPr/>
          <p:nvPr/>
        </p:nvSpPr>
        <p:spPr>
          <a:xfrm>
            <a:off x="4677180" y="1769280"/>
            <a:ext cx="63000" cy="90936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92" name="Text 18"/>
          <p:cNvSpPr/>
          <p:nvPr/>
        </p:nvSpPr>
        <p:spPr>
          <a:xfrm>
            <a:off x="4832700" y="1858560"/>
            <a:ext cx="2801520" cy="22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a:solidFill>
                  <a:srgbClr val="00BCD4"/>
                </a:solidFill>
                <a:effectLst/>
                <a:uFillTx/>
                <a:latin typeface="Calibri"/>
              </a:rPr>
              <a:t>iOS / Android Developer</a:t>
            </a:r>
            <a:endParaRPr lang="pl-PL" b="0" u="none" strike="noStrike">
              <a:solidFill>
                <a:srgbClr val="FFFFFF"/>
              </a:solidFill>
              <a:effectLst/>
              <a:uFillTx/>
              <a:latin typeface="Arial"/>
            </a:endParaRPr>
          </a:p>
        </p:txBody>
      </p:sp>
      <p:sp>
        <p:nvSpPr>
          <p:cNvPr id="293" name="Text 19"/>
          <p:cNvSpPr/>
          <p:nvPr/>
        </p:nvSpPr>
        <p:spPr>
          <a:xfrm>
            <a:off x="4832700" y="2108400"/>
            <a:ext cx="3586320" cy="51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dirty="0" err="1">
                <a:solidFill>
                  <a:srgbClr val="FFFFFF"/>
                </a:solidFill>
                <a:effectLst/>
                <a:uFillTx/>
                <a:latin typeface="Calibri"/>
              </a:rPr>
              <a:t>Implementacja</a:t>
            </a:r>
            <a:r>
              <a:rPr lang="en-US" sz="1200" b="0" u="none" strike="noStrike" dirty="0">
                <a:solidFill>
                  <a:srgbClr val="FFFFFF"/>
                </a:solidFill>
                <a:effectLst/>
                <a:uFillTx/>
                <a:latin typeface="Calibri"/>
              </a:rPr>
              <a:t> </a:t>
            </a:r>
            <a:r>
              <a:rPr lang="en-US" sz="1200" b="0" u="none" strike="noStrike" dirty="0" err="1">
                <a:solidFill>
                  <a:srgbClr val="FFFFFF"/>
                </a:solidFill>
                <a:effectLst/>
                <a:uFillTx/>
                <a:latin typeface="Calibri"/>
              </a:rPr>
              <a:t>feature'ów</a:t>
            </a:r>
            <a:r>
              <a:rPr lang="en-US" sz="1200" b="0" u="none" strike="noStrike" dirty="0">
                <a:solidFill>
                  <a:srgbClr val="FFFFFF"/>
                </a:solidFill>
                <a:effectLst/>
                <a:uFillTx/>
                <a:latin typeface="Calibri"/>
              </a:rPr>
              <a:t>. Unit testy. </a:t>
            </a:r>
            <a:r>
              <a:rPr lang="en-US" sz="1200" b="0" u="none" strike="noStrike" dirty="0" err="1">
                <a:solidFill>
                  <a:srgbClr val="FFFFFF"/>
                </a:solidFill>
                <a:effectLst/>
                <a:uFillTx/>
                <a:latin typeface="Calibri"/>
              </a:rPr>
              <a:t>Uczestnictwo</a:t>
            </a:r>
            <a:r>
              <a:rPr lang="en-US" sz="1200" b="0" u="none" strike="noStrike" dirty="0">
                <a:solidFill>
                  <a:srgbClr val="FFFFFF"/>
                </a:solidFill>
                <a:effectLst/>
                <a:uFillTx/>
                <a:latin typeface="Calibri"/>
              </a:rPr>
              <a:t> </a:t>
            </a:r>
            <a:r>
              <a:rPr lang="en-US" sz="1200" b="0" u="none" strike="noStrike" dirty="0" smtClean="0">
                <a:solidFill>
                  <a:srgbClr val="FFFFFF"/>
                </a:solidFill>
                <a:effectLst/>
                <a:uFillTx/>
                <a:latin typeface="Calibri"/>
              </a:rPr>
              <a:t>w </a:t>
            </a:r>
            <a:r>
              <a:rPr lang="en-US" sz="1200" b="0" u="none" strike="noStrike" dirty="0">
                <a:solidFill>
                  <a:srgbClr val="FFFFFF"/>
                </a:solidFill>
                <a:effectLst/>
                <a:uFillTx/>
                <a:latin typeface="Calibri"/>
              </a:rPr>
              <a:t>code review. Senior: 5+ lat. Mid: 2-5 lat. Junior: 0-2 </a:t>
            </a:r>
            <a:r>
              <a:rPr lang="en-US" sz="1200" b="0" u="none" strike="noStrike" dirty="0" err="1">
                <a:solidFill>
                  <a:srgbClr val="FFFFFF"/>
                </a:solidFill>
                <a:effectLst/>
                <a:uFillTx/>
                <a:latin typeface="Calibri"/>
              </a:rPr>
              <a:t>lata</a:t>
            </a:r>
            <a:r>
              <a:rPr lang="en-US" sz="1200" b="0" u="none" strike="noStrike" dirty="0">
                <a:solidFill>
                  <a:srgbClr val="FFFFFF"/>
                </a:solidFill>
                <a:effectLst/>
                <a:uFillTx/>
                <a:latin typeface="Calibri"/>
              </a:rPr>
              <a:t>.</a:t>
            </a:r>
            <a:endParaRPr lang="pl-PL" sz="1200" b="0" u="none" strike="noStrike" dirty="0">
              <a:solidFill>
                <a:srgbClr val="FFFFFF"/>
              </a:solidFill>
              <a:effectLst/>
              <a:uFillTx/>
              <a:latin typeface="Arial"/>
            </a:endParaRPr>
          </a:p>
        </p:txBody>
      </p:sp>
      <p:sp>
        <p:nvSpPr>
          <p:cNvPr id="294" name="Shape 20"/>
          <p:cNvSpPr/>
          <p:nvPr/>
        </p:nvSpPr>
        <p:spPr>
          <a:xfrm>
            <a:off x="642960" y="2844840"/>
            <a:ext cx="3653640" cy="909360"/>
          </a:xfrm>
          <a:prstGeom prst="rect">
            <a:avLst/>
          </a:prstGeom>
          <a:solidFill>
            <a:srgbClr val="0A2540"/>
          </a:solidFill>
          <a:ln w="889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95" name="Shape 21"/>
          <p:cNvSpPr/>
          <p:nvPr/>
        </p:nvSpPr>
        <p:spPr>
          <a:xfrm>
            <a:off x="642960" y="2844840"/>
            <a:ext cx="67680" cy="90936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296" name="Text 22"/>
          <p:cNvSpPr/>
          <p:nvPr/>
        </p:nvSpPr>
        <p:spPr>
          <a:xfrm>
            <a:off x="798480" y="2934120"/>
            <a:ext cx="2169000" cy="22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dirty="0">
                <a:solidFill>
                  <a:srgbClr val="FFB300"/>
                </a:solidFill>
                <a:effectLst/>
                <a:uFillTx/>
                <a:latin typeface="Calibri"/>
              </a:rPr>
              <a:t>UX/UI Designer</a:t>
            </a:r>
            <a:endParaRPr lang="pl-PL" b="0" u="none" strike="noStrike" dirty="0">
              <a:solidFill>
                <a:srgbClr val="FFFFFF"/>
              </a:solidFill>
              <a:effectLst/>
              <a:uFillTx/>
              <a:latin typeface="Arial"/>
            </a:endParaRPr>
          </a:p>
        </p:txBody>
      </p:sp>
      <p:sp>
        <p:nvSpPr>
          <p:cNvPr id="297" name="Text 23"/>
          <p:cNvSpPr/>
          <p:nvPr/>
        </p:nvSpPr>
        <p:spPr>
          <a:xfrm>
            <a:off x="798480" y="3183960"/>
            <a:ext cx="3396600" cy="51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FFFFFF"/>
                </a:solidFill>
                <a:effectLst/>
                <a:uFillTx/>
                <a:latin typeface="Calibri"/>
              </a:rPr>
              <a:t>Research, wireframes, prototypy w Figma. Design system. Pracuje sprint do przodu. Niezbędny od dnia 1.</a:t>
            </a:r>
            <a:endParaRPr lang="pl-PL" sz="1200" b="0" u="none" strike="noStrike">
              <a:solidFill>
                <a:srgbClr val="FFFFFF"/>
              </a:solidFill>
              <a:effectLst/>
              <a:uFillTx/>
              <a:latin typeface="Arial"/>
            </a:endParaRPr>
          </a:p>
        </p:txBody>
      </p:sp>
      <p:sp>
        <p:nvSpPr>
          <p:cNvPr id="298" name="Shape 24"/>
          <p:cNvSpPr/>
          <p:nvPr/>
        </p:nvSpPr>
        <p:spPr>
          <a:xfrm>
            <a:off x="4677180" y="2844840"/>
            <a:ext cx="3795120" cy="909360"/>
          </a:xfrm>
          <a:prstGeom prst="rect">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299" name="Shape 25"/>
          <p:cNvSpPr/>
          <p:nvPr/>
        </p:nvSpPr>
        <p:spPr>
          <a:xfrm>
            <a:off x="4677180" y="2844840"/>
            <a:ext cx="63000" cy="90936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0" name="Text 26"/>
          <p:cNvSpPr/>
          <p:nvPr/>
        </p:nvSpPr>
        <p:spPr>
          <a:xfrm>
            <a:off x="4832700" y="2934120"/>
            <a:ext cx="2019600" cy="22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a:solidFill>
                  <a:srgbClr val="4CAF50"/>
                </a:solidFill>
                <a:effectLst/>
                <a:uFillTx/>
                <a:latin typeface="Calibri"/>
              </a:rPr>
              <a:t>QA Engineer</a:t>
            </a:r>
            <a:endParaRPr lang="pl-PL" b="0" u="none" strike="noStrike">
              <a:solidFill>
                <a:srgbClr val="FFFFFF"/>
              </a:solidFill>
              <a:effectLst/>
              <a:uFillTx/>
              <a:latin typeface="Arial"/>
            </a:endParaRPr>
          </a:p>
        </p:txBody>
      </p:sp>
      <p:sp>
        <p:nvSpPr>
          <p:cNvPr id="301" name="Text 27"/>
          <p:cNvSpPr/>
          <p:nvPr/>
        </p:nvSpPr>
        <p:spPr>
          <a:xfrm>
            <a:off x="4832700" y="3183960"/>
            <a:ext cx="3586320" cy="51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FFFFFF"/>
                </a:solidFill>
                <a:effectLst/>
                <a:uFillTx/>
                <a:latin typeface="Calibri"/>
              </a:rPr>
              <a:t>Plan testów, przypadki testowe, automatyzacja (Appium, Detox). Definicja Done. Bug triage.</a:t>
            </a:r>
            <a:endParaRPr lang="pl-PL" sz="1200" b="0" u="none" strike="noStrike">
              <a:solidFill>
                <a:srgbClr val="FFFFFF"/>
              </a:solidFill>
              <a:effectLst/>
              <a:uFillTx/>
              <a:latin typeface="Arial"/>
            </a:endParaRPr>
          </a:p>
        </p:txBody>
      </p:sp>
      <p:sp>
        <p:nvSpPr>
          <p:cNvPr id="302" name="Shape 28"/>
          <p:cNvSpPr/>
          <p:nvPr/>
        </p:nvSpPr>
        <p:spPr>
          <a:xfrm>
            <a:off x="642960" y="3920760"/>
            <a:ext cx="3653640" cy="90936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3" name="Shape 29"/>
          <p:cNvSpPr/>
          <p:nvPr/>
        </p:nvSpPr>
        <p:spPr>
          <a:xfrm>
            <a:off x="642960" y="3920760"/>
            <a:ext cx="67680" cy="90936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4" name="Text 30"/>
          <p:cNvSpPr/>
          <p:nvPr/>
        </p:nvSpPr>
        <p:spPr>
          <a:xfrm>
            <a:off x="798480" y="4010040"/>
            <a:ext cx="2169000" cy="22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a:solidFill>
                  <a:srgbClr val="FF7043"/>
                </a:solidFill>
                <a:effectLst/>
                <a:uFillTx/>
                <a:latin typeface="Calibri"/>
              </a:rPr>
              <a:t>Backend Developer</a:t>
            </a:r>
            <a:endParaRPr lang="pl-PL" b="0" u="none" strike="noStrike">
              <a:solidFill>
                <a:srgbClr val="FFFFFF"/>
              </a:solidFill>
              <a:effectLst/>
              <a:uFillTx/>
              <a:latin typeface="Arial"/>
            </a:endParaRPr>
          </a:p>
        </p:txBody>
      </p:sp>
      <p:sp>
        <p:nvSpPr>
          <p:cNvPr id="305" name="Text 31"/>
          <p:cNvSpPr/>
          <p:nvPr/>
        </p:nvSpPr>
        <p:spPr>
          <a:xfrm>
            <a:off x="798480" y="4259880"/>
            <a:ext cx="3396600" cy="51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dirty="0">
                <a:solidFill>
                  <a:srgbClr val="FFFFFF"/>
                </a:solidFill>
                <a:effectLst/>
                <a:uFillTx/>
                <a:latin typeface="Calibri"/>
              </a:rPr>
              <a:t>API REST/</a:t>
            </a:r>
            <a:r>
              <a:rPr lang="en-US" sz="1200" b="0" u="none" strike="noStrike" dirty="0" err="1">
                <a:solidFill>
                  <a:srgbClr val="FFFFFF"/>
                </a:solidFill>
                <a:effectLst/>
                <a:uFillTx/>
                <a:latin typeface="Calibri"/>
              </a:rPr>
              <a:t>GraphQL</a:t>
            </a:r>
            <a:r>
              <a:rPr lang="en-US" sz="1200" b="0" u="none" strike="noStrike" dirty="0">
                <a:solidFill>
                  <a:srgbClr val="FFFFFF"/>
                </a:solidFill>
                <a:effectLst/>
                <a:uFillTx/>
                <a:latin typeface="Calibri"/>
              </a:rPr>
              <a:t>, </a:t>
            </a:r>
            <a:r>
              <a:rPr lang="en-US" sz="1200" b="0" u="none" strike="noStrike" dirty="0" err="1">
                <a:solidFill>
                  <a:srgbClr val="FFFFFF"/>
                </a:solidFill>
                <a:effectLst/>
                <a:uFillTx/>
                <a:latin typeface="Calibri"/>
              </a:rPr>
              <a:t>baza</a:t>
            </a:r>
            <a:r>
              <a:rPr lang="en-US" sz="1200" b="0" u="none" strike="noStrike" dirty="0">
                <a:solidFill>
                  <a:srgbClr val="FFFFFF"/>
                </a:solidFill>
                <a:effectLst/>
                <a:uFillTx/>
                <a:latin typeface="Calibri"/>
              </a:rPr>
              <a:t> </a:t>
            </a:r>
            <a:r>
              <a:rPr lang="en-US" sz="1200" b="0" u="none" strike="noStrike" dirty="0" err="1">
                <a:solidFill>
                  <a:srgbClr val="FFFFFF"/>
                </a:solidFill>
                <a:effectLst/>
                <a:uFillTx/>
                <a:latin typeface="Calibri"/>
              </a:rPr>
              <a:t>danych</a:t>
            </a:r>
            <a:r>
              <a:rPr lang="en-US" sz="1200" b="0" u="none" strike="noStrike" dirty="0">
                <a:solidFill>
                  <a:srgbClr val="FFFFFF"/>
                </a:solidFill>
                <a:effectLst/>
                <a:uFillTx/>
                <a:latin typeface="Calibri"/>
              </a:rPr>
              <a:t>, </a:t>
            </a:r>
            <a:r>
              <a:rPr lang="en-US" sz="1200" b="0" u="none" strike="noStrike" dirty="0" err="1">
                <a:solidFill>
                  <a:srgbClr val="FFFFFF"/>
                </a:solidFill>
                <a:effectLst/>
                <a:uFillTx/>
                <a:latin typeface="Calibri"/>
              </a:rPr>
              <a:t>integracje</a:t>
            </a:r>
            <a:r>
              <a:rPr lang="en-US" sz="1200" b="0" u="none" strike="noStrike" dirty="0">
                <a:solidFill>
                  <a:srgbClr val="FFFFFF"/>
                </a:solidFill>
                <a:effectLst/>
                <a:uFillTx/>
                <a:latin typeface="Calibri"/>
              </a:rPr>
              <a:t>. </a:t>
            </a:r>
            <a:r>
              <a:rPr lang="en-US" sz="1200" b="0" u="none" strike="noStrike" dirty="0" smtClean="0">
                <a:solidFill>
                  <a:srgbClr val="FFFFFF"/>
                </a:solidFill>
                <a:effectLst/>
                <a:uFillTx/>
                <a:latin typeface="Calibri"/>
              </a:rPr>
              <a:t>Mobile-first </a:t>
            </a:r>
            <a:r>
              <a:rPr lang="en-US" sz="1200" b="0" u="none" strike="noStrike" dirty="0">
                <a:solidFill>
                  <a:srgbClr val="FFFFFF"/>
                </a:solidFill>
                <a:effectLst/>
                <a:uFillTx/>
                <a:latin typeface="Calibri"/>
              </a:rPr>
              <a:t>API design. Na </a:t>
            </a:r>
            <a:r>
              <a:rPr lang="en-US" sz="1200" b="0" u="none" strike="noStrike" dirty="0" err="1">
                <a:solidFill>
                  <a:srgbClr val="FFFFFF"/>
                </a:solidFill>
                <a:effectLst/>
                <a:uFillTx/>
                <a:latin typeface="Calibri"/>
              </a:rPr>
              <a:t>wczesnym</a:t>
            </a:r>
            <a:r>
              <a:rPr lang="en-US" sz="1200" b="0" u="none" strike="noStrike" dirty="0">
                <a:solidFill>
                  <a:srgbClr val="FFFFFF"/>
                </a:solidFill>
                <a:effectLst/>
                <a:uFillTx/>
                <a:latin typeface="Calibri"/>
              </a:rPr>
              <a:t> </a:t>
            </a:r>
            <a:r>
              <a:rPr lang="en-US" sz="1200" b="0" u="none" strike="noStrike" dirty="0" err="1">
                <a:solidFill>
                  <a:srgbClr val="FFFFFF"/>
                </a:solidFill>
                <a:effectLst/>
                <a:uFillTx/>
                <a:latin typeface="Calibri"/>
              </a:rPr>
              <a:t>etapie</a:t>
            </a:r>
            <a:r>
              <a:rPr lang="en-US" sz="1200" b="0" u="none" strike="noStrike" dirty="0">
                <a:solidFill>
                  <a:srgbClr val="FFFFFF"/>
                </a:solidFill>
                <a:effectLst/>
                <a:uFillTx/>
                <a:latin typeface="Calibri"/>
              </a:rPr>
              <a:t> = </a:t>
            </a:r>
            <a:r>
              <a:rPr lang="en-US" sz="1200" b="0" u="none" strike="noStrike" dirty="0" err="1">
                <a:solidFill>
                  <a:srgbClr val="FFFFFF"/>
                </a:solidFill>
                <a:effectLst/>
                <a:uFillTx/>
                <a:latin typeface="Calibri"/>
              </a:rPr>
              <a:t>fullstack</a:t>
            </a:r>
            <a:r>
              <a:rPr lang="en-US" sz="1200" b="0" u="none" strike="noStrike" dirty="0">
                <a:solidFill>
                  <a:srgbClr val="FFFFFF"/>
                </a:solidFill>
                <a:effectLst/>
                <a:uFillTx/>
                <a:latin typeface="Calibri"/>
              </a:rPr>
              <a:t>.</a:t>
            </a:r>
            <a:endParaRPr lang="pl-PL" sz="1200" b="0" u="none" strike="noStrike" dirty="0">
              <a:solidFill>
                <a:srgbClr val="FFFFFF"/>
              </a:solidFill>
              <a:effectLst/>
              <a:uFillTx/>
              <a:latin typeface="Arial"/>
            </a:endParaRPr>
          </a:p>
        </p:txBody>
      </p:sp>
      <p:sp>
        <p:nvSpPr>
          <p:cNvPr id="306" name="Shape 32"/>
          <p:cNvSpPr/>
          <p:nvPr/>
        </p:nvSpPr>
        <p:spPr>
          <a:xfrm>
            <a:off x="4677180" y="3920760"/>
            <a:ext cx="3795120" cy="909360"/>
          </a:xfrm>
          <a:prstGeom prst="rect">
            <a:avLst/>
          </a:prstGeom>
          <a:solidFill>
            <a:srgbClr val="0A2540"/>
          </a:solidFill>
          <a:ln w="889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7" name="Shape 33"/>
          <p:cNvSpPr/>
          <p:nvPr/>
        </p:nvSpPr>
        <p:spPr>
          <a:xfrm>
            <a:off x="4677180" y="3920760"/>
            <a:ext cx="63000" cy="90936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08" name="Text 34"/>
          <p:cNvSpPr/>
          <p:nvPr/>
        </p:nvSpPr>
        <p:spPr>
          <a:xfrm>
            <a:off x="4832700" y="4010040"/>
            <a:ext cx="3250850" cy="222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dirty="0">
                <a:solidFill>
                  <a:srgbClr val="EF5350"/>
                </a:solidFill>
                <a:effectLst/>
                <a:uFillTx/>
                <a:latin typeface="Calibri"/>
              </a:rPr>
              <a:t>DevOps / Platform Eng.</a:t>
            </a:r>
            <a:endParaRPr lang="pl-PL" b="0" u="none" strike="noStrike" dirty="0">
              <a:solidFill>
                <a:srgbClr val="FFFFFF"/>
              </a:solidFill>
              <a:effectLst/>
              <a:uFillTx/>
              <a:latin typeface="Arial"/>
            </a:endParaRPr>
          </a:p>
        </p:txBody>
      </p:sp>
      <p:sp>
        <p:nvSpPr>
          <p:cNvPr id="309" name="Text 35"/>
          <p:cNvSpPr/>
          <p:nvPr/>
        </p:nvSpPr>
        <p:spPr>
          <a:xfrm>
            <a:off x="4832700" y="4259880"/>
            <a:ext cx="3586320" cy="51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FFFFFF"/>
                </a:solidFill>
                <a:effectLst/>
                <a:uFillTx/>
                <a:latin typeface="Calibri"/>
              </a:rPr>
              <a:t>CI/CD pipeline (GitHub Actions/Fastlane), EAS Build, monitoring, App Store deployment automation.</a:t>
            </a:r>
            <a:endParaRPr lang="pl-PL" sz="12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314" name="Text 2"/>
          <p:cNvSpPr/>
          <p:nvPr/>
        </p:nvSpPr>
        <p:spPr>
          <a:xfrm>
            <a:off x="1134000" y="73080"/>
            <a:ext cx="7588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Calibri"/>
              </a:rPr>
              <a:t>Modele pracy zespołu</a:t>
            </a:r>
            <a:r>
              <a:rPr lang="pl-PL" sz="2000" b="1" u="none" strike="noStrike">
                <a:solidFill>
                  <a:srgbClr val="FFFFFF"/>
                </a:solidFill>
                <a:effectLst/>
                <a:uFillTx/>
                <a:latin typeface="Calibri"/>
              </a:rPr>
              <a:t>:</a:t>
            </a:r>
            <a:r>
              <a:rPr lang="en-US" sz="2000" b="1" u="none" strike="noStrike">
                <a:solidFill>
                  <a:srgbClr val="FFFFFF"/>
                </a:solidFill>
                <a:effectLst/>
                <a:uFillTx/>
                <a:latin typeface="Calibri"/>
              </a:rPr>
              <a:t> </a:t>
            </a:r>
            <a:r>
              <a:rPr lang="en-US" sz="2000" b="0" u="none" strike="noStrike">
                <a:solidFill>
                  <a:srgbClr val="FFFFFF"/>
                </a:solidFill>
                <a:effectLst/>
                <a:uFillTx/>
                <a:latin typeface="Calibri"/>
              </a:rPr>
              <a:t>insourcing, outsourcing, nearshoring</a:t>
            </a:r>
            <a:endParaRPr lang="pl-PL" sz="2000" b="0" u="none" strike="noStrike">
              <a:solidFill>
                <a:srgbClr val="FFFFFF"/>
              </a:solidFill>
              <a:effectLst/>
              <a:uFillTx/>
              <a:latin typeface="Arial"/>
            </a:endParaRPr>
          </a:p>
        </p:txBody>
      </p:sp>
      <p:sp>
        <p:nvSpPr>
          <p:cNvPr id="315" name="Shape 3"/>
          <p:cNvSpPr/>
          <p:nvPr/>
        </p:nvSpPr>
        <p:spPr>
          <a:xfrm>
            <a:off x="383760" y="4117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316" name="Shape 4"/>
          <p:cNvSpPr/>
          <p:nvPr/>
        </p:nvSpPr>
        <p:spPr>
          <a:xfrm>
            <a:off x="384120" y="567000"/>
            <a:ext cx="2714760" cy="3743640"/>
          </a:xfrm>
          <a:prstGeom prst="rect">
            <a:avLst/>
          </a:prstGeom>
          <a:solidFill>
            <a:srgbClr val="0A2540"/>
          </a:solidFill>
          <a:ln w="1016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17" name="Shape 5"/>
          <p:cNvSpPr/>
          <p:nvPr/>
        </p:nvSpPr>
        <p:spPr>
          <a:xfrm>
            <a:off x="384120" y="567000"/>
            <a:ext cx="2714760" cy="5364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000000"/>
              </a:solidFill>
              <a:effectLst/>
              <a:uFillTx/>
              <a:latin typeface="Arial"/>
            </a:endParaRPr>
          </a:p>
        </p:txBody>
      </p:sp>
      <p:sp>
        <p:nvSpPr>
          <p:cNvPr id="318" name="Text 6"/>
          <p:cNvSpPr/>
          <p:nvPr/>
        </p:nvSpPr>
        <p:spPr>
          <a:xfrm>
            <a:off x="493920" y="658440"/>
            <a:ext cx="248616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b="1" u="sng" strike="noStrike" dirty="0" err="1">
                <a:solidFill>
                  <a:srgbClr val="00BCD4"/>
                </a:solidFill>
                <a:effectLst/>
                <a:uFillTx/>
                <a:latin typeface="Calibri"/>
              </a:rPr>
              <a:t>Inhouse</a:t>
            </a:r>
            <a:r>
              <a:rPr lang="en-US" b="1" u="sng" strike="noStrike" dirty="0">
                <a:solidFill>
                  <a:srgbClr val="00BCD4"/>
                </a:solidFill>
                <a:effectLst/>
                <a:uFillTx/>
                <a:latin typeface="Calibri"/>
              </a:rPr>
              <a:t> </a:t>
            </a:r>
            <a:r>
              <a:rPr lang="en-US" b="0" u="sng" strike="noStrike" dirty="0">
                <a:solidFill>
                  <a:srgbClr val="00BCD4"/>
                </a:solidFill>
                <a:effectLst/>
                <a:uFillTx/>
                <a:latin typeface="Calibri"/>
              </a:rPr>
              <a:t>(</a:t>
            </a:r>
            <a:r>
              <a:rPr lang="en-US" b="0" u="sng" strike="noStrike" dirty="0" err="1">
                <a:solidFill>
                  <a:srgbClr val="00BCD4"/>
                </a:solidFill>
                <a:effectLst/>
                <a:uFillTx/>
                <a:latin typeface="Calibri"/>
              </a:rPr>
              <a:t>własny</a:t>
            </a:r>
            <a:r>
              <a:rPr lang="en-US" b="0" u="sng" strike="noStrike" dirty="0">
                <a:solidFill>
                  <a:srgbClr val="00BCD4"/>
                </a:solidFill>
                <a:effectLst/>
                <a:uFillTx/>
                <a:latin typeface="Calibri"/>
              </a:rPr>
              <a:t> </a:t>
            </a:r>
            <a:r>
              <a:rPr lang="en-US" b="0" u="sng" strike="noStrike" dirty="0" err="1">
                <a:solidFill>
                  <a:srgbClr val="00BCD4"/>
                </a:solidFill>
                <a:effectLst/>
                <a:uFillTx/>
                <a:latin typeface="Calibri"/>
              </a:rPr>
              <a:t>zespół</a:t>
            </a:r>
            <a:r>
              <a:rPr lang="en-US" b="0" u="sng" strike="noStrike" dirty="0">
                <a:solidFill>
                  <a:srgbClr val="00BCD4"/>
                </a:solidFill>
                <a:effectLst/>
                <a:uFillTx/>
                <a:latin typeface="Calibri"/>
              </a:rPr>
              <a:t>)</a:t>
            </a:r>
            <a:endParaRPr lang="pl-PL" b="0" u="none" strike="noStrike" dirty="0">
              <a:solidFill>
                <a:srgbClr val="FFFFFF"/>
              </a:solidFill>
              <a:effectLst/>
              <a:uFillTx/>
              <a:latin typeface="Arial"/>
            </a:endParaRPr>
          </a:p>
        </p:txBody>
      </p:sp>
      <p:sp>
        <p:nvSpPr>
          <p:cNvPr id="319" name="Text 7"/>
          <p:cNvSpPr/>
          <p:nvPr/>
        </p:nvSpPr>
        <p:spPr>
          <a:xfrm>
            <a:off x="493920" y="1051560"/>
            <a:ext cx="24861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4CAF50"/>
                </a:solidFill>
                <a:effectLst/>
                <a:uFillTx/>
                <a:latin typeface="Calibri"/>
              </a:rPr>
              <a:t>Zalety</a:t>
            </a:r>
            <a:endParaRPr lang="pl-PL" sz="1200" b="0" u="none" strike="noStrike">
              <a:solidFill>
                <a:srgbClr val="FFFFFF"/>
              </a:solidFill>
              <a:effectLst/>
              <a:uFillTx/>
              <a:latin typeface="Arial"/>
            </a:endParaRPr>
          </a:p>
        </p:txBody>
      </p:sp>
      <p:sp>
        <p:nvSpPr>
          <p:cNvPr id="320" name="Text 8"/>
          <p:cNvSpPr/>
          <p:nvPr/>
        </p:nvSpPr>
        <p:spPr>
          <a:xfrm>
            <a:off x="575280" y="1261800"/>
            <a:ext cx="2404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dirty="0">
                <a:solidFill>
                  <a:srgbClr val="4CAF50"/>
                </a:solidFill>
                <a:effectLst/>
                <a:uFillTx/>
                <a:latin typeface="Calibri"/>
              </a:rPr>
              <a:t>✓ </a:t>
            </a:r>
            <a:r>
              <a:rPr lang="en-US" sz="1400" b="0" u="none" strike="noStrike" dirty="0" err="1">
                <a:solidFill>
                  <a:srgbClr val="FFFFFF"/>
                </a:solidFill>
                <a:effectLst/>
                <a:uFillTx/>
                <a:latin typeface="Calibri"/>
              </a:rPr>
              <a:t>Pełna</a:t>
            </a:r>
            <a:r>
              <a:rPr lang="en-US" sz="1400" b="0" u="none" strike="noStrike" dirty="0">
                <a:solidFill>
                  <a:srgbClr val="FFFFFF"/>
                </a:solidFill>
                <a:effectLst/>
                <a:uFillTx/>
                <a:latin typeface="Calibri"/>
              </a:rPr>
              <a:t> </a:t>
            </a:r>
            <a:r>
              <a:rPr lang="en-US" sz="1400" b="0" u="none" strike="noStrike" dirty="0" err="1">
                <a:solidFill>
                  <a:srgbClr val="FFFFFF"/>
                </a:solidFill>
                <a:effectLst/>
                <a:uFillTx/>
                <a:latin typeface="Calibri"/>
              </a:rPr>
              <a:t>kontrola</a:t>
            </a:r>
            <a:r>
              <a:rPr lang="en-US" sz="1400" b="0" u="none" strike="noStrike" dirty="0">
                <a:solidFill>
                  <a:srgbClr val="FFFFFF"/>
                </a:solidFill>
                <a:effectLst/>
                <a:uFillTx/>
                <a:latin typeface="Calibri"/>
              </a:rPr>
              <a:t> </a:t>
            </a:r>
            <a:r>
              <a:rPr lang="en-US" sz="1400" b="0" u="none" strike="noStrike" dirty="0" err="1">
                <a:solidFill>
                  <a:srgbClr val="FFFFFF"/>
                </a:solidFill>
                <a:effectLst/>
                <a:uFillTx/>
                <a:latin typeface="Calibri"/>
              </a:rPr>
              <a:t>kultury</a:t>
            </a:r>
            <a:endParaRPr lang="pl-PL" sz="1400" b="0" u="none" strike="noStrike" dirty="0">
              <a:solidFill>
                <a:srgbClr val="FFFFFF"/>
              </a:solidFill>
              <a:effectLst/>
              <a:uFillTx/>
              <a:latin typeface="Arial"/>
            </a:endParaRPr>
          </a:p>
        </p:txBody>
      </p:sp>
      <p:sp>
        <p:nvSpPr>
          <p:cNvPr id="321" name="Text 9"/>
          <p:cNvSpPr/>
          <p:nvPr/>
        </p:nvSpPr>
        <p:spPr>
          <a:xfrm>
            <a:off x="575280" y="1572840"/>
            <a:ext cx="2404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Głęboka znajomość produktu</a:t>
            </a:r>
            <a:endParaRPr lang="pl-PL" sz="1400" b="0" u="none" strike="noStrike">
              <a:solidFill>
                <a:srgbClr val="FFFFFF"/>
              </a:solidFill>
              <a:effectLst/>
              <a:uFillTx/>
              <a:latin typeface="Arial"/>
            </a:endParaRPr>
          </a:p>
        </p:txBody>
      </p:sp>
      <p:sp>
        <p:nvSpPr>
          <p:cNvPr id="322" name="Text 10"/>
          <p:cNvSpPr/>
          <p:nvPr/>
        </p:nvSpPr>
        <p:spPr>
          <a:xfrm>
            <a:off x="575280" y="1883520"/>
            <a:ext cx="2404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Szybka komunikacja</a:t>
            </a:r>
            <a:endParaRPr lang="pl-PL" sz="1400" b="0" u="none" strike="noStrike">
              <a:solidFill>
                <a:srgbClr val="FFFFFF"/>
              </a:solidFill>
              <a:effectLst/>
              <a:uFillTx/>
              <a:latin typeface="Arial"/>
            </a:endParaRPr>
          </a:p>
        </p:txBody>
      </p:sp>
      <p:sp>
        <p:nvSpPr>
          <p:cNvPr id="323" name="Text 11"/>
          <p:cNvSpPr/>
          <p:nvPr/>
        </p:nvSpPr>
        <p:spPr>
          <a:xfrm>
            <a:off x="575280" y="2194560"/>
            <a:ext cx="2404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IP w firmie</a:t>
            </a:r>
            <a:endParaRPr lang="pl-PL" sz="1400" b="0" u="none" strike="noStrike">
              <a:solidFill>
                <a:srgbClr val="FFFFFF"/>
              </a:solidFill>
              <a:effectLst/>
              <a:uFillTx/>
              <a:latin typeface="Arial"/>
            </a:endParaRPr>
          </a:p>
        </p:txBody>
      </p:sp>
      <p:sp>
        <p:nvSpPr>
          <p:cNvPr id="324" name="Text 12"/>
          <p:cNvSpPr/>
          <p:nvPr/>
        </p:nvSpPr>
        <p:spPr>
          <a:xfrm>
            <a:off x="493920" y="2523600"/>
            <a:ext cx="24861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EF5350"/>
                </a:solidFill>
                <a:effectLst/>
                <a:uFillTx/>
                <a:latin typeface="Calibri"/>
              </a:rPr>
              <a:t>Wady</a:t>
            </a:r>
            <a:endParaRPr lang="pl-PL" sz="1200" b="0" u="none" strike="noStrike">
              <a:solidFill>
                <a:srgbClr val="FFFFFF"/>
              </a:solidFill>
              <a:effectLst/>
              <a:uFillTx/>
              <a:latin typeface="Arial"/>
            </a:endParaRPr>
          </a:p>
        </p:txBody>
      </p:sp>
      <p:sp>
        <p:nvSpPr>
          <p:cNvPr id="325" name="Text 13"/>
          <p:cNvSpPr/>
          <p:nvPr/>
        </p:nvSpPr>
        <p:spPr>
          <a:xfrm>
            <a:off x="575280" y="2734200"/>
            <a:ext cx="2404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Wysokie koszty rekrutacji</a:t>
            </a:r>
            <a:endParaRPr lang="pl-PL" sz="1400" b="0" u="none" strike="noStrike">
              <a:solidFill>
                <a:srgbClr val="FFFFFF"/>
              </a:solidFill>
              <a:effectLst/>
              <a:uFillTx/>
              <a:latin typeface="Arial"/>
            </a:endParaRPr>
          </a:p>
        </p:txBody>
      </p:sp>
      <p:sp>
        <p:nvSpPr>
          <p:cNvPr id="326" name="Text 14"/>
          <p:cNvSpPr/>
          <p:nvPr/>
        </p:nvSpPr>
        <p:spPr>
          <a:xfrm>
            <a:off x="575280" y="3044880"/>
            <a:ext cx="2404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Czas onboardingu 2-6 mies.</a:t>
            </a:r>
            <a:endParaRPr lang="pl-PL" sz="1400" b="0" u="none" strike="noStrike">
              <a:solidFill>
                <a:srgbClr val="FFFFFF"/>
              </a:solidFill>
              <a:effectLst/>
              <a:uFillTx/>
              <a:latin typeface="Arial"/>
            </a:endParaRPr>
          </a:p>
        </p:txBody>
      </p:sp>
      <p:sp>
        <p:nvSpPr>
          <p:cNvPr id="327" name="Text 15"/>
          <p:cNvSpPr/>
          <p:nvPr/>
        </p:nvSpPr>
        <p:spPr>
          <a:xfrm>
            <a:off x="575280" y="3355920"/>
            <a:ext cx="2404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Trudno skalować szybko</a:t>
            </a:r>
            <a:endParaRPr lang="pl-PL" sz="1400" b="0" u="none" strike="noStrike">
              <a:solidFill>
                <a:srgbClr val="FFFFFF"/>
              </a:solidFill>
              <a:effectLst/>
              <a:uFillTx/>
              <a:latin typeface="Arial"/>
            </a:endParaRPr>
          </a:p>
        </p:txBody>
      </p:sp>
      <p:sp>
        <p:nvSpPr>
          <p:cNvPr id="328" name="Text 16"/>
          <p:cNvSpPr/>
          <p:nvPr/>
        </p:nvSpPr>
        <p:spPr>
          <a:xfrm>
            <a:off x="575280" y="3666600"/>
            <a:ext cx="2404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Ryzyko rotacji</a:t>
            </a:r>
            <a:endParaRPr lang="pl-PL" sz="1400" b="0" u="none" strike="noStrike">
              <a:solidFill>
                <a:srgbClr val="FFFFFF"/>
              </a:solidFill>
              <a:effectLst/>
              <a:uFillTx/>
              <a:latin typeface="Arial"/>
            </a:endParaRPr>
          </a:p>
        </p:txBody>
      </p:sp>
      <p:sp>
        <p:nvSpPr>
          <p:cNvPr id="329" name="Shape 17"/>
          <p:cNvSpPr/>
          <p:nvPr/>
        </p:nvSpPr>
        <p:spPr>
          <a:xfrm>
            <a:off x="493560" y="3995640"/>
            <a:ext cx="2487240" cy="360"/>
          </a:xfrm>
          <a:prstGeom prst="line">
            <a:avLst/>
          </a:prstGeom>
          <a:ln w="635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330" name="Text 18"/>
          <p:cNvSpPr/>
          <p:nvPr/>
        </p:nvSpPr>
        <p:spPr>
          <a:xfrm>
            <a:off x="493920" y="4041720"/>
            <a:ext cx="2486160" cy="227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spc="-40" dirty="0">
                <a:solidFill>
                  <a:srgbClr val="00BCD4"/>
                </a:solidFill>
                <a:effectLst/>
                <a:uFillTx/>
                <a:latin typeface="Calibri"/>
              </a:rPr>
              <a:t>~$8 000–25 000/</a:t>
            </a:r>
            <a:r>
              <a:rPr lang="en-US" sz="1400" b="0" u="none" strike="noStrike" spc="-40" dirty="0" err="1">
                <a:solidFill>
                  <a:srgbClr val="00BCD4"/>
                </a:solidFill>
                <a:effectLst/>
                <a:uFillTx/>
                <a:latin typeface="Calibri"/>
              </a:rPr>
              <a:t>mies</a:t>
            </a:r>
            <a:r>
              <a:rPr lang="en-US" sz="1400" b="0" u="none" strike="noStrike" spc="-40" dirty="0">
                <a:solidFill>
                  <a:srgbClr val="00BCD4"/>
                </a:solidFill>
                <a:effectLst/>
                <a:uFillTx/>
                <a:latin typeface="Calibri"/>
              </a:rPr>
              <a:t>. per </a:t>
            </a:r>
            <a:r>
              <a:rPr lang="en-US" sz="1400" b="0" u="none" strike="noStrike" spc="-40" dirty="0" smtClean="0">
                <a:solidFill>
                  <a:srgbClr val="00BCD4"/>
                </a:solidFill>
                <a:effectLst/>
                <a:uFillTx/>
                <a:latin typeface="Calibri"/>
              </a:rPr>
              <a:t>dev </a:t>
            </a:r>
            <a:r>
              <a:rPr lang="en-US" sz="1400" b="0" u="none" strike="noStrike" spc="-40" dirty="0">
                <a:solidFill>
                  <a:srgbClr val="00BCD4"/>
                </a:solidFill>
                <a:effectLst/>
                <a:uFillTx/>
                <a:latin typeface="Calibri"/>
              </a:rPr>
              <a:t>(PL)</a:t>
            </a:r>
            <a:endParaRPr lang="pl-PL" sz="1400" b="0" u="none" strike="noStrike" dirty="0">
              <a:solidFill>
                <a:srgbClr val="FFFFFF"/>
              </a:solidFill>
              <a:effectLst/>
              <a:uFillTx/>
              <a:latin typeface="Arial"/>
            </a:endParaRPr>
          </a:p>
        </p:txBody>
      </p:sp>
      <p:sp>
        <p:nvSpPr>
          <p:cNvPr id="331" name="Shape 19"/>
          <p:cNvSpPr/>
          <p:nvPr/>
        </p:nvSpPr>
        <p:spPr>
          <a:xfrm>
            <a:off x="3218760" y="567000"/>
            <a:ext cx="2714760" cy="3743640"/>
          </a:xfrm>
          <a:prstGeom prst="rect">
            <a:avLst/>
          </a:prstGeom>
          <a:solidFill>
            <a:srgbClr val="0A2540"/>
          </a:solidFill>
          <a:ln w="1016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32" name="Shape 20"/>
          <p:cNvSpPr/>
          <p:nvPr/>
        </p:nvSpPr>
        <p:spPr>
          <a:xfrm>
            <a:off x="3218760" y="567000"/>
            <a:ext cx="2714760" cy="5364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FFFFFF"/>
              </a:solidFill>
              <a:effectLst/>
              <a:uFillTx/>
              <a:latin typeface="Arial"/>
            </a:endParaRPr>
          </a:p>
        </p:txBody>
      </p:sp>
      <p:sp>
        <p:nvSpPr>
          <p:cNvPr id="333" name="Text 21"/>
          <p:cNvSpPr/>
          <p:nvPr/>
        </p:nvSpPr>
        <p:spPr>
          <a:xfrm>
            <a:off x="3328560" y="658440"/>
            <a:ext cx="248616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sng" strike="noStrike" spc="-20" dirty="0">
                <a:solidFill>
                  <a:srgbClr val="FF7043"/>
                </a:solidFill>
                <a:effectLst/>
                <a:uFillTx/>
                <a:latin typeface="Calibri"/>
              </a:rPr>
              <a:t>Software House </a:t>
            </a:r>
            <a:r>
              <a:rPr lang="en-US" sz="1600" b="0" u="sng" strike="noStrike" spc="-20" dirty="0">
                <a:solidFill>
                  <a:srgbClr val="FF7043"/>
                </a:solidFill>
                <a:effectLst/>
                <a:uFillTx/>
                <a:latin typeface="Calibri"/>
              </a:rPr>
              <a:t>(outsourcing)</a:t>
            </a:r>
            <a:endParaRPr lang="pl-PL" sz="1600" b="0" u="none" strike="noStrike" dirty="0">
              <a:solidFill>
                <a:srgbClr val="FFFFFF"/>
              </a:solidFill>
              <a:effectLst/>
              <a:uFillTx/>
              <a:latin typeface="Arial"/>
            </a:endParaRPr>
          </a:p>
        </p:txBody>
      </p:sp>
      <p:sp>
        <p:nvSpPr>
          <p:cNvPr id="334" name="Text 22"/>
          <p:cNvSpPr/>
          <p:nvPr/>
        </p:nvSpPr>
        <p:spPr>
          <a:xfrm>
            <a:off x="3328560" y="1051560"/>
            <a:ext cx="24861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4CAF50"/>
                </a:solidFill>
                <a:effectLst/>
                <a:uFillTx/>
                <a:latin typeface="Calibri"/>
              </a:rPr>
              <a:t>Zalety</a:t>
            </a:r>
            <a:endParaRPr lang="pl-PL" sz="1200" b="0" u="none" strike="noStrike">
              <a:solidFill>
                <a:srgbClr val="FFFFFF"/>
              </a:solidFill>
              <a:effectLst/>
              <a:uFillTx/>
              <a:latin typeface="Arial"/>
            </a:endParaRPr>
          </a:p>
        </p:txBody>
      </p:sp>
      <p:sp>
        <p:nvSpPr>
          <p:cNvPr id="335" name="Text 23"/>
          <p:cNvSpPr/>
          <p:nvPr/>
        </p:nvSpPr>
        <p:spPr>
          <a:xfrm>
            <a:off x="3409919" y="1261800"/>
            <a:ext cx="2333655"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dirty="0">
                <a:solidFill>
                  <a:srgbClr val="4CAF50"/>
                </a:solidFill>
                <a:effectLst/>
                <a:uFillTx/>
                <a:latin typeface="Calibri"/>
              </a:rPr>
              <a:t>✓ </a:t>
            </a:r>
            <a:r>
              <a:rPr lang="en-US" sz="1400" b="0" u="none" strike="noStrike" dirty="0" err="1">
                <a:solidFill>
                  <a:srgbClr val="FFFFFF"/>
                </a:solidFill>
                <a:effectLst/>
                <a:uFillTx/>
                <a:latin typeface="Calibri"/>
              </a:rPr>
              <a:t>Szybki</a:t>
            </a:r>
            <a:r>
              <a:rPr lang="en-US" sz="1400" b="0" u="none" strike="noStrike" dirty="0">
                <a:solidFill>
                  <a:srgbClr val="FFFFFF"/>
                </a:solidFill>
                <a:effectLst/>
                <a:uFillTx/>
                <a:latin typeface="Calibri"/>
              </a:rPr>
              <a:t> start (2-4 </a:t>
            </a:r>
            <a:r>
              <a:rPr lang="en-US" sz="1400" b="0" u="none" strike="noStrike" dirty="0" err="1">
                <a:solidFill>
                  <a:srgbClr val="FFFFFF"/>
                </a:solidFill>
                <a:effectLst/>
                <a:uFillTx/>
                <a:latin typeface="Calibri"/>
              </a:rPr>
              <a:t>tyg</a:t>
            </a:r>
            <a:r>
              <a:rPr lang="en-US" sz="1400" b="0" u="none" strike="noStrike" dirty="0">
                <a:solidFill>
                  <a:srgbClr val="FFFFFF"/>
                </a:solidFill>
                <a:effectLst/>
                <a:uFillTx/>
                <a:latin typeface="Calibri"/>
              </a:rPr>
              <a:t>.)</a:t>
            </a:r>
            <a:endParaRPr lang="pl-PL" sz="1400" b="0" u="none" strike="noStrike" dirty="0">
              <a:solidFill>
                <a:srgbClr val="FFFFFF"/>
              </a:solidFill>
              <a:effectLst/>
              <a:uFillTx/>
              <a:latin typeface="Arial"/>
            </a:endParaRPr>
          </a:p>
        </p:txBody>
      </p:sp>
      <p:sp>
        <p:nvSpPr>
          <p:cNvPr id="336" name="Text 24"/>
          <p:cNvSpPr/>
          <p:nvPr/>
        </p:nvSpPr>
        <p:spPr>
          <a:xfrm>
            <a:off x="3409919" y="1572840"/>
            <a:ext cx="2333655"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Kompletny zespół od razu</a:t>
            </a:r>
            <a:endParaRPr lang="pl-PL" sz="1400" b="0" u="none" strike="noStrike">
              <a:solidFill>
                <a:srgbClr val="FFFFFF"/>
              </a:solidFill>
              <a:effectLst/>
              <a:uFillTx/>
              <a:latin typeface="Arial"/>
            </a:endParaRPr>
          </a:p>
        </p:txBody>
      </p:sp>
      <p:sp>
        <p:nvSpPr>
          <p:cNvPr id="337" name="Text 25"/>
          <p:cNvSpPr/>
          <p:nvPr/>
        </p:nvSpPr>
        <p:spPr>
          <a:xfrm>
            <a:off x="3409919" y="1883520"/>
            <a:ext cx="2333655"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Znany koszt miesięczny</a:t>
            </a:r>
            <a:endParaRPr lang="pl-PL" sz="1400" b="0" u="none" strike="noStrike">
              <a:solidFill>
                <a:srgbClr val="FFFFFF"/>
              </a:solidFill>
              <a:effectLst/>
              <a:uFillTx/>
              <a:latin typeface="Arial"/>
            </a:endParaRPr>
          </a:p>
        </p:txBody>
      </p:sp>
      <p:sp>
        <p:nvSpPr>
          <p:cNvPr id="338" name="Text 26"/>
          <p:cNvSpPr/>
          <p:nvPr/>
        </p:nvSpPr>
        <p:spPr>
          <a:xfrm>
            <a:off x="3409919" y="2194560"/>
            <a:ext cx="2333655"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Elastyczne skalowanie</a:t>
            </a:r>
            <a:endParaRPr lang="pl-PL" sz="1400" b="0" u="none" strike="noStrike">
              <a:solidFill>
                <a:srgbClr val="FFFFFF"/>
              </a:solidFill>
              <a:effectLst/>
              <a:uFillTx/>
              <a:latin typeface="Arial"/>
            </a:endParaRPr>
          </a:p>
        </p:txBody>
      </p:sp>
      <p:sp>
        <p:nvSpPr>
          <p:cNvPr id="339" name="Text 27"/>
          <p:cNvSpPr/>
          <p:nvPr/>
        </p:nvSpPr>
        <p:spPr>
          <a:xfrm>
            <a:off x="3328560" y="2523600"/>
            <a:ext cx="24861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EF5350"/>
                </a:solidFill>
                <a:effectLst/>
                <a:uFillTx/>
                <a:latin typeface="Calibri"/>
              </a:rPr>
              <a:t>Wady</a:t>
            </a:r>
            <a:endParaRPr lang="pl-PL" sz="1200" b="0" u="none" strike="noStrike">
              <a:solidFill>
                <a:srgbClr val="FFFFFF"/>
              </a:solidFill>
              <a:effectLst/>
              <a:uFillTx/>
              <a:latin typeface="Arial"/>
            </a:endParaRPr>
          </a:p>
        </p:txBody>
      </p:sp>
      <p:sp>
        <p:nvSpPr>
          <p:cNvPr id="340" name="Text 28"/>
          <p:cNvSpPr/>
          <p:nvPr/>
        </p:nvSpPr>
        <p:spPr>
          <a:xfrm>
            <a:off x="3409919" y="2734200"/>
            <a:ext cx="2333655"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Niższa znajomość domeny</a:t>
            </a:r>
            <a:endParaRPr lang="pl-PL" sz="1400" b="0" u="none" strike="noStrike">
              <a:solidFill>
                <a:srgbClr val="FFFFFF"/>
              </a:solidFill>
              <a:effectLst/>
              <a:uFillTx/>
              <a:latin typeface="Arial"/>
            </a:endParaRPr>
          </a:p>
        </p:txBody>
      </p:sp>
      <p:sp>
        <p:nvSpPr>
          <p:cNvPr id="341" name="Text 29"/>
          <p:cNvSpPr/>
          <p:nvPr/>
        </p:nvSpPr>
        <p:spPr>
          <a:xfrm>
            <a:off x="3409919" y="3044880"/>
            <a:ext cx="2333655"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Rotacja zasobów</a:t>
            </a:r>
            <a:endParaRPr lang="pl-PL" sz="1400" b="0" u="none" strike="noStrike">
              <a:solidFill>
                <a:srgbClr val="FFFFFF"/>
              </a:solidFill>
              <a:effectLst/>
              <a:uFillTx/>
              <a:latin typeface="Arial"/>
            </a:endParaRPr>
          </a:p>
        </p:txBody>
      </p:sp>
      <p:sp>
        <p:nvSpPr>
          <p:cNvPr id="342" name="Text 30"/>
          <p:cNvSpPr/>
          <p:nvPr/>
        </p:nvSpPr>
        <p:spPr>
          <a:xfrm>
            <a:off x="3409919" y="3355920"/>
            <a:ext cx="2333655"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Komunikacja overhead</a:t>
            </a:r>
            <a:endParaRPr lang="pl-PL" sz="1400" b="0" u="none" strike="noStrike">
              <a:solidFill>
                <a:srgbClr val="FFFFFF"/>
              </a:solidFill>
              <a:effectLst/>
              <a:uFillTx/>
              <a:latin typeface="Arial"/>
            </a:endParaRPr>
          </a:p>
        </p:txBody>
      </p:sp>
      <p:sp>
        <p:nvSpPr>
          <p:cNvPr id="343" name="Text 31"/>
          <p:cNvSpPr/>
          <p:nvPr/>
        </p:nvSpPr>
        <p:spPr>
          <a:xfrm>
            <a:off x="3409919" y="3666600"/>
            <a:ext cx="2333655"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Mniej zaangażowania</a:t>
            </a:r>
            <a:endParaRPr lang="pl-PL" sz="1400" b="0" u="none" strike="noStrike">
              <a:solidFill>
                <a:srgbClr val="FFFFFF"/>
              </a:solidFill>
              <a:effectLst/>
              <a:uFillTx/>
              <a:latin typeface="Arial"/>
            </a:endParaRPr>
          </a:p>
        </p:txBody>
      </p:sp>
      <p:sp>
        <p:nvSpPr>
          <p:cNvPr id="344" name="Shape 32"/>
          <p:cNvSpPr/>
          <p:nvPr/>
        </p:nvSpPr>
        <p:spPr>
          <a:xfrm>
            <a:off x="3328200" y="3995640"/>
            <a:ext cx="2487240" cy="360"/>
          </a:xfrm>
          <a:prstGeom prst="line">
            <a:avLst/>
          </a:prstGeom>
          <a:ln w="6350">
            <a:solidFill>
              <a:srgbClr val="FF704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345" name="Text 33"/>
          <p:cNvSpPr/>
          <p:nvPr/>
        </p:nvSpPr>
        <p:spPr>
          <a:xfrm>
            <a:off x="3328560" y="4041720"/>
            <a:ext cx="2486160" cy="227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400" b="0" u="none" strike="noStrike" spc="-40" dirty="0">
                <a:solidFill>
                  <a:srgbClr val="FF7043"/>
                </a:solidFill>
                <a:effectLst/>
                <a:uFillTx/>
                <a:latin typeface="Calibri"/>
              </a:rPr>
              <a:t>~$4 500–12 000/</a:t>
            </a:r>
            <a:r>
              <a:rPr lang="en-US" sz="1400" b="0" u="none" strike="noStrike" spc="-40" dirty="0" err="1">
                <a:solidFill>
                  <a:srgbClr val="FF7043"/>
                </a:solidFill>
                <a:effectLst/>
                <a:uFillTx/>
                <a:latin typeface="Calibri"/>
              </a:rPr>
              <a:t>mies</a:t>
            </a:r>
            <a:r>
              <a:rPr lang="en-US" sz="1400" b="0" u="none" strike="noStrike" spc="-40" dirty="0">
                <a:solidFill>
                  <a:srgbClr val="FF7043"/>
                </a:solidFill>
                <a:effectLst/>
                <a:uFillTx/>
                <a:latin typeface="Calibri"/>
              </a:rPr>
              <a:t>. per </a:t>
            </a:r>
            <a:r>
              <a:rPr lang="en-US" sz="1400" b="0" u="none" strike="noStrike" spc="-40" dirty="0" smtClean="0">
                <a:solidFill>
                  <a:srgbClr val="FF7043"/>
                </a:solidFill>
                <a:effectLst/>
                <a:uFillTx/>
                <a:latin typeface="Calibri"/>
              </a:rPr>
              <a:t>dev </a:t>
            </a:r>
            <a:r>
              <a:rPr lang="en-US" sz="1400" b="0" u="none" strike="noStrike" spc="-40" dirty="0">
                <a:solidFill>
                  <a:srgbClr val="FF7043"/>
                </a:solidFill>
                <a:effectLst/>
                <a:uFillTx/>
                <a:latin typeface="Calibri"/>
              </a:rPr>
              <a:t>(PL)</a:t>
            </a:r>
            <a:endParaRPr lang="pl-PL" sz="1400" b="0" u="none" strike="noStrike" dirty="0">
              <a:solidFill>
                <a:srgbClr val="FFFFFF"/>
              </a:solidFill>
              <a:effectLst/>
              <a:uFillTx/>
              <a:latin typeface="Arial"/>
            </a:endParaRPr>
          </a:p>
        </p:txBody>
      </p:sp>
      <p:sp>
        <p:nvSpPr>
          <p:cNvPr id="346" name="Shape 34"/>
          <p:cNvSpPr/>
          <p:nvPr/>
        </p:nvSpPr>
        <p:spPr>
          <a:xfrm>
            <a:off x="6053400" y="567000"/>
            <a:ext cx="2714760" cy="3743640"/>
          </a:xfrm>
          <a:prstGeom prst="rect">
            <a:avLst/>
          </a:prstGeom>
          <a:solidFill>
            <a:srgbClr val="0A2540"/>
          </a:solidFill>
          <a:ln w="1016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47" name="Shape 35"/>
          <p:cNvSpPr/>
          <p:nvPr/>
        </p:nvSpPr>
        <p:spPr>
          <a:xfrm>
            <a:off x="6053400" y="567000"/>
            <a:ext cx="2714760" cy="5364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FFFFFF"/>
              </a:solidFill>
              <a:effectLst/>
              <a:uFillTx/>
              <a:latin typeface="Arial"/>
            </a:endParaRPr>
          </a:p>
        </p:txBody>
      </p:sp>
      <p:sp>
        <p:nvSpPr>
          <p:cNvPr id="348" name="Text 36"/>
          <p:cNvSpPr/>
          <p:nvPr/>
        </p:nvSpPr>
        <p:spPr>
          <a:xfrm>
            <a:off x="6163200" y="658440"/>
            <a:ext cx="248616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b="1" u="sng" strike="noStrike" dirty="0">
                <a:solidFill>
                  <a:srgbClr val="4CAF50"/>
                </a:solidFill>
                <a:effectLst/>
                <a:uFillTx/>
                <a:latin typeface="Calibri"/>
              </a:rPr>
              <a:t>Model </a:t>
            </a:r>
            <a:r>
              <a:rPr lang="en-US" b="1" u="sng" strike="noStrike" dirty="0" err="1">
                <a:solidFill>
                  <a:srgbClr val="4CAF50"/>
                </a:solidFill>
                <a:effectLst/>
                <a:uFillTx/>
                <a:latin typeface="Calibri"/>
              </a:rPr>
              <a:t>hybrydowy</a:t>
            </a:r>
            <a:endParaRPr lang="pl-PL" b="0" u="none" strike="noStrike" dirty="0">
              <a:solidFill>
                <a:srgbClr val="FFFFFF"/>
              </a:solidFill>
              <a:effectLst/>
              <a:uFillTx/>
              <a:latin typeface="Arial"/>
            </a:endParaRPr>
          </a:p>
        </p:txBody>
      </p:sp>
      <p:sp>
        <p:nvSpPr>
          <p:cNvPr id="349" name="Text 37"/>
          <p:cNvSpPr/>
          <p:nvPr/>
        </p:nvSpPr>
        <p:spPr>
          <a:xfrm>
            <a:off x="6163200" y="1051560"/>
            <a:ext cx="24861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4CAF50"/>
                </a:solidFill>
                <a:effectLst/>
                <a:uFillTx/>
                <a:latin typeface="Calibri"/>
              </a:rPr>
              <a:t>Zalety</a:t>
            </a:r>
            <a:endParaRPr lang="pl-PL" sz="1200" b="0" u="none" strike="noStrike">
              <a:solidFill>
                <a:srgbClr val="FFFFFF"/>
              </a:solidFill>
              <a:effectLst/>
              <a:uFillTx/>
              <a:latin typeface="Arial"/>
            </a:endParaRPr>
          </a:p>
        </p:txBody>
      </p:sp>
      <p:sp>
        <p:nvSpPr>
          <p:cNvPr id="350" name="Text 38"/>
          <p:cNvSpPr/>
          <p:nvPr/>
        </p:nvSpPr>
        <p:spPr>
          <a:xfrm>
            <a:off x="6244560" y="1261800"/>
            <a:ext cx="2098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dirty="0">
                <a:solidFill>
                  <a:srgbClr val="4CAF50"/>
                </a:solidFill>
                <a:effectLst/>
                <a:uFillTx/>
                <a:latin typeface="Calibri"/>
              </a:rPr>
              <a:t>✓ </a:t>
            </a:r>
            <a:r>
              <a:rPr lang="en-US" sz="1400" b="0" u="none" strike="noStrike" dirty="0" err="1">
                <a:solidFill>
                  <a:srgbClr val="FFFFFF"/>
                </a:solidFill>
                <a:effectLst/>
                <a:uFillTx/>
                <a:latin typeface="Calibri"/>
              </a:rPr>
              <a:t>Inhouse</a:t>
            </a:r>
            <a:r>
              <a:rPr lang="en-US" sz="1400" b="0" u="none" strike="noStrike" dirty="0">
                <a:solidFill>
                  <a:srgbClr val="FFFFFF"/>
                </a:solidFill>
                <a:effectLst/>
                <a:uFillTx/>
                <a:latin typeface="Calibri"/>
              </a:rPr>
              <a:t> core team</a:t>
            </a:r>
            <a:endParaRPr lang="pl-PL" sz="1400" b="0" u="none" strike="noStrike" dirty="0">
              <a:solidFill>
                <a:srgbClr val="FFFFFF"/>
              </a:solidFill>
              <a:effectLst/>
              <a:uFillTx/>
              <a:latin typeface="Arial"/>
            </a:endParaRPr>
          </a:p>
        </p:txBody>
      </p:sp>
      <p:sp>
        <p:nvSpPr>
          <p:cNvPr id="351" name="Text 39"/>
          <p:cNvSpPr/>
          <p:nvPr/>
        </p:nvSpPr>
        <p:spPr>
          <a:xfrm>
            <a:off x="6244560" y="1572840"/>
            <a:ext cx="2098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Outsourcing pik'ów</a:t>
            </a:r>
            <a:endParaRPr lang="pl-PL" sz="1400" b="0" u="none" strike="noStrike">
              <a:solidFill>
                <a:srgbClr val="FFFFFF"/>
              </a:solidFill>
              <a:effectLst/>
              <a:uFillTx/>
              <a:latin typeface="Arial"/>
            </a:endParaRPr>
          </a:p>
        </p:txBody>
      </p:sp>
      <p:sp>
        <p:nvSpPr>
          <p:cNvPr id="352" name="Text 40"/>
          <p:cNvSpPr/>
          <p:nvPr/>
        </p:nvSpPr>
        <p:spPr>
          <a:xfrm>
            <a:off x="6244560" y="1883520"/>
            <a:ext cx="2098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Optymalne koszty</a:t>
            </a:r>
            <a:endParaRPr lang="pl-PL" sz="1400" b="0" u="none" strike="noStrike">
              <a:solidFill>
                <a:srgbClr val="FFFFFF"/>
              </a:solidFill>
              <a:effectLst/>
              <a:uFillTx/>
              <a:latin typeface="Arial"/>
            </a:endParaRPr>
          </a:p>
        </p:txBody>
      </p:sp>
      <p:sp>
        <p:nvSpPr>
          <p:cNvPr id="353" name="Text 41"/>
          <p:cNvSpPr/>
          <p:nvPr/>
        </p:nvSpPr>
        <p:spPr>
          <a:xfrm>
            <a:off x="6244560" y="2194560"/>
            <a:ext cx="2098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Transfer wiedzy</a:t>
            </a:r>
            <a:endParaRPr lang="pl-PL" sz="1400" b="0" u="none" strike="noStrike">
              <a:solidFill>
                <a:srgbClr val="FFFFFF"/>
              </a:solidFill>
              <a:effectLst/>
              <a:uFillTx/>
              <a:latin typeface="Arial"/>
            </a:endParaRPr>
          </a:p>
        </p:txBody>
      </p:sp>
      <p:sp>
        <p:nvSpPr>
          <p:cNvPr id="354" name="Text 42"/>
          <p:cNvSpPr/>
          <p:nvPr/>
        </p:nvSpPr>
        <p:spPr>
          <a:xfrm>
            <a:off x="6163200" y="2523600"/>
            <a:ext cx="24861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EF5350"/>
                </a:solidFill>
                <a:effectLst/>
                <a:uFillTx/>
                <a:latin typeface="Calibri"/>
              </a:rPr>
              <a:t>Wady</a:t>
            </a:r>
            <a:endParaRPr lang="pl-PL" sz="1200" b="0" u="none" strike="noStrike">
              <a:solidFill>
                <a:srgbClr val="FFFFFF"/>
              </a:solidFill>
              <a:effectLst/>
              <a:uFillTx/>
              <a:latin typeface="Arial"/>
            </a:endParaRPr>
          </a:p>
        </p:txBody>
      </p:sp>
      <p:sp>
        <p:nvSpPr>
          <p:cNvPr id="355" name="Text 43"/>
          <p:cNvSpPr/>
          <p:nvPr/>
        </p:nvSpPr>
        <p:spPr>
          <a:xfrm>
            <a:off x="6244560" y="2734200"/>
            <a:ext cx="2098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Złożone zarządzanie</a:t>
            </a:r>
            <a:endParaRPr lang="pl-PL" sz="1400" b="0" u="none" strike="noStrike">
              <a:solidFill>
                <a:srgbClr val="FFFFFF"/>
              </a:solidFill>
              <a:effectLst/>
              <a:uFillTx/>
              <a:latin typeface="Arial"/>
            </a:endParaRPr>
          </a:p>
        </p:txBody>
      </p:sp>
      <p:sp>
        <p:nvSpPr>
          <p:cNvPr id="356" name="Text 44"/>
          <p:cNvSpPr/>
          <p:nvPr/>
        </p:nvSpPr>
        <p:spPr>
          <a:xfrm>
            <a:off x="6244560" y="3044880"/>
            <a:ext cx="2098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Dwa procesy</a:t>
            </a:r>
            <a:endParaRPr lang="pl-PL" sz="1400" b="0" u="none" strike="noStrike">
              <a:solidFill>
                <a:srgbClr val="FFFFFF"/>
              </a:solidFill>
              <a:effectLst/>
              <a:uFillTx/>
              <a:latin typeface="Arial"/>
            </a:endParaRPr>
          </a:p>
        </p:txBody>
      </p:sp>
      <p:sp>
        <p:nvSpPr>
          <p:cNvPr id="357" name="Text 45"/>
          <p:cNvSpPr/>
          <p:nvPr/>
        </p:nvSpPr>
        <p:spPr>
          <a:xfrm>
            <a:off x="6244560" y="3355920"/>
            <a:ext cx="2098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Ryzyko silosów</a:t>
            </a:r>
            <a:endParaRPr lang="pl-PL" sz="1400" b="0" u="none" strike="noStrike">
              <a:solidFill>
                <a:srgbClr val="FFFFFF"/>
              </a:solidFill>
              <a:effectLst/>
              <a:uFillTx/>
              <a:latin typeface="Arial"/>
            </a:endParaRPr>
          </a:p>
        </p:txBody>
      </p:sp>
      <p:sp>
        <p:nvSpPr>
          <p:cNvPr id="358" name="Text 46"/>
          <p:cNvSpPr/>
          <p:nvPr/>
        </p:nvSpPr>
        <p:spPr>
          <a:xfrm>
            <a:off x="6244560" y="3666600"/>
            <a:ext cx="2098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EF5350"/>
                </a:solidFill>
                <a:effectLst/>
                <a:uFillTx/>
                <a:latin typeface="Calibri"/>
              </a:rPr>
              <a:t>✗ </a:t>
            </a:r>
            <a:r>
              <a:rPr lang="en-US" sz="1400" b="0" u="none" strike="noStrike">
                <a:solidFill>
                  <a:srgbClr val="FFFFFF"/>
                </a:solidFill>
                <a:effectLst/>
                <a:uFillTx/>
                <a:latin typeface="Calibri"/>
              </a:rPr>
              <a:t>Wymaga dojrzałości</a:t>
            </a:r>
            <a:endParaRPr lang="pl-PL" sz="1400" b="0" u="none" strike="noStrike">
              <a:solidFill>
                <a:srgbClr val="FFFFFF"/>
              </a:solidFill>
              <a:effectLst/>
              <a:uFillTx/>
              <a:latin typeface="Arial"/>
            </a:endParaRPr>
          </a:p>
        </p:txBody>
      </p:sp>
      <p:sp>
        <p:nvSpPr>
          <p:cNvPr id="359" name="Shape 47"/>
          <p:cNvSpPr/>
          <p:nvPr/>
        </p:nvSpPr>
        <p:spPr>
          <a:xfrm>
            <a:off x="6162840" y="3995640"/>
            <a:ext cx="2487240" cy="360"/>
          </a:xfrm>
          <a:prstGeom prst="line">
            <a:avLst/>
          </a:prstGeom>
          <a:ln w="6350">
            <a:solidFill>
              <a:srgbClr val="4CAF5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360" name="Text 48"/>
          <p:cNvSpPr/>
          <p:nvPr/>
        </p:nvSpPr>
        <p:spPr>
          <a:xfrm>
            <a:off x="6163200" y="4041720"/>
            <a:ext cx="2486160" cy="227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200" b="0" u="none" strike="noStrike" spc="-40" dirty="0" err="1">
                <a:solidFill>
                  <a:srgbClr val="4CAF50"/>
                </a:solidFill>
                <a:effectLst/>
                <a:uFillTx/>
                <a:latin typeface="Calibri"/>
              </a:rPr>
              <a:t>Używany</a:t>
            </a:r>
            <a:r>
              <a:rPr lang="en-US" sz="1200" b="0" u="none" strike="noStrike" spc="-40" dirty="0">
                <a:solidFill>
                  <a:srgbClr val="4CAF50"/>
                </a:solidFill>
                <a:effectLst/>
                <a:uFillTx/>
                <a:latin typeface="Calibri"/>
              </a:rPr>
              <a:t> </a:t>
            </a:r>
            <a:r>
              <a:rPr lang="en-US" sz="1200" b="0" u="none" strike="noStrike" spc="-40" dirty="0" err="1">
                <a:solidFill>
                  <a:srgbClr val="4CAF50"/>
                </a:solidFill>
                <a:effectLst/>
                <a:uFillTx/>
                <a:latin typeface="Calibri"/>
              </a:rPr>
              <a:t>przez</a:t>
            </a:r>
            <a:r>
              <a:rPr lang="en-US" sz="1200" b="0" u="none" strike="noStrike" spc="-40" dirty="0">
                <a:solidFill>
                  <a:srgbClr val="4CAF50"/>
                </a:solidFill>
                <a:effectLst/>
                <a:uFillTx/>
                <a:latin typeface="Calibri"/>
              </a:rPr>
              <a:t> 58% scale-</a:t>
            </a:r>
            <a:r>
              <a:rPr lang="en-US" sz="1200" b="0" u="none" strike="noStrike" spc="-40" dirty="0" err="1">
                <a:solidFill>
                  <a:srgbClr val="4CAF50"/>
                </a:solidFill>
                <a:effectLst/>
                <a:uFillTx/>
                <a:latin typeface="Calibri"/>
              </a:rPr>
              <a:t>up'ów</a:t>
            </a:r>
            <a:r>
              <a:rPr lang="en-US" sz="1200" b="0" u="none" strike="noStrike" spc="-40" dirty="0">
                <a:solidFill>
                  <a:srgbClr val="4CAF50"/>
                </a:solidFill>
                <a:effectLst/>
                <a:uFillTx/>
                <a:latin typeface="Calibri"/>
              </a:rPr>
              <a:t> (Deloitte)</a:t>
            </a:r>
            <a:endParaRPr lang="pl-PL" sz="1200" b="0" u="none" strike="noStrike" dirty="0">
              <a:solidFill>
                <a:srgbClr val="FFFFFF"/>
              </a:solidFill>
              <a:effectLst/>
              <a:uFillTx/>
              <a:latin typeface="Arial"/>
            </a:endParaRPr>
          </a:p>
        </p:txBody>
      </p:sp>
      <p:sp>
        <p:nvSpPr>
          <p:cNvPr id="361" name="Shape 49"/>
          <p:cNvSpPr/>
          <p:nvPr/>
        </p:nvSpPr>
        <p:spPr>
          <a:xfrm>
            <a:off x="384120" y="4525920"/>
            <a:ext cx="8374680" cy="522330"/>
          </a:xfrm>
          <a:prstGeom prst="rect">
            <a:avLst/>
          </a:prstGeom>
          <a:solidFill>
            <a:srgbClr val="1020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gn="ctr" defTabSz="914400">
              <a:lnSpc>
                <a:spcPct val="100000"/>
              </a:lnSpc>
            </a:pPr>
            <a:r>
              <a:rPr lang="pl-PL" sz="1600" b="1" u="none" strike="noStrike" spc="-40" dirty="0" smtClean="0">
                <a:solidFill>
                  <a:srgbClr val="8ECAE6"/>
                </a:solidFill>
                <a:effectLst/>
                <a:uFillTx/>
                <a:latin typeface="Calibri"/>
              </a:rPr>
              <a:t>„</a:t>
            </a:r>
            <a:r>
              <a:rPr lang="en-US" sz="1600" b="1" u="none" strike="noStrike" spc="-40" dirty="0" smtClean="0">
                <a:solidFill>
                  <a:schemeClr val="bg1"/>
                </a:solidFill>
                <a:effectLst/>
                <a:uFillTx/>
                <a:latin typeface="Calibri"/>
              </a:rPr>
              <a:t>Two-pizza rule</a:t>
            </a:r>
            <a:r>
              <a:rPr lang="pl-PL" sz="1600" b="1" u="none" strike="noStrike" spc="-40" dirty="0" smtClean="0">
                <a:solidFill>
                  <a:srgbClr val="8ECAE6"/>
                </a:solidFill>
                <a:effectLst/>
                <a:uFillTx/>
                <a:latin typeface="Calibri"/>
              </a:rPr>
              <a:t>” </a:t>
            </a:r>
            <a:r>
              <a:rPr lang="pl-PL" sz="1600" b="0" u="none" strike="noStrike" spc="-40" dirty="0" smtClean="0">
                <a:solidFill>
                  <a:srgbClr val="8ECAE6"/>
                </a:solidFill>
                <a:effectLst/>
                <a:uFillTx/>
                <a:latin typeface="Calibri"/>
              </a:rPr>
              <a:t>- </a:t>
            </a:r>
            <a:r>
              <a:rPr lang="en-US" sz="1600" b="0" u="none" strike="noStrike" spc="-40" dirty="0" smtClean="0">
                <a:solidFill>
                  <a:srgbClr val="8ECAE6"/>
                </a:solidFill>
                <a:effectLst/>
                <a:uFillTx/>
                <a:latin typeface="Calibri"/>
              </a:rPr>
              <a:t> </a:t>
            </a:r>
            <a:r>
              <a:rPr lang="pl-PL" sz="1600" b="0" u="none" strike="noStrike" spc="-40" dirty="0" smtClean="0">
                <a:solidFill>
                  <a:schemeClr val="bg1"/>
                </a:solidFill>
                <a:effectLst/>
                <a:uFillTx/>
                <a:latin typeface="Calibri"/>
              </a:rPr>
              <a:t>jeśli zespół nie może być nakarmiony dwoma pizzami, to jest za duży. </a:t>
            </a:r>
          </a:p>
          <a:p>
            <a:pPr algn="ctr" defTabSz="914400">
              <a:lnSpc>
                <a:spcPct val="100000"/>
              </a:lnSpc>
            </a:pPr>
            <a:r>
              <a:rPr lang="pl-PL" sz="1600" b="0" u="none" strike="noStrike" spc="-40" dirty="0" smtClean="0">
                <a:solidFill>
                  <a:srgbClr val="8ECAE6"/>
                </a:solidFill>
                <a:effectLst/>
                <a:uFillTx/>
                <a:latin typeface="Calibri"/>
              </a:rPr>
              <a:t>Optymalny</a:t>
            </a:r>
            <a:r>
              <a:rPr lang="en-US" sz="1600" b="0" u="none" strike="noStrike" spc="-40" dirty="0" smtClean="0">
                <a:solidFill>
                  <a:srgbClr val="8ECAE6"/>
                </a:solidFill>
                <a:effectLst/>
                <a:uFillTx/>
                <a:latin typeface="Calibri"/>
              </a:rPr>
              <a:t> </a:t>
            </a:r>
            <a:r>
              <a:rPr lang="pl-PL" sz="1600" b="0" u="none" strike="noStrike" spc="-40" dirty="0" smtClean="0">
                <a:solidFill>
                  <a:srgbClr val="8ECAE6"/>
                </a:solidFill>
                <a:effectLst/>
                <a:uFillTx/>
                <a:latin typeface="Calibri"/>
              </a:rPr>
              <a:t>rozmiar</a:t>
            </a:r>
            <a:r>
              <a:rPr lang="en-US" sz="1600" b="0" u="none" strike="noStrike" spc="-40" dirty="0" smtClean="0">
                <a:solidFill>
                  <a:srgbClr val="8ECAE6"/>
                </a:solidFill>
                <a:effectLst/>
                <a:uFillTx/>
                <a:latin typeface="Calibri"/>
              </a:rPr>
              <a:t> </a:t>
            </a:r>
            <a:r>
              <a:rPr lang="pl-PL" sz="1600" b="0" u="none" strike="noStrike" spc="-40" dirty="0" smtClean="0">
                <a:solidFill>
                  <a:srgbClr val="8ECAE6"/>
                </a:solidFill>
                <a:effectLst/>
                <a:uFillTx/>
                <a:latin typeface="Calibri"/>
              </a:rPr>
              <a:t>interdyscyplinarnego</a:t>
            </a:r>
            <a:r>
              <a:rPr lang="en-US" sz="1600" b="0" u="none" strike="noStrike" spc="-40" dirty="0" smtClean="0">
                <a:solidFill>
                  <a:srgbClr val="8ECAE6"/>
                </a:solidFill>
                <a:effectLst/>
                <a:uFillTx/>
                <a:latin typeface="Calibri"/>
              </a:rPr>
              <a:t> </a:t>
            </a:r>
            <a:r>
              <a:rPr lang="pl-PL" sz="1600" b="0" u="none" strike="noStrike" spc="-40" dirty="0" smtClean="0">
                <a:solidFill>
                  <a:srgbClr val="8ECAE6"/>
                </a:solidFill>
                <a:effectLst/>
                <a:uFillTx/>
                <a:latin typeface="Calibri"/>
              </a:rPr>
              <a:t>zespołu to około</a:t>
            </a:r>
            <a:r>
              <a:rPr lang="en-US" sz="1600" b="0" u="none" strike="noStrike" spc="-40" dirty="0" smtClean="0">
                <a:solidFill>
                  <a:srgbClr val="8ECAE6"/>
                </a:solidFill>
                <a:effectLst/>
                <a:uFillTx/>
                <a:latin typeface="Calibri"/>
              </a:rPr>
              <a:t> 5</a:t>
            </a:r>
            <a:r>
              <a:rPr lang="pl-PL" sz="1600" b="0" u="none" strike="noStrike" spc="-40" dirty="0" smtClean="0">
                <a:solidFill>
                  <a:srgbClr val="8ECAE6"/>
                </a:solidFill>
                <a:effectLst/>
                <a:uFillTx/>
                <a:latin typeface="Calibri"/>
              </a:rPr>
              <a:t>-</a:t>
            </a:r>
            <a:r>
              <a:rPr lang="en-US" sz="1600" b="0" u="none" strike="noStrike" spc="-40" dirty="0" smtClean="0">
                <a:solidFill>
                  <a:srgbClr val="8ECAE6"/>
                </a:solidFill>
                <a:effectLst/>
                <a:uFillTx/>
                <a:latin typeface="Calibri"/>
              </a:rPr>
              <a:t>9 </a:t>
            </a:r>
            <a:r>
              <a:rPr lang="en-US" sz="1600" b="0" u="none" strike="noStrike" spc="-40" dirty="0" err="1" smtClean="0">
                <a:solidFill>
                  <a:srgbClr val="8ECAE6"/>
                </a:solidFill>
                <a:effectLst/>
                <a:uFillTx/>
                <a:latin typeface="Calibri"/>
              </a:rPr>
              <a:t>osób</a:t>
            </a:r>
            <a:r>
              <a:rPr lang="en-US" sz="1600" b="0" u="none" strike="noStrike" spc="-40" dirty="0" smtClean="0">
                <a:solidFill>
                  <a:srgbClr val="8ECAE6"/>
                </a:solidFill>
                <a:effectLst/>
                <a:uFillTx/>
                <a:latin typeface="Calibri"/>
              </a:rPr>
              <a:t> (Scrum Guide).</a:t>
            </a:r>
            <a:endParaRPr lang="pl-PL" sz="1600" b="0" u="none" strike="noStrike" dirty="0">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1422"/>
        </a:solidFill>
        <a:effectLst/>
      </p:bgPr>
    </p:bg>
    <p:spTree>
      <p:nvGrpSpPr>
        <p:cNvPr id="1" name=""/>
        <p:cNvGrpSpPr/>
        <p:nvPr/>
      </p:nvGrpSpPr>
      <p:grpSpPr>
        <a:xfrm>
          <a:off x="0" y="0"/>
          <a:ext cx="0" cy="0"/>
          <a:chOff x="0" y="0"/>
          <a:chExt cx="0" cy="0"/>
        </a:xfrm>
      </p:grpSpPr>
      <p:sp>
        <p:nvSpPr>
          <p:cNvPr id="364" name="Shape 0"/>
          <p:cNvSpPr/>
          <p:nvPr/>
        </p:nvSpPr>
        <p:spPr>
          <a:xfrm>
            <a:off x="0" y="0"/>
            <a:ext cx="90360" cy="495504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65" name="Shape 1"/>
          <p:cNvSpPr/>
          <p:nvPr/>
        </p:nvSpPr>
        <p:spPr>
          <a:xfrm>
            <a:off x="0" y="3516284"/>
            <a:ext cx="9142920" cy="1420395"/>
          </a:xfrm>
          <a:prstGeom prst="rect">
            <a:avLst/>
          </a:prstGeom>
          <a:solidFill>
            <a:srgbClr val="081828"/>
          </a:solidFill>
          <a:ln w="12700">
            <a:solidFill>
              <a:srgbClr val="08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66" name="Shape 2"/>
          <p:cNvSpPr/>
          <p:nvPr/>
        </p:nvSpPr>
        <p:spPr>
          <a:xfrm>
            <a:off x="502920" y="1005840"/>
            <a:ext cx="1114560" cy="273240"/>
          </a:xfrm>
          <a:prstGeom prst="roundRect">
            <a:avLst>
              <a:gd name="adj" fmla="val 26667"/>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67" name="Text 3"/>
          <p:cNvSpPr/>
          <p:nvPr/>
        </p:nvSpPr>
        <p:spPr>
          <a:xfrm>
            <a:off x="502920" y="1005840"/>
            <a:ext cx="1114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ROZDZIAŁ 4</a:t>
            </a:r>
            <a:endParaRPr lang="pl-PL" sz="1200" b="0" u="none" strike="noStrike">
              <a:solidFill>
                <a:srgbClr val="FFFFFF"/>
              </a:solidFill>
              <a:effectLst/>
              <a:uFillTx/>
              <a:latin typeface="Arial"/>
            </a:endParaRPr>
          </a:p>
        </p:txBody>
      </p:sp>
      <p:sp>
        <p:nvSpPr>
          <p:cNvPr id="368" name="Text 4"/>
          <p:cNvSpPr/>
          <p:nvPr/>
        </p:nvSpPr>
        <p:spPr>
          <a:xfrm>
            <a:off x="502920" y="1389960"/>
            <a:ext cx="8045640" cy="15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4400" b="1" u="none" strike="noStrike" dirty="0">
                <a:solidFill>
                  <a:srgbClr val="FFFFFF"/>
                </a:solidFill>
                <a:effectLst/>
                <a:uFillTx/>
                <a:latin typeface="Calibri"/>
              </a:rPr>
              <a:t>Metodyki </a:t>
            </a:r>
            <a:endParaRPr lang="pl-PL" sz="4400" b="1" u="none" strike="noStrike" dirty="0" smtClean="0">
              <a:solidFill>
                <a:srgbClr val="FFFFFF"/>
              </a:solidFill>
              <a:effectLst/>
              <a:uFillTx/>
              <a:latin typeface="Calibri"/>
            </a:endParaRPr>
          </a:p>
          <a:p>
            <a:pPr defTabSz="914400">
              <a:lnSpc>
                <a:spcPct val="100000"/>
              </a:lnSpc>
              <a:tabLst>
                <a:tab pos="0" algn="l"/>
              </a:tabLst>
            </a:pPr>
            <a:r>
              <a:rPr lang="pl-PL" sz="4400" b="1" dirty="0">
                <a:solidFill>
                  <a:srgbClr val="FFFFFF"/>
                </a:solidFill>
                <a:latin typeface="Calibri"/>
              </a:rPr>
              <a:t> </a:t>
            </a:r>
            <a:r>
              <a:rPr lang="pl-PL" sz="4400" b="1" dirty="0" smtClean="0">
                <a:solidFill>
                  <a:srgbClr val="FFFFFF"/>
                </a:solidFill>
                <a:latin typeface="Calibri"/>
              </a:rPr>
              <a:t>   </a:t>
            </a:r>
            <a:r>
              <a:rPr lang="pl-PL" sz="4400" b="1" u="none" strike="noStrike" dirty="0" smtClean="0">
                <a:solidFill>
                  <a:srgbClr val="FFFFFF"/>
                </a:solidFill>
                <a:effectLst/>
                <a:uFillTx/>
                <a:latin typeface="Calibri"/>
              </a:rPr>
              <a:t>pracy</a:t>
            </a:r>
            <a:endParaRPr lang="pl-PL" sz="4400" b="0" u="none" strike="noStrike" dirty="0">
              <a:solidFill>
                <a:srgbClr val="FFFFFF"/>
              </a:solidFill>
              <a:effectLst/>
              <a:uFillTx/>
              <a:latin typeface="Arial"/>
            </a:endParaRPr>
          </a:p>
        </p:txBody>
      </p:sp>
      <p:sp>
        <p:nvSpPr>
          <p:cNvPr id="369" name="Text 5"/>
          <p:cNvSpPr/>
          <p:nvPr/>
        </p:nvSpPr>
        <p:spPr>
          <a:xfrm>
            <a:off x="502920" y="3739515"/>
            <a:ext cx="6856920" cy="59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600" b="0" u="none" strike="noStrike" dirty="0">
                <a:solidFill>
                  <a:srgbClr val="8ECAE6"/>
                </a:solidFill>
                <a:effectLst/>
                <a:uFillTx/>
                <a:latin typeface="Calibri"/>
              </a:rPr>
              <a:t>Scrum, Kanban, </a:t>
            </a:r>
            <a:r>
              <a:rPr lang="en-US" sz="1600" b="0" u="none" strike="noStrike" dirty="0" err="1">
                <a:solidFill>
                  <a:srgbClr val="8ECAE6"/>
                </a:solidFill>
                <a:effectLst/>
                <a:uFillTx/>
                <a:latin typeface="Calibri"/>
              </a:rPr>
              <a:t>SAFe</a:t>
            </a:r>
            <a:r>
              <a:rPr lang="pl-PL" sz="1600" b="0" u="none" strike="noStrike" dirty="0">
                <a:solidFill>
                  <a:srgbClr val="8ECAE6"/>
                </a:solidFill>
                <a:effectLst/>
                <a:uFillTx/>
                <a:latin typeface="Calibri"/>
              </a:rPr>
              <a:t>:</a:t>
            </a:r>
            <a:r>
              <a:rPr lang="en-US" sz="1600" b="0" u="none" strike="noStrike" dirty="0">
                <a:solidFill>
                  <a:srgbClr val="8ECAE6"/>
                </a:solidFill>
                <a:effectLst/>
                <a:uFillTx/>
                <a:latin typeface="Calibri"/>
              </a:rPr>
              <a:t> </a:t>
            </a:r>
            <a:r>
              <a:rPr lang="en-US" sz="1600" b="0" u="none" strike="noStrike" dirty="0" err="1">
                <a:solidFill>
                  <a:srgbClr val="8ECAE6"/>
                </a:solidFill>
                <a:effectLst/>
                <a:uFillTx/>
                <a:latin typeface="Calibri"/>
              </a:rPr>
              <a:t>wybór</a:t>
            </a:r>
            <a:r>
              <a:rPr lang="en-US" sz="1600" b="0" u="none" strike="noStrike" dirty="0">
                <a:solidFill>
                  <a:srgbClr val="8ECAE6"/>
                </a:solidFill>
                <a:effectLst/>
                <a:uFillTx/>
                <a:latin typeface="Calibri"/>
              </a:rPr>
              <a:t> </a:t>
            </a:r>
            <a:r>
              <a:rPr lang="en-US" sz="1600" b="0" u="none" strike="noStrike" dirty="0" err="1">
                <a:solidFill>
                  <a:srgbClr val="8ECAE6"/>
                </a:solidFill>
                <a:effectLst/>
                <a:uFillTx/>
                <a:latin typeface="Calibri"/>
              </a:rPr>
              <a:t>i</a:t>
            </a:r>
            <a:r>
              <a:rPr lang="en-US" sz="1600" b="0" u="none" strike="noStrike" dirty="0">
                <a:solidFill>
                  <a:srgbClr val="8ECAE6"/>
                </a:solidFill>
                <a:effectLst/>
                <a:uFillTx/>
                <a:latin typeface="Calibri"/>
              </a:rPr>
              <a:t> </a:t>
            </a:r>
            <a:r>
              <a:rPr lang="en-US" sz="1600" b="0" u="none" strike="noStrike" dirty="0" err="1">
                <a:solidFill>
                  <a:srgbClr val="8ECAE6"/>
                </a:solidFill>
                <a:effectLst/>
                <a:uFillTx/>
                <a:latin typeface="Calibri"/>
              </a:rPr>
              <a:t>konfiguracja</a:t>
            </a:r>
            <a:r>
              <a:rPr lang="en-US" sz="1600" b="0" u="none" strike="noStrike" dirty="0">
                <a:solidFill>
                  <a:srgbClr val="8ECAE6"/>
                </a:solidFill>
                <a:effectLst/>
                <a:uFillTx/>
                <a:latin typeface="Calibri"/>
              </a:rPr>
              <a:t> </a:t>
            </a:r>
            <a:r>
              <a:rPr lang="en-US" sz="1600" b="0" u="none" strike="noStrike" dirty="0" err="1">
                <a:solidFill>
                  <a:srgbClr val="8ECAE6"/>
                </a:solidFill>
                <a:effectLst/>
                <a:uFillTx/>
                <a:latin typeface="Calibri"/>
              </a:rPr>
              <a:t>dla</a:t>
            </a:r>
            <a:r>
              <a:rPr lang="en-US" sz="1600" b="0" u="none" strike="noStrike" dirty="0">
                <a:solidFill>
                  <a:srgbClr val="8ECAE6"/>
                </a:solidFill>
                <a:effectLst/>
                <a:uFillTx/>
                <a:latin typeface="Calibri"/>
              </a:rPr>
              <a:t> </a:t>
            </a:r>
            <a:r>
              <a:rPr lang="en-US" sz="1600" b="0" u="none" strike="noStrike" dirty="0" err="1">
                <a:solidFill>
                  <a:srgbClr val="8ECAE6"/>
                </a:solidFill>
                <a:effectLst/>
                <a:uFillTx/>
                <a:latin typeface="Calibri"/>
              </a:rPr>
              <a:t>projektów</a:t>
            </a:r>
            <a:r>
              <a:rPr lang="en-US" sz="1600" b="0" u="none" strike="noStrike" dirty="0">
                <a:solidFill>
                  <a:srgbClr val="8ECAE6"/>
                </a:solidFill>
                <a:effectLst/>
                <a:uFillTx/>
                <a:latin typeface="Calibri"/>
              </a:rPr>
              <a:t> </a:t>
            </a:r>
            <a:r>
              <a:rPr lang="en-US" sz="1600" b="0" u="none" strike="noStrike" dirty="0" err="1">
                <a:solidFill>
                  <a:srgbClr val="8ECAE6"/>
                </a:solidFill>
                <a:effectLst/>
                <a:uFillTx/>
                <a:latin typeface="Calibri"/>
              </a:rPr>
              <a:t>mobilnych</a:t>
            </a:r>
            <a:r>
              <a:rPr lang="en-US" sz="1600" b="0" u="none" strike="noStrike" dirty="0">
                <a:solidFill>
                  <a:srgbClr val="8ECAE6"/>
                </a:solidFill>
                <a:effectLst/>
                <a:uFillTx/>
                <a:latin typeface="Calibri"/>
              </a:rPr>
              <a:t>.</a:t>
            </a:r>
            <a:endParaRPr lang="pl-PL" sz="1600" b="0" u="none" strike="noStrike" dirty="0">
              <a:solidFill>
                <a:srgbClr val="FFFFFF"/>
              </a:solidFill>
              <a:effectLst/>
              <a:uFillTx/>
              <a:latin typeface="Arial"/>
            </a:endParaRPr>
          </a:p>
        </p:txBody>
      </p:sp>
      <p:sp>
        <p:nvSpPr>
          <p:cNvPr id="370" name="Shape 6"/>
          <p:cNvSpPr/>
          <p:nvPr/>
        </p:nvSpPr>
        <p:spPr>
          <a:xfrm>
            <a:off x="502920" y="4125795"/>
            <a:ext cx="5091120" cy="360"/>
          </a:xfrm>
          <a:prstGeom prst="line">
            <a:avLst/>
          </a:prstGeom>
          <a:ln w="15240">
            <a:solidFill>
              <a:srgbClr val="7C4DFF"/>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371" name="Shape 8"/>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72" name="Text 11"/>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11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375"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dirty="0" err="1">
                <a:solidFill>
                  <a:srgbClr val="FFFFFF"/>
                </a:solidFill>
                <a:effectLst/>
                <a:uFillTx/>
                <a:latin typeface="Calibri"/>
              </a:rPr>
              <a:t>Scrum</a:t>
            </a:r>
            <a:r>
              <a:rPr lang="pl-PL" sz="2000" b="1" u="none" strike="noStrike" dirty="0">
                <a:solidFill>
                  <a:srgbClr val="FFFFFF"/>
                </a:solidFill>
                <a:effectLst/>
                <a:uFillTx/>
                <a:latin typeface="Calibri"/>
              </a:rPr>
              <a:t>: </a:t>
            </a:r>
            <a:r>
              <a:rPr lang="pl-PL" sz="2000" b="0" u="none" strike="noStrike" dirty="0">
                <a:solidFill>
                  <a:srgbClr val="FFFFFF"/>
                </a:solidFill>
                <a:effectLst/>
                <a:uFillTx/>
                <a:latin typeface="Calibri"/>
              </a:rPr>
              <a:t>ceremonie i artefakty</a:t>
            </a:r>
            <a:endParaRPr lang="pl-PL" sz="2000" b="0" u="none" strike="noStrike" dirty="0">
              <a:solidFill>
                <a:srgbClr val="FFFFFF"/>
              </a:solidFill>
              <a:effectLst/>
              <a:uFillTx/>
              <a:latin typeface="Arial"/>
            </a:endParaRPr>
          </a:p>
        </p:txBody>
      </p:sp>
      <p:sp>
        <p:nvSpPr>
          <p:cNvPr id="376" name="Shape 3"/>
          <p:cNvSpPr/>
          <p:nvPr/>
        </p:nvSpPr>
        <p:spPr>
          <a:xfrm>
            <a:off x="383760" y="41805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377" name="Shape 4"/>
          <p:cNvSpPr/>
          <p:nvPr/>
        </p:nvSpPr>
        <p:spPr>
          <a:xfrm>
            <a:off x="384120" y="519375"/>
            <a:ext cx="8374680" cy="71208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78" name="Shape 5"/>
          <p:cNvSpPr/>
          <p:nvPr/>
        </p:nvSpPr>
        <p:spPr>
          <a:xfrm>
            <a:off x="384120" y="519375"/>
            <a:ext cx="63000" cy="71208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79" name="Shape 6"/>
          <p:cNvSpPr/>
          <p:nvPr/>
        </p:nvSpPr>
        <p:spPr>
          <a:xfrm>
            <a:off x="579240" y="610815"/>
            <a:ext cx="1461960" cy="200160"/>
          </a:xfrm>
          <a:prstGeom prst="roundRect">
            <a:avLst>
              <a:gd name="adj" fmla="val 31818"/>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380" name="Text 7"/>
          <p:cNvSpPr/>
          <p:nvPr/>
        </p:nvSpPr>
        <p:spPr>
          <a:xfrm>
            <a:off x="579240" y="610815"/>
            <a:ext cx="15476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400" b="1" u="none" strike="noStrike">
                <a:solidFill>
                  <a:srgbClr val="000000"/>
                </a:solidFill>
                <a:effectLst/>
                <a:uFillTx/>
                <a:latin typeface="Calibri"/>
              </a:rPr>
              <a:t>Sprint Planning</a:t>
            </a:r>
            <a:endParaRPr lang="pl-PL" sz="1400" b="0" u="none" strike="noStrike">
              <a:solidFill>
                <a:srgbClr val="FFFFFF"/>
              </a:solidFill>
              <a:effectLst/>
              <a:uFillTx/>
              <a:latin typeface="Arial"/>
            </a:endParaRPr>
          </a:p>
        </p:txBody>
      </p:sp>
      <p:sp>
        <p:nvSpPr>
          <p:cNvPr id="381" name="Shape 8"/>
          <p:cNvSpPr/>
          <p:nvPr/>
        </p:nvSpPr>
        <p:spPr>
          <a:xfrm>
            <a:off x="7347240" y="610815"/>
            <a:ext cx="1262520" cy="200160"/>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82" name="Text 9"/>
          <p:cNvSpPr/>
          <p:nvPr/>
        </p:nvSpPr>
        <p:spPr>
          <a:xfrm>
            <a:off x="7366320" y="610815"/>
            <a:ext cx="1262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2h / 2 tyg.</a:t>
            </a:r>
            <a:endParaRPr lang="pl-PL" sz="1200" b="0" u="none" strike="noStrike">
              <a:solidFill>
                <a:srgbClr val="FFFFFF"/>
              </a:solidFill>
              <a:effectLst/>
              <a:uFillTx/>
              <a:latin typeface="Arial"/>
            </a:endParaRPr>
          </a:p>
        </p:txBody>
      </p:sp>
      <p:sp>
        <p:nvSpPr>
          <p:cNvPr id="383" name="Text 10"/>
          <p:cNvSpPr/>
          <p:nvPr/>
        </p:nvSpPr>
        <p:spPr>
          <a:xfrm>
            <a:off x="579240" y="911415"/>
            <a:ext cx="7491610" cy="21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400" b="0" u="none" strike="noStrike">
                <a:solidFill>
                  <a:srgbClr val="FFFFFF"/>
                </a:solidFill>
                <a:effectLst/>
                <a:uFillTx/>
                <a:latin typeface="Calibri"/>
              </a:rPr>
              <a:t>PO + Dev Team. Cel sprintu + selekcja backlogu. Velocity = punkty story z poprzednich 3 sprintów.</a:t>
            </a:r>
            <a:endParaRPr lang="pl-PL" sz="1400" b="0" u="none" strike="noStrike">
              <a:solidFill>
                <a:srgbClr val="FFFFFF"/>
              </a:solidFill>
              <a:effectLst/>
              <a:uFillTx/>
              <a:latin typeface="Arial"/>
            </a:endParaRPr>
          </a:p>
        </p:txBody>
      </p:sp>
      <p:sp>
        <p:nvSpPr>
          <p:cNvPr id="384" name="Shape 11"/>
          <p:cNvSpPr/>
          <p:nvPr/>
        </p:nvSpPr>
        <p:spPr>
          <a:xfrm>
            <a:off x="384120" y="1314975"/>
            <a:ext cx="8374680" cy="71208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85" name="Shape 12"/>
          <p:cNvSpPr/>
          <p:nvPr/>
        </p:nvSpPr>
        <p:spPr>
          <a:xfrm>
            <a:off x="384120" y="1314975"/>
            <a:ext cx="63000" cy="71208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86" name="Shape 13"/>
          <p:cNvSpPr/>
          <p:nvPr/>
        </p:nvSpPr>
        <p:spPr>
          <a:xfrm>
            <a:off x="579240" y="1406415"/>
            <a:ext cx="1461960" cy="200160"/>
          </a:xfrm>
          <a:prstGeom prst="roundRect">
            <a:avLst>
              <a:gd name="adj" fmla="val 31818"/>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87" name="Text 14"/>
          <p:cNvSpPr/>
          <p:nvPr/>
        </p:nvSpPr>
        <p:spPr>
          <a:xfrm>
            <a:off x="579240" y="1406415"/>
            <a:ext cx="15476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400" b="1" u="none" strike="noStrike">
                <a:solidFill>
                  <a:srgbClr val="FFFFFF"/>
                </a:solidFill>
                <a:effectLst/>
                <a:uFillTx/>
                <a:latin typeface="Calibri"/>
              </a:rPr>
              <a:t>Daily Standup</a:t>
            </a:r>
            <a:endParaRPr lang="pl-PL" sz="1400" b="0" u="none" strike="noStrike">
              <a:solidFill>
                <a:srgbClr val="FFFFFF"/>
              </a:solidFill>
              <a:effectLst/>
              <a:uFillTx/>
              <a:latin typeface="Arial"/>
            </a:endParaRPr>
          </a:p>
        </p:txBody>
      </p:sp>
      <p:sp>
        <p:nvSpPr>
          <p:cNvPr id="388" name="Shape 15"/>
          <p:cNvSpPr/>
          <p:nvPr/>
        </p:nvSpPr>
        <p:spPr>
          <a:xfrm>
            <a:off x="7347240" y="1406415"/>
            <a:ext cx="1262520" cy="200160"/>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89" name="Text 16"/>
          <p:cNvSpPr/>
          <p:nvPr/>
        </p:nvSpPr>
        <p:spPr>
          <a:xfrm>
            <a:off x="7366320" y="1406415"/>
            <a:ext cx="1262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15 min / dzień</a:t>
            </a:r>
            <a:endParaRPr lang="pl-PL" sz="1200" b="0" u="none" strike="noStrike">
              <a:solidFill>
                <a:srgbClr val="FFFFFF"/>
              </a:solidFill>
              <a:effectLst/>
              <a:uFillTx/>
              <a:latin typeface="Arial"/>
            </a:endParaRPr>
          </a:p>
        </p:txBody>
      </p:sp>
      <p:sp>
        <p:nvSpPr>
          <p:cNvPr id="390" name="Text 17"/>
          <p:cNvSpPr/>
          <p:nvPr/>
        </p:nvSpPr>
        <p:spPr>
          <a:xfrm>
            <a:off x="579240" y="1707015"/>
            <a:ext cx="7491610" cy="21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400" b="0" u="none" strike="noStrike" dirty="0">
                <a:solidFill>
                  <a:srgbClr val="FFFFFF"/>
                </a:solidFill>
                <a:effectLst/>
                <a:uFillTx/>
                <a:latin typeface="Calibri"/>
              </a:rPr>
              <a:t>Co robiłem? Co robię? Co blokuje? Stojąc. Bez rozwiązywania problemów on-the-spot. Parking lot.</a:t>
            </a:r>
            <a:endParaRPr lang="pl-PL" sz="1400" b="0" u="none" strike="noStrike" dirty="0">
              <a:solidFill>
                <a:srgbClr val="FFFFFF"/>
              </a:solidFill>
              <a:effectLst/>
              <a:uFillTx/>
              <a:latin typeface="Arial"/>
            </a:endParaRPr>
          </a:p>
        </p:txBody>
      </p:sp>
      <p:sp>
        <p:nvSpPr>
          <p:cNvPr id="391" name="Shape 18"/>
          <p:cNvSpPr/>
          <p:nvPr/>
        </p:nvSpPr>
        <p:spPr>
          <a:xfrm>
            <a:off x="384120" y="2110215"/>
            <a:ext cx="8374680" cy="712080"/>
          </a:xfrm>
          <a:prstGeom prst="rect">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92" name="Shape 19"/>
          <p:cNvSpPr/>
          <p:nvPr/>
        </p:nvSpPr>
        <p:spPr>
          <a:xfrm>
            <a:off x="384120" y="2110215"/>
            <a:ext cx="63000" cy="71208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93" name="Shape 20"/>
          <p:cNvSpPr/>
          <p:nvPr/>
        </p:nvSpPr>
        <p:spPr>
          <a:xfrm>
            <a:off x="579240" y="2201655"/>
            <a:ext cx="1461960" cy="200160"/>
          </a:xfrm>
          <a:prstGeom prst="roundRect">
            <a:avLst>
              <a:gd name="adj" fmla="val 31818"/>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94" name="Text 21"/>
          <p:cNvSpPr/>
          <p:nvPr/>
        </p:nvSpPr>
        <p:spPr>
          <a:xfrm>
            <a:off x="579240" y="2201655"/>
            <a:ext cx="15476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400" b="1" u="none" strike="noStrike">
                <a:solidFill>
                  <a:schemeClr val="dk1"/>
                </a:solidFill>
                <a:effectLst/>
                <a:uFillTx/>
                <a:latin typeface="Calibri"/>
              </a:rPr>
              <a:t>Sprint Review</a:t>
            </a:r>
            <a:endParaRPr lang="pl-PL" sz="1400" b="0" u="none" strike="noStrike">
              <a:solidFill>
                <a:srgbClr val="FFFFFF"/>
              </a:solidFill>
              <a:effectLst/>
              <a:uFillTx/>
              <a:latin typeface="Arial"/>
            </a:endParaRPr>
          </a:p>
        </p:txBody>
      </p:sp>
      <p:sp>
        <p:nvSpPr>
          <p:cNvPr id="395" name="Shape 22"/>
          <p:cNvSpPr/>
          <p:nvPr/>
        </p:nvSpPr>
        <p:spPr>
          <a:xfrm>
            <a:off x="7347240" y="2201655"/>
            <a:ext cx="1262520" cy="200160"/>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96" name="Text 23"/>
          <p:cNvSpPr/>
          <p:nvPr/>
        </p:nvSpPr>
        <p:spPr>
          <a:xfrm>
            <a:off x="7366320" y="2201655"/>
            <a:ext cx="1262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1h / 2 tyg.</a:t>
            </a:r>
            <a:endParaRPr lang="pl-PL" sz="1200" b="0" u="none" strike="noStrike">
              <a:solidFill>
                <a:srgbClr val="FFFFFF"/>
              </a:solidFill>
              <a:effectLst/>
              <a:uFillTx/>
              <a:latin typeface="Arial"/>
            </a:endParaRPr>
          </a:p>
        </p:txBody>
      </p:sp>
      <p:sp>
        <p:nvSpPr>
          <p:cNvPr id="397" name="Text 24"/>
          <p:cNvSpPr/>
          <p:nvPr/>
        </p:nvSpPr>
        <p:spPr>
          <a:xfrm>
            <a:off x="579240" y="2502255"/>
            <a:ext cx="7491610" cy="21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400" b="0" u="none" strike="noStrike">
                <a:solidFill>
                  <a:srgbClr val="FFFFFF"/>
                </a:solidFill>
                <a:effectLst/>
                <a:uFillTx/>
                <a:latin typeface="Calibri"/>
              </a:rPr>
              <a:t>Demo dla stakeholders. Tylko działający software. Zbieranie feedbacku. Aktualizacja backlogu.</a:t>
            </a:r>
            <a:endParaRPr lang="pl-PL" sz="1400" b="0" u="none" strike="noStrike">
              <a:solidFill>
                <a:srgbClr val="FFFFFF"/>
              </a:solidFill>
              <a:effectLst/>
              <a:uFillTx/>
              <a:latin typeface="Arial"/>
            </a:endParaRPr>
          </a:p>
        </p:txBody>
      </p:sp>
      <p:sp>
        <p:nvSpPr>
          <p:cNvPr id="398" name="Shape 25"/>
          <p:cNvSpPr/>
          <p:nvPr/>
        </p:nvSpPr>
        <p:spPr>
          <a:xfrm>
            <a:off x="384120" y="2905815"/>
            <a:ext cx="8374680" cy="712080"/>
          </a:xfrm>
          <a:prstGeom prst="rect">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399" name="Shape 26"/>
          <p:cNvSpPr/>
          <p:nvPr/>
        </p:nvSpPr>
        <p:spPr>
          <a:xfrm>
            <a:off x="384120" y="2905815"/>
            <a:ext cx="63000" cy="71208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00" name="Shape 27"/>
          <p:cNvSpPr/>
          <p:nvPr/>
        </p:nvSpPr>
        <p:spPr>
          <a:xfrm>
            <a:off x="579240" y="2997255"/>
            <a:ext cx="1461960" cy="200160"/>
          </a:xfrm>
          <a:prstGeom prst="roundRect">
            <a:avLst>
              <a:gd name="adj" fmla="val 31818"/>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01" name="Text 28"/>
          <p:cNvSpPr/>
          <p:nvPr/>
        </p:nvSpPr>
        <p:spPr>
          <a:xfrm>
            <a:off x="579240" y="2997255"/>
            <a:ext cx="15476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400" b="1" u="none" strike="noStrike">
                <a:solidFill>
                  <a:srgbClr val="FFFFFF"/>
                </a:solidFill>
                <a:effectLst/>
                <a:uFillTx/>
                <a:latin typeface="Calibri"/>
              </a:rPr>
              <a:t>Retrospective</a:t>
            </a:r>
            <a:endParaRPr lang="pl-PL" sz="1400" b="0" u="none" strike="noStrike">
              <a:solidFill>
                <a:srgbClr val="FFFFFF"/>
              </a:solidFill>
              <a:effectLst/>
              <a:uFillTx/>
              <a:latin typeface="Arial"/>
            </a:endParaRPr>
          </a:p>
        </p:txBody>
      </p:sp>
      <p:sp>
        <p:nvSpPr>
          <p:cNvPr id="402" name="Shape 29"/>
          <p:cNvSpPr/>
          <p:nvPr/>
        </p:nvSpPr>
        <p:spPr>
          <a:xfrm>
            <a:off x="7353720" y="2997255"/>
            <a:ext cx="1262520" cy="200160"/>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03" name="Text 30"/>
          <p:cNvSpPr/>
          <p:nvPr/>
        </p:nvSpPr>
        <p:spPr>
          <a:xfrm>
            <a:off x="7412040" y="2997255"/>
            <a:ext cx="11865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1.5h / 2 tyg.</a:t>
            </a:r>
            <a:endParaRPr lang="pl-PL" sz="1200" b="0" u="none" strike="noStrike">
              <a:solidFill>
                <a:srgbClr val="FFFFFF"/>
              </a:solidFill>
              <a:effectLst/>
              <a:uFillTx/>
              <a:latin typeface="Arial"/>
            </a:endParaRPr>
          </a:p>
        </p:txBody>
      </p:sp>
      <p:sp>
        <p:nvSpPr>
          <p:cNvPr id="404" name="Text 31"/>
          <p:cNvSpPr/>
          <p:nvPr/>
        </p:nvSpPr>
        <p:spPr>
          <a:xfrm>
            <a:off x="579240" y="3297855"/>
            <a:ext cx="7491610" cy="21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400" b="0" u="none" strike="noStrike">
                <a:solidFill>
                  <a:srgbClr val="FFFFFF"/>
                </a:solidFill>
                <a:effectLst/>
                <a:uFillTx/>
                <a:latin typeface="Calibri"/>
              </a:rPr>
              <a:t>Stop / Start / Continue. 4Ls (Liked/Learned/Lacked/Longed For). Action items z właścicielem.</a:t>
            </a:r>
            <a:endParaRPr lang="pl-PL" sz="1400" b="0" u="none" strike="noStrike">
              <a:solidFill>
                <a:srgbClr val="FFFFFF"/>
              </a:solidFill>
              <a:effectLst/>
              <a:uFillTx/>
              <a:latin typeface="Arial"/>
            </a:endParaRPr>
          </a:p>
        </p:txBody>
      </p:sp>
      <p:sp>
        <p:nvSpPr>
          <p:cNvPr id="405" name="Shape 32"/>
          <p:cNvSpPr/>
          <p:nvPr/>
        </p:nvSpPr>
        <p:spPr>
          <a:xfrm>
            <a:off x="384120" y="3701415"/>
            <a:ext cx="8374680" cy="712080"/>
          </a:xfrm>
          <a:prstGeom prst="rect">
            <a:avLst/>
          </a:prstGeom>
          <a:solidFill>
            <a:srgbClr val="0A2540"/>
          </a:solidFill>
          <a:ln w="889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06" name="Shape 33"/>
          <p:cNvSpPr/>
          <p:nvPr/>
        </p:nvSpPr>
        <p:spPr>
          <a:xfrm>
            <a:off x="384120" y="3701415"/>
            <a:ext cx="63000" cy="71208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07" name="Shape 34"/>
          <p:cNvSpPr/>
          <p:nvPr/>
        </p:nvSpPr>
        <p:spPr>
          <a:xfrm>
            <a:off x="579240" y="3792855"/>
            <a:ext cx="1585440" cy="200160"/>
          </a:xfrm>
          <a:prstGeom prst="roundRect">
            <a:avLst>
              <a:gd name="adj" fmla="val 31818"/>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08" name="Text 35"/>
          <p:cNvSpPr/>
          <p:nvPr/>
        </p:nvSpPr>
        <p:spPr>
          <a:xfrm>
            <a:off x="579240" y="3792855"/>
            <a:ext cx="15476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400" b="1" u="none" strike="noStrike">
                <a:solidFill>
                  <a:srgbClr val="000000"/>
                </a:solidFill>
                <a:effectLst/>
                <a:uFillTx/>
                <a:latin typeface="Calibri"/>
              </a:rPr>
              <a:t>Backlog Refinement</a:t>
            </a:r>
            <a:endParaRPr lang="pl-PL" sz="1400" b="0" u="none" strike="noStrike">
              <a:solidFill>
                <a:srgbClr val="FFFFFF"/>
              </a:solidFill>
              <a:effectLst/>
              <a:uFillTx/>
              <a:latin typeface="Arial"/>
            </a:endParaRPr>
          </a:p>
        </p:txBody>
      </p:sp>
      <p:sp>
        <p:nvSpPr>
          <p:cNvPr id="409" name="Shape 36"/>
          <p:cNvSpPr/>
          <p:nvPr/>
        </p:nvSpPr>
        <p:spPr>
          <a:xfrm>
            <a:off x="7353720" y="3792855"/>
            <a:ext cx="1232280" cy="200160"/>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10" name="Text 37"/>
          <p:cNvSpPr/>
          <p:nvPr/>
        </p:nvSpPr>
        <p:spPr>
          <a:xfrm>
            <a:off x="7412040" y="3792855"/>
            <a:ext cx="11865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1h / tyg.</a:t>
            </a:r>
            <a:endParaRPr lang="pl-PL" sz="1200" b="0" u="none" strike="noStrike">
              <a:solidFill>
                <a:srgbClr val="FFFFFF"/>
              </a:solidFill>
              <a:effectLst/>
              <a:uFillTx/>
              <a:latin typeface="Arial"/>
            </a:endParaRPr>
          </a:p>
        </p:txBody>
      </p:sp>
      <p:sp>
        <p:nvSpPr>
          <p:cNvPr id="411" name="Text 38"/>
          <p:cNvSpPr/>
          <p:nvPr/>
        </p:nvSpPr>
        <p:spPr>
          <a:xfrm>
            <a:off x="579240" y="4093455"/>
            <a:ext cx="7491610" cy="219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400" b="0" u="none" strike="noStrike">
                <a:solidFill>
                  <a:srgbClr val="FFFFFF"/>
                </a:solidFill>
                <a:effectLst/>
                <a:uFillTx/>
                <a:latin typeface="Calibri"/>
              </a:rPr>
              <a:t>PO + Tech Lead. Story pointing (Fibonacci). Kryterium akceptacji (Given/When/Then). Dekompozycja.</a:t>
            </a:r>
            <a:endParaRPr lang="pl-PL" sz="1400" b="0" u="none" strike="noStrike">
              <a:solidFill>
                <a:srgbClr val="FFFFFF"/>
              </a:solidFill>
              <a:effectLst/>
              <a:uFillTx/>
              <a:latin typeface="Arial"/>
            </a:endParaRPr>
          </a:p>
        </p:txBody>
      </p:sp>
      <p:sp>
        <p:nvSpPr>
          <p:cNvPr id="412" name="Shape 39"/>
          <p:cNvSpPr/>
          <p:nvPr/>
        </p:nvSpPr>
        <p:spPr>
          <a:xfrm>
            <a:off x="384120" y="4555080"/>
            <a:ext cx="8374680" cy="318960"/>
          </a:xfrm>
          <a:prstGeom prst="rect">
            <a:avLst/>
          </a:prstGeom>
          <a:solidFill>
            <a:srgbClr val="102040"/>
          </a:solidFill>
          <a:ln w="635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13" name="Text 40"/>
          <p:cNvSpPr/>
          <p:nvPr/>
        </p:nvSpPr>
        <p:spPr>
          <a:xfrm>
            <a:off x="502920" y="4555080"/>
            <a:ext cx="822852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000" b="0" u="none" strike="noStrike" spc="-20" dirty="0">
                <a:solidFill>
                  <a:srgbClr val="8ECAE6"/>
                </a:solidFill>
                <a:effectLst/>
                <a:uFillTx/>
                <a:latin typeface="Calibri"/>
              </a:rPr>
              <a:t>Dynamika zespołu (5 </a:t>
            </a:r>
            <a:r>
              <a:rPr lang="pl-PL" sz="1000" b="0" u="none" strike="noStrike" spc="-20" dirty="0" err="1">
                <a:solidFill>
                  <a:srgbClr val="8ECAE6"/>
                </a:solidFill>
                <a:effectLst/>
                <a:uFillTx/>
                <a:latin typeface="Calibri"/>
              </a:rPr>
              <a:t>dev</a:t>
            </a:r>
            <a:r>
              <a:rPr lang="pl-PL" sz="1000" b="0" u="none" strike="noStrike" spc="-20" dirty="0">
                <a:solidFill>
                  <a:srgbClr val="8ECAE6"/>
                </a:solidFill>
                <a:effectLst/>
                <a:uFillTx/>
                <a:latin typeface="Calibri"/>
              </a:rPr>
              <a:t>): ~40-80 story </a:t>
            </a:r>
            <a:r>
              <a:rPr lang="pl-PL" sz="1000" b="0" u="none" strike="noStrike" spc="-20" dirty="0" err="1">
                <a:solidFill>
                  <a:srgbClr val="8ECAE6"/>
                </a:solidFill>
                <a:effectLst/>
                <a:uFillTx/>
                <a:latin typeface="Calibri"/>
              </a:rPr>
              <a:t>points</a:t>
            </a:r>
            <a:r>
              <a:rPr lang="pl-PL" sz="1000" b="0" u="none" strike="noStrike" spc="-20" dirty="0">
                <a:solidFill>
                  <a:srgbClr val="8ECAE6"/>
                </a:solidFill>
                <a:effectLst/>
                <a:uFillTx/>
                <a:latin typeface="Calibri"/>
              </a:rPr>
              <a:t>/sprint. Sprint 1 zawsze wolniejszy (setup CI/CD, architektura). Mierz, nie estymuj godzinami (</a:t>
            </a:r>
            <a:r>
              <a:rPr lang="pl-PL" sz="1000" b="1" u="none" strike="noStrike" spc="-20" dirty="0">
                <a:solidFill>
                  <a:srgbClr val="8ECAE6"/>
                </a:solidFill>
                <a:effectLst/>
                <a:uFillTx/>
                <a:latin typeface="Calibri"/>
              </a:rPr>
              <a:t>prawo </a:t>
            </a:r>
            <a:r>
              <a:rPr lang="pl-PL" sz="1000" b="1" u="none" strike="noStrike" spc="-20" dirty="0" err="1">
                <a:solidFill>
                  <a:srgbClr val="8ECAE6"/>
                </a:solidFill>
                <a:effectLst/>
                <a:uFillTx/>
                <a:latin typeface="Calibri"/>
              </a:rPr>
              <a:t>Hofstadtera</a:t>
            </a:r>
            <a:r>
              <a:rPr lang="pl-PL" sz="1000" b="0" u="none" strike="noStrike" spc="-20" dirty="0">
                <a:solidFill>
                  <a:srgbClr val="8ECAE6"/>
                </a:solidFill>
                <a:effectLst/>
                <a:uFillTx/>
                <a:latin typeface="Calibri"/>
              </a:rPr>
              <a:t>)</a:t>
            </a:r>
            <a:endParaRPr lang="pl-PL" sz="1000" b="0" u="none" strike="noStrike" dirty="0">
              <a:solidFill>
                <a:srgbClr val="FFFFFF"/>
              </a:solidFill>
              <a:effectLst/>
              <a:uFillTx/>
              <a:latin typeface="Arial"/>
            </a:endParaRPr>
          </a:p>
        </p:txBody>
      </p:sp>
      <p:sp>
        <p:nvSpPr>
          <p:cNvPr id="414" name="Shape 41"/>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15" name="Text 44"/>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12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416" name="Shape 0"/>
          <p:cNvSpPr/>
          <p:nvPr/>
        </p:nvSpPr>
        <p:spPr>
          <a:xfrm>
            <a:off x="384120" y="118800"/>
            <a:ext cx="639000" cy="218520"/>
          </a:xfrm>
          <a:prstGeom prst="roundRect">
            <a:avLst>
              <a:gd name="adj" fmla="val 33333"/>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17" name="Text 1"/>
          <p:cNvSpPr/>
          <p:nvPr/>
        </p:nvSpPr>
        <p:spPr>
          <a:xfrm>
            <a:off x="384120" y="118800"/>
            <a:ext cx="63900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4.2</a:t>
            </a:r>
            <a:endParaRPr lang="pl-PL" sz="1200" b="0" u="none" strike="noStrike">
              <a:solidFill>
                <a:srgbClr val="FFFFFF"/>
              </a:solidFill>
              <a:effectLst/>
              <a:uFillTx/>
              <a:latin typeface="Arial"/>
            </a:endParaRPr>
          </a:p>
        </p:txBody>
      </p:sp>
      <p:sp>
        <p:nvSpPr>
          <p:cNvPr id="418" name="Text 2"/>
          <p:cNvSpPr/>
          <p:nvPr/>
        </p:nvSpPr>
        <p:spPr>
          <a:xfrm>
            <a:off x="1134000" y="73080"/>
            <a:ext cx="7588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a:solidFill>
                  <a:srgbClr val="FFFFFF"/>
                </a:solidFill>
                <a:effectLst/>
                <a:uFillTx/>
                <a:latin typeface="Calibri"/>
              </a:rPr>
              <a:t>Kanban, SAFe i porównanie metodyk:</a:t>
            </a:r>
            <a:r>
              <a:rPr lang="en-US" sz="2000" b="1" u="none" strike="noStrike">
                <a:solidFill>
                  <a:srgbClr val="FFFFFF"/>
                </a:solidFill>
                <a:effectLst/>
                <a:uFillTx/>
                <a:latin typeface="Calibri"/>
              </a:rPr>
              <a:t> </a:t>
            </a:r>
            <a:r>
              <a:rPr lang="en-US" sz="2000" b="0" u="none" strike="noStrike">
                <a:solidFill>
                  <a:srgbClr val="FFFFFF"/>
                </a:solidFill>
                <a:effectLst/>
                <a:uFillTx/>
                <a:latin typeface="Calibri"/>
              </a:rPr>
              <a:t>kiedy co stosować</a:t>
            </a:r>
            <a:endParaRPr lang="pl-PL" sz="2000" b="0" u="none" strike="noStrike">
              <a:solidFill>
                <a:srgbClr val="FFFFFF"/>
              </a:solidFill>
              <a:effectLst/>
              <a:uFillTx/>
              <a:latin typeface="Arial"/>
            </a:endParaRPr>
          </a:p>
        </p:txBody>
      </p:sp>
      <p:sp>
        <p:nvSpPr>
          <p:cNvPr id="419"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420" name="Text 4"/>
          <p:cNvSpPr/>
          <p:nvPr/>
        </p:nvSpPr>
        <p:spPr>
          <a:xfrm>
            <a:off x="429840" y="657720"/>
            <a:ext cx="293724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FFFFFF"/>
                </a:solidFill>
                <a:effectLst/>
                <a:uFillTx/>
                <a:latin typeface="Calibri"/>
              </a:rPr>
              <a:t>Kanban board</a:t>
            </a:r>
            <a:r>
              <a:rPr lang="pl-PL" sz="1400" b="1" u="none" strike="noStrike">
                <a:solidFill>
                  <a:srgbClr val="FFFFFF"/>
                </a:solidFill>
                <a:effectLst/>
                <a:uFillTx/>
                <a:latin typeface="Calibri"/>
              </a:rPr>
              <a:t>:</a:t>
            </a:r>
            <a:r>
              <a:rPr lang="en-US" sz="1400" b="1" u="none" strike="noStrike">
                <a:solidFill>
                  <a:srgbClr val="FFFFFF"/>
                </a:solidFill>
                <a:effectLst/>
                <a:uFillTx/>
                <a:latin typeface="Calibri"/>
              </a:rPr>
              <a:t> </a:t>
            </a:r>
            <a:r>
              <a:rPr lang="en-US" sz="1400" b="0" u="none" strike="noStrike">
                <a:solidFill>
                  <a:srgbClr val="FFFFFF"/>
                </a:solidFill>
                <a:effectLst/>
                <a:uFillTx/>
                <a:latin typeface="Calibri"/>
              </a:rPr>
              <a:t>przykład dla mobile</a:t>
            </a:r>
            <a:endParaRPr lang="pl-PL" sz="1400" b="0" u="none" strike="noStrike">
              <a:solidFill>
                <a:srgbClr val="FFFFFF"/>
              </a:solidFill>
              <a:effectLst/>
              <a:uFillTx/>
              <a:latin typeface="Arial"/>
            </a:endParaRPr>
          </a:p>
        </p:txBody>
      </p:sp>
      <p:sp>
        <p:nvSpPr>
          <p:cNvPr id="421" name="Shape 5"/>
          <p:cNvSpPr/>
          <p:nvPr/>
        </p:nvSpPr>
        <p:spPr>
          <a:xfrm>
            <a:off x="432000" y="959760"/>
            <a:ext cx="1837440" cy="273240"/>
          </a:xfrm>
          <a:prstGeom prst="rect">
            <a:avLst/>
          </a:prstGeom>
          <a:solidFill>
            <a:srgbClr val="5A8FAA"/>
          </a:solidFill>
          <a:ln w="12700">
            <a:solidFill>
              <a:srgbClr val="5A8FA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22" name="Text 6"/>
          <p:cNvSpPr/>
          <p:nvPr/>
        </p:nvSpPr>
        <p:spPr>
          <a:xfrm>
            <a:off x="384120" y="959760"/>
            <a:ext cx="19209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rPr>
              <a:t>Backlog · WIP: ∞</a:t>
            </a:r>
            <a:endParaRPr lang="pl-PL" sz="1600" b="0" u="none" strike="noStrike">
              <a:solidFill>
                <a:srgbClr val="FFFFFF"/>
              </a:solidFill>
              <a:effectLst/>
              <a:uFillTx/>
              <a:latin typeface="Arial"/>
            </a:endParaRPr>
          </a:p>
        </p:txBody>
      </p:sp>
      <p:sp>
        <p:nvSpPr>
          <p:cNvPr id="423" name="Shape 13"/>
          <p:cNvSpPr/>
          <p:nvPr/>
        </p:nvSpPr>
        <p:spPr>
          <a:xfrm>
            <a:off x="2728080" y="959760"/>
            <a:ext cx="1925280" cy="27324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24" name="Text 14"/>
          <p:cNvSpPr/>
          <p:nvPr/>
        </p:nvSpPr>
        <p:spPr>
          <a:xfrm>
            <a:off x="2728080" y="959760"/>
            <a:ext cx="19252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dirty="0">
                <a:solidFill>
                  <a:srgbClr val="FFFFFF"/>
                </a:solidFill>
                <a:effectLst/>
                <a:uFillTx/>
                <a:latin typeface="Calibri"/>
              </a:rPr>
              <a:t>In Progress · WIP: 2</a:t>
            </a:r>
            <a:endParaRPr lang="pl-PL" sz="1600" b="0" u="none" strike="noStrike" dirty="0">
              <a:solidFill>
                <a:srgbClr val="FFFFFF"/>
              </a:solidFill>
              <a:effectLst/>
              <a:uFillTx/>
              <a:latin typeface="Arial"/>
            </a:endParaRPr>
          </a:p>
        </p:txBody>
      </p:sp>
      <p:sp>
        <p:nvSpPr>
          <p:cNvPr id="425" name="Shape 19"/>
          <p:cNvSpPr/>
          <p:nvPr/>
        </p:nvSpPr>
        <p:spPr>
          <a:xfrm>
            <a:off x="5024160" y="959760"/>
            <a:ext cx="1797480" cy="27324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26" name="Text 20"/>
          <p:cNvSpPr/>
          <p:nvPr/>
        </p:nvSpPr>
        <p:spPr>
          <a:xfrm>
            <a:off x="4976640" y="959760"/>
            <a:ext cx="1879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rPr>
              <a:t>Review · WIP: 1</a:t>
            </a:r>
            <a:endParaRPr lang="pl-PL" sz="1600" b="0" u="none" strike="noStrike">
              <a:solidFill>
                <a:srgbClr val="FFFFFF"/>
              </a:solidFill>
              <a:effectLst/>
              <a:uFillTx/>
              <a:latin typeface="Arial"/>
            </a:endParaRPr>
          </a:p>
        </p:txBody>
      </p:sp>
      <p:sp>
        <p:nvSpPr>
          <p:cNvPr id="427" name="Shape 23"/>
          <p:cNvSpPr/>
          <p:nvPr/>
        </p:nvSpPr>
        <p:spPr>
          <a:xfrm>
            <a:off x="7169040" y="959760"/>
            <a:ext cx="1566360" cy="27324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28" name="Text 24"/>
          <p:cNvSpPr/>
          <p:nvPr/>
        </p:nvSpPr>
        <p:spPr>
          <a:xfrm>
            <a:off x="7121160" y="959760"/>
            <a:ext cx="16376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rPr>
              <a:t>Done · WIP: ∞</a:t>
            </a:r>
            <a:endParaRPr lang="pl-PL" sz="1600" b="0" u="none" strike="noStrike">
              <a:solidFill>
                <a:srgbClr val="FFFFFF"/>
              </a:solidFill>
              <a:effectLst/>
              <a:uFillTx/>
              <a:latin typeface="Arial"/>
            </a:endParaRPr>
          </a:p>
        </p:txBody>
      </p:sp>
      <p:sp>
        <p:nvSpPr>
          <p:cNvPr id="429" name="Shape 7"/>
          <p:cNvSpPr/>
          <p:nvPr/>
        </p:nvSpPr>
        <p:spPr>
          <a:xfrm>
            <a:off x="432000" y="1261440"/>
            <a:ext cx="1837440" cy="292680"/>
          </a:xfrm>
          <a:prstGeom prst="rect">
            <a:avLst/>
          </a:prstGeom>
          <a:solidFill>
            <a:srgbClr val="0A2540"/>
          </a:solidFill>
          <a:ln w="6350">
            <a:solidFill>
              <a:srgbClr val="5A8FA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30" name="Text 8"/>
          <p:cNvSpPr/>
          <p:nvPr/>
        </p:nvSpPr>
        <p:spPr>
          <a:xfrm>
            <a:off x="527400" y="1261440"/>
            <a:ext cx="1670400" cy="29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Push notifications</a:t>
            </a:r>
            <a:endParaRPr lang="pl-PL" sz="1600" b="0" u="none" strike="noStrike">
              <a:solidFill>
                <a:srgbClr val="FFFFFF"/>
              </a:solidFill>
              <a:effectLst/>
              <a:uFillTx/>
              <a:latin typeface="Arial"/>
            </a:endParaRPr>
          </a:p>
        </p:txBody>
      </p:sp>
      <p:sp>
        <p:nvSpPr>
          <p:cNvPr id="431" name="Shape 9"/>
          <p:cNvSpPr/>
          <p:nvPr/>
        </p:nvSpPr>
        <p:spPr>
          <a:xfrm>
            <a:off x="432000" y="1608480"/>
            <a:ext cx="1837440" cy="292680"/>
          </a:xfrm>
          <a:prstGeom prst="rect">
            <a:avLst/>
          </a:prstGeom>
          <a:solidFill>
            <a:srgbClr val="0A2540"/>
          </a:solidFill>
          <a:ln w="6350">
            <a:solidFill>
              <a:srgbClr val="5A8FA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32" name="Text 10"/>
          <p:cNvSpPr/>
          <p:nvPr/>
        </p:nvSpPr>
        <p:spPr>
          <a:xfrm>
            <a:off x="527400" y="1608480"/>
            <a:ext cx="1670400" cy="29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Dark mode</a:t>
            </a:r>
            <a:endParaRPr lang="pl-PL" sz="1600" b="0" u="none" strike="noStrike">
              <a:solidFill>
                <a:srgbClr val="FFFFFF"/>
              </a:solidFill>
              <a:effectLst/>
              <a:uFillTx/>
              <a:latin typeface="Arial"/>
            </a:endParaRPr>
          </a:p>
        </p:txBody>
      </p:sp>
      <p:sp>
        <p:nvSpPr>
          <p:cNvPr id="433" name="Shape 11"/>
          <p:cNvSpPr/>
          <p:nvPr/>
        </p:nvSpPr>
        <p:spPr>
          <a:xfrm>
            <a:off x="432000" y="1955160"/>
            <a:ext cx="1837440" cy="292680"/>
          </a:xfrm>
          <a:prstGeom prst="rect">
            <a:avLst/>
          </a:prstGeom>
          <a:solidFill>
            <a:srgbClr val="0A2540"/>
          </a:solidFill>
          <a:ln w="6350">
            <a:solidFill>
              <a:srgbClr val="5A8FA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34" name="Text 12"/>
          <p:cNvSpPr/>
          <p:nvPr/>
        </p:nvSpPr>
        <p:spPr>
          <a:xfrm>
            <a:off x="527400" y="1955160"/>
            <a:ext cx="1670400" cy="29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iPad layout</a:t>
            </a:r>
            <a:endParaRPr lang="pl-PL" sz="1600" b="0" u="none" strike="noStrike">
              <a:solidFill>
                <a:srgbClr val="FFFFFF"/>
              </a:solidFill>
              <a:effectLst/>
              <a:uFillTx/>
              <a:latin typeface="Arial"/>
            </a:endParaRPr>
          </a:p>
        </p:txBody>
      </p:sp>
      <p:sp>
        <p:nvSpPr>
          <p:cNvPr id="435" name="Shape 15"/>
          <p:cNvSpPr/>
          <p:nvPr/>
        </p:nvSpPr>
        <p:spPr>
          <a:xfrm>
            <a:off x="2728080" y="1261440"/>
            <a:ext cx="1925280" cy="292680"/>
          </a:xfrm>
          <a:prstGeom prst="rect">
            <a:avLst/>
          </a:prstGeom>
          <a:solidFill>
            <a:srgbClr val="0A25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36" name="Text 16"/>
          <p:cNvSpPr/>
          <p:nvPr/>
        </p:nvSpPr>
        <p:spPr>
          <a:xfrm>
            <a:off x="2823840" y="1261440"/>
            <a:ext cx="1749960" cy="29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Auth flow</a:t>
            </a:r>
            <a:endParaRPr lang="pl-PL" sz="1600" b="0" u="none" strike="noStrike">
              <a:solidFill>
                <a:srgbClr val="FFFFFF"/>
              </a:solidFill>
              <a:effectLst/>
              <a:uFillTx/>
              <a:latin typeface="Arial"/>
            </a:endParaRPr>
          </a:p>
        </p:txBody>
      </p:sp>
      <p:sp>
        <p:nvSpPr>
          <p:cNvPr id="437" name="Shape 17"/>
          <p:cNvSpPr/>
          <p:nvPr/>
        </p:nvSpPr>
        <p:spPr>
          <a:xfrm>
            <a:off x="2728080" y="1608480"/>
            <a:ext cx="1925280" cy="292680"/>
          </a:xfrm>
          <a:prstGeom prst="rect">
            <a:avLst/>
          </a:prstGeom>
          <a:solidFill>
            <a:srgbClr val="0A25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38" name="Text 18"/>
          <p:cNvSpPr/>
          <p:nvPr/>
        </p:nvSpPr>
        <p:spPr>
          <a:xfrm>
            <a:off x="2823840" y="1608480"/>
            <a:ext cx="1749960" cy="29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API cache layer</a:t>
            </a:r>
            <a:endParaRPr lang="pl-PL" sz="1600" b="0" u="none" strike="noStrike">
              <a:solidFill>
                <a:srgbClr val="FFFFFF"/>
              </a:solidFill>
              <a:effectLst/>
              <a:uFillTx/>
              <a:latin typeface="Arial"/>
            </a:endParaRPr>
          </a:p>
        </p:txBody>
      </p:sp>
      <p:sp>
        <p:nvSpPr>
          <p:cNvPr id="439" name="Shape 21"/>
          <p:cNvSpPr/>
          <p:nvPr/>
        </p:nvSpPr>
        <p:spPr>
          <a:xfrm>
            <a:off x="5024160" y="1261440"/>
            <a:ext cx="1797480" cy="292680"/>
          </a:xfrm>
          <a:prstGeom prst="rect">
            <a:avLst/>
          </a:prstGeom>
          <a:solidFill>
            <a:srgbClr val="0A2540"/>
          </a:solidFill>
          <a:ln w="635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40" name="Text 22"/>
          <p:cNvSpPr/>
          <p:nvPr/>
        </p:nvSpPr>
        <p:spPr>
          <a:xfrm>
            <a:off x="5119920" y="1261440"/>
            <a:ext cx="1634040" cy="29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Login screen UI</a:t>
            </a:r>
            <a:endParaRPr lang="pl-PL" sz="1600" b="0" u="none" strike="noStrike">
              <a:solidFill>
                <a:srgbClr val="FFFFFF"/>
              </a:solidFill>
              <a:effectLst/>
              <a:uFillTx/>
              <a:latin typeface="Arial"/>
            </a:endParaRPr>
          </a:p>
        </p:txBody>
      </p:sp>
      <p:sp>
        <p:nvSpPr>
          <p:cNvPr id="441" name="Shape 25"/>
          <p:cNvSpPr/>
          <p:nvPr/>
        </p:nvSpPr>
        <p:spPr>
          <a:xfrm>
            <a:off x="7169040" y="1261440"/>
            <a:ext cx="1566360" cy="292680"/>
          </a:xfrm>
          <a:prstGeom prst="rect">
            <a:avLst/>
          </a:prstGeom>
          <a:solidFill>
            <a:srgbClr val="0A2540"/>
          </a:solidFill>
          <a:ln w="635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42" name="Text 26"/>
          <p:cNvSpPr/>
          <p:nvPr/>
        </p:nvSpPr>
        <p:spPr>
          <a:xfrm>
            <a:off x="7264800" y="1261440"/>
            <a:ext cx="1423800" cy="29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Onboarding</a:t>
            </a:r>
            <a:endParaRPr lang="pl-PL" sz="1600" b="0" u="none" strike="noStrike">
              <a:solidFill>
                <a:srgbClr val="FFFFFF"/>
              </a:solidFill>
              <a:effectLst/>
              <a:uFillTx/>
              <a:latin typeface="Arial"/>
            </a:endParaRPr>
          </a:p>
        </p:txBody>
      </p:sp>
      <p:sp>
        <p:nvSpPr>
          <p:cNvPr id="443" name="Shape 27"/>
          <p:cNvSpPr/>
          <p:nvPr/>
        </p:nvSpPr>
        <p:spPr>
          <a:xfrm>
            <a:off x="7169040" y="1608480"/>
            <a:ext cx="1566360" cy="292680"/>
          </a:xfrm>
          <a:prstGeom prst="rect">
            <a:avLst/>
          </a:prstGeom>
          <a:solidFill>
            <a:srgbClr val="0A2540"/>
          </a:solidFill>
          <a:ln w="635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44" name="Text 28"/>
          <p:cNvSpPr/>
          <p:nvPr/>
        </p:nvSpPr>
        <p:spPr>
          <a:xfrm>
            <a:off x="7264800" y="1608480"/>
            <a:ext cx="1423800" cy="29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Home screen</a:t>
            </a:r>
            <a:endParaRPr lang="pl-PL" sz="1600" b="0" u="none" strike="noStrike">
              <a:solidFill>
                <a:srgbClr val="FFFFFF"/>
              </a:solidFill>
              <a:effectLst/>
              <a:uFillTx/>
              <a:latin typeface="Arial"/>
            </a:endParaRPr>
          </a:p>
        </p:txBody>
      </p:sp>
      <p:sp>
        <p:nvSpPr>
          <p:cNvPr id="445" name="Text 29"/>
          <p:cNvSpPr/>
          <p:nvPr/>
        </p:nvSpPr>
        <p:spPr>
          <a:xfrm>
            <a:off x="384120" y="2651760"/>
            <a:ext cx="34783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dirty="0">
                <a:solidFill>
                  <a:srgbClr val="FFFFFF"/>
                </a:solidFill>
                <a:effectLst/>
                <a:uFillTx/>
                <a:latin typeface="Calibri"/>
              </a:rPr>
              <a:t>Porównanie metodyk:</a:t>
            </a:r>
            <a:r>
              <a:rPr lang="en-US" sz="1600" b="1" u="none" strike="noStrike" dirty="0">
                <a:solidFill>
                  <a:srgbClr val="FFFFFF"/>
                </a:solidFill>
                <a:effectLst/>
                <a:uFillTx/>
                <a:latin typeface="Calibri"/>
              </a:rPr>
              <a:t> </a:t>
            </a:r>
            <a:r>
              <a:rPr lang="en-US" sz="1600" b="0" u="none" strike="noStrike" dirty="0" err="1">
                <a:solidFill>
                  <a:srgbClr val="FFFFFF"/>
                </a:solidFill>
                <a:effectLst/>
                <a:uFillTx/>
                <a:latin typeface="Calibri"/>
              </a:rPr>
              <a:t>wybór</a:t>
            </a:r>
            <a:r>
              <a:rPr lang="en-US" sz="1600" b="0" u="none" strike="noStrike" dirty="0">
                <a:solidFill>
                  <a:srgbClr val="FFFFFF"/>
                </a:solidFill>
                <a:effectLst/>
                <a:uFillTx/>
                <a:latin typeface="Calibri"/>
              </a:rPr>
              <a:t> </a:t>
            </a:r>
            <a:r>
              <a:rPr lang="en-US" sz="1600" b="0" u="none" strike="noStrike" dirty="0" err="1">
                <a:solidFill>
                  <a:srgbClr val="FFFFFF"/>
                </a:solidFill>
                <a:effectLst/>
                <a:uFillTx/>
                <a:latin typeface="Calibri"/>
              </a:rPr>
              <a:t>dla</a:t>
            </a:r>
            <a:r>
              <a:rPr lang="en-US" sz="1600" b="0" u="none" strike="noStrike" dirty="0">
                <a:solidFill>
                  <a:srgbClr val="FFFFFF"/>
                </a:solidFill>
                <a:effectLst/>
                <a:uFillTx/>
                <a:latin typeface="Calibri"/>
              </a:rPr>
              <a:t> </a:t>
            </a:r>
            <a:r>
              <a:rPr lang="en-US" sz="1600" b="0" u="none" strike="noStrike" dirty="0" err="1">
                <a:solidFill>
                  <a:srgbClr val="FFFFFF"/>
                </a:solidFill>
                <a:effectLst/>
                <a:uFillTx/>
                <a:latin typeface="Calibri"/>
              </a:rPr>
              <a:t>projektu</a:t>
            </a:r>
            <a:endParaRPr lang="pl-PL" sz="1600" b="0" u="none" strike="noStrike" dirty="0">
              <a:solidFill>
                <a:srgbClr val="FFFFFF"/>
              </a:solidFill>
              <a:effectLst/>
              <a:uFillTx/>
              <a:latin typeface="Arial"/>
            </a:endParaRPr>
          </a:p>
        </p:txBody>
      </p:sp>
      <p:sp>
        <p:nvSpPr>
          <p:cNvPr id="446" name="Shape 30"/>
          <p:cNvSpPr/>
          <p:nvPr/>
        </p:nvSpPr>
        <p:spPr>
          <a:xfrm>
            <a:off x="384120" y="2910960"/>
            <a:ext cx="2664000" cy="273240"/>
          </a:xfrm>
          <a:prstGeom prst="rect">
            <a:avLst/>
          </a:prstGeom>
          <a:solidFill>
            <a:srgbClr val="1A3350"/>
          </a:solidFill>
          <a:ln w="635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47" name="Text 31"/>
          <p:cNvSpPr/>
          <p:nvPr/>
        </p:nvSpPr>
        <p:spPr>
          <a:xfrm>
            <a:off x="450720" y="2910960"/>
            <a:ext cx="2530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chemeClr val="lt2"/>
                </a:solidFill>
                <a:effectLst/>
                <a:uFillTx/>
                <a:latin typeface="Calibri"/>
              </a:rPr>
              <a:t>Kryterium</a:t>
            </a:r>
            <a:endParaRPr lang="pl-PL" sz="1800" b="0" u="none" strike="noStrike">
              <a:solidFill>
                <a:srgbClr val="FFFFFF"/>
              </a:solidFill>
              <a:effectLst/>
              <a:uFillTx/>
              <a:latin typeface="Arial"/>
            </a:endParaRPr>
          </a:p>
        </p:txBody>
      </p:sp>
      <p:sp>
        <p:nvSpPr>
          <p:cNvPr id="448" name="Shape 38"/>
          <p:cNvSpPr/>
          <p:nvPr/>
        </p:nvSpPr>
        <p:spPr>
          <a:xfrm>
            <a:off x="384120" y="3185280"/>
            <a:ext cx="2664000" cy="3189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49" name="Text 39"/>
          <p:cNvSpPr/>
          <p:nvPr/>
        </p:nvSpPr>
        <p:spPr>
          <a:xfrm>
            <a:off x="450720" y="3185280"/>
            <a:ext cx="25308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lt2"/>
                </a:solidFill>
                <a:effectLst/>
                <a:uFillTx/>
                <a:latin typeface="Calibri"/>
              </a:rPr>
              <a:t>Rozmiar zespołu</a:t>
            </a:r>
            <a:endParaRPr lang="pl-PL" sz="1600" b="0" u="none" strike="noStrike">
              <a:solidFill>
                <a:srgbClr val="FFFFFF"/>
              </a:solidFill>
              <a:effectLst/>
              <a:uFillTx/>
              <a:latin typeface="Arial"/>
            </a:endParaRPr>
          </a:p>
        </p:txBody>
      </p:sp>
      <p:sp>
        <p:nvSpPr>
          <p:cNvPr id="450" name="Shape 40"/>
          <p:cNvSpPr/>
          <p:nvPr/>
        </p:nvSpPr>
        <p:spPr>
          <a:xfrm>
            <a:off x="3049200" y="3185280"/>
            <a:ext cx="1902600" cy="3189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51" name="Text 41"/>
          <p:cNvSpPr/>
          <p:nvPr/>
        </p:nvSpPr>
        <p:spPr>
          <a:xfrm>
            <a:off x="3115800" y="318528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dirty="0">
                <a:solidFill>
                  <a:srgbClr val="7C4DFF"/>
                </a:solidFill>
                <a:effectLst/>
                <a:uFillTx/>
                <a:latin typeface="Calibri"/>
              </a:rPr>
              <a:t>5–9 </a:t>
            </a:r>
            <a:r>
              <a:rPr lang="en-US" sz="1400" b="0" u="none" strike="noStrike" dirty="0" err="1">
                <a:solidFill>
                  <a:srgbClr val="7C4DFF"/>
                </a:solidFill>
                <a:effectLst/>
                <a:uFillTx/>
                <a:latin typeface="Calibri"/>
              </a:rPr>
              <a:t>osób</a:t>
            </a:r>
            <a:endParaRPr lang="pl-PL" sz="1400" b="0" u="none" strike="noStrike" dirty="0">
              <a:solidFill>
                <a:srgbClr val="FFFFFF"/>
              </a:solidFill>
              <a:effectLst/>
              <a:uFillTx/>
              <a:latin typeface="Arial"/>
            </a:endParaRPr>
          </a:p>
        </p:txBody>
      </p:sp>
      <p:sp>
        <p:nvSpPr>
          <p:cNvPr id="452" name="Shape 42"/>
          <p:cNvSpPr/>
          <p:nvPr/>
        </p:nvSpPr>
        <p:spPr>
          <a:xfrm>
            <a:off x="4952880" y="3185280"/>
            <a:ext cx="1902600" cy="3189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53" name="Text 43"/>
          <p:cNvSpPr/>
          <p:nvPr/>
        </p:nvSpPr>
        <p:spPr>
          <a:xfrm>
            <a:off x="5019480" y="318528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7043"/>
                </a:solidFill>
                <a:effectLst/>
                <a:uFillTx/>
                <a:latin typeface="Calibri"/>
              </a:rPr>
              <a:t>1–50+ osób</a:t>
            </a:r>
            <a:endParaRPr lang="pl-PL" sz="1400" b="0" u="none" strike="noStrike">
              <a:solidFill>
                <a:srgbClr val="FFFFFF"/>
              </a:solidFill>
              <a:effectLst/>
              <a:uFillTx/>
              <a:latin typeface="Arial"/>
            </a:endParaRPr>
          </a:p>
        </p:txBody>
      </p:sp>
      <p:sp>
        <p:nvSpPr>
          <p:cNvPr id="454" name="Shape 44"/>
          <p:cNvSpPr/>
          <p:nvPr/>
        </p:nvSpPr>
        <p:spPr>
          <a:xfrm>
            <a:off x="6856200" y="3185280"/>
            <a:ext cx="1902600" cy="3189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55" name="Text 45"/>
          <p:cNvSpPr/>
          <p:nvPr/>
        </p:nvSpPr>
        <p:spPr>
          <a:xfrm>
            <a:off x="6922800" y="318528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00BCD4"/>
                </a:solidFill>
                <a:effectLst/>
                <a:uFillTx/>
                <a:latin typeface="Calibri"/>
              </a:rPr>
              <a:t>50–5000 osób</a:t>
            </a:r>
            <a:endParaRPr lang="pl-PL" sz="1400" b="0" u="none" strike="noStrike">
              <a:solidFill>
                <a:srgbClr val="FFFFFF"/>
              </a:solidFill>
              <a:effectLst/>
              <a:uFillTx/>
              <a:latin typeface="Arial"/>
            </a:endParaRPr>
          </a:p>
        </p:txBody>
      </p:sp>
      <p:sp>
        <p:nvSpPr>
          <p:cNvPr id="456" name="Shape 46"/>
          <p:cNvSpPr/>
          <p:nvPr/>
        </p:nvSpPr>
        <p:spPr>
          <a:xfrm>
            <a:off x="384120" y="3505320"/>
            <a:ext cx="2664000" cy="3189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57" name="Text 47"/>
          <p:cNvSpPr/>
          <p:nvPr/>
        </p:nvSpPr>
        <p:spPr>
          <a:xfrm>
            <a:off x="450720" y="3505320"/>
            <a:ext cx="25308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lt2"/>
                </a:solidFill>
                <a:effectLst/>
                <a:uFillTx/>
                <a:latin typeface="Calibri"/>
              </a:rPr>
              <a:t>Cykl releasu</a:t>
            </a:r>
            <a:endParaRPr lang="pl-PL" sz="1600" b="0" u="none" strike="noStrike">
              <a:solidFill>
                <a:srgbClr val="FFFFFF"/>
              </a:solidFill>
              <a:effectLst/>
              <a:uFillTx/>
              <a:latin typeface="Arial"/>
            </a:endParaRPr>
          </a:p>
        </p:txBody>
      </p:sp>
      <p:sp>
        <p:nvSpPr>
          <p:cNvPr id="458" name="Shape 48"/>
          <p:cNvSpPr/>
          <p:nvPr/>
        </p:nvSpPr>
        <p:spPr>
          <a:xfrm>
            <a:off x="3049200" y="3505320"/>
            <a:ext cx="1902600" cy="3189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59" name="Text 49"/>
          <p:cNvSpPr/>
          <p:nvPr/>
        </p:nvSpPr>
        <p:spPr>
          <a:xfrm>
            <a:off x="3115800" y="350532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7C4DFF"/>
                </a:solidFill>
                <a:effectLst/>
                <a:uFillTx/>
                <a:latin typeface="Calibri"/>
              </a:rPr>
              <a:t>Co sprint (2 tyg.)</a:t>
            </a:r>
            <a:endParaRPr lang="pl-PL" sz="1400" b="0" u="none" strike="noStrike">
              <a:solidFill>
                <a:srgbClr val="FFFFFF"/>
              </a:solidFill>
              <a:effectLst/>
              <a:uFillTx/>
              <a:latin typeface="Arial"/>
            </a:endParaRPr>
          </a:p>
        </p:txBody>
      </p:sp>
      <p:sp>
        <p:nvSpPr>
          <p:cNvPr id="460" name="Shape 50"/>
          <p:cNvSpPr/>
          <p:nvPr/>
        </p:nvSpPr>
        <p:spPr>
          <a:xfrm>
            <a:off x="4952880" y="3505320"/>
            <a:ext cx="1902600" cy="3189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61" name="Text 51"/>
          <p:cNvSpPr/>
          <p:nvPr/>
        </p:nvSpPr>
        <p:spPr>
          <a:xfrm>
            <a:off x="5019480" y="350532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7043"/>
                </a:solidFill>
                <a:effectLst/>
                <a:uFillTx/>
                <a:latin typeface="Calibri"/>
              </a:rPr>
              <a:t>Ciągły flow</a:t>
            </a:r>
            <a:endParaRPr lang="pl-PL" sz="1400" b="0" u="none" strike="noStrike">
              <a:solidFill>
                <a:srgbClr val="FFFFFF"/>
              </a:solidFill>
              <a:effectLst/>
              <a:uFillTx/>
              <a:latin typeface="Arial"/>
            </a:endParaRPr>
          </a:p>
        </p:txBody>
      </p:sp>
      <p:sp>
        <p:nvSpPr>
          <p:cNvPr id="462" name="Shape 52"/>
          <p:cNvSpPr/>
          <p:nvPr/>
        </p:nvSpPr>
        <p:spPr>
          <a:xfrm>
            <a:off x="6856200" y="3505320"/>
            <a:ext cx="1902600" cy="3189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63" name="Text 53"/>
          <p:cNvSpPr/>
          <p:nvPr/>
        </p:nvSpPr>
        <p:spPr>
          <a:xfrm>
            <a:off x="6922800" y="350532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00BCD4"/>
                </a:solidFill>
                <a:effectLst/>
                <a:uFillTx/>
                <a:latin typeface="Calibri"/>
              </a:rPr>
              <a:t>Program Increment (PI)</a:t>
            </a:r>
            <a:endParaRPr lang="pl-PL" sz="1400" b="0" u="none" strike="noStrike">
              <a:solidFill>
                <a:srgbClr val="FFFFFF"/>
              </a:solidFill>
              <a:effectLst/>
              <a:uFillTx/>
              <a:latin typeface="Arial"/>
            </a:endParaRPr>
          </a:p>
        </p:txBody>
      </p:sp>
      <p:sp>
        <p:nvSpPr>
          <p:cNvPr id="464" name="Shape 54"/>
          <p:cNvSpPr/>
          <p:nvPr/>
        </p:nvSpPr>
        <p:spPr>
          <a:xfrm>
            <a:off x="384120" y="3825360"/>
            <a:ext cx="2664000" cy="3189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65" name="Text 55"/>
          <p:cNvSpPr/>
          <p:nvPr/>
        </p:nvSpPr>
        <p:spPr>
          <a:xfrm>
            <a:off x="450720" y="3825360"/>
            <a:ext cx="25308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lt2"/>
                </a:solidFill>
                <a:effectLst/>
                <a:uFillTx/>
                <a:latin typeface="Calibri"/>
              </a:rPr>
              <a:t>Zmiany w trakcie</a:t>
            </a:r>
            <a:endParaRPr lang="pl-PL" sz="1600" b="0" u="none" strike="noStrike">
              <a:solidFill>
                <a:srgbClr val="FFFFFF"/>
              </a:solidFill>
              <a:effectLst/>
              <a:uFillTx/>
              <a:latin typeface="Arial"/>
            </a:endParaRPr>
          </a:p>
        </p:txBody>
      </p:sp>
      <p:sp>
        <p:nvSpPr>
          <p:cNvPr id="466" name="Shape 56"/>
          <p:cNvSpPr/>
          <p:nvPr/>
        </p:nvSpPr>
        <p:spPr>
          <a:xfrm>
            <a:off x="3049200" y="3825360"/>
            <a:ext cx="1902600" cy="3189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67" name="Text 57"/>
          <p:cNvSpPr/>
          <p:nvPr/>
        </p:nvSpPr>
        <p:spPr>
          <a:xfrm>
            <a:off x="3115800" y="382536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7C4DFF"/>
                </a:solidFill>
                <a:effectLst/>
                <a:uFillTx/>
                <a:latin typeface="Calibri"/>
              </a:rPr>
              <a:t>Tylko nowy sprint</a:t>
            </a:r>
            <a:endParaRPr lang="pl-PL" sz="1400" b="0" u="none" strike="noStrike">
              <a:solidFill>
                <a:srgbClr val="FFFFFF"/>
              </a:solidFill>
              <a:effectLst/>
              <a:uFillTx/>
              <a:latin typeface="Arial"/>
            </a:endParaRPr>
          </a:p>
        </p:txBody>
      </p:sp>
      <p:sp>
        <p:nvSpPr>
          <p:cNvPr id="468" name="Shape 58"/>
          <p:cNvSpPr/>
          <p:nvPr/>
        </p:nvSpPr>
        <p:spPr>
          <a:xfrm>
            <a:off x="4952880" y="3825360"/>
            <a:ext cx="1902600" cy="3189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69" name="Text 59"/>
          <p:cNvSpPr/>
          <p:nvPr/>
        </p:nvSpPr>
        <p:spPr>
          <a:xfrm>
            <a:off x="5019480" y="382536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7043"/>
                </a:solidFill>
                <a:effectLst/>
                <a:uFillTx/>
                <a:latin typeface="Calibri"/>
              </a:rPr>
              <a:t>W każdej chwili</a:t>
            </a:r>
            <a:endParaRPr lang="pl-PL" sz="1400" b="0" u="none" strike="noStrike">
              <a:solidFill>
                <a:srgbClr val="FFFFFF"/>
              </a:solidFill>
              <a:effectLst/>
              <a:uFillTx/>
              <a:latin typeface="Arial"/>
            </a:endParaRPr>
          </a:p>
        </p:txBody>
      </p:sp>
      <p:sp>
        <p:nvSpPr>
          <p:cNvPr id="470" name="Shape 60"/>
          <p:cNvSpPr/>
          <p:nvPr/>
        </p:nvSpPr>
        <p:spPr>
          <a:xfrm>
            <a:off x="6856200" y="3825360"/>
            <a:ext cx="1902600" cy="318960"/>
          </a:xfrm>
          <a:prstGeom prst="rect">
            <a:avLst/>
          </a:prstGeom>
          <a:solidFill>
            <a:srgbClr val="0A254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71" name="Text 61"/>
          <p:cNvSpPr/>
          <p:nvPr/>
        </p:nvSpPr>
        <p:spPr>
          <a:xfrm>
            <a:off x="6922800" y="382536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00BCD4"/>
                </a:solidFill>
                <a:effectLst/>
                <a:uFillTx/>
                <a:latin typeface="Calibri"/>
              </a:rPr>
              <a:t>Planowane kwartalnie</a:t>
            </a:r>
            <a:endParaRPr lang="pl-PL" sz="1400" b="0" u="none" strike="noStrike">
              <a:solidFill>
                <a:srgbClr val="FFFFFF"/>
              </a:solidFill>
              <a:effectLst/>
              <a:uFillTx/>
              <a:latin typeface="Arial"/>
            </a:endParaRPr>
          </a:p>
        </p:txBody>
      </p:sp>
      <p:sp>
        <p:nvSpPr>
          <p:cNvPr id="472" name="Shape 62"/>
          <p:cNvSpPr/>
          <p:nvPr/>
        </p:nvSpPr>
        <p:spPr>
          <a:xfrm>
            <a:off x="384120" y="4145400"/>
            <a:ext cx="2664000" cy="3189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73" name="Text 63"/>
          <p:cNvSpPr/>
          <p:nvPr/>
        </p:nvSpPr>
        <p:spPr>
          <a:xfrm>
            <a:off x="450720" y="4145400"/>
            <a:ext cx="25308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chemeClr val="lt2"/>
                </a:solidFill>
                <a:effectLst/>
                <a:uFillTx/>
                <a:latin typeface="Calibri"/>
              </a:rPr>
              <a:t>Narzut administracyjny</a:t>
            </a:r>
            <a:endParaRPr lang="pl-PL" sz="1600" b="0" u="none" strike="noStrike">
              <a:solidFill>
                <a:srgbClr val="FFFFFF"/>
              </a:solidFill>
              <a:effectLst/>
              <a:uFillTx/>
              <a:latin typeface="Arial"/>
            </a:endParaRPr>
          </a:p>
        </p:txBody>
      </p:sp>
      <p:sp>
        <p:nvSpPr>
          <p:cNvPr id="474" name="Shape 64"/>
          <p:cNvSpPr/>
          <p:nvPr/>
        </p:nvSpPr>
        <p:spPr>
          <a:xfrm>
            <a:off x="3049200" y="4145400"/>
            <a:ext cx="1902600" cy="3189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75" name="Text 65"/>
          <p:cNvSpPr/>
          <p:nvPr/>
        </p:nvSpPr>
        <p:spPr>
          <a:xfrm>
            <a:off x="3115800" y="414540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7C4DFF"/>
                </a:solidFill>
                <a:effectLst/>
                <a:uFillTx/>
                <a:latin typeface="Calibri"/>
              </a:rPr>
              <a:t>Średni</a:t>
            </a:r>
            <a:endParaRPr lang="pl-PL" sz="1400" b="0" u="none" strike="noStrike">
              <a:solidFill>
                <a:srgbClr val="FFFFFF"/>
              </a:solidFill>
              <a:effectLst/>
              <a:uFillTx/>
              <a:latin typeface="Arial"/>
            </a:endParaRPr>
          </a:p>
        </p:txBody>
      </p:sp>
      <p:sp>
        <p:nvSpPr>
          <p:cNvPr id="476" name="Shape 66"/>
          <p:cNvSpPr/>
          <p:nvPr/>
        </p:nvSpPr>
        <p:spPr>
          <a:xfrm>
            <a:off x="4952880" y="4145400"/>
            <a:ext cx="1902600" cy="3189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77" name="Text 67"/>
          <p:cNvSpPr/>
          <p:nvPr/>
        </p:nvSpPr>
        <p:spPr>
          <a:xfrm>
            <a:off x="5019480" y="414540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7043"/>
                </a:solidFill>
                <a:effectLst/>
                <a:uFillTx/>
                <a:latin typeface="Calibri"/>
              </a:rPr>
              <a:t>Niski</a:t>
            </a:r>
            <a:endParaRPr lang="pl-PL" sz="1400" b="0" u="none" strike="noStrike">
              <a:solidFill>
                <a:srgbClr val="FFFFFF"/>
              </a:solidFill>
              <a:effectLst/>
              <a:uFillTx/>
              <a:latin typeface="Arial"/>
            </a:endParaRPr>
          </a:p>
        </p:txBody>
      </p:sp>
      <p:sp>
        <p:nvSpPr>
          <p:cNvPr id="478" name="Shape 68"/>
          <p:cNvSpPr/>
          <p:nvPr/>
        </p:nvSpPr>
        <p:spPr>
          <a:xfrm>
            <a:off x="6856200" y="4145400"/>
            <a:ext cx="1902600" cy="318960"/>
          </a:xfrm>
          <a:prstGeom prst="rect">
            <a:avLst/>
          </a:prstGeom>
          <a:solidFill>
            <a:srgbClr val="0A2030"/>
          </a:solidFill>
          <a:ln w="381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79" name="Text 69"/>
          <p:cNvSpPr/>
          <p:nvPr/>
        </p:nvSpPr>
        <p:spPr>
          <a:xfrm>
            <a:off x="6922800" y="4145400"/>
            <a:ext cx="176940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00BCD4"/>
                </a:solidFill>
                <a:effectLst/>
                <a:uFillTx/>
                <a:latin typeface="Calibri"/>
              </a:rPr>
              <a:t>Wysoki</a:t>
            </a:r>
            <a:endParaRPr lang="pl-PL" sz="1400" b="0" u="none" strike="noStrike">
              <a:solidFill>
                <a:srgbClr val="FFFFFF"/>
              </a:solidFill>
              <a:effectLst/>
              <a:uFillTx/>
              <a:latin typeface="Arial"/>
            </a:endParaRPr>
          </a:p>
        </p:txBody>
      </p:sp>
      <p:sp>
        <p:nvSpPr>
          <p:cNvPr id="480" name="Shape 70"/>
          <p:cNvSpPr/>
          <p:nvPr/>
        </p:nvSpPr>
        <p:spPr>
          <a:xfrm>
            <a:off x="384120" y="4590360"/>
            <a:ext cx="8374680" cy="273240"/>
          </a:xfrm>
          <a:prstGeom prst="rect">
            <a:avLst/>
          </a:prstGeom>
          <a:solidFill>
            <a:srgbClr val="102040"/>
          </a:solidFill>
          <a:ln w="635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81" name="Text 71"/>
          <p:cNvSpPr/>
          <p:nvPr/>
        </p:nvSpPr>
        <p:spPr>
          <a:xfrm>
            <a:off x="502920" y="4590360"/>
            <a:ext cx="822852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dirty="0" err="1">
                <a:solidFill>
                  <a:srgbClr val="8ECAE6"/>
                </a:solidFill>
                <a:effectLst/>
                <a:uFillTx/>
                <a:latin typeface="Calibri"/>
              </a:rPr>
              <a:t>Rekomendacja</a:t>
            </a:r>
            <a:r>
              <a:rPr lang="en-US" sz="1100" b="0" u="none" strike="noStrike" dirty="0">
                <a:solidFill>
                  <a:srgbClr val="8ECAE6"/>
                </a:solidFill>
                <a:effectLst/>
                <a:uFillTx/>
                <a:latin typeface="Calibri"/>
              </a:rPr>
              <a:t>: Startup/MVP → Kanban (</a:t>
            </a:r>
            <a:r>
              <a:rPr lang="en-US" sz="1100" b="0" u="none" strike="noStrike" dirty="0" err="1">
                <a:solidFill>
                  <a:srgbClr val="8ECAE6"/>
                </a:solidFill>
                <a:effectLst/>
                <a:uFillTx/>
                <a:latin typeface="Calibri"/>
              </a:rPr>
              <a:t>prostota</a:t>
            </a:r>
            <a:r>
              <a:rPr lang="en-US" sz="1100" b="0" u="none" strike="noStrike" dirty="0">
                <a:solidFill>
                  <a:srgbClr val="8ECAE6"/>
                </a:solidFill>
                <a:effectLst/>
                <a:uFillTx/>
                <a:latin typeface="Calibri"/>
              </a:rPr>
              <a:t>). </a:t>
            </a:r>
            <a:r>
              <a:rPr lang="en-US" sz="1100" b="1" u="none" strike="noStrike" dirty="0" err="1">
                <a:solidFill>
                  <a:srgbClr val="8ECAE6"/>
                </a:solidFill>
                <a:effectLst/>
                <a:uFillTx/>
                <a:latin typeface="Calibri"/>
              </a:rPr>
              <a:t>Zespół</a:t>
            </a:r>
            <a:r>
              <a:rPr lang="en-US" sz="1100" b="0" u="none" strike="noStrike" dirty="0">
                <a:solidFill>
                  <a:srgbClr val="8ECAE6"/>
                </a:solidFill>
                <a:effectLst/>
                <a:uFillTx/>
                <a:latin typeface="Calibri"/>
              </a:rPr>
              <a:t> 5-15 </a:t>
            </a:r>
            <a:r>
              <a:rPr lang="en-US" sz="1100" b="0" u="none" strike="noStrike" dirty="0" err="1">
                <a:solidFill>
                  <a:srgbClr val="8ECAE6"/>
                </a:solidFill>
                <a:effectLst/>
                <a:uFillTx/>
                <a:latin typeface="Calibri"/>
              </a:rPr>
              <a:t>osób</a:t>
            </a:r>
            <a:r>
              <a:rPr lang="en-US" sz="1100" b="0" u="none" strike="noStrike" dirty="0">
                <a:solidFill>
                  <a:srgbClr val="8ECAE6"/>
                </a:solidFill>
                <a:effectLst/>
                <a:uFillTx/>
                <a:latin typeface="Calibri"/>
              </a:rPr>
              <a:t> → Scrum. </a:t>
            </a:r>
            <a:r>
              <a:rPr lang="en-US" sz="1100" b="1" u="none" strike="noStrike" dirty="0" err="1">
                <a:solidFill>
                  <a:srgbClr val="8ECAE6"/>
                </a:solidFill>
                <a:effectLst/>
                <a:uFillTx/>
                <a:latin typeface="Calibri"/>
              </a:rPr>
              <a:t>Kilka</a:t>
            </a:r>
            <a:r>
              <a:rPr lang="en-US" sz="1100" b="1" u="none" strike="noStrike" dirty="0">
                <a:solidFill>
                  <a:srgbClr val="8ECAE6"/>
                </a:solidFill>
                <a:effectLst/>
                <a:uFillTx/>
                <a:latin typeface="Calibri"/>
              </a:rPr>
              <a:t> </a:t>
            </a:r>
            <a:r>
              <a:rPr lang="en-US" sz="1100" b="1" u="none" strike="noStrike" dirty="0" err="1">
                <a:solidFill>
                  <a:srgbClr val="8ECAE6"/>
                </a:solidFill>
                <a:effectLst/>
                <a:uFillTx/>
                <a:latin typeface="Calibri"/>
              </a:rPr>
              <a:t>zespołów</a:t>
            </a:r>
            <a:r>
              <a:rPr lang="en-US" sz="1100" b="1" u="none" strike="noStrike" dirty="0">
                <a:solidFill>
                  <a:srgbClr val="8ECAE6"/>
                </a:solidFill>
                <a:effectLst/>
                <a:uFillTx/>
                <a:latin typeface="Calibri"/>
              </a:rPr>
              <a:t> </a:t>
            </a:r>
            <a:r>
              <a:rPr lang="en-US" sz="1100" b="1" u="none" strike="noStrike" dirty="0" err="1">
                <a:solidFill>
                  <a:srgbClr val="8ECAE6"/>
                </a:solidFill>
                <a:effectLst/>
                <a:uFillTx/>
                <a:latin typeface="Calibri"/>
              </a:rPr>
              <a:t>mobilnych</a:t>
            </a:r>
            <a:r>
              <a:rPr lang="en-US" sz="1100" b="1" u="none" strike="noStrike" dirty="0">
                <a:solidFill>
                  <a:srgbClr val="8ECAE6"/>
                </a:solidFill>
                <a:effectLst/>
                <a:uFillTx/>
                <a:latin typeface="Calibri"/>
              </a:rPr>
              <a:t> </a:t>
            </a:r>
            <a:r>
              <a:rPr lang="en-US" sz="1100" b="0" u="none" strike="noStrike" dirty="0">
                <a:solidFill>
                  <a:srgbClr val="8ECAE6"/>
                </a:solidFill>
                <a:effectLst/>
                <a:uFillTx/>
                <a:latin typeface="Calibri"/>
              </a:rPr>
              <a:t>→ </a:t>
            </a:r>
            <a:r>
              <a:rPr lang="en-US" sz="1100" b="0" u="none" strike="noStrike" dirty="0" err="1">
                <a:solidFill>
                  <a:srgbClr val="8ECAE6"/>
                </a:solidFill>
                <a:effectLst/>
                <a:uFillTx/>
                <a:latin typeface="Calibri"/>
              </a:rPr>
              <a:t>SAFe</a:t>
            </a:r>
            <a:r>
              <a:rPr lang="en-US" sz="1100" b="0" u="none" strike="noStrike" dirty="0">
                <a:solidFill>
                  <a:srgbClr val="8ECAE6"/>
                </a:solidFill>
                <a:effectLst/>
                <a:uFillTx/>
                <a:latin typeface="Calibri"/>
              </a:rPr>
              <a:t> </a:t>
            </a:r>
            <a:r>
              <a:rPr lang="en-US" sz="1100" b="0" u="none" strike="noStrike" dirty="0" err="1">
                <a:solidFill>
                  <a:srgbClr val="8ECAE6"/>
                </a:solidFill>
                <a:effectLst/>
                <a:uFillTx/>
                <a:latin typeface="Calibri"/>
              </a:rPr>
              <a:t>lub</a:t>
            </a:r>
            <a:r>
              <a:rPr lang="en-US" sz="1100" b="0" u="none" strike="noStrike" dirty="0">
                <a:solidFill>
                  <a:srgbClr val="8ECAE6"/>
                </a:solidFill>
                <a:effectLst/>
                <a:uFillTx/>
                <a:latin typeface="Calibri"/>
              </a:rPr>
              <a:t> </a:t>
            </a:r>
            <a:r>
              <a:rPr lang="en-US" sz="1100" b="0" u="none" strike="noStrike" dirty="0" err="1">
                <a:solidFill>
                  <a:srgbClr val="8ECAE6"/>
                </a:solidFill>
                <a:effectLst/>
                <a:uFillTx/>
                <a:latin typeface="Calibri"/>
              </a:rPr>
              <a:t>LeSS</a:t>
            </a:r>
            <a:r>
              <a:rPr lang="en-US" sz="1100" b="0" u="none" strike="noStrike" dirty="0">
                <a:solidFill>
                  <a:srgbClr val="8ECAE6"/>
                </a:solidFill>
                <a:effectLst/>
                <a:uFillTx/>
                <a:latin typeface="Calibri"/>
              </a:rPr>
              <a:t> (Large-Scale Scrum).</a:t>
            </a:r>
            <a:endParaRPr lang="pl-PL" sz="1100" b="0" u="none" strike="noStrike" dirty="0">
              <a:solidFill>
                <a:srgbClr val="FFFFFF"/>
              </a:solidFill>
              <a:effectLst/>
              <a:uFillTx/>
              <a:latin typeface="Arial"/>
            </a:endParaRPr>
          </a:p>
        </p:txBody>
      </p:sp>
      <p:sp>
        <p:nvSpPr>
          <p:cNvPr id="482" name="Shape 72"/>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83" name="Text 75"/>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13 / 30</a:t>
            </a:r>
            <a:endParaRPr lang="pl-PL" sz="700" b="0" u="none" strike="noStrike">
              <a:solidFill>
                <a:srgbClr val="FFFFFF"/>
              </a:solidFill>
              <a:effectLst/>
              <a:uFillTx/>
              <a:latin typeface="Arial"/>
            </a:endParaRPr>
          </a:p>
        </p:txBody>
      </p:sp>
      <p:sp>
        <p:nvSpPr>
          <p:cNvPr id="484" name="Shape 32"/>
          <p:cNvSpPr/>
          <p:nvPr/>
        </p:nvSpPr>
        <p:spPr>
          <a:xfrm>
            <a:off x="3049200" y="2910960"/>
            <a:ext cx="1902600" cy="273240"/>
          </a:xfrm>
          <a:prstGeom prst="rect">
            <a:avLst/>
          </a:prstGeom>
          <a:solidFill>
            <a:srgbClr val="1A3350"/>
          </a:solidFill>
          <a:ln w="635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85" name="Text 33"/>
          <p:cNvSpPr/>
          <p:nvPr/>
        </p:nvSpPr>
        <p:spPr>
          <a:xfrm>
            <a:off x="3115800" y="2910960"/>
            <a:ext cx="17694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7C4DFF"/>
                </a:solidFill>
                <a:effectLst/>
                <a:uFillTx/>
                <a:latin typeface="Calibri"/>
              </a:rPr>
              <a:t>Scrum</a:t>
            </a:r>
            <a:endParaRPr lang="pl-PL" sz="1600" b="0" u="none" strike="noStrike">
              <a:solidFill>
                <a:srgbClr val="FFFFFF"/>
              </a:solidFill>
              <a:effectLst/>
              <a:uFillTx/>
              <a:latin typeface="Arial"/>
            </a:endParaRPr>
          </a:p>
        </p:txBody>
      </p:sp>
      <p:sp>
        <p:nvSpPr>
          <p:cNvPr id="486" name="Shape 34"/>
          <p:cNvSpPr/>
          <p:nvPr/>
        </p:nvSpPr>
        <p:spPr>
          <a:xfrm>
            <a:off x="4952880" y="2910960"/>
            <a:ext cx="1902600" cy="273240"/>
          </a:xfrm>
          <a:prstGeom prst="rect">
            <a:avLst/>
          </a:prstGeom>
          <a:solidFill>
            <a:srgbClr val="1A3350"/>
          </a:solidFill>
          <a:ln w="635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87" name="Text 35"/>
          <p:cNvSpPr/>
          <p:nvPr/>
        </p:nvSpPr>
        <p:spPr>
          <a:xfrm>
            <a:off x="5019480" y="2910960"/>
            <a:ext cx="17694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7043"/>
                </a:solidFill>
                <a:effectLst/>
                <a:uFillTx/>
                <a:latin typeface="Calibri"/>
              </a:rPr>
              <a:t>Kanban</a:t>
            </a:r>
            <a:endParaRPr lang="pl-PL" sz="1600" b="0" u="none" strike="noStrike">
              <a:solidFill>
                <a:srgbClr val="FFFFFF"/>
              </a:solidFill>
              <a:effectLst/>
              <a:uFillTx/>
              <a:latin typeface="Arial"/>
            </a:endParaRPr>
          </a:p>
        </p:txBody>
      </p:sp>
      <p:sp>
        <p:nvSpPr>
          <p:cNvPr id="488" name="Shape 36"/>
          <p:cNvSpPr/>
          <p:nvPr/>
        </p:nvSpPr>
        <p:spPr>
          <a:xfrm>
            <a:off x="6856200" y="2910960"/>
            <a:ext cx="1902600" cy="273240"/>
          </a:xfrm>
          <a:prstGeom prst="rect">
            <a:avLst/>
          </a:prstGeom>
          <a:solidFill>
            <a:srgbClr val="1A335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89" name="Text 37"/>
          <p:cNvSpPr/>
          <p:nvPr/>
        </p:nvSpPr>
        <p:spPr>
          <a:xfrm>
            <a:off x="6922800" y="2910960"/>
            <a:ext cx="17694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00BCD4"/>
                </a:solidFill>
                <a:effectLst/>
                <a:uFillTx/>
                <a:latin typeface="Calibri"/>
              </a:rPr>
              <a:t>SAFe</a:t>
            </a:r>
            <a:endParaRPr lang="pl-PL"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61422"/>
        </a:solidFill>
        <a:effectLst/>
      </p:bgPr>
    </p:bg>
    <p:spTree>
      <p:nvGrpSpPr>
        <p:cNvPr id="1" name=""/>
        <p:cNvGrpSpPr/>
        <p:nvPr/>
      </p:nvGrpSpPr>
      <p:grpSpPr>
        <a:xfrm>
          <a:off x="0" y="0"/>
          <a:ext cx="0" cy="0"/>
          <a:chOff x="0" y="0"/>
          <a:chExt cx="0" cy="0"/>
        </a:xfrm>
      </p:grpSpPr>
      <p:sp>
        <p:nvSpPr>
          <p:cNvPr id="490" name="Shape 0"/>
          <p:cNvSpPr/>
          <p:nvPr/>
        </p:nvSpPr>
        <p:spPr>
          <a:xfrm>
            <a:off x="0" y="0"/>
            <a:ext cx="90360" cy="495504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91" name="Shape 1"/>
          <p:cNvSpPr/>
          <p:nvPr/>
        </p:nvSpPr>
        <p:spPr>
          <a:xfrm>
            <a:off x="0" y="3667124"/>
            <a:ext cx="9142920" cy="1278915"/>
          </a:xfrm>
          <a:prstGeom prst="rect">
            <a:avLst/>
          </a:prstGeom>
          <a:solidFill>
            <a:srgbClr val="081828"/>
          </a:solidFill>
          <a:ln w="12700">
            <a:solidFill>
              <a:srgbClr val="08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92" name="Shape 2"/>
          <p:cNvSpPr/>
          <p:nvPr/>
        </p:nvSpPr>
        <p:spPr>
          <a:xfrm>
            <a:off x="502920" y="1005840"/>
            <a:ext cx="1114560" cy="273240"/>
          </a:xfrm>
          <a:prstGeom prst="roundRect">
            <a:avLst>
              <a:gd name="adj" fmla="val 26667"/>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493" name="Text 3"/>
          <p:cNvSpPr/>
          <p:nvPr/>
        </p:nvSpPr>
        <p:spPr>
          <a:xfrm>
            <a:off x="502920" y="1005840"/>
            <a:ext cx="1114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ROZDZIAŁ 5</a:t>
            </a:r>
            <a:endParaRPr lang="pl-PL" sz="1200" b="0" u="none" strike="noStrike">
              <a:solidFill>
                <a:srgbClr val="FFFFFF"/>
              </a:solidFill>
              <a:effectLst/>
              <a:uFillTx/>
              <a:latin typeface="Arial"/>
            </a:endParaRPr>
          </a:p>
        </p:txBody>
      </p:sp>
      <p:sp>
        <p:nvSpPr>
          <p:cNvPr id="494" name="Text 4"/>
          <p:cNvSpPr/>
          <p:nvPr/>
        </p:nvSpPr>
        <p:spPr>
          <a:xfrm>
            <a:off x="502920" y="1389960"/>
            <a:ext cx="8045640" cy="15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4400" b="1" u="none" strike="noStrike" dirty="0">
                <a:solidFill>
                  <a:srgbClr val="FFFFFF"/>
                </a:solidFill>
                <a:effectLst/>
                <a:uFillTx/>
                <a:latin typeface="Calibri"/>
              </a:rPr>
              <a:t>Planowanie </a:t>
            </a:r>
            <a:endParaRPr lang="pl-PL" sz="4400" b="0" u="none" strike="noStrike" dirty="0">
              <a:solidFill>
                <a:srgbClr val="FFFFFF"/>
              </a:solidFill>
              <a:effectLst/>
              <a:uFillTx/>
              <a:latin typeface="Arial"/>
            </a:endParaRPr>
          </a:p>
          <a:p>
            <a:pPr defTabSz="914400">
              <a:lnSpc>
                <a:spcPct val="100000"/>
              </a:lnSpc>
              <a:tabLst>
                <a:tab pos="0" algn="l"/>
              </a:tabLst>
            </a:pPr>
            <a:r>
              <a:rPr lang="pl-PL" sz="4400" b="1" u="none" strike="noStrike" dirty="0">
                <a:solidFill>
                  <a:srgbClr val="FFFFFF"/>
                </a:solidFill>
                <a:effectLst/>
                <a:uFillTx/>
                <a:latin typeface="Calibri"/>
              </a:rPr>
              <a:t>	</a:t>
            </a:r>
            <a:r>
              <a:rPr lang="pl-PL" sz="4400" b="1" u="none" strike="noStrike" dirty="0" smtClean="0">
                <a:solidFill>
                  <a:srgbClr val="FFFFFF"/>
                </a:solidFill>
                <a:effectLst/>
                <a:uFillTx/>
                <a:latin typeface="Calibri"/>
              </a:rPr>
              <a:t>    techniczne</a:t>
            </a:r>
            <a:endParaRPr lang="pl-PL" sz="4400" b="0" u="none" strike="noStrike" dirty="0">
              <a:solidFill>
                <a:srgbClr val="FFFFFF"/>
              </a:solidFill>
              <a:effectLst/>
              <a:uFillTx/>
              <a:latin typeface="Arial"/>
            </a:endParaRPr>
          </a:p>
        </p:txBody>
      </p:sp>
      <p:sp>
        <p:nvSpPr>
          <p:cNvPr id="495" name="Text 5"/>
          <p:cNvSpPr/>
          <p:nvPr/>
        </p:nvSpPr>
        <p:spPr>
          <a:xfrm>
            <a:off x="502920" y="3739515"/>
            <a:ext cx="6856920" cy="59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600" b="0" u="none" strike="noStrike" dirty="0" smtClean="0">
                <a:solidFill>
                  <a:srgbClr val="8ECAE6"/>
                </a:solidFill>
                <a:effectLst/>
                <a:uFillTx/>
                <a:latin typeface="Calibri"/>
              </a:rPr>
              <a:t>Architektura, </a:t>
            </a:r>
            <a:r>
              <a:rPr lang="pl-PL" sz="1600" b="0" u="none" strike="noStrike" dirty="0" err="1" smtClean="0">
                <a:solidFill>
                  <a:srgbClr val="8ECAE6"/>
                </a:solidFill>
                <a:effectLst/>
                <a:uFillTx/>
                <a:latin typeface="Calibri"/>
              </a:rPr>
              <a:t>tech</a:t>
            </a:r>
            <a:r>
              <a:rPr lang="pl-PL" sz="1600" b="0" u="none" strike="noStrike" dirty="0" smtClean="0">
                <a:solidFill>
                  <a:srgbClr val="8ECAE6"/>
                </a:solidFill>
                <a:effectLst/>
                <a:uFillTx/>
                <a:latin typeface="Calibri"/>
              </a:rPr>
              <a:t> </a:t>
            </a:r>
            <a:r>
              <a:rPr lang="pl-PL" sz="1600" b="0" u="none" strike="noStrike" dirty="0" err="1" smtClean="0">
                <a:solidFill>
                  <a:srgbClr val="8ECAE6"/>
                </a:solidFill>
                <a:effectLst/>
                <a:uFillTx/>
                <a:latin typeface="Calibri"/>
              </a:rPr>
              <a:t>stack</a:t>
            </a:r>
            <a:r>
              <a:rPr lang="pl-PL" sz="1600" b="0" u="none" strike="noStrike" dirty="0" smtClean="0">
                <a:solidFill>
                  <a:srgbClr val="8ECAE6"/>
                </a:solidFill>
                <a:effectLst/>
                <a:uFillTx/>
                <a:latin typeface="Calibri"/>
              </a:rPr>
              <a:t> i </a:t>
            </a:r>
            <a:r>
              <a:rPr lang="pl-PL" sz="1600" b="0" u="none" strike="noStrike" dirty="0" err="1" smtClean="0">
                <a:solidFill>
                  <a:srgbClr val="8ECAE6"/>
                </a:solidFill>
                <a:effectLst/>
                <a:uFillTx/>
                <a:latin typeface="Calibri"/>
              </a:rPr>
              <a:t>roadmapa</a:t>
            </a:r>
            <a:r>
              <a:rPr lang="pl-PL" sz="1600" b="0" u="none" strike="noStrike" dirty="0" smtClean="0">
                <a:solidFill>
                  <a:srgbClr val="8ECAE6"/>
                </a:solidFill>
                <a:effectLst/>
                <a:uFillTx/>
                <a:latin typeface="Calibri"/>
              </a:rPr>
              <a:t> produktu.</a:t>
            </a:r>
            <a:endParaRPr lang="pl-PL" sz="1600" b="0" u="none" strike="noStrike" dirty="0">
              <a:solidFill>
                <a:srgbClr val="FFFFFF"/>
              </a:solidFill>
              <a:effectLst/>
              <a:uFillTx/>
              <a:latin typeface="Arial"/>
            </a:endParaRPr>
          </a:p>
        </p:txBody>
      </p:sp>
      <p:sp>
        <p:nvSpPr>
          <p:cNvPr id="496" name="Shape 6"/>
          <p:cNvSpPr/>
          <p:nvPr/>
        </p:nvSpPr>
        <p:spPr>
          <a:xfrm>
            <a:off x="502560" y="4072125"/>
            <a:ext cx="3602520" cy="360"/>
          </a:xfrm>
          <a:prstGeom prst="line">
            <a:avLst/>
          </a:prstGeom>
          <a:ln w="15240">
            <a:solidFill>
              <a:srgbClr val="FFB30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497" name="Shape 8"/>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498" name="Text 11"/>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14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501"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a:solidFill>
                  <a:srgbClr val="FFFFFF"/>
                </a:solidFill>
                <a:effectLst/>
                <a:uFillTx/>
                <a:latin typeface="Calibri"/>
              </a:rPr>
              <a:t>Architecture Decision Records (ADR</a:t>
            </a:r>
            <a:r>
              <a:rPr lang="en-US" sz="2000" b="1" u="none" strike="noStrike" dirty="0" smtClean="0">
                <a:solidFill>
                  <a:srgbClr val="FFFFFF"/>
                </a:solidFill>
                <a:effectLst/>
                <a:uFillTx/>
                <a:latin typeface="Calibri"/>
              </a:rPr>
              <a:t>)</a:t>
            </a:r>
            <a:endParaRPr lang="pl-PL" sz="2000" b="0" u="none" strike="noStrike" dirty="0">
              <a:solidFill>
                <a:srgbClr val="FFFFFF"/>
              </a:solidFill>
              <a:effectLst/>
              <a:uFillTx/>
              <a:latin typeface="Arial"/>
            </a:endParaRPr>
          </a:p>
        </p:txBody>
      </p:sp>
      <p:sp>
        <p:nvSpPr>
          <p:cNvPr id="502" name="Shape 3"/>
          <p:cNvSpPr/>
          <p:nvPr/>
        </p:nvSpPr>
        <p:spPr>
          <a:xfrm>
            <a:off x="383760" y="446625"/>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503" name="Text 4"/>
          <p:cNvSpPr/>
          <p:nvPr/>
        </p:nvSpPr>
        <p:spPr>
          <a:xfrm>
            <a:off x="384120" y="773430"/>
            <a:ext cx="4570920" cy="267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1" u="none" strike="noStrike" dirty="0">
                <a:solidFill>
                  <a:srgbClr val="FFB300"/>
                </a:solidFill>
                <a:effectLst/>
                <a:uFillTx/>
                <a:latin typeface="Calibri"/>
              </a:rPr>
              <a:t>ADR</a:t>
            </a:r>
            <a:r>
              <a:rPr lang="pl-PL" b="1" u="none" strike="noStrike" dirty="0">
                <a:solidFill>
                  <a:srgbClr val="FFB300"/>
                </a:solidFill>
                <a:effectLst/>
                <a:uFillTx/>
                <a:latin typeface="Calibri"/>
              </a:rPr>
              <a:t>:</a:t>
            </a:r>
            <a:r>
              <a:rPr lang="en-US" b="1" u="none" strike="noStrike" dirty="0">
                <a:solidFill>
                  <a:srgbClr val="FFB300"/>
                </a:solidFill>
                <a:effectLst/>
                <a:uFillTx/>
                <a:latin typeface="Calibri"/>
              </a:rPr>
              <a:t> </a:t>
            </a:r>
            <a:r>
              <a:rPr lang="en-US" b="0" u="none" strike="noStrike" dirty="0">
                <a:solidFill>
                  <a:srgbClr val="FFB300"/>
                </a:solidFill>
                <a:effectLst/>
                <a:uFillTx/>
                <a:latin typeface="Calibri"/>
              </a:rPr>
              <a:t>Architecture Decision Record</a:t>
            </a:r>
            <a:endParaRPr lang="pl-PL" b="0" u="none" strike="noStrike" dirty="0">
              <a:solidFill>
                <a:srgbClr val="FFFFFF"/>
              </a:solidFill>
              <a:effectLst/>
              <a:uFillTx/>
              <a:latin typeface="Arial"/>
            </a:endParaRPr>
          </a:p>
        </p:txBody>
      </p:sp>
      <p:sp>
        <p:nvSpPr>
          <p:cNvPr id="504" name="Shape 5"/>
          <p:cNvSpPr/>
          <p:nvPr/>
        </p:nvSpPr>
        <p:spPr>
          <a:xfrm>
            <a:off x="384120" y="1101390"/>
            <a:ext cx="4570920" cy="456120"/>
          </a:xfrm>
          <a:prstGeom prst="rect">
            <a:avLst/>
          </a:prstGeom>
          <a:solidFill>
            <a:srgbClr val="0A25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05" name="Shape 6"/>
          <p:cNvSpPr/>
          <p:nvPr/>
        </p:nvSpPr>
        <p:spPr>
          <a:xfrm>
            <a:off x="384120" y="1101390"/>
            <a:ext cx="63000" cy="45612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06" name="Text 7"/>
          <p:cNvSpPr/>
          <p:nvPr/>
        </p:nvSpPr>
        <p:spPr>
          <a:xfrm>
            <a:off x="539640" y="1141350"/>
            <a:ext cx="1096200" cy="37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00BCD4"/>
                </a:solidFill>
                <a:effectLst/>
                <a:uFillTx/>
                <a:latin typeface="Calibri"/>
              </a:rPr>
              <a:t>Kontekst</a:t>
            </a:r>
            <a:endParaRPr lang="pl-PL" sz="1600" b="0" u="none" strike="noStrike">
              <a:solidFill>
                <a:srgbClr val="FFFFFF"/>
              </a:solidFill>
              <a:effectLst/>
              <a:uFillTx/>
              <a:latin typeface="Arial"/>
            </a:endParaRPr>
          </a:p>
        </p:txBody>
      </p:sp>
      <p:sp>
        <p:nvSpPr>
          <p:cNvPr id="507" name="Text 8"/>
          <p:cNvSpPr/>
          <p:nvPr/>
        </p:nvSpPr>
        <p:spPr>
          <a:xfrm>
            <a:off x="1744920" y="1141350"/>
            <a:ext cx="3199320" cy="37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FFFFFF"/>
                </a:solidFill>
                <a:effectLst/>
                <a:uFillTx/>
                <a:latin typeface="Calibri"/>
              </a:rPr>
              <a:t>Dlaczego decyzja jest potrzebna? Jakie siły działają?</a:t>
            </a:r>
            <a:endParaRPr lang="pl-PL" sz="1200" b="0" u="none" strike="noStrike">
              <a:solidFill>
                <a:srgbClr val="FFFFFF"/>
              </a:solidFill>
              <a:effectLst/>
              <a:uFillTx/>
              <a:latin typeface="Arial"/>
            </a:endParaRPr>
          </a:p>
        </p:txBody>
      </p:sp>
      <p:sp>
        <p:nvSpPr>
          <p:cNvPr id="508" name="Shape 9"/>
          <p:cNvSpPr/>
          <p:nvPr/>
        </p:nvSpPr>
        <p:spPr>
          <a:xfrm>
            <a:off x="384120" y="1648230"/>
            <a:ext cx="4570920" cy="456120"/>
          </a:xfrm>
          <a:prstGeom prst="rect">
            <a:avLst/>
          </a:prstGeom>
          <a:solidFill>
            <a:srgbClr val="0A2540"/>
          </a:solidFill>
          <a:ln w="635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09" name="Shape 10"/>
          <p:cNvSpPr/>
          <p:nvPr/>
        </p:nvSpPr>
        <p:spPr>
          <a:xfrm>
            <a:off x="384120" y="1648230"/>
            <a:ext cx="63000" cy="45612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10" name="Text 11"/>
          <p:cNvSpPr/>
          <p:nvPr/>
        </p:nvSpPr>
        <p:spPr>
          <a:xfrm>
            <a:off x="539640" y="1687830"/>
            <a:ext cx="1096200" cy="37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FF7043"/>
                </a:solidFill>
                <a:effectLst/>
                <a:uFillTx/>
                <a:latin typeface="Calibri"/>
              </a:rPr>
              <a:t>Decyzja</a:t>
            </a:r>
            <a:endParaRPr lang="pl-PL" sz="1600" b="0" u="none" strike="noStrike">
              <a:solidFill>
                <a:srgbClr val="FFFFFF"/>
              </a:solidFill>
              <a:effectLst/>
              <a:uFillTx/>
              <a:latin typeface="Arial"/>
            </a:endParaRPr>
          </a:p>
        </p:txBody>
      </p:sp>
      <p:sp>
        <p:nvSpPr>
          <p:cNvPr id="511" name="Text 12"/>
          <p:cNvSpPr/>
          <p:nvPr/>
        </p:nvSpPr>
        <p:spPr>
          <a:xfrm>
            <a:off x="1744920" y="1687830"/>
            <a:ext cx="3199320" cy="37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FFFFFF"/>
                </a:solidFill>
                <a:effectLst/>
                <a:uFillTx/>
                <a:latin typeface="Calibri"/>
              </a:rPr>
              <a:t>Co zdecydowaliśmy? Jedno zdanie aktywne: "Używamy X ponieważ Y".</a:t>
            </a:r>
            <a:endParaRPr lang="pl-PL" sz="1200" b="0" u="none" strike="noStrike">
              <a:solidFill>
                <a:srgbClr val="FFFFFF"/>
              </a:solidFill>
              <a:effectLst/>
              <a:uFillTx/>
              <a:latin typeface="Arial"/>
            </a:endParaRPr>
          </a:p>
        </p:txBody>
      </p:sp>
      <p:sp>
        <p:nvSpPr>
          <p:cNvPr id="512" name="Shape 13"/>
          <p:cNvSpPr/>
          <p:nvPr/>
        </p:nvSpPr>
        <p:spPr>
          <a:xfrm>
            <a:off x="384120" y="2195070"/>
            <a:ext cx="4570920" cy="456120"/>
          </a:xfrm>
          <a:prstGeom prst="rect">
            <a:avLst/>
          </a:prstGeom>
          <a:solidFill>
            <a:srgbClr val="0A2540"/>
          </a:solidFill>
          <a:ln w="635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13" name="Shape 14"/>
          <p:cNvSpPr/>
          <p:nvPr/>
        </p:nvSpPr>
        <p:spPr>
          <a:xfrm>
            <a:off x="384120" y="2195070"/>
            <a:ext cx="63000" cy="45612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14" name="Text 15"/>
          <p:cNvSpPr/>
          <p:nvPr/>
        </p:nvSpPr>
        <p:spPr>
          <a:xfrm>
            <a:off x="539640" y="2234670"/>
            <a:ext cx="1096200" cy="37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B300"/>
                </a:solidFill>
                <a:effectLst/>
                <a:uFillTx/>
                <a:latin typeface="Calibri"/>
              </a:rPr>
              <a:t>Status</a:t>
            </a:r>
            <a:endParaRPr lang="pl-PL" sz="1600" b="0" u="none" strike="noStrike">
              <a:solidFill>
                <a:srgbClr val="FFFFFF"/>
              </a:solidFill>
              <a:effectLst/>
              <a:uFillTx/>
              <a:latin typeface="Arial"/>
            </a:endParaRPr>
          </a:p>
        </p:txBody>
      </p:sp>
      <p:sp>
        <p:nvSpPr>
          <p:cNvPr id="515" name="Text 16"/>
          <p:cNvSpPr/>
          <p:nvPr/>
        </p:nvSpPr>
        <p:spPr>
          <a:xfrm>
            <a:off x="1744920" y="2234670"/>
            <a:ext cx="3199320" cy="37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FFFFFF"/>
                </a:solidFill>
                <a:effectLst/>
                <a:uFillTx/>
                <a:latin typeface="Calibri"/>
              </a:rPr>
              <a:t>Proposed / Accepted / Deprecated / Superseded</a:t>
            </a:r>
            <a:endParaRPr lang="pl-PL" sz="1200" b="0" u="none" strike="noStrike">
              <a:solidFill>
                <a:srgbClr val="FFFFFF"/>
              </a:solidFill>
              <a:effectLst/>
              <a:uFillTx/>
              <a:latin typeface="Arial"/>
            </a:endParaRPr>
          </a:p>
        </p:txBody>
      </p:sp>
      <p:sp>
        <p:nvSpPr>
          <p:cNvPr id="516" name="Shape 17"/>
          <p:cNvSpPr/>
          <p:nvPr/>
        </p:nvSpPr>
        <p:spPr>
          <a:xfrm>
            <a:off x="384120" y="2741910"/>
            <a:ext cx="4570920" cy="456120"/>
          </a:xfrm>
          <a:prstGeom prst="rect">
            <a:avLst/>
          </a:prstGeom>
          <a:solidFill>
            <a:srgbClr val="0A2540"/>
          </a:solidFill>
          <a:ln w="635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17" name="Shape 18"/>
          <p:cNvSpPr/>
          <p:nvPr/>
        </p:nvSpPr>
        <p:spPr>
          <a:xfrm>
            <a:off x="384120" y="2741910"/>
            <a:ext cx="63000" cy="45612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18" name="Text 19"/>
          <p:cNvSpPr/>
          <p:nvPr/>
        </p:nvSpPr>
        <p:spPr>
          <a:xfrm>
            <a:off x="509040" y="2781510"/>
            <a:ext cx="1265400" cy="37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4CAF50"/>
                </a:solidFill>
                <a:effectLst/>
                <a:uFillTx/>
                <a:latin typeface="Calibri"/>
              </a:rPr>
              <a:t>Konsekwencje</a:t>
            </a:r>
            <a:endParaRPr lang="pl-PL" sz="1600" b="0" u="none" strike="noStrike">
              <a:solidFill>
                <a:srgbClr val="FFFFFF"/>
              </a:solidFill>
              <a:effectLst/>
              <a:uFillTx/>
              <a:latin typeface="Arial"/>
            </a:endParaRPr>
          </a:p>
        </p:txBody>
      </p:sp>
      <p:sp>
        <p:nvSpPr>
          <p:cNvPr id="519" name="Text 20"/>
          <p:cNvSpPr/>
          <p:nvPr/>
        </p:nvSpPr>
        <p:spPr>
          <a:xfrm>
            <a:off x="1744920" y="2781510"/>
            <a:ext cx="3199320" cy="37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FFFFFF"/>
                </a:solidFill>
                <a:effectLst/>
                <a:uFillTx/>
                <a:latin typeface="Calibri"/>
              </a:rPr>
              <a:t>Pozytywne (zalety) i negatywne (kompromisy). Jawne trade-offs.</a:t>
            </a:r>
            <a:endParaRPr lang="pl-PL" sz="1200" b="0" u="none" strike="noStrike">
              <a:solidFill>
                <a:srgbClr val="FFFFFF"/>
              </a:solidFill>
              <a:effectLst/>
              <a:uFillTx/>
              <a:latin typeface="Arial"/>
            </a:endParaRPr>
          </a:p>
        </p:txBody>
      </p:sp>
      <p:grpSp>
        <p:nvGrpSpPr>
          <p:cNvPr id="520" name="Grupa 40"/>
          <p:cNvGrpSpPr/>
          <p:nvPr/>
        </p:nvGrpSpPr>
        <p:grpSpPr>
          <a:xfrm>
            <a:off x="5139000" y="809775"/>
            <a:ext cx="3648240" cy="3171600"/>
            <a:chOff x="5139000" y="1009800"/>
            <a:chExt cx="3648240" cy="3171600"/>
          </a:xfrm>
        </p:grpSpPr>
        <p:sp>
          <p:nvSpPr>
            <p:cNvPr id="521" name="Text 21"/>
            <p:cNvSpPr/>
            <p:nvPr/>
          </p:nvSpPr>
          <p:spPr>
            <a:xfrm>
              <a:off x="5167440" y="1009800"/>
              <a:ext cx="3619800" cy="236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a:tabLst>
                  <a:tab pos="0" algn="l"/>
                </a:tabLst>
              </a:pPr>
              <a:r>
                <a:rPr lang="pl-PL" sz="1400" dirty="0">
                  <a:solidFill>
                    <a:srgbClr val="FFFFFF"/>
                  </a:solidFill>
                </a:rPr>
                <a:t>Kluczowe decyzje architektoniczne</a:t>
              </a:r>
            </a:p>
          </p:txBody>
        </p:sp>
        <p:sp>
          <p:nvSpPr>
            <p:cNvPr id="522" name="Shape 22"/>
            <p:cNvSpPr/>
            <p:nvPr/>
          </p:nvSpPr>
          <p:spPr>
            <a:xfrm>
              <a:off x="5139000" y="1281240"/>
              <a:ext cx="3619800" cy="65376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23" name="Shape 23"/>
            <p:cNvSpPr/>
            <p:nvPr/>
          </p:nvSpPr>
          <p:spPr>
            <a:xfrm>
              <a:off x="5139000" y="1281240"/>
              <a:ext cx="63000" cy="65376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24" name="Text 24"/>
            <p:cNvSpPr/>
            <p:nvPr/>
          </p:nvSpPr>
          <p:spPr>
            <a:xfrm>
              <a:off x="5321880" y="1288440"/>
              <a:ext cx="329076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0BCD4"/>
                  </a:solidFill>
                  <a:effectLst/>
                  <a:uFillTx/>
                  <a:latin typeface="Calibri"/>
                </a:rPr>
                <a:t>Native vs Cross-Platform</a:t>
              </a:r>
              <a:endParaRPr lang="pl-PL" sz="1600" b="0" u="none" strike="noStrike">
                <a:solidFill>
                  <a:srgbClr val="FFFFFF"/>
                </a:solidFill>
                <a:effectLst/>
                <a:uFillTx/>
                <a:latin typeface="Arial"/>
              </a:endParaRPr>
            </a:p>
          </p:txBody>
        </p:sp>
        <p:sp>
          <p:nvSpPr>
            <p:cNvPr id="525" name="Text 25"/>
            <p:cNvSpPr/>
            <p:nvPr/>
          </p:nvSpPr>
          <p:spPr>
            <a:xfrm>
              <a:off x="5321880" y="1525680"/>
              <a:ext cx="3290760" cy="420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FFFFFF"/>
                  </a:solidFill>
                  <a:effectLst/>
                  <a:uFillTx/>
                  <a:latin typeface="Calibri"/>
                </a:rPr>
                <a:t>React Native / Flutter jeśli team&lt;8 i budżet&lt;2M PLN. Native jeśli performance-critical lub AR/VR.</a:t>
              </a:r>
              <a:endParaRPr lang="pl-PL" sz="1200" b="0" u="none" strike="noStrike">
                <a:solidFill>
                  <a:srgbClr val="FFFFFF"/>
                </a:solidFill>
                <a:effectLst/>
                <a:uFillTx/>
                <a:latin typeface="Arial"/>
              </a:endParaRPr>
            </a:p>
          </p:txBody>
        </p:sp>
        <p:sp>
          <p:nvSpPr>
            <p:cNvPr id="526" name="Shape 26"/>
            <p:cNvSpPr/>
            <p:nvPr/>
          </p:nvSpPr>
          <p:spPr>
            <a:xfrm>
              <a:off x="5139000" y="2043360"/>
              <a:ext cx="3619800" cy="66492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27" name="Shape 27"/>
            <p:cNvSpPr/>
            <p:nvPr/>
          </p:nvSpPr>
          <p:spPr>
            <a:xfrm>
              <a:off x="5139000" y="2043360"/>
              <a:ext cx="63000" cy="66492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28" name="Text 28"/>
            <p:cNvSpPr/>
            <p:nvPr/>
          </p:nvSpPr>
          <p:spPr>
            <a:xfrm>
              <a:off x="5321880" y="2068560"/>
              <a:ext cx="329076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7043"/>
                  </a:solidFill>
                  <a:effectLst/>
                  <a:uFillTx/>
                  <a:latin typeface="Calibri"/>
                </a:rPr>
                <a:t>State Management</a:t>
              </a:r>
              <a:endParaRPr lang="pl-PL" sz="1600" b="0" u="none" strike="noStrike">
                <a:solidFill>
                  <a:srgbClr val="FFFFFF"/>
                </a:solidFill>
                <a:effectLst/>
                <a:uFillTx/>
                <a:latin typeface="Arial"/>
              </a:endParaRPr>
            </a:p>
          </p:txBody>
        </p:sp>
        <p:sp>
          <p:nvSpPr>
            <p:cNvPr id="529" name="Text 29"/>
            <p:cNvSpPr/>
            <p:nvPr/>
          </p:nvSpPr>
          <p:spPr>
            <a:xfrm>
              <a:off x="5321880" y="2305800"/>
              <a:ext cx="3290760" cy="420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FFFFFF"/>
                  </a:solidFill>
                  <a:effectLst/>
                  <a:uFillTx/>
                  <a:latin typeface="Calibri"/>
                </a:rPr>
                <a:t>MobX (prosta apka), Redux/RTK (complex). iOS: Combine+SwiftUI. Android: StateFlow+ViewModel.</a:t>
              </a:r>
              <a:endParaRPr lang="pl-PL" sz="1200" b="0" u="none" strike="noStrike">
                <a:solidFill>
                  <a:srgbClr val="FFFFFF"/>
                </a:solidFill>
                <a:effectLst/>
                <a:uFillTx/>
                <a:latin typeface="Arial"/>
              </a:endParaRPr>
            </a:p>
          </p:txBody>
        </p:sp>
        <p:sp>
          <p:nvSpPr>
            <p:cNvPr id="530" name="Shape 30"/>
            <p:cNvSpPr/>
            <p:nvPr/>
          </p:nvSpPr>
          <p:spPr>
            <a:xfrm>
              <a:off x="5139000" y="2813040"/>
              <a:ext cx="3619800" cy="605520"/>
            </a:xfrm>
            <a:prstGeom prst="rect">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31" name="Shape 31"/>
            <p:cNvSpPr/>
            <p:nvPr/>
          </p:nvSpPr>
          <p:spPr>
            <a:xfrm>
              <a:off x="5139000" y="2813040"/>
              <a:ext cx="63000" cy="60552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32" name="Text 32"/>
            <p:cNvSpPr/>
            <p:nvPr/>
          </p:nvSpPr>
          <p:spPr>
            <a:xfrm>
              <a:off x="5321880" y="2819880"/>
              <a:ext cx="329076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4CAF50"/>
                  </a:solidFill>
                  <a:effectLst/>
                  <a:uFillTx/>
                  <a:latin typeface="Calibri"/>
                </a:rPr>
                <a:t>Offline first?</a:t>
              </a:r>
              <a:endParaRPr lang="pl-PL" sz="1600" b="0" u="none" strike="noStrike">
                <a:solidFill>
                  <a:srgbClr val="FFFFFF"/>
                </a:solidFill>
                <a:effectLst/>
                <a:uFillTx/>
                <a:latin typeface="Arial"/>
              </a:endParaRPr>
            </a:p>
          </p:txBody>
        </p:sp>
        <p:sp>
          <p:nvSpPr>
            <p:cNvPr id="533" name="Text 33"/>
            <p:cNvSpPr/>
            <p:nvPr/>
          </p:nvSpPr>
          <p:spPr>
            <a:xfrm>
              <a:off x="5321880" y="3057120"/>
              <a:ext cx="3290760" cy="420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FFFFFF"/>
                  </a:solidFill>
                  <a:effectLst/>
                  <a:uFillTx/>
                  <a:latin typeface="Calibri"/>
                </a:rPr>
                <a:t>SQLite / Room / Realm + sync strategy. Definiuj conflict resolution PRZED coding.</a:t>
              </a:r>
              <a:endParaRPr lang="pl-PL" sz="1200" b="0" u="none" strike="noStrike">
                <a:solidFill>
                  <a:srgbClr val="FFFFFF"/>
                </a:solidFill>
                <a:effectLst/>
                <a:uFillTx/>
                <a:latin typeface="Arial"/>
              </a:endParaRPr>
            </a:p>
          </p:txBody>
        </p:sp>
        <p:sp>
          <p:nvSpPr>
            <p:cNvPr id="534" name="Shape 34"/>
            <p:cNvSpPr/>
            <p:nvPr/>
          </p:nvSpPr>
          <p:spPr>
            <a:xfrm>
              <a:off x="5139000" y="3507120"/>
              <a:ext cx="3619800" cy="615960"/>
            </a:xfrm>
            <a:prstGeom prst="rect">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35" name="Shape 35"/>
            <p:cNvSpPr/>
            <p:nvPr/>
          </p:nvSpPr>
          <p:spPr>
            <a:xfrm>
              <a:off x="5139000" y="3507120"/>
              <a:ext cx="63000" cy="61596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36" name="Text 36"/>
            <p:cNvSpPr/>
            <p:nvPr/>
          </p:nvSpPr>
          <p:spPr>
            <a:xfrm>
              <a:off x="5321880" y="3523320"/>
              <a:ext cx="3290760" cy="218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rgbClr val="A191CF"/>
                  </a:solidFill>
                  <a:effectLst/>
                  <a:uFillTx/>
                  <a:latin typeface="Calibri"/>
                </a:rPr>
                <a:t>API contract</a:t>
              </a:r>
              <a:endParaRPr lang="pl-PL" sz="1600" b="0" u="none" strike="noStrike" dirty="0">
                <a:solidFill>
                  <a:srgbClr val="A191CF"/>
                </a:solidFill>
                <a:effectLst/>
                <a:uFillTx/>
                <a:latin typeface="Arial"/>
              </a:endParaRPr>
            </a:p>
          </p:txBody>
        </p:sp>
        <p:sp>
          <p:nvSpPr>
            <p:cNvPr id="537" name="Text 37"/>
            <p:cNvSpPr/>
            <p:nvPr/>
          </p:nvSpPr>
          <p:spPr>
            <a:xfrm>
              <a:off x="5321880" y="3760560"/>
              <a:ext cx="3290760" cy="420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u="none" strike="noStrike">
                  <a:solidFill>
                    <a:srgbClr val="FFFFFF"/>
                  </a:solidFill>
                  <a:effectLst/>
                  <a:uFillTx/>
                  <a:latin typeface="Calibri"/>
                </a:rPr>
                <a:t>OpenAPI 3.0 spec PRZED implementacją. Contract testing (Pact). Consumer-driven.</a:t>
              </a:r>
              <a:endParaRPr lang="pl-PL" sz="1200" b="0" u="none" strike="noStrike">
                <a:solidFill>
                  <a:srgbClr val="FFFFFF"/>
                </a:solidFill>
                <a:effectLst/>
                <a:uFillTx/>
                <a:latin typeface="Arial"/>
              </a:endParaRPr>
            </a:p>
          </p:txBody>
        </p:sp>
      </p:grpSp>
      <p:sp>
        <p:nvSpPr>
          <p:cNvPr id="538" name="Shape 38"/>
          <p:cNvSpPr/>
          <p:nvPr/>
        </p:nvSpPr>
        <p:spPr>
          <a:xfrm>
            <a:off x="295200" y="4312140"/>
            <a:ext cx="8463600" cy="682905"/>
          </a:xfrm>
          <a:prstGeom prst="rect">
            <a:avLst/>
          </a:prstGeom>
          <a:solidFill>
            <a:srgbClr val="102040"/>
          </a:solidFill>
          <a:ln w="635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pl-PL" sz="1600" b="1" u="none" strike="noStrike" spc="-20">
                <a:solidFill>
                  <a:srgbClr val="8ECAE6"/>
                </a:solidFill>
                <a:effectLst/>
                <a:uFillTx/>
                <a:latin typeface="Calibri"/>
              </a:rPr>
              <a:t>Badania ThoughtWorks</a:t>
            </a:r>
            <a:r>
              <a:rPr lang="pl-PL" sz="1600" b="0" u="none" strike="noStrike" spc="-20">
                <a:solidFill>
                  <a:srgbClr val="8ECAE6"/>
                </a:solidFill>
                <a:effectLst/>
                <a:uFillTx/>
                <a:latin typeface="Calibri"/>
              </a:rPr>
              <a:t>: zespoły które dokumentują ADR mają o 40% mniej nieplanowanych </a:t>
            </a:r>
            <a:r>
              <a:rPr sz="1600"/>
              <a:t/>
            </a:r>
            <a:br>
              <a:rPr sz="1600"/>
            </a:br>
            <a:r>
              <a:rPr lang="pl-PL" sz="1600" b="0" u="none" strike="noStrike" spc="-20">
                <a:solidFill>
                  <a:srgbClr val="8ECAE6"/>
                </a:solidFill>
                <a:effectLst/>
                <a:uFillTx/>
                <a:latin typeface="Calibri"/>
              </a:rPr>
              <a:t>spotkań architektonicznych. ADR przechowuj w repozytorium (katalog /docs/adr).</a:t>
            </a:r>
            <a:endParaRPr lang="pl-PL" sz="16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501"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a:solidFill>
                  <a:srgbClr val="FFFFFF"/>
                </a:solidFill>
                <a:effectLst/>
                <a:uFillTx/>
                <a:latin typeface="Calibri"/>
              </a:rPr>
              <a:t>Architecture Decision Records (ADR</a:t>
            </a:r>
            <a:r>
              <a:rPr lang="en-US" sz="2000" b="1" u="none" strike="noStrike" dirty="0" smtClean="0">
                <a:solidFill>
                  <a:srgbClr val="FFFFFF"/>
                </a:solidFill>
                <a:effectLst/>
                <a:uFillTx/>
                <a:latin typeface="Calibri"/>
              </a:rPr>
              <a:t>)</a:t>
            </a:r>
            <a:endParaRPr lang="pl-PL" sz="2000" b="0" u="none" strike="noStrike" dirty="0">
              <a:solidFill>
                <a:srgbClr val="FFFFFF"/>
              </a:solidFill>
              <a:effectLst/>
              <a:uFillTx/>
              <a:latin typeface="Arial"/>
            </a:endParaRPr>
          </a:p>
        </p:txBody>
      </p:sp>
      <p:sp>
        <p:nvSpPr>
          <p:cNvPr id="502" name="Shape 3"/>
          <p:cNvSpPr/>
          <p:nvPr/>
        </p:nvSpPr>
        <p:spPr>
          <a:xfrm>
            <a:off x="383760" y="408525"/>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538" name="Shape 38"/>
          <p:cNvSpPr/>
          <p:nvPr/>
        </p:nvSpPr>
        <p:spPr>
          <a:xfrm>
            <a:off x="165100" y="444799"/>
            <a:ext cx="8813800" cy="4603061"/>
          </a:xfrm>
          <a:prstGeom prst="rect">
            <a:avLst/>
          </a:prstGeom>
          <a:solidFill>
            <a:srgbClr val="102040"/>
          </a:solidFill>
          <a:ln w="6350">
            <a:solidFill>
              <a:srgbClr val="FFB300"/>
            </a:solidFill>
            <a:round/>
          </a:ln>
        </p:spPr>
        <p:style>
          <a:lnRef idx="0">
            <a:scrgbClr r="0" g="0" b="0"/>
          </a:lnRef>
          <a:fillRef idx="0">
            <a:scrgbClr r="0" g="0" b="0"/>
          </a:fillRef>
          <a:effectRef idx="0">
            <a:scrgbClr r="0" g="0" b="0"/>
          </a:effectRef>
          <a:fontRef idx="minor"/>
        </p:style>
        <p:txBody>
          <a:bodyPr lIns="90000" tIns="45000" rIns="90000" bIns="45000" numCol="2" anchor="t">
            <a:noAutofit/>
          </a:bodyPr>
          <a:lstStyle/>
          <a:p>
            <a:pPr>
              <a:lnSpc>
                <a:spcPts val="900"/>
              </a:lnSpc>
            </a:pPr>
            <a:r>
              <a:rPr lang="pl-PL" sz="1000" b="1" dirty="0" smtClean="0">
                <a:solidFill>
                  <a:srgbClr val="569CD6"/>
                </a:solidFill>
                <a:effectLst/>
                <a:latin typeface="Consolas" panose="020B0609020204030204" pitchFamily="49" charset="0"/>
              </a:rPr>
              <a:t># ADR-001: Wybór architektury aplikacji Android</a:t>
            </a:r>
            <a:endParaRPr lang="pl-PL" sz="1000" b="0" dirty="0" smtClean="0">
              <a:solidFill>
                <a:srgbClr val="CCCCCC"/>
              </a:solidFill>
              <a:effectLst/>
              <a:latin typeface="Consolas" panose="020B0609020204030204" pitchFamily="49" charset="0"/>
            </a:endParaRP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Status</a:t>
            </a:r>
            <a:endParaRPr lang="pl-PL" sz="1000" b="0" dirty="0" smtClean="0">
              <a:solidFill>
                <a:srgbClr val="CCCCCC"/>
              </a:solidFill>
              <a:effectLst/>
              <a:latin typeface="Consolas" panose="020B0609020204030204" pitchFamily="49" charset="0"/>
            </a:endParaRPr>
          </a:p>
          <a:p>
            <a:pPr>
              <a:lnSpc>
                <a:spcPts val="900"/>
              </a:lnSpc>
            </a:pPr>
            <a:r>
              <a:rPr lang="pl-PL" sz="1000" b="0" dirty="0" err="1" smtClean="0">
                <a:solidFill>
                  <a:srgbClr val="CCCCCC"/>
                </a:solidFill>
                <a:effectLst/>
                <a:latin typeface="Consolas" panose="020B0609020204030204" pitchFamily="49" charset="0"/>
              </a:rPr>
              <a:t>Accepted</a:t>
            </a:r>
            <a:endParaRPr lang="pl-PL" sz="1000" b="0" dirty="0" smtClean="0">
              <a:solidFill>
                <a:srgbClr val="CCCCCC"/>
              </a:solidFill>
              <a:effectLst/>
              <a:latin typeface="Consolas" panose="020B0609020204030204" pitchFamily="49" charset="0"/>
            </a:endParaRP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Data</a:t>
            </a:r>
            <a:endParaRPr lang="pl-PL" sz="1000" b="0" dirty="0" smtClean="0">
              <a:solidFill>
                <a:srgbClr val="CCCCCC"/>
              </a:solidFill>
              <a:effectLst/>
              <a:latin typeface="Consolas" panose="020B0609020204030204" pitchFamily="49" charset="0"/>
            </a:endParaRPr>
          </a:p>
          <a:p>
            <a:pPr>
              <a:lnSpc>
                <a:spcPts val="900"/>
              </a:lnSpc>
            </a:pPr>
            <a:r>
              <a:rPr lang="pl-PL" sz="1000" b="0" dirty="0" smtClean="0">
                <a:solidFill>
                  <a:srgbClr val="CCCCCC"/>
                </a:solidFill>
                <a:effectLst/>
                <a:latin typeface="Consolas" panose="020B0609020204030204" pitchFamily="49" charset="0"/>
              </a:rPr>
              <a:t>2026-05-26</a:t>
            </a: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Kontekst</a:t>
            </a:r>
            <a:endParaRPr lang="pl-PL" sz="1000" b="0" dirty="0" smtClean="0">
              <a:solidFill>
                <a:srgbClr val="CCCCCC"/>
              </a:solidFill>
              <a:effectLst/>
              <a:latin typeface="Consolas" panose="020B0609020204030204" pitchFamily="49" charset="0"/>
            </a:endParaRPr>
          </a:p>
          <a:p>
            <a:pPr>
              <a:lnSpc>
                <a:spcPts val="900"/>
              </a:lnSpc>
            </a:pPr>
            <a:r>
              <a:rPr lang="pl-PL" sz="1000" b="0" dirty="0" smtClean="0">
                <a:solidFill>
                  <a:srgbClr val="CCCCCC"/>
                </a:solidFill>
                <a:effectLst/>
                <a:latin typeface="Consolas" panose="020B0609020204030204" pitchFamily="49" charset="0"/>
              </a:rPr>
              <a:t>Projektujemy aplikację mobilną na Androida, która ma obsługiwać logowanie użytkownika, pracę z API, lokalne przechowywanie części danych oraz dalszą rozbudowę </a:t>
            </a:r>
            <a:br>
              <a:rPr lang="pl-PL" sz="1000" b="0" dirty="0" smtClean="0">
                <a:solidFill>
                  <a:srgbClr val="CCCCCC"/>
                </a:solidFill>
                <a:effectLst/>
                <a:latin typeface="Consolas" panose="020B0609020204030204" pitchFamily="49" charset="0"/>
              </a:rPr>
            </a:br>
            <a:r>
              <a:rPr lang="pl-PL" sz="1000" b="0" dirty="0" smtClean="0">
                <a:solidFill>
                  <a:srgbClr val="CCCCCC"/>
                </a:solidFill>
                <a:effectLst/>
                <a:latin typeface="Consolas" panose="020B0609020204030204" pitchFamily="49" charset="0"/>
              </a:rPr>
              <a:t>o moduły powiadomień i analityki.</a:t>
            </a: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0" dirty="0" smtClean="0">
                <a:solidFill>
                  <a:srgbClr val="CCCCCC"/>
                </a:solidFill>
                <a:effectLst/>
                <a:latin typeface="Consolas" panose="020B0609020204030204" pitchFamily="49" charset="0"/>
              </a:rPr>
              <a:t>Zespół jest niewielki, dlatego architektura powinna być czytelna, łatwa do testowania i możliwa do utrzymania przez nowych programistów.</a:t>
            </a: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Decyzja</a:t>
            </a:r>
            <a:endParaRPr lang="pl-PL" sz="1000" b="0" dirty="0" smtClean="0">
              <a:solidFill>
                <a:srgbClr val="CCCCCC"/>
              </a:solidFill>
              <a:effectLst/>
              <a:latin typeface="Consolas" panose="020B0609020204030204" pitchFamily="49" charset="0"/>
            </a:endParaRPr>
          </a:p>
          <a:p>
            <a:pPr>
              <a:lnSpc>
                <a:spcPts val="900"/>
              </a:lnSpc>
            </a:pPr>
            <a:r>
              <a:rPr lang="pl-PL" sz="1000" b="0" dirty="0" smtClean="0">
                <a:solidFill>
                  <a:srgbClr val="CCCCCC"/>
                </a:solidFill>
                <a:effectLst/>
                <a:latin typeface="Consolas" panose="020B0609020204030204" pitchFamily="49" charset="0"/>
              </a:rPr>
              <a:t>Przyjmujemy architekturę MVVM z podziałem na warstwy:</a:t>
            </a:r>
          </a:p>
          <a:p>
            <a:pPr>
              <a:lnSpc>
                <a:spcPts val="8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a:t>
            </a:r>
            <a:r>
              <a:rPr lang="pl-PL" sz="1000" b="1" dirty="0" smtClean="0">
                <a:solidFill>
                  <a:srgbClr val="CCCCCC"/>
                </a:solidFill>
                <a:effectLst/>
                <a:latin typeface="Consolas" panose="020B0609020204030204" pitchFamily="49" charset="0"/>
              </a:rPr>
              <a:t>UI</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Jetpack</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Compose</a:t>
            </a:r>
            <a:endParaRPr lang="pl-PL" sz="1000" b="0" dirty="0" smtClean="0">
              <a:solidFill>
                <a:srgbClr val="CCCCCC"/>
              </a:solidFill>
              <a:effectLst/>
              <a:latin typeface="Consolas" panose="020B0609020204030204" pitchFamily="49" charset="0"/>
            </a:endParaRPr>
          </a:p>
          <a:p>
            <a:pPr>
              <a:lnSpc>
                <a:spcPts val="11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a:t>
            </a:r>
            <a:r>
              <a:rPr lang="pl-PL" sz="1000" b="1" dirty="0" err="1" smtClean="0">
                <a:solidFill>
                  <a:srgbClr val="CCCCCC"/>
                </a:solidFill>
                <a:effectLst/>
                <a:latin typeface="Consolas" panose="020B0609020204030204" pitchFamily="49" charset="0"/>
              </a:rPr>
              <a:t>ViewModel</a:t>
            </a:r>
            <a:r>
              <a:rPr lang="pl-PL" sz="1000" b="0" dirty="0" smtClean="0">
                <a:solidFill>
                  <a:srgbClr val="CCCCCC"/>
                </a:solidFill>
                <a:effectLst/>
                <a:latin typeface="Consolas" panose="020B0609020204030204" pitchFamily="49" charset="0"/>
              </a:rPr>
              <a:t>: obsługa stanu ekranu i logiki prezentacji</a:t>
            </a:r>
          </a:p>
          <a:p>
            <a:pPr>
              <a:lnSpc>
                <a:spcPts val="11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a:t>
            </a:r>
            <a:r>
              <a:rPr lang="pl-PL" sz="1000" b="1" dirty="0" err="1" smtClean="0">
                <a:solidFill>
                  <a:srgbClr val="CCCCCC"/>
                </a:solidFill>
                <a:effectLst/>
                <a:latin typeface="Consolas" panose="020B0609020204030204" pitchFamily="49" charset="0"/>
              </a:rPr>
              <a:t>Domain</a:t>
            </a:r>
            <a:r>
              <a:rPr lang="pl-PL" sz="1000" b="0" dirty="0" smtClean="0">
                <a:solidFill>
                  <a:srgbClr val="CCCCCC"/>
                </a:solidFill>
                <a:effectLst/>
                <a:latin typeface="Consolas" panose="020B0609020204030204" pitchFamily="49" charset="0"/>
              </a:rPr>
              <a:t>: przypadki użycia aplikacji</a:t>
            </a:r>
          </a:p>
          <a:p>
            <a:pPr>
              <a:lnSpc>
                <a:spcPts val="11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a:t>
            </a:r>
            <a:r>
              <a:rPr lang="pl-PL" sz="1000" b="1" dirty="0" smtClean="0">
                <a:solidFill>
                  <a:srgbClr val="CCCCCC"/>
                </a:solidFill>
                <a:effectLst/>
                <a:latin typeface="Consolas" panose="020B0609020204030204" pitchFamily="49" charset="0"/>
              </a:rPr>
              <a:t>Data</a:t>
            </a:r>
            <a:r>
              <a:rPr lang="pl-PL" sz="1000" b="0" dirty="0" smtClean="0">
                <a:solidFill>
                  <a:srgbClr val="CCCCCC"/>
                </a:solidFill>
                <a:effectLst/>
                <a:latin typeface="Consolas" panose="020B0609020204030204" pitchFamily="49" charset="0"/>
              </a:rPr>
              <a:t>: repozytoria, API, baza lokalna</a:t>
            </a:r>
          </a:p>
          <a:p>
            <a:pPr>
              <a:lnSpc>
                <a:spcPts val="11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a:t>
            </a:r>
            <a:r>
              <a:rPr lang="pl-PL" sz="1000" b="1" dirty="0" err="1" smtClean="0">
                <a:solidFill>
                  <a:srgbClr val="CCCCCC"/>
                </a:solidFill>
                <a:effectLst/>
                <a:latin typeface="Consolas" panose="020B0609020204030204" pitchFamily="49" charset="0"/>
              </a:rPr>
              <a:t>Dependency</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Injection</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Hilt</a:t>
            </a:r>
            <a:endParaRPr lang="pl-PL" sz="1000" b="0" dirty="0" smtClean="0">
              <a:solidFill>
                <a:srgbClr val="CCCCCC"/>
              </a:solidFill>
              <a:effectLst/>
              <a:latin typeface="Consolas" panose="020B0609020204030204" pitchFamily="49" charset="0"/>
            </a:endParaRPr>
          </a:p>
          <a:p>
            <a:pPr>
              <a:lnSpc>
                <a:spcPts val="11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a:t>
            </a:r>
            <a:r>
              <a:rPr lang="pl-PL" sz="1000" b="1" dirty="0" err="1" smtClean="0">
                <a:solidFill>
                  <a:srgbClr val="CCCCCC"/>
                </a:solidFill>
                <a:effectLst/>
                <a:latin typeface="Consolas" panose="020B0609020204030204" pitchFamily="49" charset="0"/>
              </a:rPr>
              <a:t>Local</a:t>
            </a:r>
            <a:r>
              <a:rPr lang="pl-PL" sz="1000" b="1" dirty="0" smtClean="0">
                <a:solidFill>
                  <a:srgbClr val="CCCCCC"/>
                </a:solidFill>
                <a:effectLst/>
                <a:latin typeface="Consolas" panose="020B0609020204030204" pitchFamily="49" charset="0"/>
              </a:rPr>
              <a:t> </a:t>
            </a:r>
            <a:r>
              <a:rPr lang="pl-PL" sz="1000" b="1" dirty="0" err="1" smtClean="0">
                <a:solidFill>
                  <a:srgbClr val="CCCCCC"/>
                </a:solidFill>
                <a:effectLst/>
                <a:latin typeface="Consolas" panose="020B0609020204030204" pitchFamily="49" charset="0"/>
              </a:rPr>
              <a:t>storage</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Room</a:t>
            </a:r>
            <a:endParaRPr lang="pl-PL" sz="1000" b="0" dirty="0" smtClean="0">
              <a:solidFill>
                <a:srgbClr val="CCCCCC"/>
              </a:solidFill>
              <a:effectLst/>
              <a:latin typeface="Consolas" panose="020B0609020204030204" pitchFamily="49" charset="0"/>
            </a:endParaRPr>
          </a:p>
          <a:p>
            <a:pPr>
              <a:lnSpc>
                <a:spcPts val="11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a:t>
            </a:r>
            <a:r>
              <a:rPr lang="pl-PL" sz="1000" b="1" dirty="0" smtClean="0">
                <a:solidFill>
                  <a:srgbClr val="CCCCCC"/>
                </a:solidFill>
                <a:effectLst/>
                <a:latin typeface="Consolas" panose="020B0609020204030204" pitchFamily="49" charset="0"/>
              </a:rPr>
              <a:t>Networking</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Retrofit</a:t>
            </a:r>
            <a:r>
              <a:rPr lang="pl-PL" sz="1000" b="0" dirty="0" smtClean="0">
                <a:solidFill>
                  <a:srgbClr val="CCCCCC"/>
                </a:solidFill>
                <a:effectLst/>
                <a:latin typeface="Consolas" panose="020B0609020204030204" pitchFamily="49" charset="0"/>
              </a:rPr>
              <a:t> + </a:t>
            </a:r>
            <a:r>
              <a:rPr lang="pl-PL" sz="1000" b="0" dirty="0" err="1" smtClean="0">
                <a:solidFill>
                  <a:srgbClr val="CCCCCC"/>
                </a:solidFill>
                <a:effectLst/>
                <a:latin typeface="Consolas" panose="020B0609020204030204" pitchFamily="49" charset="0"/>
              </a:rPr>
              <a:t>OkHttp</a:t>
            </a:r>
            <a:endParaRPr lang="pl-PL" sz="1000" b="0" dirty="0" smtClean="0">
              <a:solidFill>
                <a:srgbClr val="CCCCCC"/>
              </a:solidFill>
              <a:effectLst/>
              <a:latin typeface="Consolas" panose="020B0609020204030204" pitchFamily="49" charset="0"/>
            </a:endParaRPr>
          </a:p>
          <a:p>
            <a:pPr>
              <a:lnSpc>
                <a:spcPts val="11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a:t>
            </a:r>
            <a:r>
              <a:rPr lang="pl-PL" sz="1000" b="1" dirty="0" err="1" smtClean="0">
                <a:solidFill>
                  <a:srgbClr val="CCCCCC"/>
                </a:solidFill>
                <a:effectLst/>
                <a:latin typeface="Consolas" panose="020B0609020204030204" pitchFamily="49" charset="0"/>
              </a:rPr>
              <a:t>Async</a:t>
            </a:r>
            <a:r>
              <a:rPr lang="pl-PL" sz="1000" b="0" dirty="0" smtClean="0">
                <a:solidFill>
                  <a:srgbClr val="CCCCCC"/>
                </a:solidFill>
                <a:effectLst/>
                <a:latin typeface="Consolas" panose="020B0609020204030204" pitchFamily="49" charset="0"/>
              </a:rPr>
              <a:t>: Kotlin </a:t>
            </a:r>
            <a:r>
              <a:rPr lang="pl-PL" sz="1000" b="0" dirty="0" err="1" smtClean="0">
                <a:solidFill>
                  <a:srgbClr val="CCCCCC"/>
                </a:solidFill>
                <a:effectLst/>
                <a:latin typeface="Consolas" panose="020B0609020204030204" pitchFamily="49" charset="0"/>
              </a:rPr>
              <a:t>Coroutines</a:t>
            </a:r>
            <a:r>
              <a:rPr lang="pl-PL" sz="1000" b="0" dirty="0" smtClean="0">
                <a:solidFill>
                  <a:srgbClr val="CCCCCC"/>
                </a:solidFill>
                <a:effectLst/>
                <a:latin typeface="Consolas" panose="020B0609020204030204" pitchFamily="49" charset="0"/>
              </a:rPr>
              <a:t> + </a:t>
            </a:r>
            <a:r>
              <a:rPr lang="pl-PL" sz="1000" b="0" dirty="0" err="1" smtClean="0">
                <a:solidFill>
                  <a:srgbClr val="CCCCCC"/>
                </a:solidFill>
                <a:effectLst/>
                <a:latin typeface="Consolas" panose="020B0609020204030204" pitchFamily="49" charset="0"/>
              </a:rPr>
              <a:t>Flow</a:t>
            </a:r>
            <a:endParaRPr lang="pl-PL" sz="1000" b="0" dirty="0" smtClean="0">
              <a:solidFill>
                <a:srgbClr val="CCCCCC"/>
              </a:solidFill>
              <a:effectLst/>
              <a:latin typeface="Consolas" panose="020B0609020204030204" pitchFamily="49" charset="0"/>
            </a:endParaRP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Uzasadnienie</a:t>
            </a:r>
            <a:endParaRPr lang="pl-PL" sz="1000" b="0" dirty="0" smtClean="0">
              <a:solidFill>
                <a:srgbClr val="CCCCCC"/>
              </a:solidFill>
              <a:effectLst/>
              <a:latin typeface="Consolas" panose="020B0609020204030204" pitchFamily="49" charset="0"/>
            </a:endParaRPr>
          </a:p>
          <a:p>
            <a:pPr>
              <a:lnSpc>
                <a:spcPts val="900"/>
              </a:lnSpc>
            </a:pPr>
            <a:r>
              <a:rPr lang="pl-PL" sz="1000" b="0" dirty="0" smtClean="0">
                <a:solidFill>
                  <a:srgbClr val="CCCCCC"/>
                </a:solidFill>
                <a:effectLst/>
                <a:latin typeface="Consolas" panose="020B0609020204030204" pitchFamily="49" charset="0"/>
              </a:rPr>
              <a:t>MVVM dobrze pasuje do aplikacji Android tworzonych w Kotlinie i </a:t>
            </a:r>
            <a:r>
              <a:rPr lang="pl-PL" sz="1000" b="0" dirty="0" err="1" smtClean="0">
                <a:solidFill>
                  <a:srgbClr val="CCCCCC"/>
                </a:solidFill>
                <a:effectLst/>
                <a:latin typeface="Consolas" panose="020B0609020204030204" pitchFamily="49" charset="0"/>
              </a:rPr>
              <a:t>Jetpack</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Compose</a:t>
            </a:r>
            <a:r>
              <a:rPr lang="pl-PL" sz="1000" b="0" dirty="0" smtClean="0">
                <a:solidFill>
                  <a:srgbClr val="CCCCCC"/>
                </a:solidFill>
                <a:effectLst/>
                <a:latin typeface="Consolas" panose="020B0609020204030204" pitchFamily="49" charset="0"/>
              </a:rPr>
              <a:t>. Pozwala oddzielić logikę interfejsu od logiki biznesowej, ułatwia testowanie oraz zmniejsza ryzyko mieszania kodu UI z obsługą danych.</a:t>
            </a:r>
          </a:p>
          <a:p>
            <a:pPr>
              <a:lnSpc>
                <a:spcPts val="900"/>
              </a:lnSpc>
            </a:pPr>
            <a:endParaRPr lang="pl-PL" sz="1000" b="0" dirty="0" smtClean="0">
              <a:solidFill>
                <a:srgbClr val="CCCCCC"/>
              </a:solidFill>
              <a:effectLst/>
              <a:latin typeface="Consolas" panose="020B0609020204030204" pitchFamily="49" charset="0"/>
            </a:endParaRPr>
          </a:p>
          <a:p>
            <a:pPr>
              <a:lnSpc>
                <a:spcPts val="900"/>
              </a:lnSpc>
            </a:pPr>
            <a:r>
              <a:rPr lang="pl-PL" sz="1000" b="0" dirty="0" err="1" smtClean="0">
                <a:solidFill>
                  <a:srgbClr val="CCCCCC"/>
                </a:solidFill>
                <a:effectLst/>
                <a:latin typeface="Consolas" panose="020B0609020204030204" pitchFamily="49" charset="0"/>
              </a:rPr>
              <a:t>Jetpack</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Compose</a:t>
            </a:r>
            <a:r>
              <a:rPr lang="pl-PL" sz="1000" b="0" dirty="0" smtClean="0">
                <a:solidFill>
                  <a:srgbClr val="CCCCCC"/>
                </a:solidFill>
                <a:effectLst/>
                <a:latin typeface="Consolas" panose="020B0609020204030204" pitchFamily="49" charset="0"/>
              </a:rPr>
              <a:t> upraszcza budowanie interfejsu, a </a:t>
            </a:r>
            <a:r>
              <a:rPr lang="pl-PL" sz="1000" b="0" dirty="0" err="1" smtClean="0">
                <a:solidFill>
                  <a:srgbClr val="CCCCCC"/>
                </a:solidFill>
                <a:effectLst/>
                <a:latin typeface="Consolas" panose="020B0609020204030204" pitchFamily="49" charset="0"/>
              </a:rPr>
              <a:t>Flow</a:t>
            </a:r>
            <a:r>
              <a:rPr lang="pl-PL" sz="1000" b="0" dirty="0" smtClean="0">
                <a:solidFill>
                  <a:srgbClr val="CCCCCC"/>
                </a:solidFill>
                <a:effectLst/>
                <a:latin typeface="Consolas" panose="020B0609020204030204" pitchFamily="49" charset="0"/>
              </a:rPr>
              <a:t> pozwala wygodnie reagować na zmiany stanu aplikacji.</a:t>
            </a:r>
          </a:p>
          <a:p>
            <a:pPr>
              <a:lnSpc>
                <a:spcPts val="900"/>
              </a:lnSpc>
            </a:pPr>
            <a:r>
              <a:rPr lang="pl-PL" sz="1000" b="1" dirty="0" smtClean="0">
                <a:solidFill>
                  <a:srgbClr val="569CD6"/>
                </a:solidFill>
                <a:effectLst/>
                <a:latin typeface="Consolas" panose="020B0609020204030204" pitchFamily="49" charset="0"/>
              </a:rPr>
              <a:t>## Alternatywy</a:t>
            </a:r>
            <a:endParaRPr lang="pl-PL" sz="1000" b="0" dirty="0" smtClean="0">
              <a:solidFill>
                <a:srgbClr val="CCCCCC"/>
              </a:solidFill>
              <a:effectLst/>
              <a:latin typeface="Consolas" panose="020B0609020204030204" pitchFamily="49" charset="0"/>
            </a:endParaRPr>
          </a:p>
          <a:p>
            <a:pPr>
              <a:lnSpc>
                <a:spcPts val="1100"/>
              </a:lnSpc>
            </a:pPr>
            <a:r>
              <a:rPr lang="pl-PL" sz="1000" b="0" dirty="0" smtClean="0">
                <a:solidFill>
                  <a:srgbClr val="6796E6"/>
                </a:solidFill>
                <a:effectLst/>
                <a:latin typeface="Consolas" panose="020B0609020204030204" pitchFamily="49" charset="0"/>
              </a:rPr>
              <a:t>1.</a:t>
            </a:r>
            <a:r>
              <a:rPr lang="pl-PL" sz="1000" b="0" dirty="0" smtClean="0">
                <a:solidFill>
                  <a:srgbClr val="CCCCCC"/>
                </a:solidFill>
                <a:effectLst/>
                <a:latin typeface="Consolas" panose="020B0609020204030204" pitchFamily="49" charset="0"/>
              </a:rPr>
              <a:t> </a:t>
            </a:r>
            <a:r>
              <a:rPr lang="pl-PL" sz="1000" b="1" dirty="0" smtClean="0">
                <a:solidFill>
                  <a:srgbClr val="CCCCCC"/>
                </a:solidFill>
                <a:effectLst/>
                <a:latin typeface="Consolas" panose="020B0609020204030204" pitchFamily="49" charset="0"/>
              </a:rPr>
              <a:t>MVC</a:t>
            </a:r>
          </a:p>
          <a:p>
            <a:pPr>
              <a:lnSpc>
                <a:spcPts val="1100"/>
              </a:lnSpc>
            </a:pPr>
            <a:r>
              <a:rPr lang="pl-PL" sz="1000" b="0" dirty="0" smtClean="0">
                <a:solidFill>
                  <a:srgbClr val="CCCCCC"/>
                </a:solidFill>
                <a:effectLst/>
                <a:latin typeface="Consolas" panose="020B0609020204030204" pitchFamily="49" charset="0"/>
              </a:rPr>
              <a:t>   Odrzucone, ponieważ prowadzi do silnego powiązania </a:t>
            </a:r>
            <a:br>
              <a:rPr lang="pl-PL" sz="1000" b="0" dirty="0" smtClean="0">
                <a:solidFill>
                  <a:srgbClr val="CCCCCC"/>
                </a:solidFill>
                <a:effectLst/>
                <a:latin typeface="Consolas" panose="020B0609020204030204" pitchFamily="49" charset="0"/>
              </a:rPr>
            </a:br>
            <a:r>
              <a:rPr lang="pl-PL" sz="1000" b="0" dirty="0" smtClean="0">
                <a:solidFill>
                  <a:srgbClr val="CCCCCC"/>
                </a:solidFill>
                <a:effectLst/>
                <a:latin typeface="Consolas" panose="020B0609020204030204" pitchFamily="49" charset="0"/>
              </a:rPr>
              <a:t>   widoku</a:t>
            </a:r>
            <a:r>
              <a:rPr lang="pl-PL" sz="1000" dirty="0" smtClean="0">
                <a:solidFill>
                  <a:srgbClr val="CCCCCC"/>
                </a:solidFill>
                <a:latin typeface="Consolas" panose="020B0609020204030204" pitchFamily="49" charset="0"/>
              </a:rPr>
              <a:t> </a:t>
            </a:r>
            <a:r>
              <a:rPr lang="pl-PL" sz="1000" b="0" dirty="0" smtClean="0">
                <a:solidFill>
                  <a:srgbClr val="CCCCCC"/>
                </a:solidFill>
                <a:effectLst/>
                <a:latin typeface="Consolas" panose="020B0609020204030204" pitchFamily="49" charset="0"/>
              </a:rPr>
              <a:t>z logiką aplikacji.</a:t>
            </a: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0" dirty="0" smtClean="0">
                <a:solidFill>
                  <a:srgbClr val="6796E6"/>
                </a:solidFill>
                <a:effectLst/>
                <a:latin typeface="Consolas" panose="020B0609020204030204" pitchFamily="49" charset="0"/>
              </a:rPr>
              <a:t>2.</a:t>
            </a:r>
            <a:r>
              <a:rPr lang="pl-PL" sz="1000" b="0" dirty="0" smtClean="0">
                <a:solidFill>
                  <a:srgbClr val="CCCCCC"/>
                </a:solidFill>
                <a:effectLst/>
                <a:latin typeface="Consolas" panose="020B0609020204030204" pitchFamily="49" charset="0"/>
              </a:rPr>
              <a:t> </a:t>
            </a:r>
            <a:r>
              <a:rPr lang="pl-PL" sz="1000" b="1" dirty="0" smtClean="0">
                <a:solidFill>
                  <a:srgbClr val="CCCCCC"/>
                </a:solidFill>
                <a:effectLst/>
                <a:latin typeface="Consolas" panose="020B0609020204030204" pitchFamily="49" charset="0"/>
              </a:rPr>
              <a:t>MVP</a:t>
            </a:r>
          </a:p>
          <a:p>
            <a:pPr>
              <a:lnSpc>
                <a:spcPts val="1100"/>
              </a:lnSpc>
            </a:pPr>
            <a:r>
              <a:rPr lang="pl-PL" sz="1000" b="0" dirty="0" smtClean="0">
                <a:solidFill>
                  <a:srgbClr val="CCCCCC"/>
                </a:solidFill>
                <a:effectLst/>
                <a:latin typeface="Consolas" panose="020B0609020204030204" pitchFamily="49" charset="0"/>
              </a:rPr>
              <a:t>   Odrzucone, ponieważ zwiększa liczbę klas </a:t>
            </a:r>
            <a:br>
              <a:rPr lang="pl-PL" sz="1000" b="0" dirty="0" smtClean="0">
                <a:solidFill>
                  <a:srgbClr val="CCCCCC"/>
                </a:solidFill>
                <a:effectLst/>
                <a:latin typeface="Consolas" panose="020B0609020204030204" pitchFamily="49" charset="0"/>
              </a:rPr>
            </a:br>
            <a:r>
              <a:rPr lang="pl-PL" sz="1000" b="0" dirty="0" smtClean="0">
                <a:solidFill>
                  <a:srgbClr val="CCCCCC"/>
                </a:solidFill>
                <a:effectLst/>
                <a:latin typeface="Consolas" panose="020B0609020204030204" pitchFamily="49" charset="0"/>
              </a:rPr>
              <a:t>   i jest mniej naturalne w połączeniu z </a:t>
            </a:r>
            <a:r>
              <a:rPr lang="pl-PL" sz="1000" b="0" dirty="0" err="1" smtClean="0">
                <a:solidFill>
                  <a:srgbClr val="CCCCCC"/>
                </a:solidFill>
                <a:effectLst/>
                <a:latin typeface="Consolas" panose="020B0609020204030204" pitchFamily="49" charset="0"/>
              </a:rPr>
              <a:t>Compose</a:t>
            </a:r>
            <a:r>
              <a:rPr lang="pl-PL" sz="1000" b="0" dirty="0" smtClean="0">
                <a:solidFill>
                  <a:srgbClr val="CCCCCC"/>
                </a:solidFill>
                <a:effectLst/>
                <a:latin typeface="Consolas" panose="020B0609020204030204" pitchFamily="49" charset="0"/>
              </a:rPr>
              <a:t>.</a:t>
            </a: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6796E6"/>
                </a:solidFill>
                <a:effectLst/>
                <a:latin typeface="Consolas" panose="020B0609020204030204" pitchFamily="49" charset="0"/>
              </a:rPr>
              <a:t>3.</a:t>
            </a:r>
            <a:r>
              <a:rPr lang="pl-PL" sz="1000" b="1" dirty="0" smtClean="0">
                <a:solidFill>
                  <a:srgbClr val="CCCCCC"/>
                </a:solidFill>
                <a:effectLst/>
                <a:latin typeface="Consolas" panose="020B0609020204030204" pitchFamily="49" charset="0"/>
              </a:rPr>
              <a:t> </a:t>
            </a:r>
            <a:r>
              <a:rPr lang="pl-PL" sz="1000" b="1" dirty="0" err="1" smtClean="0">
                <a:solidFill>
                  <a:srgbClr val="CCCCCC"/>
                </a:solidFill>
                <a:effectLst/>
                <a:latin typeface="Consolas" panose="020B0609020204030204" pitchFamily="49" charset="0"/>
              </a:rPr>
              <a:t>Clean</a:t>
            </a:r>
            <a:r>
              <a:rPr lang="pl-PL" sz="1000" b="1" dirty="0" smtClean="0">
                <a:solidFill>
                  <a:srgbClr val="CCCCCC"/>
                </a:solidFill>
                <a:effectLst/>
                <a:latin typeface="Consolas" panose="020B0609020204030204" pitchFamily="49" charset="0"/>
              </a:rPr>
              <a:t> Architecture </a:t>
            </a:r>
            <a:r>
              <a:rPr lang="pl-PL" sz="1000" b="0" dirty="0" smtClean="0">
                <a:solidFill>
                  <a:srgbClr val="CCCCCC"/>
                </a:solidFill>
                <a:effectLst/>
                <a:latin typeface="Consolas" panose="020B0609020204030204" pitchFamily="49" charset="0"/>
              </a:rPr>
              <a:t>w pełnej wersji</a:t>
            </a:r>
          </a:p>
          <a:p>
            <a:pPr>
              <a:lnSpc>
                <a:spcPts val="1200"/>
              </a:lnSpc>
            </a:pPr>
            <a:r>
              <a:rPr lang="pl-PL" sz="1000" b="0" dirty="0" smtClean="0">
                <a:solidFill>
                  <a:srgbClr val="CCCCCC"/>
                </a:solidFill>
                <a:effectLst/>
                <a:latin typeface="Consolas" panose="020B0609020204030204" pitchFamily="49" charset="0"/>
              </a:rPr>
              <a:t>   Odrzucone dla MVP, ponieważ byłaby zbyt rozbudowana </a:t>
            </a:r>
            <a:br>
              <a:rPr lang="pl-PL" sz="1000" b="0" dirty="0" smtClean="0">
                <a:solidFill>
                  <a:srgbClr val="CCCCCC"/>
                </a:solidFill>
                <a:effectLst/>
                <a:latin typeface="Consolas" panose="020B0609020204030204" pitchFamily="49" charset="0"/>
              </a:rPr>
            </a:br>
            <a:r>
              <a:rPr lang="pl-PL" sz="1000" b="0" dirty="0" smtClean="0">
                <a:solidFill>
                  <a:srgbClr val="CCCCCC"/>
                </a:solidFill>
                <a:effectLst/>
                <a:latin typeface="Consolas" panose="020B0609020204030204" pitchFamily="49" charset="0"/>
              </a:rPr>
              <a:t>   na obecny zakres projektu.</a:t>
            </a: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Konsekwencje pozytywne</a:t>
            </a:r>
            <a:endParaRPr lang="pl-PL" sz="1000" b="0" dirty="0" smtClean="0">
              <a:solidFill>
                <a:srgbClr val="CCCCCC"/>
              </a:solidFill>
              <a:effectLst/>
              <a:latin typeface="Consolas" panose="020B0609020204030204" pitchFamily="49" charset="0"/>
            </a:endParaRP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lepsza testowalność kodu,</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czytelny podział odpowiedzialności,</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łatwiejszy </a:t>
            </a:r>
            <a:r>
              <a:rPr lang="pl-PL" sz="1000" b="0" dirty="0" err="1" smtClean="0">
                <a:solidFill>
                  <a:srgbClr val="CCCCCC"/>
                </a:solidFill>
                <a:effectLst/>
                <a:latin typeface="Consolas" panose="020B0609020204030204" pitchFamily="49" charset="0"/>
              </a:rPr>
              <a:t>onboarding</a:t>
            </a:r>
            <a:r>
              <a:rPr lang="pl-PL" sz="1000" b="0" dirty="0" smtClean="0">
                <a:solidFill>
                  <a:srgbClr val="CCCCCC"/>
                </a:solidFill>
                <a:effectLst/>
                <a:latin typeface="Consolas" panose="020B0609020204030204" pitchFamily="49" charset="0"/>
              </a:rPr>
              <a:t> nowych osób,</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mniejsze ryzyko długu technicznego,</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dobra integracja z ekosystemem Android </a:t>
            </a:r>
            <a:r>
              <a:rPr lang="pl-PL" sz="1000" b="0" dirty="0" err="1" smtClean="0">
                <a:solidFill>
                  <a:srgbClr val="CCCCCC"/>
                </a:solidFill>
                <a:effectLst/>
                <a:latin typeface="Consolas" panose="020B0609020204030204" pitchFamily="49" charset="0"/>
              </a:rPr>
              <a:t>Jetpack</a:t>
            </a:r>
            <a:r>
              <a:rPr lang="pl-PL" sz="1000" b="0" dirty="0" smtClean="0">
                <a:solidFill>
                  <a:srgbClr val="CCCCCC"/>
                </a:solidFill>
                <a:effectLst/>
                <a:latin typeface="Consolas" panose="020B0609020204030204" pitchFamily="49" charset="0"/>
              </a:rPr>
              <a:t>.</a:t>
            </a: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Konsekwencje negatywne</a:t>
            </a:r>
            <a:endParaRPr lang="pl-PL" sz="1000" b="0" dirty="0" smtClean="0">
              <a:solidFill>
                <a:srgbClr val="CCCCCC"/>
              </a:solidFill>
              <a:effectLst/>
              <a:latin typeface="Consolas" panose="020B0609020204030204" pitchFamily="49" charset="0"/>
            </a:endParaRP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większa liczba plików i warstw,</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konieczność zachowania dyscypliny architektonicznej,</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początkowo wolniejsze tempo pracy </a:t>
            </a:r>
            <a:br>
              <a:rPr lang="pl-PL" sz="1000" b="0" dirty="0" smtClean="0">
                <a:solidFill>
                  <a:srgbClr val="CCCCCC"/>
                </a:solidFill>
                <a:effectLst/>
                <a:latin typeface="Consolas" panose="020B0609020204030204" pitchFamily="49" charset="0"/>
              </a:rPr>
            </a:br>
            <a:r>
              <a:rPr lang="pl-PL" sz="1000" b="0" dirty="0" smtClean="0">
                <a:solidFill>
                  <a:srgbClr val="CCCCCC"/>
                </a:solidFill>
                <a:effectLst/>
                <a:latin typeface="Consolas" panose="020B0609020204030204" pitchFamily="49" charset="0"/>
              </a:rPr>
              <a:t>  dla mniej doświadczonych programistów,</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ryzyko nadmiernej abstrakcji przy prostych funkcjach.</a:t>
            </a:r>
          </a:p>
          <a:p>
            <a:pPr>
              <a:lnSpc>
                <a:spcPts val="900"/>
              </a:lnSpc>
            </a:pP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Kryterium rewizji decyzji</a:t>
            </a:r>
            <a:endParaRPr lang="pl-PL" sz="1000" b="0" dirty="0" smtClean="0">
              <a:solidFill>
                <a:srgbClr val="CCCCCC"/>
              </a:solidFill>
              <a:effectLst/>
              <a:latin typeface="Consolas" panose="020B0609020204030204" pitchFamily="49" charset="0"/>
            </a:endParaRPr>
          </a:p>
          <a:p>
            <a:pPr>
              <a:lnSpc>
                <a:spcPts val="1000"/>
              </a:lnSpc>
            </a:pPr>
            <a:r>
              <a:rPr lang="pl-PL" sz="1000" b="0" dirty="0" smtClean="0">
                <a:solidFill>
                  <a:srgbClr val="CCCCCC"/>
                </a:solidFill>
                <a:effectLst/>
                <a:latin typeface="Consolas" panose="020B0609020204030204" pitchFamily="49" charset="0"/>
              </a:rPr>
              <a:t>Decyzja powinna zostać ponownie oceniona, jeśli:</a:t>
            </a:r>
            <a:br>
              <a:rPr lang="pl-PL" sz="1000" b="0" dirty="0" smtClean="0">
                <a:solidFill>
                  <a:srgbClr val="CCCCCC"/>
                </a:solidFill>
                <a:effectLst/>
                <a:latin typeface="Consolas" panose="020B0609020204030204" pitchFamily="49" charset="0"/>
              </a:rPr>
            </a:b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aplikacja znacząco urośnie funkcjonalnie,</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pojawi się potrzeba wersji iOS,</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logika domenowa stanie się złożona,</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testowanie obecnej struktury okaże się niewystarczające,</a:t>
            </a:r>
          </a:p>
          <a:p>
            <a:pPr>
              <a:lnSpc>
                <a:spcPts val="1000"/>
              </a:lnSpc>
            </a:pPr>
            <a:r>
              <a:rPr lang="pl-PL" sz="1000" b="0" dirty="0" smtClean="0">
                <a:solidFill>
                  <a:srgbClr val="6796E6"/>
                </a:solidFill>
                <a:effectLst/>
                <a:latin typeface="Consolas" panose="020B0609020204030204" pitchFamily="49" charset="0"/>
              </a:rPr>
              <a:t>-</a:t>
            </a:r>
            <a:r>
              <a:rPr lang="pl-PL" sz="1000" b="0" dirty="0" smtClean="0">
                <a:solidFill>
                  <a:srgbClr val="CCCCCC"/>
                </a:solidFill>
                <a:effectLst/>
                <a:latin typeface="Consolas" panose="020B0609020204030204" pitchFamily="49" charset="0"/>
              </a:rPr>
              <a:t> zespół zacznie mieć trudności z utrzymaniem spójności kodu.</a:t>
            </a:r>
            <a:endParaRPr lang="pl-PL" sz="10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608444750"/>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543"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err="1">
                <a:solidFill>
                  <a:srgbClr val="FFFFFF"/>
                </a:solidFill>
                <a:effectLst/>
                <a:uFillTx/>
                <a:latin typeface="Calibri"/>
              </a:rPr>
              <a:t>Roadmapa</a:t>
            </a:r>
            <a:r>
              <a:rPr lang="en-US" sz="2000" b="1" u="none" strike="noStrike" dirty="0">
                <a:solidFill>
                  <a:srgbClr val="FFFFFF"/>
                </a:solidFill>
                <a:effectLst/>
                <a:uFillTx/>
                <a:latin typeface="Calibri"/>
              </a:rPr>
              <a:t> </a:t>
            </a:r>
            <a:r>
              <a:rPr lang="en-US" sz="2000" b="1" u="none" strike="noStrike" dirty="0" err="1" smtClean="0">
                <a:solidFill>
                  <a:srgbClr val="FFFFFF"/>
                </a:solidFill>
                <a:effectLst/>
                <a:uFillTx/>
                <a:latin typeface="Calibri"/>
              </a:rPr>
              <a:t>produktu</a:t>
            </a:r>
            <a:endParaRPr lang="pl-PL" sz="2000" b="0" u="none" strike="noStrike" dirty="0">
              <a:solidFill>
                <a:srgbClr val="FFFFFF"/>
              </a:solidFill>
              <a:effectLst/>
              <a:uFillTx/>
              <a:latin typeface="Arial"/>
            </a:endParaRPr>
          </a:p>
        </p:txBody>
      </p:sp>
      <p:sp>
        <p:nvSpPr>
          <p:cNvPr id="544" name="Shape 3"/>
          <p:cNvSpPr/>
          <p:nvPr/>
        </p:nvSpPr>
        <p:spPr>
          <a:xfrm>
            <a:off x="383760" y="4498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546" name="Shape 5"/>
          <p:cNvSpPr/>
          <p:nvPr/>
        </p:nvSpPr>
        <p:spPr>
          <a:xfrm>
            <a:off x="384120" y="703580"/>
            <a:ext cx="2010600" cy="2604960"/>
          </a:xfrm>
          <a:prstGeom prst="rect">
            <a:avLst/>
          </a:prstGeom>
          <a:solidFill>
            <a:srgbClr val="0A2540"/>
          </a:solidFill>
          <a:ln w="1016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47" name="Shape 6"/>
          <p:cNvSpPr/>
          <p:nvPr/>
        </p:nvSpPr>
        <p:spPr>
          <a:xfrm>
            <a:off x="384120" y="703580"/>
            <a:ext cx="2010600" cy="5364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FFFFFF"/>
              </a:solidFill>
              <a:effectLst/>
              <a:uFillTx/>
              <a:latin typeface="Arial"/>
            </a:endParaRPr>
          </a:p>
        </p:txBody>
      </p:sp>
      <p:sp>
        <p:nvSpPr>
          <p:cNvPr id="548" name="Text 7"/>
          <p:cNvSpPr/>
          <p:nvPr/>
        </p:nvSpPr>
        <p:spPr>
          <a:xfrm>
            <a:off x="475560" y="767660"/>
            <a:ext cx="18277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u="none" strike="noStrike" dirty="0" err="1">
                <a:solidFill>
                  <a:srgbClr val="A191CF"/>
                </a:solidFill>
                <a:effectLst/>
                <a:uFillTx/>
                <a:latin typeface="Calibri"/>
              </a:rPr>
              <a:t>Faza</a:t>
            </a:r>
            <a:r>
              <a:rPr lang="en-US" u="none" strike="noStrike" dirty="0">
                <a:solidFill>
                  <a:srgbClr val="A191CF"/>
                </a:solidFill>
                <a:effectLst/>
                <a:uFillTx/>
                <a:latin typeface="Calibri"/>
              </a:rPr>
              <a:t> 0</a:t>
            </a:r>
            <a:r>
              <a:rPr lang="pl-PL" u="none" strike="noStrike" dirty="0">
                <a:solidFill>
                  <a:srgbClr val="A191CF"/>
                </a:solidFill>
                <a:effectLst/>
                <a:uFillTx/>
                <a:latin typeface="Calibri"/>
              </a:rPr>
              <a:t> </a:t>
            </a:r>
            <a:r>
              <a:rPr lang="en-US" b="1" u="none" strike="noStrike" dirty="0">
                <a:solidFill>
                  <a:srgbClr val="A191CF"/>
                </a:solidFill>
                <a:effectLst/>
                <a:uFillTx/>
                <a:latin typeface="Calibri"/>
              </a:rPr>
              <a:t>Discovery</a:t>
            </a:r>
            <a:endParaRPr lang="pl-PL" b="0" u="none" strike="noStrike" dirty="0">
              <a:solidFill>
                <a:srgbClr val="A191CF"/>
              </a:solidFill>
              <a:effectLst/>
              <a:uFillTx/>
              <a:latin typeface="Arial"/>
            </a:endParaRPr>
          </a:p>
        </p:txBody>
      </p:sp>
      <p:sp>
        <p:nvSpPr>
          <p:cNvPr id="549" name="Shape 8"/>
          <p:cNvSpPr/>
          <p:nvPr/>
        </p:nvSpPr>
        <p:spPr>
          <a:xfrm>
            <a:off x="475560" y="1344240"/>
            <a:ext cx="883080" cy="200160"/>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50" name="Text 9"/>
          <p:cNvSpPr/>
          <p:nvPr/>
        </p:nvSpPr>
        <p:spPr>
          <a:xfrm>
            <a:off x="475560" y="1344240"/>
            <a:ext cx="8830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dirty="0" err="1">
                <a:solidFill>
                  <a:srgbClr val="FFFFFF"/>
                </a:solidFill>
                <a:effectLst/>
                <a:uFillTx/>
                <a:latin typeface="Calibri"/>
              </a:rPr>
              <a:t>Mies</a:t>
            </a:r>
            <a:r>
              <a:rPr lang="en-US" sz="1000" b="1" u="none" strike="noStrike" dirty="0">
                <a:solidFill>
                  <a:srgbClr val="FFFFFF"/>
                </a:solidFill>
                <a:effectLst/>
                <a:uFillTx/>
                <a:latin typeface="Calibri"/>
              </a:rPr>
              <a:t>. 1-2</a:t>
            </a:r>
            <a:endParaRPr lang="pl-PL" sz="1000" b="0" u="none" strike="noStrike" dirty="0">
              <a:solidFill>
                <a:srgbClr val="FFFFFF"/>
              </a:solidFill>
              <a:effectLst/>
              <a:uFillTx/>
              <a:latin typeface="Arial"/>
            </a:endParaRPr>
          </a:p>
        </p:txBody>
      </p:sp>
      <p:sp>
        <p:nvSpPr>
          <p:cNvPr id="551" name="Text 10"/>
          <p:cNvSpPr/>
          <p:nvPr/>
        </p:nvSpPr>
        <p:spPr>
          <a:xfrm>
            <a:off x="475560" y="160020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7C4DFF"/>
                </a:solidFill>
                <a:effectLst/>
                <a:uFillTx/>
                <a:latin typeface="Calibri"/>
              </a:rPr>
              <a:t>▸ </a:t>
            </a:r>
            <a:r>
              <a:rPr lang="en-US" sz="1400" b="0" u="none" strike="noStrike">
                <a:solidFill>
                  <a:srgbClr val="FFFFFF"/>
                </a:solidFill>
                <a:effectLst/>
                <a:uFillTx/>
                <a:latin typeface="Calibri"/>
              </a:rPr>
              <a:t>Research &amp; walidacja</a:t>
            </a:r>
            <a:endParaRPr lang="pl-PL" sz="1400" b="0" u="none" strike="noStrike">
              <a:solidFill>
                <a:srgbClr val="FFFFFF"/>
              </a:solidFill>
              <a:effectLst/>
              <a:uFillTx/>
              <a:latin typeface="Arial"/>
            </a:endParaRPr>
          </a:p>
        </p:txBody>
      </p:sp>
      <p:sp>
        <p:nvSpPr>
          <p:cNvPr id="552" name="Text 11"/>
          <p:cNvSpPr/>
          <p:nvPr/>
        </p:nvSpPr>
        <p:spPr>
          <a:xfrm>
            <a:off x="475560" y="201168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7C4DFF"/>
                </a:solidFill>
                <a:effectLst/>
                <a:uFillTx/>
                <a:latin typeface="Calibri"/>
              </a:rPr>
              <a:t>▸ </a:t>
            </a:r>
            <a:r>
              <a:rPr lang="en-US" sz="1400" b="0" u="none" strike="noStrike">
                <a:solidFill>
                  <a:srgbClr val="FFFFFF"/>
                </a:solidFill>
                <a:effectLst/>
                <a:uFillTx/>
                <a:latin typeface="Calibri"/>
              </a:rPr>
              <a:t>Arch. decisions</a:t>
            </a:r>
            <a:endParaRPr lang="pl-PL" sz="1400" b="0" u="none" strike="noStrike">
              <a:solidFill>
                <a:srgbClr val="FFFFFF"/>
              </a:solidFill>
              <a:effectLst/>
              <a:uFillTx/>
              <a:latin typeface="Arial"/>
            </a:endParaRPr>
          </a:p>
        </p:txBody>
      </p:sp>
      <p:sp>
        <p:nvSpPr>
          <p:cNvPr id="553" name="Text 12"/>
          <p:cNvSpPr/>
          <p:nvPr/>
        </p:nvSpPr>
        <p:spPr>
          <a:xfrm>
            <a:off x="475560" y="242316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7C4DFF"/>
                </a:solidFill>
                <a:effectLst/>
                <a:uFillTx/>
                <a:latin typeface="Calibri"/>
              </a:rPr>
              <a:t>▸ </a:t>
            </a:r>
            <a:r>
              <a:rPr lang="en-US" sz="1400" b="0" u="none" strike="noStrike">
                <a:solidFill>
                  <a:srgbClr val="FFFFFF"/>
                </a:solidFill>
                <a:effectLst/>
                <a:uFillTx/>
                <a:latin typeface="Calibri"/>
              </a:rPr>
              <a:t>Design sprint</a:t>
            </a:r>
            <a:endParaRPr lang="pl-PL" sz="1400" b="0" u="none" strike="noStrike">
              <a:solidFill>
                <a:srgbClr val="FFFFFF"/>
              </a:solidFill>
              <a:effectLst/>
              <a:uFillTx/>
              <a:latin typeface="Arial"/>
            </a:endParaRPr>
          </a:p>
        </p:txBody>
      </p:sp>
      <p:sp>
        <p:nvSpPr>
          <p:cNvPr id="554" name="Text 13"/>
          <p:cNvSpPr/>
          <p:nvPr/>
        </p:nvSpPr>
        <p:spPr>
          <a:xfrm>
            <a:off x="475560" y="283464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7C4DFF"/>
                </a:solidFill>
                <a:effectLst/>
                <a:uFillTx/>
                <a:latin typeface="Calibri"/>
              </a:rPr>
              <a:t>▸ </a:t>
            </a:r>
            <a:r>
              <a:rPr lang="en-US" sz="1400" b="0" u="none" strike="noStrike">
                <a:solidFill>
                  <a:srgbClr val="FFFFFF"/>
                </a:solidFill>
                <a:effectLst/>
                <a:uFillTx/>
                <a:latin typeface="Calibri"/>
              </a:rPr>
              <a:t>Team onboarding</a:t>
            </a:r>
            <a:endParaRPr lang="pl-PL" sz="1400" b="0" u="none" strike="noStrike">
              <a:solidFill>
                <a:srgbClr val="FFFFFF"/>
              </a:solidFill>
              <a:effectLst/>
              <a:uFillTx/>
              <a:latin typeface="Arial"/>
            </a:endParaRPr>
          </a:p>
        </p:txBody>
      </p:sp>
      <p:sp>
        <p:nvSpPr>
          <p:cNvPr id="555" name="Shape 14"/>
          <p:cNvSpPr/>
          <p:nvPr/>
        </p:nvSpPr>
        <p:spPr>
          <a:xfrm>
            <a:off x="2487240" y="703580"/>
            <a:ext cx="2010600" cy="2604960"/>
          </a:xfrm>
          <a:prstGeom prst="rect">
            <a:avLst/>
          </a:prstGeom>
          <a:solidFill>
            <a:srgbClr val="0A2540"/>
          </a:solidFill>
          <a:ln w="1016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56" name="Shape 15"/>
          <p:cNvSpPr/>
          <p:nvPr/>
        </p:nvSpPr>
        <p:spPr>
          <a:xfrm>
            <a:off x="2487240" y="703580"/>
            <a:ext cx="2010600" cy="5364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000000"/>
              </a:solidFill>
              <a:effectLst/>
              <a:uFillTx/>
              <a:latin typeface="Arial"/>
            </a:endParaRPr>
          </a:p>
        </p:txBody>
      </p:sp>
      <p:sp>
        <p:nvSpPr>
          <p:cNvPr id="557" name="Text 16"/>
          <p:cNvSpPr/>
          <p:nvPr/>
        </p:nvSpPr>
        <p:spPr>
          <a:xfrm>
            <a:off x="2578680" y="767660"/>
            <a:ext cx="18277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u="none" strike="noStrike" dirty="0" err="1">
                <a:solidFill>
                  <a:srgbClr val="00BCD4"/>
                </a:solidFill>
                <a:effectLst/>
                <a:uFillTx/>
                <a:latin typeface="Calibri"/>
              </a:rPr>
              <a:t>Faza</a:t>
            </a:r>
            <a:r>
              <a:rPr lang="en-US" u="none" strike="noStrike" dirty="0">
                <a:solidFill>
                  <a:srgbClr val="00BCD4"/>
                </a:solidFill>
                <a:effectLst/>
                <a:uFillTx/>
                <a:latin typeface="Calibri"/>
              </a:rPr>
              <a:t> 1</a:t>
            </a:r>
            <a:r>
              <a:rPr lang="pl-PL" u="none" strike="noStrike" dirty="0">
                <a:solidFill>
                  <a:srgbClr val="00BCD4"/>
                </a:solidFill>
                <a:effectLst/>
                <a:uFillTx/>
                <a:latin typeface="Calibri"/>
              </a:rPr>
              <a:t> </a:t>
            </a:r>
            <a:r>
              <a:rPr lang="en-US" b="1" u="none" strike="noStrike" dirty="0">
                <a:solidFill>
                  <a:srgbClr val="00BCD4"/>
                </a:solidFill>
                <a:effectLst/>
                <a:uFillTx/>
                <a:latin typeface="Calibri"/>
              </a:rPr>
              <a:t>MVP</a:t>
            </a:r>
            <a:endParaRPr lang="pl-PL" b="0" u="none" strike="noStrike" dirty="0">
              <a:solidFill>
                <a:srgbClr val="FFFFFF"/>
              </a:solidFill>
              <a:effectLst/>
              <a:uFillTx/>
              <a:latin typeface="Arial"/>
            </a:endParaRPr>
          </a:p>
        </p:txBody>
      </p:sp>
      <p:sp>
        <p:nvSpPr>
          <p:cNvPr id="558" name="Shape 17"/>
          <p:cNvSpPr/>
          <p:nvPr/>
        </p:nvSpPr>
        <p:spPr>
          <a:xfrm>
            <a:off x="2578680" y="1344240"/>
            <a:ext cx="883080" cy="200160"/>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59" name="Text 18"/>
          <p:cNvSpPr/>
          <p:nvPr/>
        </p:nvSpPr>
        <p:spPr>
          <a:xfrm>
            <a:off x="2578680" y="1344240"/>
            <a:ext cx="8830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dirty="0" err="1">
                <a:solidFill>
                  <a:srgbClr val="FFFFFF"/>
                </a:solidFill>
                <a:effectLst/>
                <a:uFillTx/>
                <a:latin typeface="Calibri"/>
              </a:rPr>
              <a:t>Mies</a:t>
            </a:r>
            <a:r>
              <a:rPr lang="en-US" sz="1000" b="1" u="none" strike="noStrike" dirty="0">
                <a:solidFill>
                  <a:srgbClr val="FFFFFF"/>
                </a:solidFill>
                <a:effectLst/>
                <a:uFillTx/>
                <a:latin typeface="Calibri"/>
              </a:rPr>
              <a:t>. 3-5</a:t>
            </a:r>
            <a:endParaRPr lang="pl-PL" sz="1000" b="0" u="none" strike="noStrike" dirty="0">
              <a:solidFill>
                <a:srgbClr val="FFFFFF"/>
              </a:solidFill>
              <a:effectLst/>
              <a:uFillTx/>
              <a:latin typeface="Arial"/>
            </a:endParaRPr>
          </a:p>
        </p:txBody>
      </p:sp>
      <p:sp>
        <p:nvSpPr>
          <p:cNvPr id="560" name="Text 19"/>
          <p:cNvSpPr/>
          <p:nvPr/>
        </p:nvSpPr>
        <p:spPr>
          <a:xfrm>
            <a:off x="2578680" y="160020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00BCD4"/>
                </a:solidFill>
                <a:effectLst/>
                <a:uFillTx/>
                <a:latin typeface="Calibri"/>
              </a:rPr>
              <a:t>▸ </a:t>
            </a:r>
            <a:r>
              <a:rPr lang="en-US" sz="1400" b="0" u="none" strike="noStrike">
                <a:solidFill>
                  <a:srgbClr val="FFFFFF"/>
                </a:solidFill>
                <a:effectLst/>
                <a:uFillTx/>
                <a:latin typeface="Calibri"/>
              </a:rPr>
              <a:t>Core features</a:t>
            </a:r>
            <a:endParaRPr lang="pl-PL" sz="1400" b="0" u="none" strike="noStrike">
              <a:solidFill>
                <a:srgbClr val="FFFFFF"/>
              </a:solidFill>
              <a:effectLst/>
              <a:uFillTx/>
              <a:latin typeface="Arial"/>
            </a:endParaRPr>
          </a:p>
        </p:txBody>
      </p:sp>
      <p:sp>
        <p:nvSpPr>
          <p:cNvPr id="561" name="Text 20"/>
          <p:cNvSpPr/>
          <p:nvPr/>
        </p:nvSpPr>
        <p:spPr>
          <a:xfrm>
            <a:off x="2578680" y="201168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00BCD4"/>
                </a:solidFill>
                <a:effectLst/>
                <a:uFillTx/>
                <a:latin typeface="Calibri"/>
              </a:rPr>
              <a:t>▸ </a:t>
            </a:r>
            <a:r>
              <a:rPr lang="en-US" sz="1400" b="0" u="none" strike="noStrike">
                <a:solidFill>
                  <a:srgbClr val="FFFFFF"/>
                </a:solidFill>
                <a:effectLst/>
                <a:uFillTx/>
                <a:latin typeface="Calibri"/>
              </a:rPr>
              <a:t>CI/CD setup</a:t>
            </a:r>
            <a:endParaRPr lang="pl-PL" sz="1400" b="0" u="none" strike="noStrike">
              <a:solidFill>
                <a:srgbClr val="FFFFFF"/>
              </a:solidFill>
              <a:effectLst/>
              <a:uFillTx/>
              <a:latin typeface="Arial"/>
            </a:endParaRPr>
          </a:p>
        </p:txBody>
      </p:sp>
      <p:sp>
        <p:nvSpPr>
          <p:cNvPr id="562" name="Text 21"/>
          <p:cNvSpPr/>
          <p:nvPr/>
        </p:nvSpPr>
        <p:spPr>
          <a:xfrm>
            <a:off x="2578680" y="242316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00BCD4"/>
                </a:solidFill>
                <a:effectLst/>
                <a:uFillTx/>
                <a:latin typeface="Calibri"/>
              </a:rPr>
              <a:t>▸ </a:t>
            </a:r>
            <a:r>
              <a:rPr lang="en-US" sz="1400" b="0" u="none" strike="noStrike">
                <a:solidFill>
                  <a:srgbClr val="FFFFFF"/>
                </a:solidFill>
                <a:effectLst/>
                <a:uFillTx/>
                <a:latin typeface="Calibri"/>
              </a:rPr>
              <a:t>Alpha testing</a:t>
            </a:r>
            <a:endParaRPr lang="pl-PL" sz="1400" b="0" u="none" strike="noStrike">
              <a:solidFill>
                <a:srgbClr val="FFFFFF"/>
              </a:solidFill>
              <a:effectLst/>
              <a:uFillTx/>
              <a:latin typeface="Arial"/>
            </a:endParaRPr>
          </a:p>
        </p:txBody>
      </p:sp>
      <p:sp>
        <p:nvSpPr>
          <p:cNvPr id="563" name="Text 22"/>
          <p:cNvSpPr/>
          <p:nvPr/>
        </p:nvSpPr>
        <p:spPr>
          <a:xfrm>
            <a:off x="2578680" y="283464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00BCD4"/>
                </a:solidFill>
                <a:effectLst/>
                <a:uFillTx/>
                <a:latin typeface="Calibri"/>
              </a:rPr>
              <a:t>▸ </a:t>
            </a:r>
            <a:r>
              <a:rPr lang="en-US" sz="1400" b="0" u="none" strike="noStrike">
                <a:solidFill>
                  <a:srgbClr val="FFFFFF"/>
                </a:solidFill>
                <a:effectLst/>
                <a:uFillTx/>
                <a:latin typeface="Calibri"/>
              </a:rPr>
              <a:t>Soft launch</a:t>
            </a:r>
            <a:endParaRPr lang="pl-PL" sz="1400" b="0" u="none" strike="noStrike">
              <a:solidFill>
                <a:srgbClr val="FFFFFF"/>
              </a:solidFill>
              <a:effectLst/>
              <a:uFillTx/>
              <a:latin typeface="Arial"/>
            </a:endParaRPr>
          </a:p>
        </p:txBody>
      </p:sp>
      <p:sp>
        <p:nvSpPr>
          <p:cNvPr id="564" name="Shape 23"/>
          <p:cNvSpPr/>
          <p:nvPr/>
        </p:nvSpPr>
        <p:spPr>
          <a:xfrm>
            <a:off x="4590360" y="703580"/>
            <a:ext cx="2010600" cy="2604960"/>
          </a:xfrm>
          <a:prstGeom prst="rect">
            <a:avLst/>
          </a:prstGeom>
          <a:solidFill>
            <a:srgbClr val="0A2540"/>
          </a:solidFill>
          <a:ln w="1016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65" name="Shape 24"/>
          <p:cNvSpPr/>
          <p:nvPr/>
        </p:nvSpPr>
        <p:spPr>
          <a:xfrm>
            <a:off x="4590360" y="703580"/>
            <a:ext cx="2010600" cy="5364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FFFFFF"/>
              </a:solidFill>
              <a:effectLst/>
              <a:uFillTx/>
              <a:latin typeface="Arial"/>
            </a:endParaRPr>
          </a:p>
        </p:txBody>
      </p:sp>
      <p:sp>
        <p:nvSpPr>
          <p:cNvPr id="566" name="Text 25"/>
          <p:cNvSpPr/>
          <p:nvPr/>
        </p:nvSpPr>
        <p:spPr>
          <a:xfrm>
            <a:off x="4681800" y="767660"/>
            <a:ext cx="18277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u="none" strike="noStrike" dirty="0" err="1">
                <a:solidFill>
                  <a:srgbClr val="FF7043"/>
                </a:solidFill>
                <a:effectLst/>
                <a:uFillTx/>
                <a:latin typeface="Calibri"/>
              </a:rPr>
              <a:t>Faza</a:t>
            </a:r>
            <a:r>
              <a:rPr lang="en-US" u="none" strike="noStrike" dirty="0">
                <a:solidFill>
                  <a:srgbClr val="FF7043"/>
                </a:solidFill>
                <a:effectLst/>
                <a:uFillTx/>
                <a:latin typeface="Calibri"/>
              </a:rPr>
              <a:t> 2</a:t>
            </a:r>
            <a:r>
              <a:rPr lang="pl-PL" u="none" strike="noStrike" dirty="0">
                <a:solidFill>
                  <a:srgbClr val="FF7043"/>
                </a:solidFill>
                <a:effectLst/>
                <a:uFillTx/>
                <a:latin typeface="Calibri"/>
              </a:rPr>
              <a:t> </a:t>
            </a:r>
            <a:r>
              <a:rPr lang="en-US" b="1" u="none" strike="noStrike" dirty="0">
                <a:solidFill>
                  <a:srgbClr val="FF7043"/>
                </a:solidFill>
                <a:effectLst/>
                <a:uFillTx/>
                <a:latin typeface="Calibri"/>
              </a:rPr>
              <a:t>Growth</a:t>
            </a:r>
            <a:endParaRPr lang="pl-PL" b="0" u="none" strike="noStrike" dirty="0">
              <a:solidFill>
                <a:srgbClr val="FFFFFF"/>
              </a:solidFill>
              <a:effectLst/>
              <a:uFillTx/>
              <a:latin typeface="Arial"/>
            </a:endParaRPr>
          </a:p>
        </p:txBody>
      </p:sp>
      <p:sp>
        <p:nvSpPr>
          <p:cNvPr id="567" name="Shape 26"/>
          <p:cNvSpPr/>
          <p:nvPr/>
        </p:nvSpPr>
        <p:spPr>
          <a:xfrm>
            <a:off x="4681800" y="1344240"/>
            <a:ext cx="883080" cy="200160"/>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68" name="Text 27"/>
          <p:cNvSpPr/>
          <p:nvPr/>
        </p:nvSpPr>
        <p:spPr>
          <a:xfrm>
            <a:off x="4681800" y="1344240"/>
            <a:ext cx="8830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dirty="0" err="1">
                <a:solidFill>
                  <a:srgbClr val="FFFFFF"/>
                </a:solidFill>
                <a:effectLst/>
                <a:uFillTx/>
                <a:latin typeface="Calibri"/>
              </a:rPr>
              <a:t>Mies</a:t>
            </a:r>
            <a:r>
              <a:rPr lang="en-US" sz="1000" b="1" u="none" strike="noStrike" dirty="0">
                <a:solidFill>
                  <a:srgbClr val="FFFFFF"/>
                </a:solidFill>
                <a:effectLst/>
                <a:uFillTx/>
                <a:latin typeface="Calibri"/>
              </a:rPr>
              <a:t>. 6-8</a:t>
            </a:r>
            <a:endParaRPr lang="pl-PL" sz="1000" b="0" u="none" strike="noStrike" dirty="0">
              <a:solidFill>
                <a:srgbClr val="FFFFFF"/>
              </a:solidFill>
              <a:effectLst/>
              <a:uFillTx/>
              <a:latin typeface="Arial"/>
            </a:endParaRPr>
          </a:p>
        </p:txBody>
      </p:sp>
      <p:sp>
        <p:nvSpPr>
          <p:cNvPr id="569" name="Text 28"/>
          <p:cNvSpPr/>
          <p:nvPr/>
        </p:nvSpPr>
        <p:spPr>
          <a:xfrm>
            <a:off x="4681800" y="160020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FF7043"/>
                </a:solidFill>
                <a:effectLst/>
                <a:uFillTx/>
                <a:latin typeface="Calibri"/>
              </a:rPr>
              <a:t>▸ </a:t>
            </a:r>
            <a:r>
              <a:rPr lang="en-US" sz="1400" b="0" u="none" strike="noStrike">
                <a:solidFill>
                  <a:srgbClr val="FFFFFF"/>
                </a:solidFill>
                <a:effectLst/>
                <a:uFillTx/>
                <a:latin typeface="Calibri"/>
              </a:rPr>
              <a:t>User feedback loop</a:t>
            </a:r>
            <a:endParaRPr lang="pl-PL" sz="1400" b="0" u="none" strike="noStrike">
              <a:solidFill>
                <a:srgbClr val="FFFFFF"/>
              </a:solidFill>
              <a:effectLst/>
              <a:uFillTx/>
              <a:latin typeface="Arial"/>
            </a:endParaRPr>
          </a:p>
        </p:txBody>
      </p:sp>
      <p:sp>
        <p:nvSpPr>
          <p:cNvPr id="570" name="Text 29"/>
          <p:cNvSpPr/>
          <p:nvPr/>
        </p:nvSpPr>
        <p:spPr>
          <a:xfrm>
            <a:off x="4681800" y="201168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FF7043"/>
                </a:solidFill>
                <a:effectLst/>
                <a:uFillTx/>
                <a:latin typeface="Calibri"/>
              </a:rPr>
              <a:t>▸ </a:t>
            </a:r>
            <a:r>
              <a:rPr lang="en-US" sz="1400" b="0" u="none" strike="noStrike">
                <a:solidFill>
                  <a:srgbClr val="FFFFFF"/>
                </a:solidFill>
                <a:effectLst/>
                <a:uFillTx/>
                <a:latin typeface="Calibri"/>
              </a:rPr>
              <a:t>Performance opt.</a:t>
            </a:r>
            <a:endParaRPr lang="pl-PL" sz="1400" b="0" u="none" strike="noStrike">
              <a:solidFill>
                <a:srgbClr val="FFFFFF"/>
              </a:solidFill>
              <a:effectLst/>
              <a:uFillTx/>
              <a:latin typeface="Arial"/>
            </a:endParaRPr>
          </a:p>
        </p:txBody>
      </p:sp>
      <p:sp>
        <p:nvSpPr>
          <p:cNvPr id="571" name="Text 30"/>
          <p:cNvSpPr/>
          <p:nvPr/>
        </p:nvSpPr>
        <p:spPr>
          <a:xfrm>
            <a:off x="4681800" y="242316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FF7043"/>
                </a:solidFill>
                <a:effectLst/>
                <a:uFillTx/>
                <a:latin typeface="Calibri"/>
              </a:rPr>
              <a:t>▸ </a:t>
            </a:r>
            <a:r>
              <a:rPr lang="en-US" sz="1400" b="0" u="none" strike="noStrike">
                <a:solidFill>
                  <a:srgbClr val="FFFFFF"/>
                </a:solidFill>
                <a:effectLst/>
                <a:uFillTx/>
                <a:latin typeface="Calibri"/>
              </a:rPr>
              <a:t>A/B testy</a:t>
            </a:r>
            <a:endParaRPr lang="pl-PL" sz="1400" b="0" u="none" strike="noStrike">
              <a:solidFill>
                <a:srgbClr val="FFFFFF"/>
              </a:solidFill>
              <a:effectLst/>
              <a:uFillTx/>
              <a:latin typeface="Arial"/>
            </a:endParaRPr>
          </a:p>
        </p:txBody>
      </p:sp>
      <p:sp>
        <p:nvSpPr>
          <p:cNvPr id="572" name="Text 31"/>
          <p:cNvSpPr/>
          <p:nvPr/>
        </p:nvSpPr>
        <p:spPr>
          <a:xfrm>
            <a:off x="4681800" y="283464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FF7043"/>
                </a:solidFill>
                <a:effectLst/>
                <a:uFillTx/>
                <a:latin typeface="Calibri"/>
              </a:rPr>
              <a:t>▸ </a:t>
            </a:r>
            <a:r>
              <a:rPr lang="en-US" sz="1400" b="0" u="none" strike="noStrike">
                <a:solidFill>
                  <a:srgbClr val="FFFFFF"/>
                </a:solidFill>
                <a:effectLst/>
                <a:uFillTx/>
                <a:latin typeface="Calibri"/>
              </a:rPr>
              <a:t>Push / retention</a:t>
            </a:r>
            <a:endParaRPr lang="pl-PL" sz="1400" b="0" u="none" strike="noStrike">
              <a:solidFill>
                <a:srgbClr val="FFFFFF"/>
              </a:solidFill>
              <a:effectLst/>
              <a:uFillTx/>
              <a:latin typeface="Arial"/>
            </a:endParaRPr>
          </a:p>
        </p:txBody>
      </p:sp>
      <p:sp>
        <p:nvSpPr>
          <p:cNvPr id="573" name="Shape 32"/>
          <p:cNvSpPr/>
          <p:nvPr/>
        </p:nvSpPr>
        <p:spPr>
          <a:xfrm>
            <a:off x="6693480" y="703580"/>
            <a:ext cx="2010600" cy="2604960"/>
          </a:xfrm>
          <a:prstGeom prst="rect">
            <a:avLst/>
          </a:prstGeom>
          <a:solidFill>
            <a:srgbClr val="0A2540"/>
          </a:solidFill>
          <a:ln w="1016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74" name="Shape 33"/>
          <p:cNvSpPr/>
          <p:nvPr/>
        </p:nvSpPr>
        <p:spPr>
          <a:xfrm>
            <a:off x="6693480" y="703580"/>
            <a:ext cx="2010600" cy="5364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FFFFFF"/>
              </a:solidFill>
              <a:effectLst/>
              <a:uFillTx/>
              <a:latin typeface="Arial"/>
            </a:endParaRPr>
          </a:p>
        </p:txBody>
      </p:sp>
      <p:sp>
        <p:nvSpPr>
          <p:cNvPr id="575" name="Text 34"/>
          <p:cNvSpPr/>
          <p:nvPr/>
        </p:nvSpPr>
        <p:spPr>
          <a:xfrm>
            <a:off x="6784920" y="767660"/>
            <a:ext cx="1827720" cy="38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u="none" strike="noStrike" dirty="0" err="1">
                <a:solidFill>
                  <a:srgbClr val="4CAF50"/>
                </a:solidFill>
                <a:effectLst/>
                <a:uFillTx/>
                <a:latin typeface="Calibri"/>
              </a:rPr>
              <a:t>Faza</a:t>
            </a:r>
            <a:r>
              <a:rPr lang="en-US" u="none" strike="noStrike" dirty="0">
                <a:solidFill>
                  <a:srgbClr val="4CAF50"/>
                </a:solidFill>
                <a:effectLst/>
                <a:uFillTx/>
                <a:latin typeface="Calibri"/>
              </a:rPr>
              <a:t> 3</a:t>
            </a:r>
            <a:r>
              <a:rPr lang="pl-PL" u="none" strike="noStrike" dirty="0">
                <a:solidFill>
                  <a:srgbClr val="4CAF50"/>
                </a:solidFill>
                <a:effectLst/>
                <a:uFillTx/>
                <a:latin typeface="Calibri"/>
              </a:rPr>
              <a:t> </a:t>
            </a:r>
            <a:r>
              <a:rPr lang="en-US" b="1" u="none" strike="noStrike" dirty="0">
                <a:solidFill>
                  <a:srgbClr val="4CAF50"/>
                </a:solidFill>
                <a:effectLst/>
                <a:uFillTx/>
                <a:latin typeface="Calibri"/>
              </a:rPr>
              <a:t>Scale</a:t>
            </a:r>
            <a:endParaRPr lang="pl-PL" b="0" u="none" strike="noStrike" dirty="0">
              <a:solidFill>
                <a:srgbClr val="FFFFFF"/>
              </a:solidFill>
              <a:effectLst/>
              <a:uFillTx/>
              <a:latin typeface="Arial"/>
            </a:endParaRPr>
          </a:p>
        </p:txBody>
      </p:sp>
      <p:sp>
        <p:nvSpPr>
          <p:cNvPr id="576" name="Shape 35"/>
          <p:cNvSpPr/>
          <p:nvPr/>
        </p:nvSpPr>
        <p:spPr>
          <a:xfrm>
            <a:off x="6784920" y="1344240"/>
            <a:ext cx="959040" cy="200160"/>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77" name="Text 36"/>
          <p:cNvSpPr/>
          <p:nvPr/>
        </p:nvSpPr>
        <p:spPr>
          <a:xfrm>
            <a:off x="6784920" y="1344240"/>
            <a:ext cx="9590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dirty="0" err="1">
                <a:solidFill>
                  <a:srgbClr val="FFFFFF"/>
                </a:solidFill>
                <a:effectLst/>
                <a:uFillTx/>
                <a:latin typeface="Calibri"/>
              </a:rPr>
              <a:t>Mies</a:t>
            </a:r>
            <a:r>
              <a:rPr lang="en-US" sz="1000" b="1" u="none" strike="noStrike" dirty="0">
                <a:solidFill>
                  <a:srgbClr val="FFFFFF"/>
                </a:solidFill>
                <a:effectLst/>
                <a:uFillTx/>
                <a:latin typeface="Calibri"/>
              </a:rPr>
              <a:t>. 9-12</a:t>
            </a:r>
            <a:endParaRPr lang="pl-PL" sz="1000" b="0" u="none" strike="noStrike" dirty="0">
              <a:solidFill>
                <a:srgbClr val="FFFFFF"/>
              </a:solidFill>
              <a:effectLst/>
              <a:uFillTx/>
              <a:latin typeface="Arial"/>
            </a:endParaRPr>
          </a:p>
        </p:txBody>
      </p:sp>
      <p:sp>
        <p:nvSpPr>
          <p:cNvPr id="578" name="Text 37"/>
          <p:cNvSpPr/>
          <p:nvPr/>
        </p:nvSpPr>
        <p:spPr>
          <a:xfrm>
            <a:off x="6784920" y="160020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Monetyzacja</a:t>
            </a:r>
            <a:endParaRPr lang="pl-PL" sz="1400" b="0" u="none" strike="noStrike">
              <a:solidFill>
                <a:srgbClr val="FFFFFF"/>
              </a:solidFill>
              <a:effectLst/>
              <a:uFillTx/>
              <a:latin typeface="Arial"/>
            </a:endParaRPr>
          </a:p>
        </p:txBody>
      </p:sp>
      <p:sp>
        <p:nvSpPr>
          <p:cNvPr id="579" name="Text 38"/>
          <p:cNvSpPr/>
          <p:nvPr/>
        </p:nvSpPr>
        <p:spPr>
          <a:xfrm>
            <a:off x="6784920" y="201168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New platforms</a:t>
            </a:r>
            <a:endParaRPr lang="pl-PL" sz="1400" b="0" u="none" strike="noStrike">
              <a:solidFill>
                <a:srgbClr val="FFFFFF"/>
              </a:solidFill>
              <a:effectLst/>
              <a:uFillTx/>
              <a:latin typeface="Arial"/>
            </a:endParaRPr>
          </a:p>
        </p:txBody>
      </p:sp>
      <p:sp>
        <p:nvSpPr>
          <p:cNvPr id="580" name="Text 39"/>
          <p:cNvSpPr/>
          <p:nvPr/>
        </p:nvSpPr>
        <p:spPr>
          <a:xfrm>
            <a:off x="6784920" y="242316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Refactor debt</a:t>
            </a:r>
            <a:endParaRPr lang="pl-PL" sz="1400" b="0" u="none" strike="noStrike">
              <a:solidFill>
                <a:srgbClr val="FFFFFF"/>
              </a:solidFill>
              <a:effectLst/>
              <a:uFillTx/>
              <a:latin typeface="Arial"/>
            </a:endParaRPr>
          </a:p>
        </p:txBody>
      </p:sp>
      <p:sp>
        <p:nvSpPr>
          <p:cNvPr id="581" name="Text 40"/>
          <p:cNvSpPr/>
          <p:nvPr/>
        </p:nvSpPr>
        <p:spPr>
          <a:xfrm>
            <a:off x="6784920" y="2834640"/>
            <a:ext cx="1827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a:solidFill>
                  <a:srgbClr val="4CAF50"/>
                </a:solidFill>
                <a:effectLst/>
                <a:uFillTx/>
                <a:latin typeface="Calibri"/>
              </a:rPr>
              <a:t>▸ </a:t>
            </a:r>
            <a:r>
              <a:rPr lang="en-US" sz="1400" b="0" u="none" strike="noStrike">
                <a:solidFill>
                  <a:srgbClr val="FFFFFF"/>
                </a:solidFill>
                <a:effectLst/>
                <a:uFillTx/>
                <a:latin typeface="Calibri"/>
              </a:rPr>
              <a:t>Team scale-up</a:t>
            </a:r>
            <a:endParaRPr lang="pl-PL" sz="1400" b="0" u="none" strike="noStrike">
              <a:solidFill>
                <a:srgbClr val="FFFFFF"/>
              </a:solidFill>
              <a:effectLst/>
              <a:uFillTx/>
              <a:latin typeface="Arial"/>
            </a:endParaRPr>
          </a:p>
        </p:txBody>
      </p:sp>
      <p:sp>
        <p:nvSpPr>
          <p:cNvPr id="582" name="Text 41"/>
          <p:cNvSpPr/>
          <p:nvPr/>
        </p:nvSpPr>
        <p:spPr>
          <a:xfrm>
            <a:off x="384120" y="3584520"/>
            <a:ext cx="722064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err="1">
                <a:solidFill>
                  <a:srgbClr val="FFFFFF"/>
                </a:solidFill>
                <a:effectLst/>
                <a:uFillTx/>
                <a:latin typeface="Calibri"/>
              </a:rPr>
              <a:t>Struktura</a:t>
            </a:r>
            <a:r>
              <a:rPr lang="en-US" sz="1600" b="1" u="none" strike="noStrike" dirty="0">
                <a:solidFill>
                  <a:srgbClr val="FFFFFF"/>
                </a:solidFill>
                <a:effectLst/>
                <a:uFillTx/>
                <a:latin typeface="Calibri"/>
              </a:rPr>
              <a:t> </a:t>
            </a:r>
            <a:r>
              <a:rPr lang="en-US" sz="1600" b="1" u="none" strike="noStrike" dirty="0" err="1">
                <a:solidFill>
                  <a:srgbClr val="FFFFFF"/>
                </a:solidFill>
                <a:effectLst/>
                <a:uFillTx/>
                <a:latin typeface="Calibri"/>
              </a:rPr>
              <a:t>kosztów</a:t>
            </a:r>
            <a:r>
              <a:rPr lang="en-US" sz="1600" b="1" u="none" strike="noStrike" dirty="0">
                <a:solidFill>
                  <a:srgbClr val="FFFFFF"/>
                </a:solidFill>
                <a:effectLst/>
                <a:uFillTx/>
                <a:latin typeface="Calibri"/>
              </a:rPr>
              <a:t> </a:t>
            </a:r>
            <a:r>
              <a:rPr lang="en-US" sz="1600" b="1" u="none" strike="noStrike" dirty="0" err="1">
                <a:solidFill>
                  <a:srgbClr val="FFFFFF"/>
                </a:solidFill>
                <a:effectLst/>
                <a:uFillTx/>
                <a:latin typeface="Calibri"/>
              </a:rPr>
              <a:t>projektu</a:t>
            </a:r>
            <a:r>
              <a:rPr lang="en-US" sz="1600" b="1" u="none" strike="noStrike" dirty="0">
                <a:solidFill>
                  <a:srgbClr val="FFFFFF"/>
                </a:solidFill>
                <a:effectLst/>
                <a:uFillTx/>
                <a:latin typeface="Calibri"/>
              </a:rPr>
              <a:t> </a:t>
            </a:r>
            <a:r>
              <a:rPr lang="en-US" sz="1600" b="0" u="none" strike="noStrike" dirty="0" smtClean="0">
                <a:solidFill>
                  <a:srgbClr val="FFFFFF"/>
                </a:solidFill>
                <a:effectLst/>
                <a:uFillTx/>
                <a:latin typeface="Calibri"/>
              </a:rPr>
              <a:t>(</a:t>
            </a:r>
            <a:r>
              <a:rPr lang="en-US" sz="1600" b="0" u="none" strike="noStrike" dirty="0">
                <a:solidFill>
                  <a:srgbClr val="FFFFFF"/>
                </a:solidFill>
                <a:effectLst/>
                <a:uFillTx/>
                <a:latin typeface="Calibri"/>
              </a:rPr>
              <a:t>typical mid-size app, </a:t>
            </a:r>
            <a:r>
              <a:rPr lang="en-US" sz="1600" b="0" u="none" strike="noStrike" dirty="0" err="1">
                <a:solidFill>
                  <a:srgbClr val="FFFFFF"/>
                </a:solidFill>
                <a:effectLst/>
                <a:uFillTx/>
                <a:latin typeface="Calibri"/>
              </a:rPr>
              <a:t>rynek</a:t>
            </a:r>
            <a:r>
              <a:rPr lang="en-US" sz="1600" b="0" u="none" strike="noStrike" dirty="0">
                <a:solidFill>
                  <a:srgbClr val="FFFFFF"/>
                </a:solidFill>
                <a:effectLst/>
                <a:uFillTx/>
                <a:latin typeface="Calibri"/>
              </a:rPr>
              <a:t> PL)</a:t>
            </a:r>
            <a:endParaRPr lang="pl-PL" sz="1600" b="0" u="none" strike="noStrike" dirty="0">
              <a:solidFill>
                <a:srgbClr val="FFFFFF"/>
              </a:solidFill>
              <a:effectLst/>
              <a:uFillTx/>
              <a:latin typeface="Arial"/>
            </a:endParaRPr>
          </a:p>
        </p:txBody>
      </p:sp>
      <p:grpSp>
        <p:nvGrpSpPr>
          <p:cNvPr id="2" name="Grupa 1"/>
          <p:cNvGrpSpPr/>
          <p:nvPr/>
        </p:nvGrpSpPr>
        <p:grpSpPr>
          <a:xfrm>
            <a:off x="384120" y="3913559"/>
            <a:ext cx="8338320" cy="1002221"/>
            <a:chOff x="384120" y="3913560"/>
            <a:chExt cx="8164440" cy="776160"/>
          </a:xfrm>
        </p:grpSpPr>
        <p:sp>
          <p:nvSpPr>
            <p:cNvPr id="583" name="Shape 42"/>
            <p:cNvSpPr/>
            <p:nvPr/>
          </p:nvSpPr>
          <p:spPr>
            <a:xfrm>
              <a:off x="384120" y="3913560"/>
              <a:ext cx="3976560" cy="227520"/>
            </a:xfrm>
            <a:prstGeom prst="rect">
              <a:avLst/>
            </a:prstGeom>
            <a:solidFill>
              <a:srgbClr val="0A2540"/>
            </a:solidFill>
            <a:ln w="508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84" name="Text 43"/>
            <p:cNvSpPr/>
            <p:nvPr/>
          </p:nvSpPr>
          <p:spPr>
            <a:xfrm>
              <a:off x="457200" y="3913560"/>
              <a:ext cx="25592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dirty="0">
                  <a:solidFill>
                    <a:srgbClr val="FFFFFF"/>
                  </a:solidFill>
                  <a:effectLst/>
                  <a:uFillTx/>
                  <a:latin typeface="Calibri"/>
                </a:rPr>
                <a:t>Development (</a:t>
              </a:r>
              <a:r>
                <a:rPr lang="en-US" sz="1400" b="0" u="none" strike="noStrike" dirty="0" err="1">
                  <a:solidFill>
                    <a:srgbClr val="FFFFFF"/>
                  </a:solidFill>
                  <a:effectLst/>
                  <a:uFillTx/>
                  <a:latin typeface="Calibri"/>
                </a:rPr>
                <a:t>iOS+Android</a:t>
              </a:r>
              <a:r>
                <a:rPr lang="en-US" sz="1400" b="0" u="none" strike="noStrike" dirty="0">
                  <a:solidFill>
                    <a:srgbClr val="FFFFFF"/>
                  </a:solidFill>
                  <a:effectLst/>
                  <a:uFillTx/>
                  <a:latin typeface="Calibri"/>
                </a:rPr>
                <a:t>)</a:t>
              </a:r>
              <a:endParaRPr lang="pl-PL" sz="1400" b="0" u="none" strike="noStrike" dirty="0">
                <a:solidFill>
                  <a:srgbClr val="FFFFFF"/>
                </a:solidFill>
                <a:effectLst/>
                <a:uFillTx/>
                <a:latin typeface="Arial"/>
              </a:endParaRPr>
            </a:p>
          </p:txBody>
        </p:sp>
        <p:sp>
          <p:nvSpPr>
            <p:cNvPr id="585" name="Shape 44"/>
            <p:cNvSpPr/>
            <p:nvPr/>
          </p:nvSpPr>
          <p:spPr>
            <a:xfrm>
              <a:off x="2854080" y="3977640"/>
              <a:ext cx="904320" cy="10872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86" name="Text 45"/>
            <p:cNvSpPr/>
            <p:nvPr/>
          </p:nvSpPr>
          <p:spPr>
            <a:xfrm>
              <a:off x="3736800" y="3913560"/>
              <a:ext cx="578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1" u="none" strike="noStrike">
                  <a:solidFill>
                    <a:srgbClr val="00BCD4"/>
                  </a:solidFill>
                  <a:effectLst/>
                  <a:uFillTx/>
                  <a:latin typeface="Calibri"/>
                </a:rPr>
                <a:t>45–55%</a:t>
              </a:r>
              <a:endParaRPr lang="pl-PL" sz="1200" b="0" u="none" strike="noStrike">
                <a:solidFill>
                  <a:srgbClr val="FFFFFF"/>
                </a:solidFill>
                <a:effectLst/>
                <a:uFillTx/>
                <a:latin typeface="Arial"/>
              </a:endParaRPr>
            </a:p>
          </p:txBody>
        </p:sp>
        <p:sp>
          <p:nvSpPr>
            <p:cNvPr id="587" name="Shape 46"/>
            <p:cNvSpPr/>
            <p:nvPr/>
          </p:nvSpPr>
          <p:spPr>
            <a:xfrm>
              <a:off x="384120" y="4187880"/>
              <a:ext cx="3976560" cy="227520"/>
            </a:xfrm>
            <a:prstGeom prst="rect">
              <a:avLst/>
            </a:prstGeom>
            <a:solidFill>
              <a:srgbClr val="0A2540"/>
            </a:solidFill>
            <a:ln w="508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88" name="Text 47"/>
            <p:cNvSpPr/>
            <p:nvPr/>
          </p:nvSpPr>
          <p:spPr>
            <a:xfrm>
              <a:off x="457200" y="4187880"/>
              <a:ext cx="25592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UX/UI Design</a:t>
              </a:r>
              <a:endParaRPr lang="pl-PL" sz="1400" b="0" u="none" strike="noStrike">
                <a:solidFill>
                  <a:srgbClr val="FFFFFF"/>
                </a:solidFill>
                <a:effectLst/>
                <a:uFillTx/>
                <a:latin typeface="Arial"/>
              </a:endParaRPr>
            </a:p>
          </p:txBody>
        </p:sp>
        <p:sp>
          <p:nvSpPr>
            <p:cNvPr id="589" name="Shape 48"/>
            <p:cNvSpPr/>
            <p:nvPr/>
          </p:nvSpPr>
          <p:spPr>
            <a:xfrm>
              <a:off x="2854080" y="4251960"/>
              <a:ext cx="270360" cy="10872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590" name="Text 49"/>
            <p:cNvSpPr/>
            <p:nvPr/>
          </p:nvSpPr>
          <p:spPr>
            <a:xfrm>
              <a:off x="3736800" y="4187880"/>
              <a:ext cx="578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1" u="none" strike="noStrike">
                  <a:solidFill>
                    <a:srgbClr val="FFB300"/>
                  </a:solidFill>
                  <a:effectLst/>
                  <a:uFillTx/>
                  <a:latin typeface="Calibri"/>
                </a:rPr>
                <a:t>12–18%</a:t>
              </a:r>
              <a:endParaRPr lang="pl-PL" sz="1200" b="0" u="none" strike="noStrike">
                <a:solidFill>
                  <a:srgbClr val="FFFFFF"/>
                </a:solidFill>
                <a:effectLst/>
                <a:uFillTx/>
                <a:latin typeface="Arial"/>
              </a:endParaRPr>
            </a:p>
          </p:txBody>
        </p:sp>
        <p:sp>
          <p:nvSpPr>
            <p:cNvPr id="591" name="Shape 50"/>
            <p:cNvSpPr/>
            <p:nvPr/>
          </p:nvSpPr>
          <p:spPr>
            <a:xfrm>
              <a:off x="384120" y="4462200"/>
              <a:ext cx="3976560" cy="227520"/>
            </a:xfrm>
            <a:prstGeom prst="rect">
              <a:avLst/>
            </a:prstGeom>
            <a:solidFill>
              <a:srgbClr val="0A2540"/>
            </a:solidFill>
            <a:ln w="508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92" name="Text 51"/>
            <p:cNvSpPr/>
            <p:nvPr/>
          </p:nvSpPr>
          <p:spPr>
            <a:xfrm>
              <a:off x="457200" y="4462200"/>
              <a:ext cx="25592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Backend / API</a:t>
              </a:r>
              <a:endParaRPr lang="pl-PL" sz="1400" b="0" u="none" strike="noStrike">
                <a:solidFill>
                  <a:srgbClr val="FFFFFF"/>
                </a:solidFill>
                <a:effectLst/>
                <a:uFillTx/>
                <a:latin typeface="Arial"/>
              </a:endParaRPr>
            </a:p>
          </p:txBody>
        </p:sp>
        <p:sp>
          <p:nvSpPr>
            <p:cNvPr id="593" name="Shape 52"/>
            <p:cNvSpPr/>
            <p:nvPr/>
          </p:nvSpPr>
          <p:spPr>
            <a:xfrm>
              <a:off x="2854080" y="4526280"/>
              <a:ext cx="220320" cy="10872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94" name="Text 53"/>
            <p:cNvSpPr/>
            <p:nvPr/>
          </p:nvSpPr>
          <p:spPr>
            <a:xfrm>
              <a:off x="3736800" y="4462200"/>
              <a:ext cx="578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1" u="none" strike="noStrike">
                  <a:solidFill>
                    <a:srgbClr val="FF7043"/>
                  </a:solidFill>
                  <a:effectLst/>
                  <a:uFillTx/>
                  <a:latin typeface="Calibri"/>
                </a:rPr>
                <a:t>10–15%</a:t>
              </a:r>
              <a:endParaRPr lang="pl-PL" sz="1200" b="0" u="none" strike="noStrike">
                <a:solidFill>
                  <a:srgbClr val="FFFFFF"/>
                </a:solidFill>
                <a:effectLst/>
                <a:uFillTx/>
                <a:latin typeface="Arial"/>
              </a:endParaRPr>
            </a:p>
          </p:txBody>
        </p:sp>
        <p:sp>
          <p:nvSpPr>
            <p:cNvPr id="595" name="Shape 54"/>
            <p:cNvSpPr/>
            <p:nvPr/>
          </p:nvSpPr>
          <p:spPr>
            <a:xfrm>
              <a:off x="4572000" y="3913560"/>
              <a:ext cx="3976560" cy="227520"/>
            </a:xfrm>
            <a:prstGeom prst="rect">
              <a:avLst/>
            </a:prstGeom>
            <a:solidFill>
              <a:srgbClr val="0A2540"/>
            </a:solidFill>
            <a:ln w="508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96" name="Text 55"/>
            <p:cNvSpPr/>
            <p:nvPr/>
          </p:nvSpPr>
          <p:spPr>
            <a:xfrm>
              <a:off x="4645080" y="3913560"/>
              <a:ext cx="25592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QA &amp; Testing</a:t>
              </a:r>
              <a:endParaRPr lang="pl-PL" sz="1400" b="0" u="none" strike="noStrike">
                <a:solidFill>
                  <a:srgbClr val="FFFFFF"/>
                </a:solidFill>
                <a:effectLst/>
                <a:uFillTx/>
                <a:latin typeface="Arial"/>
              </a:endParaRPr>
            </a:p>
          </p:txBody>
        </p:sp>
        <p:sp>
          <p:nvSpPr>
            <p:cNvPr id="597" name="Shape 56"/>
            <p:cNvSpPr/>
            <p:nvPr/>
          </p:nvSpPr>
          <p:spPr>
            <a:xfrm>
              <a:off x="7093080" y="3977640"/>
              <a:ext cx="180000" cy="10872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598" name="Text 57"/>
            <p:cNvSpPr/>
            <p:nvPr/>
          </p:nvSpPr>
          <p:spPr>
            <a:xfrm>
              <a:off x="7924680" y="3913560"/>
              <a:ext cx="578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1" u="none" strike="noStrike">
                  <a:solidFill>
                    <a:srgbClr val="4CAF50"/>
                  </a:solidFill>
                  <a:effectLst/>
                  <a:uFillTx/>
                  <a:latin typeface="Calibri"/>
                </a:rPr>
                <a:t>8–12%</a:t>
              </a:r>
              <a:endParaRPr lang="pl-PL" sz="1200" b="0" u="none" strike="noStrike">
                <a:solidFill>
                  <a:srgbClr val="FFFFFF"/>
                </a:solidFill>
                <a:effectLst/>
                <a:uFillTx/>
                <a:latin typeface="Arial"/>
              </a:endParaRPr>
            </a:p>
          </p:txBody>
        </p:sp>
        <p:sp>
          <p:nvSpPr>
            <p:cNvPr id="599" name="Shape 58"/>
            <p:cNvSpPr/>
            <p:nvPr/>
          </p:nvSpPr>
          <p:spPr>
            <a:xfrm>
              <a:off x="4572000" y="4187880"/>
              <a:ext cx="3976560" cy="227520"/>
            </a:xfrm>
            <a:prstGeom prst="rect">
              <a:avLst/>
            </a:prstGeom>
            <a:solidFill>
              <a:srgbClr val="0A2540"/>
            </a:solidFill>
            <a:ln w="508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00" name="Text 59"/>
            <p:cNvSpPr/>
            <p:nvPr/>
          </p:nvSpPr>
          <p:spPr>
            <a:xfrm>
              <a:off x="4645080" y="4187880"/>
              <a:ext cx="25592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PM &amp; Discovery</a:t>
              </a:r>
              <a:endParaRPr lang="pl-PL" sz="1400" b="0" u="none" strike="noStrike">
                <a:solidFill>
                  <a:srgbClr val="FFFFFF"/>
                </a:solidFill>
                <a:effectLst/>
                <a:uFillTx/>
                <a:latin typeface="Arial"/>
              </a:endParaRPr>
            </a:p>
          </p:txBody>
        </p:sp>
        <p:sp>
          <p:nvSpPr>
            <p:cNvPr id="601" name="Shape 60"/>
            <p:cNvSpPr/>
            <p:nvPr/>
          </p:nvSpPr>
          <p:spPr>
            <a:xfrm>
              <a:off x="7093080" y="4251960"/>
              <a:ext cx="109440" cy="10872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02" name="Text 61"/>
            <p:cNvSpPr/>
            <p:nvPr/>
          </p:nvSpPr>
          <p:spPr>
            <a:xfrm>
              <a:off x="7924680" y="4187880"/>
              <a:ext cx="578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1" u="none" strike="noStrike">
                  <a:solidFill>
                    <a:srgbClr val="7C4DFF"/>
                  </a:solidFill>
                  <a:effectLst/>
                  <a:uFillTx/>
                  <a:latin typeface="Calibri"/>
                </a:rPr>
                <a:t>5–8%</a:t>
              </a:r>
              <a:endParaRPr lang="pl-PL" sz="1200" b="0" u="none" strike="noStrike">
                <a:solidFill>
                  <a:srgbClr val="FFFFFF"/>
                </a:solidFill>
                <a:effectLst/>
                <a:uFillTx/>
                <a:latin typeface="Arial"/>
              </a:endParaRPr>
            </a:p>
          </p:txBody>
        </p:sp>
        <p:sp>
          <p:nvSpPr>
            <p:cNvPr id="603" name="Shape 62"/>
            <p:cNvSpPr/>
            <p:nvPr/>
          </p:nvSpPr>
          <p:spPr>
            <a:xfrm>
              <a:off x="4572000" y="4462200"/>
              <a:ext cx="3976560" cy="227520"/>
            </a:xfrm>
            <a:prstGeom prst="rect">
              <a:avLst/>
            </a:prstGeom>
            <a:solidFill>
              <a:srgbClr val="0A2540"/>
            </a:solidFill>
            <a:ln w="508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04" name="Text 63"/>
            <p:cNvSpPr/>
            <p:nvPr/>
          </p:nvSpPr>
          <p:spPr>
            <a:xfrm>
              <a:off x="4645080" y="4462200"/>
              <a:ext cx="25592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DevOps / Infra</a:t>
              </a:r>
              <a:endParaRPr lang="pl-PL" sz="1400" b="0" u="none" strike="noStrike">
                <a:solidFill>
                  <a:srgbClr val="FFFFFF"/>
                </a:solidFill>
                <a:effectLst/>
                <a:uFillTx/>
                <a:latin typeface="Arial"/>
              </a:endParaRPr>
            </a:p>
          </p:txBody>
        </p:sp>
        <p:sp>
          <p:nvSpPr>
            <p:cNvPr id="605" name="Shape 64"/>
            <p:cNvSpPr/>
            <p:nvPr/>
          </p:nvSpPr>
          <p:spPr>
            <a:xfrm>
              <a:off x="7093080" y="4526280"/>
              <a:ext cx="69480" cy="10872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06" name="Text 65"/>
            <p:cNvSpPr/>
            <p:nvPr/>
          </p:nvSpPr>
          <p:spPr>
            <a:xfrm>
              <a:off x="7924680" y="4462200"/>
              <a:ext cx="578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200" b="1" u="none" strike="noStrike">
                  <a:solidFill>
                    <a:srgbClr val="EF5350"/>
                  </a:solidFill>
                  <a:effectLst/>
                  <a:uFillTx/>
                  <a:latin typeface="Calibri"/>
                </a:rPr>
                <a:t>3–5%</a:t>
              </a:r>
              <a:endParaRPr lang="pl-PL" sz="1200" b="0" u="none" strike="noStrike">
                <a:solidFill>
                  <a:srgbClr val="FFFFFF"/>
                </a:solidFill>
                <a:effectLst/>
                <a:uFillTx/>
                <a:latin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501"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US" sz="2000" dirty="0" err="1">
                <a:solidFill>
                  <a:srgbClr val="FFFFFF"/>
                </a:solidFill>
              </a:rPr>
              <a:t>Roadmapa</a:t>
            </a:r>
            <a:r>
              <a:rPr lang="en-US" sz="2000" dirty="0">
                <a:solidFill>
                  <a:srgbClr val="FFFFFF"/>
                </a:solidFill>
              </a:rPr>
              <a:t> </a:t>
            </a:r>
            <a:r>
              <a:rPr lang="pl-PL" sz="2000" dirty="0" smtClean="0">
                <a:solidFill>
                  <a:srgbClr val="FFFFFF"/>
                </a:solidFill>
              </a:rPr>
              <a:t>dla </a:t>
            </a:r>
            <a:r>
              <a:rPr lang="en-US" sz="2000" dirty="0" err="1" smtClean="0">
                <a:solidFill>
                  <a:srgbClr val="FFFFFF"/>
                </a:solidFill>
              </a:rPr>
              <a:t>aplikacj</a:t>
            </a:r>
            <a:r>
              <a:rPr lang="pl-PL" sz="2000" dirty="0" smtClean="0">
                <a:solidFill>
                  <a:srgbClr val="FFFFFF"/>
                </a:solidFill>
              </a:rPr>
              <a:t>i</a:t>
            </a:r>
            <a:r>
              <a:rPr lang="en-US" sz="2000" dirty="0" smtClean="0">
                <a:solidFill>
                  <a:srgbClr val="FFFFFF"/>
                </a:solidFill>
              </a:rPr>
              <a:t> </a:t>
            </a:r>
            <a:r>
              <a:rPr lang="en-US" sz="2000" dirty="0" err="1" smtClean="0">
                <a:solidFill>
                  <a:srgbClr val="FFFFFF"/>
                </a:solidFill>
              </a:rPr>
              <a:t>mobiln</a:t>
            </a:r>
            <a:r>
              <a:rPr lang="pl-PL" sz="2000" dirty="0" smtClean="0">
                <a:solidFill>
                  <a:srgbClr val="FFFFFF"/>
                </a:solidFill>
              </a:rPr>
              <a:t>ej na</a:t>
            </a:r>
            <a:r>
              <a:rPr lang="en-US" sz="2000" dirty="0" smtClean="0">
                <a:solidFill>
                  <a:srgbClr val="FFFFFF"/>
                </a:solidFill>
              </a:rPr>
              <a:t> Android</a:t>
            </a:r>
            <a:r>
              <a:rPr lang="pl-PL" sz="2000" dirty="0" smtClean="0">
                <a:solidFill>
                  <a:srgbClr val="FFFFFF"/>
                </a:solidFill>
              </a:rPr>
              <a:t>a</a:t>
            </a:r>
            <a:endParaRPr lang="pl-PL" sz="2000" u="none" strike="noStrike" dirty="0">
              <a:solidFill>
                <a:srgbClr val="FFFFFF"/>
              </a:solidFill>
              <a:effectLst/>
              <a:uFillTx/>
              <a:latin typeface="Arial"/>
            </a:endParaRPr>
          </a:p>
        </p:txBody>
      </p:sp>
      <p:sp>
        <p:nvSpPr>
          <p:cNvPr id="502" name="Shape 3"/>
          <p:cNvSpPr/>
          <p:nvPr/>
        </p:nvSpPr>
        <p:spPr>
          <a:xfrm>
            <a:off x="383760" y="408525"/>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538" name="Shape 38"/>
          <p:cNvSpPr/>
          <p:nvPr/>
        </p:nvSpPr>
        <p:spPr>
          <a:xfrm>
            <a:off x="3778899" y="444800"/>
            <a:ext cx="5200002" cy="4584400"/>
          </a:xfrm>
          <a:prstGeom prst="rect">
            <a:avLst/>
          </a:prstGeom>
          <a:solidFill>
            <a:srgbClr val="102040"/>
          </a:solidFill>
          <a:ln w="6350">
            <a:solidFill>
              <a:srgbClr val="FFB300"/>
            </a:solidFill>
            <a:round/>
          </a:ln>
        </p:spPr>
        <p:style>
          <a:lnRef idx="0">
            <a:scrgbClr r="0" g="0" b="0"/>
          </a:lnRef>
          <a:fillRef idx="0">
            <a:scrgbClr r="0" g="0" b="0"/>
          </a:fillRef>
          <a:effectRef idx="0">
            <a:scrgbClr r="0" g="0" b="0"/>
          </a:effectRef>
          <a:fontRef idx="minor"/>
        </p:style>
        <p:txBody>
          <a:bodyPr lIns="90000" tIns="45000" rIns="90000" bIns="45000" numCol="1" anchor="t">
            <a:noAutofit/>
          </a:bodyPr>
          <a:lstStyle/>
          <a:p>
            <a:r>
              <a:rPr lang="pl-PL" sz="1000" b="1" dirty="0" smtClean="0">
                <a:solidFill>
                  <a:srgbClr val="569CD6"/>
                </a:solidFill>
                <a:effectLst/>
                <a:latin typeface="Consolas" panose="020B0609020204030204" pitchFamily="49" charset="0"/>
              </a:rPr>
              <a:t># </a:t>
            </a:r>
            <a:r>
              <a:rPr lang="pl-PL" sz="1000" b="1" dirty="0" err="1" smtClean="0">
                <a:solidFill>
                  <a:srgbClr val="569CD6"/>
                </a:solidFill>
                <a:effectLst/>
                <a:latin typeface="Consolas" panose="020B0609020204030204" pitchFamily="49" charset="0"/>
              </a:rPr>
              <a:t>Roadmapa</a:t>
            </a:r>
            <a:r>
              <a:rPr lang="pl-PL" sz="1000" b="1" dirty="0" smtClean="0">
                <a:solidFill>
                  <a:srgbClr val="569CD6"/>
                </a:solidFill>
                <a:effectLst/>
                <a:latin typeface="Consolas" panose="020B0609020204030204" pitchFamily="49" charset="0"/>
              </a:rPr>
              <a:t> aplikacji Android — MVP → </a:t>
            </a:r>
            <a:r>
              <a:rPr lang="pl-PL" sz="1000" b="1" dirty="0" err="1" smtClean="0">
                <a:solidFill>
                  <a:srgbClr val="569CD6"/>
                </a:solidFill>
                <a:effectLst/>
                <a:latin typeface="Consolas" panose="020B0609020204030204" pitchFamily="49" charset="0"/>
              </a:rPr>
              <a:t>Launch</a:t>
            </a:r>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endParaRPr lang="pl-PL" sz="1000" b="0" dirty="0" smtClean="0">
              <a:solidFill>
                <a:srgbClr val="CCCCCC"/>
              </a:solidFill>
              <a:effectLst/>
              <a:latin typeface="Consolas" panose="020B0609020204030204" pitchFamily="49" charset="0"/>
            </a:endParaRPr>
          </a:p>
          <a:p>
            <a:r>
              <a:rPr lang="pl-PL" sz="1000" b="1" dirty="0" smtClean="0">
                <a:solidFill>
                  <a:srgbClr val="569CD6"/>
                </a:solidFill>
                <a:effectLst/>
                <a:latin typeface="Consolas" panose="020B0609020204030204" pitchFamily="49" charset="0"/>
              </a:rPr>
              <a:t>## </a:t>
            </a:r>
            <a:r>
              <a:rPr lang="pl-PL" sz="1000" b="1" dirty="0" err="1" smtClean="0">
                <a:solidFill>
                  <a:srgbClr val="569CD6"/>
                </a:solidFill>
                <a:effectLst/>
                <a:latin typeface="Consolas" panose="020B0609020204030204" pitchFamily="49" charset="0"/>
              </a:rPr>
              <a:t>Milestone</a:t>
            </a:r>
            <a:r>
              <a:rPr lang="pl-PL" sz="1000" b="1" dirty="0" smtClean="0">
                <a:solidFill>
                  <a:srgbClr val="569CD6"/>
                </a:solidFill>
                <a:effectLst/>
                <a:latin typeface="Consolas" panose="020B0609020204030204" pitchFamily="49" charset="0"/>
              </a:rPr>
              <a:t> 1: </a:t>
            </a:r>
            <a:r>
              <a:rPr lang="pl-PL" sz="1000" dirty="0" smtClean="0">
                <a:solidFill>
                  <a:srgbClr val="569CD6"/>
                </a:solidFill>
                <a:effectLst/>
                <a:latin typeface="Consolas" panose="020B0609020204030204" pitchFamily="49" charset="0"/>
              </a:rPr>
              <a:t>Walidacja pomysłu</a:t>
            </a:r>
            <a:endParaRPr lang="pl-PL" sz="1000" dirty="0" smtClean="0">
              <a:solidFill>
                <a:srgbClr val="CCCCCC"/>
              </a:solidFill>
              <a:effectLst/>
              <a:latin typeface="Consolas" panose="020B0609020204030204" pitchFamily="49" charset="0"/>
            </a:endParaRPr>
          </a:p>
          <a:p>
            <a:r>
              <a:rPr lang="pl-PL" sz="1000" b="0" dirty="0" smtClean="0">
                <a:solidFill>
                  <a:srgbClr val="CCCCCC"/>
                </a:solidFill>
                <a:effectLst/>
                <a:latin typeface="Consolas" panose="020B0609020204030204" pitchFamily="49" charset="0"/>
              </a:rPr>
              <a:t>Termin: koniec 2. tygodnia</a:t>
            </a:r>
          </a:p>
          <a:p>
            <a:r>
              <a:rPr lang="pl-PL" sz="1000" b="0" dirty="0" smtClean="0">
                <a:solidFill>
                  <a:srgbClr val="CCCCCC"/>
                </a:solidFill>
                <a:effectLst/>
                <a:latin typeface="Consolas" panose="020B0609020204030204" pitchFamily="49" charset="0"/>
              </a:rPr>
              <a:t>Rezultat: potwierdzony problem użytkownika, opis person, zakres MVP.</a:t>
            </a: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a:t>
            </a:r>
            <a:r>
              <a:rPr lang="pl-PL" sz="1000" b="1" dirty="0" err="1" smtClean="0">
                <a:solidFill>
                  <a:srgbClr val="569CD6"/>
                </a:solidFill>
                <a:effectLst/>
                <a:latin typeface="Consolas" panose="020B0609020204030204" pitchFamily="49" charset="0"/>
              </a:rPr>
              <a:t>Milestone</a:t>
            </a:r>
            <a:r>
              <a:rPr lang="pl-PL" sz="1000" b="1" dirty="0" smtClean="0">
                <a:solidFill>
                  <a:srgbClr val="569CD6"/>
                </a:solidFill>
                <a:effectLst/>
                <a:latin typeface="Consolas" panose="020B0609020204030204" pitchFamily="49" charset="0"/>
              </a:rPr>
              <a:t> 2: </a:t>
            </a:r>
            <a:r>
              <a:rPr lang="pl-PL" sz="1000" dirty="0" smtClean="0">
                <a:solidFill>
                  <a:srgbClr val="569CD6"/>
                </a:solidFill>
                <a:effectLst/>
                <a:latin typeface="Consolas" panose="020B0609020204030204" pitchFamily="49" charset="0"/>
              </a:rPr>
              <a:t>Prototyp UX/UI</a:t>
            </a:r>
            <a:endParaRPr lang="pl-PL" sz="1000" dirty="0" smtClean="0">
              <a:solidFill>
                <a:srgbClr val="CCCCCC"/>
              </a:solidFill>
              <a:effectLst/>
              <a:latin typeface="Consolas" panose="020B0609020204030204" pitchFamily="49" charset="0"/>
            </a:endParaRPr>
          </a:p>
          <a:p>
            <a:r>
              <a:rPr lang="pl-PL" sz="1000" b="0" dirty="0" smtClean="0">
                <a:solidFill>
                  <a:srgbClr val="CCCCCC"/>
                </a:solidFill>
                <a:effectLst/>
                <a:latin typeface="Consolas" panose="020B0609020204030204" pitchFamily="49" charset="0"/>
              </a:rPr>
              <a:t>Termin: koniec 4. tygodnia</a:t>
            </a:r>
          </a:p>
          <a:p>
            <a:r>
              <a:rPr lang="pl-PL" sz="1000" b="0" dirty="0" smtClean="0">
                <a:solidFill>
                  <a:srgbClr val="CCCCCC"/>
                </a:solidFill>
                <a:effectLst/>
                <a:latin typeface="Consolas" panose="020B0609020204030204" pitchFamily="49" charset="0"/>
              </a:rPr>
              <a:t>Rezultat: </a:t>
            </a:r>
            <a:r>
              <a:rPr lang="pl-PL" sz="1000" b="0" dirty="0" err="1" smtClean="0">
                <a:solidFill>
                  <a:srgbClr val="CCCCCC"/>
                </a:solidFill>
                <a:effectLst/>
                <a:latin typeface="Consolas" panose="020B0609020204030204" pitchFamily="49" charset="0"/>
              </a:rPr>
              <a:t>klikalny</a:t>
            </a:r>
            <a:r>
              <a:rPr lang="pl-PL" sz="1000" b="0" dirty="0" smtClean="0">
                <a:solidFill>
                  <a:srgbClr val="CCCCCC"/>
                </a:solidFill>
                <a:effectLst/>
                <a:latin typeface="Consolas" panose="020B0609020204030204" pitchFamily="49" charset="0"/>
              </a:rPr>
              <a:t> prototyp, przetestowane główne ścieżki użytkownika.</a:t>
            </a: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a:t>
            </a:r>
            <a:r>
              <a:rPr lang="pl-PL" sz="1000" b="1" dirty="0" err="1" smtClean="0">
                <a:solidFill>
                  <a:srgbClr val="569CD6"/>
                </a:solidFill>
                <a:effectLst/>
                <a:latin typeface="Consolas" panose="020B0609020204030204" pitchFamily="49" charset="0"/>
              </a:rPr>
              <a:t>Milestone</a:t>
            </a:r>
            <a:r>
              <a:rPr lang="pl-PL" sz="1000" b="1" dirty="0" smtClean="0">
                <a:solidFill>
                  <a:srgbClr val="569CD6"/>
                </a:solidFill>
                <a:effectLst/>
                <a:latin typeface="Consolas" panose="020B0609020204030204" pitchFamily="49" charset="0"/>
              </a:rPr>
              <a:t> 3: </a:t>
            </a:r>
            <a:r>
              <a:rPr lang="pl-PL" sz="1000" dirty="0" smtClean="0">
                <a:solidFill>
                  <a:srgbClr val="569CD6"/>
                </a:solidFill>
                <a:effectLst/>
                <a:latin typeface="Consolas" panose="020B0609020204030204" pitchFamily="49" charset="0"/>
              </a:rPr>
              <a:t>Architektura techniczna</a:t>
            </a:r>
            <a:endParaRPr lang="pl-PL" sz="1000" dirty="0" smtClean="0">
              <a:solidFill>
                <a:srgbClr val="CCCCCC"/>
              </a:solidFill>
              <a:effectLst/>
              <a:latin typeface="Consolas" panose="020B0609020204030204" pitchFamily="49" charset="0"/>
            </a:endParaRPr>
          </a:p>
          <a:p>
            <a:r>
              <a:rPr lang="pl-PL" sz="1000" b="0" dirty="0" smtClean="0">
                <a:solidFill>
                  <a:srgbClr val="CCCCCC"/>
                </a:solidFill>
                <a:effectLst/>
                <a:latin typeface="Consolas" panose="020B0609020204030204" pitchFamily="49" charset="0"/>
              </a:rPr>
              <a:t>Termin: koniec 5. tygodnia</a:t>
            </a:r>
          </a:p>
          <a:p>
            <a:r>
              <a:rPr lang="pl-PL" sz="1000" b="0" dirty="0" smtClean="0">
                <a:solidFill>
                  <a:srgbClr val="CCCCCC"/>
                </a:solidFill>
                <a:effectLst/>
                <a:latin typeface="Consolas" panose="020B0609020204030204" pitchFamily="49" charset="0"/>
              </a:rPr>
              <a:t>Rezultat: ADR, struktura projektu, wybrany </a:t>
            </a:r>
            <a:r>
              <a:rPr lang="pl-PL" sz="1000" b="0" dirty="0" err="1" smtClean="0">
                <a:solidFill>
                  <a:srgbClr val="CCCCCC"/>
                </a:solidFill>
                <a:effectLst/>
                <a:latin typeface="Consolas" panose="020B0609020204030204" pitchFamily="49" charset="0"/>
              </a:rPr>
              <a:t>stack</a:t>
            </a:r>
            <a:r>
              <a:rPr lang="pl-PL" sz="1000" b="0" dirty="0" smtClean="0">
                <a:solidFill>
                  <a:srgbClr val="CCCCCC"/>
                </a:solidFill>
                <a:effectLst/>
                <a:latin typeface="Consolas" panose="020B0609020204030204" pitchFamily="49" charset="0"/>
              </a:rPr>
              <a:t> technologiczny.</a:t>
            </a: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a:t>
            </a:r>
            <a:r>
              <a:rPr lang="pl-PL" sz="1000" b="1" dirty="0" err="1" smtClean="0">
                <a:solidFill>
                  <a:srgbClr val="569CD6"/>
                </a:solidFill>
                <a:effectLst/>
                <a:latin typeface="Consolas" panose="020B0609020204030204" pitchFamily="49" charset="0"/>
              </a:rPr>
              <a:t>Milestone</a:t>
            </a:r>
            <a:r>
              <a:rPr lang="pl-PL" sz="1000" b="1" dirty="0" smtClean="0">
                <a:solidFill>
                  <a:srgbClr val="569CD6"/>
                </a:solidFill>
                <a:effectLst/>
                <a:latin typeface="Consolas" panose="020B0609020204030204" pitchFamily="49" charset="0"/>
              </a:rPr>
              <a:t> 4: </a:t>
            </a:r>
            <a:r>
              <a:rPr lang="pl-PL" sz="1000" dirty="0" smtClean="0">
                <a:solidFill>
                  <a:srgbClr val="569CD6"/>
                </a:solidFill>
                <a:effectLst/>
                <a:latin typeface="Consolas" panose="020B0609020204030204" pitchFamily="49" charset="0"/>
              </a:rPr>
              <a:t>MVP</a:t>
            </a:r>
            <a:endParaRPr lang="pl-PL" sz="1000" dirty="0" smtClean="0">
              <a:solidFill>
                <a:srgbClr val="CCCCCC"/>
              </a:solidFill>
              <a:effectLst/>
              <a:latin typeface="Consolas" panose="020B0609020204030204" pitchFamily="49" charset="0"/>
            </a:endParaRPr>
          </a:p>
          <a:p>
            <a:r>
              <a:rPr lang="pl-PL" sz="1000" b="0" dirty="0" smtClean="0">
                <a:solidFill>
                  <a:srgbClr val="CCCCCC"/>
                </a:solidFill>
                <a:effectLst/>
                <a:latin typeface="Consolas" panose="020B0609020204030204" pitchFamily="49" charset="0"/>
              </a:rPr>
              <a:t>Termin: koniec 10. tygodnia</a:t>
            </a:r>
          </a:p>
          <a:p>
            <a:r>
              <a:rPr lang="pl-PL" sz="1000" b="0" dirty="0" smtClean="0">
                <a:solidFill>
                  <a:srgbClr val="CCCCCC"/>
                </a:solidFill>
                <a:effectLst/>
                <a:latin typeface="Consolas" panose="020B0609020204030204" pitchFamily="49" charset="0"/>
              </a:rPr>
              <a:t>Rezultat: działająca aplikacja z podstawowymi funkcjami.</a:t>
            </a: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a:t>
            </a:r>
            <a:r>
              <a:rPr lang="pl-PL" sz="1000" b="1" dirty="0" err="1" smtClean="0">
                <a:solidFill>
                  <a:srgbClr val="569CD6"/>
                </a:solidFill>
                <a:effectLst/>
                <a:latin typeface="Consolas" panose="020B0609020204030204" pitchFamily="49" charset="0"/>
              </a:rPr>
              <a:t>Milestone</a:t>
            </a:r>
            <a:r>
              <a:rPr lang="pl-PL" sz="1000" b="1" dirty="0" smtClean="0">
                <a:solidFill>
                  <a:srgbClr val="569CD6"/>
                </a:solidFill>
                <a:effectLst/>
                <a:latin typeface="Consolas" panose="020B0609020204030204" pitchFamily="49" charset="0"/>
              </a:rPr>
              <a:t> 5: </a:t>
            </a:r>
            <a:r>
              <a:rPr lang="pl-PL" sz="1000" dirty="0" smtClean="0">
                <a:solidFill>
                  <a:srgbClr val="569CD6"/>
                </a:solidFill>
                <a:effectLst/>
                <a:latin typeface="Consolas" panose="020B0609020204030204" pitchFamily="49" charset="0"/>
              </a:rPr>
              <a:t>Beta</a:t>
            </a:r>
            <a:endParaRPr lang="pl-PL" sz="1000" dirty="0" smtClean="0">
              <a:solidFill>
                <a:srgbClr val="CCCCCC"/>
              </a:solidFill>
              <a:effectLst/>
              <a:latin typeface="Consolas" panose="020B0609020204030204" pitchFamily="49" charset="0"/>
            </a:endParaRPr>
          </a:p>
          <a:p>
            <a:r>
              <a:rPr lang="pl-PL" sz="1000" b="0" dirty="0" smtClean="0">
                <a:solidFill>
                  <a:srgbClr val="CCCCCC"/>
                </a:solidFill>
                <a:effectLst/>
                <a:latin typeface="Consolas" panose="020B0609020204030204" pitchFamily="49" charset="0"/>
              </a:rPr>
              <a:t>Termin: koniec 13. tygodnia</a:t>
            </a:r>
          </a:p>
          <a:p>
            <a:r>
              <a:rPr lang="pl-PL" sz="1000" b="0" dirty="0" smtClean="0">
                <a:solidFill>
                  <a:srgbClr val="CCCCCC"/>
                </a:solidFill>
                <a:effectLst/>
                <a:latin typeface="Consolas" panose="020B0609020204030204" pitchFamily="49" charset="0"/>
              </a:rPr>
              <a:t>Rezultat: aplikacja przetestowana na ograniczonej grupie użytkowników.</a:t>
            </a: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a:t>
            </a:r>
            <a:r>
              <a:rPr lang="pl-PL" sz="1000" b="1" dirty="0" err="1" smtClean="0">
                <a:solidFill>
                  <a:srgbClr val="569CD6"/>
                </a:solidFill>
                <a:effectLst/>
                <a:latin typeface="Consolas" panose="020B0609020204030204" pitchFamily="49" charset="0"/>
              </a:rPr>
              <a:t>Milestone</a:t>
            </a:r>
            <a:r>
              <a:rPr lang="pl-PL" sz="1000" b="1" dirty="0" smtClean="0">
                <a:solidFill>
                  <a:srgbClr val="569CD6"/>
                </a:solidFill>
                <a:effectLst/>
                <a:latin typeface="Consolas" panose="020B0609020204030204" pitchFamily="49" charset="0"/>
              </a:rPr>
              <a:t> 6: </a:t>
            </a:r>
            <a:r>
              <a:rPr lang="pl-PL" sz="1000" dirty="0" err="1" smtClean="0">
                <a:solidFill>
                  <a:srgbClr val="569CD6"/>
                </a:solidFill>
                <a:effectLst/>
                <a:latin typeface="Consolas" panose="020B0609020204030204" pitchFamily="49" charset="0"/>
              </a:rPr>
              <a:t>Launch</a:t>
            </a:r>
            <a:endParaRPr lang="pl-PL" sz="1000" dirty="0" smtClean="0">
              <a:solidFill>
                <a:srgbClr val="CCCCCC"/>
              </a:solidFill>
              <a:effectLst/>
              <a:latin typeface="Consolas" panose="020B0609020204030204" pitchFamily="49" charset="0"/>
            </a:endParaRPr>
          </a:p>
          <a:p>
            <a:r>
              <a:rPr lang="pl-PL" sz="1000" b="0" dirty="0" smtClean="0">
                <a:solidFill>
                  <a:srgbClr val="CCCCCC"/>
                </a:solidFill>
                <a:effectLst/>
                <a:latin typeface="Consolas" panose="020B0609020204030204" pitchFamily="49" charset="0"/>
              </a:rPr>
              <a:t>Termin: koniec 14. tygodnia</a:t>
            </a:r>
          </a:p>
          <a:p>
            <a:r>
              <a:rPr lang="pl-PL" sz="1000" b="0" dirty="0" smtClean="0">
                <a:solidFill>
                  <a:srgbClr val="CCCCCC"/>
                </a:solidFill>
                <a:effectLst/>
                <a:latin typeface="Consolas" panose="020B0609020204030204" pitchFamily="49" charset="0"/>
              </a:rPr>
              <a:t>Rezultat: publikacja w Google Play.</a:t>
            </a: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a:t>
            </a:r>
            <a:r>
              <a:rPr lang="pl-PL" sz="1000" b="1" dirty="0" err="1" smtClean="0">
                <a:solidFill>
                  <a:srgbClr val="569CD6"/>
                </a:solidFill>
                <a:effectLst/>
                <a:latin typeface="Consolas" panose="020B0609020204030204" pitchFamily="49" charset="0"/>
              </a:rPr>
              <a:t>Milestone</a:t>
            </a:r>
            <a:r>
              <a:rPr lang="pl-PL" sz="1000" b="1" dirty="0" smtClean="0">
                <a:solidFill>
                  <a:srgbClr val="569CD6"/>
                </a:solidFill>
                <a:effectLst/>
                <a:latin typeface="Consolas" panose="020B0609020204030204" pitchFamily="49" charset="0"/>
              </a:rPr>
              <a:t> 7: </a:t>
            </a:r>
            <a:r>
              <a:rPr lang="pl-PL" sz="1000" dirty="0" smtClean="0">
                <a:solidFill>
                  <a:srgbClr val="569CD6"/>
                </a:solidFill>
                <a:effectLst/>
                <a:latin typeface="Consolas" panose="020B0609020204030204" pitchFamily="49" charset="0"/>
              </a:rPr>
              <a:t>Wersja 1.1</a:t>
            </a:r>
            <a:endParaRPr lang="pl-PL" sz="1000" dirty="0" smtClean="0">
              <a:solidFill>
                <a:srgbClr val="CCCCCC"/>
              </a:solidFill>
              <a:effectLst/>
              <a:latin typeface="Consolas" panose="020B0609020204030204" pitchFamily="49" charset="0"/>
            </a:endParaRPr>
          </a:p>
          <a:p>
            <a:r>
              <a:rPr lang="pl-PL" sz="1000" b="0" dirty="0" smtClean="0">
                <a:solidFill>
                  <a:srgbClr val="CCCCCC"/>
                </a:solidFill>
                <a:effectLst/>
                <a:latin typeface="Consolas" panose="020B0609020204030204" pitchFamily="49" charset="0"/>
              </a:rPr>
              <a:t>Termin: koniec 18. tygodnia</a:t>
            </a:r>
          </a:p>
          <a:p>
            <a:r>
              <a:rPr lang="pl-PL" sz="1000" b="0" dirty="0" smtClean="0">
                <a:solidFill>
                  <a:srgbClr val="CCCCCC"/>
                </a:solidFill>
                <a:effectLst/>
                <a:latin typeface="Consolas" panose="020B0609020204030204" pitchFamily="49" charset="0"/>
              </a:rPr>
              <a:t>Rezultat: poprawki UX, stabilizacja, pierwsze funkcje po feedbacku.</a:t>
            </a:r>
            <a:endParaRPr lang="pl-PL" sz="1000" b="0" dirty="0">
              <a:solidFill>
                <a:srgbClr val="CCCCCC"/>
              </a:solidFill>
              <a:effectLst/>
              <a:latin typeface="Consolas" panose="020B0609020204030204" pitchFamily="49" charset="0"/>
            </a:endParaRPr>
          </a:p>
        </p:txBody>
      </p:sp>
      <p:sp>
        <p:nvSpPr>
          <p:cNvPr id="5" name="Shape 38"/>
          <p:cNvSpPr/>
          <p:nvPr/>
        </p:nvSpPr>
        <p:spPr>
          <a:xfrm>
            <a:off x="217715" y="444800"/>
            <a:ext cx="3430554" cy="4584400"/>
          </a:xfrm>
          <a:prstGeom prst="rect">
            <a:avLst/>
          </a:prstGeom>
          <a:solidFill>
            <a:srgbClr val="102040"/>
          </a:solidFill>
          <a:ln w="6350">
            <a:solidFill>
              <a:srgbClr val="FFB300"/>
            </a:solidFill>
            <a:round/>
          </a:ln>
        </p:spPr>
        <p:style>
          <a:lnRef idx="0">
            <a:scrgbClr r="0" g="0" b="0"/>
          </a:lnRef>
          <a:fillRef idx="0">
            <a:scrgbClr r="0" g="0" b="0"/>
          </a:fillRef>
          <a:effectRef idx="0">
            <a:scrgbClr r="0" g="0" b="0"/>
          </a:effectRef>
          <a:fontRef idx="minor"/>
        </p:style>
        <p:txBody>
          <a:bodyPr lIns="90000" tIns="45000" rIns="90000" bIns="45000" numCol="1" anchor="t">
            <a:noAutofit/>
          </a:bodyPr>
          <a:lstStyle/>
          <a:p>
            <a:r>
              <a:rPr lang="pl-PL" sz="1000" b="1" dirty="0" smtClean="0">
                <a:solidFill>
                  <a:srgbClr val="569CD6"/>
                </a:solidFill>
                <a:effectLst/>
                <a:latin typeface="Consolas" panose="020B0609020204030204" pitchFamily="49" charset="0"/>
              </a:rPr>
              <a:t># M1: Discovery + UX</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walidacja problemu</a:t>
            </a:r>
          </a:p>
          <a:p>
            <a:pPr marL="171450" indent="-171450">
              <a:buFontTx/>
              <a:buChar char="-"/>
            </a:pPr>
            <a:r>
              <a:rPr lang="pl-PL" sz="1000" b="0" dirty="0" smtClean="0">
                <a:solidFill>
                  <a:srgbClr val="CCCCCC"/>
                </a:solidFill>
                <a:effectLst/>
                <a:latin typeface="Consolas" panose="020B0609020204030204" pitchFamily="49" charset="0"/>
              </a:rPr>
              <a:t>MVP, prototyp</a:t>
            </a:r>
          </a:p>
          <a:p>
            <a:pPr marL="171450" indent="-171450">
              <a:buFontTx/>
              <a:buChar char="-"/>
            </a:pPr>
            <a:r>
              <a:rPr lang="pl-PL" sz="1000" b="0" dirty="0" smtClean="0">
                <a:solidFill>
                  <a:srgbClr val="CCCCCC"/>
                </a:solidFill>
                <a:effectLst/>
                <a:latin typeface="Consolas" panose="020B0609020204030204" pitchFamily="49" charset="0"/>
              </a:rPr>
              <a:t>testy z użytkownikami</a:t>
            </a: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M2: Architektura + MVP</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ADR</a:t>
            </a:r>
          </a:p>
          <a:p>
            <a:pPr marL="171450" indent="-171450">
              <a:buFontTx/>
              <a:buChar char="-"/>
            </a:pPr>
            <a:r>
              <a:rPr lang="pl-PL" sz="1000" b="0" dirty="0" smtClean="0">
                <a:solidFill>
                  <a:srgbClr val="CCCCCC"/>
                </a:solidFill>
                <a:effectLst/>
                <a:latin typeface="Consolas" panose="020B0609020204030204" pitchFamily="49" charset="0"/>
              </a:rPr>
              <a:t>MVVM</a:t>
            </a:r>
          </a:p>
          <a:p>
            <a:pPr marL="171450" indent="-171450">
              <a:buFontTx/>
              <a:buChar char="-"/>
            </a:pPr>
            <a:r>
              <a:rPr lang="pl-PL" sz="1000" b="0" dirty="0" smtClean="0">
                <a:solidFill>
                  <a:srgbClr val="CCCCCC"/>
                </a:solidFill>
                <a:effectLst/>
                <a:latin typeface="Consolas" panose="020B0609020204030204" pitchFamily="49" charset="0"/>
              </a:rPr>
              <a:t>API</a:t>
            </a:r>
          </a:p>
          <a:p>
            <a:pPr marL="171450" indent="-171450">
              <a:buFontTx/>
              <a:buChar char="-"/>
            </a:pPr>
            <a:r>
              <a:rPr lang="pl-PL" sz="1000" b="0" dirty="0" smtClean="0">
                <a:solidFill>
                  <a:srgbClr val="CCCCCC"/>
                </a:solidFill>
                <a:effectLst/>
                <a:latin typeface="Consolas" panose="020B0609020204030204" pitchFamily="49" charset="0"/>
              </a:rPr>
              <a:t>baza lokalna</a:t>
            </a:r>
          </a:p>
          <a:p>
            <a:pPr marL="171450" indent="-171450">
              <a:buFontTx/>
              <a:buChar char="-"/>
            </a:pPr>
            <a:r>
              <a:rPr lang="pl-PL" sz="1000" b="0" dirty="0" smtClean="0">
                <a:solidFill>
                  <a:srgbClr val="CCCCCC"/>
                </a:solidFill>
                <a:effectLst/>
                <a:latin typeface="Consolas" panose="020B0609020204030204" pitchFamily="49" charset="0"/>
              </a:rPr>
              <a:t>podstawowe funkcje</a:t>
            </a: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M3: Testy + </a:t>
            </a:r>
            <a:r>
              <a:rPr lang="pl-PL" sz="1000" b="1" dirty="0" err="1" smtClean="0">
                <a:solidFill>
                  <a:srgbClr val="569CD6"/>
                </a:solidFill>
                <a:effectLst/>
                <a:latin typeface="Consolas" panose="020B0609020204030204" pitchFamily="49" charset="0"/>
              </a:rPr>
              <a:t>soft</a:t>
            </a:r>
            <a:r>
              <a:rPr lang="pl-PL" sz="1000" b="1" dirty="0" smtClean="0">
                <a:solidFill>
                  <a:srgbClr val="569CD6"/>
                </a:solidFill>
                <a:effectLst/>
                <a:latin typeface="Consolas" panose="020B0609020204030204" pitchFamily="49" charset="0"/>
              </a:rPr>
              <a:t> </a:t>
            </a:r>
            <a:r>
              <a:rPr lang="pl-PL" sz="1000" b="1" dirty="0" err="1" smtClean="0">
                <a:solidFill>
                  <a:srgbClr val="569CD6"/>
                </a:solidFill>
                <a:effectLst/>
                <a:latin typeface="Consolas" panose="020B0609020204030204" pitchFamily="49" charset="0"/>
              </a:rPr>
              <a:t>launch</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QA, </a:t>
            </a:r>
            <a:r>
              <a:rPr lang="pl-PL" sz="1000" b="0" dirty="0" smtClean="0">
                <a:solidFill>
                  <a:srgbClr val="CCCCCC"/>
                </a:solidFill>
                <a:effectLst/>
                <a:latin typeface="Consolas" panose="020B0609020204030204" pitchFamily="49" charset="0"/>
              </a:rPr>
              <a:t>monitoring</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beta testy, </a:t>
            </a:r>
            <a:r>
              <a:rPr lang="pl-PL" sz="1000" b="0" dirty="0" smtClean="0">
                <a:solidFill>
                  <a:srgbClr val="CCCCCC"/>
                </a:solidFill>
                <a:effectLst/>
                <a:latin typeface="Consolas" panose="020B0609020204030204" pitchFamily="49" charset="0"/>
              </a:rPr>
              <a:t>Google Play </a:t>
            </a:r>
            <a:r>
              <a:rPr lang="pl-PL" sz="1000" b="0" dirty="0" err="1" smtClean="0">
                <a:solidFill>
                  <a:srgbClr val="CCCCCC"/>
                </a:solidFill>
                <a:effectLst/>
                <a:latin typeface="Consolas" panose="020B0609020204030204" pitchFamily="49" charset="0"/>
              </a:rPr>
              <a:t>closed</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testing</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poprawki</a:t>
            </a:r>
            <a:endParaRPr lang="pl-PL" sz="1000" b="0" dirty="0" smtClean="0">
              <a:solidFill>
                <a:srgbClr val="CCCCCC"/>
              </a:solidFill>
              <a:effectLst/>
              <a:latin typeface="Consolas" panose="020B0609020204030204" pitchFamily="49" charset="0"/>
            </a:endParaRP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M4: Public </a:t>
            </a:r>
            <a:r>
              <a:rPr lang="pl-PL" sz="1000" b="1" dirty="0" err="1" smtClean="0">
                <a:solidFill>
                  <a:srgbClr val="569CD6"/>
                </a:solidFill>
                <a:effectLst/>
                <a:latin typeface="Consolas" panose="020B0609020204030204" pitchFamily="49" charset="0"/>
              </a:rPr>
              <a:t>launch</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Publikacja</a:t>
            </a:r>
          </a:p>
          <a:p>
            <a:pPr marL="171450" indent="-171450">
              <a:buFontTx/>
              <a:buChar char="-"/>
            </a:pPr>
            <a:r>
              <a:rPr lang="pl-PL" sz="1000" b="0" dirty="0" err="1" smtClean="0">
                <a:solidFill>
                  <a:srgbClr val="CCCCCC"/>
                </a:solidFill>
                <a:effectLst/>
                <a:latin typeface="Consolas" panose="020B0609020204030204" pitchFamily="49" charset="0"/>
              </a:rPr>
              <a:t>staged</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rollout</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analiza </a:t>
            </a:r>
            <a:r>
              <a:rPr lang="pl-PL" sz="1000" b="0" dirty="0" err="1" smtClean="0">
                <a:solidFill>
                  <a:srgbClr val="CCCCCC"/>
                </a:solidFill>
                <a:effectLst/>
                <a:latin typeface="Consolas" panose="020B0609020204030204" pitchFamily="49" charset="0"/>
              </a:rPr>
              <a:t>crashy</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retencji i opinii</a:t>
            </a:r>
          </a:p>
          <a:p>
            <a:r>
              <a:rPr lang="pl-PL" sz="1000" b="0" dirty="0" smtClean="0">
                <a:solidFill>
                  <a:srgbClr val="CCCCCC"/>
                </a:solidFill>
                <a:effectLst/>
                <a:latin typeface="Consolas" panose="020B0609020204030204" pitchFamily="49" charset="0"/>
              </a:rPr>
              <a:t/>
            </a:r>
            <a:br>
              <a:rPr lang="pl-PL" sz="1000" b="0" dirty="0" smtClean="0">
                <a:solidFill>
                  <a:srgbClr val="CCCCCC"/>
                </a:solidFill>
                <a:effectLst/>
                <a:latin typeface="Consolas" panose="020B0609020204030204" pitchFamily="49" charset="0"/>
              </a:rPr>
            </a:br>
            <a:r>
              <a:rPr lang="pl-PL" sz="1000" b="1" dirty="0" smtClean="0">
                <a:solidFill>
                  <a:srgbClr val="569CD6"/>
                </a:solidFill>
                <a:effectLst/>
                <a:latin typeface="Consolas" panose="020B0609020204030204" pitchFamily="49" charset="0"/>
              </a:rPr>
              <a:t># M5–M6: </a:t>
            </a:r>
            <a:r>
              <a:rPr lang="pl-PL" sz="1000" b="1" dirty="0" err="1" smtClean="0">
                <a:solidFill>
                  <a:srgbClr val="569CD6"/>
                </a:solidFill>
                <a:effectLst/>
                <a:latin typeface="Consolas" panose="020B0609020204030204" pitchFamily="49" charset="0"/>
              </a:rPr>
              <a:t>Growth</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err="1" smtClean="0">
                <a:solidFill>
                  <a:srgbClr val="CCCCCC"/>
                </a:solidFill>
                <a:effectLst/>
                <a:latin typeface="Consolas" panose="020B0609020204030204" pitchFamily="49" charset="0"/>
              </a:rPr>
              <a:t>push</a:t>
            </a:r>
            <a:r>
              <a:rPr lang="pl-PL" sz="1000" b="0" dirty="0" smtClean="0">
                <a:solidFill>
                  <a:srgbClr val="CCCCCC"/>
                </a:solidFill>
                <a:effectLst/>
                <a:latin typeface="Consolas" panose="020B0609020204030204" pitchFamily="49" charset="0"/>
              </a:rPr>
              <a:t> </a:t>
            </a:r>
            <a:r>
              <a:rPr lang="pl-PL" sz="1000" b="0" dirty="0" err="1" smtClean="0">
                <a:solidFill>
                  <a:srgbClr val="CCCCCC"/>
                </a:solidFill>
                <a:effectLst/>
                <a:latin typeface="Consolas" panose="020B0609020204030204" pitchFamily="49" charset="0"/>
              </a:rPr>
              <a:t>notifications</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optymalizacja UX</a:t>
            </a:r>
          </a:p>
          <a:p>
            <a:pPr marL="171450" indent="-171450">
              <a:buFontTx/>
              <a:buChar char="-"/>
            </a:pPr>
            <a:r>
              <a:rPr lang="pl-PL" sz="1000" b="0" dirty="0" smtClean="0">
                <a:solidFill>
                  <a:srgbClr val="CCCCCC"/>
                </a:solidFill>
                <a:effectLst/>
                <a:latin typeface="Consolas" panose="020B0609020204030204" pitchFamily="49" charset="0"/>
              </a:rPr>
              <a:t>A/B testy</a:t>
            </a:r>
          </a:p>
          <a:p>
            <a:pPr marL="171450" indent="-171450">
              <a:buFontTx/>
              <a:buChar char="-"/>
            </a:pPr>
            <a:r>
              <a:rPr lang="pl-PL" sz="1000" b="0" dirty="0" err="1" smtClean="0">
                <a:solidFill>
                  <a:srgbClr val="CCCCCC"/>
                </a:solidFill>
                <a:effectLst/>
                <a:latin typeface="Consolas" panose="020B0609020204030204" pitchFamily="49" charset="0"/>
              </a:rPr>
              <a:t>Monetyzacja</a:t>
            </a:r>
            <a:endParaRPr lang="pl-PL" sz="1000" b="0" dirty="0" smtClean="0">
              <a:solidFill>
                <a:srgbClr val="CCCCCC"/>
              </a:solidFill>
              <a:effectLst/>
              <a:latin typeface="Consolas" panose="020B0609020204030204" pitchFamily="49" charset="0"/>
            </a:endParaRPr>
          </a:p>
          <a:p>
            <a:pPr marL="171450" indent="-171450">
              <a:buFontTx/>
              <a:buChar char="-"/>
            </a:pPr>
            <a:r>
              <a:rPr lang="pl-PL" sz="1000" b="0" dirty="0" smtClean="0">
                <a:solidFill>
                  <a:srgbClr val="CCCCCC"/>
                </a:solidFill>
                <a:effectLst/>
                <a:latin typeface="Consolas" panose="020B0609020204030204" pitchFamily="49" charset="0"/>
              </a:rPr>
              <a:t>skalowanie</a:t>
            </a:r>
            <a:endParaRPr lang="pl-PL" sz="10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7766551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61422"/>
        </a:solidFill>
        <a:effectLst/>
      </p:bgPr>
    </p:bg>
    <p:spTree>
      <p:nvGrpSpPr>
        <p:cNvPr id="1" name=""/>
        <p:cNvGrpSpPr/>
        <p:nvPr/>
      </p:nvGrpSpPr>
      <p:grpSpPr>
        <a:xfrm>
          <a:off x="0" y="0"/>
          <a:ext cx="0" cy="0"/>
          <a:chOff x="0" y="0"/>
          <a:chExt cx="0" cy="0"/>
        </a:xfrm>
      </p:grpSpPr>
      <p:sp>
        <p:nvSpPr>
          <p:cNvPr id="609" name="Shape 0"/>
          <p:cNvSpPr/>
          <p:nvPr/>
        </p:nvSpPr>
        <p:spPr>
          <a:xfrm>
            <a:off x="0" y="0"/>
            <a:ext cx="90360" cy="495504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10" name="Shape 1"/>
          <p:cNvSpPr/>
          <p:nvPr/>
        </p:nvSpPr>
        <p:spPr>
          <a:xfrm>
            <a:off x="0" y="3467100"/>
            <a:ext cx="9142920" cy="1478940"/>
          </a:xfrm>
          <a:prstGeom prst="rect">
            <a:avLst/>
          </a:prstGeom>
          <a:solidFill>
            <a:srgbClr val="081828"/>
          </a:solidFill>
          <a:ln w="12700">
            <a:solidFill>
              <a:srgbClr val="08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11" name="Shape 2"/>
          <p:cNvSpPr/>
          <p:nvPr/>
        </p:nvSpPr>
        <p:spPr>
          <a:xfrm>
            <a:off x="502920" y="1005840"/>
            <a:ext cx="1114560" cy="273240"/>
          </a:xfrm>
          <a:prstGeom prst="roundRect">
            <a:avLst>
              <a:gd name="adj" fmla="val 26667"/>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12" name="Text 3"/>
          <p:cNvSpPr/>
          <p:nvPr/>
        </p:nvSpPr>
        <p:spPr>
          <a:xfrm>
            <a:off x="502920" y="1005840"/>
            <a:ext cx="1114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ROZDZIAŁ 6</a:t>
            </a:r>
            <a:endParaRPr lang="pl-PL" sz="1200" b="0" u="none" strike="noStrike">
              <a:solidFill>
                <a:srgbClr val="FFFFFF"/>
              </a:solidFill>
              <a:effectLst/>
              <a:uFillTx/>
              <a:latin typeface="Arial"/>
            </a:endParaRPr>
          </a:p>
        </p:txBody>
      </p:sp>
      <p:sp>
        <p:nvSpPr>
          <p:cNvPr id="613" name="Text 4"/>
          <p:cNvSpPr/>
          <p:nvPr/>
        </p:nvSpPr>
        <p:spPr>
          <a:xfrm>
            <a:off x="502920" y="1389960"/>
            <a:ext cx="8045640" cy="15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4000" b="1" u="none" strike="noStrike" dirty="0">
                <a:solidFill>
                  <a:srgbClr val="FFFFFF"/>
                </a:solidFill>
                <a:effectLst/>
                <a:uFillTx/>
                <a:latin typeface="Calibri"/>
              </a:rPr>
              <a:t>Proces </a:t>
            </a:r>
            <a:endParaRPr lang="pl-PL" sz="4000" b="0" u="none" strike="noStrike" dirty="0">
              <a:solidFill>
                <a:srgbClr val="FFFFFF"/>
              </a:solidFill>
              <a:effectLst/>
              <a:uFillTx/>
              <a:latin typeface="Arial"/>
            </a:endParaRPr>
          </a:p>
          <a:p>
            <a:pPr defTabSz="914400">
              <a:lnSpc>
                <a:spcPct val="100000"/>
              </a:lnSpc>
              <a:tabLst>
                <a:tab pos="0" algn="l"/>
              </a:tabLst>
            </a:pPr>
            <a:r>
              <a:rPr lang="pl-PL" sz="4000" b="1" u="none" strike="noStrike" dirty="0">
                <a:solidFill>
                  <a:srgbClr val="FFFFFF"/>
                </a:solidFill>
                <a:effectLst/>
                <a:uFillTx/>
                <a:latin typeface="Calibri"/>
              </a:rPr>
              <a:t>	</a:t>
            </a:r>
            <a:r>
              <a:rPr lang="pl-PL" sz="4000" b="1" u="none" strike="noStrike" dirty="0" smtClean="0">
                <a:solidFill>
                  <a:srgbClr val="FFFFFF"/>
                </a:solidFill>
                <a:effectLst/>
                <a:uFillTx/>
                <a:latin typeface="Calibri"/>
              </a:rPr>
              <a:t>    UX/UI </a:t>
            </a:r>
            <a:endParaRPr lang="pl-PL" sz="4000" b="0" u="none" strike="noStrike" dirty="0">
              <a:solidFill>
                <a:srgbClr val="FFFFFF"/>
              </a:solidFill>
              <a:effectLst/>
              <a:uFillTx/>
              <a:latin typeface="Arial"/>
            </a:endParaRPr>
          </a:p>
          <a:p>
            <a:pPr defTabSz="914400">
              <a:lnSpc>
                <a:spcPct val="100000"/>
              </a:lnSpc>
              <a:tabLst>
                <a:tab pos="0" algn="l"/>
              </a:tabLst>
            </a:pPr>
            <a:r>
              <a:rPr lang="pl-PL" sz="4000" b="1" u="none" strike="noStrike" dirty="0">
                <a:solidFill>
                  <a:srgbClr val="FFFFFF"/>
                </a:solidFill>
                <a:effectLst/>
                <a:uFillTx/>
                <a:latin typeface="Calibri"/>
              </a:rPr>
              <a:t>		Design</a:t>
            </a:r>
            <a:endParaRPr lang="pl-PL" sz="4000" b="0" u="none" strike="noStrike" dirty="0">
              <a:solidFill>
                <a:srgbClr val="FFFFFF"/>
              </a:solidFill>
              <a:effectLst/>
              <a:uFillTx/>
              <a:latin typeface="Arial"/>
            </a:endParaRPr>
          </a:p>
        </p:txBody>
      </p:sp>
      <p:sp>
        <p:nvSpPr>
          <p:cNvPr id="614" name="Text 5"/>
          <p:cNvSpPr/>
          <p:nvPr/>
        </p:nvSpPr>
        <p:spPr>
          <a:xfrm>
            <a:off x="502920" y="3583065"/>
            <a:ext cx="6856920" cy="59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600" b="0" u="none" strike="noStrike">
                <a:solidFill>
                  <a:srgbClr val="8ECAE6"/>
                </a:solidFill>
                <a:effectLst/>
                <a:uFillTx/>
                <a:latin typeface="Calibri"/>
              </a:rPr>
              <a:t>Design sprint, prototypowanie i testy użyteczności.</a:t>
            </a:r>
            <a:endParaRPr lang="pl-PL" sz="1600" b="0" u="none" strike="noStrike">
              <a:solidFill>
                <a:srgbClr val="FFFFFF"/>
              </a:solidFill>
              <a:effectLst/>
              <a:uFillTx/>
              <a:latin typeface="Arial"/>
            </a:endParaRPr>
          </a:p>
        </p:txBody>
      </p:sp>
      <p:sp>
        <p:nvSpPr>
          <p:cNvPr id="615" name="Shape 6"/>
          <p:cNvSpPr/>
          <p:nvPr/>
        </p:nvSpPr>
        <p:spPr>
          <a:xfrm>
            <a:off x="502920" y="3896625"/>
            <a:ext cx="3931920" cy="360"/>
          </a:xfrm>
          <a:prstGeom prst="line">
            <a:avLst/>
          </a:prstGeom>
          <a:ln w="1524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616" name="Shape 8"/>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17" name="Text 11"/>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17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620" name="Text 2"/>
          <p:cNvSpPr/>
          <p:nvPr/>
        </p:nvSpPr>
        <p:spPr>
          <a:xfrm>
            <a:off x="1134000" y="73080"/>
            <a:ext cx="77803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a:solidFill>
                  <a:srgbClr val="FFFFFF"/>
                </a:solidFill>
                <a:effectLst/>
                <a:uFillTx/>
                <a:latin typeface="Calibri"/>
              </a:rPr>
              <a:t>Design Sprint </a:t>
            </a:r>
            <a:r>
              <a:rPr lang="en-US" sz="2000" b="1" u="none" strike="noStrike" dirty="0" err="1">
                <a:solidFill>
                  <a:srgbClr val="FFFFFF"/>
                </a:solidFill>
                <a:effectLst/>
                <a:uFillTx/>
                <a:latin typeface="Calibri"/>
              </a:rPr>
              <a:t>i</a:t>
            </a:r>
            <a:r>
              <a:rPr lang="en-US" sz="2000" b="1" u="none" strike="noStrike" dirty="0">
                <a:solidFill>
                  <a:srgbClr val="FFFFFF"/>
                </a:solidFill>
                <a:effectLst/>
                <a:uFillTx/>
                <a:latin typeface="Calibri"/>
              </a:rPr>
              <a:t> UX Research</a:t>
            </a:r>
            <a:r>
              <a:rPr lang="pl-PL" sz="2000" b="1" u="none" strike="noStrike" dirty="0">
                <a:solidFill>
                  <a:srgbClr val="FFFFFF"/>
                </a:solidFill>
                <a:effectLst/>
                <a:uFillTx/>
                <a:latin typeface="Calibri"/>
              </a:rPr>
              <a:t>: </a:t>
            </a:r>
            <a:r>
              <a:rPr lang="en-US" sz="2000" b="0" u="none" strike="noStrike" dirty="0">
                <a:solidFill>
                  <a:srgbClr val="FFFFFF"/>
                </a:solidFill>
                <a:effectLst/>
                <a:uFillTx/>
                <a:latin typeface="Calibri"/>
              </a:rPr>
              <a:t>od </a:t>
            </a:r>
            <a:r>
              <a:rPr lang="en-US" sz="2000" b="0" u="none" strike="noStrike" dirty="0" err="1">
                <a:solidFill>
                  <a:srgbClr val="FFFFFF"/>
                </a:solidFill>
                <a:effectLst/>
                <a:uFillTx/>
                <a:latin typeface="Calibri"/>
              </a:rPr>
              <a:t>problemu</a:t>
            </a:r>
            <a:r>
              <a:rPr lang="en-US" sz="2000" b="0" u="none" strike="noStrike" dirty="0">
                <a:solidFill>
                  <a:srgbClr val="FFFFFF"/>
                </a:solidFill>
                <a:effectLst/>
                <a:uFillTx/>
                <a:latin typeface="Calibri"/>
              </a:rPr>
              <a:t> do </a:t>
            </a:r>
            <a:r>
              <a:rPr lang="en-US" sz="2000" b="0" u="none" strike="noStrike" dirty="0" err="1">
                <a:solidFill>
                  <a:srgbClr val="FFFFFF"/>
                </a:solidFill>
                <a:effectLst/>
                <a:uFillTx/>
                <a:latin typeface="Calibri"/>
              </a:rPr>
              <a:t>przetestowanego</a:t>
            </a:r>
            <a:r>
              <a:rPr lang="en-US" sz="2000" b="0" u="none" strike="noStrike" dirty="0">
                <a:solidFill>
                  <a:srgbClr val="FFFFFF"/>
                </a:solidFill>
                <a:effectLst/>
                <a:uFillTx/>
                <a:latin typeface="Calibri"/>
              </a:rPr>
              <a:t> </a:t>
            </a:r>
            <a:r>
              <a:rPr lang="en-US" sz="2000" b="0" u="none" strike="noStrike" dirty="0" err="1">
                <a:solidFill>
                  <a:srgbClr val="FFFFFF"/>
                </a:solidFill>
                <a:effectLst/>
                <a:uFillTx/>
                <a:latin typeface="Calibri"/>
              </a:rPr>
              <a:t>prototypu</a:t>
            </a:r>
            <a:endParaRPr lang="pl-PL" sz="2000" b="0" u="none" strike="noStrike" dirty="0">
              <a:solidFill>
                <a:srgbClr val="FFFFFF"/>
              </a:solidFill>
              <a:effectLst/>
              <a:uFillTx/>
              <a:latin typeface="Arial"/>
            </a:endParaRPr>
          </a:p>
        </p:txBody>
      </p:sp>
      <p:sp>
        <p:nvSpPr>
          <p:cNvPr id="621" name="Shape 3"/>
          <p:cNvSpPr/>
          <p:nvPr/>
        </p:nvSpPr>
        <p:spPr>
          <a:xfrm>
            <a:off x="383760" y="4371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622" name="Shape 4"/>
          <p:cNvSpPr/>
          <p:nvPr/>
        </p:nvSpPr>
        <p:spPr>
          <a:xfrm>
            <a:off x="384120" y="662040"/>
            <a:ext cx="1590120" cy="1870560"/>
          </a:xfrm>
          <a:prstGeom prst="rect">
            <a:avLst/>
          </a:prstGeom>
          <a:solidFill>
            <a:srgbClr val="0A2540"/>
          </a:solidFill>
          <a:ln w="1016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23" name="Shape 5"/>
          <p:cNvSpPr/>
          <p:nvPr/>
        </p:nvSpPr>
        <p:spPr>
          <a:xfrm>
            <a:off x="384120" y="662040"/>
            <a:ext cx="1590120" cy="4464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720" rIns="90000" bIns="720" anchor="t">
            <a:noAutofit/>
          </a:bodyPr>
          <a:lstStyle/>
          <a:p>
            <a:pPr>
              <a:lnSpc>
                <a:spcPct val="100000"/>
              </a:lnSpc>
            </a:pPr>
            <a:endParaRPr lang="pl-PL" sz="1800" b="0" u="none" strike="noStrike">
              <a:solidFill>
                <a:srgbClr val="000000"/>
              </a:solidFill>
              <a:effectLst/>
              <a:uFillTx/>
              <a:latin typeface="Arial"/>
            </a:endParaRPr>
          </a:p>
        </p:txBody>
      </p:sp>
      <p:sp>
        <p:nvSpPr>
          <p:cNvPr id="624" name="Text 6"/>
          <p:cNvSpPr/>
          <p:nvPr/>
        </p:nvSpPr>
        <p:spPr>
          <a:xfrm>
            <a:off x="475560" y="658440"/>
            <a:ext cx="141624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u="none" strike="noStrike">
                <a:solidFill>
                  <a:srgbClr val="00BCD4"/>
                </a:solidFill>
                <a:effectLst/>
                <a:uFillTx/>
                <a:latin typeface="Calibri"/>
              </a:rPr>
              <a:t>Pon.</a:t>
            </a:r>
            <a:r>
              <a:rPr lang="pl-PL" sz="1600" b="0" u="none" strike="noStrike">
                <a:solidFill>
                  <a:srgbClr val="00BCD4"/>
                </a:solidFill>
                <a:effectLst/>
                <a:uFillTx/>
                <a:latin typeface="Calibri"/>
              </a:rPr>
              <a:t> </a:t>
            </a:r>
            <a:r>
              <a:rPr lang="en-US" sz="1600" b="1" u="none" strike="noStrike">
                <a:solidFill>
                  <a:srgbClr val="00BCD4"/>
                </a:solidFill>
                <a:effectLst/>
                <a:uFillTx/>
                <a:latin typeface="Calibri"/>
              </a:rPr>
              <a:t>Understand</a:t>
            </a:r>
            <a:endParaRPr lang="pl-PL" sz="1600" b="0" u="none" strike="noStrike">
              <a:solidFill>
                <a:srgbClr val="FFFFFF"/>
              </a:solidFill>
              <a:effectLst/>
              <a:uFillTx/>
              <a:latin typeface="Arial"/>
            </a:endParaRPr>
          </a:p>
        </p:txBody>
      </p:sp>
      <p:sp>
        <p:nvSpPr>
          <p:cNvPr id="625" name="Text 7"/>
          <p:cNvSpPr/>
          <p:nvPr/>
        </p:nvSpPr>
        <p:spPr>
          <a:xfrm>
            <a:off x="448200" y="1207080"/>
            <a:ext cx="1526040" cy="123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spc="-40">
                <a:solidFill>
                  <a:srgbClr val="FFFFFF"/>
                </a:solidFill>
                <a:effectLst/>
                <a:uFillTx/>
                <a:latin typeface="Calibri"/>
              </a:rPr>
              <a:t>Map problemu, wywiady eksperckie, HMW (How Might We), cel </a:t>
            </a:r>
            <a:r>
              <a:rPr lang="pl-PL" sz="1400" b="0" u="none" strike="noStrike" spc="-40">
                <a:solidFill>
                  <a:srgbClr val="FFFFFF"/>
                </a:solidFill>
                <a:effectLst/>
                <a:uFillTx/>
                <a:latin typeface="Calibri"/>
              </a:rPr>
              <a:t>d</a:t>
            </a:r>
            <a:r>
              <a:rPr lang="en-US" sz="1400" b="0" u="none" strike="noStrike" spc="-40">
                <a:solidFill>
                  <a:srgbClr val="FFFFFF"/>
                </a:solidFill>
                <a:effectLst/>
                <a:uFillTx/>
                <a:latin typeface="Calibri"/>
              </a:rPr>
              <a:t>ługoterminowy.</a:t>
            </a:r>
            <a:endParaRPr lang="pl-PL" sz="1400" b="0" u="none" strike="noStrike" spc="-40">
              <a:solidFill>
                <a:srgbClr val="FFFFFF"/>
              </a:solidFill>
              <a:effectLst/>
              <a:uFillTx/>
              <a:latin typeface="Arial"/>
            </a:endParaRPr>
          </a:p>
        </p:txBody>
      </p:sp>
      <p:sp>
        <p:nvSpPr>
          <p:cNvPr id="626" name="Shape 8"/>
          <p:cNvSpPr/>
          <p:nvPr/>
        </p:nvSpPr>
        <p:spPr>
          <a:xfrm>
            <a:off x="2057400" y="662040"/>
            <a:ext cx="1590120" cy="1870560"/>
          </a:xfrm>
          <a:prstGeom prst="rect">
            <a:avLst/>
          </a:prstGeom>
          <a:solidFill>
            <a:srgbClr val="0A2540"/>
          </a:solidFill>
          <a:ln w="1016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27" name="Shape 9"/>
          <p:cNvSpPr/>
          <p:nvPr/>
        </p:nvSpPr>
        <p:spPr>
          <a:xfrm>
            <a:off x="2057400" y="662040"/>
            <a:ext cx="1590120" cy="4464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720" rIns="90000" bIns="720" anchor="t">
            <a:noAutofit/>
          </a:bodyPr>
          <a:lstStyle/>
          <a:p>
            <a:pPr>
              <a:lnSpc>
                <a:spcPct val="100000"/>
              </a:lnSpc>
            </a:pPr>
            <a:endParaRPr lang="pl-PL" sz="1800" b="0" u="none" strike="noStrike">
              <a:solidFill>
                <a:srgbClr val="FFFFFF"/>
              </a:solidFill>
              <a:effectLst/>
              <a:uFillTx/>
              <a:latin typeface="Arial"/>
            </a:endParaRPr>
          </a:p>
        </p:txBody>
      </p:sp>
      <p:sp>
        <p:nvSpPr>
          <p:cNvPr id="628" name="Text 10"/>
          <p:cNvSpPr/>
          <p:nvPr/>
        </p:nvSpPr>
        <p:spPr>
          <a:xfrm>
            <a:off x="2148840" y="658440"/>
            <a:ext cx="141624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u="none" strike="noStrike">
                <a:solidFill>
                  <a:srgbClr val="FF7043"/>
                </a:solidFill>
                <a:effectLst/>
                <a:uFillTx/>
                <a:latin typeface="Calibri"/>
              </a:rPr>
              <a:t>Wt.</a:t>
            </a:r>
            <a:r>
              <a:rPr lang="pl-PL" sz="1600" b="0" u="none" strike="noStrike">
                <a:solidFill>
                  <a:srgbClr val="FF7043"/>
                </a:solidFill>
                <a:effectLst/>
                <a:uFillTx/>
                <a:latin typeface="Calibri"/>
              </a:rPr>
              <a:t> </a:t>
            </a:r>
            <a:r>
              <a:rPr lang="en-US" sz="1600" b="1" u="none" strike="noStrike">
                <a:solidFill>
                  <a:srgbClr val="FF7043"/>
                </a:solidFill>
                <a:effectLst/>
                <a:uFillTx/>
                <a:latin typeface="Calibri"/>
              </a:rPr>
              <a:t>Sketch</a:t>
            </a:r>
            <a:endParaRPr lang="pl-PL" sz="1600" b="0" u="none" strike="noStrike">
              <a:solidFill>
                <a:srgbClr val="FFFFFF"/>
              </a:solidFill>
              <a:effectLst/>
              <a:uFillTx/>
              <a:latin typeface="Arial"/>
            </a:endParaRPr>
          </a:p>
        </p:txBody>
      </p:sp>
      <p:sp>
        <p:nvSpPr>
          <p:cNvPr id="629" name="Text 11"/>
          <p:cNvSpPr/>
          <p:nvPr/>
        </p:nvSpPr>
        <p:spPr>
          <a:xfrm>
            <a:off x="2148840" y="1207080"/>
            <a:ext cx="1416240" cy="123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spc="-40">
                <a:solidFill>
                  <a:srgbClr val="FFFFFF"/>
                </a:solidFill>
                <a:effectLst/>
                <a:uFillTx/>
                <a:latin typeface="Calibri"/>
              </a:rPr>
              <a:t>Crazy 8's, Lightning demos, Solution sketch. Każdy osobno.</a:t>
            </a:r>
            <a:endParaRPr lang="pl-PL" sz="1400" b="0" u="none" strike="noStrike" spc="-40">
              <a:solidFill>
                <a:srgbClr val="FFFFFF"/>
              </a:solidFill>
              <a:effectLst/>
              <a:uFillTx/>
              <a:latin typeface="Arial"/>
            </a:endParaRPr>
          </a:p>
        </p:txBody>
      </p:sp>
      <p:sp>
        <p:nvSpPr>
          <p:cNvPr id="630" name="Shape 12"/>
          <p:cNvSpPr/>
          <p:nvPr/>
        </p:nvSpPr>
        <p:spPr>
          <a:xfrm>
            <a:off x="3730680" y="662040"/>
            <a:ext cx="1590120" cy="1870560"/>
          </a:xfrm>
          <a:prstGeom prst="rect">
            <a:avLst/>
          </a:prstGeom>
          <a:solidFill>
            <a:srgbClr val="0A2540"/>
          </a:solidFill>
          <a:ln w="1016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31" name="Shape 13"/>
          <p:cNvSpPr/>
          <p:nvPr/>
        </p:nvSpPr>
        <p:spPr>
          <a:xfrm>
            <a:off x="3730680" y="662040"/>
            <a:ext cx="1590120" cy="4464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720" rIns="90000" bIns="720" anchor="t">
            <a:noAutofit/>
          </a:bodyPr>
          <a:lstStyle/>
          <a:p>
            <a:pPr>
              <a:lnSpc>
                <a:spcPct val="100000"/>
              </a:lnSpc>
            </a:pPr>
            <a:endParaRPr lang="pl-PL" sz="1800" b="0" u="none" strike="noStrike">
              <a:solidFill>
                <a:srgbClr val="FFFFFF"/>
              </a:solidFill>
              <a:effectLst/>
              <a:uFillTx/>
              <a:latin typeface="Arial"/>
            </a:endParaRPr>
          </a:p>
        </p:txBody>
      </p:sp>
      <p:sp>
        <p:nvSpPr>
          <p:cNvPr id="632" name="Text 14"/>
          <p:cNvSpPr/>
          <p:nvPr/>
        </p:nvSpPr>
        <p:spPr>
          <a:xfrm>
            <a:off x="3822120" y="658440"/>
            <a:ext cx="141624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u="none" strike="noStrike">
                <a:solidFill>
                  <a:srgbClr val="7C4DFF"/>
                </a:solidFill>
                <a:effectLst/>
                <a:uFillTx/>
                <a:latin typeface="Calibri"/>
              </a:rPr>
              <a:t>Śr.</a:t>
            </a:r>
            <a:r>
              <a:rPr lang="pl-PL" sz="1600" b="0" u="none" strike="noStrike">
                <a:solidFill>
                  <a:srgbClr val="7C4DFF"/>
                </a:solidFill>
                <a:effectLst/>
                <a:uFillTx/>
                <a:latin typeface="Calibri"/>
              </a:rPr>
              <a:t> </a:t>
            </a:r>
            <a:r>
              <a:rPr lang="en-US" sz="1600" b="1" u="none" strike="noStrike">
                <a:solidFill>
                  <a:srgbClr val="7C4DFF"/>
                </a:solidFill>
                <a:effectLst/>
                <a:uFillTx/>
                <a:latin typeface="Calibri"/>
              </a:rPr>
              <a:t>Decide</a:t>
            </a:r>
            <a:endParaRPr lang="pl-PL" sz="1600" b="0" u="none" strike="noStrike">
              <a:solidFill>
                <a:srgbClr val="FFFFFF"/>
              </a:solidFill>
              <a:effectLst/>
              <a:uFillTx/>
              <a:latin typeface="Arial"/>
            </a:endParaRPr>
          </a:p>
        </p:txBody>
      </p:sp>
      <p:sp>
        <p:nvSpPr>
          <p:cNvPr id="633" name="Text 15"/>
          <p:cNvSpPr/>
          <p:nvPr/>
        </p:nvSpPr>
        <p:spPr>
          <a:xfrm>
            <a:off x="3822120" y="1207080"/>
            <a:ext cx="1416240" cy="123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spc="-40">
                <a:solidFill>
                  <a:srgbClr val="FFFFFF"/>
                </a:solidFill>
                <a:effectLst/>
                <a:uFillTx/>
                <a:latin typeface="Calibri"/>
              </a:rPr>
              <a:t>Dot voting, Decider vote, storyboard (15 kroków na flipcharcie).</a:t>
            </a:r>
            <a:endParaRPr lang="pl-PL" sz="1400" b="0" u="none" strike="noStrike" spc="-40">
              <a:solidFill>
                <a:srgbClr val="FFFFFF"/>
              </a:solidFill>
              <a:effectLst/>
              <a:uFillTx/>
              <a:latin typeface="Arial"/>
            </a:endParaRPr>
          </a:p>
        </p:txBody>
      </p:sp>
      <p:sp>
        <p:nvSpPr>
          <p:cNvPr id="634" name="Shape 16"/>
          <p:cNvSpPr/>
          <p:nvPr/>
        </p:nvSpPr>
        <p:spPr>
          <a:xfrm>
            <a:off x="5403960" y="662040"/>
            <a:ext cx="1590120" cy="1870560"/>
          </a:xfrm>
          <a:prstGeom prst="rect">
            <a:avLst/>
          </a:prstGeom>
          <a:solidFill>
            <a:srgbClr val="0A2540"/>
          </a:solidFill>
          <a:ln w="1016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35" name="Shape 17"/>
          <p:cNvSpPr/>
          <p:nvPr/>
        </p:nvSpPr>
        <p:spPr>
          <a:xfrm>
            <a:off x="5403960" y="662040"/>
            <a:ext cx="1590120" cy="4464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720" rIns="90000" bIns="720" anchor="t">
            <a:noAutofit/>
          </a:bodyPr>
          <a:lstStyle/>
          <a:p>
            <a:pPr>
              <a:lnSpc>
                <a:spcPct val="100000"/>
              </a:lnSpc>
            </a:pPr>
            <a:endParaRPr lang="pl-PL" sz="1800" b="0" u="none" strike="noStrike">
              <a:solidFill>
                <a:srgbClr val="000000"/>
              </a:solidFill>
              <a:effectLst/>
              <a:uFillTx/>
              <a:latin typeface="Arial"/>
            </a:endParaRPr>
          </a:p>
        </p:txBody>
      </p:sp>
      <p:sp>
        <p:nvSpPr>
          <p:cNvPr id="636" name="Text 18"/>
          <p:cNvSpPr/>
          <p:nvPr/>
        </p:nvSpPr>
        <p:spPr>
          <a:xfrm>
            <a:off x="5495400" y="658440"/>
            <a:ext cx="141624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u="none" strike="noStrike">
                <a:solidFill>
                  <a:srgbClr val="FFB300"/>
                </a:solidFill>
                <a:effectLst/>
                <a:uFillTx/>
                <a:latin typeface="Calibri"/>
              </a:rPr>
              <a:t>Czw.</a:t>
            </a:r>
            <a:r>
              <a:rPr lang="pl-PL" sz="1600" b="0" u="none" strike="noStrike">
                <a:solidFill>
                  <a:srgbClr val="FFB300"/>
                </a:solidFill>
                <a:effectLst/>
                <a:uFillTx/>
                <a:latin typeface="Calibri"/>
              </a:rPr>
              <a:t> </a:t>
            </a:r>
            <a:r>
              <a:rPr lang="en-US" sz="1600" b="1" u="none" strike="noStrike">
                <a:solidFill>
                  <a:srgbClr val="FFB300"/>
                </a:solidFill>
                <a:effectLst/>
                <a:uFillTx/>
                <a:latin typeface="Calibri"/>
              </a:rPr>
              <a:t>Prototype</a:t>
            </a:r>
            <a:endParaRPr lang="pl-PL" sz="1600" b="0" u="none" strike="noStrike">
              <a:solidFill>
                <a:srgbClr val="FFFFFF"/>
              </a:solidFill>
              <a:effectLst/>
              <a:uFillTx/>
              <a:latin typeface="Arial"/>
            </a:endParaRPr>
          </a:p>
        </p:txBody>
      </p:sp>
      <p:sp>
        <p:nvSpPr>
          <p:cNvPr id="637" name="Text 19"/>
          <p:cNvSpPr/>
          <p:nvPr/>
        </p:nvSpPr>
        <p:spPr>
          <a:xfrm>
            <a:off x="5495400" y="1207080"/>
            <a:ext cx="1416240" cy="123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spc="-40" dirty="0" err="1">
                <a:solidFill>
                  <a:srgbClr val="FFFFFF"/>
                </a:solidFill>
                <a:effectLst/>
                <a:uFillTx/>
                <a:latin typeface="Calibri"/>
              </a:rPr>
              <a:t>Figma</a:t>
            </a:r>
            <a:r>
              <a:rPr lang="en-US" sz="1400" b="0" u="none" strike="noStrike" spc="-40" dirty="0">
                <a:solidFill>
                  <a:srgbClr val="FFFFFF"/>
                </a:solidFill>
                <a:effectLst/>
                <a:uFillTx/>
                <a:latin typeface="Calibri"/>
              </a:rPr>
              <a:t> high-fidelity. </a:t>
            </a:r>
            <a:r>
              <a:rPr lang="en-US" sz="1400" b="0" u="none" strike="noStrike" spc="-40" dirty="0" err="1">
                <a:solidFill>
                  <a:srgbClr val="FFFFFF"/>
                </a:solidFill>
                <a:effectLst/>
                <a:uFillTx/>
                <a:latin typeface="Calibri"/>
              </a:rPr>
              <a:t>Tylko</a:t>
            </a:r>
            <a:r>
              <a:rPr lang="en-US" sz="1400" b="0" u="none" strike="noStrike" spc="-40" dirty="0">
                <a:solidFill>
                  <a:srgbClr val="FFFFFF"/>
                </a:solidFill>
                <a:effectLst/>
                <a:uFillTx/>
                <a:latin typeface="Calibri"/>
              </a:rPr>
              <a:t> to co </a:t>
            </a:r>
            <a:r>
              <a:rPr lang="en-US" sz="1400" b="0" u="none" strike="noStrike" spc="-40" dirty="0" err="1">
                <a:solidFill>
                  <a:srgbClr val="FFFFFF"/>
                </a:solidFill>
                <a:effectLst/>
                <a:uFillTx/>
                <a:latin typeface="Calibri"/>
              </a:rPr>
              <a:t>zobaczą</a:t>
            </a:r>
            <a:r>
              <a:rPr lang="en-US" sz="1400" b="0" u="none" strike="noStrike" spc="-40" dirty="0">
                <a:solidFill>
                  <a:srgbClr val="FFFFFF"/>
                </a:solidFill>
                <a:effectLst/>
                <a:uFillTx/>
                <a:latin typeface="Calibri"/>
              </a:rPr>
              <a:t> </a:t>
            </a:r>
            <a:r>
              <a:rPr lang="en-US" sz="1400" b="0" u="none" strike="noStrike" spc="-40" dirty="0" err="1" smtClean="0">
                <a:solidFill>
                  <a:srgbClr val="FFFFFF"/>
                </a:solidFill>
                <a:effectLst/>
                <a:uFillTx/>
                <a:latin typeface="Calibri"/>
              </a:rPr>
              <a:t>testerzy</a:t>
            </a:r>
            <a:r>
              <a:rPr lang="pl-PL" sz="1400" spc="-40" dirty="0" smtClean="0">
                <a:solidFill>
                  <a:srgbClr val="FFFFFF"/>
                </a:solidFill>
                <a:latin typeface="Calibri"/>
              </a:rPr>
              <a:t>, a nie</a:t>
            </a:r>
            <a:r>
              <a:rPr lang="en-US" sz="1400" b="0" u="none" strike="noStrike" spc="-40" dirty="0" smtClean="0">
                <a:solidFill>
                  <a:srgbClr val="FFFFFF"/>
                </a:solidFill>
                <a:effectLst/>
                <a:uFillTx/>
                <a:latin typeface="Calibri"/>
              </a:rPr>
              <a:t> </a:t>
            </a:r>
            <a:r>
              <a:rPr lang="en-US" sz="1400" b="0" u="none" strike="noStrike" spc="-40" dirty="0" err="1">
                <a:solidFill>
                  <a:srgbClr val="FFFFFF"/>
                </a:solidFill>
                <a:effectLst/>
                <a:uFillTx/>
                <a:latin typeface="Calibri"/>
              </a:rPr>
              <a:t>cały</a:t>
            </a:r>
            <a:r>
              <a:rPr lang="en-US" sz="1400" b="0" u="none" strike="noStrike" spc="-40" dirty="0">
                <a:solidFill>
                  <a:srgbClr val="FFFFFF"/>
                </a:solidFill>
                <a:effectLst/>
                <a:uFillTx/>
                <a:latin typeface="Calibri"/>
              </a:rPr>
              <a:t> flow.</a:t>
            </a:r>
            <a:endParaRPr lang="pl-PL" sz="1400" b="0" u="none" strike="noStrike" spc="-40" dirty="0">
              <a:solidFill>
                <a:srgbClr val="FFFFFF"/>
              </a:solidFill>
              <a:effectLst/>
              <a:uFillTx/>
              <a:latin typeface="Arial"/>
            </a:endParaRPr>
          </a:p>
        </p:txBody>
      </p:sp>
      <p:sp>
        <p:nvSpPr>
          <p:cNvPr id="638" name="Shape 20"/>
          <p:cNvSpPr/>
          <p:nvPr/>
        </p:nvSpPr>
        <p:spPr>
          <a:xfrm>
            <a:off x="7077600" y="662040"/>
            <a:ext cx="1590120" cy="1870560"/>
          </a:xfrm>
          <a:prstGeom prst="rect">
            <a:avLst/>
          </a:prstGeom>
          <a:solidFill>
            <a:srgbClr val="0A2540"/>
          </a:solidFill>
          <a:ln w="1016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39" name="Shape 21"/>
          <p:cNvSpPr/>
          <p:nvPr/>
        </p:nvSpPr>
        <p:spPr>
          <a:xfrm>
            <a:off x="7077600" y="662040"/>
            <a:ext cx="1590120" cy="4464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720" rIns="90000" bIns="720" anchor="t">
            <a:noAutofit/>
          </a:bodyPr>
          <a:lstStyle/>
          <a:p>
            <a:pPr>
              <a:lnSpc>
                <a:spcPct val="100000"/>
              </a:lnSpc>
            </a:pPr>
            <a:endParaRPr lang="pl-PL" sz="1800" b="0" u="none" strike="noStrike">
              <a:solidFill>
                <a:srgbClr val="FFFFFF"/>
              </a:solidFill>
              <a:effectLst/>
              <a:uFillTx/>
              <a:latin typeface="Arial"/>
            </a:endParaRPr>
          </a:p>
        </p:txBody>
      </p:sp>
      <p:sp>
        <p:nvSpPr>
          <p:cNvPr id="640" name="Text 22"/>
          <p:cNvSpPr/>
          <p:nvPr/>
        </p:nvSpPr>
        <p:spPr>
          <a:xfrm>
            <a:off x="7169040" y="658440"/>
            <a:ext cx="141624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u="none" strike="noStrike">
                <a:solidFill>
                  <a:srgbClr val="4CAF50"/>
                </a:solidFill>
                <a:effectLst/>
                <a:uFillTx/>
                <a:latin typeface="Calibri"/>
              </a:rPr>
              <a:t>Pt.</a:t>
            </a:r>
            <a:r>
              <a:rPr lang="pl-PL" sz="1600" b="0" u="none" strike="noStrike">
                <a:solidFill>
                  <a:srgbClr val="4CAF50"/>
                </a:solidFill>
                <a:effectLst/>
                <a:uFillTx/>
                <a:latin typeface="Calibri"/>
              </a:rPr>
              <a:t> </a:t>
            </a:r>
            <a:r>
              <a:rPr lang="en-US" sz="1600" b="1" u="none" strike="noStrike">
                <a:solidFill>
                  <a:srgbClr val="4CAF50"/>
                </a:solidFill>
                <a:effectLst/>
                <a:uFillTx/>
                <a:latin typeface="Calibri"/>
              </a:rPr>
              <a:t>Test</a:t>
            </a:r>
            <a:endParaRPr lang="pl-PL" sz="1600" b="0" u="none" strike="noStrike">
              <a:solidFill>
                <a:srgbClr val="FFFFFF"/>
              </a:solidFill>
              <a:effectLst/>
              <a:uFillTx/>
              <a:latin typeface="Arial"/>
            </a:endParaRPr>
          </a:p>
        </p:txBody>
      </p:sp>
      <p:sp>
        <p:nvSpPr>
          <p:cNvPr id="641" name="Text 23"/>
          <p:cNvSpPr/>
          <p:nvPr/>
        </p:nvSpPr>
        <p:spPr>
          <a:xfrm>
            <a:off x="7169040" y="1207080"/>
            <a:ext cx="1416240" cy="123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spc="-40">
                <a:solidFill>
                  <a:srgbClr val="FFFFFF"/>
                </a:solidFill>
                <a:effectLst/>
                <a:uFillTx/>
                <a:latin typeface="Calibri"/>
              </a:rPr>
              <a:t>5 użytkowników (Jakob Nielsen). Moderowane wywiady. Think-aloud protocol.</a:t>
            </a:r>
            <a:endParaRPr lang="pl-PL" sz="1400" b="0" u="none" strike="noStrike" spc="-40">
              <a:solidFill>
                <a:srgbClr val="FFFFFF"/>
              </a:solidFill>
              <a:effectLst/>
              <a:uFillTx/>
              <a:latin typeface="Arial"/>
            </a:endParaRPr>
          </a:p>
        </p:txBody>
      </p:sp>
      <p:grpSp>
        <p:nvGrpSpPr>
          <p:cNvPr id="642" name="Grupa 47"/>
          <p:cNvGrpSpPr/>
          <p:nvPr/>
        </p:nvGrpSpPr>
        <p:grpSpPr>
          <a:xfrm>
            <a:off x="384120" y="2806560"/>
            <a:ext cx="8365680" cy="1782720"/>
            <a:chOff x="384120" y="2806560"/>
            <a:chExt cx="8365680" cy="1782720"/>
          </a:xfrm>
        </p:grpSpPr>
        <p:sp>
          <p:nvSpPr>
            <p:cNvPr id="643" name="Text 24"/>
            <p:cNvSpPr/>
            <p:nvPr/>
          </p:nvSpPr>
          <p:spPr>
            <a:xfrm>
              <a:off x="384120" y="2806560"/>
              <a:ext cx="3672360" cy="29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Kluczowe metryki UX i kiedy badać</a:t>
              </a:r>
              <a:endParaRPr lang="pl-PL" sz="1600" b="0" u="none" strike="noStrike">
                <a:solidFill>
                  <a:srgbClr val="FFFFFF"/>
                </a:solidFill>
                <a:effectLst/>
                <a:uFillTx/>
                <a:latin typeface="Arial"/>
              </a:endParaRPr>
            </a:p>
          </p:txBody>
        </p:sp>
        <p:sp>
          <p:nvSpPr>
            <p:cNvPr id="644" name="Shape 25"/>
            <p:cNvSpPr/>
            <p:nvPr/>
          </p:nvSpPr>
          <p:spPr>
            <a:xfrm>
              <a:off x="384120" y="3158640"/>
              <a:ext cx="4113720" cy="659520"/>
            </a:xfrm>
            <a:prstGeom prst="rect">
              <a:avLst/>
            </a:prstGeom>
            <a:solidFill>
              <a:srgbClr val="0A2540"/>
            </a:solidFill>
            <a:ln w="762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45" name="Shape 26"/>
            <p:cNvSpPr/>
            <p:nvPr/>
          </p:nvSpPr>
          <p:spPr>
            <a:xfrm>
              <a:off x="384120" y="3158640"/>
              <a:ext cx="63000" cy="65952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46" name="Text 27"/>
            <p:cNvSpPr/>
            <p:nvPr/>
          </p:nvSpPr>
          <p:spPr>
            <a:xfrm>
              <a:off x="539640" y="3213720"/>
              <a:ext cx="2284920" cy="24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a:solidFill>
                    <a:schemeClr val="bg1"/>
                  </a:solidFill>
                  <a:effectLst/>
                  <a:uFillTx/>
                  <a:latin typeface="Calibri"/>
                </a:rPr>
                <a:t>Task Completion Rate</a:t>
              </a:r>
              <a:endParaRPr lang="pl-PL" sz="1600" b="0" u="none" strike="noStrike" dirty="0">
                <a:solidFill>
                  <a:schemeClr val="bg1"/>
                </a:solidFill>
                <a:effectLst/>
                <a:uFillTx/>
                <a:latin typeface="Arial"/>
              </a:endParaRPr>
            </a:p>
          </p:txBody>
        </p:sp>
        <p:sp>
          <p:nvSpPr>
            <p:cNvPr id="647" name="Text 28"/>
            <p:cNvSpPr/>
            <p:nvPr/>
          </p:nvSpPr>
          <p:spPr>
            <a:xfrm>
              <a:off x="3537720" y="3185145"/>
              <a:ext cx="914040" cy="24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800" b="1" u="none" strike="noStrike" dirty="0">
                  <a:solidFill>
                    <a:srgbClr val="00BCD4"/>
                  </a:solidFill>
                  <a:effectLst/>
                  <a:uFillTx/>
                  <a:latin typeface="Calibri"/>
                </a:rPr>
                <a:t>&gt;85%</a:t>
              </a:r>
              <a:endParaRPr lang="pl-PL" sz="1800" b="0" u="none" strike="noStrike" dirty="0">
                <a:solidFill>
                  <a:srgbClr val="FFFFFF"/>
                </a:solidFill>
                <a:effectLst/>
                <a:uFillTx/>
                <a:latin typeface="Arial"/>
              </a:endParaRPr>
            </a:p>
          </p:txBody>
        </p:sp>
        <p:sp>
          <p:nvSpPr>
            <p:cNvPr id="648" name="Text 29"/>
            <p:cNvSpPr/>
            <p:nvPr/>
          </p:nvSpPr>
          <p:spPr>
            <a:xfrm>
              <a:off x="539640" y="3489120"/>
              <a:ext cx="3839400" cy="28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1001"/>
                </a:lnSpc>
                <a:tabLst>
                  <a:tab pos="0" algn="l"/>
                </a:tabLst>
              </a:pPr>
              <a:r>
                <a:rPr lang="en-US" sz="1200" b="0" u="none" strike="noStrike">
                  <a:solidFill>
                    <a:srgbClr val="8ECAE6"/>
                  </a:solidFill>
                  <a:effectLst/>
                  <a:uFillTx/>
                  <a:latin typeface="Calibri"/>
                </a:rPr>
                <a:t>Kiedy: Po wireframe i po launch · &lt;70% = poważny problem nawigacyjny</a:t>
              </a:r>
              <a:endParaRPr lang="pl-PL" sz="1200" b="0" u="none" strike="noStrike">
                <a:solidFill>
                  <a:srgbClr val="FFFFFF"/>
                </a:solidFill>
                <a:effectLst/>
                <a:uFillTx/>
                <a:latin typeface="Arial"/>
              </a:endParaRPr>
            </a:p>
          </p:txBody>
        </p:sp>
        <p:sp>
          <p:nvSpPr>
            <p:cNvPr id="649" name="Shape 30"/>
            <p:cNvSpPr/>
            <p:nvPr/>
          </p:nvSpPr>
          <p:spPr>
            <a:xfrm>
              <a:off x="4636080" y="3158640"/>
              <a:ext cx="4113720" cy="659520"/>
            </a:xfrm>
            <a:prstGeom prst="rect">
              <a:avLst/>
            </a:prstGeom>
            <a:solidFill>
              <a:srgbClr val="0A2540"/>
            </a:solidFill>
            <a:ln w="762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50" name="Shape 31"/>
            <p:cNvSpPr/>
            <p:nvPr/>
          </p:nvSpPr>
          <p:spPr>
            <a:xfrm>
              <a:off x="4636080" y="3158640"/>
              <a:ext cx="63000" cy="65952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51" name="Text 32"/>
            <p:cNvSpPr/>
            <p:nvPr/>
          </p:nvSpPr>
          <p:spPr>
            <a:xfrm>
              <a:off x="4791600" y="3213720"/>
              <a:ext cx="2284920" cy="24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7043"/>
                  </a:solidFill>
                  <a:effectLst/>
                  <a:uFillTx/>
                  <a:latin typeface="Calibri"/>
                </a:rPr>
                <a:t>Time on Task</a:t>
              </a:r>
              <a:endParaRPr lang="pl-PL" sz="1600" b="0" u="none" strike="noStrike">
                <a:solidFill>
                  <a:srgbClr val="FFFFFF"/>
                </a:solidFill>
                <a:effectLst/>
                <a:uFillTx/>
                <a:latin typeface="Arial"/>
              </a:endParaRPr>
            </a:p>
          </p:txBody>
        </p:sp>
        <p:sp>
          <p:nvSpPr>
            <p:cNvPr id="652" name="Text 33"/>
            <p:cNvSpPr/>
            <p:nvPr/>
          </p:nvSpPr>
          <p:spPr>
            <a:xfrm>
              <a:off x="7515360" y="3185145"/>
              <a:ext cx="1188720" cy="24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800" b="1" u="none" strike="noStrike">
                  <a:solidFill>
                    <a:srgbClr val="FF7043"/>
                  </a:solidFill>
                  <a:effectLst/>
                  <a:uFillTx/>
                  <a:latin typeface="Calibri"/>
                </a:rPr>
                <a:t>Benchmark</a:t>
              </a:r>
              <a:endParaRPr lang="pl-PL" sz="1800" b="0" u="none" strike="noStrike">
                <a:solidFill>
                  <a:srgbClr val="FFFFFF"/>
                </a:solidFill>
                <a:effectLst/>
                <a:uFillTx/>
                <a:latin typeface="Arial"/>
              </a:endParaRPr>
            </a:p>
          </p:txBody>
        </p:sp>
        <p:sp>
          <p:nvSpPr>
            <p:cNvPr id="653" name="Text 34"/>
            <p:cNvSpPr/>
            <p:nvPr/>
          </p:nvSpPr>
          <p:spPr>
            <a:xfrm>
              <a:off x="4791600" y="3489120"/>
              <a:ext cx="3839400" cy="28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8ECAE6"/>
                  </a:solidFill>
                  <a:effectLst/>
                  <a:uFillTx/>
                  <a:latin typeface="Calibri"/>
                </a:rPr>
                <a:t>Kiedy: Prototyp vs produkcja · 3× dłużej niż ekspert = zły UX</a:t>
              </a:r>
              <a:endParaRPr lang="pl-PL" sz="1200" b="0" u="none" strike="noStrike">
                <a:solidFill>
                  <a:srgbClr val="FFFFFF"/>
                </a:solidFill>
                <a:effectLst/>
                <a:uFillTx/>
                <a:latin typeface="Arial"/>
              </a:endParaRPr>
            </a:p>
          </p:txBody>
        </p:sp>
        <p:sp>
          <p:nvSpPr>
            <p:cNvPr id="654" name="Shape 35"/>
            <p:cNvSpPr/>
            <p:nvPr/>
          </p:nvSpPr>
          <p:spPr>
            <a:xfrm>
              <a:off x="384120" y="3929760"/>
              <a:ext cx="4113720" cy="659520"/>
            </a:xfrm>
            <a:prstGeom prst="rect">
              <a:avLst/>
            </a:prstGeom>
            <a:solidFill>
              <a:srgbClr val="0A2540"/>
            </a:solidFill>
            <a:ln w="762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55" name="Shape 36"/>
            <p:cNvSpPr/>
            <p:nvPr/>
          </p:nvSpPr>
          <p:spPr>
            <a:xfrm>
              <a:off x="384120" y="3929760"/>
              <a:ext cx="63000" cy="65952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56" name="Text 37"/>
            <p:cNvSpPr/>
            <p:nvPr/>
          </p:nvSpPr>
          <p:spPr>
            <a:xfrm>
              <a:off x="539640" y="3984840"/>
              <a:ext cx="2613960" cy="24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4CAF50"/>
                  </a:solidFill>
                  <a:effectLst/>
                  <a:uFillTx/>
                  <a:latin typeface="Calibri"/>
                </a:rPr>
                <a:t>System Usability Scale </a:t>
              </a:r>
              <a:r>
                <a:rPr lang="en-US" sz="1600" b="0" u="none" strike="noStrike">
                  <a:solidFill>
                    <a:srgbClr val="4CAF50"/>
                  </a:solidFill>
                  <a:effectLst/>
                  <a:uFillTx/>
                  <a:latin typeface="Calibri"/>
                </a:rPr>
                <a:t>(SUS)</a:t>
              </a:r>
              <a:endParaRPr lang="pl-PL" sz="1600" b="0" u="none" strike="noStrike">
                <a:solidFill>
                  <a:srgbClr val="FFFFFF"/>
                </a:solidFill>
                <a:effectLst/>
                <a:uFillTx/>
                <a:latin typeface="Arial"/>
              </a:endParaRPr>
            </a:p>
          </p:txBody>
        </p:sp>
        <p:sp>
          <p:nvSpPr>
            <p:cNvPr id="657" name="Text 38"/>
            <p:cNvSpPr/>
            <p:nvPr/>
          </p:nvSpPr>
          <p:spPr>
            <a:xfrm>
              <a:off x="3537720" y="3956265"/>
              <a:ext cx="914040" cy="24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800" b="1" u="none" strike="noStrike">
                  <a:solidFill>
                    <a:srgbClr val="4CAF50"/>
                  </a:solidFill>
                  <a:effectLst/>
                  <a:uFillTx/>
                  <a:latin typeface="Calibri"/>
                </a:rPr>
                <a:t>&gt;68 pkt</a:t>
              </a:r>
              <a:endParaRPr lang="pl-PL" sz="1800" b="0" u="none" strike="noStrike">
                <a:solidFill>
                  <a:srgbClr val="FFFFFF"/>
                </a:solidFill>
                <a:effectLst/>
                <a:uFillTx/>
                <a:latin typeface="Arial"/>
              </a:endParaRPr>
            </a:p>
          </p:txBody>
        </p:sp>
        <p:sp>
          <p:nvSpPr>
            <p:cNvPr id="658" name="Text 39"/>
            <p:cNvSpPr/>
            <p:nvPr/>
          </p:nvSpPr>
          <p:spPr>
            <a:xfrm>
              <a:off x="539640" y="4259880"/>
              <a:ext cx="3839400" cy="28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8ECAE6"/>
                  </a:solidFill>
                  <a:effectLst/>
                  <a:uFillTx/>
                  <a:latin typeface="Calibri"/>
                </a:rPr>
                <a:t>Kiedy: Beta testing · &gt;85 = excellent. Apple produkty: ~80</a:t>
              </a:r>
              <a:endParaRPr lang="pl-PL" sz="1200" b="0" u="none" strike="noStrike">
                <a:solidFill>
                  <a:srgbClr val="FFFFFF"/>
                </a:solidFill>
                <a:effectLst/>
                <a:uFillTx/>
                <a:latin typeface="Arial"/>
              </a:endParaRPr>
            </a:p>
          </p:txBody>
        </p:sp>
        <p:sp>
          <p:nvSpPr>
            <p:cNvPr id="659" name="Shape 40"/>
            <p:cNvSpPr/>
            <p:nvPr/>
          </p:nvSpPr>
          <p:spPr>
            <a:xfrm>
              <a:off x="4636080" y="3929760"/>
              <a:ext cx="4113720" cy="659520"/>
            </a:xfrm>
            <a:prstGeom prst="rect">
              <a:avLst/>
            </a:prstGeom>
            <a:solidFill>
              <a:srgbClr val="0A2540"/>
            </a:solidFill>
            <a:ln w="762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60" name="Shape 41"/>
            <p:cNvSpPr/>
            <p:nvPr/>
          </p:nvSpPr>
          <p:spPr>
            <a:xfrm>
              <a:off x="4636080" y="3929760"/>
              <a:ext cx="63000" cy="65952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61" name="Text 42"/>
            <p:cNvSpPr/>
            <p:nvPr/>
          </p:nvSpPr>
          <p:spPr>
            <a:xfrm>
              <a:off x="4791600" y="3984840"/>
              <a:ext cx="2284920" cy="24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B300"/>
                  </a:solidFill>
                  <a:effectLst/>
                  <a:uFillTx/>
                  <a:latin typeface="Calibri"/>
                </a:rPr>
                <a:t>App Store Rating</a:t>
              </a:r>
              <a:endParaRPr lang="pl-PL" sz="1600" b="0" u="none" strike="noStrike">
                <a:solidFill>
                  <a:srgbClr val="FFFFFF"/>
                </a:solidFill>
                <a:effectLst/>
                <a:uFillTx/>
                <a:latin typeface="Arial"/>
              </a:endParaRPr>
            </a:p>
          </p:txBody>
        </p:sp>
        <p:sp>
          <p:nvSpPr>
            <p:cNvPr id="662" name="Text 43"/>
            <p:cNvSpPr/>
            <p:nvPr/>
          </p:nvSpPr>
          <p:spPr>
            <a:xfrm>
              <a:off x="7789680" y="3956265"/>
              <a:ext cx="914040" cy="24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800" b="1" u="none" strike="noStrike">
                  <a:solidFill>
                    <a:srgbClr val="FFB300"/>
                  </a:solidFill>
                  <a:effectLst/>
                  <a:uFillTx/>
                  <a:latin typeface="Calibri"/>
                </a:rPr>
                <a:t>&gt;4.2★</a:t>
              </a:r>
              <a:endParaRPr lang="pl-PL" sz="1800" b="0" u="none" strike="noStrike">
                <a:solidFill>
                  <a:srgbClr val="FFFFFF"/>
                </a:solidFill>
                <a:effectLst/>
                <a:uFillTx/>
                <a:latin typeface="Arial"/>
              </a:endParaRPr>
            </a:p>
          </p:txBody>
        </p:sp>
        <p:sp>
          <p:nvSpPr>
            <p:cNvPr id="663" name="Text 44"/>
            <p:cNvSpPr/>
            <p:nvPr/>
          </p:nvSpPr>
          <p:spPr>
            <a:xfrm>
              <a:off x="4791600" y="4259880"/>
              <a:ext cx="3839400" cy="28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a:solidFill>
                    <a:srgbClr val="8ECAE6"/>
                  </a:solidFill>
                  <a:effectLst/>
                  <a:uFillTx/>
                  <a:latin typeface="Calibri"/>
                </a:rPr>
                <a:t>Kiedy: Po launch i per release · &lt;3.8★ = problem retencyjny</a:t>
              </a:r>
              <a:endParaRPr lang="pl-PL" sz="1200" b="0" u="none" strike="noStrike">
                <a:solidFill>
                  <a:srgbClr val="FFFFFF"/>
                </a:solidFill>
                <a:effectLst/>
                <a:uFillTx/>
                <a:latin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61422"/>
        </a:solidFill>
        <a:effectLst/>
      </p:bgPr>
    </p:bg>
    <p:spTree>
      <p:nvGrpSpPr>
        <p:cNvPr id="1" name=""/>
        <p:cNvGrpSpPr/>
        <p:nvPr/>
      </p:nvGrpSpPr>
      <p:grpSpPr>
        <a:xfrm>
          <a:off x="0" y="0"/>
          <a:ext cx="0" cy="0"/>
          <a:chOff x="0" y="0"/>
          <a:chExt cx="0" cy="0"/>
        </a:xfrm>
      </p:grpSpPr>
      <p:sp>
        <p:nvSpPr>
          <p:cNvPr id="788" name="Shape 0"/>
          <p:cNvSpPr/>
          <p:nvPr/>
        </p:nvSpPr>
        <p:spPr>
          <a:xfrm>
            <a:off x="0" y="0"/>
            <a:ext cx="90360" cy="495504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89" name="Shape 1"/>
          <p:cNvSpPr/>
          <p:nvPr/>
        </p:nvSpPr>
        <p:spPr>
          <a:xfrm>
            <a:off x="0" y="3332880"/>
            <a:ext cx="9142920" cy="1613160"/>
          </a:xfrm>
          <a:prstGeom prst="rect">
            <a:avLst/>
          </a:prstGeom>
          <a:solidFill>
            <a:srgbClr val="081828"/>
          </a:solidFill>
          <a:ln w="12700">
            <a:solidFill>
              <a:srgbClr val="08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90" name="Shape 2"/>
          <p:cNvSpPr/>
          <p:nvPr/>
        </p:nvSpPr>
        <p:spPr>
          <a:xfrm>
            <a:off x="502920" y="1005840"/>
            <a:ext cx="1114560" cy="273240"/>
          </a:xfrm>
          <a:prstGeom prst="roundRect">
            <a:avLst>
              <a:gd name="adj" fmla="val 26667"/>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91" name="Text 3"/>
          <p:cNvSpPr/>
          <p:nvPr/>
        </p:nvSpPr>
        <p:spPr>
          <a:xfrm>
            <a:off x="502920" y="1005840"/>
            <a:ext cx="1114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ROZDZIAŁ 9</a:t>
            </a:r>
            <a:endParaRPr lang="pl-PL" sz="1200" b="0" u="none" strike="noStrike">
              <a:solidFill>
                <a:srgbClr val="FFFFFF"/>
              </a:solidFill>
              <a:effectLst/>
              <a:uFillTx/>
              <a:latin typeface="Arial"/>
            </a:endParaRPr>
          </a:p>
        </p:txBody>
      </p:sp>
      <p:sp>
        <p:nvSpPr>
          <p:cNvPr id="792" name="Text 4"/>
          <p:cNvSpPr/>
          <p:nvPr/>
        </p:nvSpPr>
        <p:spPr>
          <a:xfrm>
            <a:off x="502920" y="1389960"/>
            <a:ext cx="8045640" cy="15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4000" b="1" u="none" strike="noStrike" dirty="0">
                <a:solidFill>
                  <a:srgbClr val="FFFFFF"/>
                </a:solidFill>
                <a:effectLst/>
                <a:uFillTx/>
                <a:latin typeface="Calibri"/>
              </a:rPr>
              <a:t>QA i strategia </a:t>
            </a:r>
            <a:endParaRPr lang="pl-PL" sz="4000" b="0" u="none" strike="noStrike" dirty="0">
              <a:solidFill>
                <a:srgbClr val="FFFFFF"/>
              </a:solidFill>
              <a:effectLst/>
              <a:uFillTx/>
              <a:latin typeface="Arial"/>
            </a:endParaRPr>
          </a:p>
          <a:p>
            <a:pPr defTabSz="914400">
              <a:lnSpc>
                <a:spcPct val="100000"/>
              </a:lnSpc>
              <a:tabLst>
                <a:tab pos="0" algn="l"/>
              </a:tabLst>
            </a:pPr>
            <a:r>
              <a:rPr lang="pl-PL" sz="4000" b="1" u="none" strike="noStrike" dirty="0">
                <a:solidFill>
                  <a:srgbClr val="FFFFFF"/>
                </a:solidFill>
                <a:effectLst/>
                <a:uFillTx/>
                <a:latin typeface="Calibri"/>
              </a:rPr>
              <a:t>	</a:t>
            </a:r>
            <a:r>
              <a:rPr lang="pl-PL" sz="4000" b="1" u="none" strike="noStrike" dirty="0" smtClean="0">
                <a:solidFill>
                  <a:srgbClr val="FFFFFF"/>
                </a:solidFill>
                <a:effectLst/>
                <a:uFillTx/>
                <a:latin typeface="Calibri"/>
              </a:rPr>
              <a:t>    testowania</a:t>
            </a:r>
            <a:endParaRPr lang="pl-PL" sz="4000" b="0" u="none" strike="noStrike" dirty="0">
              <a:solidFill>
                <a:srgbClr val="FFFFFF"/>
              </a:solidFill>
              <a:effectLst/>
              <a:uFillTx/>
              <a:latin typeface="Arial"/>
            </a:endParaRPr>
          </a:p>
        </p:txBody>
      </p:sp>
      <p:sp>
        <p:nvSpPr>
          <p:cNvPr id="793" name="Text 5"/>
          <p:cNvSpPr/>
          <p:nvPr/>
        </p:nvSpPr>
        <p:spPr>
          <a:xfrm>
            <a:off x="502920" y="3495240"/>
            <a:ext cx="6856920" cy="59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600" b="0" u="none" strike="noStrike">
                <a:solidFill>
                  <a:srgbClr val="8ECAE6"/>
                </a:solidFill>
                <a:effectLst/>
                <a:uFillTx/>
                <a:latin typeface="Calibri"/>
              </a:rPr>
              <a:t>Piramida testów, automatyzacja, definicja Done i zarządzanie długiem technicznym.</a:t>
            </a:r>
            <a:endParaRPr lang="pl-PL" sz="1600" b="0" u="none" strike="noStrike">
              <a:solidFill>
                <a:srgbClr val="FFFFFF"/>
              </a:solidFill>
              <a:effectLst/>
              <a:uFillTx/>
              <a:latin typeface="Arial"/>
            </a:endParaRPr>
          </a:p>
        </p:txBody>
      </p:sp>
      <p:sp>
        <p:nvSpPr>
          <p:cNvPr id="794" name="Shape 6"/>
          <p:cNvSpPr/>
          <p:nvPr/>
        </p:nvSpPr>
        <p:spPr>
          <a:xfrm>
            <a:off x="502560" y="3837240"/>
            <a:ext cx="6250320" cy="360"/>
          </a:xfrm>
          <a:prstGeom prst="line">
            <a:avLst/>
          </a:prstGeom>
          <a:ln w="15240">
            <a:solidFill>
              <a:srgbClr val="4CAF5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795" name="Shape 8"/>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96" name="Text 11"/>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22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799"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dirty="0">
                <a:solidFill>
                  <a:srgbClr val="FFFFFF"/>
                </a:solidFill>
                <a:effectLst/>
                <a:uFillTx/>
                <a:latin typeface="Calibri"/>
              </a:rPr>
              <a:t>Piramida testów mobilnych:</a:t>
            </a:r>
            <a:r>
              <a:rPr lang="en-US" sz="2000" b="1" u="none" strike="noStrike" dirty="0">
                <a:solidFill>
                  <a:srgbClr val="FFFFFF"/>
                </a:solidFill>
                <a:effectLst/>
                <a:uFillTx/>
                <a:latin typeface="Calibri"/>
              </a:rPr>
              <a:t> </a:t>
            </a:r>
            <a:r>
              <a:rPr lang="en-US" sz="2000" b="0" u="none" strike="noStrike" dirty="0" err="1">
                <a:solidFill>
                  <a:srgbClr val="FFFFFF"/>
                </a:solidFill>
                <a:effectLst/>
                <a:uFillTx/>
                <a:latin typeface="Calibri"/>
              </a:rPr>
              <a:t>strategia</a:t>
            </a:r>
            <a:r>
              <a:rPr lang="en-US" sz="2000" b="0" u="none" strike="noStrike" dirty="0">
                <a:solidFill>
                  <a:srgbClr val="FFFFFF"/>
                </a:solidFill>
                <a:effectLst/>
                <a:uFillTx/>
                <a:latin typeface="Calibri"/>
              </a:rPr>
              <a:t> </a:t>
            </a:r>
            <a:r>
              <a:rPr lang="en-US" sz="2000" b="0" u="none" strike="noStrike" dirty="0" err="1">
                <a:solidFill>
                  <a:srgbClr val="FFFFFF"/>
                </a:solidFill>
                <a:effectLst/>
                <a:uFillTx/>
                <a:latin typeface="Calibri"/>
              </a:rPr>
              <a:t>i</a:t>
            </a:r>
            <a:r>
              <a:rPr lang="en-US" sz="2000" b="0" u="none" strike="noStrike" dirty="0">
                <a:solidFill>
                  <a:srgbClr val="FFFFFF"/>
                </a:solidFill>
                <a:effectLst/>
                <a:uFillTx/>
                <a:latin typeface="Calibri"/>
              </a:rPr>
              <a:t> </a:t>
            </a:r>
            <a:r>
              <a:rPr lang="en-US" sz="2000" b="0" u="none" strike="noStrike" dirty="0" err="1">
                <a:solidFill>
                  <a:srgbClr val="FFFFFF"/>
                </a:solidFill>
                <a:effectLst/>
                <a:uFillTx/>
                <a:latin typeface="Calibri"/>
              </a:rPr>
              <a:t>automatyzacja</a:t>
            </a:r>
            <a:endParaRPr lang="pl-PL" sz="2000" b="0" u="none" strike="noStrike" dirty="0">
              <a:solidFill>
                <a:srgbClr val="FFFFFF"/>
              </a:solidFill>
              <a:effectLst/>
              <a:uFillTx/>
              <a:latin typeface="Arial"/>
            </a:endParaRPr>
          </a:p>
        </p:txBody>
      </p:sp>
      <p:sp>
        <p:nvSpPr>
          <p:cNvPr id="800"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801" name="Text 4"/>
          <p:cNvSpPr/>
          <p:nvPr/>
        </p:nvSpPr>
        <p:spPr>
          <a:xfrm>
            <a:off x="384120" y="567000"/>
            <a:ext cx="3805325"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dirty="0" err="1">
                <a:solidFill>
                  <a:srgbClr val="FFFFFF"/>
                </a:solidFill>
                <a:effectLst/>
                <a:uFillTx/>
                <a:latin typeface="Calibri"/>
              </a:rPr>
              <a:t>Piramida</a:t>
            </a:r>
            <a:r>
              <a:rPr lang="en-US" sz="1400" b="1" u="none" strike="noStrike" dirty="0">
                <a:solidFill>
                  <a:srgbClr val="FFFFFF"/>
                </a:solidFill>
                <a:effectLst/>
                <a:uFillTx/>
                <a:latin typeface="Calibri"/>
              </a:rPr>
              <a:t> </a:t>
            </a:r>
            <a:r>
              <a:rPr lang="en-US" sz="1400" b="1" u="none" strike="noStrike" dirty="0" err="1">
                <a:solidFill>
                  <a:srgbClr val="FFFFFF"/>
                </a:solidFill>
                <a:effectLst/>
                <a:uFillTx/>
                <a:latin typeface="Calibri"/>
              </a:rPr>
              <a:t>testów</a:t>
            </a:r>
            <a:r>
              <a:rPr lang="en-US" sz="1400" b="1" u="none" strike="noStrike" dirty="0">
                <a:solidFill>
                  <a:srgbClr val="FFFFFF"/>
                </a:solidFill>
                <a:effectLst/>
                <a:uFillTx/>
                <a:latin typeface="Calibri"/>
              </a:rPr>
              <a:t> </a:t>
            </a:r>
            <a:r>
              <a:rPr lang="en-US" sz="1400" b="0" u="none" strike="noStrike" dirty="0">
                <a:solidFill>
                  <a:srgbClr val="FFFFFF"/>
                </a:solidFill>
                <a:effectLst/>
                <a:uFillTx/>
                <a:latin typeface="Calibri"/>
              </a:rPr>
              <a:t>(Mike Cohn)</a:t>
            </a:r>
            <a:endParaRPr lang="pl-PL" sz="1400" b="0" u="none" strike="noStrike" dirty="0">
              <a:solidFill>
                <a:srgbClr val="FFFFFF"/>
              </a:solidFill>
              <a:effectLst/>
              <a:uFillTx/>
              <a:latin typeface="Arial"/>
            </a:endParaRPr>
          </a:p>
        </p:txBody>
      </p:sp>
      <p:sp>
        <p:nvSpPr>
          <p:cNvPr id="802" name="Shape 5"/>
          <p:cNvSpPr/>
          <p:nvPr/>
        </p:nvSpPr>
        <p:spPr>
          <a:xfrm>
            <a:off x="1295400" y="887040"/>
            <a:ext cx="1866900" cy="45612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03" name="Text 6"/>
          <p:cNvSpPr/>
          <p:nvPr/>
        </p:nvSpPr>
        <p:spPr>
          <a:xfrm>
            <a:off x="1389960" y="887040"/>
            <a:ext cx="164484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dirty="0">
                <a:solidFill>
                  <a:srgbClr val="FFFFFF"/>
                </a:solidFill>
                <a:effectLst/>
                <a:uFillTx/>
                <a:latin typeface="Calibri"/>
              </a:rPr>
              <a:t>E2E Tests (UI) · 10%</a:t>
            </a:r>
            <a:endParaRPr lang="pl-PL" sz="1600" b="0" u="none" strike="noStrike" dirty="0">
              <a:solidFill>
                <a:srgbClr val="FFFFFF"/>
              </a:solidFill>
              <a:effectLst/>
              <a:uFillTx/>
              <a:latin typeface="Arial"/>
            </a:endParaRPr>
          </a:p>
        </p:txBody>
      </p:sp>
      <p:sp>
        <p:nvSpPr>
          <p:cNvPr id="804" name="Shape 7"/>
          <p:cNvSpPr/>
          <p:nvPr/>
        </p:nvSpPr>
        <p:spPr>
          <a:xfrm>
            <a:off x="5248800" y="826263"/>
            <a:ext cx="3473640" cy="478138"/>
          </a:xfrm>
          <a:prstGeom prst="rect">
            <a:avLst/>
          </a:prstGeom>
          <a:solidFill>
            <a:srgbClr val="0A2540"/>
          </a:solidFill>
          <a:ln w="635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05" name="Text 8"/>
          <p:cNvSpPr/>
          <p:nvPr/>
        </p:nvSpPr>
        <p:spPr>
          <a:xfrm>
            <a:off x="5340240" y="853623"/>
            <a:ext cx="3335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u="none" strike="noStrike" dirty="0" smtClean="0">
                <a:solidFill>
                  <a:srgbClr val="EF5350"/>
                </a:solidFill>
                <a:effectLst/>
                <a:uFillTx/>
                <a:latin typeface="Calibri"/>
              </a:rPr>
              <a:t>Detox</a:t>
            </a:r>
            <a:r>
              <a:rPr lang="en-US" sz="1600" u="none" strike="noStrike" dirty="0">
                <a:solidFill>
                  <a:srgbClr val="EF5350"/>
                </a:solidFill>
                <a:effectLst/>
                <a:uFillTx/>
                <a:latin typeface="Calibri"/>
              </a:rPr>
              <a:t>, Maestro, </a:t>
            </a:r>
            <a:r>
              <a:rPr lang="en-US" sz="1600" u="none" strike="noStrike" dirty="0" err="1">
                <a:solidFill>
                  <a:srgbClr val="EF5350"/>
                </a:solidFill>
                <a:effectLst/>
                <a:uFillTx/>
                <a:latin typeface="Calibri"/>
              </a:rPr>
              <a:t>Appium</a:t>
            </a:r>
            <a:endParaRPr lang="pl-PL" sz="1600" u="none" strike="noStrike" dirty="0">
              <a:solidFill>
                <a:srgbClr val="FFFFFF"/>
              </a:solidFill>
              <a:effectLst/>
              <a:uFillTx/>
              <a:latin typeface="Arial"/>
            </a:endParaRPr>
          </a:p>
        </p:txBody>
      </p:sp>
      <p:sp>
        <p:nvSpPr>
          <p:cNvPr id="806" name="Text 9"/>
          <p:cNvSpPr/>
          <p:nvPr/>
        </p:nvSpPr>
        <p:spPr>
          <a:xfrm>
            <a:off x="5340240" y="1036201"/>
            <a:ext cx="333540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dirty="0" err="1">
                <a:solidFill>
                  <a:srgbClr val="FFFFFF"/>
                </a:solidFill>
                <a:effectLst/>
                <a:uFillTx/>
                <a:latin typeface="Calibri"/>
              </a:rPr>
              <a:t>Najdrozsze</a:t>
            </a:r>
            <a:r>
              <a:rPr lang="en-US" sz="1200" b="0" u="none" strike="noStrike" dirty="0">
                <a:solidFill>
                  <a:srgbClr val="FFFFFF"/>
                </a:solidFill>
                <a:effectLst/>
                <a:uFillTx/>
                <a:latin typeface="Calibri"/>
              </a:rPr>
              <a:t>, </a:t>
            </a:r>
            <a:r>
              <a:rPr lang="en-US" sz="1200" b="0" u="none" strike="noStrike" dirty="0" err="1">
                <a:solidFill>
                  <a:srgbClr val="FFFFFF"/>
                </a:solidFill>
                <a:effectLst/>
                <a:uFillTx/>
                <a:latin typeface="Calibri"/>
              </a:rPr>
              <a:t>wolne</a:t>
            </a:r>
            <a:r>
              <a:rPr lang="en-US" sz="1200" b="0" u="none" strike="noStrike" dirty="0">
                <a:solidFill>
                  <a:srgbClr val="FFFFFF"/>
                </a:solidFill>
                <a:effectLst/>
                <a:uFillTx/>
                <a:latin typeface="Calibri"/>
              </a:rPr>
              <a:t>, </a:t>
            </a:r>
            <a:r>
              <a:rPr lang="en-US" sz="1200" b="0" u="none" strike="noStrike" dirty="0" err="1">
                <a:solidFill>
                  <a:srgbClr val="FFFFFF"/>
                </a:solidFill>
                <a:effectLst/>
                <a:uFillTx/>
                <a:latin typeface="Calibri"/>
              </a:rPr>
              <a:t>kruche</a:t>
            </a:r>
            <a:endParaRPr lang="pl-PL" sz="1200" b="0" u="none" strike="noStrike" dirty="0">
              <a:solidFill>
                <a:srgbClr val="FFFFFF"/>
              </a:solidFill>
              <a:effectLst/>
              <a:uFillTx/>
              <a:latin typeface="Arial"/>
            </a:endParaRPr>
          </a:p>
        </p:txBody>
      </p:sp>
      <p:sp>
        <p:nvSpPr>
          <p:cNvPr id="807" name="Shape 10"/>
          <p:cNvSpPr/>
          <p:nvPr/>
        </p:nvSpPr>
        <p:spPr>
          <a:xfrm>
            <a:off x="932760" y="1424160"/>
            <a:ext cx="2559240" cy="45612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08" name="Text 11"/>
          <p:cNvSpPr/>
          <p:nvPr/>
        </p:nvSpPr>
        <p:spPr>
          <a:xfrm>
            <a:off x="932760" y="1424160"/>
            <a:ext cx="2559240" cy="456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dirty="0">
                <a:solidFill>
                  <a:srgbClr val="FFFFFF"/>
                </a:solidFill>
                <a:effectLst/>
                <a:uFillTx/>
                <a:latin typeface="Calibri"/>
              </a:rPr>
              <a:t>Integration Tests · 20%</a:t>
            </a:r>
            <a:endParaRPr lang="pl-PL" sz="1600" b="0" u="none" strike="noStrike" dirty="0">
              <a:solidFill>
                <a:srgbClr val="FFFFFF"/>
              </a:solidFill>
              <a:effectLst/>
              <a:uFillTx/>
              <a:latin typeface="Arial"/>
            </a:endParaRPr>
          </a:p>
        </p:txBody>
      </p:sp>
      <p:sp>
        <p:nvSpPr>
          <p:cNvPr id="809" name="Shape 12"/>
          <p:cNvSpPr/>
          <p:nvPr/>
        </p:nvSpPr>
        <p:spPr>
          <a:xfrm>
            <a:off x="5248800" y="1390296"/>
            <a:ext cx="3473640" cy="478138"/>
          </a:xfrm>
          <a:prstGeom prst="rect">
            <a:avLst/>
          </a:prstGeom>
          <a:solidFill>
            <a:srgbClr val="0A2540"/>
          </a:solidFill>
          <a:ln w="635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10" name="Text 13"/>
          <p:cNvSpPr/>
          <p:nvPr/>
        </p:nvSpPr>
        <p:spPr>
          <a:xfrm>
            <a:off x="5340240" y="1417656"/>
            <a:ext cx="3335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u="none" strike="noStrike" dirty="0" err="1" smtClean="0">
                <a:solidFill>
                  <a:srgbClr val="FF7043"/>
                </a:solidFill>
                <a:effectLst/>
                <a:uFillTx/>
                <a:latin typeface="Calibri"/>
              </a:rPr>
              <a:t>XCTest</a:t>
            </a:r>
            <a:r>
              <a:rPr lang="en-US" sz="1600" u="none" strike="noStrike" dirty="0">
                <a:solidFill>
                  <a:srgbClr val="FF7043"/>
                </a:solidFill>
                <a:effectLst/>
                <a:uFillTx/>
                <a:latin typeface="Calibri"/>
              </a:rPr>
              <a:t>, Espresso, </a:t>
            </a:r>
            <a:r>
              <a:rPr lang="en-US" sz="1600" u="none" strike="noStrike" dirty="0" err="1">
                <a:solidFill>
                  <a:srgbClr val="FF7043"/>
                </a:solidFill>
                <a:effectLst/>
                <a:uFillTx/>
                <a:latin typeface="Calibri"/>
              </a:rPr>
              <a:t>MSTest</a:t>
            </a:r>
            <a:endParaRPr lang="pl-PL" sz="1600" u="none" strike="noStrike" dirty="0">
              <a:solidFill>
                <a:srgbClr val="FFFFFF"/>
              </a:solidFill>
              <a:effectLst/>
              <a:uFillTx/>
              <a:latin typeface="Arial"/>
            </a:endParaRPr>
          </a:p>
        </p:txBody>
      </p:sp>
      <p:sp>
        <p:nvSpPr>
          <p:cNvPr id="811" name="Text 14"/>
          <p:cNvSpPr/>
          <p:nvPr/>
        </p:nvSpPr>
        <p:spPr>
          <a:xfrm>
            <a:off x="5340240" y="1600234"/>
            <a:ext cx="333540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dirty="0" err="1">
                <a:solidFill>
                  <a:srgbClr val="FFFFFF"/>
                </a:solidFill>
                <a:effectLst/>
                <a:uFillTx/>
                <a:latin typeface="Calibri"/>
              </a:rPr>
              <a:t>Srednie</a:t>
            </a:r>
            <a:r>
              <a:rPr lang="en-US" sz="1200" b="0" u="none" strike="noStrike" dirty="0">
                <a:solidFill>
                  <a:srgbClr val="FFFFFF"/>
                </a:solidFill>
                <a:effectLst/>
                <a:uFillTx/>
                <a:latin typeface="Calibri"/>
              </a:rPr>
              <a:t>. API + DB + UI </a:t>
            </a:r>
            <a:r>
              <a:rPr lang="en-US" sz="1200" b="0" u="none" strike="noStrike" dirty="0" err="1">
                <a:solidFill>
                  <a:srgbClr val="FFFFFF"/>
                </a:solidFill>
                <a:effectLst/>
                <a:uFillTx/>
                <a:latin typeface="Calibri"/>
              </a:rPr>
              <a:t>integracja</a:t>
            </a:r>
            <a:endParaRPr lang="pl-PL" sz="1200" b="0" u="none" strike="noStrike" dirty="0">
              <a:solidFill>
                <a:srgbClr val="FFFFFF"/>
              </a:solidFill>
              <a:effectLst/>
              <a:uFillTx/>
              <a:latin typeface="Arial"/>
            </a:endParaRPr>
          </a:p>
        </p:txBody>
      </p:sp>
      <p:sp>
        <p:nvSpPr>
          <p:cNvPr id="812" name="Shape 15"/>
          <p:cNvSpPr/>
          <p:nvPr/>
        </p:nvSpPr>
        <p:spPr>
          <a:xfrm>
            <a:off x="475560" y="1950840"/>
            <a:ext cx="3473640" cy="46512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13" name="Text 16"/>
          <p:cNvSpPr/>
          <p:nvPr/>
        </p:nvSpPr>
        <p:spPr>
          <a:xfrm>
            <a:off x="475560" y="1950840"/>
            <a:ext cx="3473640" cy="46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dirty="0">
                <a:solidFill>
                  <a:srgbClr val="FFFFFF"/>
                </a:solidFill>
                <a:effectLst/>
                <a:uFillTx/>
                <a:latin typeface="Calibri"/>
              </a:rPr>
              <a:t>Unit Tests · 70%</a:t>
            </a:r>
            <a:endParaRPr lang="pl-PL" sz="1600" b="0" u="none" strike="noStrike" dirty="0">
              <a:solidFill>
                <a:srgbClr val="FFFFFF"/>
              </a:solidFill>
              <a:effectLst/>
              <a:uFillTx/>
              <a:latin typeface="Arial"/>
            </a:endParaRPr>
          </a:p>
        </p:txBody>
      </p:sp>
      <p:sp>
        <p:nvSpPr>
          <p:cNvPr id="814" name="Shape 17"/>
          <p:cNvSpPr/>
          <p:nvPr/>
        </p:nvSpPr>
        <p:spPr>
          <a:xfrm>
            <a:off x="5248800" y="1956083"/>
            <a:ext cx="3473640" cy="478138"/>
          </a:xfrm>
          <a:prstGeom prst="rect">
            <a:avLst/>
          </a:prstGeom>
          <a:solidFill>
            <a:srgbClr val="0A2540"/>
          </a:solidFill>
          <a:ln w="635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15" name="Text 18"/>
          <p:cNvSpPr/>
          <p:nvPr/>
        </p:nvSpPr>
        <p:spPr>
          <a:xfrm>
            <a:off x="5340240" y="1983443"/>
            <a:ext cx="3335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u="none" strike="noStrike" dirty="0" smtClean="0">
                <a:solidFill>
                  <a:srgbClr val="4CAF50"/>
                </a:solidFill>
                <a:effectLst/>
                <a:uFillTx/>
                <a:latin typeface="Calibri"/>
              </a:rPr>
              <a:t>Jest</a:t>
            </a:r>
            <a:r>
              <a:rPr lang="en-US" sz="1600" u="none" strike="noStrike" dirty="0">
                <a:solidFill>
                  <a:srgbClr val="4CAF50"/>
                </a:solidFill>
                <a:effectLst/>
                <a:uFillTx/>
                <a:latin typeface="Calibri"/>
              </a:rPr>
              <a:t>, JUnit, </a:t>
            </a:r>
            <a:r>
              <a:rPr lang="en-US" sz="1600" u="none" strike="noStrike" dirty="0" err="1">
                <a:solidFill>
                  <a:srgbClr val="4CAF50"/>
                </a:solidFill>
                <a:effectLst/>
                <a:uFillTx/>
                <a:latin typeface="Calibri"/>
              </a:rPr>
              <a:t>XCTest</a:t>
            </a:r>
            <a:r>
              <a:rPr lang="en-US" sz="1600" u="none" strike="noStrike" dirty="0">
                <a:solidFill>
                  <a:srgbClr val="4CAF50"/>
                </a:solidFill>
                <a:effectLst/>
                <a:uFillTx/>
                <a:latin typeface="Calibri"/>
              </a:rPr>
              <a:t>, </a:t>
            </a:r>
            <a:r>
              <a:rPr lang="en-US" sz="1600" u="none" strike="noStrike" dirty="0" err="1">
                <a:solidFill>
                  <a:srgbClr val="4CAF50"/>
                </a:solidFill>
                <a:effectLst/>
                <a:uFillTx/>
                <a:latin typeface="Calibri"/>
              </a:rPr>
              <a:t>Mockito</a:t>
            </a:r>
            <a:endParaRPr lang="pl-PL" sz="1600" u="none" strike="noStrike" dirty="0">
              <a:solidFill>
                <a:srgbClr val="FFFFFF"/>
              </a:solidFill>
              <a:effectLst/>
              <a:uFillTx/>
              <a:latin typeface="Arial"/>
            </a:endParaRPr>
          </a:p>
        </p:txBody>
      </p:sp>
      <p:sp>
        <p:nvSpPr>
          <p:cNvPr id="816" name="Text 19"/>
          <p:cNvSpPr/>
          <p:nvPr/>
        </p:nvSpPr>
        <p:spPr>
          <a:xfrm>
            <a:off x="5340240" y="2166021"/>
            <a:ext cx="333540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u="none" strike="noStrike" dirty="0" err="1">
                <a:solidFill>
                  <a:srgbClr val="FFFFFF"/>
                </a:solidFill>
                <a:effectLst/>
                <a:uFillTx/>
                <a:latin typeface="Calibri"/>
              </a:rPr>
              <a:t>Szybkie</a:t>
            </a:r>
            <a:r>
              <a:rPr lang="en-US" sz="1200" b="0" u="none" strike="noStrike" dirty="0">
                <a:solidFill>
                  <a:srgbClr val="FFFFFF"/>
                </a:solidFill>
                <a:effectLst/>
                <a:uFillTx/>
                <a:latin typeface="Calibri"/>
              </a:rPr>
              <a:t> &lt;1s, </a:t>
            </a:r>
            <a:r>
              <a:rPr lang="en-US" sz="1200" b="0" u="none" strike="noStrike" dirty="0" err="1">
                <a:solidFill>
                  <a:srgbClr val="FFFFFF"/>
                </a:solidFill>
                <a:effectLst/>
                <a:uFillTx/>
                <a:latin typeface="Calibri"/>
              </a:rPr>
              <a:t>tanie</a:t>
            </a:r>
            <a:r>
              <a:rPr lang="en-US" sz="1200" b="0" u="none" strike="noStrike" dirty="0">
                <a:solidFill>
                  <a:srgbClr val="FFFFFF"/>
                </a:solidFill>
                <a:effectLst/>
                <a:uFillTx/>
                <a:latin typeface="Calibri"/>
              </a:rPr>
              <a:t>, </a:t>
            </a:r>
            <a:r>
              <a:rPr lang="en-US" sz="1200" b="0" u="none" strike="noStrike" dirty="0" err="1">
                <a:solidFill>
                  <a:srgbClr val="FFFFFF"/>
                </a:solidFill>
                <a:effectLst/>
                <a:uFillTx/>
                <a:latin typeface="Calibri"/>
              </a:rPr>
              <a:t>deterministyczne</a:t>
            </a:r>
            <a:endParaRPr lang="pl-PL" sz="1200" b="0" u="none" strike="noStrike" dirty="0">
              <a:solidFill>
                <a:srgbClr val="FFFFFF"/>
              </a:solidFill>
              <a:effectLst/>
              <a:uFillTx/>
              <a:latin typeface="Arial"/>
            </a:endParaRPr>
          </a:p>
        </p:txBody>
      </p:sp>
      <p:sp>
        <p:nvSpPr>
          <p:cNvPr id="817" name="Text 20"/>
          <p:cNvSpPr/>
          <p:nvPr/>
        </p:nvSpPr>
        <p:spPr>
          <a:xfrm>
            <a:off x="384120" y="2654640"/>
            <a:ext cx="41137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FFFF"/>
                </a:solidFill>
                <a:effectLst/>
                <a:uFillTx/>
                <a:latin typeface="Calibri"/>
              </a:rPr>
              <a:t>Definicja Done (DoD)</a:t>
            </a:r>
            <a:r>
              <a:rPr lang="pl-PL" sz="1600" b="1" u="none" strike="noStrike">
                <a:solidFill>
                  <a:srgbClr val="FFFFFF"/>
                </a:solidFill>
                <a:effectLst/>
                <a:uFillTx/>
                <a:latin typeface="Calibri"/>
              </a:rPr>
              <a:t>:</a:t>
            </a:r>
            <a:r>
              <a:rPr lang="en-US" sz="1600" b="1" u="none" strike="noStrike">
                <a:solidFill>
                  <a:srgbClr val="FFFFFF"/>
                </a:solidFill>
                <a:effectLst/>
                <a:uFillTx/>
                <a:latin typeface="Calibri"/>
              </a:rPr>
              <a:t> </a:t>
            </a:r>
            <a:r>
              <a:rPr lang="en-US" sz="1600" b="0" u="none" strike="noStrike">
                <a:solidFill>
                  <a:srgbClr val="FFFFFF"/>
                </a:solidFill>
                <a:effectLst/>
                <a:uFillTx/>
                <a:latin typeface="Calibri"/>
              </a:rPr>
              <a:t>wzorcowa dla mobile</a:t>
            </a:r>
            <a:endParaRPr lang="pl-PL" sz="1600" b="0" u="none" strike="noStrike">
              <a:solidFill>
                <a:srgbClr val="FFFFFF"/>
              </a:solidFill>
              <a:effectLst/>
              <a:uFillTx/>
              <a:latin typeface="Arial"/>
            </a:endParaRPr>
          </a:p>
        </p:txBody>
      </p:sp>
      <p:sp>
        <p:nvSpPr>
          <p:cNvPr id="818" name="Shape 21"/>
          <p:cNvSpPr/>
          <p:nvPr/>
        </p:nvSpPr>
        <p:spPr>
          <a:xfrm>
            <a:off x="384120" y="2956680"/>
            <a:ext cx="4113720" cy="419400"/>
          </a:xfrm>
          <a:prstGeom prst="rect">
            <a:avLst/>
          </a:prstGeom>
          <a:solidFill>
            <a:srgbClr val="0A25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19" name="Shape 22"/>
          <p:cNvSpPr/>
          <p:nvPr/>
        </p:nvSpPr>
        <p:spPr>
          <a:xfrm>
            <a:off x="384120" y="2956680"/>
            <a:ext cx="63000" cy="41940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20" name="Text 23"/>
          <p:cNvSpPr/>
          <p:nvPr/>
        </p:nvSpPr>
        <p:spPr>
          <a:xfrm>
            <a:off x="539640" y="3050280"/>
            <a:ext cx="10137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0BCD4"/>
                </a:solidFill>
                <a:effectLst/>
                <a:uFillTx/>
                <a:latin typeface="Calibri"/>
              </a:rPr>
              <a:t>Kod</a:t>
            </a:r>
            <a:endParaRPr lang="pl-PL" sz="1600" b="0" u="none" strike="noStrike">
              <a:solidFill>
                <a:srgbClr val="FFFFFF"/>
              </a:solidFill>
              <a:effectLst/>
              <a:uFillTx/>
              <a:latin typeface="Arial"/>
            </a:endParaRPr>
          </a:p>
        </p:txBody>
      </p:sp>
      <p:sp>
        <p:nvSpPr>
          <p:cNvPr id="821" name="Text 24"/>
          <p:cNvSpPr/>
          <p:nvPr/>
        </p:nvSpPr>
        <p:spPr>
          <a:xfrm>
            <a:off x="1645920" y="299304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FFFFFF"/>
                </a:solidFill>
                <a:effectLst/>
                <a:uFillTx/>
                <a:latin typeface="Calibri"/>
              </a:rPr>
              <a:t>Code review przez ≥1 seniora. Brak komentarzy TODO. Linting = 0 errors.</a:t>
            </a:r>
            <a:endParaRPr lang="pl-PL" sz="1100" b="0" u="none" strike="noStrike">
              <a:solidFill>
                <a:srgbClr val="FFFFFF"/>
              </a:solidFill>
              <a:effectLst/>
              <a:uFillTx/>
              <a:latin typeface="Arial"/>
            </a:endParaRPr>
          </a:p>
        </p:txBody>
      </p:sp>
      <p:sp>
        <p:nvSpPr>
          <p:cNvPr id="822" name="Shape 25"/>
          <p:cNvSpPr/>
          <p:nvPr/>
        </p:nvSpPr>
        <p:spPr>
          <a:xfrm>
            <a:off x="4636080" y="2956680"/>
            <a:ext cx="4113720" cy="419400"/>
          </a:xfrm>
          <a:prstGeom prst="rect">
            <a:avLst/>
          </a:prstGeom>
          <a:solidFill>
            <a:srgbClr val="0A2540"/>
          </a:solidFill>
          <a:ln w="635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23" name="Shape 26"/>
          <p:cNvSpPr/>
          <p:nvPr/>
        </p:nvSpPr>
        <p:spPr>
          <a:xfrm>
            <a:off x="4636080" y="2956680"/>
            <a:ext cx="63000" cy="41940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24" name="Text 27"/>
          <p:cNvSpPr/>
          <p:nvPr/>
        </p:nvSpPr>
        <p:spPr>
          <a:xfrm>
            <a:off x="4791600" y="3050280"/>
            <a:ext cx="1049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4CAF50"/>
                </a:solidFill>
                <a:effectLst/>
                <a:uFillTx/>
                <a:latin typeface="Calibri"/>
              </a:rPr>
              <a:t>Testy</a:t>
            </a:r>
            <a:endParaRPr lang="pl-PL" sz="1600" b="0" u="none" strike="noStrike">
              <a:solidFill>
                <a:srgbClr val="FFFFFF"/>
              </a:solidFill>
              <a:effectLst/>
              <a:uFillTx/>
              <a:latin typeface="Arial"/>
            </a:endParaRPr>
          </a:p>
        </p:txBody>
      </p:sp>
      <p:sp>
        <p:nvSpPr>
          <p:cNvPr id="825" name="Text 28"/>
          <p:cNvSpPr/>
          <p:nvPr/>
        </p:nvSpPr>
        <p:spPr>
          <a:xfrm>
            <a:off x="5897880" y="299304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FFFFFF"/>
                </a:solidFill>
                <a:effectLst/>
                <a:uFillTx/>
                <a:latin typeface="Calibri"/>
              </a:rPr>
              <a:t>Unit test coverage ≥80%. Regression suite przeszedł. Brak P0/P1 bugów.</a:t>
            </a:r>
            <a:endParaRPr lang="pl-PL" sz="1100" b="0" u="none" strike="noStrike">
              <a:solidFill>
                <a:srgbClr val="FFFFFF"/>
              </a:solidFill>
              <a:effectLst/>
              <a:uFillTx/>
              <a:latin typeface="Arial"/>
            </a:endParaRPr>
          </a:p>
        </p:txBody>
      </p:sp>
      <p:sp>
        <p:nvSpPr>
          <p:cNvPr id="826" name="Shape 29"/>
          <p:cNvSpPr/>
          <p:nvPr/>
        </p:nvSpPr>
        <p:spPr>
          <a:xfrm>
            <a:off x="384120" y="3459600"/>
            <a:ext cx="4113720" cy="419400"/>
          </a:xfrm>
          <a:prstGeom prst="rect">
            <a:avLst/>
          </a:prstGeom>
          <a:solidFill>
            <a:srgbClr val="0A2540"/>
          </a:solidFill>
          <a:ln w="635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27" name="Shape 30"/>
          <p:cNvSpPr/>
          <p:nvPr/>
        </p:nvSpPr>
        <p:spPr>
          <a:xfrm>
            <a:off x="384120" y="3459600"/>
            <a:ext cx="63000" cy="41940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28" name="Text 31"/>
          <p:cNvSpPr/>
          <p:nvPr/>
        </p:nvSpPr>
        <p:spPr>
          <a:xfrm>
            <a:off x="539640" y="3553200"/>
            <a:ext cx="10137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FF7043"/>
                </a:solidFill>
                <a:effectLst/>
                <a:uFillTx/>
                <a:latin typeface="Calibri"/>
              </a:rPr>
              <a:t>Wydajność</a:t>
            </a:r>
            <a:endParaRPr lang="pl-PL" sz="1600" b="0" u="none" strike="noStrike">
              <a:solidFill>
                <a:srgbClr val="FFFFFF"/>
              </a:solidFill>
              <a:effectLst/>
              <a:uFillTx/>
              <a:latin typeface="Arial"/>
            </a:endParaRPr>
          </a:p>
        </p:txBody>
      </p:sp>
      <p:sp>
        <p:nvSpPr>
          <p:cNvPr id="829" name="Text 32"/>
          <p:cNvSpPr/>
          <p:nvPr/>
        </p:nvSpPr>
        <p:spPr>
          <a:xfrm>
            <a:off x="1645920" y="349596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FFFFFF"/>
                </a:solidFill>
                <a:effectLst/>
                <a:uFillTx/>
                <a:latin typeface="Calibri"/>
              </a:rPr>
              <a:t>&lt; 2s cold start. &lt; 60MB memory footprint. Frame rate ≥ 60fps na average device.</a:t>
            </a:r>
            <a:endParaRPr lang="pl-PL" sz="1100" b="0" u="none" strike="noStrike">
              <a:solidFill>
                <a:srgbClr val="FFFFFF"/>
              </a:solidFill>
              <a:effectLst/>
              <a:uFillTx/>
              <a:latin typeface="Arial"/>
            </a:endParaRPr>
          </a:p>
        </p:txBody>
      </p:sp>
      <p:sp>
        <p:nvSpPr>
          <p:cNvPr id="830" name="Shape 33"/>
          <p:cNvSpPr/>
          <p:nvPr/>
        </p:nvSpPr>
        <p:spPr>
          <a:xfrm>
            <a:off x="4636080" y="3459600"/>
            <a:ext cx="4113720" cy="419400"/>
          </a:xfrm>
          <a:prstGeom prst="rect">
            <a:avLst/>
          </a:prstGeom>
          <a:solidFill>
            <a:srgbClr val="0A2540"/>
          </a:solidFill>
          <a:ln w="635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31" name="Shape 34"/>
          <p:cNvSpPr/>
          <p:nvPr/>
        </p:nvSpPr>
        <p:spPr>
          <a:xfrm>
            <a:off x="4636080" y="3459600"/>
            <a:ext cx="63000" cy="41940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32" name="Text 35"/>
          <p:cNvSpPr/>
          <p:nvPr/>
        </p:nvSpPr>
        <p:spPr>
          <a:xfrm>
            <a:off x="4791600" y="3553200"/>
            <a:ext cx="1049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dirty="0">
                <a:solidFill>
                  <a:schemeClr val="bg1"/>
                </a:solidFill>
                <a:effectLst/>
                <a:uFillTx/>
                <a:latin typeface="Calibri"/>
              </a:rPr>
              <a:t>Dostępność</a:t>
            </a:r>
            <a:endParaRPr lang="pl-PL" sz="1600" b="0" u="none" strike="noStrike" dirty="0">
              <a:solidFill>
                <a:schemeClr val="bg1"/>
              </a:solidFill>
              <a:effectLst/>
              <a:uFillTx/>
              <a:latin typeface="Arial"/>
            </a:endParaRPr>
          </a:p>
        </p:txBody>
      </p:sp>
      <p:sp>
        <p:nvSpPr>
          <p:cNvPr id="833" name="Text 36"/>
          <p:cNvSpPr/>
          <p:nvPr/>
        </p:nvSpPr>
        <p:spPr>
          <a:xfrm>
            <a:off x="5897880" y="3495960"/>
            <a:ext cx="27421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FFFFFF"/>
                </a:solidFill>
                <a:effectLst/>
                <a:uFillTx/>
                <a:latin typeface="Calibri"/>
              </a:rPr>
              <a:t>WCAG 2.1 AA. TalkBack/VoiceOver testowany. Contrast ratio ≥4.5:1.</a:t>
            </a:r>
            <a:endParaRPr lang="pl-PL" sz="1100" b="0" u="none" strike="noStrike">
              <a:solidFill>
                <a:srgbClr val="FFFFFF"/>
              </a:solidFill>
              <a:effectLst/>
              <a:uFillTx/>
              <a:latin typeface="Arial"/>
            </a:endParaRPr>
          </a:p>
        </p:txBody>
      </p:sp>
      <p:sp>
        <p:nvSpPr>
          <p:cNvPr id="834" name="Shape 37"/>
          <p:cNvSpPr/>
          <p:nvPr/>
        </p:nvSpPr>
        <p:spPr>
          <a:xfrm>
            <a:off x="384120" y="3985920"/>
            <a:ext cx="8374680" cy="383040"/>
          </a:xfrm>
          <a:prstGeom prst="rect">
            <a:avLst/>
          </a:prstGeom>
          <a:solidFill>
            <a:srgbClr val="0A2540"/>
          </a:solidFill>
          <a:ln w="635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35" name="Shape 38"/>
          <p:cNvSpPr/>
          <p:nvPr/>
        </p:nvSpPr>
        <p:spPr>
          <a:xfrm>
            <a:off x="384120" y="3985920"/>
            <a:ext cx="63000" cy="38304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36" name="Text 39"/>
          <p:cNvSpPr/>
          <p:nvPr/>
        </p:nvSpPr>
        <p:spPr>
          <a:xfrm>
            <a:off x="567000" y="4088160"/>
            <a:ext cx="16448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FFB300"/>
                </a:solidFill>
                <a:effectLst/>
                <a:uFillTx/>
                <a:latin typeface="Calibri"/>
              </a:rPr>
              <a:t>Dokumentacja</a:t>
            </a:r>
            <a:endParaRPr lang="pl-PL" sz="1600" b="0" u="none" strike="noStrike">
              <a:solidFill>
                <a:srgbClr val="FFFFFF"/>
              </a:solidFill>
              <a:effectLst/>
              <a:uFillTx/>
              <a:latin typeface="Arial"/>
            </a:endParaRPr>
          </a:p>
        </p:txBody>
      </p:sp>
      <p:sp>
        <p:nvSpPr>
          <p:cNvPr id="837" name="Text 40"/>
          <p:cNvSpPr/>
          <p:nvPr/>
        </p:nvSpPr>
        <p:spPr>
          <a:xfrm>
            <a:off x="1974960" y="4050000"/>
            <a:ext cx="666504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FFFFFF"/>
                </a:solidFill>
                <a:effectLst/>
                <a:uFillTx/>
                <a:latin typeface="Calibri"/>
              </a:rPr>
              <a:t>README zaktualizowane. API changelog. Release notes draft.</a:t>
            </a:r>
            <a:endParaRPr lang="pl-PL" sz="1100" b="0" u="none" strike="noStrike">
              <a:solidFill>
                <a:srgbClr val="FFFFFF"/>
              </a:solidFill>
              <a:effectLst/>
              <a:uFillTx/>
              <a:latin typeface="Arial"/>
            </a:endParaRPr>
          </a:p>
        </p:txBody>
      </p:sp>
      <p:sp>
        <p:nvSpPr>
          <p:cNvPr id="838" name="Shape 41"/>
          <p:cNvSpPr/>
          <p:nvPr/>
        </p:nvSpPr>
        <p:spPr>
          <a:xfrm>
            <a:off x="383760" y="4550760"/>
            <a:ext cx="8375040" cy="475560"/>
          </a:xfrm>
          <a:prstGeom prst="rect">
            <a:avLst/>
          </a:prstGeom>
          <a:solidFill>
            <a:srgbClr val="102040"/>
          </a:solidFill>
          <a:ln w="635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ctr" anchorCtr="1">
            <a:noAutofit/>
          </a:bodyPr>
          <a:lstStyle/>
          <a:p>
            <a:pPr algn="ctr" defTabSz="914400">
              <a:lnSpc>
                <a:spcPct val="100000"/>
              </a:lnSpc>
            </a:pPr>
            <a:r>
              <a:rPr lang="pl-PL" sz="1400" b="1" u="none" strike="noStrike" spc="-40" dirty="0" err="1">
                <a:solidFill>
                  <a:srgbClr val="8ECAE6"/>
                </a:solidFill>
                <a:effectLst/>
                <a:uFillTx/>
                <a:latin typeface="Calibri"/>
              </a:rPr>
              <a:t>Code</a:t>
            </a:r>
            <a:r>
              <a:rPr lang="pl-PL" sz="1400" b="1" u="none" strike="noStrike" spc="-40" dirty="0">
                <a:solidFill>
                  <a:srgbClr val="8ECAE6"/>
                </a:solidFill>
                <a:effectLst/>
                <a:uFillTx/>
                <a:latin typeface="Calibri"/>
              </a:rPr>
              <a:t> </a:t>
            </a:r>
            <a:r>
              <a:rPr lang="pl-PL" sz="1400" b="1" u="none" strike="noStrike" spc="-40" dirty="0" err="1">
                <a:solidFill>
                  <a:srgbClr val="8ECAE6"/>
                </a:solidFill>
                <a:effectLst/>
                <a:uFillTx/>
                <a:latin typeface="Calibri"/>
              </a:rPr>
              <a:t>review</a:t>
            </a:r>
            <a:r>
              <a:rPr lang="pl-PL" sz="1400" b="1" u="none" strike="noStrike" spc="-40" dirty="0">
                <a:solidFill>
                  <a:srgbClr val="8ECAE6"/>
                </a:solidFill>
                <a:effectLst/>
                <a:uFillTx/>
                <a:latin typeface="Calibri"/>
              </a:rPr>
              <a:t> </a:t>
            </a:r>
            <a:r>
              <a:rPr lang="pl-PL" sz="1400" b="0" u="none" strike="noStrike" spc="-40" dirty="0">
                <a:solidFill>
                  <a:srgbClr val="8ECAE6"/>
                </a:solidFill>
                <a:effectLst/>
                <a:uFillTx/>
                <a:latin typeface="Calibri"/>
              </a:rPr>
              <a:t>redukuje liczbę </a:t>
            </a:r>
            <a:r>
              <a:rPr lang="pl-PL" sz="1400" b="0" u="none" strike="noStrike" spc="-40" dirty="0" err="1">
                <a:solidFill>
                  <a:srgbClr val="8ECAE6"/>
                </a:solidFill>
                <a:effectLst/>
                <a:uFillTx/>
                <a:latin typeface="Calibri"/>
              </a:rPr>
              <a:t>bugów</a:t>
            </a:r>
            <a:r>
              <a:rPr lang="pl-PL" sz="1400" b="0" u="none" strike="noStrike" spc="-40" dirty="0">
                <a:solidFill>
                  <a:srgbClr val="8ECAE6"/>
                </a:solidFill>
                <a:effectLst/>
                <a:uFillTx/>
                <a:latin typeface="Calibri"/>
              </a:rPr>
              <a:t> o 60% (</a:t>
            </a:r>
            <a:r>
              <a:rPr lang="pl-PL" sz="1400" b="0" u="none" strike="noStrike" spc="-40" dirty="0" err="1">
                <a:solidFill>
                  <a:srgbClr val="8ECAE6"/>
                </a:solidFill>
                <a:effectLst/>
                <a:uFillTx/>
                <a:latin typeface="Calibri"/>
              </a:rPr>
              <a:t>SmartBear</a:t>
            </a:r>
            <a:r>
              <a:rPr lang="pl-PL" sz="1400" b="0" u="none" strike="noStrike" spc="-40" dirty="0">
                <a:solidFill>
                  <a:srgbClr val="8ECAE6"/>
                </a:solidFill>
                <a:effectLst/>
                <a:uFillTx/>
                <a:latin typeface="Calibri"/>
              </a:rPr>
              <a:t>, 2023</a:t>
            </a:r>
            <a:r>
              <a:rPr lang="pl-PL" sz="1400" b="0" u="none" strike="noStrike" spc="-40" dirty="0" smtClean="0">
                <a:solidFill>
                  <a:srgbClr val="8ECAE6"/>
                </a:solidFill>
                <a:effectLst/>
                <a:uFillTx/>
                <a:latin typeface="Calibri"/>
              </a:rPr>
              <a:t>).</a:t>
            </a:r>
          </a:p>
          <a:p>
            <a:pPr algn="ctr" defTabSz="914400">
              <a:lnSpc>
                <a:spcPct val="100000"/>
              </a:lnSpc>
            </a:pPr>
            <a:r>
              <a:rPr lang="pl-PL" sz="1400" b="0" u="none" strike="noStrike" spc="-40" dirty="0" smtClean="0">
                <a:solidFill>
                  <a:srgbClr val="8ECAE6"/>
                </a:solidFill>
                <a:effectLst/>
                <a:uFillTx/>
                <a:latin typeface="Calibri"/>
              </a:rPr>
              <a:t>Każdy błąd </a:t>
            </a:r>
            <a:r>
              <a:rPr lang="pl-PL" sz="1400" b="0" u="none" strike="noStrike" spc="-40" dirty="0">
                <a:solidFill>
                  <a:srgbClr val="8ECAE6"/>
                </a:solidFill>
                <a:effectLst/>
                <a:uFillTx/>
                <a:latin typeface="Calibri"/>
              </a:rPr>
              <a:t>znaleziony w fazie </a:t>
            </a:r>
            <a:r>
              <a:rPr lang="pl-PL" sz="1400" b="0" u="none" strike="noStrike" spc="-40" dirty="0" smtClean="0">
                <a:solidFill>
                  <a:srgbClr val="8ECAE6"/>
                </a:solidFill>
                <a:effectLst/>
                <a:uFillTx/>
                <a:latin typeface="Calibri"/>
              </a:rPr>
              <a:t>testów, będzie kosztował 10</a:t>
            </a:r>
            <a:r>
              <a:rPr lang="pl-PL" sz="1400" b="0" u="none" strike="noStrike" spc="-40" dirty="0">
                <a:solidFill>
                  <a:srgbClr val="8ECAE6"/>
                </a:solidFill>
                <a:effectLst/>
                <a:uFillTx/>
                <a:latin typeface="Calibri"/>
              </a:rPr>
              <a:t>× więcej do naprawienia po </a:t>
            </a:r>
            <a:r>
              <a:rPr lang="pl-PL" sz="1400" b="0" u="none" strike="noStrike" spc="-40" dirty="0" smtClean="0">
                <a:solidFill>
                  <a:srgbClr val="8ECAE6"/>
                </a:solidFill>
                <a:effectLst/>
                <a:uFillTx/>
                <a:latin typeface="Calibri"/>
              </a:rPr>
              <a:t>wypuszczeniu </a:t>
            </a:r>
            <a:r>
              <a:rPr lang="pl-PL" sz="1400" b="0" u="none" strike="noStrike" spc="-40" dirty="0" err="1" smtClean="0">
                <a:solidFill>
                  <a:srgbClr val="8ECAE6"/>
                </a:solidFill>
                <a:effectLst/>
                <a:uFillTx/>
                <a:latin typeface="Calibri"/>
              </a:rPr>
              <a:t>apki</a:t>
            </a:r>
            <a:r>
              <a:rPr lang="pl-PL" sz="1400" b="0" u="none" strike="noStrike" spc="-40" dirty="0" smtClean="0">
                <a:solidFill>
                  <a:srgbClr val="8ECAE6"/>
                </a:solidFill>
                <a:effectLst/>
                <a:uFillTx/>
                <a:latin typeface="Calibri"/>
              </a:rPr>
              <a:t>.</a:t>
            </a:r>
            <a:endParaRPr lang="pl-PL" sz="1400" b="0" u="none" strike="noStrike" spc="-40" dirty="0">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843"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err="1">
                <a:solidFill>
                  <a:srgbClr val="FFFFFF"/>
                </a:solidFill>
                <a:effectLst/>
                <a:uFillTx/>
                <a:latin typeface="Calibri"/>
              </a:rPr>
              <a:t>Zarządzanie</a:t>
            </a:r>
            <a:r>
              <a:rPr lang="en-US" sz="2000" b="1" u="none" strike="noStrike" dirty="0">
                <a:solidFill>
                  <a:srgbClr val="FFFFFF"/>
                </a:solidFill>
                <a:effectLst/>
                <a:uFillTx/>
                <a:latin typeface="Calibri"/>
              </a:rPr>
              <a:t> </a:t>
            </a:r>
            <a:r>
              <a:rPr lang="en-US" sz="2000" b="1" u="none" strike="noStrike" dirty="0" err="1">
                <a:solidFill>
                  <a:srgbClr val="FFFFFF"/>
                </a:solidFill>
                <a:effectLst/>
                <a:uFillTx/>
                <a:latin typeface="Calibri"/>
              </a:rPr>
              <a:t>długiem</a:t>
            </a:r>
            <a:r>
              <a:rPr lang="en-US" sz="2000" b="1" u="none" strike="noStrike" dirty="0">
                <a:solidFill>
                  <a:srgbClr val="FFFFFF"/>
                </a:solidFill>
                <a:effectLst/>
                <a:uFillTx/>
                <a:latin typeface="Calibri"/>
              </a:rPr>
              <a:t> </a:t>
            </a:r>
            <a:r>
              <a:rPr lang="en-US" sz="2000" b="1" u="none" strike="noStrike" dirty="0" err="1">
                <a:solidFill>
                  <a:srgbClr val="FFFFFF"/>
                </a:solidFill>
                <a:effectLst/>
                <a:uFillTx/>
                <a:latin typeface="Calibri"/>
              </a:rPr>
              <a:t>technicznym</a:t>
            </a:r>
            <a:r>
              <a:rPr lang="pl-PL" sz="2000" b="1" u="none" strike="noStrike" dirty="0">
                <a:solidFill>
                  <a:srgbClr val="FFFFFF"/>
                </a:solidFill>
                <a:effectLst/>
                <a:uFillTx/>
                <a:latin typeface="Calibri"/>
              </a:rPr>
              <a:t>:</a:t>
            </a:r>
            <a:r>
              <a:rPr lang="en-US" sz="2000" b="1" u="none" strike="noStrike" dirty="0">
                <a:solidFill>
                  <a:srgbClr val="FFFFFF"/>
                </a:solidFill>
                <a:effectLst/>
                <a:uFillTx/>
                <a:latin typeface="Calibri"/>
              </a:rPr>
              <a:t> </a:t>
            </a:r>
            <a:r>
              <a:rPr lang="en-US" sz="2000" b="0" u="none" strike="noStrike" dirty="0" err="1">
                <a:solidFill>
                  <a:srgbClr val="FFFFFF"/>
                </a:solidFill>
                <a:effectLst/>
                <a:uFillTx/>
                <a:latin typeface="Calibri"/>
              </a:rPr>
              <a:t>klasyfikacja</a:t>
            </a:r>
            <a:r>
              <a:rPr lang="en-US" sz="2000" b="0" u="none" strike="noStrike" dirty="0">
                <a:solidFill>
                  <a:srgbClr val="FFFFFF"/>
                </a:solidFill>
                <a:effectLst/>
                <a:uFillTx/>
                <a:latin typeface="Calibri"/>
              </a:rPr>
              <a:t> </a:t>
            </a:r>
            <a:r>
              <a:rPr lang="en-US" sz="2000" b="0" u="none" strike="noStrike" dirty="0" err="1">
                <a:solidFill>
                  <a:srgbClr val="FFFFFF"/>
                </a:solidFill>
                <a:effectLst/>
                <a:uFillTx/>
                <a:latin typeface="Calibri"/>
              </a:rPr>
              <a:t>i</a:t>
            </a:r>
            <a:r>
              <a:rPr lang="en-US" sz="2000" b="0" u="none" strike="noStrike" dirty="0">
                <a:solidFill>
                  <a:srgbClr val="FFFFFF"/>
                </a:solidFill>
                <a:effectLst/>
                <a:uFillTx/>
                <a:latin typeface="Calibri"/>
              </a:rPr>
              <a:t> </a:t>
            </a:r>
            <a:r>
              <a:rPr lang="en-US" sz="2000" b="0" u="none" strike="noStrike" dirty="0" err="1">
                <a:solidFill>
                  <a:srgbClr val="FFFFFF"/>
                </a:solidFill>
                <a:effectLst/>
                <a:uFillTx/>
                <a:latin typeface="Calibri"/>
              </a:rPr>
              <a:t>strategie</a:t>
            </a:r>
            <a:endParaRPr lang="pl-PL" sz="2000" b="0" u="none" strike="noStrike" dirty="0">
              <a:solidFill>
                <a:srgbClr val="FFFFFF"/>
              </a:solidFill>
              <a:effectLst/>
              <a:uFillTx/>
              <a:latin typeface="Arial"/>
            </a:endParaRPr>
          </a:p>
        </p:txBody>
      </p:sp>
      <p:sp>
        <p:nvSpPr>
          <p:cNvPr id="844"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845" name="Shape 4"/>
          <p:cNvSpPr/>
          <p:nvPr/>
        </p:nvSpPr>
        <p:spPr>
          <a:xfrm>
            <a:off x="384120" y="627840"/>
            <a:ext cx="2052720" cy="1187640"/>
          </a:xfrm>
          <a:prstGeom prst="rect">
            <a:avLst/>
          </a:prstGeom>
          <a:solidFill>
            <a:srgbClr val="0A2540"/>
          </a:solidFill>
          <a:ln w="1016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46" name="Shape 5"/>
          <p:cNvSpPr/>
          <p:nvPr/>
        </p:nvSpPr>
        <p:spPr>
          <a:xfrm>
            <a:off x="384120" y="627840"/>
            <a:ext cx="2052720" cy="5364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FFFFFF"/>
              </a:solidFill>
              <a:effectLst/>
              <a:uFillTx/>
              <a:latin typeface="Arial"/>
            </a:endParaRPr>
          </a:p>
        </p:txBody>
      </p:sp>
      <p:sp>
        <p:nvSpPr>
          <p:cNvPr id="847" name="Text 6"/>
          <p:cNvSpPr/>
          <p:nvPr/>
        </p:nvSpPr>
        <p:spPr>
          <a:xfrm>
            <a:off x="430560" y="647280"/>
            <a:ext cx="195912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EF5350"/>
                </a:solidFill>
                <a:effectLst/>
                <a:uFillTx/>
                <a:latin typeface="Calibri"/>
              </a:rPr>
              <a:t>23%</a:t>
            </a:r>
            <a:endParaRPr lang="pl-PL" sz="3600" b="0" u="none" strike="noStrike">
              <a:solidFill>
                <a:srgbClr val="FFFFFF"/>
              </a:solidFill>
              <a:effectLst/>
              <a:uFillTx/>
              <a:latin typeface="Arial"/>
            </a:endParaRPr>
          </a:p>
        </p:txBody>
      </p:sp>
      <p:sp>
        <p:nvSpPr>
          <p:cNvPr id="848" name="Text 7"/>
          <p:cNvSpPr/>
          <p:nvPr/>
        </p:nvSpPr>
        <p:spPr>
          <a:xfrm>
            <a:off x="430560" y="1149510"/>
            <a:ext cx="19591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dirty="0" err="1">
                <a:solidFill>
                  <a:srgbClr val="FFFFFF"/>
                </a:solidFill>
                <a:effectLst/>
                <a:uFillTx/>
                <a:latin typeface="Calibri"/>
              </a:rPr>
              <a:t>czasu</a:t>
            </a:r>
            <a:r>
              <a:rPr lang="en-US" sz="2000" b="1" u="none" strike="noStrike" dirty="0">
                <a:solidFill>
                  <a:srgbClr val="FFFFFF"/>
                </a:solidFill>
                <a:effectLst/>
                <a:uFillTx/>
                <a:latin typeface="Calibri"/>
              </a:rPr>
              <a:t> dev</a:t>
            </a:r>
            <a:endParaRPr lang="pl-PL" sz="2000" b="0" u="none" strike="noStrike" dirty="0">
              <a:solidFill>
                <a:srgbClr val="FFFFFF"/>
              </a:solidFill>
              <a:effectLst/>
              <a:uFillTx/>
              <a:latin typeface="Arial"/>
            </a:endParaRPr>
          </a:p>
        </p:txBody>
      </p:sp>
      <p:sp>
        <p:nvSpPr>
          <p:cNvPr id="849" name="Text 8"/>
          <p:cNvSpPr/>
          <p:nvPr/>
        </p:nvSpPr>
        <p:spPr>
          <a:xfrm>
            <a:off x="430560" y="1469160"/>
            <a:ext cx="195912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100" b="0" u="none" strike="noStrike">
                <a:solidFill>
                  <a:srgbClr val="8ECAE6"/>
                </a:solidFill>
                <a:effectLst/>
                <a:uFillTx/>
                <a:latin typeface="Calibri"/>
              </a:rPr>
              <a:t>spędzone</a:t>
            </a:r>
            <a:r>
              <a:rPr lang="en-US" sz="1100" b="0" u="none" strike="noStrike">
                <a:solidFill>
                  <a:srgbClr val="8ECAE6"/>
                </a:solidFill>
                <a:effectLst/>
                <a:uFillTx/>
                <a:latin typeface="Calibri"/>
              </a:rPr>
              <a:t> na tech debt </a:t>
            </a:r>
            <a:endParaRPr lang="pl-PL" sz="1100" b="0" u="none" strike="noStrike">
              <a:solidFill>
                <a:srgbClr val="FFFFFF"/>
              </a:solidFill>
              <a:effectLst/>
              <a:uFillTx/>
              <a:latin typeface="Arial"/>
            </a:endParaRPr>
          </a:p>
          <a:p>
            <a:pPr algn="ctr" defTabSz="914400">
              <a:lnSpc>
                <a:spcPct val="100000"/>
              </a:lnSpc>
              <a:tabLst>
                <a:tab pos="0" algn="l"/>
              </a:tabLst>
            </a:pPr>
            <a:r>
              <a:rPr lang="en-US" sz="1100" b="0" u="none" strike="noStrike">
                <a:solidFill>
                  <a:srgbClr val="8ECAE6"/>
                </a:solidFill>
                <a:effectLst/>
                <a:uFillTx/>
                <a:latin typeface="Calibri"/>
              </a:rPr>
              <a:t>(McKinsey 2023)</a:t>
            </a:r>
            <a:endParaRPr lang="pl-PL" sz="1100" b="0" u="none" strike="noStrike">
              <a:solidFill>
                <a:srgbClr val="FFFFFF"/>
              </a:solidFill>
              <a:effectLst/>
              <a:uFillTx/>
              <a:latin typeface="Arial"/>
            </a:endParaRPr>
          </a:p>
        </p:txBody>
      </p:sp>
      <p:sp>
        <p:nvSpPr>
          <p:cNvPr id="850" name="Shape 9"/>
          <p:cNvSpPr/>
          <p:nvPr/>
        </p:nvSpPr>
        <p:spPr>
          <a:xfrm>
            <a:off x="2531160" y="627840"/>
            <a:ext cx="2052720" cy="1187640"/>
          </a:xfrm>
          <a:prstGeom prst="rect">
            <a:avLst/>
          </a:prstGeom>
          <a:solidFill>
            <a:srgbClr val="0A2540"/>
          </a:solidFill>
          <a:ln w="1016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51" name="Shape 10"/>
          <p:cNvSpPr/>
          <p:nvPr/>
        </p:nvSpPr>
        <p:spPr>
          <a:xfrm>
            <a:off x="2531160" y="627840"/>
            <a:ext cx="2052720" cy="5364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FFFFFF"/>
              </a:solidFill>
              <a:effectLst/>
              <a:uFillTx/>
              <a:latin typeface="Arial"/>
            </a:endParaRPr>
          </a:p>
        </p:txBody>
      </p:sp>
      <p:sp>
        <p:nvSpPr>
          <p:cNvPr id="852" name="Text 11"/>
          <p:cNvSpPr/>
          <p:nvPr/>
        </p:nvSpPr>
        <p:spPr>
          <a:xfrm>
            <a:off x="2577600" y="647280"/>
            <a:ext cx="195912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FF7043"/>
                </a:solidFill>
                <a:effectLst/>
                <a:uFillTx/>
                <a:latin typeface="Calibri"/>
              </a:rPr>
              <a:t>40%</a:t>
            </a:r>
            <a:endParaRPr lang="pl-PL" sz="3600" b="0" u="none" strike="noStrike">
              <a:solidFill>
                <a:srgbClr val="FFFFFF"/>
              </a:solidFill>
              <a:effectLst/>
              <a:uFillTx/>
              <a:latin typeface="Arial"/>
            </a:endParaRPr>
          </a:p>
        </p:txBody>
      </p:sp>
      <p:sp>
        <p:nvSpPr>
          <p:cNvPr id="853" name="Text 12"/>
          <p:cNvSpPr/>
          <p:nvPr/>
        </p:nvSpPr>
        <p:spPr>
          <a:xfrm>
            <a:off x="2577600" y="1149510"/>
            <a:ext cx="19591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libri"/>
              </a:rPr>
              <a:t>wolniejszy</a:t>
            </a:r>
            <a:endParaRPr lang="pl-PL" sz="2000" b="0" u="none" strike="noStrike">
              <a:solidFill>
                <a:srgbClr val="FFFFFF"/>
              </a:solidFill>
              <a:effectLst/>
              <a:uFillTx/>
              <a:latin typeface="Arial"/>
            </a:endParaRPr>
          </a:p>
        </p:txBody>
      </p:sp>
      <p:sp>
        <p:nvSpPr>
          <p:cNvPr id="854" name="Text 13"/>
          <p:cNvSpPr/>
          <p:nvPr/>
        </p:nvSpPr>
        <p:spPr>
          <a:xfrm>
            <a:off x="2577600" y="1469160"/>
            <a:ext cx="195912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000" b="0" u="none" strike="noStrike">
                <a:solidFill>
                  <a:srgbClr val="8ECAE6"/>
                </a:solidFill>
                <a:effectLst/>
                <a:uFillTx/>
                <a:latin typeface="Calibri"/>
              </a:rPr>
              <a:t>development przy wysokim tech debt</a:t>
            </a:r>
            <a:endParaRPr lang="pl-PL" sz="1000" b="0" u="none" strike="noStrike">
              <a:solidFill>
                <a:srgbClr val="FFFFFF"/>
              </a:solidFill>
              <a:effectLst/>
              <a:uFillTx/>
              <a:latin typeface="Arial"/>
            </a:endParaRPr>
          </a:p>
        </p:txBody>
      </p:sp>
      <p:sp>
        <p:nvSpPr>
          <p:cNvPr id="855" name="Shape 14"/>
          <p:cNvSpPr/>
          <p:nvPr/>
        </p:nvSpPr>
        <p:spPr>
          <a:xfrm>
            <a:off x="4678200" y="627840"/>
            <a:ext cx="2052720" cy="1187640"/>
          </a:xfrm>
          <a:prstGeom prst="rect">
            <a:avLst/>
          </a:prstGeom>
          <a:solidFill>
            <a:srgbClr val="0A2540"/>
          </a:solidFill>
          <a:ln w="1016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56" name="Shape 15"/>
          <p:cNvSpPr/>
          <p:nvPr/>
        </p:nvSpPr>
        <p:spPr>
          <a:xfrm>
            <a:off x="4678200" y="627840"/>
            <a:ext cx="2052720" cy="5364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000000"/>
              </a:solidFill>
              <a:effectLst/>
              <a:uFillTx/>
              <a:latin typeface="Arial"/>
            </a:endParaRPr>
          </a:p>
        </p:txBody>
      </p:sp>
      <p:sp>
        <p:nvSpPr>
          <p:cNvPr id="857" name="Text 16"/>
          <p:cNvSpPr/>
          <p:nvPr/>
        </p:nvSpPr>
        <p:spPr>
          <a:xfrm>
            <a:off x="4724640" y="647280"/>
            <a:ext cx="195912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000" b="1" u="none" strike="noStrike">
                <a:solidFill>
                  <a:srgbClr val="FFB300"/>
                </a:solidFill>
                <a:effectLst/>
                <a:uFillTx/>
                <a:latin typeface="Calibri"/>
              </a:rPr>
              <a:t>$1.52T</a:t>
            </a:r>
            <a:endParaRPr lang="pl-PL" sz="3000" b="0" u="none" strike="noStrike">
              <a:solidFill>
                <a:srgbClr val="FFFFFF"/>
              </a:solidFill>
              <a:effectLst/>
              <a:uFillTx/>
              <a:latin typeface="Arial"/>
            </a:endParaRPr>
          </a:p>
        </p:txBody>
      </p:sp>
      <p:sp>
        <p:nvSpPr>
          <p:cNvPr id="858" name="Text 17"/>
          <p:cNvSpPr/>
          <p:nvPr/>
        </p:nvSpPr>
        <p:spPr>
          <a:xfrm>
            <a:off x="4724640" y="1149510"/>
            <a:ext cx="19591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libri"/>
              </a:rPr>
              <a:t>globalny koszt</a:t>
            </a:r>
            <a:endParaRPr lang="pl-PL" sz="2000" b="0" u="none" strike="noStrike">
              <a:solidFill>
                <a:srgbClr val="FFFFFF"/>
              </a:solidFill>
              <a:effectLst/>
              <a:uFillTx/>
              <a:latin typeface="Arial"/>
            </a:endParaRPr>
          </a:p>
        </p:txBody>
      </p:sp>
      <p:sp>
        <p:nvSpPr>
          <p:cNvPr id="859" name="Text 18"/>
          <p:cNvSpPr/>
          <p:nvPr/>
        </p:nvSpPr>
        <p:spPr>
          <a:xfrm>
            <a:off x="4724640" y="1469160"/>
            <a:ext cx="195912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200" b="0" u="none" strike="noStrike">
                <a:solidFill>
                  <a:srgbClr val="8ECAE6"/>
                </a:solidFill>
                <a:effectLst/>
                <a:uFillTx/>
                <a:latin typeface="Calibri"/>
              </a:rPr>
              <a:t>długu technicznego</a:t>
            </a:r>
            <a:endParaRPr lang="pl-PL" sz="1200" b="0" u="none" strike="noStrike">
              <a:solidFill>
                <a:srgbClr val="FFFFFF"/>
              </a:solidFill>
              <a:effectLst/>
              <a:uFillTx/>
              <a:latin typeface="Arial"/>
            </a:endParaRPr>
          </a:p>
          <a:p>
            <a:pPr algn="ctr" defTabSz="914400">
              <a:lnSpc>
                <a:spcPct val="100000"/>
              </a:lnSpc>
              <a:tabLst>
                <a:tab pos="0" algn="l"/>
              </a:tabLst>
            </a:pPr>
            <a:r>
              <a:rPr lang="pl-PL" sz="1100" b="0" u="none" strike="noStrike">
                <a:solidFill>
                  <a:srgbClr val="8ECAE6"/>
                </a:solidFill>
                <a:effectLst/>
                <a:uFillTx/>
                <a:latin typeface="Calibri"/>
              </a:rPr>
              <a:t>(CISQ 2023)</a:t>
            </a:r>
            <a:endParaRPr lang="pl-PL" sz="1100" b="0" u="none" strike="noStrike">
              <a:solidFill>
                <a:srgbClr val="FFFFFF"/>
              </a:solidFill>
              <a:effectLst/>
              <a:uFillTx/>
              <a:latin typeface="Arial"/>
            </a:endParaRPr>
          </a:p>
        </p:txBody>
      </p:sp>
      <p:sp>
        <p:nvSpPr>
          <p:cNvPr id="860" name="Shape 19"/>
          <p:cNvSpPr/>
          <p:nvPr/>
        </p:nvSpPr>
        <p:spPr>
          <a:xfrm>
            <a:off x="6825240" y="627840"/>
            <a:ext cx="2052720" cy="1187640"/>
          </a:xfrm>
          <a:prstGeom prst="rect">
            <a:avLst/>
          </a:prstGeom>
          <a:solidFill>
            <a:srgbClr val="0A2540"/>
          </a:solidFill>
          <a:ln w="1016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61" name="Shape 20"/>
          <p:cNvSpPr/>
          <p:nvPr/>
        </p:nvSpPr>
        <p:spPr>
          <a:xfrm>
            <a:off x="6825240" y="627840"/>
            <a:ext cx="2052720" cy="5364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FFFFFF"/>
              </a:solidFill>
              <a:effectLst/>
              <a:uFillTx/>
              <a:latin typeface="Arial"/>
            </a:endParaRPr>
          </a:p>
        </p:txBody>
      </p:sp>
      <p:sp>
        <p:nvSpPr>
          <p:cNvPr id="862" name="Text 21"/>
          <p:cNvSpPr/>
          <p:nvPr/>
        </p:nvSpPr>
        <p:spPr>
          <a:xfrm>
            <a:off x="6871680" y="647280"/>
            <a:ext cx="195912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u="none" strike="noStrike">
                <a:solidFill>
                  <a:srgbClr val="4CAF50"/>
                </a:solidFill>
                <a:effectLst/>
                <a:uFillTx/>
                <a:latin typeface="Calibri"/>
              </a:rPr>
              <a:t>20%</a:t>
            </a:r>
            <a:endParaRPr lang="pl-PL" sz="3600" b="0" u="none" strike="noStrike">
              <a:solidFill>
                <a:srgbClr val="FFFFFF"/>
              </a:solidFill>
              <a:effectLst/>
              <a:uFillTx/>
              <a:latin typeface="Arial"/>
            </a:endParaRPr>
          </a:p>
        </p:txBody>
      </p:sp>
      <p:sp>
        <p:nvSpPr>
          <p:cNvPr id="863" name="Text 22"/>
          <p:cNvSpPr/>
          <p:nvPr/>
        </p:nvSpPr>
        <p:spPr>
          <a:xfrm>
            <a:off x="6871680" y="1149510"/>
            <a:ext cx="19591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Calibri"/>
              </a:rPr>
              <a:t>sprint</a:t>
            </a:r>
            <a:endParaRPr lang="pl-PL" sz="2000" b="0" u="none" strike="noStrike">
              <a:solidFill>
                <a:srgbClr val="FFFFFF"/>
              </a:solidFill>
              <a:effectLst/>
              <a:uFillTx/>
              <a:latin typeface="Arial"/>
            </a:endParaRPr>
          </a:p>
        </p:txBody>
      </p:sp>
      <p:sp>
        <p:nvSpPr>
          <p:cNvPr id="864" name="Text 23"/>
          <p:cNvSpPr/>
          <p:nvPr/>
        </p:nvSpPr>
        <p:spPr>
          <a:xfrm>
            <a:off x="6871680" y="1469160"/>
            <a:ext cx="195912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100" b="0" u="none" strike="noStrike">
                <a:solidFill>
                  <a:srgbClr val="8ECAE6"/>
                </a:solidFill>
                <a:effectLst/>
                <a:uFillTx/>
                <a:latin typeface="Calibri"/>
              </a:rPr>
              <a:t>na spłatę długu </a:t>
            </a:r>
            <a:endParaRPr lang="pl-PL" sz="1100" b="0" u="none" strike="noStrike">
              <a:solidFill>
                <a:srgbClr val="FFFFFF"/>
              </a:solidFill>
              <a:effectLst/>
              <a:uFillTx/>
              <a:latin typeface="Arial"/>
            </a:endParaRPr>
          </a:p>
          <a:p>
            <a:pPr algn="ctr" defTabSz="914400">
              <a:lnSpc>
                <a:spcPct val="100000"/>
              </a:lnSpc>
              <a:tabLst>
                <a:tab pos="0" algn="l"/>
              </a:tabLst>
            </a:pPr>
            <a:r>
              <a:rPr lang="pl-PL" sz="1100" b="0" u="none" strike="noStrike">
                <a:solidFill>
                  <a:srgbClr val="8ECAE6"/>
                </a:solidFill>
                <a:effectLst/>
                <a:uFillTx/>
                <a:latin typeface="Calibri"/>
              </a:rPr>
              <a:t>(rekomendacja)</a:t>
            </a:r>
            <a:endParaRPr lang="pl-PL" sz="1100" b="0" u="none" strike="noStrike">
              <a:solidFill>
                <a:srgbClr val="FFFFFF"/>
              </a:solidFill>
              <a:effectLst/>
              <a:uFillTx/>
              <a:latin typeface="Arial"/>
            </a:endParaRPr>
          </a:p>
        </p:txBody>
      </p:sp>
      <p:sp>
        <p:nvSpPr>
          <p:cNvPr id="865" name="Text 24"/>
          <p:cNvSpPr/>
          <p:nvPr/>
        </p:nvSpPr>
        <p:spPr>
          <a:xfrm>
            <a:off x="384120" y="2062260"/>
            <a:ext cx="4314960" cy="288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Rodzaje długu technicznego i strategie spłaty</a:t>
            </a:r>
            <a:endParaRPr lang="pl-PL" sz="1600" b="0" u="none" strike="noStrike">
              <a:solidFill>
                <a:srgbClr val="FFFFFF"/>
              </a:solidFill>
              <a:effectLst/>
              <a:uFillTx/>
              <a:latin typeface="Arial"/>
            </a:endParaRPr>
          </a:p>
        </p:txBody>
      </p:sp>
      <p:sp>
        <p:nvSpPr>
          <p:cNvPr id="866" name="Shape 25"/>
          <p:cNvSpPr/>
          <p:nvPr/>
        </p:nvSpPr>
        <p:spPr>
          <a:xfrm>
            <a:off x="384120" y="2416140"/>
            <a:ext cx="4177800" cy="1178280"/>
          </a:xfrm>
          <a:prstGeom prst="rect">
            <a:avLst/>
          </a:prstGeom>
          <a:solidFill>
            <a:srgbClr val="0A2540"/>
          </a:solidFill>
          <a:ln w="889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67" name="Shape 26"/>
          <p:cNvSpPr/>
          <p:nvPr/>
        </p:nvSpPr>
        <p:spPr>
          <a:xfrm>
            <a:off x="384120" y="2416140"/>
            <a:ext cx="63000" cy="117828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868" name="Text 27"/>
          <p:cNvSpPr/>
          <p:nvPr/>
        </p:nvSpPr>
        <p:spPr>
          <a:xfrm>
            <a:off x="539640" y="2429820"/>
            <a:ext cx="2917440" cy="234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FB300"/>
                </a:solidFill>
                <a:effectLst/>
                <a:uFillTx/>
                <a:latin typeface="Calibri"/>
              </a:rPr>
              <a:t>Deliberate </a:t>
            </a:r>
            <a:r>
              <a:rPr lang="en-US" sz="1800" b="0" u="none" strike="noStrike">
                <a:solidFill>
                  <a:srgbClr val="FFB300"/>
                </a:solidFill>
                <a:effectLst/>
                <a:uFillTx/>
                <a:latin typeface="Calibri"/>
              </a:rPr>
              <a:t>(świadomy)</a:t>
            </a:r>
            <a:endParaRPr lang="pl-PL" sz="1800" b="0" u="none" strike="noStrike">
              <a:solidFill>
                <a:srgbClr val="FFFFFF"/>
              </a:solidFill>
              <a:effectLst/>
              <a:uFillTx/>
              <a:latin typeface="Arial"/>
            </a:endParaRPr>
          </a:p>
        </p:txBody>
      </p:sp>
      <p:sp>
        <p:nvSpPr>
          <p:cNvPr id="869" name="Text 28"/>
          <p:cNvSpPr/>
          <p:nvPr/>
        </p:nvSpPr>
        <p:spPr>
          <a:xfrm>
            <a:off x="531140" y="2750970"/>
            <a:ext cx="3723360" cy="42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400" b="0" u="none" strike="noStrike" dirty="0">
                <a:solidFill>
                  <a:srgbClr val="FFFFFF"/>
                </a:solidFill>
                <a:effectLst/>
                <a:uFillTx/>
                <a:latin typeface="Calibri"/>
              </a:rPr>
              <a:t>"Zrobimy to szybko teraz, naprawimy później." Akceptowalny jeśli jest decyzja </a:t>
            </a:r>
            <a:r>
              <a:rPr lang="pl-PL" sz="1400" b="0" u="none" strike="noStrike" dirty="0" smtClean="0">
                <a:solidFill>
                  <a:srgbClr val="FFFFFF"/>
                </a:solidFill>
                <a:effectLst/>
                <a:uFillTx/>
                <a:latin typeface="Calibri"/>
              </a:rPr>
              <a:t>świadoma.</a:t>
            </a:r>
            <a:endParaRPr lang="pl-PL" sz="1400" b="0" u="none" strike="noStrike" dirty="0">
              <a:solidFill>
                <a:srgbClr val="FFFFFF"/>
              </a:solidFill>
              <a:effectLst/>
              <a:uFillTx/>
              <a:latin typeface="Arial"/>
            </a:endParaRPr>
          </a:p>
        </p:txBody>
      </p:sp>
      <p:sp>
        <p:nvSpPr>
          <p:cNvPr id="870" name="Text 29"/>
          <p:cNvSpPr/>
          <p:nvPr/>
        </p:nvSpPr>
        <p:spPr>
          <a:xfrm>
            <a:off x="539640" y="3300045"/>
            <a:ext cx="3885120" cy="266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a:solidFill>
                  <a:srgbClr val="8ECAE6"/>
                </a:solidFill>
                <a:effectLst/>
                <a:uFillTx/>
                <a:latin typeface="Calibri"/>
              </a:rPr>
              <a:t>Action: Ticket w </a:t>
            </a:r>
            <a:r>
              <a:rPr lang="en-US" sz="1100" b="0" u="none" strike="noStrike" dirty="0" err="1">
                <a:solidFill>
                  <a:srgbClr val="8ECAE6"/>
                </a:solidFill>
                <a:effectLst/>
                <a:uFillTx/>
                <a:latin typeface="Calibri"/>
              </a:rPr>
              <a:t>backlogu</a:t>
            </a:r>
            <a:r>
              <a:rPr lang="en-US" sz="1100" b="0" u="none" strike="noStrike" dirty="0">
                <a:solidFill>
                  <a:srgbClr val="8ECAE6"/>
                </a:solidFill>
                <a:effectLst/>
                <a:uFillTx/>
                <a:latin typeface="Calibri"/>
              </a:rPr>
              <a:t> z </a:t>
            </a:r>
            <a:r>
              <a:rPr lang="en-US" sz="1100" b="0" u="none" strike="noStrike" dirty="0" err="1">
                <a:solidFill>
                  <a:srgbClr val="8ECAE6"/>
                </a:solidFill>
                <a:effectLst/>
                <a:uFillTx/>
                <a:latin typeface="Calibri"/>
              </a:rPr>
              <a:t>datą</a:t>
            </a:r>
            <a:r>
              <a:rPr lang="en-US" sz="1100" b="0" u="none" strike="noStrike" dirty="0">
                <a:solidFill>
                  <a:srgbClr val="8ECAE6"/>
                </a:solidFill>
                <a:effectLst/>
                <a:uFillTx/>
                <a:latin typeface="Calibri"/>
              </a:rPr>
              <a:t> </a:t>
            </a:r>
            <a:r>
              <a:rPr lang="en-US" sz="1100" b="0" u="none" strike="noStrike" dirty="0" err="1">
                <a:solidFill>
                  <a:srgbClr val="8ECAE6"/>
                </a:solidFill>
                <a:effectLst/>
                <a:uFillTx/>
                <a:latin typeface="Calibri"/>
              </a:rPr>
              <a:t>spłaty</a:t>
            </a:r>
            <a:r>
              <a:rPr lang="en-US" sz="1100" b="0" u="none" strike="noStrike" dirty="0">
                <a:solidFill>
                  <a:srgbClr val="8ECAE6"/>
                </a:solidFill>
                <a:effectLst/>
                <a:uFillTx/>
                <a:latin typeface="Calibri"/>
              </a:rPr>
              <a:t>. </a:t>
            </a:r>
            <a:r>
              <a:rPr lang="en-US" sz="1100" b="0" u="none" strike="noStrike" dirty="0" err="1">
                <a:solidFill>
                  <a:srgbClr val="8ECAE6"/>
                </a:solidFill>
                <a:effectLst/>
                <a:uFillTx/>
                <a:latin typeface="Calibri"/>
              </a:rPr>
              <a:t>Nie</a:t>
            </a:r>
            <a:r>
              <a:rPr lang="en-US" sz="1100" b="0" u="none" strike="noStrike" dirty="0">
                <a:solidFill>
                  <a:srgbClr val="8ECAE6"/>
                </a:solidFill>
                <a:effectLst/>
                <a:uFillTx/>
                <a:latin typeface="Calibri"/>
              </a:rPr>
              <a:t> </a:t>
            </a:r>
            <a:r>
              <a:rPr lang="en-US" sz="1100" b="0" u="none" strike="noStrike" dirty="0" err="1">
                <a:solidFill>
                  <a:srgbClr val="8ECAE6"/>
                </a:solidFill>
                <a:effectLst/>
                <a:uFillTx/>
                <a:latin typeface="Calibri"/>
              </a:rPr>
              <a:t>starszy</a:t>
            </a:r>
            <a:r>
              <a:rPr lang="en-US" sz="1100" b="0" u="none" strike="noStrike" dirty="0">
                <a:solidFill>
                  <a:srgbClr val="8ECAE6"/>
                </a:solidFill>
                <a:effectLst/>
                <a:uFillTx/>
                <a:latin typeface="Calibri"/>
              </a:rPr>
              <a:t> </a:t>
            </a:r>
            <a:r>
              <a:rPr lang="en-US" sz="1100" b="0" u="none" strike="noStrike" dirty="0" err="1">
                <a:solidFill>
                  <a:srgbClr val="8ECAE6"/>
                </a:solidFill>
                <a:effectLst/>
                <a:uFillTx/>
                <a:latin typeface="Calibri"/>
              </a:rPr>
              <a:t>niż</a:t>
            </a:r>
            <a:r>
              <a:rPr lang="en-US" sz="1100" b="0" u="none" strike="noStrike" dirty="0">
                <a:solidFill>
                  <a:srgbClr val="8ECAE6"/>
                </a:solidFill>
                <a:effectLst/>
                <a:uFillTx/>
                <a:latin typeface="Calibri"/>
              </a:rPr>
              <a:t> 2 </a:t>
            </a:r>
            <a:r>
              <a:rPr lang="en-US" sz="1100" b="0" u="none" strike="noStrike" dirty="0" err="1">
                <a:solidFill>
                  <a:srgbClr val="8ECAE6"/>
                </a:solidFill>
                <a:effectLst/>
                <a:uFillTx/>
                <a:latin typeface="Calibri"/>
              </a:rPr>
              <a:t>sprinty</a:t>
            </a:r>
            <a:r>
              <a:rPr lang="en-US" sz="1100" b="0" u="none" strike="noStrike" dirty="0">
                <a:solidFill>
                  <a:srgbClr val="8ECAE6"/>
                </a:solidFill>
                <a:effectLst/>
                <a:uFillTx/>
                <a:latin typeface="Calibri"/>
              </a:rPr>
              <a:t>.</a:t>
            </a:r>
            <a:endParaRPr lang="pl-PL" sz="1100" b="0" u="none" strike="noStrike" dirty="0">
              <a:solidFill>
                <a:srgbClr val="FFFFFF"/>
              </a:solidFill>
              <a:effectLst/>
              <a:uFillTx/>
              <a:latin typeface="Arial"/>
            </a:endParaRPr>
          </a:p>
        </p:txBody>
      </p:sp>
      <p:sp>
        <p:nvSpPr>
          <p:cNvPr id="871" name="Shape 30"/>
          <p:cNvSpPr/>
          <p:nvPr/>
        </p:nvSpPr>
        <p:spPr>
          <a:xfrm>
            <a:off x="4700160" y="2416140"/>
            <a:ext cx="4177800" cy="117828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72" name="Shape 31"/>
          <p:cNvSpPr/>
          <p:nvPr/>
        </p:nvSpPr>
        <p:spPr>
          <a:xfrm>
            <a:off x="4700160" y="2416140"/>
            <a:ext cx="63000" cy="117828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73" name="Text 32"/>
          <p:cNvSpPr/>
          <p:nvPr/>
        </p:nvSpPr>
        <p:spPr>
          <a:xfrm>
            <a:off x="4855320" y="2429820"/>
            <a:ext cx="3607920" cy="234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FF7043"/>
                </a:solidFill>
                <a:effectLst/>
                <a:uFillTx/>
                <a:latin typeface="Calibri"/>
              </a:rPr>
              <a:t>Inadvertent </a:t>
            </a:r>
            <a:r>
              <a:rPr lang="en-US" sz="1800" b="0" u="none" strike="noStrike">
                <a:solidFill>
                  <a:srgbClr val="FF7043"/>
                </a:solidFill>
                <a:effectLst/>
                <a:uFillTx/>
                <a:latin typeface="Calibri"/>
              </a:rPr>
              <a:t>(nieświadomy)</a:t>
            </a:r>
            <a:endParaRPr lang="pl-PL" sz="1800" b="0" u="none" strike="noStrike">
              <a:solidFill>
                <a:srgbClr val="FFFFFF"/>
              </a:solidFill>
              <a:effectLst/>
              <a:uFillTx/>
              <a:latin typeface="Arial"/>
            </a:endParaRPr>
          </a:p>
        </p:txBody>
      </p:sp>
      <p:sp>
        <p:nvSpPr>
          <p:cNvPr id="874" name="Text 33"/>
          <p:cNvSpPr/>
          <p:nvPr/>
        </p:nvSpPr>
        <p:spPr>
          <a:xfrm>
            <a:off x="4855320" y="2741445"/>
            <a:ext cx="3954960" cy="42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400" b="0" u="none" strike="noStrike" spc="-20" dirty="0">
                <a:solidFill>
                  <a:srgbClr val="FFFFFF"/>
                </a:solidFill>
                <a:effectLst/>
                <a:uFillTx/>
                <a:latin typeface="Calibri"/>
              </a:rPr>
              <a:t>"Nie wiedzieliśmy że tak nie powinno się robić." Pojawia się przy wzroście know-how lub zmianie standardów.</a:t>
            </a:r>
            <a:endParaRPr lang="pl-PL" sz="1400" b="0" u="none" strike="noStrike" spc="-20" dirty="0">
              <a:solidFill>
                <a:srgbClr val="FFFFFF"/>
              </a:solidFill>
              <a:effectLst/>
              <a:uFillTx/>
              <a:latin typeface="Arial"/>
            </a:endParaRPr>
          </a:p>
        </p:txBody>
      </p:sp>
      <p:sp>
        <p:nvSpPr>
          <p:cNvPr id="875" name="Text 34"/>
          <p:cNvSpPr/>
          <p:nvPr/>
        </p:nvSpPr>
        <p:spPr>
          <a:xfrm>
            <a:off x="4855320" y="3300045"/>
            <a:ext cx="3700800" cy="266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a:solidFill>
                  <a:srgbClr val="8ECAE6"/>
                </a:solidFill>
                <a:effectLst/>
                <a:uFillTx/>
                <a:latin typeface="Calibri"/>
              </a:rPr>
              <a:t>Action: Coding guidelines + regular Tech Debt Sprint co Q.</a:t>
            </a:r>
            <a:endParaRPr lang="pl-PL" sz="1100" b="0" u="none" strike="noStrike" dirty="0">
              <a:solidFill>
                <a:srgbClr val="FFFFFF"/>
              </a:solidFill>
              <a:effectLst/>
              <a:uFillTx/>
              <a:latin typeface="Arial"/>
            </a:endParaRPr>
          </a:p>
        </p:txBody>
      </p:sp>
      <p:sp>
        <p:nvSpPr>
          <p:cNvPr id="876" name="Shape 35"/>
          <p:cNvSpPr/>
          <p:nvPr/>
        </p:nvSpPr>
        <p:spPr>
          <a:xfrm>
            <a:off x="384120" y="3703140"/>
            <a:ext cx="4177800" cy="1178280"/>
          </a:xfrm>
          <a:prstGeom prst="rect">
            <a:avLst/>
          </a:prstGeom>
          <a:solidFill>
            <a:srgbClr val="0A2540"/>
          </a:solidFill>
          <a:ln w="889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77" name="Shape 36"/>
          <p:cNvSpPr/>
          <p:nvPr/>
        </p:nvSpPr>
        <p:spPr>
          <a:xfrm>
            <a:off x="384120" y="3703140"/>
            <a:ext cx="63000" cy="117828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78" name="Text 37"/>
          <p:cNvSpPr/>
          <p:nvPr/>
        </p:nvSpPr>
        <p:spPr>
          <a:xfrm>
            <a:off x="539640" y="3716820"/>
            <a:ext cx="2983680" cy="234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EF5350"/>
                </a:solidFill>
                <a:effectLst/>
                <a:uFillTx/>
                <a:latin typeface="Calibri"/>
              </a:rPr>
              <a:t>Rotten Code </a:t>
            </a:r>
            <a:r>
              <a:rPr lang="en-US" sz="1800" b="0" u="none" strike="noStrike">
                <a:solidFill>
                  <a:srgbClr val="EF5350"/>
                </a:solidFill>
                <a:effectLst/>
                <a:uFillTx/>
                <a:latin typeface="Calibri"/>
              </a:rPr>
              <a:t>(degradacja)</a:t>
            </a:r>
            <a:endParaRPr lang="pl-PL" sz="1800" b="0" u="none" strike="noStrike">
              <a:solidFill>
                <a:srgbClr val="FFFFFF"/>
              </a:solidFill>
              <a:effectLst/>
              <a:uFillTx/>
              <a:latin typeface="Arial"/>
            </a:endParaRPr>
          </a:p>
        </p:txBody>
      </p:sp>
      <p:sp>
        <p:nvSpPr>
          <p:cNvPr id="879" name="Text 38"/>
          <p:cNvSpPr/>
          <p:nvPr/>
        </p:nvSpPr>
        <p:spPr>
          <a:xfrm>
            <a:off x="539640" y="4057020"/>
            <a:ext cx="3885120" cy="42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400" b="0" u="none" strike="noStrike">
                <a:solidFill>
                  <a:srgbClr val="FFFFFF"/>
                </a:solidFill>
                <a:effectLst/>
                <a:uFillTx/>
                <a:latin typeface="Calibri"/>
              </a:rPr>
              <a:t>Biblioteka nieaktualizowana od 2 lat. Deprecated API. Kod który "nikt nie dotyka bo boi się". Timebomb.</a:t>
            </a:r>
            <a:endParaRPr lang="pl-PL" sz="1400" b="0" u="none" strike="noStrike">
              <a:solidFill>
                <a:srgbClr val="FFFFFF"/>
              </a:solidFill>
              <a:effectLst/>
              <a:uFillTx/>
              <a:latin typeface="Arial"/>
            </a:endParaRPr>
          </a:p>
        </p:txBody>
      </p:sp>
      <p:sp>
        <p:nvSpPr>
          <p:cNvPr id="880" name="Text 39"/>
          <p:cNvSpPr/>
          <p:nvPr/>
        </p:nvSpPr>
        <p:spPr>
          <a:xfrm>
            <a:off x="539640" y="4587045"/>
            <a:ext cx="3885120" cy="266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u="none" strike="noStrike">
                <a:solidFill>
                  <a:srgbClr val="8ECAE6"/>
                </a:solidFill>
                <a:effectLst/>
                <a:uFillTx/>
                <a:latin typeface="Calibri"/>
              </a:rPr>
              <a:t>Action: Dependency audit co sprint. Automatyczne Dependabot/Renovate.</a:t>
            </a:r>
            <a:endParaRPr lang="pl-PL" sz="1000" b="0" u="none" strike="noStrike">
              <a:solidFill>
                <a:srgbClr val="FFFFFF"/>
              </a:solidFill>
              <a:effectLst/>
              <a:uFillTx/>
              <a:latin typeface="Arial"/>
            </a:endParaRPr>
          </a:p>
        </p:txBody>
      </p:sp>
      <p:sp>
        <p:nvSpPr>
          <p:cNvPr id="881" name="Shape 40"/>
          <p:cNvSpPr/>
          <p:nvPr/>
        </p:nvSpPr>
        <p:spPr>
          <a:xfrm>
            <a:off x="4700160" y="3703140"/>
            <a:ext cx="4177800" cy="1178280"/>
          </a:xfrm>
          <a:prstGeom prst="rect">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82" name="Shape 41"/>
          <p:cNvSpPr/>
          <p:nvPr/>
        </p:nvSpPr>
        <p:spPr>
          <a:xfrm>
            <a:off x="4700160" y="3703140"/>
            <a:ext cx="63000" cy="117828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83" name="Text 42"/>
          <p:cNvSpPr/>
          <p:nvPr/>
        </p:nvSpPr>
        <p:spPr>
          <a:xfrm>
            <a:off x="4855320" y="3752820"/>
            <a:ext cx="2047320" cy="234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u="none" strike="noStrike">
                <a:solidFill>
                  <a:srgbClr val="7C4DFF"/>
                </a:solidFill>
                <a:effectLst/>
                <a:uFillTx/>
                <a:latin typeface="Calibri"/>
              </a:rPr>
              <a:t>Test Debt</a:t>
            </a:r>
            <a:endParaRPr lang="pl-PL" sz="1800" b="0" u="none" strike="noStrike">
              <a:solidFill>
                <a:srgbClr val="FFFFFF"/>
              </a:solidFill>
              <a:effectLst/>
              <a:uFillTx/>
              <a:latin typeface="Arial"/>
            </a:endParaRPr>
          </a:p>
        </p:txBody>
      </p:sp>
      <p:sp>
        <p:nvSpPr>
          <p:cNvPr id="884" name="Text 43"/>
          <p:cNvSpPr/>
          <p:nvPr/>
        </p:nvSpPr>
        <p:spPr>
          <a:xfrm>
            <a:off x="4855320" y="4057020"/>
            <a:ext cx="3885120" cy="42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FFFFFF"/>
                </a:solidFill>
                <a:effectLst/>
                <a:uFillTx/>
                <a:latin typeface="Calibri"/>
              </a:rPr>
              <a:t>Brak testów, flaky testy </a:t>
            </a:r>
            <a:r>
              <a:rPr lang="pl-PL" sz="1400" b="0" u="none" strike="noStrike">
                <a:solidFill>
                  <a:srgbClr val="FFFFFF"/>
                </a:solidFill>
                <a:effectLst/>
                <a:uFillTx/>
                <a:latin typeface="Calibri"/>
              </a:rPr>
              <a:t>ignorowane</a:t>
            </a:r>
            <a:r>
              <a:rPr lang="en-US" sz="1400" b="0" u="none" strike="noStrike">
                <a:solidFill>
                  <a:srgbClr val="FFFFFF"/>
                </a:solidFill>
                <a:effectLst/>
                <a:uFillTx/>
                <a:latin typeface="Calibri"/>
              </a:rPr>
              <a:t>, manual-only regression. Każdy deploy to roulette.</a:t>
            </a:r>
            <a:endParaRPr lang="pl-PL" sz="1400" b="0" u="none" strike="noStrike">
              <a:solidFill>
                <a:srgbClr val="FFFFFF"/>
              </a:solidFill>
              <a:effectLst/>
              <a:uFillTx/>
              <a:latin typeface="Arial"/>
            </a:endParaRPr>
          </a:p>
        </p:txBody>
      </p:sp>
      <p:sp>
        <p:nvSpPr>
          <p:cNvPr id="885" name="Text 44"/>
          <p:cNvSpPr/>
          <p:nvPr/>
        </p:nvSpPr>
        <p:spPr>
          <a:xfrm>
            <a:off x="4855320" y="4587045"/>
            <a:ext cx="3885120" cy="266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u="none" strike="noStrike" spc="-20" dirty="0">
                <a:solidFill>
                  <a:srgbClr val="8ECAE6"/>
                </a:solidFill>
                <a:effectLst/>
                <a:uFillTx/>
                <a:latin typeface="Calibri"/>
              </a:rPr>
              <a:t>Action: Coverage gate w CI (</a:t>
            </a:r>
            <a:r>
              <a:rPr lang="en-US" sz="1050" b="0" u="none" strike="noStrike" spc="-20" dirty="0" err="1">
                <a:solidFill>
                  <a:srgbClr val="8ECAE6"/>
                </a:solidFill>
                <a:effectLst/>
                <a:uFillTx/>
                <a:latin typeface="Calibri"/>
              </a:rPr>
              <a:t>SonarQube</a:t>
            </a:r>
            <a:r>
              <a:rPr lang="en-US" sz="1050" b="0" u="none" strike="noStrike" spc="-20" dirty="0">
                <a:solidFill>
                  <a:srgbClr val="8ECAE6"/>
                </a:solidFill>
                <a:effectLst/>
                <a:uFillTx/>
                <a:latin typeface="Calibri"/>
              </a:rPr>
              <a:t>). </a:t>
            </a:r>
            <a:r>
              <a:rPr lang="en-US" sz="1050" b="0" u="none" strike="noStrike" spc="-20" dirty="0" err="1">
                <a:solidFill>
                  <a:srgbClr val="8ECAE6"/>
                </a:solidFill>
                <a:effectLst/>
                <a:uFillTx/>
                <a:latin typeface="Calibri"/>
              </a:rPr>
              <a:t>Brak</a:t>
            </a:r>
            <a:r>
              <a:rPr lang="en-US" sz="1050" b="0" u="none" strike="noStrike" spc="-20" dirty="0">
                <a:solidFill>
                  <a:srgbClr val="8ECAE6"/>
                </a:solidFill>
                <a:effectLst/>
                <a:uFillTx/>
                <a:latin typeface="Calibri"/>
              </a:rPr>
              <a:t> merge </a:t>
            </a:r>
            <a:r>
              <a:rPr lang="en-US" sz="1050" b="0" u="none" strike="noStrike" spc="-20" dirty="0" err="1">
                <a:solidFill>
                  <a:srgbClr val="8ECAE6"/>
                </a:solidFill>
                <a:effectLst/>
                <a:uFillTx/>
                <a:latin typeface="Calibri"/>
              </a:rPr>
              <a:t>jeśli</a:t>
            </a:r>
            <a:r>
              <a:rPr lang="en-US" sz="1050" b="0" u="none" strike="noStrike" spc="-20" dirty="0">
                <a:solidFill>
                  <a:srgbClr val="8ECAE6"/>
                </a:solidFill>
                <a:effectLst/>
                <a:uFillTx/>
                <a:latin typeface="Calibri"/>
              </a:rPr>
              <a:t> coverage </a:t>
            </a:r>
            <a:r>
              <a:rPr lang="en-US" sz="1050" b="0" u="none" strike="noStrike" spc="-20" dirty="0" err="1">
                <a:solidFill>
                  <a:srgbClr val="8ECAE6"/>
                </a:solidFill>
                <a:effectLst/>
                <a:uFillTx/>
                <a:latin typeface="Calibri"/>
              </a:rPr>
              <a:t>spada</a:t>
            </a:r>
            <a:r>
              <a:rPr lang="en-US" sz="1050" b="0" u="none" strike="noStrike" spc="-20" dirty="0">
                <a:solidFill>
                  <a:srgbClr val="8ECAE6"/>
                </a:solidFill>
                <a:effectLst/>
                <a:uFillTx/>
                <a:latin typeface="Calibri"/>
              </a:rPr>
              <a:t>.</a:t>
            </a:r>
            <a:endParaRPr lang="pl-PL" sz="1050" b="0" u="none" strike="noStrike" spc="-20" dirty="0">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61422"/>
        </a:solidFill>
        <a:effectLst/>
      </p:bgPr>
    </p:bg>
    <p:spTree>
      <p:nvGrpSpPr>
        <p:cNvPr id="1" name=""/>
        <p:cNvGrpSpPr/>
        <p:nvPr/>
      </p:nvGrpSpPr>
      <p:grpSpPr>
        <a:xfrm>
          <a:off x="0" y="0"/>
          <a:ext cx="0" cy="0"/>
          <a:chOff x="0" y="0"/>
          <a:chExt cx="0" cy="0"/>
        </a:xfrm>
      </p:grpSpPr>
      <p:sp>
        <p:nvSpPr>
          <p:cNvPr id="888" name="Shape 0"/>
          <p:cNvSpPr/>
          <p:nvPr/>
        </p:nvSpPr>
        <p:spPr>
          <a:xfrm>
            <a:off x="0" y="0"/>
            <a:ext cx="90360" cy="495504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89" name="Shape 1"/>
          <p:cNvSpPr/>
          <p:nvPr/>
        </p:nvSpPr>
        <p:spPr>
          <a:xfrm>
            <a:off x="0" y="3609974"/>
            <a:ext cx="9142920" cy="1336065"/>
          </a:xfrm>
          <a:prstGeom prst="rect">
            <a:avLst/>
          </a:prstGeom>
          <a:solidFill>
            <a:srgbClr val="081828"/>
          </a:solidFill>
          <a:ln w="12700">
            <a:solidFill>
              <a:srgbClr val="08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90" name="Shape 2"/>
          <p:cNvSpPr/>
          <p:nvPr/>
        </p:nvSpPr>
        <p:spPr>
          <a:xfrm>
            <a:off x="502920" y="732240"/>
            <a:ext cx="1198440" cy="273240"/>
          </a:xfrm>
          <a:prstGeom prst="roundRect">
            <a:avLst>
              <a:gd name="adj" fmla="val 26667"/>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91" name="Text 3"/>
          <p:cNvSpPr/>
          <p:nvPr/>
        </p:nvSpPr>
        <p:spPr>
          <a:xfrm>
            <a:off x="502920" y="732240"/>
            <a:ext cx="11984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200" b="1" u="none" strike="noStrike">
                <a:solidFill>
                  <a:srgbClr val="FFFFFF"/>
                </a:solidFill>
                <a:effectLst/>
                <a:uFillTx/>
                <a:latin typeface="Calibri"/>
              </a:rPr>
              <a:t>ROZDZIAŁ 10</a:t>
            </a:r>
            <a:endParaRPr lang="pl-PL" sz="1200" b="0" u="none" strike="noStrike">
              <a:solidFill>
                <a:srgbClr val="FFFFFF"/>
              </a:solidFill>
              <a:effectLst/>
              <a:uFillTx/>
              <a:latin typeface="Arial"/>
            </a:endParaRPr>
          </a:p>
        </p:txBody>
      </p:sp>
      <p:sp>
        <p:nvSpPr>
          <p:cNvPr id="892" name="Text 4"/>
          <p:cNvSpPr/>
          <p:nvPr/>
        </p:nvSpPr>
        <p:spPr>
          <a:xfrm>
            <a:off x="502920" y="1065960"/>
            <a:ext cx="8045640" cy="15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pl-PL" sz="4000" b="1" u="none" strike="noStrike">
                <a:solidFill>
                  <a:srgbClr val="FFFFFF"/>
                </a:solidFill>
                <a:effectLst/>
                <a:uFillTx/>
                <a:latin typeface="Calibri"/>
              </a:rPr>
              <a:t>Launch, </a:t>
            </a:r>
            <a:endParaRPr lang="pl-PL" sz="4000" b="0" u="none" strike="noStrike">
              <a:solidFill>
                <a:srgbClr val="FFFFFF"/>
              </a:solidFill>
              <a:effectLst/>
              <a:uFillTx/>
              <a:latin typeface="Arial"/>
            </a:endParaRPr>
          </a:p>
          <a:p>
            <a:pPr defTabSz="914400">
              <a:lnSpc>
                <a:spcPct val="100000"/>
              </a:lnSpc>
            </a:pPr>
            <a:r>
              <a:rPr lang="pl-PL" sz="4000" b="1" u="none" strike="noStrike">
                <a:solidFill>
                  <a:srgbClr val="FFFFFF"/>
                </a:solidFill>
                <a:effectLst/>
                <a:uFillTx/>
                <a:latin typeface="Calibri"/>
              </a:rPr>
              <a:t>	launch </a:t>
            </a:r>
            <a:endParaRPr lang="pl-PL" sz="4000" b="0" u="none" strike="noStrike">
              <a:solidFill>
                <a:srgbClr val="FFFFFF"/>
              </a:solidFill>
              <a:effectLst/>
              <a:uFillTx/>
              <a:latin typeface="Arial"/>
            </a:endParaRPr>
          </a:p>
          <a:p>
            <a:pPr defTabSz="914400">
              <a:lnSpc>
                <a:spcPct val="100000"/>
              </a:lnSpc>
            </a:pPr>
            <a:r>
              <a:rPr lang="pl-PL" sz="4000" b="1" u="none" strike="noStrike">
                <a:solidFill>
                  <a:srgbClr val="FFFFFF"/>
                </a:solidFill>
                <a:effectLst/>
                <a:uFillTx/>
                <a:latin typeface="Calibri"/>
              </a:rPr>
              <a:t>		i po-launchu</a:t>
            </a:r>
            <a:endParaRPr lang="pl-PL" sz="4000" b="0" u="none" strike="noStrike">
              <a:solidFill>
                <a:srgbClr val="FFFFFF"/>
              </a:solidFill>
              <a:effectLst/>
              <a:uFillTx/>
              <a:latin typeface="Arial"/>
            </a:endParaRPr>
          </a:p>
        </p:txBody>
      </p:sp>
      <p:sp>
        <p:nvSpPr>
          <p:cNvPr id="893" name="Text 5"/>
          <p:cNvSpPr/>
          <p:nvPr/>
        </p:nvSpPr>
        <p:spPr>
          <a:xfrm>
            <a:off x="502920" y="3787290"/>
            <a:ext cx="6856920" cy="59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600" b="0" u="none" strike="noStrike" dirty="0" err="1">
                <a:solidFill>
                  <a:srgbClr val="8ECAE6"/>
                </a:solidFill>
                <a:effectLst/>
                <a:uFillTx/>
                <a:latin typeface="Calibri"/>
              </a:rPr>
              <a:t>App</a:t>
            </a:r>
            <a:r>
              <a:rPr lang="pl-PL" sz="1600" b="0" u="none" strike="noStrike" dirty="0">
                <a:solidFill>
                  <a:srgbClr val="8ECAE6"/>
                </a:solidFill>
                <a:effectLst/>
                <a:uFillTx/>
                <a:latin typeface="Calibri"/>
              </a:rPr>
              <a:t> </a:t>
            </a:r>
            <a:r>
              <a:rPr lang="pl-PL" sz="1600" b="0" u="none" strike="noStrike" dirty="0" err="1">
                <a:solidFill>
                  <a:srgbClr val="8ECAE6"/>
                </a:solidFill>
                <a:effectLst/>
                <a:uFillTx/>
                <a:latin typeface="Calibri"/>
              </a:rPr>
              <a:t>Store</a:t>
            </a:r>
            <a:r>
              <a:rPr lang="pl-PL" sz="1600" b="0" u="none" strike="noStrike" dirty="0">
                <a:solidFill>
                  <a:srgbClr val="8ECAE6"/>
                </a:solidFill>
                <a:effectLst/>
                <a:uFillTx/>
                <a:latin typeface="Calibri"/>
              </a:rPr>
              <a:t> </a:t>
            </a:r>
            <a:r>
              <a:rPr lang="pl-PL" sz="1600" b="0" u="none" strike="noStrike" dirty="0" err="1">
                <a:solidFill>
                  <a:srgbClr val="8ECAE6"/>
                </a:solidFill>
                <a:effectLst/>
                <a:uFillTx/>
                <a:latin typeface="Calibri"/>
              </a:rPr>
              <a:t>submission</a:t>
            </a:r>
            <a:r>
              <a:rPr lang="pl-PL" sz="1600" b="0" u="none" strike="noStrike" dirty="0">
                <a:solidFill>
                  <a:srgbClr val="8ECAE6"/>
                </a:solidFill>
                <a:effectLst/>
                <a:uFillTx/>
                <a:latin typeface="Calibri"/>
              </a:rPr>
              <a:t>, metryki sukcesu, zarządzanie kryzysem i iteracja.</a:t>
            </a:r>
            <a:endParaRPr lang="pl-PL" sz="1600" b="0" u="none" strike="noStrike" dirty="0">
              <a:solidFill>
                <a:srgbClr val="FFFFFF"/>
              </a:solidFill>
              <a:effectLst/>
              <a:uFillTx/>
              <a:latin typeface="Arial"/>
            </a:endParaRPr>
          </a:p>
        </p:txBody>
      </p:sp>
      <p:sp>
        <p:nvSpPr>
          <p:cNvPr id="894" name="Shape 6"/>
          <p:cNvSpPr/>
          <p:nvPr/>
        </p:nvSpPr>
        <p:spPr>
          <a:xfrm>
            <a:off x="502560" y="4131450"/>
            <a:ext cx="5279040" cy="360"/>
          </a:xfrm>
          <a:prstGeom prst="line">
            <a:avLst/>
          </a:prstGeom>
          <a:ln w="15240">
            <a:solidFill>
              <a:srgbClr val="EF5350"/>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895" name="Shape 8"/>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896" name="Text 11"/>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25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899" name="Text 2"/>
          <p:cNvSpPr/>
          <p:nvPr/>
        </p:nvSpPr>
        <p:spPr>
          <a:xfrm>
            <a:off x="439200" y="73080"/>
            <a:ext cx="82832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en-US" sz="2000" dirty="0">
                <a:solidFill>
                  <a:srgbClr val="FFFFFF"/>
                </a:solidFill>
              </a:rPr>
              <a:t>Checklist</a:t>
            </a:r>
            <a:r>
              <a:rPr lang="pl-PL" sz="2000" dirty="0">
                <a:solidFill>
                  <a:srgbClr val="FFFFFF"/>
                </a:solidFill>
              </a:rPr>
              <a:t>a przed publikacją</a:t>
            </a:r>
            <a:endParaRPr lang="pl-PL" sz="2000" u="none" strike="noStrike" dirty="0">
              <a:solidFill>
                <a:srgbClr val="FFFFFF"/>
              </a:solidFill>
              <a:effectLst/>
              <a:uFillTx/>
              <a:latin typeface="Arial"/>
            </a:endParaRPr>
          </a:p>
        </p:txBody>
      </p:sp>
      <p:sp>
        <p:nvSpPr>
          <p:cNvPr id="900"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grpSp>
        <p:nvGrpSpPr>
          <p:cNvPr id="3" name="Grupa 2"/>
          <p:cNvGrpSpPr/>
          <p:nvPr/>
        </p:nvGrpSpPr>
        <p:grpSpPr>
          <a:xfrm>
            <a:off x="347760" y="833039"/>
            <a:ext cx="8493840" cy="3243495"/>
            <a:chOff x="384120" y="916305"/>
            <a:chExt cx="8493840" cy="3016500"/>
          </a:xfrm>
        </p:grpSpPr>
        <p:sp>
          <p:nvSpPr>
            <p:cNvPr id="902" name="Shape 5"/>
            <p:cNvSpPr/>
            <p:nvPr/>
          </p:nvSpPr>
          <p:spPr>
            <a:xfrm>
              <a:off x="384120" y="916305"/>
              <a:ext cx="4177800" cy="497880"/>
            </a:xfrm>
            <a:prstGeom prst="rect">
              <a:avLst/>
            </a:prstGeom>
            <a:solidFill>
              <a:srgbClr val="0A2540"/>
            </a:solidFill>
            <a:ln w="508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03" name="Text 6"/>
            <p:cNvSpPr/>
            <p:nvPr/>
          </p:nvSpPr>
          <p:spPr>
            <a:xfrm>
              <a:off x="475560" y="982875"/>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dirty="0">
                  <a:solidFill>
                    <a:schemeClr val="bg1"/>
                  </a:solidFill>
                  <a:effectLst/>
                  <a:uFillTx/>
                  <a:latin typeface="Calibri"/>
                </a:rPr>
                <a:t>□ </a:t>
              </a:r>
              <a:r>
                <a:rPr lang="en-US" sz="1600" b="1" u="none" strike="noStrike" dirty="0">
                  <a:solidFill>
                    <a:schemeClr val="bg1"/>
                  </a:solidFill>
                  <a:effectLst/>
                  <a:uFillTx/>
                  <a:latin typeface="Calibri"/>
                </a:rPr>
                <a:t>App Store Screenshots</a:t>
              </a:r>
              <a:endParaRPr lang="pl-PL" sz="1600" b="0" u="none" strike="noStrike" dirty="0">
                <a:solidFill>
                  <a:schemeClr val="bg1"/>
                </a:solidFill>
                <a:effectLst/>
                <a:uFillTx/>
                <a:latin typeface="Arial"/>
              </a:endParaRPr>
            </a:p>
          </p:txBody>
        </p:sp>
        <p:sp>
          <p:nvSpPr>
            <p:cNvPr id="904" name="Text 7"/>
            <p:cNvSpPr/>
            <p:nvPr/>
          </p:nvSpPr>
          <p:spPr>
            <a:xfrm>
              <a:off x="658440" y="1186305"/>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a:solidFill>
                    <a:srgbClr val="8ECAE6"/>
                  </a:solidFill>
                  <a:effectLst/>
                  <a:uFillTx/>
                  <a:latin typeface="Calibri"/>
                </a:rPr>
                <a:t>6.7" + 6.5" + 12.9" + 5.5". Tekst marketingowy na grafice.</a:t>
              </a:r>
              <a:endParaRPr lang="pl-PL" sz="1200" b="0" u="none" strike="noStrike">
                <a:solidFill>
                  <a:srgbClr val="FFFFFF"/>
                </a:solidFill>
                <a:effectLst/>
                <a:uFillTx/>
                <a:latin typeface="Arial"/>
              </a:endParaRPr>
            </a:p>
          </p:txBody>
        </p:sp>
        <p:sp>
          <p:nvSpPr>
            <p:cNvPr id="905" name="Shape 8"/>
            <p:cNvSpPr/>
            <p:nvPr/>
          </p:nvSpPr>
          <p:spPr>
            <a:xfrm>
              <a:off x="4700160" y="916305"/>
              <a:ext cx="4177800" cy="497880"/>
            </a:xfrm>
            <a:prstGeom prst="rect">
              <a:avLst/>
            </a:prstGeom>
            <a:solidFill>
              <a:srgbClr val="0A2540"/>
            </a:solidFill>
            <a:ln w="508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06" name="Text 9"/>
            <p:cNvSpPr/>
            <p:nvPr/>
          </p:nvSpPr>
          <p:spPr>
            <a:xfrm>
              <a:off x="4791600" y="982875"/>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a:solidFill>
                    <a:schemeClr val="bg1"/>
                  </a:solidFill>
                  <a:effectLst/>
                  <a:uFillTx/>
                  <a:latin typeface="Calibri"/>
                </a:rPr>
                <a:t>□ </a:t>
              </a:r>
              <a:r>
                <a:rPr lang="en-US" sz="1600" b="1" u="none" strike="noStrike">
                  <a:solidFill>
                    <a:schemeClr val="bg1"/>
                  </a:solidFill>
                  <a:effectLst/>
                  <a:uFillTx/>
                  <a:latin typeface="Calibri"/>
                </a:rPr>
                <a:t>App Preview Video</a:t>
              </a:r>
              <a:endParaRPr lang="pl-PL" sz="1600" b="0" u="none" strike="noStrike">
                <a:solidFill>
                  <a:schemeClr val="bg1"/>
                </a:solidFill>
                <a:effectLst/>
                <a:uFillTx/>
                <a:latin typeface="Arial"/>
              </a:endParaRPr>
            </a:p>
          </p:txBody>
        </p:sp>
        <p:sp>
          <p:nvSpPr>
            <p:cNvPr id="907" name="Text 10"/>
            <p:cNvSpPr/>
            <p:nvPr/>
          </p:nvSpPr>
          <p:spPr>
            <a:xfrm>
              <a:off x="4974480" y="1186305"/>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dirty="0">
                  <a:solidFill>
                    <a:srgbClr val="8ECAE6"/>
                  </a:solidFill>
                  <a:effectLst/>
                  <a:uFillTx/>
                  <a:latin typeface="Calibri"/>
                </a:rPr>
                <a:t>15-30s. </a:t>
              </a:r>
              <a:r>
                <a:rPr lang="en-US" sz="1200" b="0" u="none" strike="noStrike" dirty="0" err="1">
                  <a:solidFill>
                    <a:srgbClr val="8ECAE6"/>
                  </a:solidFill>
                  <a:effectLst/>
                  <a:uFillTx/>
                  <a:latin typeface="Calibri"/>
                </a:rPr>
                <a:t>Pierwsze</a:t>
              </a:r>
              <a:r>
                <a:rPr lang="en-US" sz="1200" b="0" u="none" strike="noStrike" dirty="0">
                  <a:solidFill>
                    <a:srgbClr val="8ECAE6"/>
                  </a:solidFill>
                  <a:effectLst/>
                  <a:uFillTx/>
                  <a:latin typeface="Calibri"/>
                </a:rPr>
                <a:t> 3 </a:t>
              </a:r>
              <a:r>
                <a:rPr lang="en-US" sz="1200" b="0" u="none" strike="noStrike" dirty="0" err="1">
                  <a:solidFill>
                    <a:srgbClr val="8ECAE6"/>
                  </a:solidFill>
                  <a:effectLst/>
                  <a:uFillTx/>
                  <a:latin typeface="Calibri"/>
                </a:rPr>
                <a:t>sekundy</a:t>
              </a:r>
              <a:r>
                <a:rPr lang="en-US" sz="1200" b="0" u="none" strike="noStrike" dirty="0">
                  <a:solidFill>
                    <a:srgbClr val="8ECAE6"/>
                  </a:solidFill>
                  <a:effectLst/>
                  <a:uFillTx/>
                  <a:latin typeface="Calibri"/>
                </a:rPr>
                <a:t> </a:t>
              </a:r>
              <a:r>
                <a:rPr lang="en-US" sz="1200" b="0" u="none" strike="noStrike" dirty="0" err="1">
                  <a:solidFill>
                    <a:srgbClr val="8ECAE6"/>
                  </a:solidFill>
                  <a:effectLst/>
                  <a:uFillTx/>
                  <a:latin typeface="Calibri"/>
                </a:rPr>
                <a:t>krytyczne</a:t>
              </a:r>
              <a:r>
                <a:rPr lang="en-US" sz="1200" b="0" u="none" strike="noStrike" dirty="0">
                  <a:solidFill>
                    <a:srgbClr val="8ECAE6"/>
                  </a:solidFill>
                  <a:effectLst/>
                  <a:uFillTx/>
                  <a:latin typeface="Calibri"/>
                </a:rPr>
                <a:t>. Bez </a:t>
              </a:r>
              <a:r>
                <a:rPr lang="en-US" sz="1200" b="0" u="none" strike="noStrike" dirty="0" err="1" smtClean="0">
                  <a:solidFill>
                    <a:srgbClr val="8ECAE6"/>
                  </a:solidFill>
                  <a:effectLst/>
                  <a:uFillTx/>
                  <a:latin typeface="Calibri"/>
                </a:rPr>
                <a:t>lektora</a:t>
              </a:r>
              <a:r>
                <a:rPr lang="pl-PL" sz="1200" b="0" u="none" strike="noStrike" dirty="0" smtClean="0">
                  <a:solidFill>
                    <a:srgbClr val="8ECAE6"/>
                  </a:solidFill>
                  <a:effectLst/>
                  <a:uFillTx/>
                  <a:latin typeface="Calibri"/>
                </a:rPr>
                <a:t>/głosu</a:t>
              </a:r>
              <a:r>
                <a:rPr lang="en-US" sz="1200" b="0" u="none" strike="noStrike" dirty="0" smtClean="0">
                  <a:solidFill>
                    <a:srgbClr val="8ECAE6"/>
                  </a:solidFill>
                  <a:effectLst/>
                  <a:uFillTx/>
                  <a:latin typeface="Calibri"/>
                </a:rPr>
                <a:t>.</a:t>
              </a:r>
              <a:endParaRPr lang="pl-PL" sz="1200" b="0" u="none" strike="noStrike" dirty="0">
                <a:solidFill>
                  <a:srgbClr val="FFFFFF"/>
                </a:solidFill>
                <a:effectLst/>
                <a:uFillTx/>
                <a:latin typeface="Arial"/>
              </a:endParaRPr>
            </a:p>
          </p:txBody>
        </p:sp>
        <p:sp>
          <p:nvSpPr>
            <p:cNvPr id="908" name="Shape 11"/>
            <p:cNvSpPr/>
            <p:nvPr/>
          </p:nvSpPr>
          <p:spPr>
            <a:xfrm>
              <a:off x="384120" y="1546050"/>
              <a:ext cx="4177800" cy="497880"/>
            </a:xfrm>
            <a:prstGeom prst="rect">
              <a:avLst/>
            </a:prstGeom>
            <a:solidFill>
              <a:srgbClr val="0A2540"/>
            </a:solidFill>
            <a:ln w="508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09" name="Text 12"/>
            <p:cNvSpPr/>
            <p:nvPr/>
          </p:nvSpPr>
          <p:spPr>
            <a:xfrm>
              <a:off x="475560" y="1612620"/>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dirty="0">
                  <a:solidFill>
                    <a:schemeClr val="bg1"/>
                  </a:solidFill>
                  <a:effectLst/>
                  <a:uFillTx/>
                  <a:latin typeface="Calibri"/>
                </a:rPr>
                <a:t>□ </a:t>
              </a:r>
              <a:r>
                <a:rPr lang="en-US" sz="1600" b="1" u="none" strike="noStrike" dirty="0">
                  <a:solidFill>
                    <a:schemeClr val="bg1"/>
                  </a:solidFill>
                  <a:effectLst/>
                  <a:uFillTx/>
                  <a:latin typeface="Calibri"/>
                </a:rPr>
                <a:t>Keywords (ASO)</a:t>
              </a:r>
              <a:endParaRPr lang="pl-PL" sz="1600" b="0" u="none" strike="noStrike" dirty="0">
                <a:solidFill>
                  <a:schemeClr val="bg1"/>
                </a:solidFill>
                <a:effectLst/>
                <a:uFillTx/>
                <a:latin typeface="Arial"/>
              </a:endParaRPr>
            </a:p>
          </p:txBody>
        </p:sp>
        <p:sp>
          <p:nvSpPr>
            <p:cNvPr id="910" name="Text 13"/>
            <p:cNvSpPr/>
            <p:nvPr/>
          </p:nvSpPr>
          <p:spPr>
            <a:xfrm>
              <a:off x="658440" y="1815690"/>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a:solidFill>
                    <a:srgbClr val="8ECAE6"/>
                  </a:solidFill>
                  <a:effectLst/>
                  <a:uFillTx/>
                  <a:latin typeface="Calibri"/>
                </a:rPr>
                <a:t>Max 100 znaków. Nie powtarzaj nazwy. Używaj SensorTower.</a:t>
              </a:r>
              <a:endParaRPr lang="pl-PL" sz="1200" b="0" u="none" strike="noStrike">
                <a:solidFill>
                  <a:srgbClr val="FFFFFF"/>
                </a:solidFill>
                <a:effectLst/>
                <a:uFillTx/>
                <a:latin typeface="Arial"/>
              </a:endParaRPr>
            </a:p>
          </p:txBody>
        </p:sp>
        <p:sp>
          <p:nvSpPr>
            <p:cNvPr id="911" name="Shape 14"/>
            <p:cNvSpPr/>
            <p:nvPr/>
          </p:nvSpPr>
          <p:spPr>
            <a:xfrm>
              <a:off x="4700160" y="1546050"/>
              <a:ext cx="4177800" cy="497880"/>
            </a:xfrm>
            <a:prstGeom prst="rect">
              <a:avLst/>
            </a:prstGeom>
            <a:solidFill>
              <a:srgbClr val="0A2540"/>
            </a:solidFill>
            <a:ln w="508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12" name="Text 15"/>
            <p:cNvSpPr/>
            <p:nvPr/>
          </p:nvSpPr>
          <p:spPr>
            <a:xfrm>
              <a:off x="4791600" y="1612620"/>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a:solidFill>
                    <a:schemeClr val="bg1"/>
                  </a:solidFill>
                  <a:effectLst/>
                  <a:uFillTx/>
                  <a:latin typeface="Calibri"/>
                </a:rPr>
                <a:t>□ </a:t>
              </a:r>
              <a:r>
                <a:rPr lang="en-US" sz="1600" b="1" u="none" strike="noStrike">
                  <a:solidFill>
                    <a:schemeClr val="bg1"/>
                  </a:solidFill>
                  <a:effectLst/>
                  <a:uFillTx/>
                  <a:latin typeface="Calibri"/>
                </a:rPr>
                <a:t>Privacy Policy URL</a:t>
              </a:r>
              <a:endParaRPr lang="pl-PL" sz="1600" b="0" u="none" strike="noStrike">
                <a:solidFill>
                  <a:schemeClr val="bg1"/>
                </a:solidFill>
                <a:effectLst/>
                <a:uFillTx/>
                <a:latin typeface="Arial"/>
              </a:endParaRPr>
            </a:p>
          </p:txBody>
        </p:sp>
        <p:sp>
          <p:nvSpPr>
            <p:cNvPr id="913" name="Text 16"/>
            <p:cNvSpPr/>
            <p:nvPr/>
          </p:nvSpPr>
          <p:spPr>
            <a:xfrm>
              <a:off x="4974480" y="1815690"/>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a:solidFill>
                    <a:srgbClr val="8ECAE6"/>
                  </a:solidFill>
                  <a:effectLst/>
                  <a:uFillTx/>
                  <a:latin typeface="Calibri"/>
                </a:rPr>
                <a:t>HTTPS. Wymagana dla apps z logowaniem lub analityką.</a:t>
              </a:r>
              <a:endParaRPr lang="pl-PL" sz="1200" b="0" u="none" strike="noStrike">
                <a:solidFill>
                  <a:srgbClr val="FFFFFF"/>
                </a:solidFill>
                <a:effectLst/>
                <a:uFillTx/>
                <a:latin typeface="Arial"/>
              </a:endParaRPr>
            </a:p>
          </p:txBody>
        </p:sp>
        <p:sp>
          <p:nvSpPr>
            <p:cNvPr id="914" name="Shape 17"/>
            <p:cNvSpPr/>
            <p:nvPr/>
          </p:nvSpPr>
          <p:spPr>
            <a:xfrm>
              <a:off x="384120" y="2175795"/>
              <a:ext cx="4177800" cy="497880"/>
            </a:xfrm>
            <a:prstGeom prst="rect">
              <a:avLst/>
            </a:prstGeom>
            <a:solidFill>
              <a:srgbClr val="0A2540"/>
            </a:solidFill>
            <a:ln w="508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15" name="Text 18"/>
            <p:cNvSpPr/>
            <p:nvPr/>
          </p:nvSpPr>
          <p:spPr>
            <a:xfrm>
              <a:off x="475560" y="2242365"/>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a:solidFill>
                    <a:srgbClr val="4CAF50"/>
                  </a:solidFill>
                  <a:effectLst/>
                  <a:uFillTx/>
                  <a:latin typeface="Calibri"/>
                </a:rPr>
                <a:t>□ </a:t>
              </a:r>
              <a:r>
                <a:rPr lang="en-US" sz="1600" b="1" u="none" strike="noStrike">
                  <a:solidFill>
                    <a:srgbClr val="4CAF50"/>
                  </a:solidFill>
                  <a:effectLst/>
                  <a:uFillTx/>
                  <a:latin typeface="Calibri"/>
                </a:rPr>
                <a:t>Crash rate &lt; 1%</a:t>
              </a:r>
              <a:endParaRPr lang="pl-PL" sz="1600" b="0" u="none" strike="noStrike">
                <a:solidFill>
                  <a:srgbClr val="FFFFFF"/>
                </a:solidFill>
                <a:effectLst/>
                <a:uFillTx/>
                <a:latin typeface="Arial"/>
              </a:endParaRPr>
            </a:p>
          </p:txBody>
        </p:sp>
        <p:sp>
          <p:nvSpPr>
            <p:cNvPr id="916" name="Text 19"/>
            <p:cNvSpPr/>
            <p:nvPr/>
          </p:nvSpPr>
          <p:spPr>
            <a:xfrm>
              <a:off x="658440" y="2445435"/>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a:solidFill>
                    <a:srgbClr val="8ECAE6"/>
                  </a:solidFill>
                  <a:effectLst/>
                  <a:uFillTx/>
                  <a:latin typeface="Calibri"/>
                </a:rPr>
                <a:t>TestFlight beta ≥ 500 users, 7 dni bez P0 bugów.</a:t>
              </a:r>
              <a:endParaRPr lang="pl-PL" sz="1200" b="0" u="none" strike="noStrike">
                <a:solidFill>
                  <a:srgbClr val="FFFFFF"/>
                </a:solidFill>
                <a:effectLst/>
                <a:uFillTx/>
                <a:latin typeface="Arial"/>
              </a:endParaRPr>
            </a:p>
          </p:txBody>
        </p:sp>
        <p:sp>
          <p:nvSpPr>
            <p:cNvPr id="917" name="Shape 20"/>
            <p:cNvSpPr/>
            <p:nvPr/>
          </p:nvSpPr>
          <p:spPr>
            <a:xfrm>
              <a:off x="4700160" y="2175795"/>
              <a:ext cx="4177800" cy="497880"/>
            </a:xfrm>
            <a:prstGeom prst="rect">
              <a:avLst/>
            </a:prstGeom>
            <a:solidFill>
              <a:srgbClr val="0A2540"/>
            </a:solidFill>
            <a:ln w="508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18" name="Text 21"/>
            <p:cNvSpPr/>
            <p:nvPr/>
          </p:nvSpPr>
          <p:spPr>
            <a:xfrm>
              <a:off x="4791600" y="2242365"/>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dirty="0">
                  <a:solidFill>
                    <a:srgbClr val="4CAF50"/>
                  </a:solidFill>
                  <a:effectLst/>
                  <a:uFillTx/>
                  <a:latin typeface="Calibri"/>
                </a:rPr>
                <a:t>□ </a:t>
              </a:r>
              <a:r>
                <a:rPr lang="en-US" sz="1600" b="1" u="none" strike="noStrike" dirty="0">
                  <a:solidFill>
                    <a:srgbClr val="4CAF50"/>
                  </a:solidFill>
                  <a:effectLst/>
                  <a:uFillTx/>
                  <a:latin typeface="Calibri"/>
                </a:rPr>
                <a:t>Accessibility audit</a:t>
              </a:r>
              <a:endParaRPr lang="pl-PL" sz="1600" b="0" u="none" strike="noStrike" dirty="0">
                <a:solidFill>
                  <a:srgbClr val="FFFFFF"/>
                </a:solidFill>
                <a:effectLst/>
                <a:uFillTx/>
                <a:latin typeface="Arial"/>
              </a:endParaRPr>
            </a:p>
          </p:txBody>
        </p:sp>
        <p:sp>
          <p:nvSpPr>
            <p:cNvPr id="919" name="Text 22"/>
            <p:cNvSpPr/>
            <p:nvPr/>
          </p:nvSpPr>
          <p:spPr>
            <a:xfrm>
              <a:off x="4974480" y="2445435"/>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a:solidFill>
                    <a:srgbClr val="8ECAE6"/>
                  </a:solidFill>
                  <a:effectLst/>
                  <a:uFillTx/>
                  <a:latin typeface="Calibri"/>
                </a:rPr>
                <a:t>VoiceOver / TalkBack. Dynamic Type. High Contrast.</a:t>
              </a:r>
              <a:endParaRPr lang="pl-PL" sz="1200" b="0" u="none" strike="noStrike">
                <a:solidFill>
                  <a:srgbClr val="FFFFFF"/>
                </a:solidFill>
                <a:effectLst/>
                <a:uFillTx/>
                <a:latin typeface="Arial"/>
              </a:endParaRPr>
            </a:p>
          </p:txBody>
        </p:sp>
        <p:sp>
          <p:nvSpPr>
            <p:cNvPr id="920" name="Shape 23"/>
            <p:cNvSpPr/>
            <p:nvPr/>
          </p:nvSpPr>
          <p:spPr>
            <a:xfrm>
              <a:off x="384120" y="2805180"/>
              <a:ext cx="4177800" cy="497880"/>
            </a:xfrm>
            <a:prstGeom prst="rect">
              <a:avLst/>
            </a:prstGeom>
            <a:solidFill>
              <a:srgbClr val="0A2540"/>
            </a:solidFill>
            <a:ln w="508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21" name="Text 24"/>
            <p:cNvSpPr/>
            <p:nvPr/>
          </p:nvSpPr>
          <p:spPr>
            <a:xfrm>
              <a:off x="475560" y="2871750"/>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a:solidFill>
                    <a:srgbClr val="4CAF50"/>
                  </a:solidFill>
                  <a:effectLst/>
                  <a:uFillTx/>
                  <a:latin typeface="Calibri"/>
                </a:rPr>
                <a:t>□ </a:t>
              </a:r>
              <a:r>
                <a:rPr lang="en-US" sz="1600" b="1" u="none" strike="noStrike">
                  <a:solidFill>
                    <a:srgbClr val="4CAF50"/>
                  </a:solidFill>
                  <a:effectLst/>
                  <a:uFillTx/>
                  <a:latin typeface="Calibri"/>
                </a:rPr>
                <a:t>Performance baseline</a:t>
              </a:r>
              <a:endParaRPr lang="pl-PL" sz="1600" b="0" u="none" strike="noStrike">
                <a:solidFill>
                  <a:srgbClr val="FFFFFF"/>
                </a:solidFill>
                <a:effectLst/>
                <a:uFillTx/>
                <a:latin typeface="Arial"/>
              </a:endParaRPr>
            </a:p>
          </p:txBody>
        </p:sp>
        <p:sp>
          <p:nvSpPr>
            <p:cNvPr id="922" name="Text 25"/>
            <p:cNvSpPr/>
            <p:nvPr/>
          </p:nvSpPr>
          <p:spPr>
            <a:xfrm>
              <a:off x="658440" y="3075180"/>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a:solidFill>
                    <a:srgbClr val="8ECAE6"/>
                  </a:solidFill>
                  <a:effectLst/>
                  <a:uFillTx/>
                  <a:latin typeface="Calibri"/>
                </a:rPr>
                <a:t>&lt; 3s cold start. &lt; 200ms API latency p95.</a:t>
              </a:r>
              <a:endParaRPr lang="pl-PL" sz="1200" b="0" u="none" strike="noStrike">
                <a:solidFill>
                  <a:srgbClr val="FFFFFF"/>
                </a:solidFill>
                <a:effectLst/>
                <a:uFillTx/>
                <a:latin typeface="Arial"/>
              </a:endParaRPr>
            </a:p>
          </p:txBody>
        </p:sp>
        <p:sp>
          <p:nvSpPr>
            <p:cNvPr id="923" name="Shape 26"/>
            <p:cNvSpPr/>
            <p:nvPr/>
          </p:nvSpPr>
          <p:spPr>
            <a:xfrm>
              <a:off x="4700160" y="2805180"/>
              <a:ext cx="4177800" cy="497880"/>
            </a:xfrm>
            <a:prstGeom prst="rect">
              <a:avLst/>
            </a:prstGeom>
            <a:solidFill>
              <a:srgbClr val="0A2540"/>
            </a:solidFill>
            <a:ln w="508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24" name="Text 27"/>
            <p:cNvSpPr/>
            <p:nvPr/>
          </p:nvSpPr>
          <p:spPr>
            <a:xfrm>
              <a:off x="4791600" y="2871750"/>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a:solidFill>
                    <a:srgbClr val="FF7043"/>
                  </a:solidFill>
                  <a:effectLst/>
                  <a:uFillTx/>
                  <a:latin typeface="Calibri"/>
                </a:rPr>
                <a:t>□ </a:t>
              </a:r>
              <a:r>
                <a:rPr lang="en-US" sz="1600" b="1" u="none" strike="noStrike">
                  <a:solidFill>
                    <a:srgbClr val="FF7043"/>
                  </a:solidFill>
                  <a:effectLst/>
                  <a:uFillTx/>
                  <a:latin typeface="Calibri"/>
                </a:rPr>
                <a:t>Staged rollout plan</a:t>
              </a:r>
              <a:endParaRPr lang="pl-PL" sz="1600" b="0" u="none" strike="noStrike">
                <a:solidFill>
                  <a:srgbClr val="FFFFFF"/>
                </a:solidFill>
                <a:effectLst/>
                <a:uFillTx/>
                <a:latin typeface="Arial"/>
              </a:endParaRPr>
            </a:p>
          </p:txBody>
        </p:sp>
        <p:sp>
          <p:nvSpPr>
            <p:cNvPr id="925" name="Text 28"/>
            <p:cNvSpPr/>
            <p:nvPr/>
          </p:nvSpPr>
          <p:spPr>
            <a:xfrm>
              <a:off x="4974480" y="3075180"/>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a:solidFill>
                    <a:srgbClr val="8ECAE6"/>
                  </a:solidFill>
                  <a:effectLst/>
                  <a:uFillTx/>
                  <a:latin typeface="Calibri"/>
                </a:rPr>
                <a:t>1% → 5% → 20% → 100% w 3 tygodniach (Android).</a:t>
              </a:r>
              <a:endParaRPr lang="pl-PL" sz="1200" b="0" u="none" strike="noStrike">
                <a:solidFill>
                  <a:srgbClr val="FFFFFF"/>
                </a:solidFill>
                <a:effectLst/>
                <a:uFillTx/>
                <a:latin typeface="Arial"/>
              </a:endParaRPr>
            </a:p>
          </p:txBody>
        </p:sp>
        <p:sp>
          <p:nvSpPr>
            <p:cNvPr id="926" name="Shape 29"/>
            <p:cNvSpPr/>
            <p:nvPr/>
          </p:nvSpPr>
          <p:spPr>
            <a:xfrm>
              <a:off x="384120" y="3434925"/>
              <a:ext cx="4177800" cy="497880"/>
            </a:xfrm>
            <a:prstGeom prst="rect">
              <a:avLst/>
            </a:prstGeom>
            <a:solidFill>
              <a:srgbClr val="0A2540"/>
            </a:solidFill>
            <a:ln w="508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27" name="Text 30"/>
            <p:cNvSpPr/>
            <p:nvPr/>
          </p:nvSpPr>
          <p:spPr>
            <a:xfrm>
              <a:off x="475560" y="3501495"/>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a:solidFill>
                    <a:srgbClr val="FF7043"/>
                  </a:solidFill>
                  <a:effectLst/>
                  <a:uFillTx/>
                  <a:latin typeface="Calibri"/>
                </a:rPr>
                <a:t>□ </a:t>
              </a:r>
              <a:r>
                <a:rPr lang="en-US" sz="1600" b="1" u="none" strike="noStrike">
                  <a:solidFill>
                    <a:srgbClr val="FF7043"/>
                  </a:solidFill>
                  <a:effectLst/>
                  <a:uFillTx/>
                  <a:latin typeface="Calibri"/>
                </a:rPr>
                <a:t>Rollback procedure</a:t>
              </a:r>
              <a:endParaRPr lang="pl-PL" sz="1600" b="0" u="none" strike="noStrike">
                <a:solidFill>
                  <a:srgbClr val="FFFFFF"/>
                </a:solidFill>
                <a:effectLst/>
                <a:uFillTx/>
                <a:latin typeface="Arial"/>
              </a:endParaRPr>
            </a:p>
          </p:txBody>
        </p:sp>
        <p:sp>
          <p:nvSpPr>
            <p:cNvPr id="928" name="Text 31"/>
            <p:cNvSpPr/>
            <p:nvPr/>
          </p:nvSpPr>
          <p:spPr>
            <a:xfrm>
              <a:off x="658440" y="3704925"/>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a:solidFill>
                    <a:srgbClr val="8ECAE6"/>
                  </a:solidFill>
                  <a:effectLst/>
                  <a:uFillTx/>
                  <a:latin typeface="Calibri"/>
                </a:rPr>
                <a:t>Przygotuj poprzedni build. Max 1h do rollback decision.</a:t>
              </a:r>
              <a:endParaRPr lang="pl-PL" sz="1200" b="0" u="none" strike="noStrike">
                <a:solidFill>
                  <a:srgbClr val="FFFFFF"/>
                </a:solidFill>
                <a:effectLst/>
                <a:uFillTx/>
                <a:latin typeface="Arial"/>
              </a:endParaRPr>
            </a:p>
          </p:txBody>
        </p:sp>
        <p:sp>
          <p:nvSpPr>
            <p:cNvPr id="929" name="Shape 32"/>
            <p:cNvSpPr/>
            <p:nvPr/>
          </p:nvSpPr>
          <p:spPr>
            <a:xfrm>
              <a:off x="4700160" y="3434925"/>
              <a:ext cx="4177800" cy="497880"/>
            </a:xfrm>
            <a:prstGeom prst="rect">
              <a:avLst/>
            </a:prstGeom>
            <a:solidFill>
              <a:srgbClr val="0A2540"/>
            </a:solidFill>
            <a:ln w="508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30" name="Text 33"/>
            <p:cNvSpPr/>
            <p:nvPr/>
          </p:nvSpPr>
          <p:spPr>
            <a:xfrm>
              <a:off x="4791600" y="3501495"/>
              <a:ext cx="3976560" cy="224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2800" b="1" u="none" strike="noStrike" dirty="0">
                  <a:solidFill>
                    <a:srgbClr val="FF7043"/>
                  </a:solidFill>
                  <a:effectLst/>
                  <a:uFillTx/>
                  <a:latin typeface="Calibri"/>
                </a:rPr>
                <a:t>□ </a:t>
              </a:r>
              <a:r>
                <a:rPr lang="en-US" sz="1600" b="1" u="none" strike="noStrike" dirty="0">
                  <a:solidFill>
                    <a:srgbClr val="FF7043"/>
                  </a:solidFill>
                  <a:effectLst/>
                  <a:uFillTx/>
                  <a:latin typeface="Calibri"/>
                </a:rPr>
                <a:t>Monitoring &amp; alerts</a:t>
              </a:r>
              <a:endParaRPr lang="pl-PL" sz="1600" b="0" u="none" strike="noStrike" dirty="0">
                <a:solidFill>
                  <a:srgbClr val="FFFFFF"/>
                </a:solidFill>
                <a:effectLst/>
                <a:uFillTx/>
                <a:latin typeface="Arial"/>
              </a:endParaRPr>
            </a:p>
          </p:txBody>
        </p:sp>
        <p:sp>
          <p:nvSpPr>
            <p:cNvPr id="931" name="Text 34"/>
            <p:cNvSpPr/>
            <p:nvPr/>
          </p:nvSpPr>
          <p:spPr>
            <a:xfrm>
              <a:off x="4974480" y="3704925"/>
              <a:ext cx="3793680" cy="18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defTabSz="914400">
                <a:lnSpc>
                  <a:spcPct val="100000"/>
                </a:lnSpc>
                <a:tabLst>
                  <a:tab pos="0" algn="l"/>
                </a:tabLst>
              </a:pPr>
              <a:r>
                <a:rPr lang="en-US" sz="1200" b="0" u="none" strike="noStrike">
                  <a:solidFill>
                    <a:srgbClr val="8ECAE6"/>
                  </a:solidFill>
                  <a:effectLst/>
                  <a:uFillTx/>
                  <a:latin typeface="Calibri"/>
                </a:rPr>
                <a:t>Crashlytics, Firebase Perf, custom alerts w PagerDuty.</a:t>
              </a:r>
              <a:endParaRPr lang="pl-PL" sz="1200" b="0" u="none" strike="noStrike">
                <a:solidFill>
                  <a:srgbClr val="FFFFFF"/>
                </a:solidFill>
                <a:effectLst/>
                <a:uFillTx/>
                <a:latin typeface="Arial"/>
              </a:endParaRPr>
            </a:p>
          </p:txBody>
        </p:sp>
      </p:grpSp>
      <p:sp>
        <p:nvSpPr>
          <p:cNvPr id="932" name="Shape 35"/>
          <p:cNvSpPr/>
          <p:nvPr/>
        </p:nvSpPr>
        <p:spPr>
          <a:xfrm>
            <a:off x="347760" y="4448174"/>
            <a:ext cx="8493840" cy="561023"/>
          </a:xfrm>
          <a:prstGeom prst="rect">
            <a:avLst/>
          </a:prstGeom>
          <a:solidFill>
            <a:srgbClr val="1020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pl-PL" sz="1600" b="1" u="none" strike="noStrike" spc="-20" dirty="0">
                <a:solidFill>
                  <a:schemeClr val="bg1"/>
                </a:solidFill>
                <a:effectLst/>
                <a:uFillTx/>
                <a:latin typeface="Calibri"/>
              </a:rPr>
              <a:t>ASO Stat</a:t>
            </a:r>
            <a:r>
              <a:rPr lang="pl-PL" sz="1600" b="0" u="none" strike="noStrike" spc="-20" dirty="0">
                <a:solidFill>
                  <a:schemeClr val="bg1"/>
                </a:solidFill>
                <a:effectLst/>
                <a:uFillTx/>
                <a:latin typeface="Calibri"/>
              </a:rPr>
              <a:t>: 65% pobrań zaczyna się od wyszukiwania w </a:t>
            </a:r>
            <a:r>
              <a:rPr lang="pl-PL" sz="1600" b="0" u="none" strike="noStrike" spc="-20" dirty="0" err="1">
                <a:solidFill>
                  <a:schemeClr val="bg1"/>
                </a:solidFill>
                <a:effectLst/>
                <a:uFillTx/>
                <a:latin typeface="Calibri"/>
              </a:rPr>
              <a:t>App</a:t>
            </a:r>
            <a:r>
              <a:rPr lang="pl-PL" sz="1600" b="0" u="none" strike="noStrike" spc="-20" dirty="0">
                <a:solidFill>
                  <a:schemeClr val="bg1"/>
                </a:solidFill>
                <a:effectLst/>
                <a:uFillTx/>
                <a:latin typeface="Calibri"/>
              </a:rPr>
              <a:t> </a:t>
            </a:r>
            <a:r>
              <a:rPr lang="pl-PL" sz="1600" b="0" u="none" strike="noStrike" spc="-20" dirty="0" err="1">
                <a:solidFill>
                  <a:schemeClr val="bg1"/>
                </a:solidFill>
                <a:effectLst/>
                <a:uFillTx/>
                <a:latin typeface="Calibri"/>
              </a:rPr>
              <a:t>Store</a:t>
            </a:r>
            <a:r>
              <a:rPr lang="pl-PL" sz="1600" b="0" u="none" strike="noStrike" spc="-20" dirty="0">
                <a:solidFill>
                  <a:schemeClr val="bg1"/>
                </a:solidFill>
                <a:effectLst/>
                <a:uFillTx/>
                <a:latin typeface="Calibri"/>
              </a:rPr>
              <a:t> (Apple). </a:t>
            </a:r>
            <a:r>
              <a:rPr sz="1600" dirty="0">
                <a:solidFill>
                  <a:schemeClr val="bg1"/>
                </a:solidFill>
              </a:rPr>
              <a:t/>
            </a:r>
            <a:br>
              <a:rPr sz="1600" dirty="0">
                <a:solidFill>
                  <a:schemeClr val="bg1"/>
                </a:solidFill>
              </a:rPr>
            </a:br>
            <a:r>
              <a:rPr lang="pl-PL" sz="1600" b="0" u="none" strike="noStrike" spc="-20" dirty="0">
                <a:solidFill>
                  <a:schemeClr val="bg1"/>
                </a:solidFill>
                <a:effectLst/>
                <a:uFillTx/>
                <a:latin typeface="Calibri"/>
              </a:rPr>
              <a:t>Aplikacje z wideo </a:t>
            </a:r>
            <a:r>
              <a:rPr lang="pl-PL" sz="1600" b="0" u="none" strike="noStrike" spc="-20" dirty="0" err="1">
                <a:solidFill>
                  <a:schemeClr val="bg1"/>
                </a:solidFill>
                <a:effectLst/>
                <a:uFillTx/>
                <a:latin typeface="Calibri"/>
              </a:rPr>
              <a:t>preview</a:t>
            </a:r>
            <a:r>
              <a:rPr lang="pl-PL" sz="1600" b="0" u="none" strike="noStrike" spc="-20" dirty="0">
                <a:solidFill>
                  <a:schemeClr val="bg1"/>
                </a:solidFill>
                <a:effectLst/>
                <a:uFillTx/>
                <a:latin typeface="Calibri"/>
              </a:rPr>
              <a:t> konwertują o 35% lepiej. Ocena 4.0→4.5★ = +89% więcej pobrań.</a:t>
            </a:r>
            <a:endParaRPr lang="pl-PL" sz="1600" b="0" u="none" strike="noStrike" dirty="0">
              <a:solidFill>
                <a:schemeClr val="bg1"/>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937"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err="1">
                <a:solidFill>
                  <a:srgbClr val="FFFFFF"/>
                </a:solidFill>
                <a:effectLst/>
                <a:uFillTx/>
                <a:latin typeface="Calibri"/>
              </a:rPr>
              <a:t>Metryki</a:t>
            </a:r>
            <a:r>
              <a:rPr lang="en-US" sz="2000" b="1" u="none" strike="noStrike" dirty="0">
                <a:solidFill>
                  <a:srgbClr val="FFFFFF"/>
                </a:solidFill>
                <a:effectLst/>
                <a:uFillTx/>
                <a:latin typeface="Calibri"/>
              </a:rPr>
              <a:t> </a:t>
            </a:r>
            <a:r>
              <a:rPr lang="en-US" sz="2000" b="1" u="none" strike="noStrike" dirty="0" err="1" smtClean="0">
                <a:solidFill>
                  <a:srgbClr val="FFFFFF"/>
                </a:solidFill>
                <a:effectLst/>
                <a:uFillTx/>
                <a:latin typeface="Calibri"/>
              </a:rPr>
              <a:t>sukcesu</a:t>
            </a:r>
            <a:endParaRPr lang="pl-PL" sz="2000" b="0" u="none" strike="noStrike" dirty="0">
              <a:solidFill>
                <a:srgbClr val="FFFFFF"/>
              </a:solidFill>
              <a:effectLst/>
              <a:uFillTx/>
              <a:latin typeface="Arial"/>
            </a:endParaRPr>
          </a:p>
        </p:txBody>
      </p:sp>
      <p:sp>
        <p:nvSpPr>
          <p:cNvPr id="938"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grpSp>
        <p:nvGrpSpPr>
          <p:cNvPr id="2" name="Grupa 1"/>
          <p:cNvGrpSpPr/>
          <p:nvPr/>
        </p:nvGrpSpPr>
        <p:grpSpPr>
          <a:xfrm>
            <a:off x="384120" y="567000"/>
            <a:ext cx="8374680" cy="3347775"/>
            <a:chOff x="384120" y="567000"/>
            <a:chExt cx="8374680" cy="3930840"/>
          </a:xfrm>
        </p:grpSpPr>
        <p:sp>
          <p:nvSpPr>
            <p:cNvPr id="939" name="Shape 4"/>
            <p:cNvSpPr/>
            <p:nvPr/>
          </p:nvSpPr>
          <p:spPr>
            <a:xfrm>
              <a:off x="384120" y="567000"/>
              <a:ext cx="8374680" cy="71208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40" name="Shape 5"/>
            <p:cNvSpPr/>
            <p:nvPr/>
          </p:nvSpPr>
          <p:spPr>
            <a:xfrm>
              <a:off x="502920" y="658440"/>
              <a:ext cx="318960" cy="318960"/>
            </a:xfrm>
            <a:prstGeom prst="roundRect">
              <a:avLst>
                <a:gd name="adj" fmla="val 17143"/>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941" name="Text 6"/>
            <p:cNvSpPr/>
            <p:nvPr/>
          </p:nvSpPr>
          <p:spPr>
            <a:xfrm>
              <a:off x="502920" y="658440"/>
              <a:ext cx="31896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rPr>
                <a:t>A</a:t>
              </a:r>
              <a:endParaRPr lang="pl-PL" sz="1300" b="0" u="none" strike="noStrike">
                <a:solidFill>
                  <a:srgbClr val="FFFFFF"/>
                </a:solidFill>
                <a:effectLst/>
                <a:uFillTx/>
                <a:latin typeface="Arial"/>
              </a:endParaRPr>
            </a:p>
          </p:txBody>
        </p:sp>
        <p:sp>
          <p:nvSpPr>
            <p:cNvPr id="942" name="Text 7"/>
            <p:cNvSpPr/>
            <p:nvPr/>
          </p:nvSpPr>
          <p:spPr>
            <a:xfrm>
              <a:off x="932760" y="658440"/>
              <a:ext cx="15534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a:solidFill>
                    <a:schemeClr val="bg1"/>
                  </a:solidFill>
                  <a:effectLst/>
                  <a:uFillTx/>
                  <a:latin typeface="Calibri"/>
                </a:rPr>
                <a:t>Acquisition</a:t>
              </a:r>
              <a:endParaRPr lang="pl-PL" sz="2000" b="0" u="none" strike="noStrike" dirty="0">
                <a:solidFill>
                  <a:schemeClr val="bg1"/>
                </a:solidFill>
                <a:effectLst/>
                <a:uFillTx/>
                <a:latin typeface="Arial"/>
              </a:endParaRPr>
            </a:p>
          </p:txBody>
        </p:sp>
        <p:sp>
          <p:nvSpPr>
            <p:cNvPr id="943" name="Text 8"/>
            <p:cNvSpPr/>
            <p:nvPr/>
          </p:nvSpPr>
          <p:spPr>
            <a:xfrm>
              <a:off x="932760" y="932760"/>
              <a:ext cx="20106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8ECAE6"/>
                  </a:solidFill>
                  <a:effectLst/>
                  <a:uFillTx/>
                  <a:latin typeface="Calibri"/>
                </a:rPr>
                <a:t>CPI (Cost per Install)</a:t>
              </a:r>
              <a:endParaRPr lang="pl-PL" sz="1600" b="0" u="none" strike="noStrike">
                <a:solidFill>
                  <a:srgbClr val="FFFFFF"/>
                </a:solidFill>
                <a:effectLst/>
                <a:uFillTx/>
                <a:latin typeface="Arial"/>
              </a:endParaRPr>
            </a:p>
          </p:txBody>
        </p:sp>
        <p:sp>
          <p:nvSpPr>
            <p:cNvPr id="944" name="Shape 9"/>
            <p:cNvSpPr/>
            <p:nvPr/>
          </p:nvSpPr>
          <p:spPr>
            <a:xfrm>
              <a:off x="2624400" y="694800"/>
              <a:ext cx="2129400" cy="227520"/>
            </a:xfrm>
            <a:prstGeom prst="roundRect">
              <a:avLst>
                <a:gd name="adj" fmla="val 28000"/>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45" name="Text 10"/>
            <p:cNvSpPr/>
            <p:nvPr/>
          </p:nvSpPr>
          <p:spPr>
            <a:xfrm>
              <a:off x="2624400" y="694800"/>
              <a:ext cx="21294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00BCD4"/>
                  </a:solidFill>
                  <a:effectLst/>
                  <a:uFillTx/>
                  <a:latin typeface="Calibri"/>
                </a:rPr>
                <a:t>Target: iOS: &lt;$2, Android: &lt;$0.8</a:t>
              </a:r>
              <a:endParaRPr lang="pl-PL" sz="1200" b="0" u="none" strike="noStrike">
                <a:solidFill>
                  <a:srgbClr val="FFFFFF"/>
                </a:solidFill>
                <a:effectLst/>
                <a:uFillTx/>
                <a:latin typeface="Arial"/>
              </a:endParaRPr>
            </a:p>
          </p:txBody>
        </p:sp>
        <p:sp>
          <p:nvSpPr>
            <p:cNvPr id="946" name="Text 11"/>
            <p:cNvSpPr/>
            <p:nvPr/>
          </p:nvSpPr>
          <p:spPr>
            <a:xfrm>
              <a:off x="4892040" y="676800"/>
              <a:ext cx="37479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App Store Organic + Paid UA (Meta/TikTok Ads). Źródła: Search, Browse, Referral</a:t>
              </a:r>
              <a:endParaRPr lang="pl-PL" sz="1600" b="0" u="none" strike="noStrike">
                <a:solidFill>
                  <a:srgbClr val="FFFFFF"/>
                </a:solidFill>
                <a:effectLst/>
                <a:uFillTx/>
                <a:latin typeface="Arial"/>
              </a:endParaRPr>
            </a:p>
          </p:txBody>
        </p:sp>
        <p:sp>
          <p:nvSpPr>
            <p:cNvPr id="947" name="Shape 12"/>
            <p:cNvSpPr/>
            <p:nvPr/>
          </p:nvSpPr>
          <p:spPr>
            <a:xfrm>
              <a:off x="384120" y="1371600"/>
              <a:ext cx="8374680" cy="71208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48" name="Shape 13"/>
            <p:cNvSpPr/>
            <p:nvPr/>
          </p:nvSpPr>
          <p:spPr>
            <a:xfrm>
              <a:off x="502920" y="1463040"/>
              <a:ext cx="318960" cy="318960"/>
            </a:xfrm>
            <a:prstGeom prst="roundRect">
              <a:avLst>
                <a:gd name="adj" fmla="val 17143"/>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49" name="Text 14"/>
            <p:cNvSpPr/>
            <p:nvPr/>
          </p:nvSpPr>
          <p:spPr>
            <a:xfrm>
              <a:off x="502920" y="1463040"/>
              <a:ext cx="31896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rPr>
                <a:t>A</a:t>
              </a:r>
              <a:endParaRPr lang="pl-PL" sz="1300" b="0" u="none" strike="noStrike">
                <a:solidFill>
                  <a:srgbClr val="FFFFFF"/>
                </a:solidFill>
                <a:effectLst/>
                <a:uFillTx/>
                <a:latin typeface="Arial"/>
              </a:endParaRPr>
            </a:p>
          </p:txBody>
        </p:sp>
        <p:sp>
          <p:nvSpPr>
            <p:cNvPr id="950" name="Text 15"/>
            <p:cNvSpPr/>
            <p:nvPr/>
          </p:nvSpPr>
          <p:spPr>
            <a:xfrm>
              <a:off x="932760" y="1463040"/>
              <a:ext cx="15534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7043"/>
                  </a:solidFill>
                  <a:effectLst/>
                  <a:uFillTx/>
                  <a:latin typeface="Calibri"/>
                </a:rPr>
                <a:t>Activation</a:t>
              </a:r>
              <a:endParaRPr lang="pl-PL" sz="2000" b="0" u="none" strike="noStrike">
                <a:solidFill>
                  <a:srgbClr val="FFFFFF"/>
                </a:solidFill>
                <a:effectLst/>
                <a:uFillTx/>
                <a:latin typeface="Arial"/>
              </a:endParaRPr>
            </a:p>
          </p:txBody>
        </p:sp>
        <p:sp>
          <p:nvSpPr>
            <p:cNvPr id="951" name="Text 16"/>
            <p:cNvSpPr/>
            <p:nvPr/>
          </p:nvSpPr>
          <p:spPr>
            <a:xfrm>
              <a:off x="932760" y="1737360"/>
              <a:ext cx="20106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dirty="0">
                  <a:solidFill>
                    <a:srgbClr val="8ECAE6"/>
                  </a:solidFill>
                  <a:effectLst/>
                  <a:uFillTx/>
                  <a:latin typeface="Calibri"/>
                </a:rPr>
                <a:t>Day-1 Retention</a:t>
              </a:r>
              <a:endParaRPr lang="pl-PL" sz="1600" b="0" u="none" strike="noStrike" dirty="0">
                <a:solidFill>
                  <a:srgbClr val="FFFFFF"/>
                </a:solidFill>
                <a:effectLst/>
                <a:uFillTx/>
                <a:latin typeface="Arial"/>
              </a:endParaRPr>
            </a:p>
          </p:txBody>
        </p:sp>
        <p:sp>
          <p:nvSpPr>
            <p:cNvPr id="952" name="Shape 17"/>
            <p:cNvSpPr/>
            <p:nvPr/>
          </p:nvSpPr>
          <p:spPr>
            <a:xfrm>
              <a:off x="2624400" y="1499760"/>
              <a:ext cx="2129400" cy="227520"/>
            </a:xfrm>
            <a:prstGeom prst="roundRect">
              <a:avLst>
                <a:gd name="adj" fmla="val 28000"/>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53" name="Text 18"/>
            <p:cNvSpPr/>
            <p:nvPr/>
          </p:nvSpPr>
          <p:spPr>
            <a:xfrm>
              <a:off x="2624400" y="1499760"/>
              <a:ext cx="21294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7043"/>
                  </a:solidFill>
                  <a:effectLst/>
                  <a:uFillTx/>
                  <a:latin typeface="Calibri"/>
                </a:rPr>
                <a:t>Target: &gt;40%</a:t>
              </a:r>
              <a:endParaRPr lang="pl-PL" sz="1200" b="0" u="none" strike="noStrike">
                <a:solidFill>
                  <a:srgbClr val="FFFFFF"/>
                </a:solidFill>
                <a:effectLst/>
                <a:uFillTx/>
                <a:latin typeface="Arial"/>
              </a:endParaRPr>
            </a:p>
          </p:txBody>
        </p:sp>
        <p:sp>
          <p:nvSpPr>
            <p:cNvPr id="954" name="Text 19"/>
            <p:cNvSpPr/>
            <p:nvPr/>
          </p:nvSpPr>
          <p:spPr>
            <a:xfrm>
              <a:off x="4892040" y="1481400"/>
              <a:ext cx="37479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Czy użytkownik wrócił dzień po instalacji? Onboarding flow kluczowy.</a:t>
              </a:r>
              <a:endParaRPr lang="pl-PL" sz="1600" b="0" u="none" strike="noStrike">
                <a:solidFill>
                  <a:srgbClr val="FFFFFF"/>
                </a:solidFill>
                <a:effectLst/>
                <a:uFillTx/>
                <a:latin typeface="Arial"/>
              </a:endParaRPr>
            </a:p>
          </p:txBody>
        </p:sp>
        <p:sp>
          <p:nvSpPr>
            <p:cNvPr id="955" name="Shape 20"/>
            <p:cNvSpPr/>
            <p:nvPr/>
          </p:nvSpPr>
          <p:spPr>
            <a:xfrm>
              <a:off x="384120" y="2176200"/>
              <a:ext cx="8374680" cy="712080"/>
            </a:xfrm>
            <a:prstGeom prst="rect">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56" name="Shape 21"/>
            <p:cNvSpPr/>
            <p:nvPr/>
          </p:nvSpPr>
          <p:spPr>
            <a:xfrm>
              <a:off x="502920" y="2267640"/>
              <a:ext cx="318960" cy="318960"/>
            </a:xfrm>
            <a:prstGeom prst="roundRect">
              <a:avLst>
                <a:gd name="adj" fmla="val 17143"/>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57" name="Text 22"/>
            <p:cNvSpPr/>
            <p:nvPr/>
          </p:nvSpPr>
          <p:spPr>
            <a:xfrm>
              <a:off x="502920" y="2267640"/>
              <a:ext cx="31896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rPr>
                <a:t>R</a:t>
              </a:r>
              <a:endParaRPr lang="pl-PL" sz="1300" b="0" u="none" strike="noStrike">
                <a:solidFill>
                  <a:srgbClr val="FFFFFF"/>
                </a:solidFill>
                <a:effectLst/>
                <a:uFillTx/>
                <a:latin typeface="Arial"/>
              </a:endParaRPr>
            </a:p>
          </p:txBody>
        </p:sp>
        <p:sp>
          <p:nvSpPr>
            <p:cNvPr id="958" name="Text 23"/>
            <p:cNvSpPr/>
            <p:nvPr/>
          </p:nvSpPr>
          <p:spPr>
            <a:xfrm>
              <a:off x="932760" y="2267640"/>
              <a:ext cx="15534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4CAF50"/>
                  </a:solidFill>
                  <a:effectLst/>
                  <a:uFillTx/>
                  <a:latin typeface="Calibri"/>
                </a:rPr>
                <a:t>Retention</a:t>
              </a:r>
              <a:endParaRPr lang="pl-PL" sz="2000" b="0" u="none" strike="noStrike">
                <a:solidFill>
                  <a:srgbClr val="FFFFFF"/>
                </a:solidFill>
                <a:effectLst/>
                <a:uFillTx/>
                <a:latin typeface="Arial"/>
              </a:endParaRPr>
            </a:p>
          </p:txBody>
        </p:sp>
        <p:sp>
          <p:nvSpPr>
            <p:cNvPr id="959" name="Text 24"/>
            <p:cNvSpPr/>
            <p:nvPr/>
          </p:nvSpPr>
          <p:spPr>
            <a:xfrm>
              <a:off x="932760" y="2541960"/>
              <a:ext cx="20106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8ECAE6"/>
                  </a:solidFill>
                  <a:effectLst/>
                  <a:uFillTx/>
                  <a:latin typeface="Calibri"/>
                </a:rPr>
                <a:t>Day-7 / Day-30</a:t>
              </a:r>
              <a:endParaRPr lang="pl-PL" sz="1600" b="0" u="none" strike="noStrike">
                <a:solidFill>
                  <a:srgbClr val="FFFFFF"/>
                </a:solidFill>
                <a:effectLst/>
                <a:uFillTx/>
                <a:latin typeface="Arial"/>
              </a:endParaRPr>
            </a:p>
          </p:txBody>
        </p:sp>
        <p:sp>
          <p:nvSpPr>
            <p:cNvPr id="960" name="Shape 25"/>
            <p:cNvSpPr/>
            <p:nvPr/>
          </p:nvSpPr>
          <p:spPr>
            <a:xfrm>
              <a:off x="2624400" y="2304360"/>
              <a:ext cx="2129400" cy="227520"/>
            </a:xfrm>
            <a:prstGeom prst="roundRect">
              <a:avLst>
                <a:gd name="adj" fmla="val 28000"/>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61" name="Text 26"/>
            <p:cNvSpPr/>
            <p:nvPr/>
          </p:nvSpPr>
          <p:spPr>
            <a:xfrm>
              <a:off x="2624400" y="2304360"/>
              <a:ext cx="21294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dirty="0">
                  <a:solidFill>
                    <a:srgbClr val="4CAF50"/>
                  </a:solidFill>
                  <a:effectLst/>
                  <a:uFillTx/>
                  <a:latin typeface="Calibri"/>
                </a:rPr>
                <a:t>Target: D7&gt;20%, D30&gt;10%</a:t>
              </a:r>
              <a:endParaRPr lang="pl-PL" sz="1200" b="0" u="none" strike="noStrike" dirty="0">
                <a:solidFill>
                  <a:srgbClr val="FFFFFF"/>
                </a:solidFill>
                <a:effectLst/>
                <a:uFillTx/>
                <a:latin typeface="Arial"/>
              </a:endParaRPr>
            </a:p>
          </p:txBody>
        </p:sp>
        <p:sp>
          <p:nvSpPr>
            <p:cNvPr id="962" name="Text 27"/>
            <p:cNvSpPr/>
            <p:nvPr/>
          </p:nvSpPr>
          <p:spPr>
            <a:xfrm>
              <a:off x="4892040" y="2286000"/>
              <a:ext cx="37479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Industry avg: D7=13%, D30=6%. Top apps: D7=50%+. Cohort analysis w Amplitude.</a:t>
              </a:r>
              <a:endParaRPr lang="pl-PL" sz="1600" b="0" u="none" strike="noStrike">
                <a:solidFill>
                  <a:srgbClr val="FFFFFF"/>
                </a:solidFill>
                <a:effectLst/>
                <a:uFillTx/>
                <a:latin typeface="Arial"/>
              </a:endParaRPr>
            </a:p>
          </p:txBody>
        </p:sp>
        <p:sp>
          <p:nvSpPr>
            <p:cNvPr id="963" name="Shape 28"/>
            <p:cNvSpPr/>
            <p:nvPr/>
          </p:nvSpPr>
          <p:spPr>
            <a:xfrm>
              <a:off x="384120" y="2980800"/>
              <a:ext cx="8374680" cy="712080"/>
            </a:xfrm>
            <a:prstGeom prst="rect">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64" name="Shape 29"/>
            <p:cNvSpPr/>
            <p:nvPr/>
          </p:nvSpPr>
          <p:spPr>
            <a:xfrm>
              <a:off x="502920" y="3072240"/>
              <a:ext cx="318960" cy="318960"/>
            </a:xfrm>
            <a:prstGeom prst="roundRect">
              <a:avLst>
                <a:gd name="adj" fmla="val 17143"/>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65" name="Text 30"/>
            <p:cNvSpPr/>
            <p:nvPr/>
          </p:nvSpPr>
          <p:spPr>
            <a:xfrm>
              <a:off x="502920" y="3072240"/>
              <a:ext cx="31896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rPr>
                <a:t>R</a:t>
              </a:r>
              <a:endParaRPr lang="pl-PL" sz="1300" b="0" u="none" strike="noStrike">
                <a:solidFill>
                  <a:srgbClr val="FFFFFF"/>
                </a:solidFill>
                <a:effectLst/>
                <a:uFillTx/>
                <a:latin typeface="Arial"/>
              </a:endParaRPr>
            </a:p>
          </p:txBody>
        </p:sp>
        <p:sp>
          <p:nvSpPr>
            <p:cNvPr id="966" name="Text 31"/>
            <p:cNvSpPr/>
            <p:nvPr/>
          </p:nvSpPr>
          <p:spPr>
            <a:xfrm>
              <a:off x="932760" y="3072240"/>
              <a:ext cx="15534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7C4DFF"/>
                  </a:solidFill>
                  <a:effectLst/>
                  <a:uFillTx/>
                  <a:latin typeface="Calibri"/>
                </a:rPr>
                <a:t>Revenue</a:t>
              </a:r>
              <a:endParaRPr lang="pl-PL" sz="2000" b="0" u="none" strike="noStrike">
                <a:solidFill>
                  <a:srgbClr val="FFFFFF"/>
                </a:solidFill>
                <a:effectLst/>
                <a:uFillTx/>
                <a:latin typeface="Arial"/>
              </a:endParaRPr>
            </a:p>
          </p:txBody>
        </p:sp>
        <p:sp>
          <p:nvSpPr>
            <p:cNvPr id="967" name="Text 32"/>
            <p:cNvSpPr/>
            <p:nvPr/>
          </p:nvSpPr>
          <p:spPr>
            <a:xfrm>
              <a:off x="932760" y="3346560"/>
              <a:ext cx="20106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8ECAE6"/>
                  </a:solidFill>
                  <a:effectLst/>
                  <a:uFillTx/>
                  <a:latin typeface="Calibri"/>
                </a:rPr>
                <a:t>ARPU / LTV</a:t>
              </a:r>
              <a:endParaRPr lang="pl-PL" sz="1600" b="0" u="none" strike="noStrike">
                <a:solidFill>
                  <a:srgbClr val="FFFFFF"/>
                </a:solidFill>
                <a:effectLst/>
                <a:uFillTx/>
                <a:latin typeface="Arial"/>
              </a:endParaRPr>
            </a:p>
          </p:txBody>
        </p:sp>
        <p:sp>
          <p:nvSpPr>
            <p:cNvPr id="968" name="Shape 33"/>
            <p:cNvSpPr/>
            <p:nvPr/>
          </p:nvSpPr>
          <p:spPr>
            <a:xfrm>
              <a:off x="2624400" y="3108960"/>
              <a:ext cx="2129400" cy="227520"/>
            </a:xfrm>
            <a:prstGeom prst="roundRect">
              <a:avLst>
                <a:gd name="adj" fmla="val 28000"/>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69" name="Text 34"/>
            <p:cNvSpPr/>
            <p:nvPr/>
          </p:nvSpPr>
          <p:spPr>
            <a:xfrm>
              <a:off x="2624400" y="3108960"/>
              <a:ext cx="21294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7C4DFF"/>
                  </a:solidFill>
                  <a:effectLst/>
                  <a:uFillTx/>
                  <a:latin typeface="Calibri"/>
                </a:rPr>
                <a:t>Target: LTV &gt; 3× CPI</a:t>
              </a:r>
              <a:endParaRPr lang="pl-PL" sz="1200" b="0" u="none" strike="noStrike">
                <a:solidFill>
                  <a:srgbClr val="FFFFFF"/>
                </a:solidFill>
                <a:effectLst/>
                <a:uFillTx/>
                <a:latin typeface="Arial"/>
              </a:endParaRPr>
            </a:p>
          </p:txBody>
        </p:sp>
        <p:sp>
          <p:nvSpPr>
            <p:cNvPr id="970" name="Text 35"/>
            <p:cNvSpPr/>
            <p:nvPr/>
          </p:nvSpPr>
          <p:spPr>
            <a:xfrm>
              <a:off x="4892040" y="3090600"/>
              <a:ext cx="37479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dirty="0">
                  <a:solidFill>
                    <a:srgbClr val="FFFFFF"/>
                  </a:solidFill>
                  <a:effectLst/>
                  <a:uFillTx/>
                  <a:latin typeface="Calibri"/>
                </a:rPr>
                <a:t>ARPU = MRR / MAU. LTV = ARPU × </a:t>
              </a:r>
              <a:r>
                <a:rPr lang="en-US" sz="1600" b="0" u="none" strike="noStrike" dirty="0" err="1">
                  <a:solidFill>
                    <a:srgbClr val="FFFFFF"/>
                  </a:solidFill>
                  <a:effectLst/>
                  <a:uFillTx/>
                  <a:latin typeface="Calibri"/>
                </a:rPr>
                <a:t>średni</a:t>
              </a:r>
              <a:r>
                <a:rPr lang="en-US" sz="1600" b="0" u="none" strike="noStrike" dirty="0">
                  <a:solidFill>
                    <a:srgbClr val="FFFFFF"/>
                  </a:solidFill>
                  <a:effectLst/>
                  <a:uFillTx/>
                  <a:latin typeface="Calibri"/>
                </a:rPr>
                <a:t> </a:t>
              </a:r>
              <a:r>
                <a:rPr lang="en-US" sz="1600" b="0" u="none" strike="noStrike" dirty="0" err="1">
                  <a:solidFill>
                    <a:srgbClr val="FFFFFF"/>
                  </a:solidFill>
                  <a:effectLst/>
                  <a:uFillTx/>
                  <a:latin typeface="Calibri"/>
                </a:rPr>
                <a:t>czas</a:t>
              </a:r>
              <a:r>
                <a:rPr lang="en-US" sz="1600" b="0" u="none" strike="noStrike" dirty="0">
                  <a:solidFill>
                    <a:srgbClr val="FFFFFF"/>
                  </a:solidFill>
                  <a:effectLst/>
                  <a:uFillTx/>
                  <a:latin typeface="Calibri"/>
                </a:rPr>
                <a:t> </a:t>
              </a:r>
              <a:r>
                <a:rPr lang="en-US" sz="1600" b="0" u="none" strike="noStrike" dirty="0" err="1">
                  <a:solidFill>
                    <a:srgbClr val="FFFFFF"/>
                  </a:solidFill>
                  <a:effectLst/>
                  <a:uFillTx/>
                  <a:latin typeface="Calibri"/>
                </a:rPr>
                <a:t>życia</a:t>
              </a:r>
              <a:r>
                <a:rPr lang="en-US" sz="1600" b="0" u="none" strike="noStrike" dirty="0">
                  <a:solidFill>
                    <a:srgbClr val="FFFFFF"/>
                  </a:solidFill>
                  <a:effectLst/>
                  <a:uFillTx/>
                  <a:latin typeface="Calibri"/>
                </a:rPr>
                <a:t> </a:t>
              </a:r>
              <a:r>
                <a:rPr lang="en-US" sz="1600" b="0" u="none" strike="noStrike" dirty="0" err="1">
                  <a:solidFill>
                    <a:srgbClr val="FFFFFF"/>
                  </a:solidFill>
                  <a:effectLst/>
                  <a:uFillTx/>
                  <a:latin typeface="Calibri"/>
                </a:rPr>
                <a:t>użytkownika</a:t>
              </a:r>
              <a:r>
                <a:rPr lang="en-US" sz="1600" b="0" u="none" strike="noStrike" dirty="0">
                  <a:solidFill>
                    <a:srgbClr val="FFFFFF"/>
                  </a:solidFill>
                  <a:effectLst/>
                  <a:uFillTx/>
                  <a:latin typeface="Calibri"/>
                </a:rPr>
                <a:t>.</a:t>
              </a:r>
              <a:endParaRPr lang="pl-PL" sz="1600" b="0" u="none" strike="noStrike" dirty="0">
                <a:solidFill>
                  <a:srgbClr val="FFFFFF"/>
                </a:solidFill>
                <a:effectLst/>
                <a:uFillTx/>
                <a:latin typeface="Arial"/>
              </a:endParaRPr>
            </a:p>
          </p:txBody>
        </p:sp>
        <p:sp>
          <p:nvSpPr>
            <p:cNvPr id="971" name="Shape 36"/>
            <p:cNvSpPr/>
            <p:nvPr/>
          </p:nvSpPr>
          <p:spPr>
            <a:xfrm>
              <a:off x="384120" y="3785760"/>
              <a:ext cx="8374680" cy="712080"/>
            </a:xfrm>
            <a:prstGeom prst="rect">
              <a:avLst/>
            </a:prstGeom>
            <a:solidFill>
              <a:srgbClr val="0A2540"/>
            </a:solidFill>
            <a:ln w="889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72" name="Shape 37"/>
            <p:cNvSpPr/>
            <p:nvPr/>
          </p:nvSpPr>
          <p:spPr>
            <a:xfrm>
              <a:off x="502920" y="3877200"/>
              <a:ext cx="318960" cy="318960"/>
            </a:xfrm>
            <a:prstGeom prst="roundRect">
              <a:avLst>
                <a:gd name="adj" fmla="val 17143"/>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973" name="Text 38"/>
            <p:cNvSpPr/>
            <p:nvPr/>
          </p:nvSpPr>
          <p:spPr>
            <a:xfrm>
              <a:off x="502920" y="3877200"/>
              <a:ext cx="31896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Calibri"/>
                </a:rPr>
                <a:t>R</a:t>
              </a:r>
              <a:endParaRPr lang="pl-PL" sz="1300" b="0" u="none" strike="noStrike">
                <a:solidFill>
                  <a:srgbClr val="FFFFFF"/>
                </a:solidFill>
                <a:effectLst/>
                <a:uFillTx/>
                <a:latin typeface="Arial"/>
              </a:endParaRPr>
            </a:p>
          </p:txBody>
        </p:sp>
        <p:sp>
          <p:nvSpPr>
            <p:cNvPr id="974" name="Text 39"/>
            <p:cNvSpPr/>
            <p:nvPr/>
          </p:nvSpPr>
          <p:spPr>
            <a:xfrm>
              <a:off x="932760" y="3877200"/>
              <a:ext cx="15534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B300"/>
                  </a:solidFill>
                  <a:effectLst/>
                  <a:uFillTx/>
                  <a:latin typeface="Calibri"/>
                </a:rPr>
                <a:t>Referral</a:t>
              </a:r>
              <a:endParaRPr lang="pl-PL" sz="2000" b="0" u="none" strike="noStrike">
                <a:solidFill>
                  <a:srgbClr val="FFFFFF"/>
                </a:solidFill>
                <a:effectLst/>
                <a:uFillTx/>
                <a:latin typeface="Arial"/>
              </a:endParaRPr>
            </a:p>
          </p:txBody>
        </p:sp>
        <p:sp>
          <p:nvSpPr>
            <p:cNvPr id="975" name="Text 40"/>
            <p:cNvSpPr/>
            <p:nvPr/>
          </p:nvSpPr>
          <p:spPr>
            <a:xfrm>
              <a:off x="932760" y="4151520"/>
              <a:ext cx="2010600" cy="181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8ECAE6"/>
                  </a:solidFill>
                  <a:effectLst/>
                  <a:uFillTx/>
                  <a:latin typeface="Calibri"/>
                </a:rPr>
                <a:t>Viral Coefficient (K)</a:t>
              </a:r>
              <a:endParaRPr lang="pl-PL" sz="1600" b="0" u="none" strike="noStrike">
                <a:solidFill>
                  <a:srgbClr val="FFFFFF"/>
                </a:solidFill>
                <a:effectLst/>
                <a:uFillTx/>
                <a:latin typeface="Arial"/>
              </a:endParaRPr>
            </a:p>
          </p:txBody>
        </p:sp>
        <p:sp>
          <p:nvSpPr>
            <p:cNvPr id="976" name="Shape 41"/>
            <p:cNvSpPr/>
            <p:nvPr/>
          </p:nvSpPr>
          <p:spPr>
            <a:xfrm>
              <a:off x="2624400" y="3913560"/>
              <a:ext cx="2129400" cy="227520"/>
            </a:xfrm>
            <a:prstGeom prst="roundRect">
              <a:avLst>
                <a:gd name="adj" fmla="val 28000"/>
              </a:avLst>
            </a:prstGeom>
            <a:solidFill>
              <a:srgbClr val="0A2540"/>
            </a:solidFill>
            <a:ln w="889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77" name="Text 42"/>
            <p:cNvSpPr/>
            <p:nvPr/>
          </p:nvSpPr>
          <p:spPr>
            <a:xfrm>
              <a:off x="2624400" y="3913560"/>
              <a:ext cx="21294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B300"/>
                  </a:solidFill>
                  <a:effectLst/>
                  <a:uFillTx/>
                  <a:latin typeface="Calibri"/>
                </a:rPr>
                <a:t>Target: K &gt; 0.5</a:t>
              </a:r>
              <a:endParaRPr lang="pl-PL" sz="1200" b="0" u="none" strike="noStrike">
                <a:solidFill>
                  <a:srgbClr val="FFFFFF"/>
                </a:solidFill>
                <a:effectLst/>
                <a:uFillTx/>
                <a:latin typeface="Arial"/>
              </a:endParaRPr>
            </a:p>
          </p:txBody>
        </p:sp>
        <p:sp>
          <p:nvSpPr>
            <p:cNvPr id="978" name="Text 43"/>
            <p:cNvSpPr/>
            <p:nvPr/>
          </p:nvSpPr>
          <p:spPr>
            <a:xfrm>
              <a:off x="4892040" y="3895200"/>
              <a:ext cx="37479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u="none" strike="noStrike">
                  <a:solidFill>
                    <a:srgbClr val="FFFFFF"/>
                  </a:solidFill>
                  <a:effectLst/>
                  <a:uFillTx/>
                  <a:latin typeface="Calibri"/>
                </a:rPr>
                <a:t>K = Invites × Conversion rate. K&gt;1 = viral growth (rzadkie). NPS &gt; 50 = excellent.</a:t>
              </a:r>
              <a:endParaRPr lang="pl-PL" sz="1600" b="0" u="none" strike="noStrike">
                <a:solidFill>
                  <a:srgbClr val="FFFFFF"/>
                </a:solidFill>
                <a:effectLst/>
                <a:uFillTx/>
                <a:latin typeface="Arial"/>
              </a:endParaRPr>
            </a:p>
          </p:txBody>
        </p:sp>
      </p:grpSp>
      <p:sp>
        <p:nvSpPr>
          <p:cNvPr id="979" name="Shape 44"/>
          <p:cNvSpPr/>
          <p:nvPr/>
        </p:nvSpPr>
        <p:spPr>
          <a:xfrm>
            <a:off x="384120" y="4452277"/>
            <a:ext cx="8374680" cy="532718"/>
          </a:xfrm>
          <a:prstGeom prst="rect">
            <a:avLst/>
          </a:prstGeom>
          <a:solidFill>
            <a:srgbClr val="1020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pl-PL" sz="1400" b="1" u="none" strike="noStrike" spc="-20" dirty="0" err="1">
                <a:solidFill>
                  <a:srgbClr val="8ECAE6"/>
                </a:solidFill>
                <a:effectLst/>
                <a:uFillTx/>
                <a:latin typeface="Calibri"/>
              </a:rPr>
              <a:t>North</a:t>
            </a:r>
            <a:r>
              <a:rPr lang="pl-PL" sz="1400" b="1" u="none" strike="noStrike" spc="-20" dirty="0">
                <a:solidFill>
                  <a:srgbClr val="8ECAE6"/>
                </a:solidFill>
                <a:effectLst/>
                <a:uFillTx/>
                <a:latin typeface="Calibri"/>
              </a:rPr>
              <a:t> Star </a:t>
            </a:r>
            <a:r>
              <a:rPr lang="pl-PL" sz="1400" b="1" u="none" strike="noStrike" spc="-20" dirty="0" err="1">
                <a:solidFill>
                  <a:srgbClr val="8ECAE6"/>
                </a:solidFill>
                <a:effectLst/>
                <a:uFillTx/>
                <a:latin typeface="Calibri"/>
              </a:rPr>
              <a:t>Metric</a:t>
            </a:r>
            <a:r>
              <a:rPr lang="pl-PL" sz="1400" b="1" u="none" strike="noStrike" spc="-20" dirty="0">
                <a:solidFill>
                  <a:srgbClr val="8ECAE6"/>
                </a:solidFill>
                <a:effectLst/>
                <a:uFillTx/>
                <a:latin typeface="Calibri"/>
              </a:rPr>
              <a:t> </a:t>
            </a:r>
            <a:r>
              <a:rPr lang="pl-PL" sz="1400" b="0" u="none" strike="noStrike" spc="-20" dirty="0">
                <a:solidFill>
                  <a:srgbClr val="8ECAE6"/>
                </a:solidFill>
                <a:effectLst/>
                <a:uFillTx/>
                <a:latin typeface="Calibri"/>
              </a:rPr>
              <a:t>= jedna liczba która wyraża wartość produktu dla użytkownika. </a:t>
            </a:r>
            <a:endParaRPr lang="pl-PL" sz="1400" b="0" u="none" strike="noStrike" spc="-20" dirty="0" smtClean="0">
              <a:solidFill>
                <a:srgbClr val="8ECAE6"/>
              </a:solidFill>
              <a:effectLst/>
              <a:uFillTx/>
              <a:latin typeface="Calibri"/>
            </a:endParaRPr>
          </a:p>
          <a:p>
            <a:pPr defTabSz="914400">
              <a:lnSpc>
                <a:spcPct val="100000"/>
              </a:lnSpc>
            </a:pPr>
            <a:r>
              <a:rPr lang="pl-PL" sz="1400" b="1" u="none" strike="noStrike" spc="-20" dirty="0" err="1" smtClean="0">
                <a:solidFill>
                  <a:srgbClr val="8ECAE6"/>
                </a:solidFill>
                <a:effectLst/>
                <a:uFillTx/>
                <a:latin typeface="Calibri"/>
              </a:rPr>
              <a:t>Spotify</a:t>
            </a:r>
            <a:r>
              <a:rPr lang="pl-PL" sz="1400" b="0" u="none" strike="noStrike" spc="-20" dirty="0">
                <a:solidFill>
                  <a:srgbClr val="8ECAE6"/>
                </a:solidFill>
                <a:effectLst/>
                <a:uFillTx/>
                <a:latin typeface="Calibri"/>
              </a:rPr>
              <a:t>: minuty odsłuchu. </a:t>
            </a:r>
            <a:r>
              <a:rPr lang="pl-PL" sz="1400" spc="-20" dirty="0">
                <a:solidFill>
                  <a:srgbClr val="8ECAE6"/>
                </a:solidFill>
                <a:latin typeface="Calibri"/>
              </a:rPr>
              <a:t> </a:t>
            </a:r>
            <a:r>
              <a:rPr lang="pl-PL" sz="1400" spc="-20" dirty="0" smtClean="0">
                <a:solidFill>
                  <a:srgbClr val="8ECAE6"/>
                </a:solidFill>
                <a:latin typeface="Calibri"/>
              </a:rPr>
              <a:t>    //           </a:t>
            </a:r>
            <a:r>
              <a:rPr lang="pl-PL" sz="1400" b="1" u="none" strike="noStrike" spc="-20" dirty="0" smtClean="0">
                <a:solidFill>
                  <a:srgbClr val="8ECAE6"/>
                </a:solidFill>
                <a:effectLst/>
                <a:uFillTx/>
                <a:latin typeface="Calibri"/>
              </a:rPr>
              <a:t>Airbnb</a:t>
            </a:r>
            <a:r>
              <a:rPr lang="pl-PL" sz="1400" b="0" u="none" strike="noStrike" spc="-20" dirty="0">
                <a:solidFill>
                  <a:srgbClr val="8ECAE6"/>
                </a:solidFill>
                <a:effectLst/>
                <a:uFillTx/>
                <a:latin typeface="Calibri"/>
              </a:rPr>
              <a:t>: zarezerwowane noce. </a:t>
            </a:r>
            <a:r>
              <a:rPr lang="pl-PL" sz="1400" spc="-20" dirty="0">
                <a:solidFill>
                  <a:srgbClr val="8ECAE6"/>
                </a:solidFill>
                <a:latin typeface="Calibri"/>
              </a:rPr>
              <a:t> </a:t>
            </a:r>
            <a:r>
              <a:rPr lang="pl-PL" sz="1400" spc="-20" dirty="0" smtClean="0">
                <a:solidFill>
                  <a:srgbClr val="8ECAE6"/>
                </a:solidFill>
                <a:latin typeface="Calibri"/>
              </a:rPr>
              <a:t>     //      </a:t>
            </a:r>
            <a:r>
              <a:rPr lang="pl-PL" sz="1400" b="1" u="none" strike="noStrike" spc="-20" dirty="0" smtClean="0">
                <a:solidFill>
                  <a:srgbClr val="8ECAE6"/>
                </a:solidFill>
                <a:effectLst/>
                <a:uFillTx/>
                <a:latin typeface="Calibri"/>
              </a:rPr>
              <a:t>WhatsApp</a:t>
            </a:r>
            <a:r>
              <a:rPr lang="pl-PL" sz="1400" b="0" u="none" strike="noStrike" spc="-20" dirty="0">
                <a:solidFill>
                  <a:srgbClr val="8ECAE6"/>
                </a:solidFill>
                <a:effectLst/>
                <a:uFillTx/>
                <a:latin typeface="Calibri"/>
              </a:rPr>
              <a:t>: wiadomości wysłane/dzień.</a:t>
            </a:r>
            <a:endParaRPr lang="pl-PL" sz="1400" b="0" u="none" strike="noStrike" dirty="0">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984" name="Text 2"/>
          <p:cNvSpPr/>
          <p:nvPr/>
        </p:nvSpPr>
        <p:spPr>
          <a:xfrm>
            <a:off x="1134000" y="73080"/>
            <a:ext cx="7588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Calibri"/>
              </a:rPr>
              <a:t>Zarządzanie kryzysem produkcyjnym</a:t>
            </a:r>
            <a:r>
              <a:rPr lang="pl-PL" sz="2000" b="1" u="none" strike="noStrike">
                <a:solidFill>
                  <a:srgbClr val="FFFFFF"/>
                </a:solidFill>
                <a:effectLst/>
                <a:uFillTx/>
                <a:latin typeface="Calibri"/>
              </a:rPr>
              <a:t>:</a:t>
            </a:r>
            <a:r>
              <a:rPr lang="en-US" sz="2000" b="1" u="none" strike="noStrike">
                <a:solidFill>
                  <a:srgbClr val="FFFFFF"/>
                </a:solidFill>
                <a:effectLst/>
                <a:uFillTx/>
                <a:latin typeface="Calibri"/>
              </a:rPr>
              <a:t> </a:t>
            </a:r>
            <a:r>
              <a:rPr lang="en-US" sz="2000" b="0" u="none" strike="noStrike">
                <a:solidFill>
                  <a:srgbClr val="FFFFFF"/>
                </a:solidFill>
                <a:effectLst/>
                <a:uFillTx/>
                <a:latin typeface="Calibri"/>
              </a:rPr>
              <a:t>Incident Management</a:t>
            </a:r>
            <a:endParaRPr lang="pl-PL" sz="2000" b="0" u="none" strike="noStrike">
              <a:solidFill>
                <a:srgbClr val="FFFFFF"/>
              </a:solidFill>
              <a:effectLst/>
              <a:uFillTx/>
              <a:latin typeface="Arial"/>
            </a:endParaRPr>
          </a:p>
        </p:txBody>
      </p:sp>
      <p:sp>
        <p:nvSpPr>
          <p:cNvPr id="985" name="Shape 3"/>
          <p:cNvSpPr/>
          <p:nvPr/>
        </p:nvSpPr>
        <p:spPr>
          <a:xfrm>
            <a:off x="383760" y="41805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grpSp>
        <p:nvGrpSpPr>
          <p:cNvPr id="2" name="Grupa 1"/>
          <p:cNvGrpSpPr/>
          <p:nvPr/>
        </p:nvGrpSpPr>
        <p:grpSpPr>
          <a:xfrm>
            <a:off x="383760" y="567000"/>
            <a:ext cx="8320320" cy="1096200"/>
            <a:chOff x="2296740" y="567000"/>
            <a:chExt cx="6407340" cy="1096200"/>
          </a:xfrm>
        </p:grpSpPr>
        <p:sp>
          <p:nvSpPr>
            <p:cNvPr id="991" name="Shape 9"/>
            <p:cNvSpPr/>
            <p:nvPr/>
          </p:nvSpPr>
          <p:spPr>
            <a:xfrm>
              <a:off x="2296740" y="567000"/>
              <a:ext cx="2010600" cy="1096200"/>
            </a:xfrm>
            <a:prstGeom prst="rect">
              <a:avLst/>
            </a:prstGeom>
            <a:solidFill>
              <a:srgbClr val="0A2540"/>
            </a:solidFill>
            <a:ln w="1016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92" name="Shape 10"/>
            <p:cNvSpPr/>
            <p:nvPr/>
          </p:nvSpPr>
          <p:spPr>
            <a:xfrm>
              <a:off x="2296740" y="567000"/>
              <a:ext cx="2010600" cy="5364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FFFFFF"/>
                </a:solidFill>
                <a:effectLst/>
                <a:uFillTx/>
                <a:latin typeface="Arial"/>
              </a:endParaRPr>
            </a:p>
          </p:txBody>
        </p:sp>
        <p:sp>
          <p:nvSpPr>
            <p:cNvPr id="993" name="Text 11"/>
            <p:cNvSpPr/>
            <p:nvPr/>
          </p:nvSpPr>
          <p:spPr>
            <a:xfrm>
              <a:off x="2342460" y="658440"/>
              <a:ext cx="19191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dirty="0">
                  <a:solidFill>
                    <a:srgbClr val="FF7043"/>
                  </a:solidFill>
                  <a:effectLst/>
                  <a:uFillTx/>
                  <a:latin typeface="Calibri"/>
                </a:rPr>
                <a:t>$5 600</a:t>
              </a:r>
              <a:endParaRPr lang="pl-PL" sz="2400" b="0" u="none" strike="noStrike" dirty="0">
                <a:solidFill>
                  <a:srgbClr val="FFFFFF"/>
                </a:solidFill>
                <a:effectLst/>
                <a:uFillTx/>
                <a:latin typeface="Arial"/>
              </a:endParaRPr>
            </a:p>
          </p:txBody>
        </p:sp>
        <p:sp>
          <p:nvSpPr>
            <p:cNvPr id="994" name="Text 12"/>
            <p:cNvSpPr/>
            <p:nvPr/>
          </p:nvSpPr>
          <p:spPr>
            <a:xfrm>
              <a:off x="2342460" y="1093995"/>
              <a:ext cx="1919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b="1" u="none" strike="noStrike" dirty="0" smtClean="0">
                  <a:solidFill>
                    <a:srgbClr val="FFFFFF"/>
                  </a:solidFill>
                  <a:effectLst/>
                  <a:uFillTx/>
                  <a:latin typeface="Calibri"/>
                </a:rPr>
                <a:t>utrata przychodu</a:t>
              </a:r>
              <a:endParaRPr lang="pl-PL" b="0" u="none" strike="noStrike" dirty="0">
                <a:solidFill>
                  <a:srgbClr val="FFFFFF"/>
                </a:solidFill>
                <a:effectLst/>
                <a:uFillTx/>
                <a:latin typeface="Arial"/>
              </a:endParaRPr>
            </a:p>
          </p:txBody>
        </p:sp>
        <p:sp>
          <p:nvSpPr>
            <p:cNvPr id="995" name="Text 13"/>
            <p:cNvSpPr/>
            <p:nvPr/>
          </p:nvSpPr>
          <p:spPr>
            <a:xfrm>
              <a:off x="2342460" y="1360695"/>
              <a:ext cx="191916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0" u="none" strike="noStrike" spc="-40" dirty="0" err="1">
                  <a:solidFill>
                    <a:srgbClr val="8ECAE6"/>
                  </a:solidFill>
                  <a:effectLst/>
                  <a:uFillTx/>
                  <a:latin typeface="Calibri"/>
                </a:rPr>
                <a:t>na</a:t>
              </a:r>
              <a:r>
                <a:rPr lang="en-US" sz="1200" b="0" u="none" strike="noStrike" spc="-40" dirty="0">
                  <a:solidFill>
                    <a:srgbClr val="8ECAE6"/>
                  </a:solidFill>
                  <a:effectLst/>
                  <a:uFillTx/>
                  <a:latin typeface="Calibri"/>
                </a:rPr>
                <a:t> </a:t>
              </a:r>
              <a:r>
                <a:rPr lang="en-US" sz="1200" b="0" u="none" strike="noStrike" spc="-40" dirty="0" err="1">
                  <a:solidFill>
                    <a:srgbClr val="8ECAE6"/>
                  </a:solidFill>
                  <a:effectLst/>
                  <a:uFillTx/>
                  <a:latin typeface="Calibri"/>
                </a:rPr>
                <a:t>minutę</a:t>
              </a:r>
              <a:r>
                <a:rPr lang="en-US" sz="1200" b="0" u="none" strike="noStrike" spc="-40" dirty="0">
                  <a:solidFill>
                    <a:srgbClr val="8ECAE6"/>
                  </a:solidFill>
                  <a:effectLst/>
                  <a:uFillTx/>
                  <a:latin typeface="Calibri"/>
                </a:rPr>
                <a:t> downtime (</a:t>
              </a:r>
              <a:r>
                <a:rPr lang="en-US" sz="1200" b="0" u="none" strike="noStrike" spc="-40" dirty="0" err="1">
                  <a:solidFill>
                    <a:srgbClr val="8ECAE6"/>
                  </a:solidFill>
                  <a:effectLst/>
                  <a:uFillTx/>
                  <a:latin typeface="Calibri"/>
                </a:rPr>
                <a:t>avg</a:t>
              </a:r>
              <a:r>
                <a:rPr lang="en-US" sz="1200" b="0" u="none" strike="noStrike" spc="-40" dirty="0">
                  <a:solidFill>
                    <a:srgbClr val="8ECAE6"/>
                  </a:solidFill>
                  <a:effectLst/>
                  <a:uFillTx/>
                  <a:latin typeface="Calibri"/>
                </a:rPr>
                <a:t> e-commerce)</a:t>
              </a:r>
              <a:endParaRPr lang="pl-PL" sz="1200" b="0" u="none" strike="noStrike" spc="-40" dirty="0">
                <a:solidFill>
                  <a:srgbClr val="FFFFFF"/>
                </a:solidFill>
                <a:effectLst/>
                <a:uFillTx/>
                <a:latin typeface="Arial"/>
              </a:endParaRPr>
            </a:p>
          </p:txBody>
        </p:sp>
        <p:sp>
          <p:nvSpPr>
            <p:cNvPr id="996" name="Shape 14"/>
            <p:cNvSpPr/>
            <p:nvPr/>
          </p:nvSpPr>
          <p:spPr>
            <a:xfrm>
              <a:off x="4495110" y="567000"/>
              <a:ext cx="2010600" cy="1096200"/>
            </a:xfrm>
            <a:prstGeom prst="rect">
              <a:avLst/>
            </a:prstGeom>
            <a:solidFill>
              <a:srgbClr val="0A2540"/>
            </a:solidFill>
            <a:ln w="1016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997" name="Shape 15"/>
            <p:cNvSpPr/>
            <p:nvPr/>
          </p:nvSpPr>
          <p:spPr>
            <a:xfrm>
              <a:off x="4495110" y="567000"/>
              <a:ext cx="2010600" cy="5364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000000"/>
                </a:solidFill>
                <a:effectLst/>
                <a:uFillTx/>
                <a:latin typeface="Arial"/>
              </a:endParaRPr>
            </a:p>
          </p:txBody>
        </p:sp>
        <p:sp>
          <p:nvSpPr>
            <p:cNvPr id="998" name="Text 16"/>
            <p:cNvSpPr/>
            <p:nvPr/>
          </p:nvSpPr>
          <p:spPr>
            <a:xfrm>
              <a:off x="4540830" y="658440"/>
              <a:ext cx="19191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dirty="0">
                  <a:solidFill>
                    <a:srgbClr val="FFB300"/>
                  </a:solidFill>
                  <a:effectLst/>
                  <a:uFillTx/>
                  <a:latin typeface="Calibri"/>
                </a:rPr>
                <a:t>3★</a:t>
              </a:r>
              <a:endParaRPr lang="pl-PL" sz="2400" b="0" u="none" strike="noStrike" dirty="0">
                <a:solidFill>
                  <a:srgbClr val="FFFFFF"/>
                </a:solidFill>
                <a:effectLst/>
                <a:uFillTx/>
                <a:latin typeface="Arial"/>
              </a:endParaRPr>
            </a:p>
          </p:txBody>
        </p:sp>
        <p:sp>
          <p:nvSpPr>
            <p:cNvPr id="999" name="Text 17"/>
            <p:cNvSpPr/>
            <p:nvPr/>
          </p:nvSpPr>
          <p:spPr>
            <a:xfrm>
              <a:off x="4540830" y="1093995"/>
              <a:ext cx="1919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b="1" u="none" strike="noStrike" dirty="0" smtClean="0">
                  <a:solidFill>
                    <a:srgbClr val="FFFFFF"/>
                  </a:solidFill>
                  <a:effectLst/>
                  <a:uFillTx/>
                  <a:latin typeface="Calibri"/>
                </a:rPr>
                <a:t>porzucenie </a:t>
              </a:r>
              <a:r>
                <a:rPr lang="pl-PL" b="1" u="none" strike="noStrike" dirty="0" err="1" smtClean="0">
                  <a:solidFill>
                    <a:srgbClr val="FFFFFF"/>
                  </a:solidFill>
                  <a:effectLst/>
                  <a:uFillTx/>
                  <a:latin typeface="Calibri"/>
                </a:rPr>
                <a:t>apki</a:t>
              </a:r>
              <a:endParaRPr lang="pl-PL" b="0" u="none" strike="noStrike" dirty="0">
                <a:solidFill>
                  <a:srgbClr val="FFFFFF"/>
                </a:solidFill>
                <a:effectLst/>
                <a:uFillTx/>
                <a:latin typeface="Arial"/>
              </a:endParaRPr>
            </a:p>
          </p:txBody>
        </p:sp>
        <p:sp>
          <p:nvSpPr>
            <p:cNvPr id="1000" name="Text 18"/>
            <p:cNvSpPr/>
            <p:nvPr/>
          </p:nvSpPr>
          <p:spPr>
            <a:xfrm>
              <a:off x="4540830" y="1360695"/>
              <a:ext cx="191916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dirty="0" err="1">
                  <a:solidFill>
                    <a:srgbClr val="8ECAE6"/>
                  </a:solidFill>
                  <a:effectLst/>
                  <a:uFillTx/>
                  <a:latin typeface="Calibri"/>
                </a:rPr>
                <a:t>użytkownicy</a:t>
              </a:r>
              <a:r>
                <a:rPr lang="en-US" sz="1050" b="0" u="none" strike="noStrike" dirty="0">
                  <a:solidFill>
                    <a:srgbClr val="8ECAE6"/>
                  </a:solidFill>
                  <a:effectLst/>
                  <a:uFillTx/>
                  <a:latin typeface="Calibri"/>
                </a:rPr>
                <a:t> </a:t>
              </a:r>
              <a:r>
                <a:rPr lang="en-US" sz="1050" b="0" u="none" strike="noStrike" dirty="0" err="1">
                  <a:solidFill>
                    <a:srgbClr val="8ECAE6"/>
                  </a:solidFill>
                  <a:effectLst/>
                  <a:uFillTx/>
                  <a:latin typeface="Calibri"/>
                </a:rPr>
                <a:t>odinstalowują</a:t>
              </a:r>
              <a:r>
                <a:rPr lang="en-US" sz="1050" b="0" u="none" strike="noStrike" dirty="0">
                  <a:solidFill>
                    <a:srgbClr val="8ECAE6"/>
                  </a:solidFill>
                  <a:effectLst/>
                  <a:uFillTx/>
                  <a:latin typeface="Calibri"/>
                </a:rPr>
                <a:t> </a:t>
              </a:r>
              <a:r>
                <a:rPr lang="en-US" sz="1050" b="0" u="none" strike="noStrike" dirty="0" err="1">
                  <a:solidFill>
                    <a:srgbClr val="8ECAE6"/>
                  </a:solidFill>
                  <a:effectLst/>
                  <a:uFillTx/>
                  <a:latin typeface="Calibri"/>
                </a:rPr>
                <a:t>przy</a:t>
              </a:r>
              <a:r>
                <a:rPr lang="en-US" sz="1050" b="0" u="none" strike="noStrike" dirty="0">
                  <a:solidFill>
                    <a:srgbClr val="8ECAE6"/>
                  </a:solidFill>
                  <a:effectLst/>
                  <a:uFillTx/>
                  <a:latin typeface="Calibri"/>
                </a:rPr>
                <a:t> </a:t>
              </a:r>
              <a:r>
                <a:rPr lang="en-US" sz="1050" b="0" u="none" strike="noStrike" dirty="0" err="1">
                  <a:solidFill>
                    <a:srgbClr val="8ECAE6"/>
                  </a:solidFill>
                  <a:effectLst/>
                  <a:uFillTx/>
                  <a:latin typeface="Calibri"/>
                </a:rPr>
                <a:t>ocenie</a:t>
              </a:r>
              <a:r>
                <a:rPr lang="en-US" sz="1050" b="0" u="none" strike="noStrike" dirty="0">
                  <a:solidFill>
                    <a:srgbClr val="8ECAE6"/>
                  </a:solidFill>
                  <a:effectLst/>
                  <a:uFillTx/>
                  <a:latin typeface="Calibri"/>
                </a:rPr>
                <a:t> &lt;3★</a:t>
              </a:r>
              <a:endParaRPr lang="pl-PL" sz="1050" b="0" u="none" strike="noStrike" dirty="0">
                <a:solidFill>
                  <a:srgbClr val="FFFFFF"/>
                </a:solidFill>
                <a:effectLst/>
                <a:uFillTx/>
                <a:latin typeface="Arial"/>
              </a:endParaRPr>
            </a:p>
          </p:txBody>
        </p:sp>
        <p:sp>
          <p:nvSpPr>
            <p:cNvPr id="1001" name="Shape 19"/>
            <p:cNvSpPr/>
            <p:nvPr/>
          </p:nvSpPr>
          <p:spPr>
            <a:xfrm>
              <a:off x="6693480" y="567000"/>
              <a:ext cx="2010600" cy="1096200"/>
            </a:xfrm>
            <a:prstGeom prst="rect">
              <a:avLst/>
            </a:prstGeom>
            <a:solidFill>
              <a:srgbClr val="0A2540"/>
            </a:solidFill>
            <a:ln w="1016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02" name="Shape 20"/>
            <p:cNvSpPr/>
            <p:nvPr/>
          </p:nvSpPr>
          <p:spPr>
            <a:xfrm>
              <a:off x="6693480" y="567000"/>
              <a:ext cx="2010600" cy="5364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9720" rIns="90000" bIns="9720" anchor="t">
              <a:noAutofit/>
            </a:bodyPr>
            <a:lstStyle/>
            <a:p>
              <a:pPr>
                <a:lnSpc>
                  <a:spcPct val="100000"/>
                </a:lnSpc>
              </a:pPr>
              <a:endParaRPr lang="pl-PL" sz="1800" b="0" u="none" strike="noStrike">
                <a:solidFill>
                  <a:srgbClr val="000000"/>
                </a:solidFill>
                <a:effectLst/>
                <a:uFillTx/>
                <a:latin typeface="Arial"/>
              </a:endParaRPr>
            </a:p>
          </p:txBody>
        </p:sp>
        <p:sp>
          <p:nvSpPr>
            <p:cNvPr id="1003" name="Text 21"/>
            <p:cNvSpPr/>
            <p:nvPr/>
          </p:nvSpPr>
          <p:spPr>
            <a:xfrm>
              <a:off x="6739200" y="658440"/>
              <a:ext cx="1919160" cy="501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800" b="1" u="none" strike="noStrike" dirty="0">
                  <a:solidFill>
                    <a:srgbClr val="00BCD4"/>
                  </a:solidFill>
                  <a:effectLst/>
                  <a:uFillTx/>
                  <a:latin typeface="Calibri"/>
                </a:rPr>
                <a:t>72h</a:t>
              </a:r>
              <a:endParaRPr lang="pl-PL" sz="2800" b="0" u="none" strike="noStrike" dirty="0">
                <a:solidFill>
                  <a:srgbClr val="FFFFFF"/>
                </a:solidFill>
                <a:effectLst/>
                <a:uFillTx/>
                <a:latin typeface="Arial"/>
              </a:endParaRPr>
            </a:p>
          </p:txBody>
        </p:sp>
        <p:sp>
          <p:nvSpPr>
            <p:cNvPr id="1004" name="Text 22"/>
            <p:cNvSpPr/>
            <p:nvPr/>
          </p:nvSpPr>
          <p:spPr>
            <a:xfrm>
              <a:off x="6739200" y="1093995"/>
              <a:ext cx="1919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b="1" u="none" strike="noStrike" dirty="0" smtClean="0">
                  <a:solidFill>
                    <a:srgbClr val="FFFFFF"/>
                  </a:solidFill>
                  <a:effectLst/>
                  <a:uFillTx/>
                  <a:latin typeface="Calibri"/>
                </a:rPr>
                <a:t>okno krytyczne</a:t>
              </a:r>
              <a:endParaRPr lang="pl-PL" b="0" u="none" strike="noStrike" dirty="0">
                <a:solidFill>
                  <a:srgbClr val="FFFFFF"/>
                </a:solidFill>
                <a:effectLst/>
                <a:uFillTx/>
                <a:latin typeface="Arial"/>
              </a:endParaRPr>
            </a:p>
          </p:txBody>
        </p:sp>
        <p:sp>
          <p:nvSpPr>
            <p:cNvPr id="1005" name="Text 23"/>
            <p:cNvSpPr/>
            <p:nvPr/>
          </p:nvSpPr>
          <p:spPr>
            <a:xfrm>
              <a:off x="6739200" y="1360695"/>
              <a:ext cx="1919160" cy="254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u="none" strike="noStrike" dirty="0" err="1">
                  <a:solidFill>
                    <a:srgbClr val="8ECAE6"/>
                  </a:solidFill>
                  <a:effectLst/>
                  <a:uFillTx/>
                  <a:latin typeface="Calibri"/>
                </a:rPr>
                <a:t>wizerunek</a:t>
              </a:r>
              <a:r>
                <a:rPr lang="en-US" sz="1000" b="0" u="none" strike="noStrike" dirty="0">
                  <a:solidFill>
                    <a:srgbClr val="8ECAE6"/>
                  </a:solidFill>
                  <a:effectLst/>
                  <a:uFillTx/>
                  <a:latin typeface="Calibri"/>
                </a:rPr>
                <a:t> </a:t>
              </a:r>
              <a:r>
                <a:rPr lang="en-US" sz="1000" b="0" u="none" strike="noStrike" dirty="0" err="1">
                  <a:solidFill>
                    <a:srgbClr val="8ECAE6"/>
                  </a:solidFill>
                  <a:effectLst/>
                  <a:uFillTx/>
                  <a:latin typeface="Calibri"/>
                </a:rPr>
                <a:t>można</a:t>
              </a:r>
              <a:r>
                <a:rPr lang="en-US" sz="1000" b="0" u="none" strike="noStrike" dirty="0">
                  <a:solidFill>
                    <a:srgbClr val="8ECAE6"/>
                  </a:solidFill>
                  <a:effectLst/>
                  <a:uFillTx/>
                  <a:latin typeface="Calibri"/>
                </a:rPr>
                <a:t> </a:t>
              </a:r>
              <a:r>
                <a:rPr lang="en-US" sz="1000" b="0" u="none" strike="noStrike" dirty="0" err="1">
                  <a:solidFill>
                    <a:srgbClr val="8ECAE6"/>
                  </a:solidFill>
                  <a:effectLst/>
                  <a:uFillTx/>
                  <a:latin typeface="Calibri"/>
                </a:rPr>
                <a:t>uratować</a:t>
              </a:r>
              <a:r>
                <a:rPr lang="en-US" sz="1000" b="0" u="none" strike="noStrike" dirty="0">
                  <a:solidFill>
                    <a:srgbClr val="8ECAE6"/>
                  </a:solidFill>
                  <a:effectLst/>
                  <a:uFillTx/>
                  <a:latin typeface="Calibri"/>
                </a:rPr>
                <a:t> w 72h od </a:t>
              </a:r>
              <a:r>
                <a:rPr lang="en-US" sz="1000" b="0" u="none" strike="noStrike" dirty="0" err="1">
                  <a:solidFill>
                    <a:srgbClr val="8ECAE6"/>
                  </a:solidFill>
                  <a:effectLst/>
                  <a:uFillTx/>
                  <a:latin typeface="Calibri"/>
                </a:rPr>
                <a:t>incydentu</a:t>
              </a:r>
              <a:endParaRPr lang="pl-PL" sz="1000" b="0" u="none" strike="noStrike" dirty="0">
                <a:solidFill>
                  <a:srgbClr val="FFFFFF"/>
                </a:solidFill>
                <a:effectLst/>
                <a:uFillTx/>
                <a:latin typeface="Arial"/>
              </a:endParaRPr>
            </a:p>
          </p:txBody>
        </p:sp>
      </p:grpSp>
      <p:sp>
        <p:nvSpPr>
          <p:cNvPr id="1006" name="Text 24"/>
          <p:cNvSpPr/>
          <p:nvPr/>
        </p:nvSpPr>
        <p:spPr>
          <a:xfrm>
            <a:off x="384120" y="1826205"/>
            <a:ext cx="3263955"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u="none" strike="noStrike" dirty="0">
                <a:solidFill>
                  <a:srgbClr val="FFFFFF"/>
                </a:solidFill>
                <a:effectLst/>
                <a:uFillTx/>
                <a:latin typeface="Calibri"/>
              </a:rPr>
              <a:t>Klasyfikacja incydentów i czas reakcji</a:t>
            </a:r>
            <a:endParaRPr lang="pl-PL" sz="1600" u="none" strike="noStrike" dirty="0">
              <a:solidFill>
                <a:srgbClr val="FFFFFF"/>
              </a:solidFill>
              <a:effectLst/>
              <a:uFillTx/>
              <a:latin typeface="Arial"/>
            </a:endParaRPr>
          </a:p>
        </p:txBody>
      </p:sp>
      <p:sp>
        <p:nvSpPr>
          <p:cNvPr id="1007" name="Shape 25"/>
          <p:cNvSpPr/>
          <p:nvPr/>
        </p:nvSpPr>
        <p:spPr>
          <a:xfrm>
            <a:off x="384120" y="2127885"/>
            <a:ext cx="8374680" cy="474480"/>
          </a:xfrm>
          <a:prstGeom prst="rect">
            <a:avLst/>
          </a:prstGeom>
          <a:solidFill>
            <a:srgbClr val="0A2540"/>
          </a:solidFill>
          <a:ln w="762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600" b="0" u="none" strike="noStrike">
              <a:solidFill>
                <a:srgbClr val="FFFFFF"/>
              </a:solidFill>
              <a:effectLst/>
              <a:uFillTx/>
              <a:latin typeface="Arial"/>
            </a:endParaRPr>
          </a:p>
        </p:txBody>
      </p:sp>
      <p:sp>
        <p:nvSpPr>
          <p:cNvPr id="1008" name="Shape 26"/>
          <p:cNvSpPr/>
          <p:nvPr/>
        </p:nvSpPr>
        <p:spPr>
          <a:xfrm>
            <a:off x="384120" y="2127885"/>
            <a:ext cx="63000" cy="47448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09" name="Text 27"/>
          <p:cNvSpPr/>
          <p:nvPr/>
        </p:nvSpPr>
        <p:spPr>
          <a:xfrm>
            <a:off x="539640" y="2164605"/>
            <a:ext cx="18277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pl-PL" b="1" u="none" strike="noStrike" dirty="0">
                <a:solidFill>
                  <a:srgbClr val="EF5350"/>
                </a:solidFill>
                <a:effectLst/>
                <a:uFillTx/>
                <a:latin typeface="Calibri"/>
              </a:rPr>
              <a:t>P0 </a:t>
            </a:r>
            <a:r>
              <a:rPr lang="pl-PL" b="1" dirty="0" smtClean="0">
                <a:solidFill>
                  <a:srgbClr val="EF5350"/>
                </a:solidFill>
              </a:rPr>
              <a:t>–– </a:t>
            </a:r>
            <a:r>
              <a:rPr lang="pl-PL" b="1" u="none" strike="noStrike" dirty="0">
                <a:solidFill>
                  <a:srgbClr val="EF5350"/>
                </a:solidFill>
                <a:effectLst/>
                <a:uFillTx/>
                <a:latin typeface="Calibri"/>
              </a:rPr>
              <a:t>Critical</a:t>
            </a:r>
            <a:endParaRPr lang="pl-PL" b="0" u="none" strike="noStrike" dirty="0">
              <a:solidFill>
                <a:srgbClr val="FFFFFF"/>
              </a:solidFill>
              <a:effectLst/>
              <a:uFillTx/>
              <a:latin typeface="Arial"/>
            </a:endParaRPr>
          </a:p>
        </p:txBody>
      </p:sp>
      <p:sp>
        <p:nvSpPr>
          <p:cNvPr id="1010" name="Text 28"/>
          <p:cNvSpPr/>
          <p:nvPr/>
        </p:nvSpPr>
        <p:spPr>
          <a:xfrm>
            <a:off x="5592960" y="2164605"/>
            <a:ext cx="1370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400" u="none" strike="noStrike" dirty="0">
                <a:solidFill>
                  <a:srgbClr val="FFFFFF"/>
                </a:solidFill>
                <a:effectLst/>
                <a:uFillTx/>
                <a:latin typeface="Calibri"/>
              </a:rPr>
              <a:t>Reakcja: </a:t>
            </a:r>
            <a:r>
              <a:rPr lang="pl-PL" sz="1400" b="1" u="none" strike="noStrike" dirty="0">
                <a:solidFill>
                  <a:srgbClr val="FFFFFF"/>
                </a:solidFill>
                <a:effectLst/>
                <a:uFillTx/>
                <a:latin typeface="Calibri"/>
              </a:rPr>
              <a:t>15 min</a:t>
            </a:r>
            <a:endParaRPr lang="pl-PL" sz="1400" b="0" u="none" strike="noStrike" dirty="0">
              <a:solidFill>
                <a:srgbClr val="FFFFFF"/>
              </a:solidFill>
              <a:effectLst/>
              <a:uFillTx/>
              <a:latin typeface="Arial"/>
            </a:endParaRPr>
          </a:p>
        </p:txBody>
      </p:sp>
      <p:sp>
        <p:nvSpPr>
          <p:cNvPr id="1011" name="Text 29"/>
          <p:cNvSpPr/>
          <p:nvPr/>
        </p:nvSpPr>
        <p:spPr>
          <a:xfrm>
            <a:off x="7056000" y="2164605"/>
            <a:ext cx="16448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300" b="0" u="none" strike="noStrike">
                <a:solidFill>
                  <a:srgbClr val="8ECAE6"/>
                </a:solidFill>
                <a:effectLst/>
                <a:uFillTx/>
                <a:latin typeface="Calibri"/>
              </a:rPr>
              <a:t>Rozwiązanie: 2h</a:t>
            </a:r>
            <a:endParaRPr lang="pl-PL" sz="1300" b="0" u="none" strike="noStrike">
              <a:solidFill>
                <a:srgbClr val="FFFFFF"/>
              </a:solidFill>
              <a:effectLst/>
              <a:uFillTx/>
              <a:latin typeface="Arial"/>
            </a:endParaRPr>
          </a:p>
        </p:txBody>
      </p:sp>
      <p:sp>
        <p:nvSpPr>
          <p:cNvPr id="1012" name="Text 30"/>
          <p:cNvSpPr/>
          <p:nvPr/>
        </p:nvSpPr>
        <p:spPr>
          <a:xfrm>
            <a:off x="539640" y="2365485"/>
            <a:ext cx="8228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a:solidFill>
                  <a:srgbClr val="FFFFFF"/>
                </a:solidFill>
                <a:effectLst/>
                <a:uFillTx/>
                <a:latin typeface="Calibri"/>
              </a:rPr>
              <a:t>Apka nie startuje / crash rate &gt;10% / utrata danych użytkowników</a:t>
            </a:r>
            <a:endParaRPr lang="pl-PL" sz="1200" b="0" u="none" strike="noStrike">
              <a:solidFill>
                <a:srgbClr val="FFFFFF"/>
              </a:solidFill>
              <a:effectLst/>
              <a:uFillTx/>
              <a:latin typeface="Arial"/>
            </a:endParaRPr>
          </a:p>
        </p:txBody>
      </p:sp>
      <p:sp>
        <p:nvSpPr>
          <p:cNvPr id="1013" name="Shape 31"/>
          <p:cNvSpPr/>
          <p:nvPr/>
        </p:nvSpPr>
        <p:spPr>
          <a:xfrm>
            <a:off x="384120" y="2694885"/>
            <a:ext cx="8374680" cy="474480"/>
          </a:xfrm>
          <a:prstGeom prst="rect">
            <a:avLst/>
          </a:prstGeom>
          <a:solidFill>
            <a:srgbClr val="0A2540"/>
          </a:solidFill>
          <a:ln w="762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14" name="Shape 32"/>
          <p:cNvSpPr/>
          <p:nvPr/>
        </p:nvSpPr>
        <p:spPr>
          <a:xfrm>
            <a:off x="384120" y="2694885"/>
            <a:ext cx="63000" cy="47448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15" name="Text 33"/>
          <p:cNvSpPr/>
          <p:nvPr/>
        </p:nvSpPr>
        <p:spPr>
          <a:xfrm>
            <a:off x="539640" y="2731245"/>
            <a:ext cx="18277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pl-PL" b="1" u="none" strike="noStrike" dirty="0">
                <a:solidFill>
                  <a:srgbClr val="FF7043"/>
                </a:solidFill>
                <a:effectLst/>
                <a:uFillTx/>
                <a:latin typeface="Calibri"/>
              </a:rPr>
              <a:t>P1 </a:t>
            </a:r>
            <a:r>
              <a:rPr lang="pl-PL" b="1" dirty="0" smtClean="0">
                <a:solidFill>
                  <a:srgbClr val="FF7043"/>
                </a:solidFill>
              </a:rPr>
              <a:t>–– </a:t>
            </a:r>
            <a:r>
              <a:rPr lang="pl-PL" b="1" u="none" strike="noStrike" dirty="0">
                <a:solidFill>
                  <a:srgbClr val="FF7043"/>
                </a:solidFill>
                <a:effectLst/>
                <a:uFillTx/>
                <a:latin typeface="Calibri"/>
              </a:rPr>
              <a:t>High</a:t>
            </a:r>
            <a:endParaRPr lang="pl-PL" b="0" u="none" strike="noStrike" dirty="0">
              <a:solidFill>
                <a:srgbClr val="FFFFFF"/>
              </a:solidFill>
              <a:effectLst/>
              <a:uFillTx/>
              <a:latin typeface="Arial"/>
            </a:endParaRPr>
          </a:p>
        </p:txBody>
      </p:sp>
      <p:sp>
        <p:nvSpPr>
          <p:cNvPr id="1016" name="Text 34"/>
          <p:cNvSpPr/>
          <p:nvPr/>
        </p:nvSpPr>
        <p:spPr>
          <a:xfrm>
            <a:off x="5592960" y="2731245"/>
            <a:ext cx="1370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400" u="none" strike="noStrike" dirty="0">
                <a:solidFill>
                  <a:srgbClr val="FFFFFF"/>
                </a:solidFill>
                <a:effectLst/>
                <a:uFillTx/>
                <a:latin typeface="Calibri"/>
              </a:rPr>
              <a:t>Reakcja: </a:t>
            </a:r>
            <a:r>
              <a:rPr lang="pl-PL" sz="1400" b="1" u="none" strike="noStrike" dirty="0">
                <a:solidFill>
                  <a:srgbClr val="FFFFFF"/>
                </a:solidFill>
                <a:effectLst/>
                <a:uFillTx/>
                <a:latin typeface="Calibri"/>
              </a:rPr>
              <a:t>1h</a:t>
            </a:r>
            <a:endParaRPr lang="pl-PL" sz="1400" b="0" u="none" strike="noStrike" dirty="0">
              <a:solidFill>
                <a:srgbClr val="FFFFFF"/>
              </a:solidFill>
              <a:effectLst/>
              <a:uFillTx/>
              <a:latin typeface="Arial"/>
            </a:endParaRPr>
          </a:p>
        </p:txBody>
      </p:sp>
      <p:sp>
        <p:nvSpPr>
          <p:cNvPr id="1017" name="Text 35"/>
          <p:cNvSpPr/>
          <p:nvPr/>
        </p:nvSpPr>
        <p:spPr>
          <a:xfrm>
            <a:off x="7056000" y="2731245"/>
            <a:ext cx="16448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300" b="0" u="none" strike="noStrike">
                <a:solidFill>
                  <a:srgbClr val="8ECAE6"/>
                </a:solidFill>
                <a:effectLst/>
                <a:uFillTx/>
                <a:latin typeface="Calibri"/>
              </a:rPr>
              <a:t>Rozwiązanie: 8h</a:t>
            </a:r>
            <a:endParaRPr lang="pl-PL" sz="1300" b="0" u="none" strike="noStrike">
              <a:solidFill>
                <a:srgbClr val="FFFFFF"/>
              </a:solidFill>
              <a:effectLst/>
              <a:uFillTx/>
              <a:latin typeface="Arial"/>
            </a:endParaRPr>
          </a:p>
        </p:txBody>
      </p:sp>
      <p:sp>
        <p:nvSpPr>
          <p:cNvPr id="1018" name="Text 36"/>
          <p:cNvSpPr/>
          <p:nvPr/>
        </p:nvSpPr>
        <p:spPr>
          <a:xfrm>
            <a:off x="539640" y="2932485"/>
            <a:ext cx="8228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a:solidFill>
                  <a:srgbClr val="FFFFFF"/>
                </a:solidFill>
                <a:effectLst/>
                <a:uFillTx/>
                <a:latin typeface="Calibri"/>
              </a:rPr>
              <a:t>Kluczowy flow nie działa (logowanie, płatności) / degradacja &gt;50% userów</a:t>
            </a:r>
            <a:endParaRPr lang="pl-PL" sz="1200" b="0" u="none" strike="noStrike">
              <a:solidFill>
                <a:srgbClr val="FFFFFF"/>
              </a:solidFill>
              <a:effectLst/>
              <a:uFillTx/>
              <a:latin typeface="Arial"/>
            </a:endParaRPr>
          </a:p>
        </p:txBody>
      </p:sp>
      <p:sp>
        <p:nvSpPr>
          <p:cNvPr id="1019" name="Shape 37"/>
          <p:cNvSpPr/>
          <p:nvPr/>
        </p:nvSpPr>
        <p:spPr>
          <a:xfrm>
            <a:off x="384120" y="3261885"/>
            <a:ext cx="8374680" cy="474480"/>
          </a:xfrm>
          <a:prstGeom prst="rect">
            <a:avLst/>
          </a:prstGeom>
          <a:solidFill>
            <a:srgbClr val="0A2540"/>
          </a:solidFill>
          <a:ln w="762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2200" b="0" u="none" strike="noStrike">
              <a:solidFill>
                <a:srgbClr val="FFFFFF"/>
              </a:solidFill>
              <a:effectLst/>
              <a:uFillTx/>
              <a:latin typeface="Arial"/>
            </a:endParaRPr>
          </a:p>
        </p:txBody>
      </p:sp>
      <p:sp>
        <p:nvSpPr>
          <p:cNvPr id="1020" name="Shape 38"/>
          <p:cNvSpPr/>
          <p:nvPr/>
        </p:nvSpPr>
        <p:spPr>
          <a:xfrm>
            <a:off x="384120" y="3261885"/>
            <a:ext cx="63000" cy="47448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21" name="Text 39"/>
          <p:cNvSpPr/>
          <p:nvPr/>
        </p:nvSpPr>
        <p:spPr>
          <a:xfrm>
            <a:off x="539640" y="3298245"/>
            <a:ext cx="18277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pl-PL" b="1" u="none" strike="noStrike" dirty="0">
                <a:solidFill>
                  <a:srgbClr val="FFB300"/>
                </a:solidFill>
                <a:effectLst/>
                <a:uFillTx/>
                <a:latin typeface="Calibri"/>
              </a:rPr>
              <a:t>P2 </a:t>
            </a:r>
            <a:r>
              <a:rPr lang="pl-PL" b="1" dirty="0" smtClean="0">
                <a:solidFill>
                  <a:srgbClr val="FFB300"/>
                </a:solidFill>
              </a:rPr>
              <a:t>–– </a:t>
            </a:r>
            <a:r>
              <a:rPr lang="pl-PL" b="1" u="none" strike="noStrike" dirty="0">
                <a:solidFill>
                  <a:srgbClr val="FFB300"/>
                </a:solidFill>
                <a:effectLst/>
                <a:uFillTx/>
                <a:latin typeface="Calibri"/>
              </a:rPr>
              <a:t>Medium</a:t>
            </a:r>
            <a:endParaRPr lang="pl-PL" b="0" u="none" strike="noStrike" dirty="0">
              <a:solidFill>
                <a:srgbClr val="FFFFFF"/>
              </a:solidFill>
              <a:effectLst/>
              <a:uFillTx/>
              <a:latin typeface="Arial"/>
            </a:endParaRPr>
          </a:p>
        </p:txBody>
      </p:sp>
      <p:sp>
        <p:nvSpPr>
          <p:cNvPr id="1022" name="Text 40"/>
          <p:cNvSpPr/>
          <p:nvPr/>
        </p:nvSpPr>
        <p:spPr>
          <a:xfrm>
            <a:off x="5592960" y="3298245"/>
            <a:ext cx="1370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400" u="none" strike="noStrike" dirty="0">
                <a:solidFill>
                  <a:srgbClr val="FFFFFF"/>
                </a:solidFill>
                <a:effectLst/>
                <a:uFillTx/>
                <a:latin typeface="Calibri"/>
              </a:rPr>
              <a:t>Reakcja: </a:t>
            </a:r>
            <a:r>
              <a:rPr lang="pl-PL" sz="1400" b="1" u="none" strike="noStrike" dirty="0">
                <a:solidFill>
                  <a:srgbClr val="FFFFFF"/>
                </a:solidFill>
                <a:effectLst/>
                <a:uFillTx/>
                <a:latin typeface="Calibri"/>
              </a:rPr>
              <a:t>4h</a:t>
            </a:r>
            <a:endParaRPr lang="pl-PL" sz="1400" b="0" u="none" strike="noStrike" dirty="0">
              <a:solidFill>
                <a:srgbClr val="FFFFFF"/>
              </a:solidFill>
              <a:effectLst/>
              <a:uFillTx/>
              <a:latin typeface="Arial"/>
            </a:endParaRPr>
          </a:p>
        </p:txBody>
      </p:sp>
      <p:sp>
        <p:nvSpPr>
          <p:cNvPr id="1023" name="Text 41"/>
          <p:cNvSpPr/>
          <p:nvPr/>
        </p:nvSpPr>
        <p:spPr>
          <a:xfrm>
            <a:off x="7056000" y="3298245"/>
            <a:ext cx="16448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300" b="0" u="none" strike="noStrike">
                <a:solidFill>
                  <a:srgbClr val="8ECAE6"/>
                </a:solidFill>
                <a:effectLst/>
                <a:uFillTx/>
                <a:latin typeface="Calibri"/>
              </a:rPr>
              <a:t>Rozwiązanie: 2 dni</a:t>
            </a:r>
            <a:endParaRPr lang="pl-PL" sz="1300" b="0" u="none" strike="noStrike">
              <a:solidFill>
                <a:srgbClr val="FFFFFF"/>
              </a:solidFill>
              <a:effectLst/>
              <a:uFillTx/>
              <a:latin typeface="Arial"/>
            </a:endParaRPr>
          </a:p>
        </p:txBody>
      </p:sp>
      <p:sp>
        <p:nvSpPr>
          <p:cNvPr id="1024" name="Text 42"/>
          <p:cNvSpPr/>
          <p:nvPr/>
        </p:nvSpPr>
        <p:spPr>
          <a:xfrm>
            <a:off x="539640" y="3499485"/>
            <a:ext cx="8228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a:solidFill>
                  <a:srgbClr val="FFFFFF"/>
                </a:solidFill>
                <a:effectLst/>
                <a:uFillTx/>
                <a:latin typeface="Calibri"/>
              </a:rPr>
              <a:t>Feature działa z błędami / błąd dla &lt;10% userów / brak danych statystycznych</a:t>
            </a:r>
            <a:endParaRPr lang="pl-PL" sz="1200" b="0" u="none" strike="noStrike">
              <a:solidFill>
                <a:srgbClr val="FFFFFF"/>
              </a:solidFill>
              <a:effectLst/>
              <a:uFillTx/>
              <a:latin typeface="Arial"/>
            </a:endParaRPr>
          </a:p>
        </p:txBody>
      </p:sp>
      <p:sp>
        <p:nvSpPr>
          <p:cNvPr id="1025" name="Shape 43"/>
          <p:cNvSpPr/>
          <p:nvPr/>
        </p:nvSpPr>
        <p:spPr>
          <a:xfrm>
            <a:off x="384120" y="3828525"/>
            <a:ext cx="8374680" cy="474480"/>
          </a:xfrm>
          <a:prstGeom prst="rect">
            <a:avLst/>
          </a:prstGeom>
          <a:solidFill>
            <a:srgbClr val="0A2540"/>
          </a:solidFill>
          <a:ln w="762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26" name="Shape 44"/>
          <p:cNvSpPr/>
          <p:nvPr/>
        </p:nvSpPr>
        <p:spPr>
          <a:xfrm>
            <a:off x="384120" y="3828525"/>
            <a:ext cx="63000" cy="47448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27" name="Text 45"/>
          <p:cNvSpPr/>
          <p:nvPr/>
        </p:nvSpPr>
        <p:spPr>
          <a:xfrm>
            <a:off x="539640" y="3865245"/>
            <a:ext cx="18277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pl-PL" b="1" u="none" strike="noStrike" dirty="0">
                <a:solidFill>
                  <a:srgbClr val="4CAF50"/>
                </a:solidFill>
                <a:effectLst/>
                <a:uFillTx/>
                <a:latin typeface="Calibri"/>
              </a:rPr>
              <a:t>P3 </a:t>
            </a:r>
            <a:r>
              <a:rPr lang="pl-PL" b="1" dirty="0" smtClean="0">
                <a:solidFill>
                  <a:srgbClr val="4CAF50"/>
                </a:solidFill>
              </a:rPr>
              <a:t>–– </a:t>
            </a:r>
            <a:r>
              <a:rPr lang="pl-PL" b="1" u="none" strike="noStrike" dirty="0" err="1">
                <a:solidFill>
                  <a:srgbClr val="4CAF50"/>
                </a:solidFill>
                <a:effectLst/>
                <a:uFillTx/>
                <a:latin typeface="Calibri"/>
              </a:rPr>
              <a:t>Low</a:t>
            </a:r>
            <a:endParaRPr lang="pl-PL" b="0" u="none" strike="noStrike" dirty="0">
              <a:solidFill>
                <a:srgbClr val="FFFFFF"/>
              </a:solidFill>
              <a:effectLst/>
              <a:uFillTx/>
              <a:latin typeface="Arial"/>
            </a:endParaRPr>
          </a:p>
        </p:txBody>
      </p:sp>
      <p:sp>
        <p:nvSpPr>
          <p:cNvPr id="1028" name="Text 46"/>
          <p:cNvSpPr/>
          <p:nvPr/>
        </p:nvSpPr>
        <p:spPr>
          <a:xfrm>
            <a:off x="5592960" y="3865245"/>
            <a:ext cx="1370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400" u="none" strike="noStrike" dirty="0">
                <a:solidFill>
                  <a:srgbClr val="FFFFFF"/>
                </a:solidFill>
                <a:effectLst/>
                <a:uFillTx/>
                <a:latin typeface="Calibri"/>
              </a:rPr>
              <a:t>Reakcja: </a:t>
            </a:r>
            <a:r>
              <a:rPr lang="pl-PL" sz="1400" b="1" u="none" strike="noStrike" dirty="0">
                <a:solidFill>
                  <a:srgbClr val="FFFFFF"/>
                </a:solidFill>
                <a:effectLst/>
                <a:uFillTx/>
                <a:latin typeface="Calibri"/>
              </a:rPr>
              <a:t>24h</a:t>
            </a:r>
            <a:endParaRPr lang="pl-PL" sz="1400" b="0" u="none" strike="noStrike" dirty="0">
              <a:solidFill>
                <a:srgbClr val="FFFFFF"/>
              </a:solidFill>
              <a:effectLst/>
              <a:uFillTx/>
              <a:latin typeface="Arial"/>
            </a:endParaRPr>
          </a:p>
        </p:txBody>
      </p:sp>
      <p:sp>
        <p:nvSpPr>
          <p:cNvPr id="1029" name="Text 47"/>
          <p:cNvSpPr/>
          <p:nvPr/>
        </p:nvSpPr>
        <p:spPr>
          <a:xfrm>
            <a:off x="7056000" y="3865245"/>
            <a:ext cx="16448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300" b="0" u="none" strike="noStrike">
                <a:solidFill>
                  <a:srgbClr val="8ECAE6"/>
                </a:solidFill>
                <a:effectLst/>
                <a:uFillTx/>
                <a:latin typeface="Calibri"/>
              </a:rPr>
              <a:t>Rozwiązanie: sprint</a:t>
            </a:r>
            <a:endParaRPr lang="pl-PL" sz="1300" b="0" u="none" strike="noStrike">
              <a:solidFill>
                <a:srgbClr val="FFFFFF"/>
              </a:solidFill>
              <a:effectLst/>
              <a:uFillTx/>
              <a:latin typeface="Arial"/>
            </a:endParaRPr>
          </a:p>
        </p:txBody>
      </p:sp>
      <p:sp>
        <p:nvSpPr>
          <p:cNvPr id="1030" name="Text 48"/>
          <p:cNvSpPr/>
          <p:nvPr/>
        </p:nvSpPr>
        <p:spPr>
          <a:xfrm>
            <a:off x="539640" y="4066485"/>
            <a:ext cx="82285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a:solidFill>
                  <a:srgbClr val="FFFFFF"/>
                </a:solidFill>
                <a:effectLst/>
                <a:uFillTx/>
                <a:latin typeface="Calibri"/>
              </a:rPr>
              <a:t>Drobny błąd UI / literówka / feature nieużywany</a:t>
            </a:r>
            <a:endParaRPr lang="pl-PL" sz="1200" b="0" u="none" strike="noStrike">
              <a:solidFill>
                <a:srgbClr val="FFFFFF"/>
              </a:solidFill>
              <a:effectLst/>
              <a:uFillTx/>
              <a:latin typeface="Arial"/>
            </a:endParaRPr>
          </a:p>
        </p:txBody>
      </p:sp>
      <p:sp>
        <p:nvSpPr>
          <p:cNvPr id="1031" name="Shape 49"/>
          <p:cNvSpPr/>
          <p:nvPr/>
        </p:nvSpPr>
        <p:spPr>
          <a:xfrm>
            <a:off x="384120" y="4490430"/>
            <a:ext cx="8374680" cy="473040"/>
          </a:xfrm>
          <a:prstGeom prst="rect">
            <a:avLst/>
          </a:prstGeom>
          <a:solidFill>
            <a:srgbClr val="021530"/>
          </a:solidFill>
          <a:ln w="762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32" name="Shape 50"/>
          <p:cNvSpPr/>
          <p:nvPr/>
        </p:nvSpPr>
        <p:spPr>
          <a:xfrm>
            <a:off x="384120" y="4490430"/>
            <a:ext cx="63000" cy="47304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33" name="Text 51"/>
          <p:cNvSpPr/>
          <p:nvPr/>
        </p:nvSpPr>
        <p:spPr>
          <a:xfrm>
            <a:off x="567000" y="4569165"/>
            <a:ext cx="160380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sng" strike="noStrike" dirty="0">
                <a:solidFill>
                  <a:srgbClr val="00BCD4"/>
                </a:solidFill>
                <a:effectLst/>
                <a:uFillTx/>
                <a:latin typeface="Calibri"/>
              </a:rPr>
              <a:t>Post-</a:t>
            </a:r>
            <a:r>
              <a:rPr lang="pl-PL" sz="2000" b="1" u="sng" strike="noStrike" dirty="0" err="1">
                <a:solidFill>
                  <a:srgbClr val="00BCD4"/>
                </a:solidFill>
                <a:effectLst/>
                <a:uFillTx/>
                <a:latin typeface="Calibri"/>
              </a:rPr>
              <a:t>mortem</a:t>
            </a:r>
            <a:endParaRPr lang="pl-PL" sz="2000" b="0" u="sng" strike="noStrike" dirty="0">
              <a:solidFill>
                <a:srgbClr val="FFFFFF"/>
              </a:solidFill>
              <a:effectLst/>
              <a:uFillTx/>
              <a:latin typeface="Arial"/>
            </a:endParaRPr>
          </a:p>
        </p:txBody>
      </p:sp>
      <p:sp>
        <p:nvSpPr>
          <p:cNvPr id="1034" name="Text 52"/>
          <p:cNvSpPr/>
          <p:nvPr/>
        </p:nvSpPr>
        <p:spPr>
          <a:xfrm>
            <a:off x="2394721" y="4569165"/>
            <a:ext cx="6336720" cy="318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400" b="0" u="none" strike="noStrike" spc="-20" dirty="0">
                <a:solidFill>
                  <a:srgbClr val="FFFFFF"/>
                </a:solidFill>
                <a:effectLst/>
                <a:uFillTx/>
                <a:latin typeface="Calibri"/>
              </a:rPr>
              <a:t>Co się stało? → Dlaczego? (5×Why) → Co robimy żeby się nie powtórzyło? → Action </a:t>
            </a:r>
            <a:r>
              <a:rPr lang="pl-PL" sz="1400" b="0" u="none" strike="noStrike" spc="-20" dirty="0" err="1" smtClean="0">
                <a:solidFill>
                  <a:srgbClr val="FFFFFF"/>
                </a:solidFill>
                <a:effectLst/>
                <a:uFillTx/>
                <a:latin typeface="Calibri"/>
              </a:rPr>
              <a:t>items</a:t>
            </a:r>
            <a:r>
              <a:rPr lang="pl-PL" sz="1400" b="0" u="none" strike="noStrike" dirty="0" smtClean="0">
                <a:solidFill>
                  <a:srgbClr val="FFFFFF"/>
                </a:solidFill>
                <a:effectLst/>
                <a:uFillTx/>
                <a:latin typeface="Calibri"/>
              </a:rPr>
              <a:t> </a:t>
            </a:r>
            <a:r>
              <a:rPr lang="pl-PL" sz="1400" b="1" u="none" strike="noStrike" dirty="0">
                <a:solidFill>
                  <a:srgbClr val="FFFFFF"/>
                </a:solidFill>
                <a:effectLst/>
                <a:uFillTx/>
                <a:latin typeface="Calibri"/>
              </a:rPr>
              <a:t>Kultura </a:t>
            </a:r>
            <a:r>
              <a:rPr lang="pl-PL" sz="1400" b="1" u="none" strike="noStrike" dirty="0" err="1">
                <a:solidFill>
                  <a:srgbClr val="FFFFFF"/>
                </a:solidFill>
                <a:effectLst/>
                <a:uFillTx/>
                <a:latin typeface="Calibri"/>
              </a:rPr>
              <a:t>blameless</a:t>
            </a:r>
            <a:r>
              <a:rPr lang="pl-PL" sz="1400" b="0" u="none" strike="noStrike" dirty="0">
                <a:solidFill>
                  <a:srgbClr val="FFFFFF"/>
                </a:solidFill>
                <a:effectLst/>
                <a:uFillTx/>
                <a:latin typeface="Calibri"/>
              </a:rPr>
              <a:t> jest konieczna, aby ludzie raportowali incydenty wcześniej.</a:t>
            </a:r>
            <a:endParaRPr lang="pl-PL" sz="1400" b="0" u="none" strike="noStrike" dirty="0">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1039" name="Text 2"/>
          <p:cNvSpPr/>
          <p:nvPr/>
        </p:nvSpPr>
        <p:spPr>
          <a:xfrm>
            <a:off x="1134000" y="73080"/>
            <a:ext cx="7588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FFFF"/>
                </a:solidFill>
                <a:effectLst/>
                <a:uFillTx/>
                <a:latin typeface="Calibri"/>
              </a:rPr>
              <a:t>Iteracja i ciągłe doskonalenie</a:t>
            </a:r>
            <a:r>
              <a:rPr lang="pl-PL" sz="2000" b="1" u="none" strike="noStrike">
                <a:solidFill>
                  <a:srgbClr val="FFFFFF"/>
                </a:solidFill>
                <a:effectLst/>
                <a:uFillTx/>
                <a:latin typeface="Calibri"/>
              </a:rPr>
              <a:t>:</a:t>
            </a:r>
            <a:r>
              <a:rPr lang="en-US" sz="2000" b="1" u="none" strike="noStrike">
                <a:solidFill>
                  <a:srgbClr val="FFFFFF"/>
                </a:solidFill>
                <a:effectLst/>
                <a:uFillTx/>
                <a:latin typeface="Calibri"/>
              </a:rPr>
              <a:t> </a:t>
            </a:r>
            <a:r>
              <a:rPr lang="en-US" sz="2000" b="0" u="none" strike="noStrike">
                <a:solidFill>
                  <a:srgbClr val="FFFFFF"/>
                </a:solidFill>
                <a:effectLst/>
                <a:uFillTx/>
                <a:latin typeface="Calibri"/>
              </a:rPr>
              <a:t>OKR, feedback loops i roadmapa v2</a:t>
            </a:r>
            <a:endParaRPr lang="pl-PL" sz="2000" b="0" u="none" strike="noStrike">
              <a:solidFill>
                <a:srgbClr val="FFFFFF"/>
              </a:solidFill>
              <a:effectLst/>
              <a:uFillTx/>
              <a:latin typeface="Arial"/>
            </a:endParaRPr>
          </a:p>
        </p:txBody>
      </p:sp>
      <p:sp>
        <p:nvSpPr>
          <p:cNvPr id="1040" name="Shape 3"/>
          <p:cNvSpPr/>
          <p:nvPr/>
        </p:nvSpPr>
        <p:spPr>
          <a:xfrm>
            <a:off x="383760" y="427575"/>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grpSp>
        <p:nvGrpSpPr>
          <p:cNvPr id="2" name="Grupa 1"/>
          <p:cNvGrpSpPr/>
          <p:nvPr/>
        </p:nvGrpSpPr>
        <p:grpSpPr>
          <a:xfrm>
            <a:off x="384120" y="573406"/>
            <a:ext cx="8374680" cy="1408576"/>
            <a:chOff x="384120" y="752861"/>
            <a:chExt cx="8374680" cy="1815381"/>
          </a:xfrm>
        </p:grpSpPr>
        <p:sp>
          <p:nvSpPr>
            <p:cNvPr id="1042" name="Shape 5"/>
            <p:cNvSpPr/>
            <p:nvPr/>
          </p:nvSpPr>
          <p:spPr>
            <a:xfrm>
              <a:off x="384120" y="758661"/>
              <a:ext cx="8374680" cy="1809581"/>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43" name="Shape 6"/>
            <p:cNvSpPr/>
            <p:nvPr/>
          </p:nvSpPr>
          <p:spPr>
            <a:xfrm>
              <a:off x="384120" y="769661"/>
              <a:ext cx="63000" cy="179858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44" name="Text 7"/>
            <p:cNvSpPr/>
            <p:nvPr/>
          </p:nvSpPr>
          <p:spPr>
            <a:xfrm>
              <a:off x="538425" y="752861"/>
              <a:ext cx="8173800" cy="32148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400" b="1" u="sng" dirty="0" smtClean="0">
                  <a:solidFill>
                    <a:srgbClr val="00BCD4"/>
                  </a:solidFill>
                  <a:latin typeface="Calibri"/>
                </a:rPr>
                <a:t>CEL</a:t>
              </a:r>
              <a:r>
                <a:rPr lang="pl-PL" sz="1400" b="1" u="sng" strike="noStrike" dirty="0" smtClean="0">
                  <a:solidFill>
                    <a:srgbClr val="00BCD4"/>
                  </a:solidFill>
                  <a:effectLst/>
                  <a:uFillTx/>
                  <a:latin typeface="Calibri"/>
                </a:rPr>
                <a:t>: </a:t>
              </a:r>
              <a:r>
                <a:rPr lang="pl-PL" sz="1400" b="1" u="sng" strike="noStrike" dirty="0">
                  <a:solidFill>
                    <a:srgbClr val="00BCD4"/>
                  </a:solidFill>
                  <a:effectLst/>
                  <a:uFillTx/>
                  <a:latin typeface="Calibri"/>
                </a:rPr>
                <a:t>Stać się wiodącą aplikacją fitness w Polsce do Q4 </a:t>
              </a:r>
              <a:r>
                <a:rPr lang="pl-PL" sz="1400" b="1" u="sng" strike="noStrike" dirty="0" smtClean="0">
                  <a:solidFill>
                    <a:srgbClr val="00BCD4"/>
                  </a:solidFill>
                  <a:effectLst/>
                  <a:uFillTx/>
                  <a:latin typeface="Calibri"/>
                </a:rPr>
                <a:t>2026</a:t>
              </a:r>
              <a:endParaRPr lang="pl-PL" sz="1400" b="0" u="sng" strike="noStrike" dirty="0">
                <a:solidFill>
                  <a:srgbClr val="FFFFFF"/>
                </a:solidFill>
                <a:effectLst/>
                <a:uFillTx/>
                <a:latin typeface="Arial"/>
              </a:endParaRPr>
            </a:p>
          </p:txBody>
        </p:sp>
        <p:sp>
          <p:nvSpPr>
            <p:cNvPr id="1045" name="Shape 8"/>
            <p:cNvSpPr/>
            <p:nvPr/>
          </p:nvSpPr>
          <p:spPr>
            <a:xfrm>
              <a:off x="594360" y="1207080"/>
              <a:ext cx="254880" cy="200160"/>
            </a:xfrm>
            <a:prstGeom prst="roundRect">
              <a:avLst>
                <a:gd name="adj" fmla="val 22727"/>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46" name="Text 9"/>
            <p:cNvSpPr/>
            <p:nvPr/>
          </p:nvSpPr>
          <p:spPr>
            <a:xfrm>
              <a:off x="594360" y="1207080"/>
              <a:ext cx="2548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dirty="0">
                  <a:solidFill>
                    <a:srgbClr val="FFFFFF"/>
                  </a:solidFill>
                  <a:effectLst/>
                  <a:uFillTx/>
                  <a:latin typeface="Calibri"/>
                </a:rPr>
                <a:t>KR1</a:t>
              </a:r>
              <a:endParaRPr lang="pl-PL" sz="1000" b="0" u="none" strike="noStrike" dirty="0">
                <a:solidFill>
                  <a:srgbClr val="FFFFFF"/>
                </a:solidFill>
                <a:effectLst/>
                <a:uFillTx/>
                <a:latin typeface="Arial"/>
              </a:endParaRPr>
            </a:p>
          </p:txBody>
        </p:sp>
        <p:sp>
          <p:nvSpPr>
            <p:cNvPr id="1047" name="Text 10"/>
            <p:cNvSpPr/>
            <p:nvPr/>
          </p:nvSpPr>
          <p:spPr>
            <a:xfrm>
              <a:off x="960120" y="1207080"/>
              <a:ext cx="47786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dirty="0">
                  <a:solidFill>
                    <a:srgbClr val="FFFFFF"/>
                  </a:solidFill>
                  <a:effectLst/>
                  <a:uFillTx/>
                  <a:latin typeface="Calibri"/>
                </a:rPr>
                <a:t>MAU </a:t>
              </a:r>
              <a:r>
                <a:rPr lang="en-US" sz="1400" b="0" u="none" strike="noStrike" dirty="0" err="1">
                  <a:solidFill>
                    <a:srgbClr val="FFFFFF"/>
                  </a:solidFill>
                  <a:effectLst/>
                  <a:uFillTx/>
                  <a:latin typeface="Calibri"/>
                </a:rPr>
                <a:t>wzrośnie</a:t>
              </a:r>
              <a:r>
                <a:rPr lang="en-US" sz="1400" b="0" u="none" strike="noStrike" dirty="0">
                  <a:solidFill>
                    <a:srgbClr val="FFFFFF"/>
                  </a:solidFill>
                  <a:effectLst/>
                  <a:uFillTx/>
                  <a:latin typeface="Calibri"/>
                </a:rPr>
                <a:t> z 50k do 200k do 31.12.2026</a:t>
              </a:r>
              <a:endParaRPr lang="pl-PL" sz="1400" b="0" u="none" strike="noStrike" dirty="0">
                <a:solidFill>
                  <a:srgbClr val="FFFFFF"/>
                </a:solidFill>
                <a:effectLst/>
                <a:uFillTx/>
                <a:latin typeface="Arial"/>
              </a:endParaRPr>
            </a:p>
          </p:txBody>
        </p:sp>
        <p:sp>
          <p:nvSpPr>
            <p:cNvPr id="1048" name="Text 11"/>
            <p:cNvSpPr/>
            <p:nvPr/>
          </p:nvSpPr>
          <p:spPr>
            <a:xfrm>
              <a:off x="6134040" y="1207080"/>
              <a:ext cx="25059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0" u="none" strike="noStrike" dirty="0">
                  <a:solidFill>
                    <a:srgbClr val="8ECAE6"/>
                  </a:solidFill>
                  <a:effectLst/>
                  <a:uFillTx/>
                  <a:latin typeface="Calibri"/>
                </a:rPr>
                <a:t>Amplitude DAU/MAU ratio</a:t>
              </a:r>
              <a:endParaRPr lang="pl-PL" sz="1400" b="0" u="none" strike="noStrike" dirty="0">
                <a:solidFill>
                  <a:srgbClr val="FFFFFF"/>
                </a:solidFill>
                <a:effectLst/>
                <a:uFillTx/>
                <a:latin typeface="Arial"/>
              </a:endParaRPr>
            </a:p>
          </p:txBody>
        </p:sp>
        <p:sp>
          <p:nvSpPr>
            <p:cNvPr id="1049" name="Shape 12"/>
            <p:cNvSpPr/>
            <p:nvPr/>
          </p:nvSpPr>
          <p:spPr>
            <a:xfrm>
              <a:off x="594360" y="1545480"/>
              <a:ext cx="254880" cy="200160"/>
            </a:xfrm>
            <a:prstGeom prst="roundRect">
              <a:avLst>
                <a:gd name="adj" fmla="val 22727"/>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50" name="Text 13"/>
            <p:cNvSpPr/>
            <p:nvPr/>
          </p:nvSpPr>
          <p:spPr>
            <a:xfrm>
              <a:off x="594360" y="1545480"/>
              <a:ext cx="2548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dirty="0">
                  <a:solidFill>
                    <a:srgbClr val="FFFFFF"/>
                  </a:solidFill>
                  <a:effectLst/>
                  <a:uFillTx/>
                  <a:latin typeface="Calibri"/>
                </a:rPr>
                <a:t>KR2</a:t>
              </a:r>
              <a:endParaRPr lang="pl-PL" sz="1000" b="0" u="none" strike="noStrike" dirty="0">
                <a:solidFill>
                  <a:srgbClr val="FFFFFF"/>
                </a:solidFill>
                <a:effectLst/>
                <a:uFillTx/>
                <a:latin typeface="Arial"/>
              </a:endParaRPr>
            </a:p>
          </p:txBody>
        </p:sp>
        <p:sp>
          <p:nvSpPr>
            <p:cNvPr id="1051" name="Text 14"/>
            <p:cNvSpPr/>
            <p:nvPr/>
          </p:nvSpPr>
          <p:spPr>
            <a:xfrm>
              <a:off x="960120" y="1545480"/>
              <a:ext cx="47786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Day-30 retention wzrośnie z 12% do 25%</a:t>
              </a:r>
              <a:endParaRPr lang="pl-PL" sz="1400" b="0" u="none" strike="noStrike">
                <a:solidFill>
                  <a:srgbClr val="FFFFFF"/>
                </a:solidFill>
                <a:effectLst/>
                <a:uFillTx/>
                <a:latin typeface="Arial"/>
              </a:endParaRPr>
            </a:p>
          </p:txBody>
        </p:sp>
        <p:sp>
          <p:nvSpPr>
            <p:cNvPr id="1052" name="Text 15"/>
            <p:cNvSpPr/>
            <p:nvPr/>
          </p:nvSpPr>
          <p:spPr>
            <a:xfrm>
              <a:off x="6134040" y="1545480"/>
              <a:ext cx="25059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0" u="none" strike="noStrike">
                  <a:solidFill>
                    <a:srgbClr val="8ECAE6"/>
                  </a:solidFill>
                  <a:effectLst/>
                  <a:uFillTx/>
                  <a:latin typeface="Calibri"/>
                </a:rPr>
                <a:t>Cohort analysis w Mixpanel</a:t>
              </a:r>
              <a:endParaRPr lang="pl-PL" sz="1400" b="0" u="none" strike="noStrike">
                <a:solidFill>
                  <a:srgbClr val="FFFFFF"/>
                </a:solidFill>
                <a:effectLst/>
                <a:uFillTx/>
                <a:latin typeface="Arial"/>
              </a:endParaRPr>
            </a:p>
          </p:txBody>
        </p:sp>
        <p:sp>
          <p:nvSpPr>
            <p:cNvPr id="1053" name="Shape 16"/>
            <p:cNvSpPr/>
            <p:nvPr/>
          </p:nvSpPr>
          <p:spPr>
            <a:xfrm>
              <a:off x="594360" y="1883520"/>
              <a:ext cx="254880" cy="200160"/>
            </a:xfrm>
            <a:prstGeom prst="roundRect">
              <a:avLst>
                <a:gd name="adj" fmla="val 22727"/>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54" name="Text 17"/>
            <p:cNvSpPr/>
            <p:nvPr/>
          </p:nvSpPr>
          <p:spPr>
            <a:xfrm>
              <a:off x="594360" y="1883520"/>
              <a:ext cx="2548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dirty="0">
                  <a:solidFill>
                    <a:srgbClr val="FFFFFF"/>
                  </a:solidFill>
                  <a:effectLst/>
                  <a:uFillTx/>
                  <a:latin typeface="Calibri"/>
                </a:rPr>
                <a:t>KR3</a:t>
              </a:r>
              <a:endParaRPr lang="pl-PL" sz="1000" b="0" u="none" strike="noStrike" dirty="0">
                <a:solidFill>
                  <a:srgbClr val="FFFFFF"/>
                </a:solidFill>
                <a:effectLst/>
                <a:uFillTx/>
                <a:latin typeface="Arial"/>
              </a:endParaRPr>
            </a:p>
          </p:txBody>
        </p:sp>
        <p:sp>
          <p:nvSpPr>
            <p:cNvPr id="1055" name="Text 18"/>
            <p:cNvSpPr/>
            <p:nvPr/>
          </p:nvSpPr>
          <p:spPr>
            <a:xfrm>
              <a:off x="960120" y="1883520"/>
              <a:ext cx="47786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a:solidFill>
                    <a:srgbClr val="FFFFFF"/>
                  </a:solidFill>
                  <a:effectLst/>
                  <a:uFillTx/>
                  <a:latin typeface="Calibri"/>
                </a:rPr>
                <a:t>App Store rating wzrośnie do 4.5★ (min. 5000 reviews)</a:t>
              </a:r>
              <a:endParaRPr lang="pl-PL" sz="1400" b="0" u="none" strike="noStrike">
                <a:solidFill>
                  <a:srgbClr val="FFFFFF"/>
                </a:solidFill>
                <a:effectLst/>
                <a:uFillTx/>
                <a:latin typeface="Arial"/>
              </a:endParaRPr>
            </a:p>
          </p:txBody>
        </p:sp>
        <p:sp>
          <p:nvSpPr>
            <p:cNvPr id="1056" name="Text 19"/>
            <p:cNvSpPr/>
            <p:nvPr/>
          </p:nvSpPr>
          <p:spPr>
            <a:xfrm>
              <a:off x="6134040" y="1883520"/>
              <a:ext cx="25059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0" u="none" strike="noStrike">
                  <a:solidFill>
                    <a:srgbClr val="8ECAE6"/>
                  </a:solidFill>
                  <a:effectLst/>
                  <a:uFillTx/>
                  <a:latin typeface="Calibri"/>
                </a:rPr>
                <a:t>App Store Connect</a:t>
              </a:r>
              <a:endParaRPr lang="pl-PL" sz="1400" b="0" u="none" strike="noStrike">
                <a:solidFill>
                  <a:srgbClr val="FFFFFF"/>
                </a:solidFill>
                <a:effectLst/>
                <a:uFillTx/>
                <a:latin typeface="Arial"/>
              </a:endParaRPr>
            </a:p>
          </p:txBody>
        </p:sp>
        <p:sp>
          <p:nvSpPr>
            <p:cNvPr id="1057" name="Shape 20"/>
            <p:cNvSpPr/>
            <p:nvPr/>
          </p:nvSpPr>
          <p:spPr>
            <a:xfrm>
              <a:off x="594360" y="2221920"/>
              <a:ext cx="254880" cy="200160"/>
            </a:xfrm>
            <a:prstGeom prst="roundRect">
              <a:avLst>
                <a:gd name="adj" fmla="val 22727"/>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58" name="Text 21"/>
            <p:cNvSpPr/>
            <p:nvPr/>
          </p:nvSpPr>
          <p:spPr>
            <a:xfrm>
              <a:off x="594360" y="2221920"/>
              <a:ext cx="2548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dirty="0">
                  <a:solidFill>
                    <a:srgbClr val="FFFFFF"/>
                  </a:solidFill>
                  <a:effectLst/>
                  <a:uFillTx/>
                  <a:latin typeface="Calibri"/>
                </a:rPr>
                <a:t>KR4</a:t>
              </a:r>
              <a:endParaRPr lang="pl-PL" sz="1000" b="0" u="none" strike="noStrike" dirty="0">
                <a:solidFill>
                  <a:srgbClr val="FFFFFF"/>
                </a:solidFill>
                <a:effectLst/>
                <a:uFillTx/>
                <a:latin typeface="Arial"/>
              </a:endParaRPr>
            </a:p>
          </p:txBody>
        </p:sp>
        <p:sp>
          <p:nvSpPr>
            <p:cNvPr id="1059" name="Text 22"/>
            <p:cNvSpPr/>
            <p:nvPr/>
          </p:nvSpPr>
          <p:spPr>
            <a:xfrm>
              <a:off x="960120" y="2221920"/>
              <a:ext cx="47786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u="none" strike="noStrike" dirty="0">
                  <a:solidFill>
                    <a:srgbClr val="FFFFFF"/>
                  </a:solidFill>
                  <a:effectLst/>
                  <a:uFillTx/>
                  <a:latin typeface="Calibri"/>
                </a:rPr>
                <a:t>MRR z </a:t>
              </a:r>
              <a:r>
                <a:rPr lang="en-US" sz="1400" b="0" u="none" strike="noStrike" dirty="0" err="1">
                  <a:solidFill>
                    <a:srgbClr val="FFFFFF"/>
                  </a:solidFill>
                  <a:effectLst/>
                  <a:uFillTx/>
                  <a:latin typeface="Calibri"/>
                </a:rPr>
                <a:t>subskrypcji</a:t>
              </a:r>
              <a:r>
                <a:rPr lang="en-US" sz="1400" b="0" u="none" strike="noStrike" dirty="0">
                  <a:solidFill>
                    <a:srgbClr val="FFFFFF"/>
                  </a:solidFill>
                  <a:effectLst/>
                  <a:uFillTx/>
                  <a:latin typeface="Calibri"/>
                </a:rPr>
                <a:t> </a:t>
              </a:r>
              <a:r>
                <a:rPr lang="en-US" sz="1400" b="0" u="none" strike="noStrike" dirty="0" err="1">
                  <a:solidFill>
                    <a:srgbClr val="FFFFFF"/>
                  </a:solidFill>
                  <a:effectLst/>
                  <a:uFillTx/>
                  <a:latin typeface="Calibri"/>
                </a:rPr>
                <a:t>osiągnie</a:t>
              </a:r>
              <a:r>
                <a:rPr lang="en-US" sz="1400" b="0" u="none" strike="noStrike" dirty="0">
                  <a:solidFill>
                    <a:srgbClr val="FFFFFF"/>
                  </a:solidFill>
                  <a:effectLst/>
                  <a:uFillTx/>
                  <a:latin typeface="Calibri"/>
                </a:rPr>
                <a:t> 150 000 PLN</a:t>
              </a:r>
              <a:endParaRPr lang="pl-PL" sz="1400" b="0" u="none" strike="noStrike" dirty="0">
                <a:solidFill>
                  <a:srgbClr val="FFFFFF"/>
                </a:solidFill>
                <a:effectLst/>
                <a:uFillTx/>
                <a:latin typeface="Arial"/>
              </a:endParaRPr>
            </a:p>
          </p:txBody>
        </p:sp>
        <p:sp>
          <p:nvSpPr>
            <p:cNvPr id="1060" name="Text 23"/>
            <p:cNvSpPr/>
            <p:nvPr/>
          </p:nvSpPr>
          <p:spPr>
            <a:xfrm>
              <a:off x="6134040" y="2221920"/>
              <a:ext cx="250596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0" u="none" strike="noStrike">
                  <a:solidFill>
                    <a:srgbClr val="8ECAE6"/>
                  </a:solidFill>
                  <a:effectLst/>
                  <a:uFillTx/>
                  <a:latin typeface="Calibri"/>
                </a:rPr>
                <a:t>RevenueCat dashboard</a:t>
              </a:r>
              <a:endParaRPr lang="pl-PL" sz="1400" b="0" u="none" strike="noStrike">
                <a:solidFill>
                  <a:srgbClr val="FFFFFF"/>
                </a:solidFill>
                <a:effectLst/>
                <a:uFillTx/>
                <a:latin typeface="Arial"/>
              </a:endParaRPr>
            </a:p>
          </p:txBody>
        </p:sp>
      </p:grpSp>
      <p:sp>
        <p:nvSpPr>
          <p:cNvPr id="1061" name="Text 24"/>
          <p:cNvSpPr/>
          <p:nvPr/>
        </p:nvSpPr>
        <p:spPr>
          <a:xfrm>
            <a:off x="383760" y="2231235"/>
            <a:ext cx="837468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dirty="0">
                <a:solidFill>
                  <a:srgbClr val="FFFFFF"/>
                </a:solidFill>
                <a:effectLst/>
                <a:uFillTx/>
                <a:latin typeface="Calibri"/>
              </a:rPr>
              <a:t>Pętle </a:t>
            </a:r>
            <a:r>
              <a:rPr lang="pl-PL" sz="1600" b="1" u="none" strike="noStrike" dirty="0" err="1">
                <a:solidFill>
                  <a:srgbClr val="FFFFFF"/>
                </a:solidFill>
                <a:effectLst/>
                <a:uFillTx/>
                <a:latin typeface="Calibri"/>
              </a:rPr>
              <a:t>feedbackowe</a:t>
            </a:r>
            <a:r>
              <a:rPr lang="pl-PL" sz="1600" b="1" u="none" strike="noStrike" dirty="0">
                <a:solidFill>
                  <a:srgbClr val="FFFFFF"/>
                </a:solidFill>
                <a:effectLst/>
                <a:uFillTx/>
                <a:latin typeface="Calibri"/>
              </a:rPr>
              <a:t>: </a:t>
            </a:r>
            <a:r>
              <a:rPr lang="pl-PL" sz="1600" b="0" u="none" strike="noStrike" dirty="0">
                <a:solidFill>
                  <a:srgbClr val="FFFFFF"/>
                </a:solidFill>
                <a:effectLst/>
                <a:uFillTx/>
                <a:latin typeface="Calibri"/>
              </a:rPr>
              <a:t>ciągła poprawa produktu</a:t>
            </a:r>
            <a:endParaRPr lang="pl-PL" sz="1600" b="0" u="none" strike="noStrike" dirty="0">
              <a:solidFill>
                <a:srgbClr val="FFFFFF"/>
              </a:solidFill>
              <a:effectLst/>
              <a:uFillTx/>
              <a:latin typeface="Arial"/>
            </a:endParaRPr>
          </a:p>
        </p:txBody>
      </p:sp>
      <p:sp>
        <p:nvSpPr>
          <p:cNvPr id="1062" name="Shape 25"/>
          <p:cNvSpPr/>
          <p:nvPr/>
        </p:nvSpPr>
        <p:spPr>
          <a:xfrm>
            <a:off x="383760" y="2532915"/>
            <a:ext cx="4177800" cy="712080"/>
          </a:xfrm>
          <a:prstGeom prst="rect">
            <a:avLst/>
          </a:prstGeom>
          <a:solidFill>
            <a:srgbClr val="0A2540"/>
          </a:solidFill>
          <a:ln w="762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63" name="Shape 26"/>
          <p:cNvSpPr/>
          <p:nvPr/>
        </p:nvSpPr>
        <p:spPr>
          <a:xfrm>
            <a:off x="383760" y="2532915"/>
            <a:ext cx="63000" cy="71208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64" name="Shape 27"/>
          <p:cNvSpPr/>
          <p:nvPr/>
        </p:nvSpPr>
        <p:spPr>
          <a:xfrm>
            <a:off x="577440" y="2624355"/>
            <a:ext cx="1293480" cy="200160"/>
          </a:xfrm>
          <a:prstGeom prst="roundRect">
            <a:avLst>
              <a:gd name="adj" fmla="val 31818"/>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65" name="Text 28"/>
          <p:cNvSpPr/>
          <p:nvPr/>
        </p:nvSpPr>
        <p:spPr>
          <a:xfrm>
            <a:off x="539280" y="2624355"/>
            <a:ext cx="13032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400" b="1" u="none" strike="noStrike">
                <a:solidFill>
                  <a:srgbClr val="000000"/>
                </a:solidFill>
                <a:effectLst/>
                <a:uFillTx/>
                <a:latin typeface="Calibri"/>
              </a:rPr>
              <a:t>Codziennie</a:t>
            </a:r>
            <a:endParaRPr lang="pl-PL" sz="1400" b="0" u="none" strike="noStrike">
              <a:solidFill>
                <a:srgbClr val="FFFFFF"/>
              </a:solidFill>
              <a:effectLst/>
              <a:uFillTx/>
              <a:latin typeface="Arial"/>
            </a:endParaRPr>
          </a:p>
        </p:txBody>
      </p:sp>
      <p:sp>
        <p:nvSpPr>
          <p:cNvPr id="1066" name="Text 29"/>
          <p:cNvSpPr/>
          <p:nvPr/>
        </p:nvSpPr>
        <p:spPr>
          <a:xfrm>
            <a:off x="539280" y="2861265"/>
            <a:ext cx="3885120" cy="17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300" b="1" u="none" strike="noStrike" dirty="0">
                <a:solidFill>
                  <a:srgbClr val="8ECAE6"/>
                </a:solidFill>
                <a:effectLst/>
                <a:uFillTx/>
                <a:latin typeface="Calibri"/>
              </a:rPr>
              <a:t>Źródło</a:t>
            </a:r>
            <a:r>
              <a:rPr lang="pl-PL" sz="1300" b="0" u="none" strike="noStrike" dirty="0">
                <a:solidFill>
                  <a:srgbClr val="8ECAE6"/>
                </a:solidFill>
                <a:effectLst/>
                <a:uFillTx/>
                <a:latin typeface="Calibri"/>
              </a:rPr>
              <a:t>: </a:t>
            </a:r>
            <a:r>
              <a:rPr lang="pl-PL" sz="1300" b="0" u="none" strike="noStrike" dirty="0" err="1">
                <a:solidFill>
                  <a:srgbClr val="8ECAE6"/>
                </a:solidFill>
                <a:effectLst/>
                <a:uFillTx/>
                <a:latin typeface="Calibri"/>
              </a:rPr>
              <a:t>Crash</a:t>
            </a:r>
            <a:r>
              <a:rPr lang="pl-PL" sz="1300" b="0" u="none" strike="noStrike" dirty="0">
                <a:solidFill>
                  <a:srgbClr val="8ECAE6"/>
                </a:solidFill>
                <a:effectLst/>
                <a:uFillTx/>
                <a:latin typeface="Calibri"/>
              </a:rPr>
              <a:t> </a:t>
            </a:r>
            <a:r>
              <a:rPr lang="pl-PL" sz="1300" b="0" u="none" strike="noStrike" dirty="0" err="1">
                <a:solidFill>
                  <a:srgbClr val="8ECAE6"/>
                </a:solidFill>
                <a:effectLst/>
                <a:uFillTx/>
                <a:latin typeface="Calibri"/>
              </a:rPr>
              <a:t>reports</a:t>
            </a:r>
            <a:r>
              <a:rPr lang="pl-PL" sz="1300" b="0" u="none" strike="noStrike" dirty="0">
                <a:solidFill>
                  <a:srgbClr val="8ECAE6"/>
                </a:solidFill>
                <a:effectLst/>
                <a:uFillTx/>
                <a:latin typeface="Calibri"/>
              </a:rPr>
              <a:t>, </a:t>
            </a:r>
            <a:r>
              <a:rPr lang="pl-PL" sz="1300" b="0" u="none" strike="noStrike" dirty="0" err="1">
                <a:solidFill>
                  <a:srgbClr val="8ECAE6"/>
                </a:solidFill>
                <a:effectLst/>
                <a:uFillTx/>
                <a:latin typeface="Calibri"/>
              </a:rPr>
              <a:t>App</a:t>
            </a:r>
            <a:r>
              <a:rPr lang="pl-PL" sz="1300" b="0" u="none" strike="noStrike" dirty="0">
                <a:solidFill>
                  <a:srgbClr val="8ECAE6"/>
                </a:solidFill>
                <a:effectLst/>
                <a:uFillTx/>
                <a:latin typeface="Calibri"/>
              </a:rPr>
              <a:t> </a:t>
            </a:r>
            <a:r>
              <a:rPr lang="pl-PL" sz="1300" b="0" u="none" strike="noStrike" dirty="0" err="1">
                <a:solidFill>
                  <a:srgbClr val="8ECAE6"/>
                </a:solidFill>
                <a:effectLst/>
                <a:uFillTx/>
                <a:latin typeface="Calibri"/>
              </a:rPr>
              <a:t>Store</a:t>
            </a:r>
            <a:r>
              <a:rPr lang="pl-PL" sz="1300" b="0" u="none" strike="noStrike" dirty="0">
                <a:solidFill>
                  <a:srgbClr val="8ECAE6"/>
                </a:solidFill>
                <a:effectLst/>
                <a:uFillTx/>
                <a:latin typeface="Calibri"/>
              </a:rPr>
              <a:t> </a:t>
            </a:r>
            <a:r>
              <a:rPr lang="pl-PL" sz="1300" b="0" u="none" strike="noStrike" dirty="0" err="1">
                <a:solidFill>
                  <a:srgbClr val="8ECAE6"/>
                </a:solidFill>
                <a:effectLst/>
                <a:uFillTx/>
                <a:latin typeface="Calibri"/>
              </a:rPr>
              <a:t>reviews</a:t>
            </a:r>
            <a:r>
              <a:rPr lang="pl-PL" sz="1300" b="0" u="none" strike="noStrike" dirty="0">
                <a:solidFill>
                  <a:srgbClr val="8ECAE6"/>
                </a:solidFill>
                <a:effectLst/>
                <a:uFillTx/>
                <a:latin typeface="Calibri"/>
              </a:rPr>
              <a:t>, </a:t>
            </a:r>
            <a:r>
              <a:rPr lang="pl-PL" sz="1300" b="0" u="none" strike="noStrike" dirty="0" err="1">
                <a:solidFill>
                  <a:srgbClr val="8ECAE6"/>
                </a:solidFill>
                <a:effectLst/>
                <a:uFillTx/>
                <a:latin typeface="Calibri"/>
              </a:rPr>
              <a:t>support</a:t>
            </a:r>
            <a:r>
              <a:rPr lang="pl-PL" sz="1300" b="0" u="none" strike="noStrike" dirty="0">
                <a:solidFill>
                  <a:srgbClr val="8ECAE6"/>
                </a:solidFill>
                <a:effectLst/>
                <a:uFillTx/>
                <a:latin typeface="Calibri"/>
              </a:rPr>
              <a:t> </a:t>
            </a:r>
            <a:r>
              <a:rPr lang="pl-PL" sz="1300" b="0" u="none" strike="noStrike" dirty="0" err="1">
                <a:solidFill>
                  <a:srgbClr val="8ECAE6"/>
                </a:solidFill>
                <a:effectLst/>
                <a:uFillTx/>
                <a:latin typeface="Calibri"/>
              </a:rPr>
              <a:t>tickets</a:t>
            </a:r>
            <a:endParaRPr lang="pl-PL" sz="1300" b="0" u="none" strike="noStrike" dirty="0">
              <a:solidFill>
                <a:srgbClr val="FFFFFF"/>
              </a:solidFill>
              <a:effectLst/>
              <a:uFillTx/>
              <a:latin typeface="Arial"/>
            </a:endParaRPr>
          </a:p>
        </p:txBody>
      </p:sp>
      <p:sp>
        <p:nvSpPr>
          <p:cNvPr id="1067" name="Text 30"/>
          <p:cNvSpPr/>
          <p:nvPr/>
        </p:nvSpPr>
        <p:spPr>
          <a:xfrm>
            <a:off x="539280" y="3044835"/>
            <a:ext cx="3885120" cy="17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dirty="0">
                <a:solidFill>
                  <a:srgbClr val="FFFFFF"/>
                </a:solidFill>
                <a:effectLst/>
                <a:uFillTx/>
                <a:latin typeface="Calibri"/>
              </a:rPr>
              <a:t>→ </a:t>
            </a:r>
            <a:r>
              <a:rPr lang="pl-PL" sz="1200" b="0" u="none" strike="noStrike" dirty="0" err="1">
                <a:solidFill>
                  <a:srgbClr val="FFFFFF"/>
                </a:solidFill>
                <a:effectLst/>
                <a:uFillTx/>
                <a:latin typeface="Calibri"/>
              </a:rPr>
              <a:t>Hotfix</a:t>
            </a:r>
            <a:r>
              <a:rPr lang="pl-PL" sz="1200" b="0" u="none" strike="noStrike" dirty="0">
                <a:solidFill>
                  <a:srgbClr val="FFFFFF"/>
                </a:solidFill>
                <a:effectLst/>
                <a:uFillTx/>
                <a:latin typeface="Calibri"/>
              </a:rPr>
              <a:t> jeśli P0/P1, </a:t>
            </a:r>
            <a:r>
              <a:rPr lang="pl-PL" sz="1200" b="0" u="none" strike="noStrike" dirty="0" err="1">
                <a:solidFill>
                  <a:srgbClr val="FFFFFF"/>
                </a:solidFill>
                <a:effectLst/>
                <a:uFillTx/>
                <a:latin typeface="Calibri"/>
              </a:rPr>
              <a:t>triaging</a:t>
            </a:r>
            <a:r>
              <a:rPr lang="pl-PL" sz="1200" b="0" u="none" strike="noStrike" dirty="0">
                <a:solidFill>
                  <a:srgbClr val="FFFFFF"/>
                </a:solidFill>
                <a:effectLst/>
                <a:uFillTx/>
                <a:latin typeface="Calibri"/>
              </a:rPr>
              <a:t> reszty</a:t>
            </a:r>
            <a:endParaRPr lang="pl-PL" sz="1200" b="0" u="none" strike="noStrike" dirty="0">
              <a:solidFill>
                <a:srgbClr val="FFFFFF"/>
              </a:solidFill>
              <a:effectLst/>
              <a:uFillTx/>
              <a:latin typeface="Arial"/>
            </a:endParaRPr>
          </a:p>
        </p:txBody>
      </p:sp>
      <p:sp>
        <p:nvSpPr>
          <p:cNvPr id="1068" name="Shape 31"/>
          <p:cNvSpPr/>
          <p:nvPr/>
        </p:nvSpPr>
        <p:spPr>
          <a:xfrm>
            <a:off x="4699800" y="2532915"/>
            <a:ext cx="4177800" cy="712080"/>
          </a:xfrm>
          <a:prstGeom prst="rect">
            <a:avLst/>
          </a:prstGeom>
          <a:solidFill>
            <a:srgbClr val="0A2540"/>
          </a:solidFill>
          <a:ln w="762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69" name="Shape 32"/>
          <p:cNvSpPr/>
          <p:nvPr/>
        </p:nvSpPr>
        <p:spPr>
          <a:xfrm>
            <a:off x="4699800" y="2532915"/>
            <a:ext cx="63000" cy="71208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70" name="Shape 33"/>
          <p:cNvSpPr/>
          <p:nvPr/>
        </p:nvSpPr>
        <p:spPr>
          <a:xfrm>
            <a:off x="4854960" y="2624355"/>
            <a:ext cx="1149840" cy="200160"/>
          </a:xfrm>
          <a:prstGeom prst="roundRect">
            <a:avLst>
              <a:gd name="adj" fmla="val 31818"/>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71" name="Text 34"/>
          <p:cNvSpPr/>
          <p:nvPr/>
        </p:nvSpPr>
        <p:spPr>
          <a:xfrm>
            <a:off x="4854960" y="2624355"/>
            <a:ext cx="95904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400" b="1" u="none" strike="noStrike">
                <a:solidFill>
                  <a:srgbClr val="000000"/>
                </a:solidFill>
                <a:effectLst/>
                <a:uFillTx/>
                <a:latin typeface="Calibri"/>
              </a:rPr>
              <a:t>Co sprint</a:t>
            </a:r>
            <a:endParaRPr lang="pl-PL" sz="1400" b="0" u="none" strike="noStrike">
              <a:solidFill>
                <a:srgbClr val="FFFFFF"/>
              </a:solidFill>
              <a:effectLst/>
              <a:uFillTx/>
              <a:latin typeface="Arial"/>
            </a:endParaRPr>
          </a:p>
        </p:txBody>
      </p:sp>
      <p:sp>
        <p:nvSpPr>
          <p:cNvPr id="1072" name="Text 35"/>
          <p:cNvSpPr/>
          <p:nvPr/>
        </p:nvSpPr>
        <p:spPr>
          <a:xfrm>
            <a:off x="4854960" y="2861265"/>
            <a:ext cx="3885120" cy="17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1" u="none" strike="noStrike">
                <a:solidFill>
                  <a:srgbClr val="8ECAE6"/>
                </a:solidFill>
                <a:effectLst/>
                <a:uFillTx/>
                <a:latin typeface="Calibri"/>
              </a:rPr>
              <a:t>Źródło</a:t>
            </a:r>
            <a:r>
              <a:rPr lang="pl-PL" sz="1200" b="0" u="none" strike="noStrike">
                <a:solidFill>
                  <a:srgbClr val="8ECAE6"/>
                </a:solidFill>
                <a:effectLst/>
                <a:uFillTx/>
                <a:latin typeface="Calibri"/>
              </a:rPr>
              <a:t>: Sprint review demo, Analytics dashboard, A/B tests</a:t>
            </a:r>
            <a:endParaRPr lang="pl-PL" sz="1200" b="0" u="none" strike="noStrike">
              <a:solidFill>
                <a:srgbClr val="FFFFFF"/>
              </a:solidFill>
              <a:effectLst/>
              <a:uFillTx/>
              <a:latin typeface="Arial"/>
            </a:endParaRPr>
          </a:p>
        </p:txBody>
      </p:sp>
      <p:sp>
        <p:nvSpPr>
          <p:cNvPr id="1073" name="Text 36"/>
          <p:cNvSpPr/>
          <p:nvPr/>
        </p:nvSpPr>
        <p:spPr>
          <a:xfrm>
            <a:off x="4854960" y="3044835"/>
            <a:ext cx="3885120" cy="17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dirty="0">
                <a:solidFill>
                  <a:srgbClr val="FFFFFF"/>
                </a:solidFill>
                <a:effectLst/>
                <a:uFillTx/>
                <a:latin typeface="Calibri"/>
              </a:rPr>
              <a:t>→ </a:t>
            </a:r>
            <a:r>
              <a:rPr lang="pl-PL" sz="1200" b="0" u="none" strike="noStrike" dirty="0" err="1">
                <a:solidFill>
                  <a:srgbClr val="FFFFFF"/>
                </a:solidFill>
                <a:effectLst/>
                <a:uFillTx/>
                <a:latin typeface="Calibri"/>
              </a:rPr>
              <a:t>Adjustment</a:t>
            </a:r>
            <a:r>
              <a:rPr lang="pl-PL" sz="1200" b="0" u="none" strike="noStrike" dirty="0">
                <a:solidFill>
                  <a:srgbClr val="FFFFFF"/>
                </a:solidFill>
                <a:effectLst/>
                <a:uFillTx/>
                <a:latin typeface="Calibri"/>
              </a:rPr>
              <a:t> </a:t>
            </a:r>
            <a:r>
              <a:rPr lang="pl-PL" sz="1200" b="0" u="none" strike="noStrike" dirty="0" err="1">
                <a:solidFill>
                  <a:srgbClr val="FFFFFF"/>
                </a:solidFill>
                <a:effectLst/>
                <a:uFillTx/>
                <a:latin typeface="Calibri"/>
              </a:rPr>
              <a:t>backlogu</a:t>
            </a:r>
            <a:r>
              <a:rPr lang="pl-PL" sz="1200" b="0" u="none" strike="noStrike" dirty="0">
                <a:solidFill>
                  <a:srgbClr val="FFFFFF"/>
                </a:solidFill>
                <a:effectLst/>
                <a:uFillTx/>
                <a:latin typeface="Calibri"/>
              </a:rPr>
              <a:t>, re-</a:t>
            </a:r>
            <a:r>
              <a:rPr lang="pl-PL" sz="1200" b="0" u="none" strike="noStrike" dirty="0" err="1">
                <a:solidFill>
                  <a:srgbClr val="FFFFFF"/>
                </a:solidFill>
                <a:effectLst/>
                <a:uFillTx/>
                <a:latin typeface="Calibri"/>
              </a:rPr>
              <a:t>prioritization</a:t>
            </a:r>
            <a:endParaRPr lang="pl-PL" sz="1200" b="0" u="none" strike="noStrike" dirty="0">
              <a:solidFill>
                <a:srgbClr val="FFFFFF"/>
              </a:solidFill>
              <a:effectLst/>
              <a:uFillTx/>
              <a:latin typeface="Arial"/>
            </a:endParaRPr>
          </a:p>
        </p:txBody>
      </p:sp>
      <p:sp>
        <p:nvSpPr>
          <p:cNvPr id="1074" name="Shape 37"/>
          <p:cNvSpPr/>
          <p:nvPr/>
        </p:nvSpPr>
        <p:spPr>
          <a:xfrm>
            <a:off x="383760" y="3355875"/>
            <a:ext cx="4177800" cy="712080"/>
          </a:xfrm>
          <a:prstGeom prst="rect">
            <a:avLst/>
          </a:prstGeom>
          <a:solidFill>
            <a:srgbClr val="0A2540"/>
          </a:solidFill>
          <a:ln w="762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75" name="Shape 38"/>
          <p:cNvSpPr/>
          <p:nvPr/>
        </p:nvSpPr>
        <p:spPr>
          <a:xfrm>
            <a:off x="383760" y="3355875"/>
            <a:ext cx="63000" cy="71208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76" name="Shape 39"/>
          <p:cNvSpPr/>
          <p:nvPr/>
        </p:nvSpPr>
        <p:spPr>
          <a:xfrm>
            <a:off x="539280" y="3447315"/>
            <a:ext cx="1331640" cy="200160"/>
          </a:xfrm>
          <a:prstGeom prst="roundRect">
            <a:avLst>
              <a:gd name="adj" fmla="val 31818"/>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77" name="Text 40"/>
          <p:cNvSpPr/>
          <p:nvPr/>
        </p:nvSpPr>
        <p:spPr>
          <a:xfrm>
            <a:off x="539280" y="3447315"/>
            <a:ext cx="129348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400" b="1" u="none" strike="noStrike" dirty="0">
                <a:solidFill>
                  <a:srgbClr val="000000"/>
                </a:solidFill>
                <a:effectLst/>
                <a:uFillTx/>
                <a:latin typeface="Calibri"/>
              </a:rPr>
              <a:t>Miesięcznie</a:t>
            </a:r>
            <a:endParaRPr lang="pl-PL" sz="1400" b="0" u="none" strike="noStrike" dirty="0">
              <a:solidFill>
                <a:srgbClr val="FFFFFF"/>
              </a:solidFill>
              <a:effectLst/>
              <a:uFillTx/>
              <a:latin typeface="Arial"/>
            </a:endParaRPr>
          </a:p>
        </p:txBody>
      </p:sp>
      <p:sp>
        <p:nvSpPr>
          <p:cNvPr id="1078" name="Text 41"/>
          <p:cNvSpPr/>
          <p:nvPr/>
        </p:nvSpPr>
        <p:spPr>
          <a:xfrm>
            <a:off x="539280" y="3684225"/>
            <a:ext cx="3885120" cy="17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300" b="1" u="none" strike="noStrike">
                <a:solidFill>
                  <a:srgbClr val="8ECAE6"/>
                </a:solidFill>
                <a:effectLst/>
                <a:uFillTx/>
                <a:latin typeface="Calibri"/>
              </a:rPr>
              <a:t>Źródło</a:t>
            </a:r>
            <a:r>
              <a:rPr lang="pl-PL" sz="1300" b="0" u="none" strike="noStrike">
                <a:solidFill>
                  <a:srgbClr val="8ECAE6"/>
                </a:solidFill>
                <a:effectLst/>
                <a:uFillTx/>
                <a:latin typeface="Calibri"/>
              </a:rPr>
              <a:t>: NPS survey, user interviews (5 os.), churn analysis</a:t>
            </a:r>
            <a:endParaRPr lang="pl-PL" sz="1300" b="0" u="none" strike="noStrike">
              <a:solidFill>
                <a:srgbClr val="FFFFFF"/>
              </a:solidFill>
              <a:effectLst/>
              <a:uFillTx/>
              <a:latin typeface="Arial"/>
            </a:endParaRPr>
          </a:p>
        </p:txBody>
      </p:sp>
      <p:sp>
        <p:nvSpPr>
          <p:cNvPr id="1079" name="Text 42"/>
          <p:cNvSpPr/>
          <p:nvPr/>
        </p:nvSpPr>
        <p:spPr>
          <a:xfrm>
            <a:off x="539280" y="3867795"/>
            <a:ext cx="3885120" cy="17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dirty="0">
                <a:solidFill>
                  <a:srgbClr val="FFFFFF"/>
                </a:solidFill>
                <a:effectLst/>
                <a:uFillTx/>
                <a:latin typeface="Calibri"/>
              </a:rPr>
              <a:t>→ </a:t>
            </a:r>
            <a:r>
              <a:rPr lang="pl-PL" sz="1200" b="0" u="none" strike="noStrike" dirty="0" err="1">
                <a:solidFill>
                  <a:srgbClr val="FFFFFF"/>
                </a:solidFill>
                <a:effectLst/>
                <a:uFillTx/>
                <a:latin typeface="Calibri"/>
              </a:rPr>
              <a:t>Roadmap</a:t>
            </a:r>
            <a:r>
              <a:rPr lang="pl-PL" sz="1200" b="0" u="none" strike="noStrike" dirty="0">
                <a:solidFill>
                  <a:srgbClr val="FFFFFF"/>
                </a:solidFill>
                <a:effectLst/>
                <a:uFillTx/>
                <a:latin typeface="Calibri"/>
              </a:rPr>
              <a:t> update, </a:t>
            </a:r>
            <a:r>
              <a:rPr lang="pl-PL" sz="1200" b="0" u="none" strike="noStrike" dirty="0" err="1">
                <a:solidFill>
                  <a:srgbClr val="FFFFFF"/>
                </a:solidFill>
                <a:effectLst/>
                <a:uFillTx/>
                <a:latin typeface="Calibri"/>
              </a:rPr>
              <a:t>feature</a:t>
            </a:r>
            <a:r>
              <a:rPr lang="pl-PL" sz="1200" b="0" u="none" strike="noStrike" dirty="0">
                <a:solidFill>
                  <a:srgbClr val="FFFFFF"/>
                </a:solidFill>
                <a:effectLst/>
                <a:uFillTx/>
                <a:latin typeface="Calibri"/>
              </a:rPr>
              <a:t> </a:t>
            </a:r>
            <a:r>
              <a:rPr lang="pl-PL" sz="1200" b="0" u="none" strike="noStrike" dirty="0" err="1">
                <a:solidFill>
                  <a:srgbClr val="FFFFFF"/>
                </a:solidFill>
                <a:effectLst/>
                <a:uFillTx/>
                <a:latin typeface="Calibri"/>
              </a:rPr>
              <a:t>kill</a:t>
            </a:r>
            <a:r>
              <a:rPr lang="pl-PL" sz="1200" b="0" u="none" strike="noStrike" dirty="0">
                <a:solidFill>
                  <a:srgbClr val="FFFFFF"/>
                </a:solidFill>
                <a:effectLst/>
                <a:uFillTx/>
                <a:latin typeface="Calibri"/>
              </a:rPr>
              <a:t>/</a:t>
            </a:r>
            <a:r>
              <a:rPr lang="pl-PL" sz="1200" b="0" u="none" strike="noStrike" dirty="0" err="1">
                <a:solidFill>
                  <a:srgbClr val="FFFFFF"/>
                </a:solidFill>
                <a:effectLst/>
                <a:uFillTx/>
                <a:latin typeface="Calibri"/>
              </a:rPr>
              <a:t>keep</a:t>
            </a:r>
            <a:r>
              <a:rPr lang="pl-PL" sz="1200" b="0" u="none" strike="noStrike" dirty="0">
                <a:solidFill>
                  <a:srgbClr val="FFFFFF"/>
                </a:solidFill>
                <a:effectLst/>
                <a:uFillTx/>
                <a:latin typeface="Calibri"/>
              </a:rPr>
              <a:t>/</a:t>
            </a:r>
            <a:r>
              <a:rPr lang="pl-PL" sz="1200" b="0" u="none" strike="noStrike" dirty="0" err="1">
                <a:solidFill>
                  <a:srgbClr val="FFFFFF"/>
                </a:solidFill>
                <a:effectLst/>
                <a:uFillTx/>
                <a:latin typeface="Calibri"/>
              </a:rPr>
              <a:t>build</a:t>
            </a:r>
            <a:endParaRPr lang="pl-PL" sz="1200" b="0" u="none" strike="noStrike" dirty="0">
              <a:solidFill>
                <a:srgbClr val="FFFFFF"/>
              </a:solidFill>
              <a:effectLst/>
              <a:uFillTx/>
              <a:latin typeface="Arial"/>
            </a:endParaRPr>
          </a:p>
        </p:txBody>
      </p:sp>
      <p:sp>
        <p:nvSpPr>
          <p:cNvPr id="1080" name="Shape 43"/>
          <p:cNvSpPr/>
          <p:nvPr/>
        </p:nvSpPr>
        <p:spPr>
          <a:xfrm>
            <a:off x="4699800" y="3355875"/>
            <a:ext cx="4177800" cy="712080"/>
          </a:xfrm>
          <a:prstGeom prst="rect">
            <a:avLst/>
          </a:prstGeom>
          <a:solidFill>
            <a:srgbClr val="0A2540"/>
          </a:solidFill>
          <a:ln w="762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81" name="Shape 44"/>
          <p:cNvSpPr/>
          <p:nvPr/>
        </p:nvSpPr>
        <p:spPr>
          <a:xfrm>
            <a:off x="4699800" y="3355875"/>
            <a:ext cx="63000" cy="71208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82" name="Shape 45"/>
          <p:cNvSpPr/>
          <p:nvPr/>
        </p:nvSpPr>
        <p:spPr>
          <a:xfrm>
            <a:off x="4854960" y="3447315"/>
            <a:ext cx="1149840" cy="200160"/>
          </a:xfrm>
          <a:prstGeom prst="roundRect">
            <a:avLst>
              <a:gd name="adj" fmla="val 31818"/>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83" name="Text 46"/>
          <p:cNvSpPr/>
          <p:nvPr/>
        </p:nvSpPr>
        <p:spPr>
          <a:xfrm>
            <a:off x="4854960" y="3447315"/>
            <a:ext cx="112140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pl-PL" sz="1400" b="1" u="none" strike="noStrike">
                <a:solidFill>
                  <a:srgbClr val="000000"/>
                </a:solidFill>
                <a:effectLst/>
                <a:uFillTx/>
                <a:latin typeface="Calibri"/>
              </a:rPr>
              <a:t>Kwartalnie</a:t>
            </a:r>
            <a:endParaRPr lang="pl-PL" sz="1400" b="0" u="none" strike="noStrike">
              <a:solidFill>
                <a:srgbClr val="FFFFFF"/>
              </a:solidFill>
              <a:effectLst/>
              <a:uFillTx/>
              <a:latin typeface="Arial"/>
            </a:endParaRPr>
          </a:p>
        </p:txBody>
      </p:sp>
      <p:sp>
        <p:nvSpPr>
          <p:cNvPr id="1084" name="Text 47"/>
          <p:cNvSpPr/>
          <p:nvPr/>
        </p:nvSpPr>
        <p:spPr>
          <a:xfrm>
            <a:off x="4854960" y="3684225"/>
            <a:ext cx="3885120" cy="17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1" u="none" strike="noStrike">
                <a:solidFill>
                  <a:srgbClr val="8ECAE6"/>
                </a:solidFill>
                <a:effectLst/>
                <a:uFillTx/>
                <a:latin typeface="Calibri"/>
              </a:rPr>
              <a:t>Źródło</a:t>
            </a:r>
            <a:r>
              <a:rPr lang="pl-PL" sz="1200" b="0" u="none" strike="noStrike">
                <a:solidFill>
                  <a:srgbClr val="8ECAE6"/>
                </a:solidFill>
                <a:effectLst/>
                <a:uFillTx/>
                <a:latin typeface="Calibri"/>
              </a:rPr>
              <a:t>: OKR review, market benchmark, competitor analysis</a:t>
            </a:r>
            <a:endParaRPr lang="pl-PL" sz="1200" b="0" u="none" strike="noStrike">
              <a:solidFill>
                <a:srgbClr val="FFFFFF"/>
              </a:solidFill>
              <a:effectLst/>
              <a:uFillTx/>
              <a:latin typeface="Arial"/>
            </a:endParaRPr>
          </a:p>
        </p:txBody>
      </p:sp>
      <p:sp>
        <p:nvSpPr>
          <p:cNvPr id="1085" name="Text 48"/>
          <p:cNvSpPr/>
          <p:nvPr/>
        </p:nvSpPr>
        <p:spPr>
          <a:xfrm>
            <a:off x="4854960" y="3867795"/>
            <a:ext cx="3885120" cy="172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200" b="0" u="none" strike="noStrike" dirty="0">
                <a:solidFill>
                  <a:srgbClr val="FFFFFF"/>
                </a:solidFill>
                <a:effectLst/>
                <a:uFillTx/>
                <a:latin typeface="Calibri"/>
              </a:rPr>
              <a:t>→ Strategia produktu, </a:t>
            </a:r>
            <a:r>
              <a:rPr lang="pl-PL" sz="1200" b="0" u="none" strike="noStrike" dirty="0" err="1">
                <a:solidFill>
                  <a:srgbClr val="FFFFFF"/>
                </a:solidFill>
                <a:effectLst/>
                <a:uFillTx/>
                <a:latin typeface="Calibri"/>
              </a:rPr>
              <a:t>tech</a:t>
            </a:r>
            <a:r>
              <a:rPr lang="pl-PL" sz="1200" b="0" u="none" strike="noStrike" dirty="0">
                <a:solidFill>
                  <a:srgbClr val="FFFFFF"/>
                </a:solidFill>
                <a:effectLst/>
                <a:uFillTx/>
                <a:latin typeface="Calibri"/>
              </a:rPr>
              <a:t> investment plan</a:t>
            </a:r>
            <a:endParaRPr lang="pl-PL" sz="1200" b="0" u="none" strike="noStrike" dirty="0">
              <a:solidFill>
                <a:srgbClr val="FFFFFF"/>
              </a:solidFill>
              <a:effectLst/>
              <a:uFillTx/>
              <a:latin typeface="Arial"/>
            </a:endParaRPr>
          </a:p>
        </p:txBody>
      </p:sp>
      <p:sp>
        <p:nvSpPr>
          <p:cNvPr id="1086" name="Shape 49"/>
          <p:cNvSpPr/>
          <p:nvPr/>
        </p:nvSpPr>
        <p:spPr>
          <a:xfrm>
            <a:off x="404640" y="4365825"/>
            <a:ext cx="8476920" cy="534135"/>
          </a:xfrm>
          <a:prstGeom prst="rect">
            <a:avLst/>
          </a:prstGeom>
          <a:solidFill>
            <a:srgbClr val="102040"/>
          </a:solidFill>
          <a:ln w="635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pPr>
            <a:r>
              <a:rPr lang="pl-PL" sz="1400" b="1" u="none" strike="noStrike" spc="-40" dirty="0">
                <a:solidFill>
                  <a:srgbClr val="8ECAE6"/>
                </a:solidFill>
                <a:effectLst/>
                <a:uFillTx/>
                <a:latin typeface="Calibri"/>
              </a:rPr>
              <a:t>Amazon</a:t>
            </a:r>
            <a:r>
              <a:rPr lang="pl-PL" sz="1400" b="0" u="none" strike="noStrike" spc="-40" dirty="0">
                <a:solidFill>
                  <a:srgbClr val="8ECAE6"/>
                </a:solidFill>
                <a:effectLst/>
                <a:uFillTx/>
                <a:latin typeface="Calibri"/>
              </a:rPr>
              <a:t>: "</a:t>
            </a:r>
            <a:r>
              <a:rPr lang="pl-PL" sz="1400" b="0" u="none" strike="noStrike" spc="-40" dirty="0" err="1">
                <a:solidFill>
                  <a:srgbClr val="8ECAE6"/>
                </a:solidFill>
                <a:effectLst/>
                <a:uFillTx/>
                <a:latin typeface="Calibri"/>
              </a:rPr>
              <a:t>Every</a:t>
            </a:r>
            <a:r>
              <a:rPr lang="pl-PL" sz="1400" b="0" u="none" strike="noStrike" spc="-40" dirty="0">
                <a:solidFill>
                  <a:srgbClr val="8ECAE6"/>
                </a:solidFill>
                <a:effectLst/>
                <a:uFillTx/>
                <a:latin typeface="Calibri"/>
              </a:rPr>
              <a:t> </a:t>
            </a:r>
            <a:r>
              <a:rPr lang="pl-PL" sz="1400" b="0" u="none" strike="noStrike" spc="-40" dirty="0" err="1">
                <a:solidFill>
                  <a:srgbClr val="8ECAE6"/>
                </a:solidFill>
                <a:effectLst/>
                <a:uFillTx/>
                <a:latin typeface="Calibri"/>
              </a:rPr>
              <a:t>day</a:t>
            </a:r>
            <a:r>
              <a:rPr lang="pl-PL" sz="1400" b="0" u="none" strike="noStrike" spc="-40" dirty="0">
                <a:solidFill>
                  <a:srgbClr val="8ECAE6"/>
                </a:solidFill>
                <a:effectLst/>
                <a:uFillTx/>
                <a:latin typeface="Calibri"/>
              </a:rPr>
              <a:t> </a:t>
            </a:r>
            <a:r>
              <a:rPr lang="pl-PL" sz="1400" b="0" u="none" strike="noStrike" spc="-40" dirty="0" err="1">
                <a:solidFill>
                  <a:srgbClr val="8ECAE6"/>
                </a:solidFill>
                <a:effectLst/>
                <a:uFillTx/>
                <a:latin typeface="Calibri"/>
              </a:rPr>
              <a:t>is</a:t>
            </a:r>
            <a:r>
              <a:rPr lang="pl-PL" sz="1400" b="0" u="none" strike="noStrike" spc="-40" dirty="0">
                <a:solidFill>
                  <a:srgbClr val="8ECAE6"/>
                </a:solidFill>
                <a:effectLst/>
                <a:uFillTx/>
                <a:latin typeface="Calibri"/>
              </a:rPr>
              <a:t> </a:t>
            </a:r>
            <a:r>
              <a:rPr lang="pl-PL" sz="1400" b="0" u="none" strike="noStrike" spc="-40" dirty="0" err="1">
                <a:solidFill>
                  <a:srgbClr val="8ECAE6"/>
                </a:solidFill>
                <a:effectLst/>
                <a:uFillTx/>
                <a:latin typeface="Calibri"/>
              </a:rPr>
              <a:t>launch</a:t>
            </a:r>
            <a:r>
              <a:rPr lang="pl-PL" sz="1400" b="0" u="none" strike="noStrike" spc="-40" dirty="0">
                <a:solidFill>
                  <a:srgbClr val="8ECAE6"/>
                </a:solidFill>
                <a:effectLst/>
                <a:uFillTx/>
                <a:latin typeface="Calibri"/>
              </a:rPr>
              <a:t> </a:t>
            </a:r>
            <a:r>
              <a:rPr lang="pl-PL" sz="1400" b="0" u="none" strike="noStrike" spc="-40" dirty="0" err="1">
                <a:solidFill>
                  <a:srgbClr val="8ECAE6"/>
                </a:solidFill>
                <a:effectLst/>
                <a:uFillTx/>
                <a:latin typeface="Calibri"/>
              </a:rPr>
              <a:t>day</a:t>
            </a:r>
            <a:r>
              <a:rPr lang="pl-PL" sz="1400" b="0" u="none" strike="noStrike" spc="-40" dirty="0">
                <a:solidFill>
                  <a:srgbClr val="8ECAE6"/>
                </a:solidFill>
                <a:effectLst/>
                <a:uFillTx/>
                <a:latin typeface="Calibri"/>
              </a:rPr>
              <a:t>", </a:t>
            </a:r>
            <a:r>
              <a:rPr lang="pl-PL" sz="1400" b="0" u="none" strike="noStrike" spc="-40" dirty="0" smtClean="0">
                <a:solidFill>
                  <a:srgbClr val="8ECAE6"/>
                </a:solidFill>
                <a:effectLst/>
                <a:uFillTx/>
                <a:latin typeface="Calibri"/>
              </a:rPr>
              <a:t>czyli ciągłe </a:t>
            </a:r>
            <a:r>
              <a:rPr lang="pl-PL" sz="1400" b="0" u="none" strike="noStrike" spc="-40" dirty="0">
                <a:solidFill>
                  <a:srgbClr val="8ECAE6"/>
                </a:solidFill>
                <a:effectLst/>
                <a:uFillTx/>
                <a:latin typeface="Calibri"/>
              </a:rPr>
              <a:t>wydawanie małych zmian jest </a:t>
            </a:r>
            <a:r>
              <a:rPr lang="pl-PL" sz="1400" b="0" u="none" strike="noStrike" spc="-40" dirty="0" smtClean="0">
                <a:solidFill>
                  <a:srgbClr val="8ECAE6"/>
                </a:solidFill>
                <a:effectLst/>
                <a:uFillTx/>
                <a:latin typeface="Calibri"/>
              </a:rPr>
              <a:t>bezpieczniejsze, </a:t>
            </a:r>
            <a:r>
              <a:rPr lang="pl-PL" sz="1400" b="0" u="none" strike="noStrike" spc="-40" dirty="0">
                <a:solidFill>
                  <a:srgbClr val="8ECAE6"/>
                </a:solidFill>
                <a:effectLst/>
                <a:uFillTx/>
                <a:latin typeface="Calibri"/>
              </a:rPr>
              <a:t>niż </a:t>
            </a:r>
            <a:r>
              <a:rPr lang="pl-PL" sz="1400" b="0" u="none" strike="noStrike" spc="-40" dirty="0" smtClean="0">
                <a:solidFill>
                  <a:srgbClr val="8ECAE6"/>
                </a:solidFill>
                <a:effectLst/>
                <a:uFillTx/>
                <a:latin typeface="Calibri"/>
              </a:rPr>
              <a:t>duży </a:t>
            </a:r>
            <a:r>
              <a:rPr lang="pl-PL" sz="1400" b="0" u="none" strike="noStrike" spc="-40" dirty="0" err="1">
                <a:solidFill>
                  <a:srgbClr val="8ECAE6"/>
                </a:solidFill>
                <a:effectLst/>
                <a:uFillTx/>
                <a:latin typeface="Calibri"/>
              </a:rPr>
              <a:t>release</a:t>
            </a:r>
            <a:r>
              <a:rPr lang="pl-PL" sz="1400" b="0" u="none" strike="noStrike" spc="-40" dirty="0">
                <a:solidFill>
                  <a:srgbClr val="8ECAE6"/>
                </a:solidFill>
                <a:effectLst/>
                <a:uFillTx/>
                <a:latin typeface="Calibri"/>
              </a:rPr>
              <a:t> co </a:t>
            </a:r>
            <a:r>
              <a:rPr lang="pl-PL" sz="1400" spc="-40" dirty="0" smtClean="0">
                <a:solidFill>
                  <a:srgbClr val="8ECAE6"/>
                </a:solidFill>
                <a:latin typeface="Calibri"/>
              </a:rPr>
              <a:t>pół roku</a:t>
            </a:r>
            <a:r>
              <a:rPr lang="pl-PL" sz="1400" b="0" u="none" strike="noStrike" spc="-40" dirty="0" smtClean="0">
                <a:solidFill>
                  <a:srgbClr val="8ECAE6"/>
                </a:solidFill>
                <a:effectLst/>
                <a:uFillTx/>
                <a:latin typeface="Calibri"/>
              </a:rPr>
              <a:t>. </a:t>
            </a:r>
            <a:endParaRPr lang="pl-PL" sz="1400" b="0" u="none" strike="noStrike" spc="-40" dirty="0">
              <a:solidFill>
                <a:srgbClr val="FFFFFF"/>
              </a:solidFill>
              <a:effectLst/>
              <a:uFillTx/>
              <a:latin typeface="Arial"/>
            </a:endParaRPr>
          </a:p>
          <a:p>
            <a:pPr defTabSz="914400">
              <a:lnSpc>
                <a:spcPct val="100000"/>
              </a:lnSpc>
            </a:pPr>
            <a:r>
              <a:rPr lang="pl-PL" sz="1400" b="1" u="none" strike="noStrike" dirty="0" err="1">
                <a:solidFill>
                  <a:srgbClr val="8ECAE6"/>
                </a:solidFill>
                <a:effectLst/>
                <a:uFillTx/>
                <a:latin typeface="Calibri"/>
              </a:rPr>
              <a:t>Netflix</a:t>
            </a:r>
            <a:r>
              <a:rPr lang="pl-PL" sz="1400" b="0" u="none" strike="noStrike" dirty="0">
                <a:solidFill>
                  <a:srgbClr val="8ECAE6"/>
                </a:solidFill>
                <a:effectLst/>
                <a:uFillTx/>
                <a:latin typeface="Calibri"/>
              </a:rPr>
              <a:t> wypuszcza setki </a:t>
            </a:r>
            <a:r>
              <a:rPr lang="pl-PL" sz="1400" b="0" u="none" strike="noStrike" dirty="0" err="1">
                <a:solidFill>
                  <a:srgbClr val="8ECAE6"/>
                </a:solidFill>
                <a:effectLst/>
                <a:uFillTx/>
                <a:latin typeface="Calibri"/>
              </a:rPr>
              <a:t>deploymentów</a:t>
            </a:r>
            <a:r>
              <a:rPr lang="pl-PL" sz="1400" b="0" u="none" strike="noStrike" dirty="0">
                <a:solidFill>
                  <a:srgbClr val="8ECAE6"/>
                </a:solidFill>
                <a:effectLst/>
                <a:uFillTx/>
                <a:latin typeface="Calibri"/>
              </a:rPr>
              <a:t> dziennie.</a:t>
            </a:r>
            <a:endParaRPr lang="pl-PL" sz="1400" b="0" u="none" strike="noStrike" dirty="0">
              <a:solidFill>
                <a:srgbClr val="FFFFFF"/>
              </a:solidFill>
              <a:effectLst/>
              <a:uFillTx/>
              <a:latin typeface="Arial"/>
            </a:endParaRPr>
          </a:p>
        </p:txBody>
      </p:sp>
      <p:sp>
        <p:nvSpPr>
          <p:cNvPr id="1087" name="Shape 51"/>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88" name="Text 54"/>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8ECAE6"/>
                </a:solidFill>
                <a:effectLst/>
                <a:uFillTx/>
                <a:latin typeface="Calibri"/>
              </a:rPr>
              <a:t>29 / 30</a:t>
            </a:r>
            <a:endParaRPr lang="pl-PL" sz="8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61422"/>
        </a:solidFill>
        <a:effectLst/>
      </p:bgPr>
    </p:bg>
    <p:spTree>
      <p:nvGrpSpPr>
        <p:cNvPr id="1" name=""/>
        <p:cNvGrpSpPr/>
        <p:nvPr/>
      </p:nvGrpSpPr>
      <p:grpSpPr>
        <a:xfrm>
          <a:off x="0" y="0"/>
          <a:ext cx="0" cy="0"/>
          <a:chOff x="0" y="0"/>
          <a:chExt cx="0" cy="0"/>
        </a:xfrm>
      </p:grpSpPr>
      <p:sp>
        <p:nvSpPr>
          <p:cNvPr id="666" name="Shape 0"/>
          <p:cNvSpPr/>
          <p:nvPr/>
        </p:nvSpPr>
        <p:spPr>
          <a:xfrm>
            <a:off x="0" y="0"/>
            <a:ext cx="90360" cy="4955040"/>
          </a:xfrm>
          <a:prstGeom prst="rect">
            <a:avLst/>
          </a:prstGeom>
          <a:solidFill>
            <a:srgbClr val="E91E8C"/>
          </a:solidFill>
          <a:ln w="1270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67" name="Shape 1"/>
          <p:cNvSpPr/>
          <p:nvPr/>
        </p:nvSpPr>
        <p:spPr>
          <a:xfrm>
            <a:off x="0" y="3467100"/>
            <a:ext cx="9142920" cy="1469580"/>
          </a:xfrm>
          <a:prstGeom prst="rect">
            <a:avLst/>
          </a:prstGeom>
          <a:solidFill>
            <a:srgbClr val="081828"/>
          </a:solidFill>
          <a:ln w="12700">
            <a:solidFill>
              <a:srgbClr val="08182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68" name="Shape 2"/>
          <p:cNvSpPr/>
          <p:nvPr/>
        </p:nvSpPr>
        <p:spPr>
          <a:xfrm>
            <a:off x="502920" y="1005840"/>
            <a:ext cx="1114560" cy="273240"/>
          </a:xfrm>
          <a:prstGeom prst="roundRect">
            <a:avLst>
              <a:gd name="adj" fmla="val 26667"/>
            </a:avLst>
          </a:prstGeom>
          <a:solidFill>
            <a:srgbClr val="E91E8C"/>
          </a:solidFill>
          <a:ln w="1270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69" name="Text 3"/>
          <p:cNvSpPr/>
          <p:nvPr/>
        </p:nvSpPr>
        <p:spPr>
          <a:xfrm>
            <a:off x="502920" y="1005840"/>
            <a:ext cx="11145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Calibri"/>
              </a:rPr>
              <a:t>ROZDZIAŁ 8</a:t>
            </a:r>
            <a:endParaRPr lang="pl-PL" sz="1200" b="0" u="none" strike="noStrike">
              <a:solidFill>
                <a:srgbClr val="FFFFFF"/>
              </a:solidFill>
              <a:effectLst/>
              <a:uFillTx/>
              <a:latin typeface="Arial"/>
            </a:endParaRPr>
          </a:p>
        </p:txBody>
      </p:sp>
      <p:sp>
        <p:nvSpPr>
          <p:cNvPr id="670" name="Text 4"/>
          <p:cNvSpPr/>
          <p:nvPr/>
        </p:nvSpPr>
        <p:spPr>
          <a:xfrm>
            <a:off x="502920" y="1389960"/>
            <a:ext cx="8045640" cy="15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4800" b="1" u="none" strike="noStrike" dirty="0">
                <a:solidFill>
                  <a:srgbClr val="FFFFFF"/>
                </a:solidFill>
                <a:effectLst/>
                <a:uFillTx/>
                <a:latin typeface="Calibri"/>
              </a:rPr>
              <a:t>Lider </a:t>
            </a:r>
            <a:endParaRPr lang="pl-PL" sz="4800" b="1" u="none" strike="noStrike" dirty="0" smtClean="0">
              <a:solidFill>
                <a:srgbClr val="FFFFFF"/>
              </a:solidFill>
              <a:effectLst/>
              <a:uFillTx/>
              <a:latin typeface="Calibri"/>
            </a:endParaRPr>
          </a:p>
          <a:p>
            <a:pPr defTabSz="914400">
              <a:lnSpc>
                <a:spcPct val="100000"/>
              </a:lnSpc>
              <a:tabLst>
                <a:tab pos="0" algn="l"/>
              </a:tabLst>
            </a:pPr>
            <a:r>
              <a:rPr lang="pl-PL" sz="4800" b="1" dirty="0">
                <a:solidFill>
                  <a:srgbClr val="FFFFFF"/>
                </a:solidFill>
                <a:latin typeface="Calibri"/>
              </a:rPr>
              <a:t> </a:t>
            </a:r>
            <a:r>
              <a:rPr lang="pl-PL" sz="4800" b="1" dirty="0" smtClean="0">
                <a:solidFill>
                  <a:srgbClr val="FFFFFF"/>
                </a:solidFill>
                <a:latin typeface="Calibri"/>
              </a:rPr>
              <a:t>   </a:t>
            </a:r>
            <a:r>
              <a:rPr lang="pl-PL" sz="4800" b="1" u="none" strike="noStrike" dirty="0" smtClean="0">
                <a:solidFill>
                  <a:srgbClr val="FFFFFF"/>
                </a:solidFill>
                <a:effectLst/>
                <a:uFillTx/>
                <a:latin typeface="Calibri"/>
              </a:rPr>
              <a:t>zespołu</a:t>
            </a:r>
            <a:endParaRPr lang="pl-PL" sz="4800" b="0" u="none" strike="noStrike" dirty="0">
              <a:solidFill>
                <a:srgbClr val="FFFFFF"/>
              </a:solidFill>
              <a:effectLst/>
              <a:uFillTx/>
              <a:latin typeface="Arial"/>
            </a:endParaRPr>
          </a:p>
        </p:txBody>
      </p:sp>
      <p:sp>
        <p:nvSpPr>
          <p:cNvPr id="671" name="Text 5"/>
          <p:cNvSpPr/>
          <p:nvPr/>
        </p:nvSpPr>
        <p:spPr>
          <a:xfrm>
            <a:off x="502920" y="3558540"/>
            <a:ext cx="6856920" cy="593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600" b="0" u="none" strike="noStrike" dirty="0" smtClean="0">
                <a:solidFill>
                  <a:srgbClr val="8ECAE6"/>
                </a:solidFill>
                <a:effectLst/>
                <a:uFillTx/>
                <a:latin typeface="Calibri"/>
              </a:rPr>
              <a:t>Obowiązki, kompetencje, techniki zarządzania i częste błędy</a:t>
            </a:r>
            <a:endParaRPr lang="pl-PL" sz="1600" b="0" u="none" strike="noStrike" dirty="0">
              <a:solidFill>
                <a:srgbClr val="FFFFFF"/>
              </a:solidFill>
              <a:effectLst/>
              <a:uFillTx/>
              <a:latin typeface="Arial"/>
            </a:endParaRPr>
          </a:p>
        </p:txBody>
      </p:sp>
      <p:sp>
        <p:nvSpPr>
          <p:cNvPr id="672" name="Shape 6"/>
          <p:cNvSpPr/>
          <p:nvPr/>
        </p:nvSpPr>
        <p:spPr>
          <a:xfrm>
            <a:off x="502560" y="3872100"/>
            <a:ext cx="4155120" cy="360"/>
          </a:xfrm>
          <a:prstGeom prst="line">
            <a:avLst/>
          </a:prstGeom>
          <a:ln w="15240">
            <a:solidFill>
              <a:srgbClr val="E91E8C"/>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673" name="Shape 8"/>
          <p:cNvSpPr/>
          <p:nvPr/>
        </p:nvSpPr>
        <p:spPr>
          <a:xfrm>
            <a:off x="0" y="4951440"/>
            <a:ext cx="9142920" cy="190800"/>
          </a:xfrm>
          <a:prstGeom prst="rect">
            <a:avLst/>
          </a:prstGeom>
          <a:solidFill>
            <a:srgbClr val="1B3A55"/>
          </a:solidFill>
          <a:ln w="12700">
            <a:solidFill>
              <a:srgbClr val="1B3A5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74" name="Text 11"/>
          <p:cNvSpPr/>
          <p:nvPr/>
        </p:nvSpPr>
        <p:spPr>
          <a:xfrm>
            <a:off x="8229600" y="4951440"/>
            <a:ext cx="684720" cy="19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00" b="0" u="none" strike="noStrike">
                <a:solidFill>
                  <a:srgbClr val="8ECAE6"/>
                </a:solidFill>
                <a:effectLst/>
                <a:uFillTx/>
                <a:latin typeface="Calibri"/>
              </a:rPr>
              <a:t>19 / 30</a:t>
            </a:r>
            <a:endParaRPr lang="pl-PL" sz="700" b="0" u="none" strike="noStrike">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725"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dirty="0" smtClean="0">
                <a:solidFill>
                  <a:srgbClr val="FFFFFF"/>
                </a:solidFill>
                <a:effectLst/>
                <a:uFillTx/>
                <a:latin typeface="Calibri"/>
              </a:rPr>
              <a:t>Techniki zarządzania zespołem i komunikacja</a:t>
            </a:r>
            <a:endParaRPr lang="pl-PL" sz="2000" b="0" u="none" strike="noStrike" dirty="0">
              <a:solidFill>
                <a:srgbClr val="FFFFFF"/>
              </a:solidFill>
              <a:effectLst/>
              <a:uFillTx/>
              <a:latin typeface="Arial"/>
            </a:endParaRPr>
          </a:p>
        </p:txBody>
      </p:sp>
      <p:sp>
        <p:nvSpPr>
          <p:cNvPr id="726" name="Shape 3"/>
          <p:cNvSpPr/>
          <p:nvPr/>
        </p:nvSpPr>
        <p:spPr>
          <a:xfrm>
            <a:off x="383760" y="408525"/>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727" name="Text 4"/>
          <p:cNvSpPr/>
          <p:nvPr/>
        </p:nvSpPr>
        <p:spPr>
          <a:xfrm>
            <a:off x="384120" y="642960"/>
            <a:ext cx="457092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dirty="0">
                <a:solidFill>
                  <a:schemeClr val="lt1"/>
                </a:solidFill>
                <a:effectLst/>
                <a:uFillTx/>
                <a:latin typeface="Calibri"/>
              </a:rPr>
              <a:t>Struktura spotkania 1:1 </a:t>
            </a:r>
            <a:r>
              <a:rPr lang="pl-PL" sz="1600" b="0" u="none" strike="noStrike" dirty="0">
                <a:solidFill>
                  <a:schemeClr val="lt1"/>
                </a:solidFill>
                <a:effectLst/>
                <a:uFillTx/>
                <a:latin typeface="Calibri"/>
              </a:rPr>
              <a:t>(30 min/tydzień)</a:t>
            </a:r>
            <a:endParaRPr lang="pl-PL" sz="1600" b="0" u="none" strike="noStrike" dirty="0">
              <a:solidFill>
                <a:srgbClr val="FFFFFF"/>
              </a:solidFill>
              <a:effectLst/>
              <a:uFillTx/>
              <a:latin typeface="Arial"/>
            </a:endParaRPr>
          </a:p>
        </p:txBody>
      </p:sp>
      <p:sp>
        <p:nvSpPr>
          <p:cNvPr id="728" name="Shape 5"/>
          <p:cNvSpPr/>
          <p:nvPr/>
        </p:nvSpPr>
        <p:spPr>
          <a:xfrm>
            <a:off x="384120" y="945000"/>
            <a:ext cx="5107680" cy="476053"/>
          </a:xfrm>
          <a:prstGeom prst="rect">
            <a:avLst/>
          </a:prstGeom>
          <a:solidFill>
            <a:srgbClr val="0A2540"/>
          </a:solidFill>
          <a:ln w="5080">
            <a:solidFill>
              <a:srgbClr val="E91E8C"/>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29" name="Shape 6"/>
          <p:cNvSpPr/>
          <p:nvPr/>
        </p:nvSpPr>
        <p:spPr>
          <a:xfrm>
            <a:off x="475560" y="1009897"/>
            <a:ext cx="855360" cy="237386"/>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30" name="Text 7"/>
          <p:cNvSpPr/>
          <p:nvPr/>
        </p:nvSpPr>
        <p:spPr>
          <a:xfrm>
            <a:off x="475560" y="1009897"/>
            <a:ext cx="85536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0–5 min</a:t>
            </a:r>
            <a:endParaRPr lang="pl-PL" sz="1000" b="0" u="none" strike="noStrike">
              <a:solidFill>
                <a:srgbClr val="FFFFFF"/>
              </a:solidFill>
              <a:effectLst/>
              <a:uFillTx/>
              <a:latin typeface="Arial"/>
            </a:endParaRPr>
          </a:p>
        </p:txBody>
      </p:sp>
      <p:sp>
        <p:nvSpPr>
          <p:cNvPr id="731" name="Text 8"/>
          <p:cNvSpPr/>
          <p:nvPr/>
        </p:nvSpPr>
        <p:spPr>
          <a:xfrm>
            <a:off x="1478160" y="1009897"/>
            <a:ext cx="104292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smtClean="0">
                <a:solidFill>
                  <a:schemeClr val="bg1"/>
                </a:solidFill>
                <a:effectLst/>
                <a:uFillTx/>
                <a:latin typeface="Calibri"/>
              </a:rPr>
              <a:t>Check-in</a:t>
            </a:r>
            <a:endParaRPr lang="pl-PL" sz="1600" b="0" u="none" strike="noStrike" dirty="0">
              <a:solidFill>
                <a:schemeClr val="bg1"/>
              </a:solidFill>
              <a:effectLst/>
              <a:uFillTx/>
              <a:latin typeface="Arial"/>
            </a:endParaRPr>
          </a:p>
        </p:txBody>
      </p:sp>
      <p:sp>
        <p:nvSpPr>
          <p:cNvPr id="732" name="Text 9"/>
          <p:cNvSpPr/>
          <p:nvPr/>
        </p:nvSpPr>
        <p:spPr>
          <a:xfrm>
            <a:off x="2522160" y="991965"/>
            <a:ext cx="2899440" cy="38383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pl-PL" sz="1100" b="0" u="none" strike="noStrike" dirty="0">
                <a:solidFill>
                  <a:srgbClr val="FFFFFF"/>
                </a:solidFill>
                <a:effectLst/>
                <a:uFillTx/>
                <a:latin typeface="Calibri"/>
              </a:rPr>
              <a:t>Samopoczucie, nastrój, co poza pracą</a:t>
            </a:r>
            <a:endParaRPr lang="pl-PL" sz="1100" b="0" u="none" strike="noStrike" dirty="0">
              <a:solidFill>
                <a:srgbClr val="FFFFFF"/>
              </a:solidFill>
              <a:effectLst/>
              <a:uFillTx/>
              <a:latin typeface="Arial"/>
            </a:endParaRPr>
          </a:p>
        </p:txBody>
      </p:sp>
      <p:sp>
        <p:nvSpPr>
          <p:cNvPr id="733" name="Shape 10"/>
          <p:cNvSpPr/>
          <p:nvPr/>
        </p:nvSpPr>
        <p:spPr>
          <a:xfrm>
            <a:off x="384120" y="1508579"/>
            <a:ext cx="5107680" cy="476053"/>
          </a:xfrm>
          <a:prstGeom prst="rect">
            <a:avLst/>
          </a:prstGeom>
          <a:solidFill>
            <a:srgbClr val="0A2540"/>
          </a:solidFill>
          <a:ln w="5080">
            <a:solidFill>
              <a:srgbClr val="E91E8C"/>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34" name="Shape 11"/>
          <p:cNvSpPr/>
          <p:nvPr/>
        </p:nvSpPr>
        <p:spPr>
          <a:xfrm>
            <a:off x="475560" y="1573903"/>
            <a:ext cx="883080" cy="237386"/>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35" name="Text 12"/>
          <p:cNvSpPr/>
          <p:nvPr/>
        </p:nvSpPr>
        <p:spPr>
          <a:xfrm>
            <a:off x="475560" y="1573903"/>
            <a:ext cx="88308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5–15 min</a:t>
            </a:r>
            <a:endParaRPr lang="pl-PL" sz="1000" b="0" u="none" strike="noStrike">
              <a:solidFill>
                <a:srgbClr val="FFFFFF"/>
              </a:solidFill>
              <a:effectLst/>
              <a:uFillTx/>
              <a:latin typeface="Arial"/>
            </a:endParaRPr>
          </a:p>
        </p:txBody>
      </p:sp>
      <p:sp>
        <p:nvSpPr>
          <p:cNvPr id="736" name="Text 13"/>
          <p:cNvSpPr/>
          <p:nvPr/>
        </p:nvSpPr>
        <p:spPr>
          <a:xfrm>
            <a:off x="1478160" y="1573903"/>
            <a:ext cx="104292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dirty="0" err="1" smtClean="0">
                <a:solidFill>
                  <a:schemeClr val="bg1"/>
                </a:solidFill>
                <a:effectLst/>
                <a:uFillTx/>
                <a:latin typeface="Calibri"/>
              </a:rPr>
              <a:t>Postęp</a:t>
            </a:r>
            <a:endParaRPr lang="pl-PL" sz="1600" b="0" u="none" strike="noStrike" dirty="0">
              <a:solidFill>
                <a:schemeClr val="bg1"/>
              </a:solidFill>
              <a:effectLst/>
              <a:uFillTx/>
              <a:latin typeface="Arial"/>
            </a:endParaRPr>
          </a:p>
        </p:txBody>
      </p:sp>
      <p:sp>
        <p:nvSpPr>
          <p:cNvPr id="737" name="Text 14"/>
          <p:cNvSpPr/>
          <p:nvPr/>
        </p:nvSpPr>
        <p:spPr>
          <a:xfrm>
            <a:off x="2522160" y="1555971"/>
            <a:ext cx="2899440" cy="38383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100" b="0" u="none" strike="noStrike" dirty="0">
                <a:solidFill>
                  <a:srgbClr val="FFFFFF"/>
                </a:solidFill>
                <a:effectLst/>
                <a:uFillTx/>
                <a:latin typeface="Calibri"/>
              </a:rPr>
              <a:t>Co </a:t>
            </a:r>
            <a:r>
              <a:rPr lang="en-US" sz="1100" b="0" u="none" strike="noStrike" dirty="0" err="1">
                <a:solidFill>
                  <a:srgbClr val="FFFFFF"/>
                </a:solidFill>
                <a:effectLst/>
                <a:uFillTx/>
                <a:latin typeface="Calibri"/>
              </a:rPr>
              <a:t>działa</a:t>
            </a:r>
            <a:r>
              <a:rPr lang="en-US" sz="1100" b="0" u="none" strike="noStrike" dirty="0">
                <a:solidFill>
                  <a:srgbClr val="FFFFFF"/>
                </a:solidFill>
                <a:effectLst/>
                <a:uFillTx/>
                <a:latin typeface="Calibri"/>
              </a:rPr>
              <a:t>? Co </a:t>
            </a:r>
            <a:r>
              <a:rPr lang="en-US" sz="1100" b="0" u="none" strike="noStrike" dirty="0" err="1">
                <a:solidFill>
                  <a:srgbClr val="FFFFFF"/>
                </a:solidFill>
                <a:effectLst/>
                <a:uFillTx/>
                <a:latin typeface="Calibri"/>
              </a:rPr>
              <a:t>nie</a:t>
            </a:r>
            <a:r>
              <a:rPr lang="en-US" sz="1100" b="0" u="none" strike="noStrike" dirty="0">
                <a:solidFill>
                  <a:srgbClr val="FFFFFF"/>
                </a:solidFill>
                <a:effectLst/>
                <a:uFillTx/>
                <a:latin typeface="Calibri"/>
              </a:rPr>
              <a:t>? </a:t>
            </a:r>
            <a:r>
              <a:rPr lang="en-US" sz="1100" b="0" u="none" strike="noStrike" dirty="0" err="1">
                <a:solidFill>
                  <a:srgbClr val="FFFFFF"/>
                </a:solidFill>
                <a:effectLst/>
                <a:uFillTx/>
                <a:latin typeface="Calibri"/>
              </a:rPr>
              <a:t>Gdzie</a:t>
            </a:r>
            <a:r>
              <a:rPr lang="en-US" sz="1100" b="0" u="none" strike="noStrike" dirty="0">
                <a:solidFill>
                  <a:srgbClr val="FFFFFF"/>
                </a:solidFill>
                <a:effectLst/>
                <a:uFillTx/>
                <a:latin typeface="Calibri"/>
              </a:rPr>
              <a:t> </a:t>
            </a:r>
            <a:r>
              <a:rPr lang="en-US" sz="1100" b="0" u="none" strike="noStrike" dirty="0" err="1">
                <a:solidFill>
                  <a:srgbClr val="FFFFFF"/>
                </a:solidFill>
                <a:effectLst/>
                <a:uFillTx/>
                <a:latin typeface="Calibri"/>
              </a:rPr>
              <a:t>potrzebujesz</a:t>
            </a:r>
            <a:r>
              <a:rPr lang="en-US" sz="1100" b="0" u="none" strike="noStrike" dirty="0">
                <a:solidFill>
                  <a:srgbClr val="FFFFFF"/>
                </a:solidFill>
                <a:effectLst/>
                <a:uFillTx/>
                <a:latin typeface="Calibri"/>
              </a:rPr>
              <a:t> </a:t>
            </a:r>
            <a:r>
              <a:rPr lang="en-US" sz="1100" b="0" u="none" strike="noStrike" dirty="0" err="1">
                <a:solidFill>
                  <a:srgbClr val="FFFFFF"/>
                </a:solidFill>
                <a:effectLst/>
                <a:uFillTx/>
                <a:latin typeface="Calibri"/>
              </a:rPr>
              <a:t>pomocy</a:t>
            </a:r>
            <a:r>
              <a:rPr lang="en-US" sz="1100" b="0" u="none" strike="noStrike" dirty="0">
                <a:solidFill>
                  <a:srgbClr val="FFFFFF"/>
                </a:solidFill>
                <a:effectLst/>
                <a:uFillTx/>
                <a:latin typeface="Calibri"/>
              </a:rPr>
              <a:t>?</a:t>
            </a:r>
            <a:endParaRPr lang="pl-PL" sz="1100" b="0" u="none" strike="noStrike" dirty="0">
              <a:solidFill>
                <a:srgbClr val="FFFFFF"/>
              </a:solidFill>
              <a:effectLst/>
              <a:uFillTx/>
              <a:latin typeface="Arial"/>
            </a:endParaRPr>
          </a:p>
        </p:txBody>
      </p:sp>
      <p:sp>
        <p:nvSpPr>
          <p:cNvPr id="738" name="Shape 15"/>
          <p:cNvSpPr/>
          <p:nvPr/>
        </p:nvSpPr>
        <p:spPr>
          <a:xfrm>
            <a:off x="384120" y="2072585"/>
            <a:ext cx="5107680" cy="476053"/>
          </a:xfrm>
          <a:prstGeom prst="rect">
            <a:avLst/>
          </a:prstGeom>
          <a:solidFill>
            <a:srgbClr val="0A2540"/>
          </a:solidFill>
          <a:ln w="5080">
            <a:solidFill>
              <a:srgbClr val="E91E8C"/>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39" name="Shape 16"/>
          <p:cNvSpPr/>
          <p:nvPr/>
        </p:nvSpPr>
        <p:spPr>
          <a:xfrm>
            <a:off x="475560" y="2137909"/>
            <a:ext cx="883080" cy="237386"/>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40" name="Text 17"/>
          <p:cNvSpPr/>
          <p:nvPr/>
        </p:nvSpPr>
        <p:spPr>
          <a:xfrm>
            <a:off x="475560" y="2137909"/>
            <a:ext cx="88308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15–22 min</a:t>
            </a:r>
            <a:endParaRPr lang="pl-PL" sz="1000" b="0" u="none" strike="noStrike">
              <a:solidFill>
                <a:srgbClr val="FFFFFF"/>
              </a:solidFill>
              <a:effectLst/>
              <a:uFillTx/>
              <a:latin typeface="Arial"/>
            </a:endParaRPr>
          </a:p>
        </p:txBody>
      </p:sp>
      <p:sp>
        <p:nvSpPr>
          <p:cNvPr id="741" name="Text 18"/>
          <p:cNvSpPr/>
          <p:nvPr/>
        </p:nvSpPr>
        <p:spPr>
          <a:xfrm>
            <a:off x="1478160" y="2137909"/>
            <a:ext cx="104292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chemeClr val="bg1"/>
                </a:solidFill>
                <a:effectLst/>
                <a:uFillTx/>
                <a:latin typeface="Calibri"/>
              </a:rPr>
              <a:t>Feedback</a:t>
            </a:r>
            <a:endParaRPr lang="pl-PL" sz="1600" b="0" u="none" strike="noStrike">
              <a:solidFill>
                <a:schemeClr val="bg1"/>
              </a:solidFill>
              <a:effectLst/>
              <a:uFillTx/>
              <a:latin typeface="Arial"/>
            </a:endParaRPr>
          </a:p>
        </p:txBody>
      </p:sp>
      <p:sp>
        <p:nvSpPr>
          <p:cNvPr id="742" name="Text 19"/>
          <p:cNvSpPr/>
          <p:nvPr/>
        </p:nvSpPr>
        <p:spPr>
          <a:xfrm>
            <a:off x="2522160" y="2119550"/>
            <a:ext cx="2899440" cy="38383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50" b="0" u="none" strike="noStrike" dirty="0" err="1">
                <a:solidFill>
                  <a:srgbClr val="FFFFFF"/>
                </a:solidFill>
                <a:effectLst/>
                <a:uFillTx/>
                <a:latin typeface="Calibri"/>
              </a:rPr>
              <a:t>Konkretny</a:t>
            </a:r>
            <a:r>
              <a:rPr lang="en-US" sz="1050" b="0" u="none" strike="noStrike" dirty="0">
                <a:solidFill>
                  <a:srgbClr val="FFFFFF"/>
                </a:solidFill>
                <a:effectLst/>
                <a:uFillTx/>
                <a:latin typeface="Calibri"/>
              </a:rPr>
              <a:t>, </a:t>
            </a:r>
            <a:r>
              <a:rPr lang="en-US" sz="1050" b="0" u="none" strike="noStrike" dirty="0" err="1">
                <a:solidFill>
                  <a:srgbClr val="FFFFFF"/>
                </a:solidFill>
                <a:effectLst/>
                <a:uFillTx/>
                <a:latin typeface="Calibri"/>
              </a:rPr>
              <a:t>rzeczowy</a:t>
            </a:r>
            <a:r>
              <a:rPr lang="en-US" sz="1050" b="0" u="none" strike="noStrike" dirty="0">
                <a:solidFill>
                  <a:srgbClr val="FFFFFF"/>
                </a:solidFill>
                <a:effectLst/>
                <a:uFillTx/>
                <a:latin typeface="Calibri"/>
              </a:rPr>
              <a:t>. SBI: Situation-Behavior-Impact</a:t>
            </a:r>
            <a:endParaRPr lang="pl-PL" sz="1050" b="0" u="none" strike="noStrike" dirty="0">
              <a:solidFill>
                <a:srgbClr val="FFFFFF"/>
              </a:solidFill>
              <a:effectLst/>
              <a:uFillTx/>
              <a:latin typeface="Arial"/>
            </a:endParaRPr>
          </a:p>
        </p:txBody>
      </p:sp>
      <p:sp>
        <p:nvSpPr>
          <p:cNvPr id="743" name="Shape 20"/>
          <p:cNvSpPr/>
          <p:nvPr/>
        </p:nvSpPr>
        <p:spPr>
          <a:xfrm>
            <a:off x="384120" y="2636591"/>
            <a:ext cx="5107680" cy="476053"/>
          </a:xfrm>
          <a:prstGeom prst="rect">
            <a:avLst/>
          </a:prstGeom>
          <a:solidFill>
            <a:srgbClr val="0A2540"/>
          </a:solidFill>
          <a:ln w="5080">
            <a:solidFill>
              <a:srgbClr val="E91E8C"/>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44" name="Shape 21"/>
          <p:cNvSpPr/>
          <p:nvPr/>
        </p:nvSpPr>
        <p:spPr>
          <a:xfrm>
            <a:off x="475560" y="2701488"/>
            <a:ext cx="883080" cy="237386"/>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45" name="Text 22"/>
          <p:cNvSpPr/>
          <p:nvPr/>
        </p:nvSpPr>
        <p:spPr>
          <a:xfrm>
            <a:off x="475560" y="2701488"/>
            <a:ext cx="88308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22–28 min</a:t>
            </a:r>
            <a:endParaRPr lang="pl-PL" sz="1000" b="0" u="none" strike="noStrike">
              <a:solidFill>
                <a:srgbClr val="FFFFFF"/>
              </a:solidFill>
              <a:effectLst/>
              <a:uFillTx/>
              <a:latin typeface="Arial"/>
            </a:endParaRPr>
          </a:p>
        </p:txBody>
      </p:sp>
      <p:sp>
        <p:nvSpPr>
          <p:cNvPr id="746" name="Text 23"/>
          <p:cNvSpPr/>
          <p:nvPr/>
        </p:nvSpPr>
        <p:spPr>
          <a:xfrm>
            <a:off x="1478160" y="2701488"/>
            <a:ext cx="104292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chemeClr val="bg1"/>
                </a:solidFill>
                <a:effectLst/>
                <a:uFillTx/>
                <a:latin typeface="Calibri"/>
              </a:rPr>
              <a:t>Rozwój</a:t>
            </a:r>
            <a:endParaRPr lang="pl-PL" sz="1600" b="0" u="none" strike="noStrike">
              <a:solidFill>
                <a:schemeClr val="bg1"/>
              </a:solidFill>
              <a:effectLst/>
              <a:uFillTx/>
              <a:latin typeface="Arial"/>
            </a:endParaRPr>
          </a:p>
        </p:txBody>
      </p:sp>
      <p:sp>
        <p:nvSpPr>
          <p:cNvPr id="747" name="Text 24"/>
          <p:cNvSpPr/>
          <p:nvPr/>
        </p:nvSpPr>
        <p:spPr>
          <a:xfrm>
            <a:off x="2522160" y="2683556"/>
            <a:ext cx="2899440" cy="38383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000" b="0" u="none" strike="noStrike">
                <a:solidFill>
                  <a:srgbClr val="FFFFFF"/>
                </a:solidFill>
                <a:effectLst/>
                <a:uFillTx/>
                <a:latin typeface="Calibri"/>
              </a:rPr>
              <a:t>Gdzie chcesz być za rok? Co zrobisz do następnego 1:1?</a:t>
            </a:r>
            <a:endParaRPr lang="pl-PL" sz="1000" b="0" u="none" strike="noStrike">
              <a:solidFill>
                <a:srgbClr val="FFFFFF"/>
              </a:solidFill>
              <a:effectLst/>
              <a:uFillTx/>
              <a:latin typeface="Arial"/>
            </a:endParaRPr>
          </a:p>
        </p:txBody>
      </p:sp>
      <p:sp>
        <p:nvSpPr>
          <p:cNvPr id="748" name="Shape 25"/>
          <p:cNvSpPr/>
          <p:nvPr/>
        </p:nvSpPr>
        <p:spPr>
          <a:xfrm>
            <a:off x="384120" y="3200597"/>
            <a:ext cx="5107680" cy="476053"/>
          </a:xfrm>
          <a:prstGeom prst="rect">
            <a:avLst/>
          </a:prstGeom>
          <a:solidFill>
            <a:srgbClr val="0A2540"/>
          </a:solidFill>
          <a:ln w="5080">
            <a:solidFill>
              <a:srgbClr val="E91E8C"/>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49" name="Shape 26"/>
          <p:cNvSpPr/>
          <p:nvPr/>
        </p:nvSpPr>
        <p:spPr>
          <a:xfrm>
            <a:off x="475560" y="3265494"/>
            <a:ext cx="883080" cy="237386"/>
          </a:xfrm>
          <a:prstGeom prst="roundRect">
            <a:avLst>
              <a:gd name="adj" fmla="val 31818"/>
            </a:avLst>
          </a:prstGeom>
          <a:solidFill>
            <a:srgbClr val="006978"/>
          </a:solidFill>
          <a:ln w="12700">
            <a:solidFill>
              <a:srgbClr val="00697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50" name="Text 27"/>
          <p:cNvSpPr/>
          <p:nvPr/>
        </p:nvSpPr>
        <p:spPr>
          <a:xfrm>
            <a:off x="475560" y="3265494"/>
            <a:ext cx="88308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u="none" strike="noStrike">
                <a:solidFill>
                  <a:srgbClr val="FFFFFF"/>
                </a:solidFill>
                <a:effectLst/>
                <a:uFillTx/>
                <a:latin typeface="Calibri"/>
              </a:rPr>
              <a:t>28–30 min</a:t>
            </a:r>
            <a:endParaRPr lang="pl-PL" sz="1000" b="0" u="none" strike="noStrike">
              <a:solidFill>
                <a:srgbClr val="FFFFFF"/>
              </a:solidFill>
              <a:effectLst/>
              <a:uFillTx/>
              <a:latin typeface="Arial"/>
            </a:endParaRPr>
          </a:p>
        </p:txBody>
      </p:sp>
      <p:sp>
        <p:nvSpPr>
          <p:cNvPr id="751" name="Text 28"/>
          <p:cNvSpPr/>
          <p:nvPr/>
        </p:nvSpPr>
        <p:spPr>
          <a:xfrm>
            <a:off x="1478160" y="3265494"/>
            <a:ext cx="1042920" cy="23738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u="none" strike="noStrike" dirty="0">
                <a:solidFill>
                  <a:schemeClr val="bg1"/>
                </a:solidFill>
                <a:effectLst/>
                <a:uFillTx/>
                <a:latin typeface="Calibri"/>
              </a:rPr>
              <a:t>Action items</a:t>
            </a:r>
            <a:endParaRPr lang="pl-PL" sz="1400" b="0" u="none" strike="noStrike" dirty="0">
              <a:solidFill>
                <a:schemeClr val="bg1"/>
              </a:solidFill>
              <a:effectLst/>
              <a:uFillTx/>
              <a:latin typeface="Arial"/>
            </a:endParaRPr>
          </a:p>
        </p:txBody>
      </p:sp>
      <p:sp>
        <p:nvSpPr>
          <p:cNvPr id="752" name="Text 29"/>
          <p:cNvSpPr/>
          <p:nvPr/>
        </p:nvSpPr>
        <p:spPr>
          <a:xfrm>
            <a:off x="2522160" y="3247561"/>
            <a:ext cx="2899440" cy="38383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pl-PL" sz="1000" b="0" u="none" strike="noStrike" dirty="0" smtClean="0">
                <a:solidFill>
                  <a:srgbClr val="FFFFFF"/>
                </a:solidFill>
                <a:effectLst/>
                <a:uFillTx/>
                <a:latin typeface="Calibri"/>
              </a:rPr>
              <a:t>Max 2-3 konkretne działania z właścicielem i terminem</a:t>
            </a:r>
            <a:endParaRPr lang="pl-PL" sz="1000" b="0" u="none" strike="noStrike" dirty="0">
              <a:solidFill>
                <a:srgbClr val="FFFFFF"/>
              </a:solidFill>
              <a:effectLst/>
              <a:uFillTx/>
              <a:latin typeface="Arial"/>
            </a:endParaRPr>
          </a:p>
        </p:txBody>
      </p:sp>
      <p:sp>
        <p:nvSpPr>
          <p:cNvPr id="753" name="Text 30"/>
          <p:cNvSpPr/>
          <p:nvPr/>
        </p:nvSpPr>
        <p:spPr>
          <a:xfrm>
            <a:off x="5722560" y="460035"/>
            <a:ext cx="3036240" cy="24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1400" b="1" u="none" strike="noStrike" dirty="0" err="1">
                <a:solidFill>
                  <a:srgbClr val="FFFFFF"/>
                </a:solidFill>
                <a:effectLst/>
                <a:uFillTx/>
                <a:latin typeface="Calibri"/>
              </a:rPr>
              <a:t>Macierz</a:t>
            </a:r>
            <a:r>
              <a:rPr lang="en-US" sz="1400" b="1" u="none" strike="noStrike" dirty="0">
                <a:solidFill>
                  <a:srgbClr val="FFFFFF"/>
                </a:solidFill>
                <a:effectLst/>
                <a:uFillTx/>
                <a:latin typeface="Calibri"/>
              </a:rPr>
              <a:t> </a:t>
            </a:r>
            <a:r>
              <a:rPr lang="en-US" sz="1400" b="1" u="none" strike="noStrike" dirty="0" err="1">
                <a:solidFill>
                  <a:srgbClr val="FFFFFF"/>
                </a:solidFill>
                <a:effectLst/>
                <a:uFillTx/>
                <a:latin typeface="Calibri"/>
              </a:rPr>
              <a:t>komunikacji</a:t>
            </a:r>
            <a:r>
              <a:rPr lang="en-US" sz="1400" b="1" u="none" strike="noStrike" dirty="0">
                <a:solidFill>
                  <a:srgbClr val="FFFFFF"/>
                </a:solidFill>
                <a:effectLst/>
                <a:uFillTx/>
                <a:latin typeface="Calibri"/>
              </a:rPr>
              <a:t> </a:t>
            </a:r>
            <a:r>
              <a:rPr lang="en-US" sz="1400" b="1" u="none" strike="noStrike" dirty="0" err="1">
                <a:solidFill>
                  <a:srgbClr val="FFFFFF"/>
                </a:solidFill>
                <a:effectLst/>
                <a:uFillTx/>
                <a:latin typeface="Calibri"/>
              </a:rPr>
              <a:t>projektu</a:t>
            </a:r>
            <a:endParaRPr lang="pl-PL" sz="1400" b="1" u="none" strike="noStrike" dirty="0">
              <a:solidFill>
                <a:srgbClr val="FFFFFF"/>
              </a:solidFill>
              <a:effectLst/>
              <a:uFillTx/>
              <a:latin typeface="Arial"/>
            </a:endParaRPr>
          </a:p>
        </p:txBody>
      </p:sp>
      <p:sp>
        <p:nvSpPr>
          <p:cNvPr id="754" name="Shape 31"/>
          <p:cNvSpPr/>
          <p:nvPr/>
        </p:nvSpPr>
        <p:spPr>
          <a:xfrm>
            <a:off x="5722560" y="718155"/>
            <a:ext cx="3036240" cy="607296"/>
          </a:xfrm>
          <a:prstGeom prst="rect">
            <a:avLst/>
          </a:prstGeom>
          <a:solidFill>
            <a:srgbClr val="0A2540"/>
          </a:solidFill>
          <a:ln w="6350">
            <a:solidFill>
              <a:srgbClr val="00BCD4"/>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55" name="Shape 32"/>
          <p:cNvSpPr/>
          <p:nvPr/>
        </p:nvSpPr>
        <p:spPr>
          <a:xfrm>
            <a:off x="5722560" y="718155"/>
            <a:ext cx="52560" cy="607296"/>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56" name="Text 33"/>
          <p:cNvSpPr/>
          <p:nvPr/>
        </p:nvSpPr>
        <p:spPr>
          <a:xfrm>
            <a:off x="5905440" y="718155"/>
            <a:ext cx="2760120" cy="22258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00BCD4"/>
                </a:solidFill>
                <a:effectLst/>
                <a:uFillTx/>
                <a:latin typeface="Calibri"/>
              </a:rPr>
              <a:t>Daily Standup</a:t>
            </a:r>
            <a:endParaRPr lang="pl-PL" sz="1600" b="0" u="none" strike="noStrike">
              <a:solidFill>
                <a:srgbClr val="FFFFFF"/>
              </a:solidFill>
              <a:effectLst/>
              <a:uFillTx/>
              <a:latin typeface="Arial"/>
            </a:endParaRPr>
          </a:p>
        </p:txBody>
      </p:sp>
      <p:sp>
        <p:nvSpPr>
          <p:cNvPr id="757" name="Text 34"/>
          <p:cNvSpPr/>
          <p:nvPr/>
        </p:nvSpPr>
        <p:spPr>
          <a:xfrm>
            <a:off x="5905440" y="941537"/>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Cały team · Codziennie 9:00 · 15 min</a:t>
            </a:r>
            <a:endParaRPr lang="pl-PL" sz="1100" b="0" u="none" strike="noStrike">
              <a:solidFill>
                <a:srgbClr val="FFFFFF"/>
              </a:solidFill>
              <a:effectLst/>
              <a:uFillTx/>
              <a:latin typeface="Arial"/>
            </a:endParaRPr>
          </a:p>
        </p:txBody>
      </p:sp>
      <p:sp>
        <p:nvSpPr>
          <p:cNvPr id="758" name="Text 35"/>
          <p:cNvSpPr/>
          <p:nvPr/>
        </p:nvSpPr>
        <p:spPr>
          <a:xfrm>
            <a:off x="5905440" y="1124887"/>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FFFFFF"/>
                </a:solidFill>
                <a:effectLst/>
                <a:uFillTx/>
                <a:latin typeface="Calibri"/>
              </a:rPr>
              <a:t>Async</a:t>
            </a:r>
            <a:r>
              <a:rPr lang="en-US" sz="1100" b="0" u="none" strike="noStrike" dirty="0">
                <a:solidFill>
                  <a:srgbClr val="FFFFFF"/>
                </a:solidFill>
                <a:effectLst/>
                <a:uFillTx/>
                <a:latin typeface="Calibri"/>
              </a:rPr>
              <a:t>-first (loom) </a:t>
            </a:r>
            <a:r>
              <a:rPr lang="en-US" sz="1100" b="0" u="none" strike="noStrike" dirty="0" err="1">
                <a:solidFill>
                  <a:srgbClr val="FFFFFF"/>
                </a:solidFill>
                <a:effectLst/>
                <a:uFillTx/>
                <a:latin typeface="Calibri"/>
              </a:rPr>
              <a:t>gdy</a:t>
            </a:r>
            <a:r>
              <a:rPr lang="en-US" sz="1100" b="0" u="none" strike="noStrike" dirty="0">
                <a:solidFill>
                  <a:srgbClr val="FFFFFF"/>
                </a:solidFill>
                <a:effectLst/>
                <a:uFillTx/>
                <a:latin typeface="Calibri"/>
              </a:rPr>
              <a:t> distributed</a:t>
            </a:r>
            <a:endParaRPr lang="pl-PL" sz="1100" b="0" u="none" strike="noStrike" dirty="0">
              <a:solidFill>
                <a:srgbClr val="FFFFFF"/>
              </a:solidFill>
              <a:effectLst/>
              <a:uFillTx/>
              <a:latin typeface="Arial"/>
            </a:endParaRPr>
          </a:p>
        </p:txBody>
      </p:sp>
      <p:sp>
        <p:nvSpPr>
          <p:cNvPr id="759" name="Shape 36"/>
          <p:cNvSpPr/>
          <p:nvPr/>
        </p:nvSpPr>
        <p:spPr>
          <a:xfrm>
            <a:off x="5722560" y="1399911"/>
            <a:ext cx="3036240" cy="656536"/>
          </a:xfrm>
          <a:prstGeom prst="rect">
            <a:avLst/>
          </a:prstGeom>
          <a:solidFill>
            <a:srgbClr val="0A2540"/>
          </a:solidFill>
          <a:ln w="6350">
            <a:solidFill>
              <a:srgbClr val="FF7043"/>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60" name="Shape 37"/>
          <p:cNvSpPr/>
          <p:nvPr/>
        </p:nvSpPr>
        <p:spPr>
          <a:xfrm>
            <a:off x="5722560" y="1399911"/>
            <a:ext cx="52560" cy="656536"/>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61" name="Text 38"/>
          <p:cNvSpPr/>
          <p:nvPr/>
        </p:nvSpPr>
        <p:spPr>
          <a:xfrm>
            <a:off x="5905440" y="1440745"/>
            <a:ext cx="2760120" cy="22258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7043"/>
                </a:solidFill>
                <a:effectLst/>
                <a:uFillTx/>
                <a:latin typeface="Calibri"/>
              </a:rPr>
              <a:t>Sprint Review</a:t>
            </a:r>
            <a:endParaRPr lang="pl-PL" sz="1600" b="0" u="none" strike="noStrike">
              <a:solidFill>
                <a:srgbClr val="FFFFFF"/>
              </a:solidFill>
              <a:effectLst/>
              <a:uFillTx/>
              <a:latin typeface="Arial"/>
            </a:endParaRPr>
          </a:p>
        </p:txBody>
      </p:sp>
      <p:sp>
        <p:nvSpPr>
          <p:cNvPr id="762" name="Text 39"/>
          <p:cNvSpPr/>
          <p:nvPr/>
        </p:nvSpPr>
        <p:spPr>
          <a:xfrm>
            <a:off x="5905440" y="1664527"/>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Team + stakeholders · Koniec sprintu · 1h</a:t>
            </a:r>
            <a:endParaRPr lang="pl-PL" sz="1100" b="0" u="none" strike="noStrike">
              <a:solidFill>
                <a:srgbClr val="FFFFFF"/>
              </a:solidFill>
              <a:effectLst/>
              <a:uFillTx/>
              <a:latin typeface="Arial"/>
            </a:endParaRPr>
          </a:p>
        </p:txBody>
      </p:sp>
      <p:sp>
        <p:nvSpPr>
          <p:cNvPr id="763" name="Text 40"/>
          <p:cNvSpPr/>
          <p:nvPr/>
        </p:nvSpPr>
        <p:spPr>
          <a:xfrm>
            <a:off x="5905440" y="1847476"/>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a:solidFill>
                  <a:srgbClr val="FFFFFF"/>
                </a:solidFill>
                <a:effectLst/>
                <a:uFillTx/>
                <a:latin typeface="Calibri"/>
              </a:rPr>
              <a:t>Demo TYLKO </a:t>
            </a:r>
            <a:r>
              <a:rPr lang="en-US" sz="1100" b="0" u="none" strike="noStrike" dirty="0" err="1">
                <a:solidFill>
                  <a:srgbClr val="FFFFFF"/>
                </a:solidFill>
                <a:effectLst/>
                <a:uFillTx/>
                <a:latin typeface="Calibri"/>
              </a:rPr>
              <a:t>działającego</a:t>
            </a:r>
            <a:r>
              <a:rPr lang="en-US" sz="1100" b="0" u="none" strike="noStrike" dirty="0">
                <a:solidFill>
                  <a:srgbClr val="FFFFFF"/>
                </a:solidFill>
                <a:effectLst/>
                <a:uFillTx/>
                <a:latin typeface="Calibri"/>
              </a:rPr>
              <a:t> software</a:t>
            </a:r>
            <a:endParaRPr lang="pl-PL" sz="1100" b="0" u="none" strike="noStrike" dirty="0">
              <a:solidFill>
                <a:srgbClr val="FFFFFF"/>
              </a:solidFill>
              <a:effectLst/>
              <a:uFillTx/>
              <a:latin typeface="Arial"/>
            </a:endParaRPr>
          </a:p>
        </p:txBody>
      </p:sp>
      <p:sp>
        <p:nvSpPr>
          <p:cNvPr id="764" name="Shape 41"/>
          <p:cNvSpPr/>
          <p:nvPr/>
        </p:nvSpPr>
        <p:spPr>
          <a:xfrm>
            <a:off x="5722560" y="2125303"/>
            <a:ext cx="3036240" cy="646127"/>
          </a:xfrm>
          <a:prstGeom prst="rect">
            <a:avLst/>
          </a:prstGeom>
          <a:solidFill>
            <a:srgbClr val="0A2540"/>
          </a:solidFill>
          <a:ln w="6350">
            <a:solidFill>
              <a:srgbClr val="E91E8C"/>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65" name="Shape 42"/>
          <p:cNvSpPr/>
          <p:nvPr/>
        </p:nvSpPr>
        <p:spPr>
          <a:xfrm>
            <a:off x="5722560" y="2125303"/>
            <a:ext cx="52560" cy="646127"/>
          </a:xfrm>
          <a:prstGeom prst="rect">
            <a:avLst/>
          </a:prstGeom>
          <a:solidFill>
            <a:srgbClr val="E91E8C"/>
          </a:solidFill>
          <a:ln w="1270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66" name="Text 43"/>
          <p:cNvSpPr/>
          <p:nvPr/>
        </p:nvSpPr>
        <p:spPr>
          <a:xfrm>
            <a:off x="5905440" y="2172942"/>
            <a:ext cx="2760120" cy="22258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E91E8C"/>
                </a:solidFill>
                <a:effectLst/>
                <a:uFillTx/>
                <a:latin typeface="Calibri"/>
              </a:rPr>
              <a:t>1:1</a:t>
            </a:r>
            <a:endParaRPr lang="pl-PL" sz="1600" b="0" u="none" strike="noStrike">
              <a:solidFill>
                <a:srgbClr val="FFFFFF"/>
              </a:solidFill>
              <a:effectLst/>
              <a:uFillTx/>
              <a:latin typeface="Arial"/>
            </a:endParaRPr>
          </a:p>
        </p:txBody>
      </p:sp>
      <p:sp>
        <p:nvSpPr>
          <p:cNvPr id="767" name="Text 44"/>
          <p:cNvSpPr/>
          <p:nvPr/>
        </p:nvSpPr>
        <p:spPr>
          <a:xfrm>
            <a:off x="5905440" y="2396725"/>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Lider ↔ Developer · Co tydzień · 30 min</a:t>
            </a:r>
            <a:endParaRPr lang="pl-PL" sz="1100" b="0" u="none" strike="noStrike">
              <a:solidFill>
                <a:srgbClr val="FFFFFF"/>
              </a:solidFill>
              <a:effectLst/>
              <a:uFillTx/>
              <a:latin typeface="Arial"/>
            </a:endParaRPr>
          </a:p>
        </p:txBody>
      </p:sp>
      <p:sp>
        <p:nvSpPr>
          <p:cNvPr id="768" name="Text 45"/>
          <p:cNvSpPr/>
          <p:nvPr/>
        </p:nvSpPr>
        <p:spPr>
          <a:xfrm>
            <a:off x="5905440" y="2562860"/>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err="1">
                <a:solidFill>
                  <a:srgbClr val="FFFFFF"/>
                </a:solidFill>
                <a:effectLst/>
                <a:uFillTx/>
                <a:latin typeface="Calibri"/>
              </a:rPr>
              <a:t>Prywatne</a:t>
            </a:r>
            <a:r>
              <a:rPr lang="en-US" sz="1100" b="0" u="none" strike="noStrike" dirty="0">
                <a:solidFill>
                  <a:srgbClr val="FFFFFF"/>
                </a:solidFill>
                <a:effectLst/>
                <a:uFillTx/>
                <a:latin typeface="Calibri"/>
              </a:rPr>
              <a:t>, </a:t>
            </a:r>
            <a:r>
              <a:rPr lang="en-US" sz="1100" b="0" u="none" strike="noStrike" dirty="0" err="1">
                <a:solidFill>
                  <a:srgbClr val="FFFFFF"/>
                </a:solidFill>
                <a:effectLst/>
                <a:uFillTx/>
                <a:latin typeface="Calibri"/>
              </a:rPr>
              <a:t>poufne</a:t>
            </a:r>
            <a:r>
              <a:rPr lang="en-US" sz="1100" b="0" u="none" strike="noStrike" dirty="0">
                <a:solidFill>
                  <a:srgbClr val="FFFFFF"/>
                </a:solidFill>
                <a:effectLst/>
                <a:uFillTx/>
                <a:latin typeface="Calibri"/>
              </a:rPr>
              <a:t>, focus </a:t>
            </a:r>
            <a:r>
              <a:rPr lang="en-US" sz="1100" b="0" u="none" strike="noStrike" dirty="0" err="1">
                <a:solidFill>
                  <a:srgbClr val="FFFFFF"/>
                </a:solidFill>
                <a:effectLst/>
                <a:uFillTx/>
                <a:latin typeface="Calibri"/>
              </a:rPr>
              <a:t>na</a:t>
            </a:r>
            <a:r>
              <a:rPr lang="en-US" sz="1100" b="0" u="none" strike="noStrike" dirty="0">
                <a:solidFill>
                  <a:srgbClr val="FFFFFF"/>
                </a:solidFill>
                <a:effectLst/>
                <a:uFillTx/>
                <a:latin typeface="Calibri"/>
              </a:rPr>
              <a:t> </a:t>
            </a:r>
            <a:r>
              <a:rPr lang="en-US" sz="1100" b="0" u="none" strike="noStrike" dirty="0" err="1">
                <a:solidFill>
                  <a:srgbClr val="FFFFFF"/>
                </a:solidFill>
                <a:effectLst/>
                <a:uFillTx/>
                <a:latin typeface="Calibri"/>
              </a:rPr>
              <a:t>osobę</a:t>
            </a:r>
            <a:endParaRPr lang="pl-PL" sz="1100" b="0" u="none" strike="noStrike" dirty="0">
              <a:solidFill>
                <a:srgbClr val="FFFFFF"/>
              </a:solidFill>
              <a:effectLst/>
              <a:uFillTx/>
              <a:latin typeface="Arial"/>
            </a:endParaRPr>
          </a:p>
        </p:txBody>
      </p:sp>
      <p:sp>
        <p:nvSpPr>
          <p:cNvPr id="769" name="Shape 46"/>
          <p:cNvSpPr/>
          <p:nvPr/>
        </p:nvSpPr>
        <p:spPr>
          <a:xfrm>
            <a:off x="5722560" y="2837885"/>
            <a:ext cx="3036240" cy="624109"/>
          </a:xfrm>
          <a:prstGeom prst="rect">
            <a:avLst/>
          </a:prstGeom>
          <a:solidFill>
            <a:srgbClr val="0A2540"/>
          </a:solidFill>
          <a:ln w="6350">
            <a:solidFill>
              <a:srgbClr val="EF5350"/>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70" name="Shape 47"/>
          <p:cNvSpPr/>
          <p:nvPr/>
        </p:nvSpPr>
        <p:spPr>
          <a:xfrm>
            <a:off x="5722560" y="2837885"/>
            <a:ext cx="52560" cy="624109"/>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71" name="Text 48"/>
          <p:cNvSpPr/>
          <p:nvPr/>
        </p:nvSpPr>
        <p:spPr>
          <a:xfrm>
            <a:off x="5905440" y="2853497"/>
            <a:ext cx="2760120" cy="22258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EF5350"/>
                </a:solidFill>
                <a:effectLst/>
                <a:uFillTx/>
                <a:latin typeface="Calibri"/>
              </a:rPr>
              <a:t>Risk Review</a:t>
            </a:r>
            <a:endParaRPr lang="pl-PL" sz="1600" b="0" u="none" strike="noStrike">
              <a:solidFill>
                <a:srgbClr val="FFFFFF"/>
              </a:solidFill>
              <a:effectLst/>
              <a:uFillTx/>
              <a:latin typeface="Arial"/>
            </a:endParaRPr>
          </a:p>
        </p:txBody>
      </p:sp>
      <p:sp>
        <p:nvSpPr>
          <p:cNvPr id="772" name="Text 49"/>
          <p:cNvSpPr/>
          <p:nvPr/>
        </p:nvSpPr>
        <p:spPr>
          <a:xfrm>
            <a:off x="5905440" y="3076880"/>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PO + Tech Lead · Co 2 tyg. · 30 min</a:t>
            </a:r>
            <a:endParaRPr lang="pl-PL" sz="1100" b="0" u="none" strike="noStrike">
              <a:solidFill>
                <a:srgbClr val="FFFFFF"/>
              </a:solidFill>
              <a:effectLst/>
              <a:uFillTx/>
              <a:latin typeface="Arial"/>
            </a:endParaRPr>
          </a:p>
        </p:txBody>
      </p:sp>
      <p:sp>
        <p:nvSpPr>
          <p:cNvPr id="773" name="Text 50"/>
          <p:cNvSpPr/>
          <p:nvPr/>
        </p:nvSpPr>
        <p:spPr>
          <a:xfrm>
            <a:off x="5905440" y="3260229"/>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a:solidFill>
                  <a:srgbClr val="FFFFFF"/>
                </a:solidFill>
                <a:effectLst/>
                <a:uFillTx/>
                <a:latin typeface="Calibri"/>
              </a:rPr>
              <a:t>Risk register update, escalation</a:t>
            </a:r>
            <a:endParaRPr lang="pl-PL" sz="1100" b="0" u="none" strike="noStrike" dirty="0">
              <a:solidFill>
                <a:srgbClr val="FFFFFF"/>
              </a:solidFill>
              <a:effectLst/>
              <a:uFillTx/>
              <a:latin typeface="Arial"/>
            </a:endParaRPr>
          </a:p>
        </p:txBody>
      </p:sp>
      <p:sp>
        <p:nvSpPr>
          <p:cNvPr id="774" name="Shape 51"/>
          <p:cNvSpPr/>
          <p:nvPr/>
        </p:nvSpPr>
        <p:spPr>
          <a:xfrm>
            <a:off x="5722560" y="3550866"/>
            <a:ext cx="3036240" cy="617304"/>
          </a:xfrm>
          <a:prstGeom prst="rect">
            <a:avLst/>
          </a:prstGeom>
          <a:solidFill>
            <a:srgbClr val="0A2540"/>
          </a:solidFill>
          <a:ln w="6350">
            <a:solidFill>
              <a:srgbClr val="7C4DFF"/>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75" name="Shape 52"/>
          <p:cNvSpPr/>
          <p:nvPr/>
        </p:nvSpPr>
        <p:spPr>
          <a:xfrm>
            <a:off x="5722560" y="3550866"/>
            <a:ext cx="52560" cy="617304"/>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76" name="Text 53"/>
          <p:cNvSpPr/>
          <p:nvPr/>
        </p:nvSpPr>
        <p:spPr>
          <a:xfrm>
            <a:off x="5905440" y="3577688"/>
            <a:ext cx="2760120" cy="22258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FFFFFF"/>
                </a:solidFill>
                <a:effectLst/>
                <a:uFillTx/>
                <a:latin typeface="Calibri"/>
              </a:rPr>
              <a:t>All-hands</a:t>
            </a:r>
            <a:endParaRPr lang="pl-PL" sz="1600" b="0" u="none" strike="noStrike">
              <a:solidFill>
                <a:srgbClr val="FFFFFF"/>
              </a:solidFill>
              <a:effectLst/>
              <a:uFillTx/>
              <a:latin typeface="Arial"/>
            </a:endParaRPr>
          </a:p>
        </p:txBody>
      </p:sp>
      <p:sp>
        <p:nvSpPr>
          <p:cNvPr id="777" name="Text 54"/>
          <p:cNvSpPr/>
          <p:nvPr/>
        </p:nvSpPr>
        <p:spPr>
          <a:xfrm>
            <a:off x="5905440" y="3801471"/>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8ECAE6"/>
                </a:solidFill>
                <a:effectLst/>
                <a:uFillTx/>
                <a:latin typeface="Calibri"/>
              </a:rPr>
              <a:t>Firma · Miesięcznie · 1h</a:t>
            </a:r>
            <a:endParaRPr lang="pl-PL" sz="1100" b="0" u="none" strike="noStrike">
              <a:solidFill>
                <a:srgbClr val="FFFFFF"/>
              </a:solidFill>
              <a:effectLst/>
              <a:uFillTx/>
              <a:latin typeface="Arial"/>
            </a:endParaRPr>
          </a:p>
        </p:txBody>
      </p:sp>
      <p:sp>
        <p:nvSpPr>
          <p:cNvPr id="778" name="Text 55"/>
          <p:cNvSpPr/>
          <p:nvPr/>
        </p:nvSpPr>
        <p:spPr>
          <a:xfrm>
            <a:off x="5905440" y="3976013"/>
            <a:ext cx="2760120" cy="18174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dirty="0">
                <a:solidFill>
                  <a:srgbClr val="FFFFFF"/>
                </a:solidFill>
                <a:effectLst/>
                <a:uFillTx/>
                <a:latin typeface="Calibri"/>
              </a:rPr>
              <a:t>Vision, metrics, Q&amp;A z CEO</a:t>
            </a:r>
            <a:endParaRPr lang="pl-PL" sz="1100" b="0" u="none" strike="noStrike" dirty="0">
              <a:solidFill>
                <a:srgbClr val="FFFFFF"/>
              </a:solidFill>
              <a:effectLst/>
              <a:uFillTx/>
              <a:latin typeface="Arial"/>
            </a:endParaRPr>
          </a:p>
        </p:txBody>
      </p:sp>
      <p:sp>
        <p:nvSpPr>
          <p:cNvPr id="779" name="Shape 56"/>
          <p:cNvSpPr/>
          <p:nvPr/>
        </p:nvSpPr>
        <p:spPr>
          <a:xfrm>
            <a:off x="384120" y="4309335"/>
            <a:ext cx="8374680" cy="707760"/>
          </a:xfrm>
          <a:prstGeom prst="rect">
            <a:avLst/>
          </a:prstGeom>
          <a:solidFill>
            <a:srgbClr val="200010"/>
          </a:solidFill>
          <a:ln w="7620">
            <a:solidFill>
              <a:srgbClr val="EF5350"/>
            </a:solidFill>
            <a:roun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80" name="Shape 57"/>
          <p:cNvSpPr/>
          <p:nvPr/>
        </p:nvSpPr>
        <p:spPr>
          <a:xfrm>
            <a:off x="384120" y="4309335"/>
            <a:ext cx="63000" cy="70776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81" name="Text 58"/>
          <p:cNvSpPr/>
          <p:nvPr/>
        </p:nvSpPr>
        <p:spPr>
          <a:xfrm>
            <a:off x="522360" y="4355055"/>
            <a:ext cx="3394440" cy="61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EF5350"/>
                </a:solidFill>
                <a:effectLst/>
                <a:uFillTx/>
                <a:latin typeface="Calibri"/>
              </a:rPr>
              <a:t>Antywzorce lidera</a:t>
            </a:r>
            <a:r>
              <a:rPr lang="pl-PL" sz="1600" b="0" u="none" strike="noStrike">
                <a:solidFill>
                  <a:srgbClr val="EF5350"/>
                </a:solidFill>
                <a:effectLst/>
                <a:uFillTx/>
                <a:latin typeface="Calibri"/>
              </a:rPr>
              <a:t>,</a:t>
            </a:r>
            <a:r>
              <a:rPr lang="pl-PL" sz="1600" b="1" u="none" strike="noStrike">
                <a:solidFill>
                  <a:srgbClr val="EF5350"/>
                </a:solidFill>
                <a:effectLst/>
                <a:uFillTx/>
                <a:latin typeface="Calibri"/>
              </a:rPr>
              <a:t> </a:t>
            </a:r>
            <a:r>
              <a:rPr lang="pl-PL" sz="1600" b="0" u="none" strike="noStrike">
                <a:solidFill>
                  <a:srgbClr val="EF5350"/>
                </a:solidFill>
                <a:effectLst/>
                <a:uFillTx/>
                <a:latin typeface="Calibri"/>
              </a:rPr>
              <a:t>czyli czego UNIKAĆ:</a:t>
            </a:r>
            <a:endParaRPr lang="pl-PL" sz="1600" b="0" u="none" strike="noStrike">
              <a:solidFill>
                <a:srgbClr val="FFFFFF"/>
              </a:solidFill>
              <a:effectLst/>
              <a:uFillTx/>
              <a:latin typeface="Arial"/>
            </a:endParaRPr>
          </a:p>
        </p:txBody>
      </p:sp>
      <p:grpSp>
        <p:nvGrpSpPr>
          <p:cNvPr id="782" name="Grupa 67"/>
          <p:cNvGrpSpPr/>
          <p:nvPr/>
        </p:nvGrpSpPr>
        <p:grpSpPr>
          <a:xfrm>
            <a:off x="4114800" y="4327695"/>
            <a:ext cx="4570920" cy="633960"/>
            <a:chOff x="4114800" y="4070520"/>
            <a:chExt cx="4570920" cy="633960"/>
          </a:xfrm>
        </p:grpSpPr>
        <p:sp>
          <p:nvSpPr>
            <p:cNvPr id="783" name="Text 59"/>
            <p:cNvSpPr/>
            <p:nvPr/>
          </p:nvSpPr>
          <p:spPr>
            <a:xfrm>
              <a:off x="4114800" y="4070520"/>
              <a:ext cx="4570920" cy="20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EF5350"/>
                  </a:solidFill>
                  <a:effectLst/>
                  <a:uFillTx/>
                  <a:latin typeface="Calibri"/>
                </a:rPr>
                <a:t>✗ </a:t>
              </a:r>
              <a:r>
                <a:rPr lang="en-US" sz="1100" b="0" u="none" strike="noStrike">
                  <a:solidFill>
                    <a:srgbClr val="FFFFFF"/>
                  </a:solidFill>
                  <a:effectLst/>
                  <a:uFillTx/>
                  <a:latin typeface="Calibri"/>
                </a:rPr>
                <a:t>Micromanagement: "dlaczego to zajęło 3h?" – niszczy autonomię i motywację</a:t>
              </a:r>
              <a:endParaRPr lang="pl-PL" sz="1100" b="0" u="none" strike="noStrike">
                <a:solidFill>
                  <a:srgbClr val="FFFFFF"/>
                </a:solidFill>
                <a:effectLst/>
                <a:uFillTx/>
                <a:latin typeface="Arial"/>
              </a:endParaRPr>
            </a:p>
          </p:txBody>
        </p:sp>
        <p:sp>
          <p:nvSpPr>
            <p:cNvPr id="784" name="Text 60"/>
            <p:cNvSpPr/>
            <p:nvPr/>
          </p:nvSpPr>
          <p:spPr>
            <a:xfrm>
              <a:off x="4114800" y="4285800"/>
              <a:ext cx="4570920" cy="20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EF5350"/>
                  </a:solidFill>
                  <a:effectLst/>
                  <a:uFillTx/>
                  <a:latin typeface="Calibri"/>
                </a:rPr>
                <a:t>✗ </a:t>
              </a:r>
              <a:r>
                <a:rPr lang="en-US" sz="1100" b="0" u="none" strike="noStrike">
                  <a:solidFill>
                    <a:srgbClr val="FFFFFF"/>
                  </a:solidFill>
                  <a:effectLst/>
                  <a:uFillTx/>
                  <a:latin typeface="Calibri"/>
                </a:rPr>
                <a:t>Brak feedbacku: milczenie ≠ akceptacja. Pracownik domyśla się błędnie</a:t>
              </a:r>
              <a:endParaRPr lang="pl-PL" sz="1100" b="0" u="none" strike="noStrike">
                <a:solidFill>
                  <a:srgbClr val="FFFFFF"/>
                </a:solidFill>
                <a:effectLst/>
                <a:uFillTx/>
                <a:latin typeface="Arial"/>
              </a:endParaRPr>
            </a:p>
          </p:txBody>
        </p:sp>
        <p:sp>
          <p:nvSpPr>
            <p:cNvPr id="785" name="Text 61"/>
            <p:cNvSpPr/>
            <p:nvPr/>
          </p:nvSpPr>
          <p:spPr>
            <a:xfrm>
              <a:off x="4114800" y="4501440"/>
              <a:ext cx="4570920" cy="20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EF5350"/>
                  </a:solidFill>
                  <a:effectLst/>
                  <a:uFillTx/>
                  <a:latin typeface="Calibri"/>
                </a:rPr>
                <a:t>✗ </a:t>
              </a:r>
              <a:r>
                <a:rPr lang="en-US" sz="1100" b="0" u="none" strike="noStrike">
                  <a:solidFill>
                    <a:srgbClr val="FFFFFF"/>
                  </a:solidFill>
                  <a:effectLst/>
                  <a:uFillTx/>
                  <a:latin typeface="Calibri"/>
                </a:rPr>
                <a:t>"Heroic programmer": lider sam ratuje sprinty</a:t>
              </a:r>
              <a:r>
                <a:rPr lang="pl-PL" sz="1100" b="0" u="none" strike="noStrike">
                  <a:solidFill>
                    <a:srgbClr val="FFFFFF"/>
                  </a:solidFill>
                  <a:effectLst/>
                  <a:uFillTx/>
                  <a:latin typeface="Calibri"/>
                </a:rPr>
                <a:t>, a to </a:t>
              </a:r>
              <a:r>
                <a:rPr lang="en-US" sz="1100" b="0" u="none" strike="noStrike">
                  <a:solidFill>
                    <a:srgbClr val="FFFFFF"/>
                  </a:solidFill>
                  <a:effectLst/>
                  <a:uFillTx/>
                  <a:latin typeface="Calibri"/>
                </a:rPr>
                <a:t>blokuje wzrost zespołu</a:t>
              </a:r>
              <a:endParaRPr lang="pl-PL" sz="1100" b="0" u="none" strike="noStrike">
                <a:solidFill>
                  <a:srgbClr val="FFFFFF"/>
                </a:solidFill>
                <a:effectLst/>
                <a:uFillTx/>
                <a:latin typeface="Arial"/>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677"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dirty="0" smtClean="0">
                <a:solidFill>
                  <a:srgbClr val="FFFFFF"/>
                </a:solidFill>
                <a:latin typeface="Calibri"/>
              </a:rPr>
              <a:t>Zasady zarządzania</a:t>
            </a:r>
            <a:endParaRPr lang="pl-PL" sz="2000" b="0" u="none" strike="noStrike" dirty="0">
              <a:solidFill>
                <a:srgbClr val="FFFFFF"/>
              </a:solidFill>
              <a:effectLst/>
              <a:uFillTx/>
              <a:latin typeface="Arial"/>
            </a:endParaRPr>
          </a:p>
        </p:txBody>
      </p:sp>
      <p:sp>
        <p:nvSpPr>
          <p:cNvPr id="678" name="Shape 3"/>
          <p:cNvSpPr/>
          <p:nvPr/>
        </p:nvSpPr>
        <p:spPr>
          <a:xfrm>
            <a:off x="383760" y="4277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683" name="Text 8"/>
          <p:cNvSpPr/>
          <p:nvPr/>
        </p:nvSpPr>
        <p:spPr>
          <a:xfrm>
            <a:off x="485360" y="600883"/>
            <a:ext cx="8366540" cy="347556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432000" indent="-432000">
              <a:spcAft>
                <a:spcPts val="800"/>
              </a:spcAft>
              <a:buAutoNum type="arabicPeriod"/>
              <a:tabLst>
                <a:tab pos="0" algn="l"/>
              </a:tabLst>
            </a:pPr>
            <a:r>
              <a:rPr lang="pl-PL" sz="1600" b="0" u="none" strike="noStrike" dirty="0" smtClean="0">
                <a:solidFill>
                  <a:srgbClr val="00B0F0"/>
                </a:solidFill>
                <a:effectLst/>
                <a:uFillTx/>
                <a:latin typeface="Arial"/>
              </a:rPr>
              <a:t>Jasność jest ważniejsza, niż intensywność. Zespół nie potrzebuje ciągłej presji, tylko jasnych priorytetów. </a:t>
            </a:r>
          </a:p>
          <a:p>
            <a:pPr marL="432000" indent="-432000">
              <a:spcAft>
                <a:spcPts val="800"/>
              </a:spcAft>
              <a:buAutoNum type="arabicPeriod"/>
              <a:tabLst>
                <a:tab pos="0" algn="l"/>
              </a:tabLst>
            </a:pPr>
            <a:r>
              <a:rPr lang="pl-PL" sz="1600" b="0" u="none" strike="noStrike" dirty="0" smtClean="0">
                <a:solidFill>
                  <a:srgbClr val="00B0F0"/>
                </a:solidFill>
                <a:effectLst/>
                <a:uFillTx/>
                <a:latin typeface="Arial"/>
              </a:rPr>
              <a:t>Nie zarządzać przez domysły. Jeżeli coś jest ważne, trzeba to nazwać.</a:t>
            </a:r>
          </a:p>
          <a:p>
            <a:pPr marL="432000" indent="-432000">
              <a:spcAft>
                <a:spcPts val="800"/>
              </a:spcAft>
              <a:buFontTx/>
              <a:buAutoNum type="arabicPeriod"/>
              <a:tabLst>
                <a:tab pos="0" algn="l"/>
              </a:tabLst>
            </a:pPr>
            <a:r>
              <a:rPr lang="pl-PL" sz="1600" dirty="0" smtClean="0">
                <a:solidFill>
                  <a:srgbClr val="76EC70"/>
                </a:solidFill>
                <a:latin typeface="Arial"/>
              </a:rPr>
              <a:t>O</a:t>
            </a:r>
            <a:r>
              <a:rPr lang="pl-PL" sz="1600" b="0" u="none" strike="noStrike" dirty="0" smtClean="0">
                <a:solidFill>
                  <a:srgbClr val="76EC70"/>
                </a:solidFill>
                <a:effectLst/>
                <a:uFillTx/>
                <a:latin typeface="Arial"/>
              </a:rPr>
              <a:t>rganizować pracę w małych, kontrolowalnych porcjach.</a:t>
            </a:r>
            <a:r>
              <a:rPr lang="pl-PL" sz="1600" dirty="0" smtClean="0">
                <a:solidFill>
                  <a:srgbClr val="76EC70"/>
                </a:solidFill>
                <a:latin typeface="Arial"/>
              </a:rPr>
              <a:t> Dbać o rytm pracy, stały cykl planowania, jasne zadania.</a:t>
            </a:r>
            <a:endParaRPr lang="pl-PL" sz="1600" b="0" u="none" strike="noStrike" dirty="0" smtClean="0">
              <a:solidFill>
                <a:srgbClr val="76EC70"/>
              </a:solidFill>
              <a:effectLst/>
              <a:uFillTx/>
              <a:latin typeface="Arial"/>
            </a:endParaRPr>
          </a:p>
          <a:p>
            <a:pPr marL="432000" indent="-432000">
              <a:spcAft>
                <a:spcPts val="800"/>
              </a:spcAft>
              <a:buAutoNum type="arabicPeriod"/>
              <a:tabLst>
                <a:tab pos="0" algn="l"/>
              </a:tabLst>
            </a:pPr>
            <a:r>
              <a:rPr lang="pl-PL" sz="1600" b="0" u="none" strike="noStrike" dirty="0" smtClean="0">
                <a:solidFill>
                  <a:srgbClr val="76EC70"/>
                </a:solidFill>
                <a:effectLst/>
                <a:uFillTx/>
                <a:latin typeface="Arial"/>
              </a:rPr>
              <a:t>Chronić zespół przed nadmiarem pracy i obserwować przeciążenie.</a:t>
            </a:r>
          </a:p>
          <a:p>
            <a:pPr marL="432000" indent="-432000">
              <a:spcAft>
                <a:spcPts val="800"/>
              </a:spcAft>
              <a:buAutoNum type="arabicPeriod"/>
              <a:tabLst>
                <a:tab pos="0" algn="l"/>
              </a:tabLst>
            </a:pPr>
            <a:r>
              <a:rPr lang="pl-PL" sz="1600" dirty="0" smtClean="0">
                <a:solidFill>
                  <a:srgbClr val="EE9360"/>
                </a:solidFill>
                <a:latin typeface="Arial"/>
              </a:rPr>
              <a:t>F</a:t>
            </a:r>
            <a:r>
              <a:rPr lang="pl-PL" sz="1600" b="0" u="none" strike="noStrike" dirty="0" smtClean="0">
                <a:solidFill>
                  <a:srgbClr val="EE9360"/>
                </a:solidFill>
                <a:effectLst/>
                <a:uFillTx/>
                <a:latin typeface="Arial"/>
              </a:rPr>
              <a:t>eedback powinien być szybki, konkretny i spokojny.</a:t>
            </a:r>
          </a:p>
          <a:p>
            <a:pPr marL="432000" indent="-432000">
              <a:spcAft>
                <a:spcPts val="800"/>
              </a:spcAft>
              <a:buFontTx/>
              <a:buAutoNum type="arabicPeriod"/>
              <a:tabLst>
                <a:tab pos="0" algn="l"/>
              </a:tabLst>
            </a:pPr>
            <a:r>
              <a:rPr lang="pl-PL" sz="1600" dirty="0" err="1" smtClean="0">
                <a:solidFill>
                  <a:srgbClr val="EE9360"/>
                </a:solidFill>
                <a:latin typeface="Arial"/>
              </a:rPr>
              <a:t>C</a:t>
            </a:r>
            <a:r>
              <a:rPr lang="pl-PL" sz="1600" b="0" u="none" strike="noStrike" dirty="0" err="1" smtClean="0">
                <a:solidFill>
                  <a:srgbClr val="EE9360"/>
                </a:solidFill>
                <a:effectLst/>
                <a:uFillTx/>
                <a:latin typeface="Arial"/>
              </a:rPr>
              <a:t>ode</a:t>
            </a:r>
            <a:r>
              <a:rPr lang="pl-PL" sz="1600" b="0" u="none" strike="noStrike" dirty="0" smtClean="0">
                <a:solidFill>
                  <a:srgbClr val="EE9360"/>
                </a:solidFill>
                <a:effectLst/>
                <a:uFillTx/>
                <a:latin typeface="Arial"/>
              </a:rPr>
              <a:t> </a:t>
            </a:r>
            <a:r>
              <a:rPr lang="pl-PL" sz="1600" b="0" u="none" strike="noStrike" dirty="0" err="1" smtClean="0">
                <a:solidFill>
                  <a:srgbClr val="EE9360"/>
                </a:solidFill>
                <a:effectLst/>
                <a:uFillTx/>
                <a:latin typeface="Arial"/>
              </a:rPr>
              <a:t>review</a:t>
            </a:r>
            <a:r>
              <a:rPr lang="pl-PL" sz="1600" b="0" u="none" strike="noStrike" dirty="0" smtClean="0">
                <a:solidFill>
                  <a:srgbClr val="EE9360"/>
                </a:solidFill>
                <a:effectLst/>
                <a:uFillTx/>
                <a:latin typeface="Arial"/>
              </a:rPr>
              <a:t> nie może być areną dominacji. Odróżniać kontrolę, od odpowiedzialności.</a:t>
            </a:r>
          </a:p>
          <a:p>
            <a:pPr marL="432000" indent="-432000">
              <a:spcAft>
                <a:spcPts val="800"/>
              </a:spcAft>
              <a:buAutoNum type="arabicPeriod"/>
              <a:tabLst>
                <a:tab pos="0" algn="l"/>
              </a:tabLst>
            </a:pPr>
            <a:r>
              <a:rPr lang="pl-PL" sz="1600" dirty="0" smtClean="0">
                <a:solidFill>
                  <a:srgbClr val="FFFF00"/>
                </a:solidFill>
                <a:latin typeface="Arial"/>
              </a:rPr>
              <a:t>Sp</a:t>
            </a:r>
            <a:r>
              <a:rPr lang="pl-PL" sz="1600" b="0" u="none" strike="noStrike" dirty="0" smtClean="0">
                <a:solidFill>
                  <a:srgbClr val="FFFF00"/>
                </a:solidFill>
                <a:effectLst/>
                <a:uFillTx/>
                <a:latin typeface="Arial"/>
              </a:rPr>
              <a:t>otkania zawsze muszą mieć funkcję.</a:t>
            </a:r>
          </a:p>
          <a:p>
            <a:pPr marL="432000" indent="-432000">
              <a:spcAft>
                <a:spcPts val="800"/>
              </a:spcAft>
              <a:buAutoNum type="arabicPeriod"/>
              <a:tabLst>
                <a:tab pos="0" algn="l"/>
              </a:tabLst>
            </a:pPr>
            <a:r>
              <a:rPr lang="pl-PL" sz="1600" dirty="0" smtClean="0">
                <a:solidFill>
                  <a:srgbClr val="FFFF00"/>
                </a:solidFill>
                <a:latin typeface="Arial"/>
              </a:rPr>
              <a:t>N</a:t>
            </a:r>
            <a:r>
              <a:rPr lang="pl-PL" sz="1600" b="0" u="none" strike="noStrike" dirty="0" smtClean="0">
                <a:solidFill>
                  <a:srgbClr val="FFFF00"/>
                </a:solidFill>
                <a:effectLst/>
                <a:uFillTx/>
                <a:latin typeface="Arial"/>
              </a:rPr>
              <a:t>ie być centrum zespołu, tylko projektantem warunków dla jego działania.</a:t>
            </a:r>
            <a:endParaRPr lang="pl-PL" sz="1600" b="0" u="none" strike="noStrike" dirty="0">
              <a:solidFill>
                <a:srgbClr val="FFFF00"/>
              </a:solidFill>
              <a:effectLst/>
              <a:uFillTx/>
              <a:latin typeface="Arial"/>
            </a:endParaRPr>
          </a:p>
        </p:txBody>
      </p:sp>
      <p:sp>
        <p:nvSpPr>
          <p:cNvPr id="2" name="Prostokąt 1"/>
          <p:cNvSpPr/>
          <p:nvPr/>
        </p:nvSpPr>
        <p:spPr>
          <a:xfrm>
            <a:off x="701432" y="4249273"/>
            <a:ext cx="7703336" cy="707886"/>
          </a:xfrm>
          <a:prstGeom prst="rect">
            <a:avLst/>
          </a:prstGeom>
        </p:spPr>
        <p:txBody>
          <a:bodyPr wrap="square">
            <a:spAutoFit/>
          </a:bodyPr>
          <a:lstStyle/>
          <a:p>
            <a:pPr algn="ctr"/>
            <a:r>
              <a:rPr lang="pl-PL" sz="2000" u="sng" dirty="0" smtClean="0">
                <a:solidFill>
                  <a:schemeClr val="bg1"/>
                </a:solidFill>
              </a:rPr>
              <a:t>Dojrzałe zarządzanie </a:t>
            </a:r>
            <a:r>
              <a:rPr lang="pl-PL" sz="2000" dirty="0" smtClean="0">
                <a:solidFill>
                  <a:schemeClr val="bg1"/>
                </a:solidFill>
              </a:rPr>
              <a:t>to </a:t>
            </a:r>
            <a:r>
              <a:rPr lang="pl-PL" sz="2000" b="1" dirty="0" smtClean="0">
                <a:solidFill>
                  <a:schemeClr val="bg1"/>
                </a:solidFill>
              </a:rPr>
              <a:t>mniej improwizacji</a:t>
            </a:r>
            <a:r>
              <a:rPr lang="pl-PL" sz="2000" dirty="0" smtClean="0">
                <a:solidFill>
                  <a:schemeClr val="bg1"/>
                </a:solidFill>
              </a:rPr>
              <a:t>, </a:t>
            </a:r>
            <a:r>
              <a:rPr lang="pl-PL" sz="2000" b="1" dirty="0" smtClean="0">
                <a:solidFill>
                  <a:schemeClr val="bg1"/>
                </a:solidFill>
              </a:rPr>
              <a:t>mniej presji</a:t>
            </a:r>
            <a:r>
              <a:rPr lang="pl-PL" sz="2000" dirty="0" smtClean="0">
                <a:solidFill>
                  <a:schemeClr val="bg1"/>
                </a:solidFill>
              </a:rPr>
              <a:t>, </a:t>
            </a:r>
            <a:r>
              <a:rPr lang="pl-PL" sz="2000" b="1" dirty="0" smtClean="0">
                <a:solidFill>
                  <a:schemeClr val="bg1"/>
                </a:solidFill>
              </a:rPr>
              <a:t>mniej chaosu, </a:t>
            </a:r>
            <a:r>
              <a:rPr lang="pl-PL" sz="2000" dirty="0" smtClean="0">
                <a:solidFill>
                  <a:schemeClr val="bg1"/>
                </a:solidFill>
              </a:rPr>
              <a:t>a </a:t>
            </a:r>
            <a:r>
              <a:rPr lang="pl-PL" sz="2000" b="1" dirty="0" smtClean="0">
                <a:solidFill>
                  <a:schemeClr val="bg1"/>
                </a:solidFill>
              </a:rPr>
              <a:t>więcej jasnych reguł</a:t>
            </a:r>
            <a:r>
              <a:rPr lang="pl-PL" sz="2000" dirty="0" smtClean="0">
                <a:solidFill>
                  <a:schemeClr val="bg1"/>
                </a:solidFill>
              </a:rPr>
              <a:t>, </a:t>
            </a:r>
            <a:r>
              <a:rPr lang="pl-PL" sz="2000" b="1" dirty="0" smtClean="0">
                <a:solidFill>
                  <a:schemeClr val="bg1"/>
                </a:solidFill>
              </a:rPr>
              <a:t>dobrego feedbacku </a:t>
            </a:r>
            <a:r>
              <a:rPr lang="pl-PL" sz="2000" dirty="0" smtClean="0">
                <a:solidFill>
                  <a:schemeClr val="bg1"/>
                </a:solidFill>
              </a:rPr>
              <a:t>i </a:t>
            </a:r>
            <a:r>
              <a:rPr lang="pl-PL" sz="2000" b="1" dirty="0" smtClean="0">
                <a:solidFill>
                  <a:schemeClr val="bg1"/>
                </a:solidFill>
              </a:rPr>
              <a:t>świadomej pracy</a:t>
            </a:r>
            <a:r>
              <a:rPr lang="pl-PL" sz="2000" dirty="0" smtClean="0">
                <a:solidFill>
                  <a:schemeClr val="bg1"/>
                </a:solidFill>
              </a:rPr>
              <a:t>.</a:t>
            </a:r>
            <a:endParaRPr lang="pl-PL" sz="2000"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677" name="Text 2"/>
          <p:cNvSpPr/>
          <p:nvPr/>
        </p:nvSpPr>
        <p:spPr>
          <a:xfrm>
            <a:off x="383760" y="73080"/>
            <a:ext cx="833868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dirty="0">
                <a:solidFill>
                  <a:srgbClr val="FFFFFF"/>
                </a:solidFill>
                <a:effectLst/>
                <a:uFillTx/>
                <a:latin typeface="Calibri"/>
              </a:rPr>
              <a:t>Obowiązki </a:t>
            </a:r>
            <a:r>
              <a:rPr lang="pl-PL" sz="2000" b="1" u="none" strike="noStrike" dirty="0" smtClean="0">
                <a:solidFill>
                  <a:srgbClr val="FFFFFF"/>
                </a:solidFill>
                <a:effectLst/>
                <a:uFillTx/>
                <a:latin typeface="Calibri"/>
              </a:rPr>
              <a:t>lidera</a:t>
            </a:r>
            <a:endParaRPr lang="pl-PL" sz="2000" b="0" u="none" strike="noStrike" dirty="0">
              <a:solidFill>
                <a:srgbClr val="FFFFFF"/>
              </a:solidFill>
              <a:effectLst/>
              <a:uFillTx/>
              <a:latin typeface="Arial"/>
            </a:endParaRPr>
          </a:p>
        </p:txBody>
      </p:sp>
      <p:sp>
        <p:nvSpPr>
          <p:cNvPr id="678" name="Shape 3"/>
          <p:cNvSpPr/>
          <p:nvPr/>
        </p:nvSpPr>
        <p:spPr>
          <a:xfrm>
            <a:off x="383760" y="4277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679" name="Shape 4"/>
          <p:cNvSpPr/>
          <p:nvPr/>
        </p:nvSpPr>
        <p:spPr>
          <a:xfrm>
            <a:off x="384120" y="635445"/>
            <a:ext cx="4013280" cy="93168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80" name="Shape 5"/>
          <p:cNvSpPr/>
          <p:nvPr/>
        </p:nvSpPr>
        <p:spPr>
          <a:xfrm>
            <a:off x="384120" y="635445"/>
            <a:ext cx="63000" cy="93168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81" name="Shape 6"/>
          <p:cNvSpPr/>
          <p:nvPr/>
        </p:nvSpPr>
        <p:spPr>
          <a:xfrm>
            <a:off x="502920" y="726885"/>
            <a:ext cx="273240" cy="273240"/>
          </a:xfrm>
          <a:prstGeom prst="roundRect">
            <a:avLst>
              <a:gd name="adj" fmla="val 23333"/>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682" name="Text 7"/>
          <p:cNvSpPr/>
          <p:nvPr/>
        </p:nvSpPr>
        <p:spPr>
          <a:xfrm>
            <a:off x="502920" y="726885"/>
            <a:ext cx="2732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rPr>
              <a:t>1</a:t>
            </a:r>
            <a:endParaRPr lang="pl-PL" sz="1600" b="0" u="none" strike="noStrike">
              <a:solidFill>
                <a:srgbClr val="FFFFFF"/>
              </a:solidFill>
              <a:effectLst/>
              <a:uFillTx/>
              <a:latin typeface="Arial"/>
            </a:endParaRPr>
          </a:p>
        </p:txBody>
      </p:sp>
      <p:sp>
        <p:nvSpPr>
          <p:cNvPr id="683" name="Text 8"/>
          <p:cNvSpPr/>
          <p:nvPr/>
        </p:nvSpPr>
        <p:spPr>
          <a:xfrm>
            <a:off x="887040" y="690885"/>
            <a:ext cx="327240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00BCD4"/>
                </a:solidFill>
                <a:effectLst/>
                <a:uFillTx/>
                <a:latin typeface="Calibri"/>
              </a:rPr>
              <a:t>Wizja techniczna i decyzje archt.</a:t>
            </a:r>
            <a:endParaRPr lang="pl-PL" sz="1600" b="0" u="none" strike="noStrike">
              <a:solidFill>
                <a:srgbClr val="FFFFFF"/>
              </a:solidFill>
              <a:effectLst/>
              <a:uFillTx/>
              <a:latin typeface="Arial"/>
            </a:endParaRPr>
          </a:p>
        </p:txBody>
      </p:sp>
      <p:sp>
        <p:nvSpPr>
          <p:cNvPr id="684" name="Text 9"/>
          <p:cNvSpPr/>
          <p:nvPr/>
        </p:nvSpPr>
        <p:spPr>
          <a:xfrm>
            <a:off x="887040" y="982845"/>
            <a:ext cx="3440160" cy="529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u="none" strike="noStrike">
                <a:solidFill>
                  <a:srgbClr val="FFFFFF"/>
                </a:solidFill>
                <a:effectLst/>
                <a:uFillTx/>
                <a:latin typeface="Calibri"/>
              </a:rPr>
              <a:t>Przygotowuje i moderuje ADR. Utrzymuje architectural fitness function. Organizuje Architecture Review Board (ARB) raz na sprint. Odpowiada za tech debt roadmap.</a:t>
            </a:r>
            <a:endParaRPr lang="pl-PL" sz="1100" b="0" u="none" strike="noStrike">
              <a:solidFill>
                <a:srgbClr val="FFFFFF"/>
              </a:solidFill>
              <a:effectLst/>
              <a:uFillTx/>
              <a:latin typeface="Arial"/>
            </a:endParaRPr>
          </a:p>
        </p:txBody>
      </p:sp>
      <p:sp>
        <p:nvSpPr>
          <p:cNvPr id="685" name="Shape 10"/>
          <p:cNvSpPr/>
          <p:nvPr/>
        </p:nvSpPr>
        <p:spPr>
          <a:xfrm>
            <a:off x="4837320" y="635445"/>
            <a:ext cx="3921840" cy="93168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86" name="Shape 11"/>
          <p:cNvSpPr/>
          <p:nvPr/>
        </p:nvSpPr>
        <p:spPr>
          <a:xfrm>
            <a:off x="4837320" y="635445"/>
            <a:ext cx="63000" cy="93168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87" name="Shape 12"/>
          <p:cNvSpPr/>
          <p:nvPr/>
        </p:nvSpPr>
        <p:spPr>
          <a:xfrm>
            <a:off x="4956120" y="726885"/>
            <a:ext cx="273240" cy="273240"/>
          </a:xfrm>
          <a:prstGeom prst="roundRect">
            <a:avLst>
              <a:gd name="adj" fmla="val 23333"/>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88" name="Text 13"/>
          <p:cNvSpPr/>
          <p:nvPr/>
        </p:nvSpPr>
        <p:spPr>
          <a:xfrm>
            <a:off x="4956120" y="726885"/>
            <a:ext cx="2732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rPr>
              <a:t>2</a:t>
            </a:r>
            <a:endParaRPr lang="pl-PL" sz="1600" b="0" u="none" strike="noStrike">
              <a:solidFill>
                <a:srgbClr val="FFFFFF"/>
              </a:solidFill>
              <a:effectLst/>
              <a:uFillTx/>
              <a:latin typeface="Arial"/>
            </a:endParaRPr>
          </a:p>
        </p:txBody>
      </p:sp>
      <p:sp>
        <p:nvSpPr>
          <p:cNvPr id="689" name="Text 14"/>
          <p:cNvSpPr/>
          <p:nvPr/>
        </p:nvSpPr>
        <p:spPr>
          <a:xfrm>
            <a:off x="5340240" y="690885"/>
            <a:ext cx="2697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FF7043"/>
                </a:solidFill>
                <a:effectLst/>
                <a:uFillTx/>
                <a:latin typeface="Calibri"/>
              </a:rPr>
              <a:t>Zarządzanie ryzykiem projektu</a:t>
            </a:r>
            <a:endParaRPr lang="pl-PL" sz="1600" b="0" u="none" strike="noStrike">
              <a:solidFill>
                <a:srgbClr val="FFFFFF"/>
              </a:solidFill>
              <a:effectLst/>
              <a:uFillTx/>
              <a:latin typeface="Arial"/>
            </a:endParaRPr>
          </a:p>
        </p:txBody>
      </p:sp>
      <p:sp>
        <p:nvSpPr>
          <p:cNvPr id="690" name="Text 15"/>
          <p:cNvSpPr/>
          <p:nvPr/>
        </p:nvSpPr>
        <p:spPr>
          <a:xfrm>
            <a:off x="5340240" y="982845"/>
            <a:ext cx="3299760" cy="529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u="none" strike="noStrike">
                <a:solidFill>
                  <a:srgbClr val="FFFFFF"/>
                </a:solidFill>
                <a:effectLst/>
                <a:uFillTx/>
                <a:latin typeface="Calibri"/>
              </a:rPr>
              <a:t>Prowadzi Risk Register (prawdopodobieństwo × wpływ). Identyfikuje single points of failure w zespole. Eskaluje blokery do PM w ciągu 24h.</a:t>
            </a:r>
            <a:endParaRPr lang="pl-PL" sz="1100" b="0" u="none" strike="noStrike">
              <a:solidFill>
                <a:srgbClr val="FFFFFF"/>
              </a:solidFill>
              <a:effectLst/>
              <a:uFillTx/>
              <a:latin typeface="Arial"/>
            </a:endParaRPr>
          </a:p>
        </p:txBody>
      </p:sp>
      <p:sp>
        <p:nvSpPr>
          <p:cNvPr id="691" name="Shape 16"/>
          <p:cNvSpPr/>
          <p:nvPr/>
        </p:nvSpPr>
        <p:spPr>
          <a:xfrm>
            <a:off x="384120" y="1668645"/>
            <a:ext cx="4013280" cy="931680"/>
          </a:xfrm>
          <a:prstGeom prst="rect">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2" name="Shape 17"/>
          <p:cNvSpPr/>
          <p:nvPr/>
        </p:nvSpPr>
        <p:spPr>
          <a:xfrm>
            <a:off x="384120" y="1668645"/>
            <a:ext cx="63000" cy="93168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3" name="Shape 18"/>
          <p:cNvSpPr/>
          <p:nvPr/>
        </p:nvSpPr>
        <p:spPr>
          <a:xfrm>
            <a:off x="502920" y="1760085"/>
            <a:ext cx="273240" cy="273240"/>
          </a:xfrm>
          <a:prstGeom prst="roundRect">
            <a:avLst>
              <a:gd name="adj" fmla="val 23333"/>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4" name="Text 19"/>
          <p:cNvSpPr/>
          <p:nvPr/>
        </p:nvSpPr>
        <p:spPr>
          <a:xfrm>
            <a:off x="502920" y="1760085"/>
            <a:ext cx="2732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rPr>
              <a:t>3</a:t>
            </a:r>
            <a:endParaRPr lang="pl-PL" sz="1600" b="0" u="none" strike="noStrike">
              <a:solidFill>
                <a:srgbClr val="FFFFFF"/>
              </a:solidFill>
              <a:effectLst/>
              <a:uFillTx/>
              <a:latin typeface="Arial"/>
            </a:endParaRPr>
          </a:p>
        </p:txBody>
      </p:sp>
      <p:sp>
        <p:nvSpPr>
          <p:cNvPr id="695" name="Text 20"/>
          <p:cNvSpPr/>
          <p:nvPr/>
        </p:nvSpPr>
        <p:spPr>
          <a:xfrm>
            <a:off x="887040" y="1760085"/>
            <a:ext cx="239616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4CAF50"/>
                </a:solidFill>
                <a:effectLst/>
                <a:uFillTx/>
                <a:latin typeface="Calibri"/>
              </a:rPr>
              <a:t>Mentoring i rozwój zespołu</a:t>
            </a:r>
            <a:endParaRPr lang="pl-PL" sz="1600" b="0" u="none" strike="noStrike">
              <a:solidFill>
                <a:srgbClr val="FFFFFF"/>
              </a:solidFill>
              <a:effectLst/>
              <a:uFillTx/>
              <a:latin typeface="Arial"/>
            </a:endParaRPr>
          </a:p>
        </p:txBody>
      </p:sp>
      <p:sp>
        <p:nvSpPr>
          <p:cNvPr id="696" name="Text 21"/>
          <p:cNvSpPr/>
          <p:nvPr/>
        </p:nvSpPr>
        <p:spPr>
          <a:xfrm>
            <a:off x="887040" y="2016045"/>
            <a:ext cx="3440160" cy="529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u="none" strike="noStrike">
                <a:solidFill>
                  <a:srgbClr val="FFFFFF"/>
                </a:solidFill>
                <a:effectLst/>
                <a:uFillTx/>
                <a:latin typeface="Calibri"/>
              </a:rPr>
              <a:t>1:1 minimum 30 min/tydzień per osoba. Individual Development Plan (IDP) dla każdego. Pair programming juniora z seniorem ≥20% czasu.</a:t>
            </a:r>
            <a:endParaRPr lang="pl-PL" sz="1100" b="0" u="none" strike="noStrike">
              <a:solidFill>
                <a:srgbClr val="FFFFFF"/>
              </a:solidFill>
              <a:effectLst/>
              <a:uFillTx/>
              <a:latin typeface="Arial"/>
            </a:endParaRPr>
          </a:p>
        </p:txBody>
      </p:sp>
      <p:sp>
        <p:nvSpPr>
          <p:cNvPr id="697" name="Shape 22"/>
          <p:cNvSpPr/>
          <p:nvPr/>
        </p:nvSpPr>
        <p:spPr>
          <a:xfrm>
            <a:off x="4837320" y="1668645"/>
            <a:ext cx="3921840" cy="931680"/>
          </a:xfrm>
          <a:prstGeom prst="rect">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8" name="Shape 23"/>
          <p:cNvSpPr/>
          <p:nvPr/>
        </p:nvSpPr>
        <p:spPr>
          <a:xfrm>
            <a:off x="4837320" y="1668645"/>
            <a:ext cx="63000" cy="93168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699" name="Shape 24"/>
          <p:cNvSpPr/>
          <p:nvPr/>
        </p:nvSpPr>
        <p:spPr>
          <a:xfrm>
            <a:off x="4956120" y="1760085"/>
            <a:ext cx="273240" cy="273240"/>
          </a:xfrm>
          <a:prstGeom prst="roundRect">
            <a:avLst>
              <a:gd name="adj" fmla="val 23333"/>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00" name="Text 25"/>
          <p:cNvSpPr/>
          <p:nvPr/>
        </p:nvSpPr>
        <p:spPr>
          <a:xfrm>
            <a:off x="4956120" y="1760085"/>
            <a:ext cx="2732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rPr>
              <a:t>4</a:t>
            </a:r>
            <a:endParaRPr lang="pl-PL" sz="1600" b="0" u="none" strike="noStrike">
              <a:solidFill>
                <a:srgbClr val="FFFFFF"/>
              </a:solidFill>
              <a:effectLst/>
              <a:uFillTx/>
              <a:latin typeface="Arial"/>
            </a:endParaRPr>
          </a:p>
        </p:txBody>
      </p:sp>
      <p:sp>
        <p:nvSpPr>
          <p:cNvPr id="701" name="Text 26"/>
          <p:cNvSpPr/>
          <p:nvPr/>
        </p:nvSpPr>
        <p:spPr>
          <a:xfrm>
            <a:off x="5340240" y="1724085"/>
            <a:ext cx="269784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chemeClr val="lt1"/>
                </a:solidFill>
                <a:effectLst/>
                <a:uFillTx/>
                <a:latin typeface="Calibri"/>
              </a:rPr>
              <a:t>Jakość kodu i standardy</a:t>
            </a:r>
            <a:endParaRPr lang="pl-PL" sz="1600" b="0" u="none" strike="noStrike">
              <a:solidFill>
                <a:srgbClr val="FFFFFF"/>
              </a:solidFill>
              <a:effectLst/>
              <a:uFillTx/>
              <a:latin typeface="Arial"/>
            </a:endParaRPr>
          </a:p>
        </p:txBody>
      </p:sp>
      <p:sp>
        <p:nvSpPr>
          <p:cNvPr id="702" name="Text 27"/>
          <p:cNvSpPr/>
          <p:nvPr/>
        </p:nvSpPr>
        <p:spPr>
          <a:xfrm>
            <a:off x="5340240" y="2016045"/>
            <a:ext cx="3299760" cy="529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u="none" strike="noStrike">
                <a:solidFill>
                  <a:srgbClr val="FFFFFF"/>
                </a:solidFill>
                <a:effectLst/>
                <a:uFillTx/>
                <a:latin typeface="Calibri"/>
              </a:rPr>
              <a:t>Ustala coding guidelines (EditorConfig, linting, Detekt/SwiftLint). Pull Request template. Code review: 80% coverage minimum. Definicja Done egzekwowana.</a:t>
            </a:r>
            <a:endParaRPr lang="pl-PL" sz="1100" b="0" u="none" strike="noStrike">
              <a:solidFill>
                <a:srgbClr val="FFFFFF"/>
              </a:solidFill>
              <a:effectLst/>
              <a:uFillTx/>
              <a:latin typeface="Arial"/>
            </a:endParaRPr>
          </a:p>
        </p:txBody>
      </p:sp>
      <p:sp>
        <p:nvSpPr>
          <p:cNvPr id="703" name="Shape 28"/>
          <p:cNvSpPr/>
          <p:nvPr/>
        </p:nvSpPr>
        <p:spPr>
          <a:xfrm>
            <a:off x="384120" y="2701845"/>
            <a:ext cx="4013280" cy="931680"/>
          </a:xfrm>
          <a:prstGeom prst="rect">
            <a:avLst/>
          </a:prstGeom>
          <a:solidFill>
            <a:srgbClr val="0A2540"/>
          </a:solidFill>
          <a:ln w="889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04" name="Shape 29"/>
          <p:cNvSpPr/>
          <p:nvPr/>
        </p:nvSpPr>
        <p:spPr>
          <a:xfrm>
            <a:off x="384120" y="2701845"/>
            <a:ext cx="63000" cy="93168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05" name="Shape 30"/>
          <p:cNvSpPr/>
          <p:nvPr/>
        </p:nvSpPr>
        <p:spPr>
          <a:xfrm>
            <a:off x="502920" y="2793285"/>
            <a:ext cx="273240" cy="273240"/>
          </a:xfrm>
          <a:prstGeom prst="roundRect">
            <a:avLst>
              <a:gd name="adj" fmla="val 23333"/>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706" name="Text 31"/>
          <p:cNvSpPr/>
          <p:nvPr/>
        </p:nvSpPr>
        <p:spPr>
          <a:xfrm>
            <a:off x="502920" y="2793285"/>
            <a:ext cx="2732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rPr>
              <a:t>5</a:t>
            </a:r>
            <a:endParaRPr lang="pl-PL" sz="1600" b="0" u="none" strike="noStrike">
              <a:solidFill>
                <a:srgbClr val="FFFFFF"/>
              </a:solidFill>
              <a:effectLst/>
              <a:uFillTx/>
              <a:latin typeface="Arial"/>
            </a:endParaRPr>
          </a:p>
        </p:txBody>
      </p:sp>
      <p:sp>
        <p:nvSpPr>
          <p:cNvPr id="707" name="Text 32"/>
          <p:cNvSpPr/>
          <p:nvPr/>
        </p:nvSpPr>
        <p:spPr>
          <a:xfrm>
            <a:off x="887040" y="2757285"/>
            <a:ext cx="32335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1600" b="1" u="none" strike="noStrike">
                <a:solidFill>
                  <a:srgbClr val="FFB300"/>
                </a:solidFill>
                <a:effectLst/>
                <a:uFillTx/>
                <a:latin typeface="Calibri"/>
              </a:rPr>
              <a:t>Komunikacja z inwestorami</a:t>
            </a:r>
            <a:endParaRPr lang="pl-PL" sz="1600" b="0" u="none" strike="noStrike">
              <a:solidFill>
                <a:srgbClr val="FFFFFF"/>
              </a:solidFill>
              <a:effectLst/>
              <a:uFillTx/>
              <a:latin typeface="Arial"/>
            </a:endParaRPr>
          </a:p>
        </p:txBody>
      </p:sp>
      <p:sp>
        <p:nvSpPr>
          <p:cNvPr id="708" name="Text 33"/>
          <p:cNvSpPr/>
          <p:nvPr/>
        </p:nvSpPr>
        <p:spPr>
          <a:xfrm>
            <a:off x="887040" y="3049245"/>
            <a:ext cx="3440160" cy="529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u="none" strike="noStrike">
                <a:solidFill>
                  <a:srgbClr val="FFFFFF"/>
                </a:solidFill>
                <a:effectLst/>
                <a:uFillTx/>
                <a:latin typeface="Calibri"/>
              </a:rPr>
              <a:t>Weekly status report (2 akapity: osiągnięcia + ryzyka). Demo per sprint. Tłumaczy complexity na język biznesowy. Buffer między tech a biznesem.</a:t>
            </a:r>
            <a:endParaRPr lang="pl-PL" sz="1100" b="0" u="none" strike="noStrike">
              <a:solidFill>
                <a:srgbClr val="FFFFFF"/>
              </a:solidFill>
              <a:effectLst/>
              <a:uFillTx/>
              <a:latin typeface="Arial"/>
            </a:endParaRPr>
          </a:p>
        </p:txBody>
      </p:sp>
      <p:sp>
        <p:nvSpPr>
          <p:cNvPr id="709" name="Shape 34"/>
          <p:cNvSpPr/>
          <p:nvPr/>
        </p:nvSpPr>
        <p:spPr>
          <a:xfrm>
            <a:off x="4837320" y="2701845"/>
            <a:ext cx="3921840" cy="931680"/>
          </a:xfrm>
          <a:prstGeom prst="rect">
            <a:avLst/>
          </a:prstGeom>
          <a:solidFill>
            <a:srgbClr val="0A2540"/>
          </a:solidFill>
          <a:ln w="889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10" name="Shape 35"/>
          <p:cNvSpPr/>
          <p:nvPr/>
        </p:nvSpPr>
        <p:spPr>
          <a:xfrm>
            <a:off x="4837320" y="2701845"/>
            <a:ext cx="63000" cy="931680"/>
          </a:xfrm>
          <a:prstGeom prst="rect">
            <a:avLst/>
          </a:prstGeom>
          <a:solidFill>
            <a:srgbClr val="E91E8C"/>
          </a:solidFill>
          <a:ln w="1270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11" name="Shape 36"/>
          <p:cNvSpPr/>
          <p:nvPr/>
        </p:nvSpPr>
        <p:spPr>
          <a:xfrm>
            <a:off x="4956120" y="2793285"/>
            <a:ext cx="273240" cy="273240"/>
          </a:xfrm>
          <a:prstGeom prst="roundRect">
            <a:avLst>
              <a:gd name="adj" fmla="val 23333"/>
            </a:avLst>
          </a:prstGeom>
          <a:solidFill>
            <a:srgbClr val="E91E8C"/>
          </a:solidFill>
          <a:ln w="1270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12" name="Text 37"/>
          <p:cNvSpPr/>
          <p:nvPr/>
        </p:nvSpPr>
        <p:spPr>
          <a:xfrm>
            <a:off x="4956120" y="2793285"/>
            <a:ext cx="2732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FFFFFF"/>
                </a:solidFill>
                <a:effectLst/>
                <a:uFillTx/>
                <a:latin typeface="Calibri"/>
              </a:rPr>
              <a:t>6</a:t>
            </a:r>
            <a:endParaRPr lang="pl-PL" sz="1600" b="0" u="none" strike="noStrike">
              <a:solidFill>
                <a:srgbClr val="FFFFFF"/>
              </a:solidFill>
              <a:effectLst/>
              <a:uFillTx/>
              <a:latin typeface="Arial"/>
            </a:endParaRPr>
          </a:p>
        </p:txBody>
      </p:sp>
      <p:sp>
        <p:nvSpPr>
          <p:cNvPr id="713" name="Text 38"/>
          <p:cNvSpPr/>
          <p:nvPr/>
        </p:nvSpPr>
        <p:spPr>
          <a:xfrm>
            <a:off x="5340240" y="2757285"/>
            <a:ext cx="3418920" cy="227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pl-PL" sz="1500" b="1" u="none" strike="noStrike" spc="-40" dirty="0">
                <a:solidFill>
                  <a:srgbClr val="E91E8C"/>
                </a:solidFill>
                <a:effectLst/>
                <a:uFillTx/>
                <a:latin typeface="Calibri"/>
              </a:rPr>
              <a:t>Planowanie zasobów i mocy przerobowych</a:t>
            </a:r>
            <a:endParaRPr lang="pl-PL" sz="1500" b="0" u="none" strike="noStrike" dirty="0">
              <a:solidFill>
                <a:srgbClr val="FFFFFF"/>
              </a:solidFill>
              <a:effectLst/>
              <a:uFillTx/>
              <a:latin typeface="Arial"/>
            </a:endParaRPr>
          </a:p>
        </p:txBody>
      </p:sp>
      <p:sp>
        <p:nvSpPr>
          <p:cNvPr id="714" name="Text 39"/>
          <p:cNvSpPr/>
          <p:nvPr/>
        </p:nvSpPr>
        <p:spPr>
          <a:xfrm>
            <a:off x="5340240" y="3049245"/>
            <a:ext cx="3299760" cy="529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100" b="0" u="none" strike="noStrike">
                <a:solidFill>
                  <a:srgbClr val="FFFFFF"/>
                </a:solidFill>
                <a:effectLst/>
                <a:uFillTx/>
                <a:latin typeface="Calibri"/>
              </a:rPr>
              <a:t>Uwzględnia urlopy, L4, onboarding nowych. Buffor na unplanned work: 20% sprint velocity. Nie obiecuje 100% capacity na nowe features.</a:t>
            </a:r>
            <a:endParaRPr lang="pl-PL" sz="1100" b="0" u="none" strike="noStrike">
              <a:solidFill>
                <a:srgbClr val="FFFFFF"/>
              </a:solidFill>
              <a:effectLst/>
              <a:uFillTx/>
              <a:latin typeface="Arial"/>
            </a:endParaRPr>
          </a:p>
        </p:txBody>
      </p:sp>
      <p:sp>
        <p:nvSpPr>
          <p:cNvPr id="715" name="Shape 40"/>
          <p:cNvSpPr/>
          <p:nvPr/>
        </p:nvSpPr>
        <p:spPr>
          <a:xfrm>
            <a:off x="384120" y="4071565"/>
            <a:ext cx="8374680" cy="813960"/>
          </a:xfrm>
          <a:prstGeom prst="rect">
            <a:avLst/>
          </a:prstGeom>
          <a:solidFill>
            <a:srgbClr val="0A2540"/>
          </a:solidFill>
          <a:ln w="1016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16" name="Shape 41"/>
          <p:cNvSpPr/>
          <p:nvPr/>
        </p:nvSpPr>
        <p:spPr>
          <a:xfrm>
            <a:off x="384120" y="4071565"/>
            <a:ext cx="63000" cy="813960"/>
          </a:xfrm>
          <a:prstGeom prst="rect">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17" name="Shape 42"/>
          <p:cNvSpPr/>
          <p:nvPr/>
        </p:nvSpPr>
        <p:spPr>
          <a:xfrm>
            <a:off x="548640" y="4153645"/>
            <a:ext cx="273240" cy="273240"/>
          </a:xfrm>
          <a:prstGeom prst="roundRect">
            <a:avLst>
              <a:gd name="adj" fmla="val 23333"/>
            </a:avLst>
          </a:prstGeom>
          <a:solidFill>
            <a:srgbClr val="EF5350"/>
          </a:solidFill>
          <a:ln w="12700">
            <a:solidFill>
              <a:srgbClr val="EF53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718" name="Text 43"/>
          <p:cNvSpPr/>
          <p:nvPr/>
        </p:nvSpPr>
        <p:spPr>
          <a:xfrm>
            <a:off x="548640" y="4153645"/>
            <a:ext cx="27324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Calibri"/>
              </a:rPr>
              <a:t>7</a:t>
            </a:r>
            <a:endParaRPr lang="pl-PL" sz="1100" b="0" u="none" strike="noStrike">
              <a:solidFill>
                <a:srgbClr val="FFFFFF"/>
              </a:solidFill>
              <a:effectLst/>
              <a:uFillTx/>
              <a:latin typeface="Arial"/>
            </a:endParaRPr>
          </a:p>
        </p:txBody>
      </p:sp>
      <p:sp>
        <p:nvSpPr>
          <p:cNvPr id="719" name="Text 44"/>
          <p:cNvSpPr/>
          <p:nvPr/>
        </p:nvSpPr>
        <p:spPr>
          <a:xfrm>
            <a:off x="960120" y="4126285"/>
            <a:ext cx="3199320" cy="20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a:solidFill>
                  <a:srgbClr val="EF5350"/>
                </a:solidFill>
                <a:effectLst/>
                <a:uFillTx/>
                <a:latin typeface="Calibri"/>
              </a:rPr>
              <a:t>Kultura i dobrostan zespołu</a:t>
            </a:r>
            <a:endParaRPr lang="pl-PL" sz="2000" b="0" u="none" strike="noStrike">
              <a:solidFill>
                <a:srgbClr val="FFFFFF"/>
              </a:solidFill>
              <a:effectLst/>
              <a:uFillTx/>
              <a:latin typeface="Arial"/>
            </a:endParaRPr>
          </a:p>
        </p:txBody>
      </p:sp>
      <p:sp>
        <p:nvSpPr>
          <p:cNvPr id="720" name="Text 45"/>
          <p:cNvSpPr/>
          <p:nvPr/>
        </p:nvSpPr>
        <p:spPr>
          <a:xfrm>
            <a:off x="960120" y="4327525"/>
            <a:ext cx="7679880" cy="48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tabLst>
                <a:tab pos="0" algn="l"/>
              </a:tabLst>
            </a:pPr>
            <a:r>
              <a:rPr lang="pl-PL" sz="1200" b="0" u="none" strike="noStrike" dirty="0">
                <a:solidFill>
                  <a:srgbClr val="FFFFFF"/>
                </a:solidFill>
                <a:effectLst/>
                <a:uFillTx/>
                <a:latin typeface="Calibri"/>
              </a:rPr>
              <a:t>Mierzy morale zespołu (</a:t>
            </a:r>
            <a:r>
              <a:rPr lang="pl-PL" sz="1200" b="0" u="none" strike="noStrike" dirty="0" err="1">
                <a:solidFill>
                  <a:srgbClr val="FFFFFF"/>
                </a:solidFill>
                <a:effectLst/>
                <a:uFillTx/>
                <a:latin typeface="Calibri"/>
              </a:rPr>
              <a:t>monthly</a:t>
            </a:r>
            <a:r>
              <a:rPr lang="pl-PL" sz="1200" b="0" u="none" strike="noStrike" dirty="0">
                <a:solidFill>
                  <a:srgbClr val="FFFFFF"/>
                </a:solidFill>
                <a:effectLst/>
                <a:uFillTx/>
                <a:latin typeface="Calibri"/>
              </a:rPr>
              <a:t> </a:t>
            </a:r>
            <a:r>
              <a:rPr lang="pl-PL" sz="1200" b="0" u="none" strike="noStrike" dirty="0" err="1">
                <a:solidFill>
                  <a:srgbClr val="FFFFFF"/>
                </a:solidFill>
                <a:effectLst/>
                <a:uFillTx/>
                <a:latin typeface="Calibri"/>
              </a:rPr>
              <a:t>mood</a:t>
            </a:r>
            <a:r>
              <a:rPr lang="pl-PL" sz="1200" b="0" u="none" strike="noStrike" dirty="0">
                <a:solidFill>
                  <a:srgbClr val="FFFFFF"/>
                </a:solidFill>
                <a:effectLst/>
                <a:uFillTx/>
                <a:latin typeface="Calibri"/>
              </a:rPr>
              <a:t> </a:t>
            </a:r>
            <a:r>
              <a:rPr lang="pl-PL" sz="1200" b="0" u="none" strike="noStrike" dirty="0" err="1">
                <a:solidFill>
                  <a:srgbClr val="FFFFFF"/>
                </a:solidFill>
                <a:effectLst/>
                <a:uFillTx/>
                <a:latin typeface="Calibri"/>
              </a:rPr>
              <a:t>check</a:t>
            </a:r>
            <a:r>
              <a:rPr lang="pl-PL" sz="1200" b="0" u="none" strike="noStrike" dirty="0">
                <a:solidFill>
                  <a:srgbClr val="FFFFFF"/>
                </a:solidFill>
                <a:effectLst/>
                <a:uFillTx/>
                <a:latin typeface="Calibri"/>
              </a:rPr>
              <a:t>). </a:t>
            </a:r>
            <a:r>
              <a:rPr lang="pl-PL" sz="1200" dirty="0">
                <a:solidFill>
                  <a:srgbClr val="FFFFFF"/>
                </a:solidFill>
              </a:rPr>
              <a:t>Celebruje sukcesy (</a:t>
            </a:r>
            <a:r>
              <a:rPr lang="pl-PL" sz="1200" dirty="0" err="1">
                <a:solidFill>
                  <a:srgbClr val="FFFFFF"/>
                </a:solidFill>
              </a:rPr>
              <a:t>retrospective</a:t>
            </a:r>
            <a:r>
              <a:rPr lang="pl-PL" sz="1200" dirty="0">
                <a:solidFill>
                  <a:srgbClr val="FFFFFF"/>
                </a:solidFill>
              </a:rPr>
              <a:t> </a:t>
            </a:r>
            <a:r>
              <a:rPr lang="pl-PL" sz="1200" dirty="0" err="1">
                <a:solidFill>
                  <a:srgbClr val="FFFFFF"/>
                </a:solidFill>
              </a:rPr>
              <a:t>appreciation</a:t>
            </a:r>
            <a:r>
              <a:rPr lang="pl-PL" sz="1200" dirty="0">
                <a:solidFill>
                  <a:srgbClr val="FFFFFF"/>
                </a:solidFill>
              </a:rPr>
              <a:t> </a:t>
            </a:r>
            <a:r>
              <a:rPr lang="pl-PL" sz="1200" dirty="0" err="1">
                <a:solidFill>
                  <a:srgbClr val="FFFFFF"/>
                </a:solidFill>
              </a:rPr>
              <a:t>round</a:t>
            </a:r>
            <a:r>
              <a:rPr lang="pl-PL" sz="1200" dirty="0" smtClean="0">
                <a:solidFill>
                  <a:srgbClr val="FFFFFF"/>
                </a:solidFill>
              </a:rPr>
              <a:t>).</a:t>
            </a:r>
          </a:p>
          <a:p>
            <a:pPr defTabSz="914400">
              <a:lnSpc>
                <a:spcPct val="100000"/>
              </a:lnSpc>
              <a:tabLst>
                <a:tab pos="0" algn="l"/>
              </a:tabLst>
            </a:pPr>
            <a:r>
              <a:rPr lang="pl-PL" sz="1200" b="1" u="none" strike="noStrike" dirty="0" smtClean="0">
                <a:solidFill>
                  <a:srgbClr val="FFFFFF"/>
                </a:solidFill>
                <a:effectLst/>
                <a:uFillTx/>
                <a:latin typeface="Calibri"/>
              </a:rPr>
              <a:t>Zapobiega </a:t>
            </a:r>
            <a:r>
              <a:rPr lang="pl-PL" sz="1200" b="1" u="none" strike="noStrike" dirty="0" err="1">
                <a:solidFill>
                  <a:srgbClr val="FFFFFF"/>
                </a:solidFill>
                <a:effectLst/>
                <a:uFillTx/>
                <a:latin typeface="Calibri"/>
              </a:rPr>
              <a:t>burnoutowi</a:t>
            </a:r>
            <a:r>
              <a:rPr lang="pl-PL" sz="1200" b="1" u="none" strike="noStrike" dirty="0">
                <a:solidFill>
                  <a:srgbClr val="FFFFFF"/>
                </a:solidFill>
                <a:effectLst/>
                <a:uFillTx/>
                <a:latin typeface="Calibri"/>
              </a:rPr>
              <a:t>:</a:t>
            </a:r>
            <a:r>
              <a:rPr lang="pl-PL" sz="1200" b="0" u="none" strike="noStrike" dirty="0">
                <a:solidFill>
                  <a:srgbClr val="FFFFFF"/>
                </a:solidFill>
                <a:effectLst/>
                <a:uFillTx/>
                <a:latin typeface="Calibri"/>
              </a:rPr>
              <a:t> max 45h/tydzień jako norma</a:t>
            </a:r>
            <a:r>
              <a:rPr lang="pl-PL" sz="1200" b="0" u="none" strike="noStrike" dirty="0" smtClean="0">
                <a:solidFill>
                  <a:srgbClr val="FFFFFF"/>
                </a:solidFill>
                <a:effectLst/>
                <a:uFillTx/>
                <a:latin typeface="Calibri"/>
              </a:rPr>
              <a:t>.</a:t>
            </a:r>
          </a:p>
        </p:txBody>
      </p:sp>
    </p:spTree>
    <p:extLst>
      <p:ext uri="{BB962C8B-B14F-4D97-AF65-F5344CB8AC3E}">
        <p14:creationId xmlns:p14="http://schemas.microsoft.com/office/powerpoint/2010/main" val="429215726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1089" name="Text 2"/>
          <p:cNvSpPr/>
          <p:nvPr/>
        </p:nvSpPr>
        <p:spPr>
          <a:xfrm>
            <a:off x="412560" y="73080"/>
            <a:ext cx="22856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a:solidFill>
                  <a:srgbClr val="FFFFFF"/>
                </a:solidFill>
                <a:effectLst/>
                <a:uFillTx/>
                <a:latin typeface="Calibri"/>
              </a:rPr>
              <a:t>Podsumowanie</a:t>
            </a:r>
            <a:endParaRPr lang="pl-PL" sz="2000" b="0" u="none" strike="noStrike">
              <a:solidFill>
                <a:srgbClr val="FFFFFF"/>
              </a:solidFill>
              <a:effectLst/>
              <a:uFillTx/>
              <a:latin typeface="Arial"/>
            </a:endParaRPr>
          </a:p>
        </p:txBody>
      </p:sp>
      <p:sp>
        <p:nvSpPr>
          <p:cNvPr id="1090" name="Shape 3"/>
          <p:cNvSpPr/>
          <p:nvPr/>
        </p:nvSpPr>
        <p:spPr>
          <a:xfrm>
            <a:off x="383760" y="475200"/>
            <a:ext cx="8376120" cy="360"/>
          </a:xfrm>
          <a:prstGeom prst="line">
            <a:avLst/>
          </a:prstGeom>
          <a:ln w="10160">
            <a:solidFill>
              <a:srgbClr val="00BCD4"/>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pl-PL" sz="1800" b="0" u="none" strike="noStrike">
              <a:solidFill>
                <a:srgbClr val="FFFFFF"/>
              </a:solidFill>
              <a:effectLst/>
              <a:uFillTx/>
              <a:latin typeface="Arial"/>
            </a:endParaRPr>
          </a:p>
        </p:txBody>
      </p:sp>
      <p:sp>
        <p:nvSpPr>
          <p:cNvPr id="1091" name="Shape 4"/>
          <p:cNvSpPr/>
          <p:nvPr/>
        </p:nvSpPr>
        <p:spPr>
          <a:xfrm>
            <a:off x="384120" y="700350"/>
            <a:ext cx="4314960" cy="1165680"/>
          </a:xfrm>
          <a:prstGeom prst="rect">
            <a:avLst/>
          </a:prstGeom>
          <a:solidFill>
            <a:srgbClr val="0A2540"/>
          </a:solidFill>
          <a:ln w="889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92" name="Shape 5"/>
          <p:cNvSpPr/>
          <p:nvPr/>
        </p:nvSpPr>
        <p:spPr>
          <a:xfrm>
            <a:off x="384120" y="700350"/>
            <a:ext cx="63000" cy="1165680"/>
          </a:xfrm>
          <a:prstGeom prst="rect">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93" name="Shape 6"/>
          <p:cNvSpPr/>
          <p:nvPr/>
        </p:nvSpPr>
        <p:spPr>
          <a:xfrm>
            <a:off x="521280" y="810150"/>
            <a:ext cx="346320" cy="346320"/>
          </a:xfrm>
          <a:prstGeom prst="roundRect">
            <a:avLst>
              <a:gd name="adj" fmla="val 21053"/>
            </a:avLst>
          </a:prstGeom>
          <a:solidFill>
            <a:srgbClr val="00BCD4"/>
          </a:solidFill>
          <a:ln w="1270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094" name="Text 7"/>
          <p:cNvSpPr/>
          <p:nvPr/>
        </p:nvSpPr>
        <p:spPr>
          <a:xfrm>
            <a:off x="521280" y="810150"/>
            <a:ext cx="3463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rPr>
              <a:t>1</a:t>
            </a:r>
            <a:endParaRPr lang="pl-PL" sz="1500" b="0" u="none" strike="noStrike">
              <a:solidFill>
                <a:srgbClr val="FFFFFF"/>
              </a:solidFill>
              <a:effectLst/>
              <a:uFillTx/>
              <a:latin typeface="Arial"/>
            </a:endParaRPr>
          </a:p>
        </p:txBody>
      </p:sp>
      <p:sp>
        <p:nvSpPr>
          <p:cNvPr id="1095" name="Text 8"/>
          <p:cNvSpPr/>
          <p:nvPr/>
        </p:nvSpPr>
        <p:spPr>
          <a:xfrm>
            <a:off x="1005840" y="810150"/>
            <a:ext cx="3565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err="1">
                <a:solidFill>
                  <a:srgbClr val="00BCD4"/>
                </a:solidFill>
                <a:effectLst>
                  <a:outerShdw blurRad="38100" dist="38100" dir="2700000" algn="tl">
                    <a:srgbClr val="000000">
                      <a:alpha val="43137"/>
                    </a:srgbClr>
                  </a:outerShdw>
                </a:effectLst>
                <a:uFillTx/>
                <a:latin typeface="Calibri"/>
              </a:rPr>
              <a:t>Waliduj</a:t>
            </a:r>
            <a:r>
              <a:rPr lang="en-US" sz="2000" b="1" u="none" strike="noStrike" dirty="0">
                <a:solidFill>
                  <a:srgbClr val="00BCD4"/>
                </a:solidFill>
                <a:effectLst>
                  <a:outerShdw blurRad="38100" dist="38100" dir="2700000" algn="tl">
                    <a:srgbClr val="000000">
                      <a:alpha val="43137"/>
                    </a:srgbClr>
                  </a:outerShdw>
                </a:effectLst>
                <a:uFillTx/>
                <a:latin typeface="Calibri"/>
              </a:rPr>
              <a:t> </a:t>
            </a:r>
            <a:r>
              <a:rPr lang="en-US" sz="2000" b="1" u="none" strike="noStrike" dirty="0" err="1">
                <a:solidFill>
                  <a:srgbClr val="00BCD4"/>
                </a:solidFill>
                <a:effectLst>
                  <a:outerShdw blurRad="38100" dist="38100" dir="2700000" algn="tl">
                    <a:srgbClr val="000000">
                      <a:alpha val="43137"/>
                    </a:srgbClr>
                  </a:outerShdw>
                </a:effectLst>
                <a:uFillTx/>
                <a:latin typeface="Calibri"/>
              </a:rPr>
              <a:t>zanim</a:t>
            </a:r>
            <a:r>
              <a:rPr lang="en-US" sz="2000" b="1" u="none" strike="noStrike" dirty="0">
                <a:solidFill>
                  <a:srgbClr val="00BCD4"/>
                </a:solidFill>
                <a:effectLst>
                  <a:outerShdw blurRad="38100" dist="38100" dir="2700000" algn="tl">
                    <a:srgbClr val="000000">
                      <a:alpha val="43137"/>
                    </a:srgbClr>
                  </a:outerShdw>
                </a:effectLst>
                <a:uFillTx/>
                <a:latin typeface="Calibri"/>
              </a:rPr>
              <a:t> </a:t>
            </a:r>
            <a:r>
              <a:rPr lang="en-US" sz="2000" b="1" u="none" strike="noStrike" dirty="0" err="1">
                <a:solidFill>
                  <a:srgbClr val="00BCD4"/>
                </a:solidFill>
                <a:effectLst>
                  <a:outerShdw blurRad="38100" dist="38100" dir="2700000" algn="tl">
                    <a:srgbClr val="000000">
                      <a:alpha val="43137"/>
                    </a:srgbClr>
                  </a:outerShdw>
                </a:effectLst>
                <a:uFillTx/>
                <a:latin typeface="Calibri"/>
              </a:rPr>
              <a:t>zakodujesz</a:t>
            </a:r>
            <a:endParaRPr lang="pl-PL" sz="2000" b="0" u="none" strike="noStrike" dirty="0">
              <a:solidFill>
                <a:srgbClr val="FFFFFF"/>
              </a:solidFill>
              <a:effectLst>
                <a:outerShdw blurRad="38100" dist="38100" dir="2700000" algn="tl">
                  <a:srgbClr val="000000">
                    <a:alpha val="43137"/>
                  </a:srgbClr>
                </a:outerShdw>
              </a:effectLst>
              <a:uFillTx/>
              <a:latin typeface="Arial"/>
            </a:endParaRPr>
          </a:p>
        </p:txBody>
      </p:sp>
      <p:sp>
        <p:nvSpPr>
          <p:cNvPr id="1096" name="Text 9"/>
          <p:cNvSpPr/>
          <p:nvPr/>
        </p:nvSpPr>
        <p:spPr>
          <a:xfrm>
            <a:off x="1005840" y="1139190"/>
            <a:ext cx="3565080" cy="803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FFFFFF"/>
                </a:solidFill>
                <a:effectLst/>
                <a:uFillTx/>
                <a:latin typeface="Calibri"/>
              </a:rPr>
              <a:t>Każdy tydzień walidacji oszczędza miesiąc developmentu. 42% projektów upada z powodu braku potrzeby rynkowej.</a:t>
            </a:r>
            <a:endParaRPr lang="pl-PL" sz="1400" b="0" u="none" strike="noStrike">
              <a:solidFill>
                <a:srgbClr val="FFFFFF"/>
              </a:solidFill>
              <a:effectLst/>
              <a:uFillTx/>
              <a:latin typeface="Arial"/>
            </a:endParaRPr>
          </a:p>
        </p:txBody>
      </p:sp>
      <p:sp>
        <p:nvSpPr>
          <p:cNvPr id="1097" name="Shape 10"/>
          <p:cNvSpPr/>
          <p:nvPr/>
        </p:nvSpPr>
        <p:spPr>
          <a:xfrm>
            <a:off x="4837320" y="700350"/>
            <a:ext cx="3921840" cy="1165680"/>
          </a:xfrm>
          <a:prstGeom prst="rect">
            <a:avLst/>
          </a:prstGeom>
          <a:solidFill>
            <a:srgbClr val="0A2540"/>
          </a:solidFill>
          <a:ln w="889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98" name="Shape 11"/>
          <p:cNvSpPr/>
          <p:nvPr/>
        </p:nvSpPr>
        <p:spPr>
          <a:xfrm>
            <a:off x="4837320" y="700350"/>
            <a:ext cx="63000" cy="1165680"/>
          </a:xfrm>
          <a:prstGeom prst="rect">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099" name="Shape 12"/>
          <p:cNvSpPr/>
          <p:nvPr/>
        </p:nvSpPr>
        <p:spPr>
          <a:xfrm>
            <a:off x="4974480" y="810150"/>
            <a:ext cx="346320" cy="346320"/>
          </a:xfrm>
          <a:prstGeom prst="roundRect">
            <a:avLst>
              <a:gd name="adj" fmla="val 21053"/>
            </a:avLst>
          </a:prstGeom>
          <a:solidFill>
            <a:srgbClr val="FF7043"/>
          </a:solidFill>
          <a:ln w="12700">
            <a:solidFill>
              <a:srgbClr val="FF704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00" name="Text 13"/>
          <p:cNvSpPr/>
          <p:nvPr/>
        </p:nvSpPr>
        <p:spPr>
          <a:xfrm>
            <a:off x="4974480" y="810150"/>
            <a:ext cx="3463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rPr>
              <a:t>2</a:t>
            </a:r>
            <a:endParaRPr lang="pl-PL" sz="1500" b="0" u="none" strike="noStrike">
              <a:solidFill>
                <a:srgbClr val="FFFFFF"/>
              </a:solidFill>
              <a:effectLst/>
              <a:uFillTx/>
              <a:latin typeface="Arial"/>
            </a:endParaRPr>
          </a:p>
        </p:txBody>
      </p:sp>
      <p:sp>
        <p:nvSpPr>
          <p:cNvPr id="1101" name="Text 14"/>
          <p:cNvSpPr/>
          <p:nvPr/>
        </p:nvSpPr>
        <p:spPr>
          <a:xfrm>
            <a:off x="5459040" y="810150"/>
            <a:ext cx="3027735"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err="1">
                <a:solidFill>
                  <a:srgbClr val="FF7043"/>
                </a:solidFill>
                <a:effectLst>
                  <a:outerShdw blurRad="38100" dist="38100" dir="2700000" algn="tl">
                    <a:srgbClr val="000000">
                      <a:alpha val="43137"/>
                    </a:srgbClr>
                  </a:outerShdw>
                </a:effectLst>
                <a:uFillTx/>
                <a:latin typeface="Calibri"/>
              </a:rPr>
              <a:t>Planowanie</a:t>
            </a:r>
            <a:r>
              <a:rPr lang="en-US" sz="2000" b="1" u="none" strike="noStrike" dirty="0">
                <a:solidFill>
                  <a:srgbClr val="FF7043"/>
                </a:solidFill>
                <a:effectLst>
                  <a:outerShdw blurRad="38100" dist="38100" dir="2700000" algn="tl">
                    <a:srgbClr val="000000">
                      <a:alpha val="43137"/>
                    </a:srgbClr>
                  </a:outerShdw>
                </a:effectLst>
                <a:uFillTx/>
                <a:latin typeface="Calibri"/>
              </a:rPr>
              <a:t> to </a:t>
            </a:r>
            <a:r>
              <a:rPr lang="en-US" sz="2000" b="1" u="none" strike="noStrike" dirty="0" err="1">
                <a:solidFill>
                  <a:srgbClr val="FF7043"/>
                </a:solidFill>
                <a:effectLst>
                  <a:outerShdw blurRad="38100" dist="38100" dir="2700000" algn="tl">
                    <a:srgbClr val="000000">
                      <a:alpha val="43137"/>
                    </a:srgbClr>
                  </a:outerShdw>
                </a:effectLst>
                <a:uFillTx/>
                <a:latin typeface="Calibri"/>
              </a:rPr>
              <a:t>inwestycja</a:t>
            </a:r>
            <a:endParaRPr lang="pl-PL" sz="2000" b="0" u="none" strike="noStrike" dirty="0">
              <a:solidFill>
                <a:srgbClr val="FFFFFF"/>
              </a:solidFill>
              <a:effectLst>
                <a:outerShdw blurRad="38100" dist="38100" dir="2700000" algn="tl">
                  <a:srgbClr val="000000">
                    <a:alpha val="43137"/>
                  </a:srgbClr>
                </a:outerShdw>
              </a:effectLst>
              <a:uFillTx/>
              <a:latin typeface="Arial"/>
            </a:endParaRPr>
          </a:p>
        </p:txBody>
      </p:sp>
      <p:sp>
        <p:nvSpPr>
          <p:cNvPr id="1102" name="Text 15"/>
          <p:cNvSpPr/>
          <p:nvPr/>
        </p:nvSpPr>
        <p:spPr>
          <a:xfrm>
            <a:off x="5358960" y="1244018"/>
            <a:ext cx="3263400" cy="47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pl-PL" sz="1400" b="0" u="none" strike="noStrike" spc="-40" dirty="0">
                <a:solidFill>
                  <a:srgbClr val="FFFFFF"/>
                </a:solidFill>
                <a:effectLst/>
                <a:uFillTx/>
                <a:latin typeface="Calibri"/>
              </a:rPr>
              <a:t>Discovery + ADR + </a:t>
            </a:r>
            <a:r>
              <a:rPr lang="pl-PL" sz="1400" b="0" u="none" strike="noStrike" spc="-40" dirty="0" err="1">
                <a:solidFill>
                  <a:srgbClr val="FFFFFF"/>
                </a:solidFill>
                <a:effectLst/>
                <a:uFillTx/>
                <a:latin typeface="Calibri"/>
              </a:rPr>
              <a:t>roadmapa</a:t>
            </a:r>
            <a:r>
              <a:rPr lang="pl-PL" sz="1400" b="0" u="none" strike="noStrike" spc="-40" dirty="0">
                <a:solidFill>
                  <a:srgbClr val="FFFFFF"/>
                </a:solidFill>
                <a:effectLst/>
                <a:uFillTx/>
                <a:latin typeface="Calibri"/>
              </a:rPr>
              <a:t> = mniej zaskoczeń. Brak planu = plan na niepowodzenie.</a:t>
            </a:r>
            <a:endParaRPr lang="pl-PL" sz="1400" b="0" u="none" strike="noStrike" dirty="0">
              <a:solidFill>
                <a:srgbClr val="FFFFFF"/>
              </a:solidFill>
              <a:effectLst/>
              <a:uFillTx/>
              <a:latin typeface="Arial"/>
            </a:endParaRPr>
          </a:p>
        </p:txBody>
      </p:sp>
      <p:sp>
        <p:nvSpPr>
          <p:cNvPr id="1103" name="Shape 16"/>
          <p:cNvSpPr/>
          <p:nvPr/>
        </p:nvSpPr>
        <p:spPr>
          <a:xfrm>
            <a:off x="384120" y="1984320"/>
            <a:ext cx="4314960" cy="1165680"/>
          </a:xfrm>
          <a:prstGeom prst="rect">
            <a:avLst/>
          </a:prstGeom>
          <a:solidFill>
            <a:srgbClr val="0A2540"/>
          </a:solidFill>
          <a:ln w="889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04" name="Shape 17"/>
          <p:cNvSpPr/>
          <p:nvPr/>
        </p:nvSpPr>
        <p:spPr>
          <a:xfrm>
            <a:off x="384120" y="1984320"/>
            <a:ext cx="63000" cy="1165680"/>
          </a:xfrm>
          <a:prstGeom prst="rect">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05" name="Shape 18"/>
          <p:cNvSpPr/>
          <p:nvPr/>
        </p:nvSpPr>
        <p:spPr>
          <a:xfrm>
            <a:off x="521280" y="2094120"/>
            <a:ext cx="346320" cy="346320"/>
          </a:xfrm>
          <a:prstGeom prst="roundRect">
            <a:avLst>
              <a:gd name="adj" fmla="val 21053"/>
            </a:avLst>
          </a:prstGeom>
          <a:solidFill>
            <a:srgbClr val="4CAF50"/>
          </a:solidFill>
          <a:ln w="12700">
            <a:solidFill>
              <a:srgbClr val="4CAF5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06" name="Text 19"/>
          <p:cNvSpPr/>
          <p:nvPr/>
        </p:nvSpPr>
        <p:spPr>
          <a:xfrm>
            <a:off x="521280" y="2094120"/>
            <a:ext cx="3463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rPr>
              <a:t>3</a:t>
            </a:r>
            <a:endParaRPr lang="pl-PL" sz="1500" b="0" u="none" strike="noStrike">
              <a:solidFill>
                <a:srgbClr val="FFFFFF"/>
              </a:solidFill>
              <a:effectLst/>
              <a:uFillTx/>
              <a:latin typeface="Arial"/>
            </a:endParaRPr>
          </a:p>
        </p:txBody>
      </p:sp>
      <p:sp>
        <p:nvSpPr>
          <p:cNvPr id="1107" name="Text 20"/>
          <p:cNvSpPr/>
          <p:nvPr/>
        </p:nvSpPr>
        <p:spPr>
          <a:xfrm>
            <a:off x="1005840" y="2094120"/>
            <a:ext cx="3565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dirty="0" err="1">
                <a:solidFill>
                  <a:srgbClr val="4CAF50"/>
                </a:solidFill>
                <a:effectLst>
                  <a:outerShdw blurRad="38100" dist="38100" dir="2700000" algn="tl">
                    <a:srgbClr val="000000">
                      <a:alpha val="43137"/>
                    </a:srgbClr>
                  </a:outerShdw>
                </a:effectLst>
                <a:uFillTx/>
                <a:latin typeface="Calibri"/>
              </a:rPr>
              <a:t>Ludzie</a:t>
            </a:r>
            <a:r>
              <a:rPr lang="en-US" sz="2000" b="1" u="none" strike="noStrike" dirty="0">
                <a:solidFill>
                  <a:srgbClr val="4CAF50"/>
                </a:solidFill>
                <a:effectLst>
                  <a:outerShdw blurRad="38100" dist="38100" dir="2700000" algn="tl">
                    <a:srgbClr val="000000">
                      <a:alpha val="43137"/>
                    </a:srgbClr>
                  </a:outerShdw>
                </a:effectLst>
                <a:uFillTx/>
                <a:latin typeface="Calibri"/>
              </a:rPr>
              <a:t> </a:t>
            </a:r>
            <a:r>
              <a:rPr lang="en-US" sz="2000" b="1" u="none" strike="noStrike" dirty="0" err="1">
                <a:solidFill>
                  <a:srgbClr val="4CAF50"/>
                </a:solidFill>
                <a:effectLst>
                  <a:outerShdw blurRad="38100" dist="38100" dir="2700000" algn="tl">
                    <a:srgbClr val="000000">
                      <a:alpha val="43137"/>
                    </a:srgbClr>
                  </a:outerShdw>
                </a:effectLst>
                <a:uFillTx/>
                <a:latin typeface="Calibri"/>
              </a:rPr>
              <a:t>ponad</a:t>
            </a:r>
            <a:r>
              <a:rPr lang="en-US" sz="2000" b="1" u="none" strike="noStrike" dirty="0">
                <a:solidFill>
                  <a:srgbClr val="4CAF50"/>
                </a:solidFill>
                <a:effectLst>
                  <a:outerShdw blurRad="38100" dist="38100" dir="2700000" algn="tl">
                    <a:srgbClr val="000000">
                      <a:alpha val="43137"/>
                    </a:srgbClr>
                  </a:outerShdw>
                </a:effectLst>
                <a:uFillTx/>
                <a:latin typeface="Calibri"/>
              </a:rPr>
              <a:t> </a:t>
            </a:r>
            <a:r>
              <a:rPr lang="en-US" sz="2000" b="1" u="none" strike="noStrike" dirty="0" err="1">
                <a:solidFill>
                  <a:srgbClr val="4CAF50"/>
                </a:solidFill>
                <a:effectLst>
                  <a:outerShdw blurRad="38100" dist="38100" dir="2700000" algn="tl">
                    <a:srgbClr val="000000">
                      <a:alpha val="43137"/>
                    </a:srgbClr>
                  </a:outerShdw>
                </a:effectLst>
                <a:uFillTx/>
                <a:latin typeface="Calibri"/>
              </a:rPr>
              <a:t>procesy</a:t>
            </a:r>
            <a:endParaRPr lang="pl-PL" sz="2000" b="0" u="none" strike="noStrike" dirty="0">
              <a:solidFill>
                <a:srgbClr val="FFFFFF"/>
              </a:solidFill>
              <a:effectLst>
                <a:outerShdw blurRad="38100" dist="38100" dir="2700000" algn="tl">
                  <a:srgbClr val="000000">
                    <a:alpha val="43137"/>
                  </a:srgbClr>
                </a:outerShdw>
              </a:effectLst>
              <a:uFillTx/>
              <a:latin typeface="Arial"/>
            </a:endParaRPr>
          </a:p>
        </p:txBody>
      </p:sp>
      <p:sp>
        <p:nvSpPr>
          <p:cNvPr id="1108" name="Text 21"/>
          <p:cNvSpPr/>
          <p:nvPr/>
        </p:nvSpPr>
        <p:spPr>
          <a:xfrm>
            <a:off x="941760" y="2423160"/>
            <a:ext cx="3629160" cy="65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dirty="0" err="1">
                <a:solidFill>
                  <a:srgbClr val="FFFFFF"/>
                </a:solidFill>
                <a:effectLst/>
                <a:uFillTx/>
                <a:latin typeface="Calibri"/>
              </a:rPr>
              <a:t>Najlepszy</a:t>
            </a:r>
            <a:r>
              <a:rPr lang="en-US" sz="1400" b="0" u="none" strike="noStrike" dirty="0">
                <a:solidFill>
                  <a:srgbClr val="FFFFFF"/>
                </a:solidFill>
                <a:effectLst/>
                <a:uFillTx/>
                <a:latin typeface="Calibri"/>
              </a:rPr>
              <a:t> stack </a:t>
            </a:r>
            <a:r>
              <a:rPr lang="en-US" sz="1400" b="0" u="none" strike="noStrike" dirty="0" err="1">
                <a:solidFill>
                  <a:srgbClr val="FFFFFF"/>
                </a:solidFill>
                <a:effectLst/>
                <a:uFillTx/>
                <a:latin typeface="Calibri"/>
              </a:rPr>
              <a:t>technologiczny</a:t>
            </a:r>
            <a:r>
              <a:rPr lang="en-US" sz="1400" b="0" u="none" strike="noStrike" dirty="0">
                <a:solidFill>
                  <a:srgbClr val="FFFFFF"/>
                </a:solidFill>
                <a:effectLst/>
                <a:uFillTx/>
                <a:latin typeface="Calibri"/>
              </a:rPr>
              <a:t> </a:t>
            </a:r>
            <a:r>
              <a:rPr lang="en-US" sz="1400" b="0" u="none" strike="noStrike" dirty="0" err="1">
                <a:solidFill>
                  <a:srgbClr val="FFFFFF"/>
                </a:solidFill>
                <a:effectLst/>
                <a:uFillTx/>
                <a:latin typeface="Calibri"/>
              </a:rPr>
              <a:t>nie</a:t>
            </a:r>
            <a:r>
              <a:rPr lang="en-US" sz="1400" b="0" u="none" strike="noStrike" dirty="0">
                <a:solidFill>
                  <a:srgbClr val="FFFFFF"/>
                </a:solidFill>
                <a:effectLst/>
                <a:uFillTx/>
                <a:latin typeface="Calibri"/>
              </a:rPr>
              <a:t> </a:t>
            </a:r>
            <a:r>
              <a:rPr lang="en-US" sz="1400" b="0" u="none" strike="noStrike" dirty="0" err="1">
                <a:solidFill>
                  <a:srgbClr val="FFFFFF"/>
                </a:solidFill>
                <a:effectLst/>
                <a:uFillTx/>
                <a:latin typeface="Calibri"/>
              </a:rPr>
              <a:t>zastąpi</a:t>
            </a:r>
            <a:r>
              <a:rPr lang="en-US" sz="1400" b="0" u="none" strike="noStrike" dirty="0">
                <a:solidFill>
                  <a:srgbClr val="FFFFFF"/>
                </a:solidFill>
                <a:effectLst/>
                <a:uFillTx/>
                <a:latin typeface="Calibri"/>
              </a:rPr>
              <a:t> </a:t>
            </a:r>
            <a:r>
              <a:rPr lang="pl-PL" sz="1400" b="0" u="none" strike="noStrike" dirty="0" smtClean="0">
                <a:solidFill>
                  <a:srgbClr val="FFFFFF"/>
                </a:solidFill>
                <a:effectLst/>
                <a:uFillTx/>
                <a:latin typeface="Calibri"/>
              </a:rPr>
              <a:t>dobrego</a:t>
            </a:r>
            <a:r>
              <a:rPr lang="en-US" sz="1400" b="0" u="none" strike="noStrike" dirty="0" smtClean="0">
                <a:solidFill>
                  <a:srgbClr val="FFFFFF"/>
                </a:solidFill>
                <a:effectLst/>
                <a:uFillTx/>
                <a:latin typeface="Calibri"/>
              </a:rPr>
              <a:t> </a:t>
            </a:r>
            <a:r>
              <a:rPr lang="en-US" sz="1400" b="0" u="none" strike="noStrike" dirty="0" err="1">
                <a:solidFill>
                  <a:srgbClr val="FFFFFF"/>
                </a:solidFill>
                <a:effectLst/>
                <a:uFillTx/>
                <a:latin typeface="Calibri"/>
              </a:rPr>
              <a:t>zespołu</a:t>
            </a:r>
            <a:r>
              <a:rPr lang="en-US" sz="1400" b="0" u="none" strike="noStrike" dirty="0">
                <a:solidFill>
                  <a:srgbClr val="FFFFFF"/>
                </a:solidFill>
                <a:effectLst/>
                <a:uFillTx/>
                <a:latin typeface="Calibri"/>
              </a:rPr>
              <a:t> z </a:t>
            </a:r>
            <a:r>
              <a:rPr lang="en-US" sz="1400" b="0" u="none" strike="noStrike" dirty="0" err="1">
                <a:solidFill>
                  <a:srgbClr val="FFFFFF"/>
                </a:solidFill>
                <a:effectLst/>
                <a:uFillTx/>
                <a:latin typeface="Calibri"/>
              </a:rPr>
              <a:t>jasną</a:t>
            </a:r>
            <a:r>
              <a:rPr lang="en-US" sz="1400" b="0" u="none" strike="noStrike" dirty="0">
                <a:solidFill>
                  <a:srgbClr val="FFFFFF"/>
                </a:solidFill>
                <a:effectLst/>
                <a:uFillTx/>
                <a:latin typeface="Calibri"/>
              </a:rPr>
              <a:t> </a:t>
            </a:r>
            <a:r>
              <a:rPr lang="en-US" sz="1400" b="0" u="none" strike="noStrike" dirty="0" err="1">
                <a:solidFill>
                  <a:srgbClr val="FFFFFF"/>
                </a:solidFill>
                <a:effectLst/>
                <a:uFillTx/>
                <a:latin typeface="Calibri"/>
              </a:rPr>
              <a:t>wizją</a:t>
            </a:r>
            <a:r>
              <a:rPr lang="en-US" sz="1400" b="0" u="none" strike="noStrike" dirty="0">
                <a:solidFill>
                  <a:srgbClr val="FFFFFF"/>
                </a:solidFill>
                <a:effectLst/>
                <a:uFillTx/>
                <a:latin typeface="Calibri"/>
              </a:rPr>
              <a:t> </a:t>
            </a:r>
            <a:r>
              <a:rPr lang="en-US" sz="1400" b="0" u="none" strike="noStrike" dirty="0" err="1">
                <a:solidFill>
                  <a:srgbClr val="FFFFFF"/>
                </a:solidFill>
                <a:effectLst/>
                <a:uFillTx/>
                <a:latin typeface="Calibri"/>
              </a:rPr>
              <a:t>i</a:t>
            </a:r>
            <a:r>
              <a:rPr lang="en-US" sz="1400" b="0" u="none" strike="noStrike" dirty="0">
                <a:solidFill>
                  <a:srgbClr val="FFFFFF"/>
                </a:solidFill>
                <a:effectLst/>
                <a:uFillTx/>
                <a:latin typeface="Calibri"/>
              </a:rPr>
              <a:t> </a:t>
            </a:r>
            <a:r>
              <a:rPr lang="en-US" sz="1400" b="0" u="none" strike="noStrike" dirty="0" err="1">
                <a:solidFill>
                  <a:srgbClr val="FFFFFF"/>
                </a:solidFill>
                <a:effectLst/>
                <a:uFillTx/>
                <a:latin typeface="Calibri"/>
              </a:rPr>
              <a:t>dobrym</a:t>
            </a:r>
            <a:r>
              <a:rPr lang="en-US" sz="1400" b="0" u="none" strike="noStrike" dirty="0">
                <a:solidFill>
                  <a:srgbClr val="FFFFFF"/>
                </a:solidFill>
                <a:effectLst/>
                <a:uFillTx/>
                <a:latin typeface="Calibri"/>
              </a:rPr>
              <a:t> </a:t>
            </a:r>
            <a:r>
              <a:rPr lang="en-US" sz="1400" b="0" u="none" strike="noStrike" dirty="0" err="1">
                <a:solidFill>
                  <a:srgbClr val="FFFFFF"/>
                </a:solidFill>
                <a:effectLst/>
                <a:uFillTx/>
                <a:latin typeface="Calibri"/>
              </a:rPr>
              <a:t>liderem</a:t>
            </a:r>
            <a:r>
              <a:rPr lang="en-US" sz="1400" b="0" u="none" strike="noStrike" dirty="0">
                <a:solidFill>
                  <a:srgbClr val="FFFFFF"/>
                </a:solidFill>
                <a:effectLst/>
                <a:uFillTx/>
                <a:latin typeface="Calibri"/>
              </a:rPr>
              <a:t>.</a:t>
            </a:r>
            <a:endParaRPr lang="pl-PL" sz="1400" b="0" u="none" strike="noStrike" dirty="0">
              <a:solidFill>
                <a:srgbClr val="FFFFFF"/>
              </a:solidFill>
              <a:effectLst/>
              <a:uFillTx/>
              <a:latin typeface="Arial"/>
            </a:endParaRPr>
          </a:p>
        </p:txBody>
      </p:sp>
      <p:sp>
        <p:nvSpPr>
          <p:cNvPr id="1109" name="Shape 22"/>
          <p:cNvSpPr/>
          <p:nvPr/>
        </p:nvSpPr>
        <p:spPr>
          <a:xfrm>
            <a:off x="4837320" y="1984320"/>
            <a:ext cx="3921840" cy="1165680"/>
          </a:xfrm>
          <a:prstGeom prst="rect">
            <a:avLst/>
          </a:prstGeom>
          <a:solidFill>
            <a:srgbClr val="0A2540"/>
          </a:solidFill>
          <a:ln w="889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10" name="Shape 23"/>
          <p:cNvSpPr/>
          <p:nvPr/>
        </p:nvSpPr>
        <p:spPr>
          <a:xfrm>
            <a:off x="4837320" y="1984320"/>
            <a:ext cx="63000" cy="1165680"/>
          </a:xfrm>
          <a:prstGeom prst="rect">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11" name="Shape 24"/>
          <p:cNvSpPr/>
          <p:nvPr/>
        </p:nvSpPr>
        <p:spPr>
          <a:xfrm>
            <a:off x="4974480" y="2094120"/>
            <a:ext cx="346320" cy="346320"/>
          </a:xfrm>
          <a:prstGeom prst="roundRect">
            <a:avLst>
              <a:gd name="adj" fmla="val 21053"/>
            </a:avLst>
          </a:prstGeom>
          <a:solidFill>
            <a:srgbClr val="7C4DFF"/>
          </a:solidFill>
          <a:ln w="12700">
            <a:solidFill>
              <a:srgbClr val="7C4D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12" name="Text 25"/>
          <p:cNvSpPr/>
          <p:nvPr/>
        </p:nvSpPr>
        <p:spPr>
          <a:xfrm>
            <a:off x="4974480" y="2094120"/>
            <a:ext cx="3463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rPr>
              <a:t>4</a:t>
            </a:r>
            <a:endParaRPr lang="pl-PL" sz="1500" b="0" u="none" strike="noStrike">
              <a:solidFill>
                <a:srgbClr val="FFFFFF"/>
              </a:solidFill>
              <a:effectLst/>
              <a:uFillTx/>
              <a:latin typeface="Arial"/>
            </a:endParaRPr>
          </a:p>
        </p:txBody>
      </p:sp>
      <p:sp>
        <p:nvSpPr>
          <p:cNvPr id="1113" name="Text 26"/>
          <p:cNvSpPr/>
          <p:nvPr/>
        </p:nvSpPr>
        <p:spPr>
          <a:xfrm>
            <a:off x="5459040" y="2094120"/>
            <a:ext cx="31953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dirty="0">
                <a:solidFill>
                  <a:srgbClr val="A191CF"/>
                </a:solidFill>
                <a:effectLst>
                  <a:outerShdw blurRad="38100" dist="38100" dir="2700000" algn="tl">
                    <a:srgbClr val="000000">
                      <a:alpha val="43137"/>
                    </a:srgbClr>
                  </a:outerShdw>
                </a:effectLst>
                <a:uFillTx/>
                <a:latin typeface="Calibri"/>
              </a:rPr>
              <a:t>Mierz wszystko</a:t>
            </a:r>
            <a:endParaRPr lang="pl-PL" sz="2000" b="0" u="none" strike="noStrike" dirty="0">
              <a:solidFill>
                <a:srgbClr val="A191CF"/>
              </a:solidFill>
              <a:effectLst>
                <a:outerShdw blurRad="38100" dist="38100" dir="2700000" algn="tl">
                  <a:srgbClr val="000000">
                    <a:alpha val="43137"/>
                  </a:srgbClr>
                </a:outerShdw>
              </a:effectLst>
              <a:uFillTx/>
              <a:latin typeface="Arial"/>
            </a:endParaRPr>
          </a:p>
        </p:txBody>
      </p:sp>
      <p:sp>
        <p:nvSpPr>
          <p:cNvPr id="1114" name="Text 27"/>
          <p:cNvSpPr/>
          <p:nvPr/>
        </p:nvSpPr>
        <p:spPr>
          <a:xfrm>
            <a:off x="5326920" y="2544885"/>
            <a:ext cx="3327480" cy="479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spc="-60" dirty="0">
                <a:solidFill>
                  <a:srgbClr val="FFFFFF"/>
                </a:solidFill>
                <a:effectLst/>
                <a:uFillTx/>
                <a:latin typeface="Calibri"/>
              </a:rPr>
              <a:t>AARRR, OKR, DORA metrics (Deployment Frequency, Lead Time, MTTR, Change Failure Rate).</a:t>
            </a:r>
            <a:endParaRPr lang="pl-PL" sz="1400" b="0" u="none" strike="noStrike" dirty="0">
              <a:solidFill>
                <a:srgbClr val="FFFFFF"/>
              </a:solidFill>
              <a:effectLst/>
              <a:uFillTx/>
              <a:latin typeface="Arial"/>
            </a:endParaRPr>
          </a:p>
        </p:txBody>
      </p:sp>
      <p:sp>
        <p:nvSpPr>
          <p:cNvPr id="1115" name="Shape 28"/>
          <p:cNvSpPr/>
          <p:nvPr/>
        </p:nvSpPr>
        <p:spPr>
          <a:xfrm>
            <a:off x="384120" y="3277815"/>
            <a:ext cx="4314960" cy="991080"/>
          </a:xfrm>
          <a:prstGeom prst="rect">
            <a:avLst/>
          </a:prstGeom>
          <a:solidFill>
            <a:srgbClr val="0A2540"/>
          </a:solidFill>
          <a:ln w="889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16" name="Shape 29"/>
          <p:cNvSpPr/>
          <p:nvPr/>
        </p:nvSpPr>
        <p:spPr>
          <a:xfrm>
            <a:off x="384120" y="3277815"/>
            <a:ext cx="63000" cy="991080"/>
          </a:xfrm>
          <a:prstGeom prst="rect">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117" name="Shape 30"/>
          <p:cNvSpPr/>
          <p:nvPr/>
        </p:nvSpPr>
        <p:spPr>
          <a:xfrm>
            <a:off x="521280" y="3387615"/>
            <a:ext cx="346320" cy="346320"/>
          </a:xfrm>
          <a:prstGeom prst="roundRect">
            <a:avLst>
              <a:gd name="adj" fmla="val 21053"/>
            </a:avLst>
          </a:prstGeom>
          <a:solidFill>
            <a:srgbClr val="FFB300"/>
          </a:solidFill>
          <a:ln w="12700">
            <a:solidFill>
              <a:srgbClr val="FFB3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000000"/>
              </a:solidFill>
              <a:effectLst/>
              <a:uFillTx/>
              <a:latin typeface="Arial"/>
            </a:endParaRPr>
          </a:p>
        </p:txBody>
      </p:sp>
      <p:sp>
        <p:nvSpPr>
          <p:cNvPr id="1118" name="Text 31"/>
          <p:cNvSpPr/>
          <p:nvPr/>
        </p:nvSpPr>
        <p:spPr>
          <a:xfrm>
            <a:off x="521280" y="3387615"/>
            <a:ext cx="3463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rPr>
              <a:t>5</a:t>
            </a:r>
            <a:endParaRPr lang="pl-PL" sz="1500" b="0" u="none" strike="noStrike">
              <a:solidFill>
                <a:srgbClr val="FFFFFF"/>
              </a:solidFill>
              <a:effectLst/>
              <a:uFillTx/>
              <a:latin typeface="Arial"/>
            </a:endParaRPr>
          </a:p>
        </p:txBody>
      </p:sp>
      <p:sp>
        <p:nvSpPr>
          <p:cNvPr id="1119" name="Text 32"/>
          <p:cNvSpPr/>
          <p:nvPr/>
        </p:nvSpPr>
        <p:spPr>
          <a:xfrm>
            <a:off x="1005840" y="3387615"/>
            <a:ext cx="356508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u="none" strike="noStrike">
                <a:solidFill>
                  <a:srgbClr val="FFB300"/>
                </a:solidFill>
                <a:effectLst>
                  <a:outerShdw blurRad="38100" dist="38100" dir="2700000" algn="tl">
                    <a:srgbClr val="000000">
                      <a:alpha val="43137"/>
                    </a:srgbClr>
                  </a:outerShdw>
                </a:effectLst>
                <a:uFillTx/>
                <a:latin typeface="Calibri"/>
              </a:rPr>
              <a:t>Iteruj szybko, myśl długo</a:t>
            </a:r>
            <a:endParaRPr lang="pl-PL" sz="2000" b="0" u="none" strike="noStrike">
              <a:solidFill>
                <a:srgbClr val="FFFFFF"/>
              </a:solidFill>
              <a:effectLst>
                <a:outerShdw blurRad="38100" dist="38100" dir="2700000" algn="tl">
                  <a:srgbClr val="000000">
                    <a:alpha val="43137"/>
                  </a:srgbClr>
                </a:outerShdw>
              </a:effectLst>
              <a:uFillTx/>
              <a:latin typeface="Arial"/>
            </a:endParaRPr>
          </a:p>
        </p:txBody>
      </p:sp>
      <p:sp>
        <p:nvSpPr>
          <p:cNvPr id="1120" name="Text 33"/>
          <p:cNvSpPr/>
          <p:nvPr/>
        </p:nvSpPr>
        <p:spPr>
          <a:xfrm>
            <a:off x="1005840" y="3716655"/>
            <a:ext cx="3565080" cy="447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FFFFFF"/>
                </a:solidFill>
                <a:effectLst/>
                <a:uFillTx/>
                <a:latin typeface="Calibri"/>
              </a:rPr>
              <a:t>Małe częste releasy, duże strategiczne decyzje rzadziej. Build-Measure-Learn loop.</a:t>
            </a:r>
            <a:endParaRPr lang="pl-PL" sz="1400" b="0" u="none" strike="noStrike">
              <a:solidFill>
                <a:srgbClr val="FFFFFF"/>
              </a:solidFill>
              <a:effectLst/>
              <a:uFillTx/>
              <a:latin typeface="Arial"/>
            </a:endParaRPr>
          </a:p>
        </p:txBody>
      </p:sp>
      <p:sp>
        <p:nvSpPr>
          <p:cNvPr id="1121" name="Shape 34"/>
          <p:cNvSpPr/>
          <p:nvPr/>
        </p:nvSpPr>
        <p:spPr>
          <a:xfrm>
            <a:off x="4837320" y="3277815"/>
            <a:ext cx="3921840" cy="991080"/>
          </a:xfrm>
          <a:prstGeom prst="rect">
            <a:avLst/>
          </a:prstGeom>
          <a:solidFill>
            <a:srgbClr val="0A2540"/>
          </a:solidFill>
          <a:ln w="889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22" name="Shape 35"/>
          <p:cNvSpPr/>
          <p:nvPr/>
        </p:nvSpPr>
        <p:spPr>
          <a:xfrm>
            <a:off x="4837320" y="3277815"/>
            <a:ext cx="63000" cy="991080"/>
          </a:xfrm>
          <a:prstGeom prst="rect">
            <a:avLst/>
          </a:prstGeom>
          <a:solidFill>
            <a:srgbClr val="E91E8C"/>
          </a:solidFill>
          <a:ln w="1270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23" name="Shape 36"/>
          <p:cNvSpPr/>
          <p:nvPr/>
        </p:nvSpPr>
        <p:spPr>
          <a:xfrm>
            <a:off x="4974480" y="3387615"/>
            <a:ext cx="346320" cy="346320"/>
          </a:xfrm>
          <a:prstGeom prst="roundRect">
            <a:avLst>
              <a:gd name="adj" fmla="val 21053"/>
            </a:avLst>
          </a:prstGeom>
          <a:solidFill>
            <a:srgbClr val="E91E8C"/>
          </a:solidFill>
          <a:ln w="12700">
            <a:solidFill>
              <a:srgbClr val="E91E8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pl-PL" sz="1800" b="0" u="none" strike="noStrike">
              <a:solidFill>
                <a:srgbClr val="FFFFFF"/>
              </a:solidFill>
              <a:effectLst/>
              <a:uFillTx/>
              <a:latin typeface="Arial"/>
            </a:endParaRPr>
          </a:p>
        </p:txBody>
      </p:sp>
      <p:sp>
        <p:nvSpPr>
          <p:cNvPr id="1124" name="Text 37"/>
          <p:cNvSpPr/>
          <p:nvPr/>
        </p:nvSpPr>
        <p:spPr>
          <a:xfrm>
            <a:off x="4974480" y="3387615"/>
            <a:ext cx="3463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FFFFF"/>
                </a:solidFill>
                <a:effectLst/>
                <a:uFillTx/>
                <a:latin typeface="Calibri"/>
              </a:rPr>
              <a:t>6</a:t>
            </a:r>
            <a:endParaRPr lang="pl-PL" sz="1500" b="0" u="none" strike="noStrike">
              <a:solidFill>
                <a:srgbClr val="FFFFFF"/>
              </a:solidFill>
              <a:effectLst/>
              <a:uFillTx/>
              <a:latin typeface="Arial"/>
            </a:endParaRPr>
          </a:p>
        </p:txBody>
      </p:sp>
      <p:sp>
        <p:nvSpPr>
          <p:cNvPr id="1125" name="Text 38"/>
          <p:cNvSpPr/>
          <p:nvPr/>
        </p:nvSpPr>
        <p:spPr>
          <a:xfrm>
            <a:off x="5459040" y="3387615"/>
            <a:ext cx="3195360" cy="27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pl-PL" sz="2000" b="1" u="none" strike="noStrike">
                <a:solidFill>
                  <a:srgbClr val="E91E8C"/>
                </a:solidFill>
                <a:effectLst>
                  <a:outerShdw blurRad="38100" dist="38100" dir="2700000" algn="tl">
                    <a:srgbClr val="000000">
                      <a:alpha val="43137"/>
                    </a:srgbClr>
                  </a:outerShdw>
                </a:effectLst>
                <a:uFillTx/>
                <a:latin typeface="Calibri"/>
              </a:rPr>
              <a:t>Dług techniczny == hipoteka</a:t>
            </a:r>
            <a:endParaRPr lang="pl-PL" sz="2000" b="0" u="none" strike="noStrike">
              <a:solidFill>
                <a:srgbClr val="FFFFFF"/>
              </a:solidFill>
              <a:effectLst>
                <a:outerShdw blurRad="38100" dist="38100" dir="2700000" algn="tl">
                  <a:srgbClr val="000000">
                    <a:alpha val="43137"/>
                  </a:srgbClr>
                </a:outerShdw>
              </a:effectLst>
              <a:uFillTx/>
              <a:latin typeface="Arial"/>
            </a:endParaRPr>
          </a:p>
        </p:txBody>
      </p:sp>
      <p:sp>
        <p:nvSpPr>
          <p:cNvPr id="1126" name="Text 39"/>
          <p:cNvSpPr/>
          <p:nvPr/>
        </p:nvSpPr>
        <p:spPr>
          <a:xfrm>
            <a:off x="5459040" y="3716655"/>
            <a:ext cx="3263400" cy="447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400" b="0" u="none" strike="noStrike">
                <a:solidFill>
                  <a:srgbClr val="FFFFFF"/>
                </a:solidFill>
                <a:effectLst/>
                <a:uFillTx/>
                <a:latin typeface="Calibri"/>
              </a:rPr>
              <a:t>Spłacaj regularnie 20% sprintu. Zaniedbany rośnie z odsetkami i spowalnia cały projekt.</a:t>
            </a:r>
            <a:endParaRPr lang="pl-PL" sz="1400" b="0" u="none" strike="noStrike">
              <a:solidFill>
                <a:srgbClr val="FFFFFF"/>
              </a:solidFill>
              <a:effectLst/>
              <a:uFillTx/>
              <a:latin typeface="Arial"/>
            </a:endParaRPr>
          </a:p>
        </p:txBody>
      </p:sp>
      <p:sp>
        <p:nvSpPr>
          <p:cNvPr id="1127" name="Shape 40"/>
          <p:cNvSpPr/>
          <p:nvPr/>
        </p:nvSpPr>
        <p:spPr>
          <a:xfrm>
            <a:off x="383760" y="4496145"/>
            <a:ext cx="8375400" cy="488505"/>
          </a:xfrm>
          <a:prstGeom prst="rect">
            <a:avLst/>
          </a:prstGeom>
          <a:solidFill>
            <a:srgbClr val="021530"/>
          </a:solidFill>
          <a:ln w="7620">
            <a:solidFill>
              <a:srgbClr val="00BCD4"/>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pl-PL" sz="1600" b="0" u="none" strike="noStrike" spc="-40" dirty="0">
                <a:solidFill>
                  <a:srgbClr val="8ECAE6"/>
                </a:solidFill>
                <a:effectLst/>
                <a:uFillTx/>
                <a:latin typeface="Calibri"/>
              </a:rPr>
              <a:t>"</a:t>
            </a:r>
            <a:r>
              <a:rPr lang="pl-PL" sz="1600" b="1" u="none" strike="noStrike" spc="-40" dirty="0" err="1">
                <a:solidFill>
                  <a:srgbClr val="8ECAE6"/>
                </a:solidFill>
                <a:effectLst/>
                <a:uFillTx/>
                <a:latin typeface="Calibri"/>
              </a:rPr>
              <a:t>Plans</a:t>
            </a:r>
            <a:r>
              <a:rPr lang="pl-PL" sz="1600" b="1" u="none" strike="noStrike" spc="-40" dirty="0">
                <a:solidFill>
                  <a:srgbClr val="8ECAE6"/>
                </a:solidFill>
                <a:effectLst/>
                <a:uFillTx/>
                <a:latin typeface="Calibri"/>
              </a:rPr>
              <a:t> </a:t>
            </a:r>
            <a:r>
              <a:rPr lang="pl-PL" sz="1600" b="1" u="none" strike="noStrike" spc="-40" dirty="0" err="1">
                <a:solidFill>
                  <a:srgbClr val="8ECAE6"/>
                </a:solidFill>
                <a:effectLst/>
                <a:uFillTx/>
                <a:latin typeface="Calibri"/>
              </a:rPr>
              <a:t>are</a:t>
            </a:r>
            <a:r>
              <a:rPr lang="pl-PL" sz="1600" b="1" u="none" strike="noStrike" spc="-40" dirty="0">
                <a:solidFill>
                  <a:srgbClr val="8ECAE6"/>
                </a:solidFill>
                <a:effectLst/>
                <a:uFillTx/>
                <a:latin typeface="Calibri"/>
              </a:rPr>
              <a:t> </a:t>
            </a:r>
            <a:r>
              <a:rPr lang="pl-PL" sz="1600" b="1" u="none" strike="noStrike" spc="-40" dirty="0" err="1">
                <a:solidFill>
                  <a:srgbClr val="8ECAE6"/>
                </a:solidFill>
                <a:effectLst/>
                <a:uFillTx/>
                <a:latin typeface="Calibri"/>
              </a:rPr>
              <a:t>worthless</a:t>
            </a:r>
            <a:r>
              <a:rPr lang="pl-PL" sz="1600" b="1" u="none" strike="noStrike" spc="-40" dirty="0">
                <a:solidFill>
                  <a:srgbClr val="8ECAE6"/>
                </a:solidFill>
                <a:effectLst/>
                <a:uFillTx/>
                <a:latin typeface="Calibri"/>
              </a:rPr>
              <a:t>, but </a:t>
            </a:r>
            <a:r>
              <a:rPr lang="pl-PL" sz="1600" b="1" u="none" strike="noStrike" spc="-40" dirty="0" err="1">
                <a:solidFill>
                  <a:srgbClr val="8ECAE6"/>
                </a:solidFill>
                <a:effectLst/>
                <a:uFillTx/>
                <a:latin typeface="Calibri"/>
              </a:rPr>
              <a:t>planning</a:t>
            </a:r>
            <a:r>
              <a:rPr lang="pl-PL" sz="1600" b="1" u="none" strike="noStrike" spc="-40" dirty="0">
                <a:solidFill>
                  <a:srgbClr val="8ECAE6"/>
                </a:solidFill>
                <a:effectLst/>
                <a:uFillTx/>
                <a:latin typeface="Calibri"/>
              </a:rPr>
              <a:t> </a:t>
            </a:r>
            <a:r>
              <a:rPr lang="pl-PL" sz="1600" b="1" u="none" strike="noStrike" spc="-40" dirty="0" err="1">
                <a:solidFill>
                  <a:srgbClr val="8ECAE6"/>
                </a:solidFill>
                <a:effectLst/>
                <a:uFillTx/>
                <a:latin typeface="Calibri"/>
              </a:rPr>
              <a:t>is</a:t>
            </a:r>
            <a:r>
              <a:rPr lang="pl-PL" sz="1600" b="1" u="none" strike="noStrike" spc="-40" dirty="0">
                <a:solidFill>
                  <a:srgbClr val="8ECAE6"/>
                </a:solidFill>
                <a:effectLst/>
                <a:uFillTx/>
                <a:latin typeface="Calibri"/>
              </a:rPr>
              <a:t> </a:t>
            </a:r>
            <a:r>
              <a:rPr lang="pl-PL" sz="1600" b="1" u="none" strike="noStrike" spc="-40" dirty="0" err="1">
                <a:solidFill>
                  <a:srgbClr val="8ECAE6"/>
                </a:solidFill>
                <a:effectLst/>
                <a:uFillTx/>
                <a:latin typeface="Calibri"/>
              </a:rPr>
              <a:t>everything</a:t>
            </a:r>
            <a:r>
              <a:rPr lang="pl-PL" sz="1600" b="0" u="none" strike="noStrike" spc="-40" dirty="0">
                <a:solidFill>
                  <a:srgbClr val="8ECAE6"/>
                </a:solidFill>
                <a:effectLst/>
                <a:uFillTx/>
                <a:latin typeface="Calibri"/>
              </a:rPr>
              <a:t>." - Dwight D. Eisenhower · </a:t>
            </a:r>
            <a:endParaRPr lang="pl-PL" sz="1600" b="0" u="none" strike="noStrike" spc="-40" dirty="0" smtClean="0">
              <a:solidFill>
                <a:srgbClr val="8ECAE6"/>
              </a:solidFill>
              <a:effectLst/>
              <a:uFillTx/>
              <a:latin typeface="Calibri"/>
            </a:endParaRPr>
          </a:p>
          <a:p>
            <a:pPr algn="ctr" defTabSz="914400">
              <a:lnSpc>
                <a:spcPct val="100000"/>
              </a:lnSpc>
            </a:pPr>
            <a:r>
              <a:rPr lang="pl-PL" sz="1600" b="0" u="none" strike="noStrike" spc="-40" dirty="0" smtClean="0">
                <a:solidFill>
                  <a:srgbClr val="8ECAE6"/>
                </a:solidFill>
                <a:effectLst/>
                <a:uFillTx/>
                <a:latin typeface="Calibri"/>
              </a:rPr>
              <a:t>Programowanie </a:t>
            </a:r>
            <a:r>
              <a:rPr lang="pl-PL" sz="1600" b="0" u="none" strike="noStrike" spc="-40" dirty="0">
                <a:solidFill>
                  <a:srgbClr val="8ECAE6"/>
                </a:solidFill>
                <a:effectLst/>
                <a:uFillTx/>
                <a:latin typeface="Calibri"/>
              </a:rPr>
              <a:t>aplikacji  wymaga tyle samo inżynierii organizacyjnej, co technicznej.</a:t>
            </a:r>
            <a:endParaRPr lang="pl-PL" sz="1600" b="0" u="none" strike="noStrike" dirty="0">
              <a:solidFill>
                <a:srgbClr val="FFFFFF"/>
              </a:solidFill>
              <a:effectLst/>
              <a:uFillTx/>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12833</Words>
  <Application>Microsoft Office PowerPoint</Application>
  <PresentationFormat>Pokaz na ekranie (16:9)</PresentationFormat>
  <Paragraphs>1004</Paragraphs>
  <Slides>33</Slides>
  <Notes>33</Notes>
  <HiddenSlides>0</HiddenSlides>
  <MMClips>0</MMClips>
  <ScaleCrop>false</ScaleCrop>
  <HeadingPairs>
    <vt:vector size="6" baseType="variant">
      <vt:variant>
        <vt:lpstr>Używane czcionki</vt:lpstr>
      </vt:variant>
      <vt:variant>
        <vt:i4>7</vt:i4>
      </vt:variant>
      <vt:variant>
        <vt:lpstr>Motyw</vt:lpstr>
      </vt:variant>
      <vt:variant>
        <vt:i4>1</vt:i4>
      </vt:variant>
      <vt:variant>
        <vt:lpstr>Tytuły slajdów</vt:lpstr>
      </vt:variant>
      <vt:variant>
        <vt:i4>33</vt:i4>
      </vt:variant>
    </vt:vector>
  </HeadingPairs>
  <TitlesOfParts>
    <vt:vector size="41" baseType="lpstr">
      <vt:lpstr>Arial</vt:lpstr>
      <vt:lpstr>Calibri</vt:lpstr>
      <vt:lpstr>Consolas</vt:lpstr>
      <vt:lpstr>DejaVu Sans</vt:lpstr>
      <vt:lpstr>Symbol</vt:lpstr>
      <vt:lpstr>Times New Roman</vt:lpstr>
      <vt:lpstr>Wingdings</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PAM – Projektowanie i Planowanie Aplikacji Mobilnych</dc:title>
  <dc:subject>PptxGenJS Presentation</dc:subject>
  <dc:creator>dr inz. Mateusz Pomianek</dc:creator>
  <dc:description/>
  <cp:lastModifiedBy>Mateusz Pomianek</cp:lastModifiedBy>
  <cp:revision>190</cp:revision>
  <dcterms:created xsi:type="dcterms:W3CDTF">2026-05-07T13:30:26Z</dcterms:created>
  <dcterms:modified xsi:type="dcterms:W3CDTF">2026-05-26T18:55:40Z</dcterms:modified>
  <dc:language>pl-PL</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30</vt:i4>
  </property>
  <property fmtid="{D5CDD505-2E9C-101B-9397-08002B2CF9AE}" pid="3" name="PresentationFormat">
    <vt:lpwstr>Pokaz na ekranie (16:9)</vt:lpwstr>
  </property>
  <property fmtid="{D5CDD505-2E9C-101B-9397-08002B2CF9AE}" pid="4" name="Slides">
    <vt:i4>30</vt:i4>
  </property>
</Properties>
</file>