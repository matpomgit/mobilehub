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062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rgbClr val="1A3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4F46E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344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ROBOTOW HUMANOIDALNYCH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</a:t>
            </a:r>
            <a:r>
              <a:rPr lang="pl-PL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20040" y="1920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Bezpieczenstwo, certyfikacja
</a:t>
            </a:r>
            <a:r>
              <a:rPr lang="en-US" sz="15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wdrazanie systemow nawigacji humanoidow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2907792"/>
            <a:ext cx="576072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300405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4F46E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Normy ISO / IEC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3730A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monitoring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/ Validation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400" b="1" dirty="0" smtClean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Wdrożenie</a:t>
            </a:r>
            <a:r>
              <a:rPr lang="en-US" sz="1400" b="1" dirty="0" smtClean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 DevOps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wykladu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Normy i standardy: ISO 13482, IEC 61508, EN ISO 10218 </a:t>
            </a:r>
            <a:r>
              <a:rPr lang="en-US" sz="16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 formalne dla robotow usługowych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160520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Bezpieczenstwo w czasie wykonania: runtime monitors, fail-safe, conformal prediction, hardware e-stop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0088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i walidacja: HIL/SIL/PIL, scenariusze testowe, benchmarki, metryki jakosci nawigacji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90088"/>
            <a:ext cx="4160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0060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Wdrazanie i utrzymanie: architektura floty, OTA updates, monitoring operacyjny, etyka i perspektywy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4F46E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37350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Normy i standardy</a:t>
            </a:r>
            <a:endParaRPr lang="pl-PL" sz="3200" dirty="0" smtClean="0"/>
          </a:p>
          <a:p>
            <a:pPr marL="0" indent="0" algn="l">
              <a:buNone/>
            </a:pPr>
            <a:r>
              <a:rPr lang="pl-PL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bezpieczeństwa</a:t>
            </a:r>
            <a:endParaRPr lang="pl-PL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715768"/>
            <a:ext cx="393192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13482, IEC 61508, poziomy SIL/PLe i wymagania formalne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MOTYWACJA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normy bezpieczenstwa sa obowiazkowe?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97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71" y="1207008"/>
            <a:ext cx="8527709" cy="2646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humanoidalny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poruszający się wśród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ludzi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może zadać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uraz fizyczny lub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psychiczny; odpowiedzialność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prawna producenta</a:t>
            </a:r>
            <a:endParaRPr lang="pl-PL" sz="1400" spc="-6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Normy 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zmniejszają 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ryzyko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definiują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systematyczny proces identyfikacji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zagrożeń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(HAZOP, FMEA) i ich redukcji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ISO 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13482:2014: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norma dedykowana robotom usługowym (</a:t>
            </a:r>
            <a:r>
              <a:rPr lang="pl-PL" sz="1400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personal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care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robots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); obejmuje wymogi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bezpieczeństwa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fizycznego i funkcjonalnego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IEC </a:t>
            </a:r>
            <a:r>
              <a:rPr lang="pl-PL" sz="1400" b="1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61508: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bezpieczeństwo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funkcjonalne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systemów 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elektrycznych i elektronicznych; definiuje poziomy SIL (</a:t>
            </a:r>
            <a:r>
              <a:rPr lang="pl-PL" sz="1400" spc="-6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Safety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Integrity</a:t>
            </a:r>
            <a:r>
              <a:rPr lang="pl-PL" sz="1400" spc="-6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Level)</a:t>
            </a:r>
            <a:endParaRPr lang="pl-PL" sz="1400" spc="-6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EN ISO 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10218-1/2: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bezpieczeństwo robotów przemysłowych;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stosowany gdy </a:t>
            </a:r>
            <a:r>
              <a:rPr lang="pl-PL" sz="1400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pracuje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wspólnie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 operatorem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CE </a:t>
            </a:r>
            <a:r>
              <a:rPr lang="pl-PL" sz="1400" b="1" spc="-4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Marking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(dyrektywa maszynowa 2006/42/WE):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warunek konieczny do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sprzedaży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robota w UE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Brak certyfikatu = zakaz </a:t>
            </a:r>
            <a:r>
              <a:rPr lang="pl-PL" sz="1400" b="1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używania </a:t>
            </a:r>
            <a:r>
              <a:rPr lang="pl-PL" sz="1400" spc="-4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 przestrzeniach publicznych i szpitalach w Polsce i UE</a:t>
            </a:r>
            <a:endParaRPr lang="pl-PL" sz="1400" spc="-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SIL / PL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Poziomy nienaruszalnosci bezpieczenstwa SIL i 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4341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</a:t>
            </a:r>
            <a:r>
              <a:rPr lang="pl-PL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Integrity Level (IEC 61508)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5316" y="1572768"/>
            <a:ext cx="3888356" cy="2843115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1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prawdopodobieństwo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awarii niebezpiecznej 10^-5 - 10^-6/h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robot w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zamkniętej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strefie)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2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10^-6 - 10^-7/h; wymagany dla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 współpracujących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operatorem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3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10^-7 - 10^-8/h; roboty medyczne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infrastrukturze krytycznej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4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&lt; 10^-8/h; lotnictwo, energetyka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jądrowa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praktycznie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nieosiągalny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robotyce mobilnej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Wyznaczyć </a:t>
            </a: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 jednostka notyfikowana; wymaga analizy FMEA i FTA</a:t>
            </a:r>
            <a:endParaRPr lang="pl-PL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60520" cy="34341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15568"/>
            <a:ext cx="4160520" cy="38404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</a:t>
            </a:r>
            <a:r>
              <a:rPr lang="pl-PL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Level (EN ISO 13849)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80156" y="1572768"/>
            <a:ext cx="3888356" cy="2843115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a-e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najniższego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najwyższego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poziomu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niezawodności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bezpieczeństwa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MTTFd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100 lat; DC &gt;= 99%; wymagany dla e-stop i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 mobilnego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MTTFd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30-100 lat; DC &gt;= 90%; typowy dla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ograniczników prędkości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</a:t>
            </a:r>
            <a:r>
              <a:rPr lang="pl-PL" sz="140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testy starzeniowe, analiza FMEA, audyt przez TUV lub notyfikowana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jednostkę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</a:t>
            </a: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 </a:t>
            </a: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redundancji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dwa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niezależne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czujniki kontaktu lub dwa CPU</a:t>
            </a:r>
            <a:endParaRPr lang="pl-PL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HAZOP / FMEA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ryzyka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 i FMEA dla humanoida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315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0102"/>
            <a:ext cx="8047464" cy="3164269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 (Hazard and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systematyczne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wszystkich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węzłów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 pod katem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odchyleń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normalnej pracy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HAZOP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"robot nie wykryje pieszego" -&gt;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zagrożeń: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kolizja -&gt; przyczyna: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zaślepiony 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bariera: redundantna kamera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(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Analysis):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tabelaryczna analiza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trybów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awarii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każdego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komponentu i ich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skutków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FMEA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 - powaga skutku (1-10), O -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wystąpienia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(1-10), D -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wykrywalność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(1-10)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= S × O × D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komponenty z RPN &gt; 100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wymagają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natychmiastowej modyfikacji lub redundancji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humanoida krytyczne komponenty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IMU, 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system e-stop, 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aktuatory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bioder i kolan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 dla CE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analizy ryzyka przed pierwszym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wdrożeniem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publicznym</a:t>
            </a:r>
            <a:endParaRPr lang="pl-PL" sz="1400"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ISO 13482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Wymagania ISO 13482 dla robota nawigujacego wsrod ludzi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Ograniczenie predkosci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80921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0,5 m/s w trybie współpracy; max 1,5 m/s w strefie wydzielonej. Nadzór sprzętowy.</a:t>
            </a:r>
            <a:endParaRPr lang="pl-PL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70432"/>
            <a:ext cx="2651760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61872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Sily kontaktowe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880921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Siła nacisku &lt; 50 N na dowolna część ciała; &lt; 35 N dla głowy i szyi. Czujnik F/T obowiązkowy.</a:t>
            </a:r>
            <a:endParaRPr lang="pl-PL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70432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61872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Zatrzymanie awaryjne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880921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E-stop: zatrzymanie w &lt; 500 ms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wciśnięcia przycisku; </a:t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możliwość ręcznego zatrzymania przez operatora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0088"/>
            <a:ext cx="2651760" cy="54864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81528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czlowieka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3700577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musi wykryć osobę w strefie bezpieczeństwa 1 m i zareagować w &lt; 200 ms.</a:t>
            </a:r>
            <a:endParaRPr lang="pl-PL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9008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90088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081528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Instrukcje i oznakowanie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46120" y="3700577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Podręcznik użytkownika, etykiety ostrzegawcze, sygnały dźwiękowe i świetlne dla każdego trybu.</a:t>
            </a:r>
            <a:endParaRPr lang="pl-PL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9008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90088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081528"/>
            <a:ext cx="2468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Walidacja eksperymentalna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3700577"/>
            <a:ext cx="246888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1000 h testów w środowiskach reprezentatywnych przed certyfikatem; log incydentów.</a:t>
            </a:r>
            <a:endParaRPr lang="pl-PL" sz="1400" spc="-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3730A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Bezpieczenstwo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czasie wykonania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715768"/>
            <a:ext cx="3931920" cy="2743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monitors, fail-safe, conformal prediction, e-stop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ARCHITEKTURA SAFETY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bezpieczeństwa </a:t>
            </a:r>
            <a:r>
              <a:rPr lang="pl-PL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warstwy nadzoru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394960" cy="656539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192024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1: sprzet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170432"/>
            <a:ext cx="310896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 hardware e-stop; wylamywacze momentow; enkodery redundantne; zasilanie awaryjne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36115"/>
            <a:ext cx="54864" cy="91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36699"/>
            <a:ext cx="5394960" cy="656539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36699"/>
            <a:ext cx="192024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2: RTOS watchdog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1936699"/>
            <a:ext cx="310896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Dedykowany MCU 1 kHz; nadzoruje komunikacje z aktuatorami; resetuje przy braku heartbeat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602382"/>
            <a:ext cx="54864" cy="91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02966"/>
            <a:ext cx="5394960" cy="656539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702966"/>
            <a:ext cx="192024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3: safety monitor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2702966"/>
            <a:ext cx="310896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ROS 2 lifecycle; sprawdza ZMP, predkosc, strefe bezpieczna; veto dla planner/controller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68650"/>
            <a:ext cx="54864" cy="91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69234"/>
            <a:ext cx="5394960" cy="656539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69234"/>
            <a:ext cx="192024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4: runtime verif.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3469234"/>
            <a:ext cx="310896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lub formalne monitory STL/MTL; certyfikuje ze P(naruszenie) &lt; delta w trybie online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34917"/>
            <a:ext cx="54864" cy="91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5501"/>
            <a:ext cx="5394960" cy="656539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5501"/>
            <a:ext cx="192024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5: operator HMI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4235501"/>
            <a:ext cx="3108960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z alertami; tele-operacja awaryjna; przycisk stop zdalny przez WiFi / 4G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70432"/>
            <a:ext cx="292608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70432"/>
            <a:ext cx="2926080" cy="38404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14224" y="1627632"/>
            <a:ext cx="2855456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Każda warstwa działa niezależnie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Awaria wyższej -&gt; niższe przejma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Latencja: warstwy 1-2 &lt; 1 ms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Warstwy 3-4: &lt; 10 ms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Warstwa 5: akceptowalne &gt; 100 ms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Testy redundancji co 24h w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deploymencie</a:t>
            </a:r>
            <a:endParaRPr lang="pl-PL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CO MONITOROWAC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sprawdzac i kiedy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4056" y="1115568"/>
            <a:ext cx="8743300" cy="264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5566" y="1207008"/>
            <a:ext cx="8595360" cy="255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liniowa i 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kątowa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&lt;= </a:t>
            </a:r>
            <a:r>
              <a:rPr lang="pl-PL" sz="1400" spc="-5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|omega| &lt;= </a:t>
            </a:r>
            <a:r>
              <a:rPr lang="pl-PL" sz="1400" spc="-5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omega_max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sprzętowe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zabezpieczenie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momentów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przekroczeniu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 ZMP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ZMP wychodzi za wielobok podparcia o &gt; 1 cm przez &gt; 3 cykle (15 ms) -&gt; zmniejsz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upadku: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pl-PL" sz="1400" spc="-5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&gt; 45° lub |</a:t>
            </a:r>
            <a:r>
              <a:rPr lang="pl-PL" sz="1400" spc="-50" dirty="0" err="1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&gt; 45°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akcelerometr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&gt; 3g przez &gt; 50 ms -&gt; postura awaryjna</a:t>
            </a:r>
            <a:endParaRPr lang="pl-PL" sz="1400" spc="-50" dirty="0" smtClean="0">
              <a:solidFill>
                <a:schemeClr val="accent1"/>
              </a:solidFill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Strefa </a:t>
            </a: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bliskości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wykryty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m -&gt; stop natychmiastowy; &lt; 1.0 m -&gt; zwolnij do 0.3 m/s</a:t>
            </a:r>
            <a:endParaRPr lang="pl-PL" sz="1400" spc="-50" dirty="0" smtClean="0">
              <a:solidFill>
                <a:schemeClr val="accent1"/>
              </a:solidFill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</a:t>
            </a:r>
            <a:r>
              <a:rPr lang="pl-PL" sz="1400" b="1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aktuatorów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80°C -&gt; ogranicz moment do 50%; &gt; 90°C -&gt; zatrzymaj i wentyluj</a:t>
            </a:r>
            <a:endParaRPr lang="pl-PL" sz="1400" spc="-50" dirty="0" smtClean="0">
              <a:solidFill>
                <a:schemeClr val="accent1"/>
              </a:solidFill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Utrata polaczenia sensora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przez &gt; 50 ms -&gt; tryb degradacji 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reckoning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400" spc="-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stop)</a:t>
            </a:r>
            <a:endParaRPr lang="pl-PL" sz="1400" spc="-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Innowacja filtra EKF</a:t>
            </a:r>
            <a:r>
              <a:rPr lang="pl-PL" sz="1400" spc="-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&gt; chi2_95 przez &gt; 5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kroków </a:t>
            </a:r>
            <a:r>
              <a:rPr lang="pl-PL" sz="1400" spc="-5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reset lokalizacji i stop w bezpiecznej strefie</a:t>
            </a:r>
            <a:endParaRPr lang="pl-PL" sz="1400" spc="-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ROS 2 </a:t>
            </a:r>
            <a:r>
              <a:rPr lang="en-US" sz="2400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</a:t>
            </a:r>
            <a:r>
              <a:rPr lang="en-US" sz="2400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szkielet</a:t>
            </a:r>
            <a:r>
              <a:rPr lang="pl-PL" sz="2400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 </a:t>
            </a:r>
            <a:r>
              <a:rPr lang="en-US" sz="2400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2999232"/>
          </a:xfrm>
          <a:prstGeom prst="rect">
            <a:avLst/>
          </a:prstGeom>
          <a:solidFill>
            <a:srgbClr val="071520"/>
          </a:solidFill>
          <a:ln w="10160">
            <a:solidFill>
              <a:srgbClr val="3730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06424"/>
            <a:ext cx="137160" cy="137160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0642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0642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42416"/>
            <a:ext cx="8321040" cy="2615184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rclpy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rclpy.node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Node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std_msgs.msg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Bool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SafetyMonitor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LIMITS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omega_max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temp_warn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80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zmp_margin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ped_stop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ped_slow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safety_monitor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ok_pub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.create_publisher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safety_ok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.create_timer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check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100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Hz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{}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wypełniane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przez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subskrybentów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check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"v"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  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"zmp_margin"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99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zmp_margin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"ped_dist"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99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ped_stop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"temp_max"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LIMITS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temp_warn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ok_pub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.publish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ok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)))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1350"/>
            <a:ext cx="8595360" cy="468122"/>
          </a:xfrm>
          <a:prstGeom prst="rect">
            <a:avLst/>
          </a:prstGeom>
          <a:solidFill>
            <a:srgbClr val="1A3550"/>
          </a:solidFill>
          <a:ln w="1016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356100"/>
            <a:ext cx="8321040" cy="56337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/safety_ok = False -&gt; controller manager wstrzymuje komendy i inicjuje graceful </a:t>
            </a:r>
            <a:r>
              <a:rPr lang="en-US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CONFORMAL PREDICTION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Conformal Prediction dla certyfikacji runtime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7579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750" y="1207008"/>
            <a:ext cx="8629650" cy="266649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(CP):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metoda statystyczna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gwarantująca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P(naruszenie) &lt;=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danych kalibracyjnych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zbierz M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kroków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kalibracyjnych historii; oblicz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nonconformity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q_1..q_M dla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wyjść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polityki</a:t>
            </a:r>
            <a:endParaRPr lang="pl-PL" sz="1400" spc="-1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czasie online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dla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bieżącego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kroku oblicz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q_t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q_t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kwantyl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_{1-alpha} z kalibracji -&gt;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ostrzeżenie</a:t>
            </a:r>
            <a:endParaRPr lang="pl-PL" sz="1400" spc="-1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Gwarancja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prawdziwym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rozkładzie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danych,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fałszywy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z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częstotliwością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(np. 5%)</a:t>
            </a:r>
            <a:endParaRPr lang="pl-PL" sz="1400" spc="-1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certyfikacja ze polityka RL NIE narusza ZMP lub stref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bezpieczeństwa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 &gt; 1 -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pl-PL" sz="1400" spc="-1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biblioteka MAPIE (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integracja jako ROS 2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dostępem 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historii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pl-PL" sz="1400" spc="-1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Odniesienie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Angelopoulos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Bates (2022) "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Control";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Lindemann</a:t>
            </a:r>
            <a:r>
              <a:rPr lang="pl-PL" sz="1400" spc="-1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(2023) dla </a:t>
            </a:r>
            <a:r>
              <a:rPr lang="pl-PL" sz="1400" spc="-1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robotow</a:t>
            </a:r>
            <a:endParaRPr lang="pl-PL" sz="1400"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Testowanie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walidacja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2926080" y="2715768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402336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HIL, SIL, PIL, scenariusze testowe, benchmarki, metryki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POZIOMY TESTOWANIA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Poziomy testowania: </a:t>
            </a: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SIL, HIL, PIL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23819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23819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245" y="1188720"/>
            <a:ext cx="2535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</a:t>
            </a:r>
            <a:r>
              <a:rPr lang="pl-PL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in the Loop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303019" y="1645920"/>
            <a:ext cx="2601195" cy="3127248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sterowania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uruchamiany </a:t>
            </a:r>
            <a:b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symulatorze (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Isaac)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fizycznego sprzętu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wszystko wirtualne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iteracje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1000 scenariuszy / godzinę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logikę, planistę, monitor bezpieczeństwa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nie wykrywa błędów sprzętu, ani opóźnień sieci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CARLA,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AirSim</a:t>
            </a:r>
            <a:endParaRPr lang="pl-PL" sz="1200" spc="-40" dirty="0"/>
          </a:p>
        </p:txBody>
      </p:sp>
      <p:sp>
        <p:nvSpPr>
          <p:cNvPr id="10" name="Shape 8"/>
          <p:cNvSpPr/>
          <p:nvPr/>
        </p:nvSpPr>
        <p:spPr>
          <a:xfrm>
            <a:off x="3232951" y="1170432"/>
            <a:ext cx="2723819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70432"/>
            <a:ext cx="2723819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875" y="1188720"/>
            <a:ext cx="2535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</a:t>
            </a:r>
            <a:r>
              <a:rPr lang="pl-PL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in the Loop</a:t>
            </a:r>
            <a:endParaRPr lang="en-US" sz="1400" b="1" dirty="0"/>
          </a:p>
        </p:txBody>
      </p:sp>
      <p:sp>
        <p:nvSpPr>
          <p:cNvPr id="13" name="Text 11"/>
          <p:cNvSpPr/>
          <p:nvPr/>
        </p:nvSpPr>
        <p:spPr>
          <a:xfrm>
            <a:off x="3261650" y="1645920"/>
            <a:ext cx="2601195" cy="3127248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Prawdziwy kontroler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aktuatory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sterownik wpięty w symulator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Symulowane środowisko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realny czas reakcji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mikrokontrolera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 problemy z latencją komunikacji, przerwaniami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wymaga symulatora czasu rzeczywistego (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dSPACE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NI)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Typowy krok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 SIL, przed testami na pełnym robocie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Narzędzia: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Speedgoat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Opal-RT, NI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VeriStand</a:t>
            </a:r>
            <a:endParaRPr lang="pl-PL" sz="1200" spc="-40" dirty="0"/>
          </a:p>
        </p:txBody>
      </p:sp>
      <p:sp>
        <p:nvSpPr>
          <p:cNvPr id="14" name="Shape 12"/>
          <p:cNvSpPr/>
          <p:nvPr/>
        </p:nvSpPr>
        <p:spPr>
          <a:xfrm>
            <a:off x="6191581" y="1170432"/>
            <a:ext cx="2723819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70432"/>
            <a:ext cx="2723819" cy="4114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5506" y="1188720"/>
            <a:ext cx="2535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</a:t>
            </a:r>
            <a:r>
              <a:rPr lang="pl-PL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Processor in the Loop</a:t>
            </a:r>
            <a:endParaRPr lang="en-US" sz="1400" b="1" dirty="0"/>
          </a:p>
        </p:txBody>
      </p:sp>
      <p:sp>
        <p:nvSpPr>
          <p:cNvPr id="17" name="Text 15"/>
          <p:cNvSpPr/>
          <p:nvPr/>
        </p:nvSpPr>
        <p:spPr>
          <a:xfrm>
            <a:off x="6220281" y="1645920"/>
            <a:ext cx="2601195" cy="3127248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Docelowy procesor 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wpięty </a:t>
            </a:r>
            <a:b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pętla symulacyjna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skompilowany na target hardware; sprawdza czas rzeczywisty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 przepełnienia bufora, opóźnienia rzeczywiste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Pomiędzy HIL, a pełnym testem </a:t>
            </a:r>
            <a:b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robocie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dla weryfikacji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ONNX polityki RL</a:t>
            </a:r>
            <a:endParaRPr lang="pl-PL" sz="12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ROS 2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replay + </a:t>
            </a:r>
            <a:r>
              <a:rPr lang="pl-PL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symulator w chmurze</a:t>
            </a:r>
            <a:endParaRPr lang="pl-PL" sz="1200" spc="-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SCENARIUSZE TESTOWE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Scenariusze testowe dla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społecznej</a:t>
            </a:r>
            <a:endParaRPr lang="pl-PL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8691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103" y="1132668"/>
            <a:ext cx="8520275" cy="268848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TC-01 Prosta trasa 10 m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brak </a:t>
            </a:r>
            <a:r>
              <a:rPr lang="pl-PL" sz="140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przeszkod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pomiar RMSE, czasu dotarcia,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zużycia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energii; 10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powtórzeń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TC-02 Statyczna przeszkoda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skrzynka 0.5×0.5 m w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połowie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trasy; robot musi ja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ominąć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bez wchodzenia w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strefę </a:t>
            </a:r>
            <a:r>
              <a:rPr lang="pl-PL" sz="1400" spc="-3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0.3 m</a:t>
            </a:r>
            <a:endParaRPr lang="pl-PL" sz="1400" spc="-3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TC-03 Dynamiczna przeszkoda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pieszy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przecinający trasę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prędkością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1.2 m/s; metryka: TTC &gt; 1 s w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każdej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chwili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TC-04 </a:t>
            </a: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Naruszenie </a:t>
            </a: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strefy osobistej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aktor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zbliży się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do robota &lt; 0.5 m; robot musi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się zatrzymać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 &lt; 300 ms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TC-05 Pchnięcie boczne 20 </a:t>
            </a:r>
            <a:r>
              <a:rPr lang="pl-PL" sz="1400" b="1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Ns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robot musi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odzyskać równowagę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 &lt; 3 s; brak upadku w 95%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prób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TC-06 Utrata IMU (30 s):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musi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przejść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do trybu degradacji i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zatrzymać się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bezpiecznie w &lt; 1 s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TC-07 </a:t>
            </a: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Długa </a:t>
            </a:r>
            <a:r>
              <a:rPr lang="pl-PL" sz="1400" b="1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misja 30 min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patrol po budynku; metryki: liczba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incydentów,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dryft SLAM,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zużycie </a:t>
            </a:r>
            <a:r>
              <a:rPr lang="pl-PL" sz="140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akumulatora</a:t>
            </a:r>
            <a:endParaRPr lang="pl-PL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Automatyczny benchmark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szkielet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97474"/>
          </a:xfrm>
          <a:prstGeom prst="rect">
            <a:avLst/>
          </a:prstGeom>
          <a:solidFill>
            <a:srgbClr val="071520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083564"/>
            <a:ext cx="137160" cy="137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08356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08356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05544"/>
            <a:ext cx="8321040" cy="3036700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pytest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time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Fikstura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: uruchom symulator i robot driver przed testem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@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pytest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.fixture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scope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session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robot_env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SimEnv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"corridor_5peds.yaml"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5 pieszych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yield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.close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test_tc03_dynamic_obstacle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"""TC-03: robot nie narusza TTC &lt; 1 s z pieszym."""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robot_env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.reset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scenario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cross_walker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min_ttc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inf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500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krokow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po 100 ms = 50 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info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.step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min_ttc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min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min_ttc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info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ttc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assert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min_ttc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"Naruszenie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TTC: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min_ttc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s"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assert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.info[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success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"Robot nie </a:t>
            </a:r>
            <a:r>
              <a:rPr lang="pl-PL" sz="1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dotarł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do celu"</a:t>
            </a: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82790"/>
            <a:ext cx="8595360" cy="436682"/>
          </a:xfrm>
          <a:prstGeom prst="rect">
            <a:avLst/>
          </a:prstGeom>
          <a:solidFill>
            <a:srgbClr val="1A3550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393580"/>
            <a:ext cx="8321040" cy="52589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= Time-To-Collision; test uruchamiany w CI/CD po kazdym merge do branch </a:t>
            </a:r>
            <a:r>
              <a:rPr lang="en-US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METRYKI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Metryki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jakosci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400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pełna lista</a:t>
            </a:r>
            <a:endParaRPr lang="pl-PL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83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300" y="1207008"/>
            <a:ext cx="8409940" cy="290144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Nawigacja geometryczna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RMSE pozycji [m], sukces misji [%], czas dotarcia [s], zużycie energii [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]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Bezpieczeństwo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liczba kolizji, minimum TTC [s], liczba naruszeń strefy bezpiecznej, max silą kontaktu [N]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Stabilność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margines ZMP [m], liczba korekt kroku, max odchylenie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roll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pitch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[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deg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]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Nawigacja społeczna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Intrusion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into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Personal Space (IPS) [%],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Space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Violations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(SSV) [#],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Path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Irregularity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(PI)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Jakość lokalizacji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RMSE pozycji vs.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ground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truth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Vicon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),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blad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yaw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[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deg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], dryft SLAM [m/km]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Wydajność obliczeniowa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latencja planisty [ms], obciążenie CPU/GPU [%], temperatura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Jetson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[°C]</a:t>
            </a:r>
            <a:endParaRPr lang="pl-PL" sz="1400" spc="-2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Subiektywne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Perceived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Safety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Rating (PSR, 1-7), Comfort </a:t>
            </a:r>
            <a:r>
              <a:rPr lang="pl-PL" sz="1400" spc="-20" dirty="0" err="1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Score</a:t>
            </a:r>
            <a:r>
              <a:rPr lang="pl-PL" sz="1400" spc="-2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(CS, 1-7), NASA-TLX dla operatora</a:t>
            </a:r>
            <a:endParaRPr lang="pl-PL" sz="1400" spc="-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8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35318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Wdrazanie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utrzymanie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2926080" y="2715768"/>
            <a:ext cx="3931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4122420" cy="3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floty, OTA updates, monitoring operacyjny, etyka</a:t>
            </a:r>
            <a:endParaRPr lang="en-US" sz="1350" spc="-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4 | CYKL ZYCIA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Cykl zycia systemu nawigacji humanoidalnej</a:t>
            </a:r>
            <a:endParaRPr lang="en-US" sz="2200" dirty="0"/>
          </a:p>
        </p:txBody>
      </p:sp>
      <p:grpSp>
        <p:nvGrpSpPr>
          <p:cNvPr id="26" name="Grupa 25"/>
          <p:cNvGrpSpPr/>
          <p:nvPr/>
        </p:nvGrpSpPr>
        <p:grpSpPr>
          <a:xfrm>
            <a:off x="274320" y="1115568"/>
            <a:ext cx="8691880" cy="2211832"/>
            <a:chOff x="274320" y="1115568"/>
            <a:chExt cx="8458200" cy="2211832"/>
          </a:xfrm>
        </p:grpSpPr>
        <p:sp>
          <p:nvSpPr>
            <p:cNvPr id="6" name="Shape 4"/>
            <p:cNvSpPr/>
            <p:nvPr/>
          </p:nvSpPr>
          <p:spPr>
            <a:xfrm>
              <a:off x="274320" y="1115568"/>
              <a:ext cx="2011680" cy="22118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987552" y="1207008"/>
              <a:ext cx="585216" cy="585216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987552" y="1207008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" y="1883664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Projektowanie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26445" y="2432304"/>
              <a:ext cx="1768114" cy="895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Analiza wymagan (Safety, Functional), HAZOP/FMEA, wybor </a:t>
              </a:r>
              <a:r>
                <a:rPr lang="en-US" sz="1200" spc="-4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stosu</a:t>
              </a: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200" spc="-4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technologicznego</a:t>
              </a:r>
              <a:r>
                <a:rPr lang="en-US" sz="1200" spc="-4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200" spc="-4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br>
                <a:rPr lang="pl-PL" sz="1200" spc="-4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200" spc="-4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200" spc="-4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architektury systemu</a:t>
              </a:r>
              <a:endParaRPr lang="en-US" sz="1200" spc="-4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23160" y="1115568"/>
              <a:ext cx="2011680" cy="22118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136392" y="1207008"/>
              <a:ext cx="585216" cy="585216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36392" y="1207008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514600" y="1883664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Integracja i SIL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575286" y="2432304"/>
              <a:ext cx="1768114" cy="895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Budowa systemu, testy jednostkowe, integracyjne i SIL w Gazebo/Isaac; CI/CD pipeline na GitHub Actions</a:t>
              </a:r>
              <a:endParaRPr lang="en-US" sz="1200" spc="-4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72000" y="1115568"/>
              <a:ext cx="2011680" cy="22118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5285232" y="1207008"/>
              <a:ext cx="585216" cy="585216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285232" y="1207008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63440" y="1883664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HIL i PIL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24125" y="2432304"/>
              <a:ext cx="1768114" cy="895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Testy na docelowym hardware (Jetson); weryfikacja latencji; testy regresji przy kazdym release RC</a:t>
              </a:r>
              <a:endParaRPr lang="en-US" sz="1200" spc="-4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720840" y="1115568"/>
              <a:ext cx="2011680" cy="22118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3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434072" y="1207008"/>
              <a:ext cx="585216" cy="585216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434072" y="1207008"/>
              <a:ext cx="5852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2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812280" y="1883664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D1B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Certyfikacja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872965" y="2432304"/>
              <a:ext cx="1768114" cy="895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Audyt przez jednostke notyfikowana; analiza FMEA; dokumentacja CE; testy wytrzymalosciowe 1000 h</a:t>
              </a:r>
              <a:endParaRPr lang="en-US" sz="1200" spc="-4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4 | FLOTA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floty i zarzadzanie flotą robotow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Infrastruktura centralna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(cloud)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7312" y="1572768"/>
            <a:ext cx="4022598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Manager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rejestr robotów, przypisanie zadań,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priorytetyzacja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misji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 Server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dystrybucja nowych polityk RL </a:t>
            </a:r>
            <a:b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modeli VLM przez HTTPS TLS 1.3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</a:t>
            </a:r>
            <a:r>
              <a:rPr lang="pl-PL" sz="12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wirtualna kopia każdego robota; symulacja nowych polityk przed wdrożeniem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Centralne logowanie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ELK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zbieranie rosbag2 fragmentów przy incydentach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</a:t>
            </a:r>
            <a:r>
              <a:rPr lang="pl-PL" sz="12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polityk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10% floty testuje nowsza politykę;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automatyczny gdy metryki pogorszone</a:t>
            </a:r>
            <a:endParaRPr lang="pl-PL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15568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lokalna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(robot)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2152" y="1572768"/>
            <a:ext cx="4022598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OTA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pobiera update poza godzinami pracy; walidacja sumy SHA-256 przed instalacja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Dual-bank OS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aktywny bank +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jednym poleceniem przy awarii update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Lokalny monitoring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alert jeśli anomalia wykryta bez polaczenia z chmura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2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miedzy robotem a serwerem; certyfikaty X.509 rotowane co 90 dni</a:t>
            </a:r>
            <a:endParaRPr lang="pl-PL" sz="125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25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r>
              <a:rPr lang="pl-PL" sz="12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dane biometryczne (twarze) przetwarzane tylko lokalnie; nie wysłane do chmury</a:t>
            </a:r>
            <a:endParaRPr lang="pl-PL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OTA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weryfikacja i bezpieczna instalacja polityki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2999232"/>
          </a:xfrm>
          <a:prstGeom prst="rect">
            <a:avLst/>
          </a:prstGeom>
          <a:solidFill>
            <a:srgbClr val="071520"/>
          </a:solidFill>
          <a:ln w="1016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0642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0642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0642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989838"/>
            <a:ext cx="5775198" cy="3015234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hashlib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shutil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verify_and_install_policy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url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expected_sha256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policy_path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opt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/robot/policy.pt"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"""Pobiera, weryfikuje i instaluje nowa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polityke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RL przez OTA."""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urllib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request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tmp_path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tmp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/policy_candidate.pt"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1. Pobierz plik z serwera OTA (TLS)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urllib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request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urlretrieve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url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tmp_path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2. Weryfikacja sumy SHA-256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sha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hashlib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sha256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open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tmp_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rb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()).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hexdigest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sha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expected_sha256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remove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tmp_path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FC1FF"/>
                </a:solidFill>
                <a:latin typeface="Consolas" panose="020B0609020204030204" pitchFamily="49" charset="0"/>
              </a:rPr>
              <a:t>False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kompromitacja pliku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3. Walidacja modelu (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forward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pass z testowym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wejściem)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.jit.load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tmp_path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test_obs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.zeros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test_obs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sprawdz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ze nie rzuca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wyjątku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assert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.shape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"Niepoprawny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ksztalt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wyjscia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!"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4.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Atomiczna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podmiana (backup starego)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shutil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copy2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policy_path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policy_path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".bak"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shutil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move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tmp_path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policy_path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atomiczne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rename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smtClean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89450"/>
            <a:ext cx="8595360" cy="430022"/>
          </a:xfrm>
          <a:prstGeom prst="rect">
            <a:avLst/>
          </a:prstGeom>
          <a:solidFill>
            <a:srgbClr val="1A355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400550"/>
            <a:ext cx="8321040" cy="51892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pl-PL" sz="1600" b="1" spc="-20" dirty="0" smtClean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pl-PL" sz="1600" spc="-2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Atomiczna</a:t>
            </a:r>
            <a:r>
              <a:rPr lang="pl-PL" sz="1600" spc="-2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zmiana nazwy zapobiega cząstkowej instalacji; SHA-256 chroni przed podmianą pliku</a:t>
            </a:r>
            <a:endParaRPr lang="pl-PL" sz="1600" spc="-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4 | MONITORING PRODUKCYJNY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operacyjny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metryzowac w produkcji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9348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229600" cy="35478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misji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sukces [%], średni czas wykonania [s], liczba interwencji operatora dziennie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incydenty/miesiąc (kolizje, zatrzymania awaryjne, upadki, skargi użytkowników)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zużycie energii na misje [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], czas lądowania, czas dostępności (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[%])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Zdrowie systemu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temperatura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aktuatorow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błędy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enkoderow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zużycie akumulatora (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-of-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nawigacji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RMSE lokalizacji (spot-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zewnętrznym systemem), dryft mapy na koniec dnia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pl-PL" sz="140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porównanie rozkładu obserwacji online vs. dane treningowe (PSI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alert przy &gt; 0.2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(metryki); ELK (logi);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(alerty 24/7); </a:t>
            </a:r>
            <a:r>
              <a:rPr lang="pl-PL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(ML monitoring)</a:t>
            </a:r>
            <a:endParaRPr lang="pl-PL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4 | ETYKA I PRAWO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Aspekty etyczne i spoleczne wdrazania humanoidow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7181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199" y="1207008"/>
            <a:ext cx="8352263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kamerami to de facto urządzenie nadzoru; wymaga polityki RODO i zgody użytkowników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Transparentność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użytkownik ma prawo wiedzieć ze jest obserwowany przez robota i co system robi z danymi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Biasy</a:t>
            </a: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algorytmów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modele ML nauczone na niereprezentatywnych danych mogą gorzej rozpoznawać pewne grupy osób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Przyszłość pracy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wykonujący zadania wcześniej ludzkie - kontekst społeczny i odpowiedzialność pracodawcy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Odpowiedzialność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kto odpowiada za szkody - producent, operator czy użytkownik? Ramy prawne UE AI 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</a:t>
            </a:r>
            <a:r>
              <a:rPr lang="pl-PL" sz="14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roboty nawigujące w przestrzeni publicznej zakwalifikowane jako systemy wysokiego ryzyka (</a:t>
            </a:r>
            <a:r>
              <a:rPr lang="pl-PL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III)</a:t>
            </a:r>
            <a:endParaRPr lang="pl-PL" sz="1400" spc="-4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technika może, ale to prawo i etyka decydują czy i jak. To inżynier odpowiada więc za świadome projektowanie</a:t>
            </a:r>
            <a:endParaRPr lang="pl-PL" sz="1400" spc="-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774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12800"/>
            <a:ext cx="8503920" cy="22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17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pl-PL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4572000" cy="28093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7341" y="1181559"/>
            <a:ext cx="2633472" cy="85684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341" y="1223699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7341" y="1552156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mapowanie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22253" y="1181559"/>
            <a:ext cx="2633472" cy="85684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2253" y="1223699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22253" y="1552156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fuzja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7165" y="1181559"/>
            <a:ext cx="2633472" cy="85684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7165" y="1223699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7165" y="1552156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7341" y="2108634"/>
            <a:ext cx="2633472" cy="85684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7341" y="2150774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7341" y="2479231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Chod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stabilność</a:t>
            </a:r>
            <a:endParaRPr lang="pl-PL" sz="1600" dirty="0"/>
          </a:p>
        </p:txBody>
      </p:sp>
      <p:sp>
        <p:nvSpPr>
          <p:cNvPr id="19" name="Shape 17"/>
          <p:cNvSpPr/>
          <p:nvPr/>
        </p:nvSpPr>
        <p:spPr>
          <a:xfrm>
            <a:off x="3222253" y="2108634"/>
            <a:ext cx="2633472" cy="85684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22253" y="2150774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22253" y="2479231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/ VLA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7165" y="2108634"/>
            <a:ext cx="2633472" cy="8568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7165" y="2150774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7165" y="2479231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World-Model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7341" y="3035708"/>
            <a:ext cx="2633472" cy="85684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7341" y="3077848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7341" y="3406305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społeczna</a:t>
            </a:r>
            <a:endParaRPr lang="pl-PL" sz="1600" dirty="0"/>
          </a:p>
        </p:txBody>
      </p:sp>
      <p:sp>
        <p:nvSpPr>
          <p:cNvPr id="28" name="Shape 26"/>
          <p:cNvSpPr/>
          <p:nvPr/>
        </p:nvSpPr>
        <p:spPr>
          <a:xfrm>
            <a:off x="3222253" y="3035708"/>
            <a:ext cx="2633472" cy="85684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22253" y="3077848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22253" y="3406305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47165" y="3035708"/>
            <a:ext cx="2633472" cy="85684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7165" y="3077848"/>
            <a:ext cx="2633472" cy="26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W9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7165" y="3406305"/>
            <a:ext cx="2633472" cy="4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wdrozenie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" y="4453128"/>
            <a:ext cx="85953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3542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1400" b="1" i="1" dirty="0" smtClean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pętla</a:t>
            </a:r>
            <a:r>
              <a:rPr lang="pl-PL" sz="1400" i="1" dirty="0" smtClean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Sensory -&gt; Percepcja -&gt; Lokalizacja -&gt; Planowanie -&gt; WMA/RL/VLA -&gt; Sterowanie -&gt; Aktuatory -&gt; Sensory</a:t>
            </a:r>
            <a:endParaRPr lang="pl-PL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3891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7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0" y="987552"/>
            <a:ext cx="36576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2161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13482, SIL/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FMEA to niezbędne ramy prawne i inżynierskie przed wdrożeniem humanoida wśród ludzi.</a:t>
            </a:r>
            <a:endParaRPr lang="pl-PL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965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bezpieczeństwa musi być wielowarstwowa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hardware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RTOS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 +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600" dirty="0"/>
          </a:p>
        </p:txBody>
      </p:sp>
      <p:sp>
        <p:nvSpPr>
          <p:cNvPr id="12" name="Shape 10"/>
          <p:cNvSpPr/>
          <p:nvPr/>
        </p:nvSpPr>
        <p:spPr>
          <a:xfrm>
            <a:off x="347472" y="2670048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7157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SIL/HIL/PIL i automatyczne benchmarki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pozwalają wykryć regresje przed wdrożeniem na robocie.</a:t>
            </a:r>
            <a:endParaRPr lang="pl-PL" sz="1600" dirty="0"/>
          </a:p>
        </p:txBody>
      </p:sp>
      <p:sp>
        <p:nvSpPr>
          <p:cNvPr id="15" name="Shape 13"/>
          <p:cNvSpPr/>
          <p:nvPr/>
        </p:nvSpPr>
        <p:spPr>
          <a:xfrm>
            <a:off x="347472" y="34198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346557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</a:t>
            </a:r>
            <a:r>
              <a:rPr lang="pl-PL" sz="1600" b="1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dual-bank OS i monitoring ML </a:t>
            </a:r>
            <a:r>
              <a:rPr lang="pl-PL" sz="1600" b="1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kluczowe dla długookresowej niezawodności floty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humanoidów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600" dirty="0"/>
          </a:p>
        </p:txBody>
      </p:sp>
      <p:sp>
        <p:nvSpPr>
          <p:cNvPr id="18" name="Shape 16"/>
          <p:cNvSpPr/>
          <p:nvPr/>
        </p:nvSpPr>
        <p:spPr>
          <a:xfrm>
            <a:off x="347472" y="4169664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421538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l-PL" sz="16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Aspekty etyczne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(prywatność,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biasy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EU AI </a:t>
            </a:r>
            <a:r>
              <a:rPr lang="pl-PL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są równoważne z aspektami technicznymi - inżynier ponosi współodpowiedzialność.</a:t>
            </a:r>
            <a:endParaRPr lang="pl-PL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4118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noFill/>
              <a:ln/>
            </p:spPr>
            <p:txBody>
              <a:bodyPr wrap="square" lIns="127000" tIns="127000" rIns="127000" bIns="127000" rtlCol="0" anchor="t"/>
              <a:lstStyle/>
              <a:p>
                <a:pPr marL="342900" indent="-342900">
                  <a:spcAft>
                    <a:spcPts val="900"/>
                  </a:spcAft>
                  <a:buSzPct val="100000"/>
                  <a:buFont typeface="+mj-lt"/>
                  <a:buAutoNum type="arabicPeriod"/>
                </a:pP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Dla jakiego poziomu SIL powinien być certyfikowany czujnik F/T w stopie humanoida pracującego </a:t>
                </a:r>
                <a:b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 szpitalu? Uzasadnij opierając się na ISO 13482 i IEC 61508.</a:t>
                </a:r>
                <a:endParaRPr lang="pl-PL" sz="1400" dirty="0" smtClean="0"/>
              </a:p>
              <a:p>
                <a:pPr marL="342900" indent="-342900">
                  <a:spcAft>
                    <a:spcPts val="900"/>
                  </a:spcAft>
                  <a:buSzPct val="100000"/>
                  <a:buFont typeface="+mj-lt"/>
                  <a:buAutoNum type="arabicPeriod"/>
                </a:pP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Zaprojektuj scenariusz testowy TC-08 dla robota wchodzącego do windy: jakie warunki brzegowe należy sprawdzić, jakie metryki zmierzyć i ile powtórzeń jest wymagane dla statystycznej pewności?</a:t>
                </a:r>
                <a:endParaRPr lang="pl-PL" sz="1400" dirty="0" smtClean="0"/>
              </a:p>
              <a:p>
                <a:pPr marL="342900" indent="-342900">
                  <a:spcAft>
                    <a:spcPts val="1800"/>
                  </a:spcAft>
                  <a:buSzPct val="100000"/>
                  <a:buFont typeface="+mj-lt"/>
                  <a:buAutoNum type="arabicPeriod"/>
                </a:pP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Czym rożni się SIL (IEC 61508) od </a:t>
                </a:r>
                <a:r>
                  <a:rPr lang="pl-PL" sz="140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PLe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(EN ISO 13849) i dlaczego system nawigacyjny może wymagać jednocześnie obu certyfikatów?</a:t>
                </a:r>
                <a:endParaRPr lang="pl-PL" sz="1400" dirty="0" smtClean="0"/>
              </a:p>
              <a:p>
                <a:pPr>
                  <a:spcAft>
                    <a:spcPts val="900"/>
                  </a:spcAft>
                  <a:buSzPct val="100000"/>
                </a:pPr>
                <a:r>
                  <a:rPr lang="pl-PL" sz="1400" b="1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Zadanie</a:t>
                </a:r>
                <a:r>
                  <a:rPr lang="pl-PL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napisz prosty </a:t>
                </a:r>
                <a:r>
                  <a:rPr lang="pl-PL" sz="140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Safety</a:t>
                </a:r>
                <a:r>
                  <a:rPr lang="pl-PL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Monitor (Kod 2) i dodaj test </a:t>
                </a:r>
                <a:r>
                  <a:rPr lang="pl-PL" sz="140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pytest</a:t>
                </a:r>
                <a:r>
                  <a:rPr lang="pl-PL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sprawdzający </a:t>
                </a:r>
                <a:r>
                  <a:rPr lang="pl-PL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ze monitor poprawnie ustawia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𝑠𝑎𝑓𝑒𝑡𝑦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𝑜𝑘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𝐹𝑎𝑙𝑠𝑒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𝑔𝑑𝑦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𝑝𝑟𝑒𝑑𝑘𝑜𝑠𝑐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&gt; 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max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</m:t>
                    </m:r>
                  </m:oMath>
                </a14:m>
                <a:r>
                  <a:rPr lang="en-US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lub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𝑡𝑒𝑚𝑝𝑒𝑟𝑎𝑡𝑢𝑟𝑎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&gt; 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𝑡𝑒𝑚𝑝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en-US" sz="1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𝑤𝑎𝑟𝑛</m:t>
                    </m:r>
                  </m:oMath>
                </a14:m>
                <a:r>
                  <a:rPr lang="en-US" sz="14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Uruchom test 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 symulowanymi danymi bez prawdziwego robota.</a:t>
                </a:r>
                <a:endParaRPr lang="pl-PL" sz="1400" dirty="0" smtClean="0"/>
              </a:p>
              <a:p>
                <a:pPr>
                  <a:spcAft>
                    <a:spcPts val="900"/>
                  </a:spcAft>
                  <a:buSzPct val="100000"/>
                </a:pPr>
                <a:r>
                  <a:rPr lang="pl-PL" sz="1400" b="1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Bonus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przeanalizuj jeden publicznie dostępny raport incydentu z robotem usługowym (np. </a:t>
                </a:r>
                <a:r>
                  <a:rPr lang="pl-PL" sz="140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Knightscope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Softbank </a:t>
                </a:r>
                <a:r>
                  <a:rPr lang="pl-PL" sz="1400" dirty="0" err="1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Pepper</a:t>
                </a:r>
                <a:r>
                  <a:rPr lang="pl-PL" sz="1400" dirty="0" smtClean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i wskazać które z omawianych warstw bezpieczeństwa zawiodły lub były nieobecne.</a:t>
                </a:r>
                <a:endParaRPr lang="pl-PL" sz="14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3399</Words>
  <Application>Microsoft Office PowerPoint</Application>
  <PresentationFormat>Pokaz na ekranie (16:9)</PresentationFormat>
  <Paragraphs>347</Paragraphs>
  <Slides>26</Slides>
  <Notes>26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Wyklad 9 – Bezpieczenstwo, certyfikacja i wdrazanie nawigacji humanoidow</dc:title>
  <dc:subject>PptxGenJS Presentation</dc:subject>
  <dc:creator>Politechnika – Katedra Robotyki</dc:creator>
  <cp:lastModifiedBy>Mateusz Pomianek</cp:lastModifiedBy>
  <cp:revision>74</cp:revision>
  <dcterms:created xsi:type="dcterms:W3CDTF">2026-04-29T13:20:38Z</dcterms:created>
  <dcterms:modified xsi:type="dcterms:W3CDTF">2026-04-29T14:09:16Z</dcterms:modified>
</cp:coreProperties>
</file>