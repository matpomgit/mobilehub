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97" r:id="rId10"/>
    <p:sldId id="264" r:id="rId11"/>
    <p:sldId id="265" r:id="rId12"/>
    <p:sldId id="266" r:id="rId13"/>
    <p:sldId id="267" r:id="rId14"/>
    <p:sldId id="268" r:id="rId15"/>
    <p:sldId id="303" r:id="rId16"/>
    <p:sldId id="302" r:id="rId17"/>
    <p:sldId id="269" r:id="rId18"/>
    <p:sldId id="270" r:id="rId19"/>
    <p:sldId id="271" r:id="rId20"/>
    <p:sldId id="274" r:id="rId21"/>
    <p:sldId id="275" r:id="rId22"/>
    <p:sldId id="272" r:id="rId23"/>
    <p:sldId id="276" r:id="rId24"/>
    <p:sldId id="301" r:id="rId25"/>
    <p:sldId id="298" r:id="rId26"/>
    <p:sldId id="299" r:id="rId27"/>
    <p:sldId id="273" r:id="rId28"/>
    <p:sldId id="300" r:id="rId29"/>
    <p:sldId id="277" r:id="rId30"/>
    <p:sldId id="278" r:id="rId31"/>
    <p:sldId id="279" r:id="rId32"/>
    <p:sldId id="280" r:id="rId33"/>
    <p:sldId id="308" r:id="rId34"/>
    <p:sldId id="281" r:id="rId35"/>
    <p:sldId id="284" r:id="rId36"/>
    <p:sldId id="309" r:id="rId37"/>
    <p:sldId id="282" r:id="rId38"/>
    <p:sldId id="283" r:id="rId39"/>
    <p:sldId id="310" r:id="rId40"/>
    <p:sldId id="311" r:id="rId41"/>
    <p:sldId id="286" r:id="rId42"/>
    <p:sldId id="287" r:id="rId43"/>
    <p:sldId id="288" r:id="rId44"/>
    <p:sldId id="289" r:id="rId4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565"/>
    <a:srgbClr val="C80000"/>
    <a:srgbClr val="0D1B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00" autoAdjust="0"/>
    <p:restoredTop sz="94610"/>
  </p:normalViewPr>
  <p:slideViewPr>
    <p:cSldViewPr snapToGrid="0" snapToObjects="1">
      <p:cViewPr>
        <p:scale>
          <a:sx n="100" d="100"/>
          <a:sy n="100" d="100"/>
        </p:scale>
        <p:origin x="2076" y="7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990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17786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080105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4937187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222502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100964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91697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1066854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0097932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831568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8877802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94589059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0B4D8"/>
          </a:solidFill>
          <a:ln w="12700">
            <a:solidFill>
              <a:srgbClr val="00B4D8"/>
            </a:solidFill>
            <a:prstDash val="solid"/>
          </a:ln>
        </p:spPr>
      </p:sp>
      <p:sp>
        <p:nvSpPr>
          <p:cNvPr id="3" name="Shape 1"/>
          <p:cNvSpPr/>
          <p:nvPr/>
        </p:nvSpPr>
        <p:spPr>
          <a:xfrm>
            <a:off x="73152" y="0"/>
            <a:ext cx="9070848" cy="54864"/>
          </a:xfrm>
          <a:prstGeom prst="rect">
            <a:avLst/>
          </a:prstGeom>
          <a:solidFill>
            <a:srgbClr val="0077A8"/>
          </a:solidFill>
          <a:ln w="12700">
            <a:solidFill>
              <a:srgbClr val="0077A8"/>
            </a:solidFill>
            <a:prstDash val="solid"/>
          </a:ln>
        </p:spPr>
      </p:sp>
      <p:sp>
        <p:nvSpPr>
          <p:cNvPr id="4" name="Shape 2"/>
          <p:cNvSpPr/>
          <p:nvPr/>
        </p:nvSpPr>
        <p:spPr>
          <a:xfrm>
            <a:off x="6400800" y="914400"/>
            <a:ext cx="2194560" cy="2194560"/>
          </a:xfrm>
          <a:prstGeom prst="ellipse">
            <a:avLst/>
          </a:prstGeom>
          <a:solidFill>
            <a:schemeClr val="bg1"/>
          </a:solidFill>
          <a:ln w="57150">
            <a:solidFill>
              <a:srgbClr val="00B4D8"/>
            </a:solidFill>
            <a:prstDash val="solid"/>
          </a:ln>
        </p:spPr>
      </p:sp>
      <p:pic>
        <p:nvPicPr>
          <p:cNvPr id="5" name="Image 0" descr="preencoded.png"/>
          <p:cNvPicPr>
            <a:picLocks noChangeAspect="1"/>
          </p:cNvPicPr>
          <p:nvPr/>
        </p:nvPicPr>
        <p:blipFill>
          <a:blip r:embed="rId3"/>
          <a:stretch>
            <a:fillRect/>
          </a:stretch>
        </p:blipFill>
        <p:spPr>
          <a:xfrm>
            <a:off x="6848587" y="1327896"/>
            <a:ext cx="1262679" cy="1262679"/>
          </a:xfrm>
          <a:prstGeom prst="rect">
            <a:avLst/>
          </a:prstGeom>
        </p:spPr>
      </p:pic>
      <p:sp>
        <p:nvSpPr>
          <p:cNvPr id="6" name="Text 3"/>
          <p:cNvSpPr/>
          <p:nvPr/>
        </p:nvSpPr>
        <p:spPr>
          <a:xfrm>
            <a:off x="320040" y="822960"/>
            <a:ext cx="5760720" cy="365760"/>
          </a:xfrm>
          <a:prstGeom prst="rect">
            <a:avLst/>
          </a:prstGeom>
          <a:noFill/>
          <a:ln/>
        </p:spPr>
        <p:txBody>
          <a:bodyPr wrap="square" lIns="0" tIns="0" rIns="0" bIns="0" rtlCol="0" anchor="ctr"/>
          <a:lstStyle/>
          <a:p>
            <a:pPr marL="0" indent="0">
              <a:buNone/>
            </a:pPr>
            <a:r>
              <a:rPr lang="en-US" sz="1200" b="1" kern="0" spc="300" dirty="0">
                <a:solidFill>
                  <a:srgbClr val="00B4D8"/>
                </a:solidFill>
                <a:latin typeface="Trebuchet MS" pitchFamily="34" charset="0"/>
                <a:ea typeface="Trebuchet MS" pitchFamily="34" charset="-122"/>
                <a:cs typeface="Trebuchet MS" pitchFamily="34" charset="-120"/>
              </a:rPr>
              <a:t>NAWIGACJA ROBOTÓW HUMANOIDALNYCH</a:t>
            </a:r>
            <a:endParaRPr lang="en-US" sz="1200" dirty="0"/>
          </a:p>
        </p:txBody>
      </p:sp>
      <p:sp>
        <p:nvSpPr>
          <p:cNvPr id="7" name="Text 4"/>
          <p:cNvSpPr/>
          <p:nvPr/>
        </p:nvSpPr>
        <p:spPr>
          <a:xfrm>
            <a:off x="320040" y="1280160"/>
            <a:ext cx="5760720" cy="6400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WYKŁAD 3</a:t>
            </a:r>
            <a:endParaRPr lang="en-US" sz="4400" dirty="0"/>
          </a:p>
        </p:txBody>
      </p:sp>
      <p:sp>
        <p:nvSpPr>
          <p:cNvPr id="8" name="Text 5"/>
          <p:cNvSpPr/>
          <p:nvPr/>
        </p:nvSpPr>
        <p:spPr>
          <a:xfrm>
            <a:off x="320040" y="1965960"/>
            <a:ext cx="5760720" cy="914400"/>
          </a:xfrm>
          <a:prstGeom prst="rect">
            <a:avLst/>
          </a:prstGeom>
          <a:noFill/>
          <a:ln/>
        </p:spPr>
        <p:txBody>
          <a:bodyPr wrap="square" lIns="0" tIns="0" rIns="0" bIns="0" rtlCol="0" anchor="ctr"/>
          <a:lstStyle/>
          <a:p>
            <a:pPr marL="0" indent="0">
              <a:buNone/>
            </a:pPr>
            <a:r>
              <a:rPr lang="en-US" sz="2400" b="1" dirty="0">
                <a:solidFill>
                  <a:srgbClr val="90E0EF"/>
                </a:solidFill>
                <a:latin typeface="Trebuchet MS" pitchFamily="34" charset="0"/>
                <a:ea typeface="Trebuchet MS" pitchFamily="34" charset="-122"/>
                <a:cs typeface="Trebuchet MS" pitchFamily="34" charset="-120"/>
              </a:rPr>
              <a:t>Planowanie ruchu
i unikanie przeszkód</a:t>
            </a:r>
            <a:endParaRPr lang="en-US" sz="2400" dirty="0"/>
          </a:p>
        </p:txBody>
      </p:sp>
      <p:sp>
        <p:nvSpPr>
          <p:cNvPr id="9" name="Shape 6"/>
          <p:cNvSpPr/>
          <p:nvPr/>
        </p:nvSpPr>
        <p:spPr>
          <a:xfrm>
            <a:off x="320040" y="3017520"/>
            <a:ext cx="5760720" cy="27432"/>
          </a:xfrm>
          <a:prstGeom prst="rect">
            <a:avLst/>
          </a:prstGeom>
          <a:solidFill>
            <a:srgbClr val="00B4D8"/>
          </a:solidFill>
          <a:ln w="12700">
            <a:solidFill>
              <a:srgbClr val="00B4D8"/>
            </a:solidFill>
            <a:prstDash val="solid"/>
          </a:ln>
        </p:spPr>
      </p:sp>
      <p:sp>
        <p:nvSpPr>
          <p:cNvPr id="10" name="Text 7"/>
          <p:cNvSpPr/>
          <p:nvPr/>
        </p:nvSpPr>
        <p:spPr>
          <a:xfrm>
            <a:off x="320040" y="3110076"/>
            <a:ext cx="5760720" cy="228600"/>
          </a:xfrm>
          <a:prstGeom prst="rect">
            <a:avLst/>
          </a:prstGeom>
          <a:noFill/>
          <a:ln/>
        </p:spPr>
        <p:txBody>
          <a:bodyPr wrap="square" lIns="0" tIns="0" rIns="0" bIns="0" rtlCol="0" anchor="ctr"/>
          <a:lstStyle/>
          <a:p>
            <a:pPr marL="0" indent="0">
              <a:buNone/>
            </a:pPr>
            <a:r>
              <a:rPr lang="pl-PL" sz="1200" b="1" dirty="0" smtClean="0">
                <a:solidFill>
                  <a:srgbClr val="00B4D8"/>
                </a:solidFill>
                <a:latin typeface="Calibri" pitchFamily="34" charset="0"/>
                <a:ea typeface="Calibri" pitchFamily="34" charset="-122"/>
                <a:cs typeface="Calibri" pitchFamily="34" charset="-120"/>
              </a:rPr>
              <a:t>dr inż. Mateusz Pomianek</a:t>
            </a:r>
            <a:endParaRPr lang="en-US" sz="1200" dirty="0"/>
          </a:p>
        </p:txBody>
      </p:sp>
      <p:sp>
        <p:nvSpPr>
          <p:cNvPr id="11" name="Shape 8"/>
          <p:cNvSpPr/>
          <p:nvPr/>
        </p:nvSpPr>
        <p:spPr>
          <a:xfrm>
            <a:off x="320040" y="4114800"/>
            <a:ext cx="1965960" cy="548640"/>
          </a:xfrm>
          <a:prstGeom prst="rect">
            <a:avLst/>
          </a:prstGeom>
          <a:solidFill>
            <a:srgbClr val="1A3550"/>
          </a:solidFill>
          <a:ln w="12700">
            <a:solidFill>
              <a:srgbClr val="00B4D8"/>
            </a:solidFill>
            <a:prstDash val="solid"/>
          </a:ln>
        </p:spPr>
      </p:sp>
      <p:sp>
        <p:nvSpPr>
          <p:cNvPr id="12" name="Text 9"/>
          <p:cNvSpPr/>
          <p:nvPr/>
        </p:nvSpPr>
        <p:spPr>
          <a:xfrm>
            <a:off x="320040" y="4114800"/>
            <a:ext cx="196596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Planowanie globalne</a:t>
            </a:r>
            <a:endParaRPr lang="en-US" sz="1400" dirty="0">
              <a:solidFill>
                <a:schemeClr val="bg1"/>
              </a:solidFill>
            </a:endParaRPr>
          </a:p>
        </p:txBody>
      </p:sp>
      <p:sp>
        <p:nvSpPr>
          <p:cNvPr id="13" name="Shape 10"/>
          <p:cNvSpPr/>
          <p:nvPr/>
        </p:nvSpPr>
        <p:spPr>
          <a:xfrm>
            <a:off x="2441448" y="4114800"/>
            <a:ext cx="1965960" cy="548640"/>
          </a:xfrm>
          <a:prstGeom prst="rect">
            <a:avLst/>
          </a:prstGeom>
          <a:solidFill>
            <a:srgbClr val="1A3550"/>
          </a:solidFill>
          <a:ln w="12700">
            <a:solidFill>
              <a:srgbClr val="00B4D8"/>
            </a:solidFill>
            <a:prstDash val="solid"/>
          </a:ln>
        </p:spPr>
      </p:sp>
      <p:sp>
        <p:nvSpPr>
          <p:cNvPr id="14" name="Text 11"/>
          <p:cNvSpPr/>
          <p:nvPr/>
        </p:nvSpPr>
        <p:spPr>
          <a:xfrm>
            <a:off x="2441448" y="4114800"/>
            <a:ext cx="196596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Planowanie lokalne</a:t>
            </a:r>
            <a:endParaRPr lang="en-US" sz="1400" dirty="0">
              <a:solidFill>
                <a:schemeClr val="bg1"/>
              </a:solidFill>
            </a:endParaRPr>
          </a:p>
        </p:txBody>
      </p:sp>
      <p:sp>
        <p:nvSpPr>
          <p:cNvPr id="15" name="Shape 12"/>
          <p:cNvSpPr/>
          <p:nvPr/>
        </p:nvSpPr>
        <p:spPr>
          <a:xfrm>
            <a:off x="4562856" y="4114800"/>
            <a:ext cx="1965960" cy="548640"/>
          </a:xfrm>
          <a:prstGeom prst="rect">
            <a:avLst/>
          </a:prstGeom>
          <a:solidFill>
            <a:srgbClr val="1A3550"/>
          </a:solidFill>
          <a:ln w="12700">
            <a:solidFill>
              <a:srgbClr val="00B4D8"/>
            </a:solidFill>
            <a:prstDash val="solid"/>
          </a:ln>
        </p:spPr>
      </p:sp>
      <p:sp>
        <p:nvSpPr>
          <p:cNvPr id="16" name="Text 13"/>
          <p:cNvSpPr/>
          <p:nvPr/>
        </p:nvSpPr>
        <p:spPr>
          <a:xfrm>
            <a:off x="4562856" y="4114800"/>
            <a:ext cx="196596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Footstep planning</a:t>
            </a:r>
            <a:endParaRPr lang="en-US" sz="1400" dirty="0">
              <a:solidFill>
                <a:schemeClr val="bg1"/>
              </a:solidFill>
            </a:endParaRPr>
          </a:p>
        </p:txBody>
      </p:sp>
      <p:sp>
        <p:nvSpPr>
          <p:cNvPr id="17" name="Shape 14"/>
          <p:cNvSpPr/>
          <p:nvPr/>
        </p:nvSpPr>
        <p:spPr>
          <a:xfrm>
            <a:off x="6684264" y="4114800"/>
            <a:ext cx="1965960" cy="548640"/>
          </a:xfrm>
          <a:prstGeom prst="rect">
            <a:avLst/>
          </a:prstGeom>
          <a:solidFill>
            <a:srgbClr val="1A3550"/>
          </a:solidFill>
          <a:ln w="12700">
            <a:solidFill>
              <a:srgbClr val="00B4D8"/>
            </a:solidFill>
            <a:prstDash val="solid"/>
          </a:ln>
        </p:spPr>
      </p:sp>
      <p:sp>
        <p:nvSpPr>
          <p:cNvPr id="18" name="Text 15"/>
          <p:cNvSpPr/>
          <p:nvPr/>
        </p:nvSpPr>
        <p:spPr>
          <a:xfrm>
            <a:off x="6684264" y="4114800"/>
            <a:ext cx="1965960" cy="548640"/>
          </a:xfrm>
          <a:prstGeom prst="rect">
            <a:avLst/>
          </a:prstGeom>
          <a:noFill/>
          <a:ln/>
        </p:spPr>
        <p:txBody>
          <a:bodyPr wrap="square" lIns="0" tIns="0" rIns="0" bIns="0" rtlCol="0" anchor="ctr"/>
          <a:lstStyle/>
          <a:p>
            <a:pPr marL="0" indent="0" algn="ctr">
              <a:buNone/>
            </a:pPr>
            <a:r>
              <a:rPr lang="en-US" sz="1400" b="1" dirty="0">
                <a:solidFill>
                  <a:schemeClr val="bg1"/>
                </a:solidFill>
                <a:latin typeface="Trebuchet MS" pitchFamily="34" charset="0"/>
                <a:ea typeface="Trebuchet MS" pitchFamily="34" charset="-122"/>
                <a:cs typeface="Trebuchet MS" pitchFamily="34" charset="-120"/>
              </a:rPr>
              <a:t>Kody Python</a:t>
            </a:r>
            <a:endParaRPr lang="en-US" sz="14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WPROWADZENIE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Plan wykładu</a:t>
            </a:r>
            <a:endParaRPr lang="en-US" sz="2400" dirty="0"/>
          </a:p>
        </p:txBody>
      </p:sp>
      <p:sp>
        <p:nvSpPr>
          <p:cNvPr id="6" name="Shape 4"/>
          <p:cNvSpPr/>
          <p:nvPr/>
        </p:nvSpPr>
        <p:spPr>
          <a:xfrm>
            <a:off x="274320" y="1143000"/>
            <a:ext cx="4160520" cy="128764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41762"/>
          </a:xfrm>
          <a:prstGeom prst="rect">
            <a:avLst/>
          </a:prstGeom>
          <a:solidFill>
            <a:srgbClr val="00B4D8"/>
          </a:solidFill>
          <a:ln w="12700">
            <a:solidFill>
              <a:srgbClr val="00B4D8"/>
            </a:solidFill>
            <a:prstDash val="solid"/>
          </a:ln>
        </p:spPr>
      </p:sp>
      <p:sp>
        <p:nvSpPr>
          <p:cNvPr id="8" name="Text 6"/>
          <p:cNvSpPr/>
          <p:nvPr/>
        </p:nvSpPr>
        <p:spPr>
          <a:xfrm>
            <a:off x="428652" y="1212603"/>
            <a:ext cx="3941064" cy="489306"/>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Sekcja 1</a:t>
            </a:r>
            <a:endParaRPr lang="en-US" sz="2000" dirty="0"/>
          </a:p>
        </p:txBody>
      </p:sp>
      <p:sp>
        <p:nvSpPr>
          <p:cNvPr id="9" name="Text 7"/>
          <p:cNvSpPr/>
          <p:nvPr/>
        </p:nvSpPr>
        <p:spPr>
          <a:xfrm>
            <a:off x="428652" y="1683812"/>
            <a:ext cx="3941064" cy="708206"/>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Planowanie globalne: przestrzeń stanów, Dijkstra, A*, heurystyki, cost map, wygładzanie</a:t>
            </a:r>
            <a:endParaRPr lang="en-US" sz="1600" dirty="0"/>
          </a:p>
        </p:txBody>
      </p:sp>
      <p:sp>
        <p:nvSpPr>
          <p:cNvPr id="10" name="Shape 8"/>
          <p:cNvSpPr/>
          <p:nvPr/>
        </p:nvSpPr>
        <p:spPr>
          <a:xfrm>
            <a:off x="4709160" y="1143000"/>
            <a:ext cx="4160520" cy="128764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41762"/>
          </a:xfrm>
          <a:prstGeom prst="rect">
            <a:avLst/>
          </a:prstGeom>
          <a:solidFill>
            <a:srgbClr val="0077A8"/>
          </a:solidFill>
          <a:ln w="12700">
            <a:solidFill>
              <a:srgbClr val="0077A8"/>
            </a:solidFill>
            <a:prstDash val="solid"/>
          </a:ln>
        </p:spPr>
      </p:sp>
      <p:sp>
        <p:nvSpPr>
          <p:cNvPr id="12" name="Text 10"/>
          <p:cNvSpPr/>
          <p:nvPr/>
        </p:nvSpPr>
        <p:spPr>
          <a:xfrm>
            <a:off x="4863492" y="1212603"/>
            <a:ext cx="3941064" cy="489306"/>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Sekcja 2</a:t>
            </a:r>
            <a:endParaRPr lang="en-US" sz="2000" dirty="0"/>
          </a:p>
        </p:txBody>
      </p:sp>
      <p:sp>
        <p:nvSpPr>
          <p:cNvPr id="13" name="Text 11"/>
          <p:cNvSpPr/>
          <p:nvPr/>
        </p:nvSpPr>
        <p:spPr>
          <a:xfrm>
            <a:off x="4863492" y="1683812"/>
            <a:ext cx="3941064" cy="708206"/>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Planowanie lokalne: DWA, potential fields, MPC, przeszkody dynamiczne, replanowanie</a:t>
            </a:r>
            <a:endParaRPr lang="en-US" sz="1600" dirty="0"/>
          </a:p>
        </p:txBody>
      </p:sp>
      <p:sp>
        <p:nvSpPr>
          <p:cNvPr id="14" name="Shape 12"/>
          <p:cNvSpPr/>
          <p:nvPr/>
        </p:nvSpPr>
        <p:spPr>
          <a:xfrm>
            <a:off x="274320" y="2535052"/>
            <a:ext cx="4160520" cy="128764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535052"/>
            <a:ext cx="4160520" cy="41762"/>
          </a:xfrm>
          <a:prstGeom prst="rect">
            <a:avLst/>
          </a:prstGeom>
          <a:solidFill>
            <a:srgbClr val="0077A8"/>
          </a:solidFill>
          <a:ln w="12700">
            <a:solidFill>
              <a:srgbClr val="0077A8"/>
            </a:solidFill>
            <a:prstDash val="solid"/>
          </a:ln>
        </p:spPr>
      </p:sp>
      <p:sp>
        <p:nvSpPr>
          <p:cNvPr id="16" name="Text 14"/>
          <p:cNvSpPr/>
          <p:nvPr/>
        </p:nvSpPr>
        <p:spPr>
          <a:xfrm>
            <a:off x="428652" y="2604655"/>
            <a:ext cx="3941064" cy="489306"/>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Sekcja 3</a:t>
            </a:r>
            <a:endParaRPr lang="en-US" sz="2000" dirty="0"/>
          </a:p>
        </p:txBody>
      </p:sp>
      <p:sp>
        <p:nvSpPr>
          <p:cNvPr id="17" name="Text 15"/>
          <p:cNvSpPr/>
          <p:nvPr/>
        </p:nvSpPr>
        <p:spPr>
          <a:xfrm>
            <a:off x="382932" y="3075864"/>
            <a:ext cx="3986784" cy="708206"/>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Footstep planning: sekwencja kroków, ograniczenia kinematyczne, schody, trajektoria CoM</a:t>
            </a:r>
            <a:endParaRPr lang="en-US" sz="1600" dirty="0"/>
          </a:p>
        </p:txBody>
      </p:sp>
      <p:sp>
        <p:nvSpPr>
          <p:cNvPr id="18" name="Shape 16"/>
          <p:cNvSpPr/>
          <p:nvPr/>
        </p:nvSpPr>
        <p:spPr>
          <a:xfrm>
            <a:off x="4709160" y="2535052"/>
            <a:ext cx="4160520" cy="128764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535052"/>
            <a:ext cx="4160520" cy="41762"/>
          </a:xfrm>
          <a:prstGeom prst="rect">
            <a:avLst/>
          </a:prstGeom>
          <a:solidFill>
            <a:srgbClr val="1A3550"/>
          </a:solidFill>
          <a:ln w="12700">
            <a:solidFill>
              <a:srgbClr val="1A3550"/>
            </a:solidFill>
            <a:prstDash val="solid"/>
          </a:ln>
        </p:spPr>
      </p:sp>
      <p:sp>
        <p:nvSpPr>
          <p:cNvPr id="20" name="Text 18"/>
          <p:cNvSpPr/>
          <p:nvPr/>
        </p:nvSpPr>
        <p:spPr>
          <a:xfrm>
            <a:off x="4863492" y="2604655"/>
            <a:ext cx="3941064" cy="489306"/>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Kody Python</a:t>
            </a:r>
            <a:endParaRPr lang="en-US" sz="2000" dirty="0"/>
          </a:p>
        </p:txBody>
      </p:sp>
      <p:sp>
        <p:nvSpPr>
          <p:cNvPr id="21" name="Text 19"/>
          <p:cNvSpPr/>
          <p:nvPr/>
        </p:nvSpPr>
        <p:spPr>
          <a:xfrm>
            <a:off x="4863492" y="3075864"/>
            <a:ext cx="3941064" cy="708206"/>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A* na grid map, A* z cost map, pole potencjału, ocena trajektorii, generacja kroków</a:t>
            </a:r>
            <a:endParaRPr lang="en-US" sz="1600" dirty="0"/>
          </a:p>
        </p:txBody>
      </p:sp>
      <p:sp>
        <p:nvSpPr>
          <p:cNvPr id="22" name="Prostokąt 21"/>
          <p:cNvSpPr/>
          <p:nvPr/>
        </p:nvSpPr>
        <p:spPr>
          <a:xfrm>
            <a:off x="274320" y="3952963"/>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spc="-20" dirty="0">
                <a:solidFill>
                  <a:schemeClr val="bg1"/>
                </a:solidFill>
              </a:rPr>
              <a:t>W tym wykładzie przechodzimy przez trzy poziomy planowania ruchu robota humanoidalnego. Najpierw omawiamy planowanie globalne, czyli wyznaczenie trasy od pozycji startowej do celu na podstawie mapy. Następnie przechodzimy do planowania lokalnego, które odpowiada za bieżące omijanie przeszkód i reagowanie na zmiany </a:t>
            </a:r>
            <a:r>
              <a:rPr lang="pl-PL" sz="1400" spc="-20" dirty="0" smtClean="0">
                <a:solidFill>
                  <a:schemeClr val="bg1"/>
                </a:solidFill>
              </a:rPr>
              <a:t/>
            </a:r>
            <a:br>
              <a:rPr lang="pl-PL" sz="1400" spc="-20" dirty="0" smtClean="0">
                <a:solidFill>
                  <a:schemeClr val="bg1"/>
                </a:solidFill>
              </a:rPr>
            </a:br>
            <a:r>
              <a:rPr lang="pl-PL" sz="1400" spc="-20" dirty="0" smtClean="0">
                <a:solidFill>
                  <a:schemeClr val="bg1"/>
                </a:solidFill>
              </a:rPr>
              <a:t>w </a:t>
            </a:r>
            <a:r>
              <a:rPr lang="pl-PL" sz="1400" spc="-20" dirty="0">
                <a:solidFill>
                  <a:schemeClr val="bg1"/>
                </a:solidFill>
              </a:rPr>
              <a:t>otoczeniu. Ostatnia część dotyczy planowania kroków, czyli przełożenia ścieżki geometrycznej na fizyczną sekwencję ustawień stóp humanoida. Kody w </a:t>
            </a:r>
            <a:r>
              <a:rPr lang="pl-PL" sz="1400" spc="-20" dirty="0" err="1">
                <a:solidFill>
                  <a:schemeClr val="bg1"/>
                </a:solidFill>
              </a:rPr>
              <a:t>Pythonie</a:t>
            </a:r>
            <a:r>
              <a:rPr lang="pl-PL" sz="1400" spc="-20" dirty="0">
                <a:solidFill>
                  <a:schemeClr val="bg1"/>
                </a:solidFill>
              </a:rPr>
              <a:t> pokazują uproszczone implementacje najważniejszych algorytmów.</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00B4D8"/>
          </a:solidFill>
          <a:ln w="12700">
            <a:solidFill>
              <a:srgbClr val="00B4D8"/>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00B4D8">
                    <a:alpha val="80000"/>
                  </a:srgbClr>
                </a:solidFill>
                <a:latin typeface="Trebuchet MS" pitchFamily="34" charset="0"/>
                <a:ea typeface="Trebuchet MS" pitchFamily="34" charset="-122"/>
                <a:cs typeface="Trebuchet MS" pitchFamily="34" charset="-120"/>
              </a:rPr>
              <a:t>01</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00B4D8"/>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92876" y="1732156"/>
            <a:ext cx="924808" cy="924808"/>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00B4D8"/>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Planowanie globalne</a:t>
            </a:r>
            <a:endParaRPr lang="en-US" sz="3200" dirty="0"/>
          </a:p>
        </p:txBody>
      </p:sp>
      <p:sp>
        <p:nvSpPr>
          <p:cNvPr id="9" name="Shape 6"/>
          <p:cNvSpPr/>
          <p:nvPr/>
        </p:nvSpPr>
        <p:spPr>
          <a:xfrm>
            <a:off x="2926080" y="2697480"/>
            <a:ext cx="3931920" cy="27432"/>
          </a:xfrm>
          <a:prstGeom prst="rect">
            <a:avLst/>
          </a:prstGeom>
          <a:solidFill>
            <a:srgbClr val="00B4D8"/>
          </a:solidFill>
          <a:ln w="12700">
            <a:solidFill>
              <a:srgbClr val="00B4D8"/>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4480560" cy="45720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Reprezentacje środowiska, Dijkstra, A*, heurystyki i cost map</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ARCHITEKTURA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Miejsce planowania w architekturze systemu</a:t>
            </a:r>
            <a:endParaRPr lang="en-US" sz="2400" dirty="0"/>
          </a:p>
        </p:txBody>
      </p:sp>
      <p:grpSp>
        <p:nvGrpSpPr>
          <p:cNvPr id="22" name="Grupa 21"/>
          <p:cNvGrpSpPr/>
          <p:nvPr/>
        </p:nvGrpSpPr>
        <p:grpSpPr>
          <a:xfrm>
            <a:off x="274320" y="1089208"/>
            <a:ext cx="8595360" cy="2796988"/>
            <a:chOff x="274320" y="1143000"/>
            <a:chExt cx="8595360" cy="3520440"/>
          </a:xfrm>
        </p:grpSpPr>
        <p:sp>
          <p:nvSpPr>
            <p:cNvPr id="6" name="Shape 4"/>
            <p:cNvSpPr/>
            <p:nvPr/>
          </p:nvSpPr>
          <p:spPr>
            <a:xfrm>
              <a:off x="27432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4160520" cy="54864"/>
            </a:xfrm>
            <a:prstGeom prst="rect">
              <a:avLst/>
            </a:prstGeom>
            <a:solidFill>
              <a:srgbClr val="00B4D8"/>
            </a:solidFill>
            <a:ln w="12700">
              <a:solidFill>
                <a:srgbClr val="00B4D8"/>
              </a:solidFill>
              <a:prstDash val="solid"/>
            </a:ln>
          </p:spPr>
        </p:sp>
        <p:sp>
          <p:nvSpPr>
            <p:cNvPr id="8" name="Text 6"/>
            <p:cNvSpPr/>
            <p:nvPr/>
          </p:nvSpPr>
          <p:spPr>
            <a:xfrm>
              <a:off x="38404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Wejście: </a:t>
              </a:r>
              <a:r>
                <a:rPr lang="en-US" sz="2000" dirty="0">
                  <a:solidFill>
                    <a:srgbClr val="0D1B2A"/>
                  </a:solidFill>
                  <a:latin typeface="Trebuchet MS" pitchFamily="34" charset="0"/>
                  <a:ea typeface="Trebuchet MS" pitchFamily="34" charset="-122"/>
                  <a:cs typeface="Trebuchet MS" pitchFamily="34" charset="-120"/>
                </a:rPr>
                <a:t>mapa + lokalizacja</a:t>
              </a:r>
              <a:endParaRPr lang="en-US" sz="2000" dirty="0"/>
            </a:p>
          </p:txBody>
        </p:sp>
        <p:sp>
          <p:nvSpPr>
            <p:cNvPr id="9" name="Text 7"/>
            <p:cNvSpPr/>
            <p:nvPr/>
          </p:nvSpPr>
          <p:spPr>
            <a:xfrm>
              <a:off x="384048" y="18534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Planista dostaje mapę kosztów i bieżącą pozycję robota z estymatora stanu</a:t>
              </a:r>
              <a:endParaRPr lang="en-US" sz="1600" dirty="0"/>
            </a:p>
          </p:txBody>
        </p:sp>
        <p:sp>
          <p:nvSpPr>
            <p:cNvPr id="10" name="Shape 8"/>
            <p:cNvSpPr/>
            <p:nvPr/>
          </p:nvSpPr>
          <p:spPr>
            <a:xfrm>
              <a:off x="4709160" y="11430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43000"/>
              <a:ext cx="4160520" cy="54864"/>
            </a:xfrm>
            <a:prstGeom prst="rect">
              <a:avLst/>
            </a:prstGeom>
            <a:solidFill>
              <a:srgbClr val="0077A8"/>
            </a:solidFill>
            <a:ln w="12700">
              <a:solidFill>
                <a:srgbClr val="0077A8"/>
              </a:solidFill>
              <a:prstDash val="solid"/>
            </a:ln>
          </p:spPr>
        </p:sp>
        <p:sp>
          <p:nvSpPr>
            <p:cNvPr id="12" name="Text 10"/>
            <p:cNvSpPr/>
            <p:nvPr/>
          </p:nvSpPr>
          <p:spPr>
            <a:xfrm>
              <a:off x="4818888" y="12344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Wejście: </a:t>
              </a:r>
              <a:r>
                <a:rPr lang="en-US" sz="2000" dirty="0">
                  <a:solidFill>
                    <a:srgbClr val="0D1B2A"/>
                  </a:solidFill>
                  <a:latin typeface="Trebuchet MS" pitchFamily="34" charset="0"/>
                  <a:ea typeface="Trebuchet MS" pitchFamily="34" charset="-122"/>
                  <a:cs typeface="Trebuchet MS" pitchFamily="34" charset="-120"/>
                </a:rPr>
                <a:t>cel misji</a:t>
              </a:r>
              <a:endParaRPr lang="en-US" sz="2000" dirty="0"/>
            </a:p>
          </p:txBody>
        </p:sp>
        <p:sp>
          <p:nvSpPr>
            <p:cNvPr id="13" name="Text 11"/>
            <p:cNvSpPr/>
            <p:nvPr/>
          </p:nvSpPr>
          <p:spPr>
            <a:xfrm>
              <a:off x="4818888" y="18534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Punkt docelowy lub sekwencja celów pośrednich z modułu zarządzania misją</a:t>
              </a:r>
              <a:endParaRPr lang="en-US" sz="1600" dirty="0"/>
            </a:p>
          </p:txBody>
        </p:sp>
        <p:sp>
          <p:nvSpPr>
            <p:cNvPr id="14" name="Shape 12"/>
            <p:cNvSpPr/>
            <p:nvPr/>
          </p:nvSpPr>
          <p:spPr>
            <a:xfrm>
              <a:off x="27432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971800"/>
              <a:ext cx="4160520" cy="54864"/>
            </a:xfrm>
            <a:prstGeom prst="rect">
              <a:avLst/>
            </a:prstGeom>
            <a:solidFill>
              <a:srgbClr val="0077A8"/>
            </a:solidFill>
            <a:ln w="12700">
              <a:solidFill>
                <a:srgbClr val="0077A8"/>
              </a:solidFill>
              <a:prstDash val="solid"/>
            </a:ln>
          </p:spPr>
        </p:sp>
        <p:sp>
          <p:nvSpPr>
            <p:cNvPr id="16" name="Text 14"/>
            <p:cNvSpPr/>
            <p:nvPr/>
          </p:nvSpPr>
          <p:spPr>
            <a:xfrm>
              <a:off x="38404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Wyjście: </a:t>
              </a:r>
              <a:r>
                <a:rPr lang="en-US" sz="2000" dirty="0">
                  <a:solidFill>
                    <a:srgbClr val="0D1B2A"/>
                  </a:solidFill>
                  <a:latin typeface="Trebuchet MS" pitchFamily="34" charset="0"/>
                  <a:ea typeface="Trebuchet MS" pitchFamily="34" charset="-122"/>
                  <a:cs typeface="Trebuchet MS" pitchFamily="34" charset="-120"/>
                </a:rPr>
                <a:t>ścieżka globalna</a:t>
              </a:r>
              <a:endParaRPr lang="en-US" sz="2000" dirty="0"/>
            </a:p>
          </p:txBody>
        </p:sp>
        <p:sp>
          <p:nvSpPr>
            <p:cNvPr id="17" name="Text 15"/>
            <p:cNvSpPr/>
            <p:nvPr/>
          </p:nvSpPr>
          <p:spPr>
            <a:xfrm>
              <a:off x="38404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Ciąg punktów w przestrzeni (x,y) lub (x,y,z) przekazywany do planisty lokalnego</a:t>
              </a:r>
              <a:endParaRPr lang="en-US" sz="1600" dirty="0"/>
            </a:p>
          </p:txBody>
        </p:sp>
        <p:sp>
          <p:nvSpPr>
            <p:cNvPr id="18" name="Shape 16"/>
            <p:cNvSpPr/>
            <p:nvPr/>
          </p:nvSpPr>
          <p:spPr>
            <a:xfrm>
              <a:off x="4709160" y="2971800"/>
              <a:ext cx="4160520" cy="16916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971800"/>
              <a:ext cx="4160520" cy="54864"/>
            </a:xfrm>
            <a:prstGeom prst="rect">
              <a:avLst/>
            </a:prstGeom>
            <a:solidFill>
              <a:srgbClr val="1A3550"/>
            </a:solidFill>
            <a:ln w="12700">
              <a:solidFill>
                <a:srgbClr val="1A3550"/>
              </a:solidFill>
              <a:prstDash val="solid"/>
            </a:ln>
          </p:spPr>
        </p:sp>
        <p:sp>
          <p:nvSpPr>
            <p:cNvPr id="20" name="Text 18"/>
            <p:cNvSpPr/>
            <p:nvPr/>
          </p:nvSpPr>
          <p:spPr>
            <a:xfrm>
              <a:off x="4818888" y="3063240"/>
              <a:ext cx="3941064" cy="642823"/>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Wyjście: </a:t>
              </a:r>
              <a:r>
                <a:rPr lang="en-US" sz="2000" dirty="0">
                  <a:solidFill>
                    <a:srgbClr val="0D1B2A"/>
                  </a:solidFill>
                  <a:latin typeface="Trebuchet MS" pitchFamily="34" charset="0"/>
                  <a:ea typeface="Trebuchet MS" pitchFamily="34" charset="-122"/>
                  <a:cs typeface="Trebuchet MS" pitchFamily="34" charset="-120"/>
                </a:rPr>
                <a:t>cost map</a:t>
              </a:r>
              <a:endParaRPr lang="en-US" sz="2000" dirty="0"/>
            </a:p>
          </p:txBody>
        </p:sp>
        <p:sp>
          <p:nvSpPr>
            <p:cNvPr id="21" name="Text 19"/>
            <p:cNvSpPr/>
            <p:nvPr/>
          </p:nvSpPr>
          <p:spPr>
            <a:xfrm>
              <a:off x="4818888" y="3682289"/>
              <a:ext cx="3941064" cy="930402"/>
            </a:xfrm>
            <a:prstGeom prst="rect">
              <a:avLst/>
            </a:prstGeom>
            <a:noFill/>
            <a:ln/>
          </p:spPr>
          <p:txBody>
            <a:bodyPr wrap="square" lIns="0" tIns="0" rIns="0" bIns="0" rtlCol="0" anchor="ctr"/>
            <a:lstStyle/>
            <a:p>
              <a:pPr marL="0" indent="0">
                <a:buNone/>
              </a:pPr>
              <a:r>
                <a:rPr lang="en-US" sz="1600" dirty="0">
                  <a:solidFill>
                    <a:srgbClr val="475569"/>
                  </a:solidFill>
                  <a:latin typeface="Calibri" pitchFamily="34" charset="0"/>
                  <a:ea typeface="Calibri" pitchFamily="34" charset="-122"/>
                  <a:cs typeface="Calibri" pitchFamily="34" charset="-120"/>
                </a:rPr>
                <a:t>Mapa kosztów przesyłana do lokalnego planisty jako mapa naviagacyjna</a:t>
              </a:r>
              <a:endParaRPr lang="en-US" sz="1600" dirty="0"/>
            </a:p>
          </p:txBody>
        </p:sp>
      </p:grpSp>
      <p:sp>
        <p:nvSpPr>
          <p:cNvPr id="23" name="Prostokąt 22"/>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Planowanie ruchu znajduje się pomiędzy percepcją, lokalizacją, zarządzaniem misją i kontrolą ruchu. Planista nie działa w izolacji: korzysta z mapy środowiska, aktualnej pozycji robota oraz celu misji. Wynikiem jego pracy jest ścieżka globalna oraz mapa kosztów, które są następnie przekazywane do planisty lokalnego. W praktycznym systemie humanoidalnym globalny plan określa kierunek działania, a lokalny planista decyduje, jak bezpiecznie wykonać ruch w danym momencie.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FORMALIZACJA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pl-PL" sz="2400" b="1" dirty="0" smtClean="0">
                <a:solidFill>
                  <a:srgbClr val="FFFFFF"/>
                </a:solidFill>
                <a:latin typeface="Trebuchet MS" pitchFamily="34" charset="0"/>
                <a:ea typeface="Trebuchet MS" pitchFamily="34" charset="-122"/>
                <a:cs typeface="Trebuchet MS" pitchFamily="34" charset="-120"/>
              </a:rPr>
              <a:t>Problem planowania ścieżki</a:t>
            </a:r>
            <a:endParaRPr lang="pl-PL" sz="2400" dirty="0"/>
          </a:p>
        </p:txBody>
      </p:sp>
      <p:sp>
        <p:nvSpPr>
          <p:cNvPr id="6" name="Shape 4"/>
          <p:cNvSpPr/>
          <p:nvPr/>
        </p:nvSpPr>
        <p:spPr>
          <a:xfrm>
            <a:off x="274320" y="1063660"/>
            <a:ext cx="8595360" cy="279113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mc:AlternateContent xmlns:mc="http://schemas.openxmlformats.org/markup-compatibility/2006" xmlns:a14="http://schemas.microsoft.com/office/drawing/2010/main">
        <mc:Choice Requires="a14">
          <p:sp>
            <p:nvSpPr>
              <p:cNvPr id="7" name="Text 5"/>
              <p:cNvSpPr/>
              <p:nvPr/>
            </p:nvSpPr>
            <p:spPr>
              <a:xfrm>
                <a:off x="457200" y="1125364"/>
                <a:ext cx="8229600" cy="2755933"/>
              </a:xfrm>
              <a:prstGeom prst="rect">
                <a:avLst/>
              </a:prstGeom>
              <a:noFill/>
              <a:ln/>
            </p:spPr>
            <p:txBody>
              <a:bodyPr wrap="square" lIns="127000" tIns="0" rIns="127000" bIns="36000" rtlCol="0" anchor="t">
                <a:spAutoFit/>
              </a:bodyPr>
              <a:lstStyle/>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Przestrzeń stanów</a:t>
                </a:r>
                <a:r>
                  <a:rPr lang="en-US" sz="1600" dirty="0">
                    <a:solidFill>
                      <a:srgbClr val="0D1B2A"/>
                    </a:solidFill>
                    <a:latin typeface="Calibri" pitchFamily="34" charset="0"/>
                    <a:ea typeface="Calibri" pitchFamily="34" charset="-122"/>
                    <a:cs typeface="Calibri" pitchFamily="34" charset="-120"/>
                  </a:rPr>
                  <a:t>: zbiór wszystkich dopuszczalnych </a:t>
                </a:r>
                <a:r>
                  <a:rPr lang="en-US" sz="1600" dirty="0" err="1">
                    <a:solidFill>
                      <a:srgbClr val="0D1B2A"/>
                    </a:solidFill>
                    <a:latin typeface="Calibri" pitchFamily="34" charset="0"/>
                    <a:ea typeface="Calibri" pitchFamily="34" charset="-122"/>
                    <a:cs typeface="Calibri" pitchFamily="34" charset="-120"/>
                  </a:rPr>
                  <a:t>konfiguracji</a:t>
                </a:r>
                <a:r>
                  <a:rPr lang="en-US" sz="1600" dirty="0">
                    <a:solidFill>
                      <a:srgbClr val="0D1B2A"/>
                    </a:solidFill>
                    <a:latin typeface="Calibri" pitchFamily="34" charset="0"/>
                    <a:ea typeface="Calibri" pitchFamily="34" charset="-122"/>
                    <a:cs typeface="Calibri" pitchFamily="34" charset="-120"/>
                  </a:rPr>
                  <a:t> </a:t>
                </a:r>
                <a:r>
                  <a:rPr lang="pl-PL" sz="1600" dirty="0" smtClean="0">
                    <a:solidFill>
                      <a:srgbClr val="0D1B2A"/>
                    </a:solidFill>
                    <a:latin typeface="Calibri" pitchFamily="34" charset="0"/>
                    <a:ea typeface="Calibri" pitchFamily="34" charset="-122"/>
                    <a:cs typeface="Calibri" pitchFamily="34" charset="-120"/>
                  </a:rPr>
                  <a:t>robota</a:t>
                </a:r>
                <a:r>
                  <a:rPr lang="en-US" sz="1600" dirty="0" smtClean="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600" b="1" i="1" dirty="0" smtClean="0">
                        <a:solidFill>
                          <a:schemeClr val="accent1"/>
                        </a:solidFill>
                        <a:latin typeface="Cambria Math" panose="02040503050406030204" pitchFamily="18" charset="0"/>
                        <a:ea typeface="Calibri" pitchFamily="34" charset="-122"/>
                        <a:cs typeface="Calibri" pitchFamily="34" charset="-120"/>
                      </a:rPr>
                      <m:t>𝑪</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𝒇𝒓𝒆𝒆</m:t>
                    </m:r>
                    <m:r>
                      <a:rPr lang="en-US" sz="1600" b="1" i="1" dirty="0" smtClean="0">
                        <a:solidFill>
                          <a:schemeClr val="accent1"/>
                        </a:solidFill>
                        <a:latin typeface="Cambria Math" panose="02040503050406030204" pitchFamily="18" charset="0"/>
                        <a:ea typeface="Calibri" pitchFamily="34" charset="-122"/>
                        <a:cs typeface="Calibri" pitchFamily="34" charset="-120"/>
                      </a:rPr>
                      <m:t> </m:t>
                    </m:r>
                    <m:r>
                      <a:rPr lang="en-US" sz="1600" b="1" i="1" dirty="0">
                        <a:solidFill>
                          <a:schemeClr val="accent1"/>
                        </a:solidFill>
                        <a:latin typeface="Cambria Math" panose="02040503050406030204" pitchFamily="18" charset="0"/>
                        <a:ea typeface="Calibri" pitchFamily="34" charset="-122"/>
                        <a:cs typeface="Calibri" pitchFamily="34" charset="-120"/>
                      </a:rPr>
                      <m:t>⊆ </m:t>
                    </m:r>
                    <m:r>
                      <a:rPr lang="en-US" sz="1600" b="1" i="1" dirty="0">
                        <a:solidFill>
                          <a:schemeClr val="accent1"/>
                        </a:solidFill>
                        <a:latin typeface="Cambria Math" panose="02040503050406030204" pitchFamily="18" charset="0"/>
                        <a:ea typeface="Calibri" pitchFamily="34" charset="-122"/>
                        <a:cs typeface="Calibri" pitchFamily="34" charset="-120"/>
                      </a:rPr>
                      <m:t>𝑪</m:t>
                    </m:r>
                  </m:oMath>
                </a14:m>
                <a:endParaRPr lang="en-US" sz="1600" b="1" dirty="0">
                  <a:solidFill>
                    <a:schemeClr val="accent1"/>
                  </a:solidFill>
                  <a:latin typeface="Georgia Pro Cond" panose="02040506050405020303" pitchFamily="18" charset="0"/>
                </a:endParaRPr>
              </a:p>
              <a:p>
                <a:pPr marL="601200" lvl="1"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Stan </a:t>
                </a:r>
                <a:r>
                  <a:rPr lang="pl-PL" sz="1600" b="1" dirty="0" smtClean="0">
                    <a:solidFill>
                      <a:srgbClr val="0D1B2A"/>
                    </a:solidFill>
                    <a:latin typeface="Calibri" pitchFamily="34" charset="0"/>
                    <a:ea typeface="Calibri" pitchFamily="34" charset="-122"/>
                    <a:cs typeface="Calibri" pitchFamily="34" charset="-120"/>
                  </a:rPr>
                  <a:t>początkowy</a:t>
                </a:r>
                <a:r>
                  <a:rPr lang="en-US" sz="1600" b="1" dirty="0" smtClean="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600" b="1" i="1" dirty="0" smtClean="0">
                        <a:solidFill>
                          <a:schemeClr val="accent1"/>
                        </a:solidFill>
                        <a:latin typeface="Cambria Math" panose="02040503050406030204" pitchFamily="18" charset="0"/>
                        <a:ea typeface="Calibri" pitchFamily="34" charset="-122"/>
                        <a:cs typeface="Calibri" pitchFamily="34" charset="-120"/>
                      </a:rPr>
                      <m:t>𝒒</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𝒔𝒕𝒂𝒓</m:t>
                    </m:r>
                  </m:oMath>
                </a14:m>
                <a:r>
                  <a:rPr lang="en-US" sz="1600" b="1" baseline="-25000" dirty="0" err="1" smtClean="0">
                    <a:solidFill>
                      <a:schemeClr val="accent1"/>
                    </a:solidFill>
                    <a:latin typeface="Georgia Pro Cond" panose="02040506050405020303" pitchFamily="18" charset="0"/>
                    <a:ea typeface="Calibri" pitchFamily="34" charset="-122"/>
                    <a:cs typeface="Calibri" pitchFamily="34" charset="-120"/>
                  </a:rPr>
                  <a:t>t</a:t>
                </a:r>
                <a:r>
                  <a:rPr lang="pl-PL" sz="1600" b="1" baseline="-25000" dirty="0" smtClean="0">
                    <a:solidFill>
                      <a:srgbClr val="0D1B2A"/>
                    </a:solidFill>
                    <a:latin typeface="Georgia Pro Cond" panose="02040506050405020303" pitchFamily="18" charset="0"/>
                    <a:ea typeface="Calibri" pitchFamily="34" charset="-122"/>
                    <a:cs typeface="Calibri" pitchFamily="34" charset="-120"/>
                  </a:rPr>
                  <a:t> </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aktualna pozycja i orientacja robota w mapie</a:t>
                </a:r>
                <a:endParaRPr lang="en-US" sz="1600" dirty="0"/>
              </a:p>
              <a:p>
                <a:pPr marL="601200" lvl="1"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Stan </a:t>
                </a:r>
                <a:r>
                  <a:rPr lang="pl-PL" sz="1600" b="1" dirty="0" smtClean="0">
                    <a:solidFill>
                      <a:srgbClr val="0D1B2A"/>
                    </a:solidFill>
                    <a:latin typeface="Calibri" pitchFamily="34" charset="0"/>
                    <a:ea typeface="Calibri" pitchFamily="34" charset="-122"/>
                    <a:cs typeface="Calibri" pitchFamily="34" charset="-120"/>
                  </a:rPr>
                  <a:t>docelowy</a:t>
                </a:r>
                <a:r>
                  <a:rPr lang="en-US" sz="1600" b="1" dirty="0" smtClean="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600" b="1" i="1" dirty="0" smtClean="0">
                        <a:solidFill>
                          <a:schemeClr val="accent1"/>
                        </a:solidFill>
                        <a:latin typeface="Cambria Math" panose="02040503050406030204" pitchFamily="18" charset="0"/>
                        <a:ea typeface="Calibri" pitchFamily="34" charset="-122"/>
                        <a:cs typeface="Calibri" pitchFamily="34" charset="-120"/>
                      </a:rPr>
                      <m:t>𝒒</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𝒈𝒐𝒂𝒍</m:t>
                    </m:r>
                  </m:oMath>
                </a14:m>
                <a:r>
                  <a:rPr lang="pl-PL" sz="1600" b="1" baseline="-25000" dirty="0" smtClean="0">
                    <a:solidFill>
                      <a:srgbClr val="0D1B2A"/>
                    </a:solidFill>
                    <a:latin typeface="Georgia Pro Cond" panose="02040506050405020303" pitchFamily="18" charset="0"/>
                    <a:ea typeface="Calibri" pitchFamily="34" charset="-122"/>
                    <a:cs typeface="Calibri" pitchFamily="34" charset="-120"/>
                  </a:rPr>
                  <a:t> </a:t>
                </a:r>
                <a:r>
                  <a:rPr lang="en-US" sz="1600" dirty="0" smtClean="0">
                    <a:solidFill>
                      <a:srgbClr val="0D1B2A"/>
                    </a:solidFill>
                    <a:latin typeface="Calibri" pitchFamily="34"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żądana pozycja końcowa misji</a:t>
                </a:r>
                <a:endParaRPr lang="en-US" sz="1600"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Ograniczenia</a:t>
                </a:r>
                <a:r>
                  <a:rPr lang="en-US" sz="1600" dirty="0">
                    <a:solidFill>
                      <a:srgbClr val="0D1B2A"/>
                    </a:solidFill>
                    <a:latin typeface="Calibri" pitchFamily="34" charset="0"/>
                    <a:ea typeface="Calibri" pitchFamily="34" charset="-122"/>
                    <a:cs typeface="Calibri" pitchFamily="34" charset="-120"/>
                  </a:rPr>
                  <a:t>: przeszkody, granice mapy, kinematyka, stabilność robota</a:t>
                </a:r>
                <a:endParaRPr lang="en-US" sz="1600"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Funkcja kosztu</a:t>
                </a:r>
                <a:r>
                  <a:rPr lang="en-US" sz="1600" dirty="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600" b="1" i="1" dirty="0" smtClean="0">
                        <a:solidFill>
                          <a:schemeClr val="accent1"/>
                        </a:solidFill>
                        <a:latin typeface="Cambria Math" panose="02040503050406030204" pitchFamily="18" charset="0"/>
                        <a:ea typeface="Calibri" pitchFamily="34" charset="-122"/>
                        <a:cs typeface="Calibri" pitchFamily="34" charset="-120"/>
                      </a:rPr>
                      <m:t>𝒄</m:t>
                    </m:r>
                    <m:r>
                      <a:rPr lang="en-US" sz="1600" b="1" i="1" dirty="0" smtClean="0">
                        <a:solidFill>
                          <a:schemeClr val="accent1"/>
                        </a:solidFill>
                        <a:latin typeface="Cambria Math" panose="02040503050406030204" pitchFamily="18" charset="0"/>
                        <a:ea typeface="Calibri" pitchFamily="34" charset="-122"/>
                        <a:cs typeface="Calibri" pitchFamily="34" charset="-120"/>
                      </a:rPr>
                      <m:t>(</m:t>
                    </m:r>
                    <m:r>
                      <a:rPr lang="en-US" sz="1600" b="1" i="1" dirty="0" err="1" smtClean="0">
                        <a:solidFill>
                          <a:schemeClr val="accent1"/>
                        </a:solidFill>
                        <a:latin typeface="Cambria Math" panose="02040503050406030204" pitchFamily="18" charset="0"/>
                        <a:ea typeface="Calibri" pitchFamily="34" charset="-122"/>
                        <a:cs typeface="Calibri" pitchFamily="34" charset="-120"/>
                      </a:rPr>
                      <m:t>𝒒</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𝒔𝒕𝒂𝒓𝒕</m:t>
                    </m:r>
                    <m:r>
                      <a:rPr lang="en-US" sz="1600" b="1" i="1" dirty="0">
                        <a:solidFill>
                          <a:schemeClr val="accent1"/>
                        </a:solidFill>
                        <a:latin typeface="Cambria Math" panose="02040503050406030204" pitchFamily="18" charset="0"/>
                        <a:ea typeface="Calibri" pitchFamily="34" charset="-122"/>
                        <a:cs typeface="Calibri" pitchFamily="34" charset="-120"/>
                      </a:rPr>
                      <m:t>, </m:t>
                    </m:r>
                    <m:r>
                      <a:rPr lang="en-US" sz="1600" b="1" i="1" dirty="0" err="1" smtClean="0">
                        <a:solidFill>
                          <a:schemeClr val="accent1"/>
                        </a:solidFill>
                        <a:latin typeface="Cambria Math" panose="02040503050406030204" pitchFamily="18" charset="0"/>
                        <a:ea typeface="Calibri" pitchFamily="34" charset="-122"/>
                        <a:cs typeface="Calibri" pitchFamily="34" charset="-120"/>
                      </a:rPr>
                      <m:t>𝒒</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𝒈𝒐𝒂𝒍</m:t>
                    </m:r>
                    <m:r>
                      <a:rPr lang="en-US" sz="1600" b="1" i="1" dirty="0">
                        <a:solidFill>
                          <a:schemeClr val="accent1"/>
                        </a:solidFill>
                        <a:latin typeface="Cambria Math" panose="02040503050406030204" pitchFamily="18" charset="0"/>
                        <a:ea typeface="Calibri" pitchFamily="34" charset="-122"/>
                        <a:cs typeface="Calibri" pitchFamily="34" charset="-120"/>
                      </a:rPr>
                      <m:t>)</m:t>
                    </m:r>
                  </m:oMath>
                </a14:m>
                <a:r>
                  <a:rPr lang="en-US" sz="1600" dirty="0">
                    <a:solidFill>
                      <a:srgbClr val="0D1B2A"/>
                    </a:solidFill>
                    <a:latin typeface="Georgia Pro Cond" panose="02040506050405020303" pitchFamily="18" charset="0"/>
                    <a:ea typeface="Calibri" pitchFamily="34" charset="-122"/>
                    <a:cs typeface="Calibri" pitchFamily="34" charset="-120"/>
                  </a:rPr>
                  <a:t> </a:t>
                </a:r>
                <a:r>
                  <a:rPr lang="en-US" sz="1600" dirty="0">
                    <a:solidFill>
                      <a:srgbClr val="0D1B2A"/>
                    </a:solidFill>
                    <a:latin typeface="Calibri" pitchFamily="34" charset="0"/>
                    <a:ea typeface="Calibri" pitchFamily="34" charset="-122"/>
                    <a:cs typeface="Calibri" pitchFamily="34" charset="-120"/>
                  </a:rPr>
                  <a:t>minimalizowana wzdłuż ścieżki (czas, energia, ryzyko)</a:t>
                </a:r>
                <a:endParaRPr lang="en-US" sz="1600" dirty="0"/>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Ścieżka optymalna</a:t>
                </a:r>
                <a:r>
                  <a:rPr lang="en-US" sz="1600" dirty="0">
                    <a:solidFill>
                      <a:srgbClr val="0D1B2A"/>
                    </a:solidFill>
                    <a:latin typeface="Calibri" pitchFamily="34" charset="0"/>
                    <a:ea typeface="Calibri" pitchFamily="34" charset="-122"/>
                    <a:cs typeface="Calibri" pitchFamily="34" charset="-120"/>
                  </a:rPr>
                  <a:t>: ciąg </a:t>
                </a:r>
                <a14:m>
                  <m:oMath xmlns:m="http://schemas.openxmlformats.org/officeDocument/2006/math">
                    <m:r>
                      <a:rPr lang="en-US" sz="1600" b="1" i="1" dirty="0" smtClean="0">
                        <a:solidFill>
                          <a:schemeClr val="accent1"/>
                        </a:solidFill>
                        <a:latin typeface="Cambria Math" panose="02040503050406030204" pitchFamily="18" charset="0"/>
                        <a:ea typeface="Calibri" pitchFamily="34" charset="-122"/>
                        <a:cs typeface="Calibri" pitchFamily="34" charset="-120"/>
                      </a:rPr>
                      <m:t>𝜸</m:t>
                    </m:r>
                    <m:r>
                      <a:rPr lang="en-US" sz="1600" b="1" i="1" dirty="0" smtClean="0">
                        <a:solidFill>
                          <a:schemeClr val="accent1"/>
                        </a:solidFill>
                        <a:latin typeface="Cambria Math" panose="02040503050406030204" pitchFamily="18" charset="0"/>
                        <a:ea typeface="Calibri" pitchFamily="34" charset="-122"/>
                        <a:cs typeface="Calibri" pitchFamily="34" charset="-120"/>
                      </a:rPr>
                      <m:t> : [</m:t>
                    </m:r>
                    <m:r>
                      <a:rPr lang="en-US" sz="1600" b="1" i="1" dirty="0" smtClean="0">
                        <a:solidFill>
                          <a:schemeClr val="accent1"/>
                        </a:solidFill>
                        <a:latin typeface="Cambria Math" panose="02040503050406030204" pitchFamily="18" charset="0"/>
                        <a:ea typeface="Calibri" pitchFamily="34" charset="-122"/>
                        <a:cs typeface="Calibri" pitchFamily="34" charset="-120"/>
                      </a:rPr>
                      <m:t>𝟎</m:t>
                    </m:r>
                    <m:r>
                      <a:rPr lang="en-US" sz="1600" b="1" i="1" dirty="0" smtClean="0">
                        <a:solidFill>
                          <a:schemeClr val="accent1"/>
                        </a:solidFill>
                        <a:latin typeface="Cambria Math" panose="02040503050406030204" pitchFamily="18" charset="0"/>
                        <a:ea typeface="Calibri" pitchFamily="34" charset="-122"/>
                        <a:cs typeface="Calibri" pitchFamily="34" charset="-120"/>
                      </a:rPr>
                      <m:t>,</m:t>
                    </m:r>
                    <m:r>
                      <a:rPr lang="en-US" sz="1600" b="1" i="1" dirty="0" smtClean="0">
                        <a:solidFill>
                          <a:schemeClr val="accent1"/>
                        </a:solidFill>
                        <a:latin typeface="Cambria Math" panose="02040503050406030204" pitchFamily="18" charset="0"/>
                        <a:ea typeface="Calibri" pitchFamily="34" charset="-122"/>
                        <a:cs typeface="Calibri" pitchFamily="34" charset="-120"/>
                      </a:rPr>
                      <m:t>𝟏</m:t>
                    </m:r>
                    <m:r>
                      <a:rPr lang="en-US" sz="1600" b="1" i="1" dirty="0" smtClean="0">
                        <a:solidFill>
                          <a:schemeClr val="accent1"/>
                        </a:solidFill>
                        <a:latin typeface="Cambria Math" panose="02040503050406030204" pitchFamily="18" charset="0"/>
                        <a:ea typeface="Calibri" pitchFamily="34" charset="-122"/>
                        <a:cs typeface="Calibri" pitchFamily="34" charset="-120"/>
                      </a:rPr>
                      <m:t>] → </m:t>
                    </m:r>
                    <m:r>
                      <a:rPr lang="en-US" sz="1600" b="1" i="1" dirty="0" err="1" smtClean="0">
                        <a:solidFill>
                          <a:schemeClr val="accent1"/>
                        </a:solidFill>
                        <a:latin typeface="Cambria Math" panose="02040503050406030204" pitchFamily="18" charset="0"/>
                        <a:ea typeface="Calibri" pitchFamily="34" charset="-122"/>
                        <a:cs typeface="Calibri" pitchFamily="34" charset="-120"/>
                      </a:rPr>
                      <m:t>𝑪</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𝒇𝒓𝒆𝒆</m:t>
                    </m:r>
                    <m:r>
                      <a:rPr lang="en-US" sz="1600" b="1" i="1" dirty="0" smtClean="0">
                        <a:solidFill>
                          <a:schemeClr val="accent1"/>
                        </a:solidFill>
                        <a:latin typeface="Cambria Math" panose="02040503050406030204" pitchFamily="18" charset="0"/>
                        <a:ea typeface="Calibri" pitchFamily="34" charset="-122"/>
                        <a:cs typeface="Calibri" pitchFamily="34" charset="-120"/>
                      </a:rPr>
                      <m:t> </m:t>
                    </m:r>
                    <m:r>
                      <a:rPr lang="en-US" sz="1600" b="1" i="1" dirty="0">
                        <a:solidFill>
                          <a:schemeClr val="accent1"/>
                        </a:solidFill>
                        <a:latin typeface="Cambria Math" panose="02040503050406030204" pitchFamily="18" charset="0"/>
                        <a:ea typeface="Calibri" pitchFamily="34" charset="-122"/>
                        <a:cs typeface="Calibri" pitchFamily="34" charset="-120"/>
                      </a:rPr>
                      <m:t>𝒕𝒂𝒌𝒊</m:t>
                    </m:r>
                    <m:r>
                      <a:rPr lang="en-US" sz="1600" b="1" i="1" dirty="0">
                        <a:solidFill>
                          <a:schemeClr val="accent1"/>
                        </a:solidFill>
                        <a:latin typeface="Cambria Math" panose="02040503050406030204" pitchFamily="18" charset="0"/>
                        <a:ea typeface="Calibri" pitchFamily="34" charset="-122"/>
                        <a:cs typeface="Calibri" pitchFamily="34" charset="-120"/>
                      </a:rPr>
                      <m:t>, ż</m:t>
                    </m:r>
                    <m:r>
                      <a:rPr lang="en-US" sz="1600" b="1" i="1" dirty="0">
                        <a:solidFill>
                          <a:schemeClr val="accent1"/>
                        </a:solidFill>
                        <a:latin typeface="Cambria Math" panose="02040503050406030204" pitchFamily="18" charset="0"/>
                        <a:ea typeface="Calibri" pitchFamily="34" charset="-122"/>
                        <a:cs typeface="Calibri" pitchFamily="34" charset="-120"/>
                      </a:rPr>
                      <m:t>𝒆</m:t>
                    </m:r>
                    <m:r>
                      <a:rPr lang="en-US" sz="1600" b="1" i="1" dirty="0">
                        <a:solidFill>
                          <a:schemeClr val="accent1"/>
                        </a:solidFill>
                        <a:latin typeface="Cambria Math" panose="02040503050406030204" pitchFamily="18" charset="0"/>
                        <a:ea typeface="Calibri" pitchFamily="34" charset="-122"/>
                        <a:cs typeface="Calibri" pitchFamily="34" charset="-120"/>
                      </a:rPr>
                      <m:t> </m:t>
                    </m:r>
                    <m:r>
                      <a:rPr lang="en-US" sz="1600" b="1" i="1" dirty="0">
                        <a:solidFill>
                          <a:schemeClr val="accent1"/>
                        </a:solidFill>
                        <a:latin typeface="Cambria Math" panose="02040503050406030204" pitchFamily="18" charset="0"/>
                        <a:ea typeface="Calibri" pitchFamily="34" charset="-122"/>
                        <a:cs typeface="Calibri" pitchFamily="34" charset="-120"/>
                      </a:rPr>
                      <m:t>𝜸</m:t>
                    </m:r>
                    <m:r>
                      <a:rPr lang="en-US" sz="1600" b="1" i="1" dirty="0">
                        <a:solidFill>
                          <a:schemeClr val="accent1"/>
                        </a:solidFill>
                        <a:latin typeface="Cambria Math" panose="02040503050406030204" pitchFamily="18" charset="0"/>
                        <a:ea typeface="Calibri" pitchFamily="34" charset="-122"/>
                        <a:cs typeface="Calibri" pitchFamily="34" charset="-120"/>
                      </a:rPr>
                      <m:t>(</m:t>
                    </m:r>
                    <m:r>
                      <a:rPr lang="en-US" sz="1600" b="1" i="1" dirty="0">
                        <a:solidFill>
                          <a:schemeClr val="accent1"/>
                        </a:solidFill>
                        <a:latin typeface="Cambria Math" panose="02040503050406030204" pitchFamily="18" charset="0"/>
                        <a:ea typeface="Calibri" pitchFamily="34" charset="-122"/>
                        <a:cs typeface="Calibri" pitchFamily="34" charset="-120"/>
                      </a:rPr>
                      <m:t>𝟎</m:t>
                    </m:r>
                    <m:r>
                      <a:rPr lang="en-US" sz="1600" b="1" i="1" dirty="0">
                        <a:solidFill>
                          <a:schemeClr val="accent1"/>
                        </a:solidFill>
                        <a:latin typeface="Cambria Math" panose="02040503050406030204" pitchFamily="18" charset="0"/>
                        <a:ea typeface="Calibri" pitchFamily="34" charset="-122"/>
                        <a:cs typeface="Calibri" pitchFamily="34" charset="-120"/>
                      </a:rPr>
                      <m:t>)=</m:t>
                    </m:r>
                    <m:r>
                      <a:rPr lang="en-US" sz="1600" b="1" i="1" dirty="0" err="1" smtClean="0">
                        <a:solidFill>
                          <a:schemeClr val="accent1"/>
                        </a:solidFill>
                        <a:latin typeface="Cambria Math" panose="02040503050406030204" pitchFamily="18" charset="0"/>
                        <a:ea typeface="Calibri" pitchFamily="34" charset="-122"/>
                        <a:cs typeface="Calibri" pitchFamily="34" charset="-120"/>
                      </a:rPr>
                      <m:t>𝒒</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𝒔𝒕𝒂𝒓𝒕</m:t>
                    </m:r>
                    <m:r>
                      <a:rPr lang="en-US" sz="1600" b="1" i="1" dirty="0">
                        <a:solidFill>
                          <a:schemeClr val="accent1"/>
                        </a:solidFill>
                        <a:latin typeface="Cambria Math" panose="02040503050406030204" pitchFamily="18" charset="0"/>
                        <a:ea typeface="Calibri" pitchFamily="34" charset="-122"/>
                        <a:cs typeface="Calibri" pitchFamily="34" charset="-120"/>
                      </a:rPr>
                      <m:t>, </m:t>
                    </m:r>
                    <m:r>
                      <a:rPr lang="en-US" sz="1600" b="1" i="1" dirty="0">
                        <a:solidFill>
                          <a:schemeClr val="accent1"/>
                        </a:solidFill>
                        <a:latin typeface="Cambria Math" panose="02040503050406030204" pitchFamily="18" charset="0"/>
                        <a:ea typeface="Calibri" pitchFamily="34" charset="-122"/>
                        <a:cs typeface="Calibri" pitchFamily="34" charset="-120"/>
                      </a:rPr>
                      <m:t>𝜸</m:t>
                    </m:r>
                    <m:r>
                      <a:rPr lang="en-US" sz="1600" b="1" i="1" dirty="0">
                        <a:solidFill>
                          <a:schemeClr val="accent1"/>
                        </a:solidFill>
                        <a:latin typeface="Cambria Math" panose="02040503050406030204" pitchFamily="18" charset="0"/>
                        <a:ea typeface="Calibri" pitchFamily="34" charset="-122"/>
                        <a:cs typeface="Calibri" pitchFamily="34" charset="-120"/>
                      </a:rPr>
                      <m:t>(</m:t>
                    </m:r>
                    <m:r>
                      <a:rPr lang="en-US" sz="1600" b="1" i="1" dirty="0">
                        <a:solidFill>
                          <a:schemeClr val="accent1"/>
                        </a:solidFill>
                        <a:latin typeface="Cambria Math" panose="02040503050406030204" pitchFamily="18" charset="0"/>
                        <a:ea typeface="Calibri" pitchFamily="34" charset="-122"/>
                        <a:cs typeface="Calibri" pitchFamily="34" charset="-120"/>
                      </a:rPr>
                      <m:t>𝟏</m:t>
                    </m:r>
                    <m:r>
                      <a:rPr lang="en-US" sz="1600" b="1" i="1" dirty="0">
                        <a:solidFill>
                          <a:schemeClr val="accent1"/>
                        </a:solidFill>
                        <a:latin typeface="Cambria Math" panose="02040503050406030204" pitchFamily="18" charset="0"/>
                        <a:ea typeface="Calibri" pitchFamily="34" charset="-122"/>
                        <a:cs typeface="Calibri" pitchFamily="34" charset="-120"/>
                      </a:rPr>
                      <m:t>)=</m:t>
                    </m:r>
                    <m:r>
                      <a:rPr lang="en-US" sz="1600" b="1" i="1" dirty="0" err="1" smtClean="0">
                        <a:solidFill>
                          <a:schemeClr val="accent1"/>
                        </a:solidFill>
                        <a:latin typeface="Cambria Math" panose="02040503050406030204" pitchFamily="18" charset="0"/>
                        <a:ea typeface="Calibri" pitchFamily="34" charset="-122"/>
                        <a:cs typeface="Calibri" pitchFamily="34" charset="-120"/>
                      </a:rPr>
                      <m:t>𝒒</m:t>
                    </m:r>
                    <m:r>
                      <a:rPr lang="en-US" sz="1600" b="1" i="1" baseline="-25000" dirty="0" err="1" smtClean="0">
                        <a:solidFill>
                          <a:schemeClr val="accent1"/>
                        </a:solidFill>
                        <a:latin typeface="Cambria Math" panose="02040503050406030204" pitchFamily="18" charset="0"/>
                        <a:ea typeface="Calibri" pitchFamily="34" charset="-122"/>
                        <a:cs typeface="Calibri" pitchFamily="34" charset="-120"/>
                      </a:rPr>
                      <m:t>𝒈𝒐𝒂𝒍</m:t>
                    </m:r>
                  </m:oMath>
                </a14:m>
                <a:endParaRPr lang="en-US" sz="1600" b="1" baseline="-25000" dirty="0">
                  <a:solidFill>
                    <a:schemeClr val="accent1"/>
                  </a:solidFill>
                  <a:latin typeface="Georgia Pro Cond" panose="02040506050405020303" pitchFamily="18" charset="0"/>
                </a:endParaRPr>
              </a:p>
              <a:p>
                <a:pPr marL="144000" indent="-144000">
                  <a:spcAft>
                    <a:spcPts val="1200"/>
                  </a:spcAft>
                  <a:buSzPct val="100000"/>
                  <a:buChar char="•"/>
                </a:pPr>
                <a:r>
                  <a:rPr lang="en-US" sz="1600" b="1" dirty="0">
                    <a:solidFill>
                      <a:srgbClr val="0D1B2A"/>
                    </a:solidFill>
                    <a:latin typeface="Calibri" pitchFamily="34" charset="0"/>
                    <a:ea typeface="Calibri" pitchFamily="34" charset="-122"/>
                    <a:cs typeface="Calibri" pitchFamily="34" charset="-120"/>
                  </a:rPr>
                  <a:t>Zupełność</a:t>
                </a:r>
                <a:r>
                  <a:rPr lang="en-US" sz="1600" dirty="0">
                    <a:solidFill>
                      <a:srgbClr val="0D1B2A"/>
                    </a:solidFill>
                    <a:latin typeface="Calibri" pitchFamily="34" charset="0"/>
                    <a:ea typeface="Calibri" pitchFamily="34" charset="-122"/>
                    <a:cs typeface="Calibri" pitchFamily="34" charset="-120"/>
                  </a:rPr>
                  <a:t>: algorytm znajdzie ścieżkę, jeśli istnieje; optymalność: znajdzie najlepszą</a:t>
                </a:r>
                <a:endParaRPr lang="en-US" sz="1600" dirty="0"/>
              </a:p>
            </p:txBody>
          </p:sp>
        </mc:Choice>
        <mc:Fallback xmlns="">
          <p:sp>
            <p:nvSpPr>
              <p:cNvPr id="7" name="Text 5"/>
              <p:cNvSpPr>
                <a:spLocks noRot="1" noChangeAspect="1" noMove="1" noResize="1" noEditPoints="1" noAdjustHandles="1" noChangeArrowheads="1" noChangeShapeType="1" noTextEdit="1"/>
              </p:cNvSpPr>
              <p:nvPr/>
            </p:nvSpPr>
            <p:spPr>
              <a:xfrm>
                <a:off x="457200" y="1125364"/>
                <a:ext cx="8229600" cy="2755933"/>
              </a:xfrm>
              <a:prstGeom prst="rect">
                <a:avLst/>
              </a:prstGeom>
              <a:blipFill>
                <a:blip r:embed="rId3"/>
                <a:stretch>
                  <a:fillRect t="-2434"/>
                </a:stretch>
              </a:blipFill>
              <a:ln/>
            </p:spPr>
            <p:txBody>
              <a:bodyPr/>
              <a:lstStyle/>
              <a:p>
                <a:r>
                  <a:rPr lang="pl-PL">
                    <a:noFill/>
                  </a:rPr>
                  <a:t> </a:t>
                </a:r>
              </a:p>
            </p:txBody>
          </p:sp>
        </mc:Fallback>
      </mc:AlternateContent>
      <p:sp>
        <p:nvSpPr>
          <p:cNvPr id="8" name="Prostokąt 7"/>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Problem planowania ścieżki można formalnie zapisać jako szukanie przejścia ze stanu początkowego do stanu docelowego w przestrzeni dopuszczalnych konfiguracji. Dla humanoida przestrzeń ta jest ograniczona nie tylko przez przeszkody geometryczne, ale również przez kinematykę, stabilność i możliwość wykonania kroku. Funkcja kosztu określa, co uznajemy za „dobrą” ścieżkę: może to być najkrótszy czas, najniższa energia, największy dystans od przeszkód albo najmniejsze ryzyko utraty równowagi. Ważne pojęcia to zupełność i optymalność algorytmu.</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REPREZENTACJE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Reprezentacje grafowe środowiska</a:t>
            </a:r>
            <a:endParaRPr lang="en-US" sz="2400" dirty="0"/>
          </a:p>
        </p:txBody>
      </p:sp>
      <p:sp>
        <p:nvSpPr>
          <p:cNvPr id="6" name="Shape 4"/>
          <p:cNvSpPr/>
          <p:nvPr/>
        </p:nvSpPr>
        <p:spPr>
          <a:xfrm>
            <a:off x="274320" y="1143000"/>
            <a:ext cx="2651760" cy="249229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43000"/>
            <a:ext cx="2651760" cy="411480"/>
          </a:xfrm>
          <a:prstGeom prst="rect">
            <a:avLst/>
          </a:prstGeom>
          <a:solidFill>
            <a:srgbClr val="00B4D8"/>
          </a:solidFill>
          <a:ln w="12700">
            <a:solidFill>
              <a:srgbClr val="00B4D8"/>
            </a:solidFill>
            <a:prstDash val="solid"/>
          </a:ln>
        </p:spPr>
      </p:sp>
      <p:sp>
        <p:nvSpPr>
          <p:cNvPr id="8" name="Text 6"/>
          <p:cNvSpPr/>
          <p:nvPr/>
        </p:nvSpPr>
        <p:spPr>
          <a:xfrm>
            <a:off x="384048" y="1161288"/>
            <a:ext cx="2432304"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Siatka komórek (Grid)</a:t>
            </a:r>
            <a:endParaRPr lang="en-US" sz="1600" dirty="0"/>
          </a:p>
        </p:txBody>
      </p:sp>
      <p:sp>
        <p:nvSpPr>
          <p:cNvPr id="9" name="Text 7"/>
          <p:cNvSpPr/>
          <p:nvPr/>
        </p:nvSpPr>
        <p:spPr>
          <a:xfrm>
            <a:off x="317142" y="1627632"/>
            <a:ext cx="2579202" cy="1692771"/>
          </a:xfrm>
          <a:prstGeom prst="rect">
            <a:avLst/>
          </a:prstGeom>
          <a:noFill/>
          <a:ln/>
        </p:spPr>
        <p:txBody>
          <a:bodyPr wrap="square" lIns="50800" tIns="0" rIns="50800" bIns="0" rtlCol="0" anchor="t">
            <a:spAutoFit/>
          </a:bodyPr>
          <a:lstStyle/>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Regularna siatka N×M komórek</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Komórka: wolna / zajęta / koszt</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Łatwa implementacja A*</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Duże mapy = wysoka pamięć</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Rozdzielczość ogranicza precyzję</a:t>
            </a:r>
            <a:endParaRPr lang="en-US" sz="1400" dirty="0"/>
          </a:p>
        </p:txBody>
      </p:sp>
      <p:sp>
        <p:nvSpPr>
          <p:cNvPr id="10" name="Shape 8"/>
          <p:cNvSpPr/>
          <p:nvPr/>
        </p:nvSpPr>
        <p:spPr>
          <a:xfrm>
            <a:off x="3154680" y="1143000"/>
            <a:ext cx="2757698" cy="249229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154680" y="1143000"/>
            <a:ext cx="2757698" cy="411480"/>
          </a:xfrm>
          <a:prstGeom prst="rect">
            <a:avLst/>
          </a:prstGeom>
          <a:solidFill>
            <a:srgbClr val="0077A8"/>
          </a:solidFill>
          <a:ln w="12700">
            <a:solidFill>
              <a:srgbClr val="0077A8"/>
            </a:solidFill>
            <a:prstDash val="solid"/>
          </a:ln>
        </p:spPr>
      </p:sp>
      <p:sp>
        <p:nvSpPr>
          <p:cNvPr id="12" name="Text 10"/>
          <p:cNvSpPr/>
          <p:nvPr/>
        </p:nvSpPr>
        <p:spPr>
          <a:xfrm>
            <a:off x="3264408" y="1161288"/>
            <a:ext cx="2432304"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Graf topologiczny</a:t>
            </a:r>
            <a:endParaRPr lang="en-US" sz="1600" dirty="0"/>
          </a:p>
        </p:txBody>
      </p:sp>
      <p:sp>
        <p:nvSpPr>
          <p:cNvPr id="13" name="Text 11"/>
          <p:cNvSpPr/>
          <p:nvPr/>
        </p:nvSpPr>
        <p:spPr>
          <a:xfrm>
            <a:off x="3175200" y="1627632"/>
            <a:ext cx="2737178" cy="1815882"/>
          </a:xfrm>
          <a:prstGeom prst="rect">
            <a:avLst/>
          </a:prstGeom>
          <a:noFill/>
          <a:ln/>
        </p:spPr>
        <p:txBody>
          <a:bodyPr wrap="square" lIns="50800" tIns="0" rIns="50800" bIns="0" rtlCol="0" anchor="t">
            <a:spAutoFit/>
          </a:bodyPr>
          <a:lstStyle/>
          <a:p>
            <a:pPr marL="144000" indent="-144000">
              <a:spcAft>
                <a:spcPts val="600"/>
              </a:spcAft>
              <a:buSzPct val="100000"/>
              <a:buChar char="•"/>
            </a:pPr>
            <a:r>
              <a:rPr lang="en-US" sz="1400" spc="-40" dirty="0">
                <a:solidFill>
                  <a:srgbClr val="0D1B2A"/>
                </a:solidFill>
                <a:latin typeface="Calibri" pitchFamily="34" charset="0"/>
                <a:ea typeface="Calibri" pitchFamily="34" charset="-122"/>
                <a:cs typeface="Calibri" pitchFamily="34" charset="-120"/>
              </a:rPr>
              <a:t>Węzły = charakterystyczne miejsca</a:t>
            </a:r>
            <a:endParaRPr lang="en-US" sz="1400" spc="-40" dirty="0"/>
          </a:p>
          <a:p>
            <a:pPr marL="144000" indent="-144000">
              <a:spcAft>
                <a:spcPts val="600"/>
              </a:spcAft>
              <a:buSzPct val="100000"/>
              <a:buChar char="•"/>
            </a:pPr>
            <a:r>
              <a:rPr lang="en-US" sz="1400" spc="-40" dirty="0">
                <a:solidFill>
                  <a:srgbClr val="0D1B2A"/>
                </a:solidFill>
                <a:latin typeface="Calibri" pitchFamily="34" charset="0"/>
                <a:ea typeface="Calibri" pitchFamily="34" charset="-122"/>
                <a:cs typeface="Calibri" pitchFamily="34" charset="-120"/>
              </a:rPr>
              <a:t>Krawędzie = przejazdy między nimi</a:t>
            </a:r>
            <a:endParaRPr lang="en-US" sz="1400" spc="-40" dirty="0"/>
          </a:p>
          <a:p>
            <a:pPr marL="144000" indent="-144000">
              <a:spcAft>
                <a:spcPts val="600"/>
              </a:spcAft>
              <a:buSzPct val="100000"/>
              <a:buChar char="•"/>
            </a:pPr>
            <a:r>
              <a:rPr lang="en-US" sz="1400" spc="-40" dirty="0">
                <a:solidFill>
                  <a:srgbClr val="0D1B2A"/>
                </a:solidFill>
                <a:latin typeface="Calibri" pitchFamily="34" charset="0"/>
                <a:ea typeface="Calibri" pitchFamily="34" charset="-122"/>
                <a:cs typeface="Calibri" pitchFamily="34" charset="-120"/>
              </a:rPr>
              <a:t>Szybkie planowanie wysokopoziomowe</a:t>
            </a:r>
            <a:endParaRPr lang="en-US" sz="1400" spc="-40" dirty="0"/>
          </a:p>
          <a:p>
            <a:pPr marL="144000" indent="-144000">
              <a:spcAft>
                <a:spcPts val="600"/>
              </a:spcAft>
              <a:buSzPct val="100000"/>
              <a:buChar char="•"/>
            </a:pPr>
            <a:r>
              <a:rPr lang="en-US" sz="1400" spc="-40" dirty="0">
                <a:solidFill>
                  <a:srgbClr val="0D1B2A"/>
                </a:solidFill>
                <a:latin typeface="Calibri" pitchFamily="34" charset="0"/>
                <a:ea typeface="Calibri" pitchFamily="34" charset="-122"/>
                <a:cs typeface="Calibri" pitchFamily="34" charset="-120"/>
              </a:rPr>
              <a:t>Niska rozdzielczość geometryczna</a:t>
            </a:r>
            <a:endParaRPr lang="en-US" sz="1400" spc="-40" dirty="0"/>
          </a:p>
          <a:p>
            <a:pPr marL="144000" indent="-144000">
              <a:spcAft>
                <a:spcPts val="600"/>
              </a:spcAft>
              <a:buSzPct val="100000"/>
              <a:buChar char="•"/>
            </a:pPr>
            <a:r>
              <a:rPr lang="en-US" sz="1400" spc="-40" dirty="0">
                <a:solidFill>
                  <a:srgbClr val="0D1B2A"/>
                </a:solidFill>
                <a:latin typeface="Calibri" pitchFamily="34" charset="0"/>
                <a:ea typeface="Calibri" pitchFamily="34" charset="-122"/>
                <a:cs typeface="Calibri" pitchFamily="34" charset="-120"/>
              </a:rPr>
              <a:t>Wymaga mapowania semantycznego</a:t>
            </a:r>
            <a:endParaRPr lang="en-US" sz="1400" spc="-40" dirty="0"/>
          </a:p>
        </p:txBody>
      </p:sp>
      <p:sp>
        <p:nvSpPr>
          <p:cNvPr id="14" name="Shape 12"/>
          <p:cNvSpPr/>
          <p:nvPr/>
        </p:nvSpPr>
        <p:spPr>
          <a:xfrm>
            <a:off x="6101945" y="1143000"/>
            <a:ext cx="2813455" cy="249229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101945" y="1143000"/>
            <a:ext cx="2813455" cy="411480"/>
          </a:xfrm>
          <a:prstGeom prst="rect">
            <a:avLst/>
          </a:prstGeom>
          <a:solidFill>
            <a:srgbClr val="1A3550"/>
          </a:solidFill>
          <a:ln w="12700">
            <a:solidFill>
              <a:srgbClr val="1A3550"/>
            </a:solidFill>
            <a:prstDash val="solid"/>
          </a:ln>
        </p:spPr>
      </p:sp>
      <p:sp>
        <p:nvSpPr>
          <p:cNvPr id="16" name="Text 14"/>
          <p:cNvSpPr/>
          <p:nvPr/>
        </p:nvSpPr>
        <p:spPr>
          <a:xfrm>
            <a:off x="6211674" y="1161288"/>
            <a:ext cx="2432304"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Visibility/Roadmap</a:t>
            </a:r>
            <a:endParaRPr lang="en-US" sz="1600" dirty="0"/>
          </a:p>
        </p:txBody>
      </p:sp>
      <p:sp>
        <p:nvSpPr>
          <p:cNvPr id="17" name="Text 15"/>
          <p:cNvSpPr/>
          <p:nvPr/>
        </p:nvSpPr>
        <p:spPr>
          <a:xfrm>
            <a:off x="6152202" y="1627632"/>
            <a:ext cx="2740896" cy="1692771"/>
          </a:xfrm>
          <a:prstGeom prst="rect">
            <a:avLst/>
          </a:prstGeom>
          <a:noFill/>
          <a:ln/>
        </p:spPr>
        <p:txBody>
          <a:bodyPr wrap="square" lIns="50800" tIns="0" rIns="50800" bIns="0" rtlCol="0" anchor="t">
            <a:spAutoFit/>
          </a:bodyPr>
          <a:lstStyle/>
          <a:p>
            <a:pPr marL="144000" indent="-144000">
              <a:spcAft>
                <a:spcPts val="1200"/>
              </a:spcAft>
              <a:buSzPct val="100000"/>
              <a:buChar char="•"/>
            </a:pPr>
            <a:r>
              <a:rPr lang="en-US" sz="1400" spc="-50" dirty="0">
                <a:solidFill>
                  <a:srgbClr val="0D1B2A"/>
                </a:solidFill>
                <a:latin typeface="Calibri" pitchFamily="34" charset="0"/>
                <a:ea typeface="Calibri" pitchFamily="34" charset="-122"/>
                <a:cs typeface="Calibri" pitchFamily="34" charset="-120"/>
              </a:rPr>
              <a:t>Graf widzialności krawędzi przeszkód</a:t>
            </a:r>
            <a:endParaRPr lang="en-US" sz="1400" spc="-50" dirty="0"/>
          </a:p>
          <a:p>
            <a:pPr marL="144000" indent="-144000">
              <a:spcAft>
                <a:spcPts val="1200"/>
              </a:spcAft>
              <a:buSzPct val="100000"/>
              <a:buChar char="•"/>
            </a:pPr>
            <a:r>
              <a:rPr lang="en-US" sz="1400" spc="-40" dirty="0">
                <a:solidFill>
                  <a:srgbClr val="0D1B2A"/>
                </a:solidFill>
                <a:latin typeface="Calibri" pitchFamily="34" charset="0"/>
                <a:ea typeface="Calibri" pitchFamily="34" charset="-122"/>
                <a:cs typeface="Calibri" pitchFamily="34" charset="-120"/>
              </a:rPr>
              <a:t>Trasy wzdłuż wklęsłości przeszkód</a:t>
            </a:r>
            <a:endParaRPr lang="en-US" sz="1400" spc="-40" dirty="0"/>
          </a:p>
          <a:p>
            <a:pPr marL="144000" indent="-144000">
              <a:spcAft>
                <a:spcPts val="1200"/>
              </a:spcAft>
              <a:buSzPct val="100000"/>
              <a:buChar char="•"/>
            </a:pPr>
            <a:r>
              <a:rPr lang="en-US" sz="1400" spc="-40" dirty="0">
                <a:solidFill>
                  <a:srgbClr val="0D1B2A"/>
                </a:solidFill>
                <a:latin typeface="Calibri" pitchFamily="34" charset="0"/>
                <a:ea typeface="Calibri" pitchFamily="34" charset="-122"/>
                <a:cs typeface="Calibri" pitchFamily="34" charset="-120"/>
              </a:rPr>
              <a:t>Optymalne w 2D dla znanych map</a:t>
            </a:r>
            <a:endParaRPr lang="en-US" sz="1400" spc="-40" dirty="0"/>
          </a:p>
          <a:p>
            <a:pPr marL="144000" indent="-144000">
              <a:spcAft>
                <a:spcPts val="1200"/>
              </a:spcAft>
              <a:buSzPct val="100000"/>
              <a:buChar char="•"/>
            </a:pPr>
            <a:r>
              <a:rPr lang="en-US" sz="1400" spc="-40" dirty="0">
                <a:solidFill>
                  <a:srgbClr val="0D1B2A"/>
                </a:solidFill>
                <a:latin typeface="Calibri" pitchFamily="34" charset="0"/>
                <a:ea typeface="Calibri" pitchFamily="34" charset="-122"/>
                <a:cs typeface="Calibri" pitchFamily="34" charset="-120"/>
              </a:rPr>
              <a:t>Trudne do uogólnienia na 3D</a:t>
            </a:r>
            <a:endParaRPr lang="en-US" sz="1400" spc="-40" dirty="0"/>
          </a:p>
          <a:p>
            <a:pPr marL="144000" indent="-144000">
              <a:spcAft>
                <a:spcPts val="1200"/>
              </a:spcAft>
              <a:buSzPct val="100000"/>
              <a:buChar char="•"/>
            </a:pPr>
            <a:r>
              <a:rPr lang="en-US" sz="1400" spc="-40" dirty="0">
                <a:solidFill>
                  <a:srgbClr val="0D1B2A"/>
                </a:solidFill>
                <a:latin typeface="Calibri" pitchFamily="34" charset="0"/>
                <a:ea typeface="Calibri" pitchFamily="34" charset="-122"/>
                <a:cs typeface="Calibri" pitchFamily="34" charset="-120"/>
              </a:rPr>
              <a:t>Rzadko stosowane dla humanoida</a:t>
            </a:r>
            <a:endParaRPr lang="en-US" sz="1400" spc="-40" dirty="0"/>
          </a:p>
        </p:txBody>
      </p:sp>
      <p:sp>
        <p:nvSpPr>
          <p:cNvPr id="18" name="Prostokąt 17"/>
          <p:cNvSpPr/>
          <p:nvPr/>
        </p:nvSpPr>
        <p:spPr>
          <a:xfrm>
            <a:off x="274320" y="3790813"/>
            <a:ext cx="8595360" cy="1188774"/>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Środowisko można reprezentować na kilka sposobów, a wybór reprezentacji wpływa na szybkość i jakość planowania. Siatka komórek jest najprostsza i dobrze współpracuje z A*, ale przy dużych mapach zużywa dużo pamięci. Graf topologiczny dobrze nadaje się do planowania wysokopoziomowego, na przykład przejścia między pomieszczeniami, ale traci szczegóły geometryczne. Graf widzialności i </a:t>
            </a:r>
            <a:r>
              <a:rPr lang="pl-PL" sz="1400" dirty="0" err="1">
                <a:solidFill>
                  <a:schemeClr val="bg1"/>
                </a:solidFill>
              </a:rPr>
              <a:t>roadmapy</a:t>
            </a:r>
            <a:r>
              <a:rPr lang="pl-PL" sz="1400" dirty="0">
                <a:solidFill>
                  <a:schemeClr val="bg1"/>
                </a:solidFill>
              </a:rPr>
              <a:t> są użyteczne w znanych mapach 2D, jednak dla humanoidów często okazują się zbyt uproszczone, ponieważ nie uwzględniają stabilności i ograniczeń kroków.</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77A8"/>
          </a:solidFill>
          <a:ln w="12700">
            <a:solidFill>
              <a:srgbClr val="0077A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77A8"/>
                </a:solidFill>
                <a:latin typeface="Trebuchet MS" pitchFamily="34" charset="0"/>
                <a:ea typeface="Trebuchet MS" pitchFamily="34" charset="-122"/>
                <a:cs typeface="Trebuchet MS" pitchFamily="34" charset="-120"/>
              </a:rPr>
              <a:t>SEKCJA 1 | DIJKSTRA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Algorytm Dijkstry</a:t>
            </a:r>
            <a:endParaRPr lang="en-US" sz="2400" dirty="0"/>
          </a:p>
        </p:txBody>
      </p:sp>
      <p:sp>
        <p:nvSpPr>
          <p:cNvPr id="6" name="Shape 4"/>
          <p:cNvSpPr/>
          <p:nvPr/>
        </p:nvSpPr>
        <p:spPr>
          <a:xfrm>
            <a:off x="274320" y="1097280"/>
            <a:ext cx="5394960" cy="2791139"/>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097280"/>
            <a:ext cx="5394960" cy="384048"/>
          </a:xfrm>
          <a:prstGeom prst="rect">
            <a:avLst/>
          </a:prstGeom>
          <a:solidFill>
            <a:srgbClr val="0077A8"/>
          </a:solidFill>
          <a:ln w="12700">
            <a:solidFill>
              <a:srgbClr val="0077A8"/>
            </a:solidFill>
            <a:prstDash val="solid"/>
          </a:ln>
        </p:spPr>
      </p:sp>
      <p:sp>
        <p:nvSpPr>
          <p:cNvPr id="8" name="Text 6"/>
          <p:cNvSpPr/>
          <p:nvPr/>
        </p:nvSpPr>
        <p:spPr>
          <a:xfrm>
            <a:off x="457200" y="1115568"/>
            <a:ext cx="502920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Pseudokod Dijkstry</a:t>
            </a:r>
            <a:endParaRPr lang="en-US" sz="1600" dirty="0"/>
          </a:p>
        </p:txBody>
      </p:sp>
      <p:sp>
        <p:nvSpPr>
          <p:cNvPr id="9" name="Text 7"/>
          <p:cNvSpPr/>
          <p:nvPr/>
        </p:nvSpPr>
        <p:spPr>
          <a:xfrm>
            <a:off x="411480" y="1455504"/>
            <a:ext cx="5166360" cy="2567369"/>
          </a:xfrm>
          <a:prstGeom prst="rect">
            <a:avLst/>
          </a:prstGeom>
          <a:noFill/>
          <a:ln/>
        </p:spPr>
        <p:txBody>
          <a:bodyPr wrap="square" lIns="63500" tIns="36000" rIns="101600" bIns="36000" rtlCol="0" anchor="t">
            <a:spAutoFit/>
          </a:bodyPr>
          <a:lstStyle/>
          <a:p>
            <a:r>
              <a:rPr lang="pl-PL" sz="1200" dirty="0">
                <a:solidFill>
                  <a:srgbClr val="098658"/>
                </a:solidFill>
                <a:latin typeface="Consolas" panose="020B0609020204030204" pitchFamily="49" charset="0"/>
              </a:rPr>
              <a:t>1</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[start]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a:solidFill>
                  <a:srgbClr val="098658"/>
                </a:solidFill>
                <a:latin typeface="Consolas" panose="020B0609020204030204" pitchFamily="49" charset="0"/>
              </a:rPr>
              <a:t>0</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 dla pozostałych</a:t>
            </a:r>
          </a:p>
          <a:p>
            <a:r>
              <a:rPr lang="pl-PL" sz="1200" dirty="0">
                <a:solidFill>
                  <a:srgbClr val="098658"/>
                </a:solidFill>
                <a:latin typeface="Consolas" panose="020B0609020204030204" pitchFamily="49" charset="0"/>
              </a:rPr>
              <a:t>2</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priority_queue</a:t>
            </a:r>
            <a:r>
              <a:rPr lang="pl-PL" sz="1200" dirty="0">
                <a:solidFill>
                  <a:srgbClr val="202020"/>
                </a:solidFill>
                <a:latin typeface="Consolas" panose="020B0609020204030204" pitchFamily="49" charset="0"/>
              </a:rPr>
              <a:t> </a:t>
            </a:r>
            <a:r>
              <a:rPr lang="pl-PL" sz="1200" dirty="0">
                <a:solidFill>
                  <a:srgbClr val="0550AE"/>
                </a:solidFill>
                <a:latin typeface="Consolas" panose="020B0609020204030204" pitchFamily="49" charset="0"/>
              </a:rPr>
              <a:t>Q</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vertex</a:t>
            </a:r>
            <a:r>
              <a:rPr lang="pl-PL" sz="1200" dirty="0">
                <a:solidFill>
                  <a:srgbClr val="202020"/>
                </a:solidFill>
                <a:latin typeface="Consolas" panose="020B0609020204030204" pitchFamily="49" charset="0"/>
              </a:rPr>
              <a:t>)</a:t>
            </a:r>
          </a:p>
          <a:p>
            <a:r>
              <a:rPr lang="pl-PL" sz="1200" dirty="0">
                <a:solidFill>
                  <a:srgbClr val="098658"/>
                </a:solidFill>
                <a:latin typeface="Consolas" panose="020B0609020204030204" pitchFamily="49" charset="0"/>
              </a:rPr>
              <a:t>3</a:t>
            </a:r>
            <a:r>
              <a:rPr lang="pl-PL" sz="1200" dirty="0">
                <a:solidFill>
                  <a:srgbClr val="202020"/>
                </a:solidFill>
                <a:latin typeface="Consolas" panose="020B0609020204030204" pitchFamily="49" charset="0"/>
              </a:rPr>
              <a:t>.  </a:t>
            </a:r>
            <a:r>
              <a:rPr lang="pl-PL" sz="1200" dirty="0" err="1">
                <a:solidFill>
                  <a:srgbClr val="0550AE"/>
                </a:solidFill>
                <a:latin typeface="Consolas" panose="020B0609020204030204" pitchFamily="49" charset="0"/>
              </a:rPr>
              <a:t>Q</a:t>
            </a:r>
            <a:r>
              <a:rPr lang="pl-PL" sz="1200" dirty="0" err="1">
                <a:solidFill>
                  <a:srgbClr val="202020"/>
                </a:solidFill>
                <a:latin typeface="Consolas" panose="020B0609020204030204" pitchFamily="49" charset="0"/>
              </a:rPr>
              <a:t>.push</a:t>
            </a:r>
            <a:r>
              <a:rPr lang="pl-PL" sz="1200" dirty="0">
                <a:solidFill>
                  <a:srgbClr val="202020"/>
                </a:solidFill>
                <a:latin typeface="Consolas" panose="020B0609020204030204" pitchFamily="49" charset="0"/>
              </a:rPr>
              <a:t>((</a:t>
            </a:r>
            <a:r>
              <a:rPr lang="pl-PL" sz="1200" dirty="0">
                <a:solidFill>
                  <a:srgbClr val="098658"/>
                </a:solidFill>
                <a:latin typeface="Consolas" panose="020B0609020204030204" pitchFamily="49" charset="0"/>
              </a:rPr>
              <a:t>0</a:t>
            </a:r>
            <a:r>
              <a:rPr lang="pl-PL" sz="1200" dirty="0">
                <a:solidFill>
                  <a:srgbClr val="202020"/>
                </a:solidFill>
                <a:latin typeface="Consolas" panose="020B0609020204030204" pitchFamily="49" charset="0"/>
              </a:rPr>
              <a:t>, start))</a:t>
            </a:r>
          </a:p>
          <a:p>
            <a:r>
              <a:rPr lang="pl-PL" sz="1200" dirty="0">
                <a:solidFill>
                  <a:srgbClr val="098658"/>
                </a:solidFill>
                <a:latin typeface="Consolas" panose="020B0609020204030204" pitchFamily="49" charset="0"/>
              </a:rPr>
              <a:t>4</a:t>
            </a:r>
            <a:r>
              <a:rPr lang="pl-PL" sz="1200" dirty="0">
                <a:solidFill>
                  <a:srgbClr val="202020"/>
                </a:solidFill>
                <a:latin typeface="Consolas" panose="020B0609020204030204" pitchFamily="49" charset="0"/>
              </a:rPr>
              <a:t>.  </a:t>
            </a:r>
            <a:r>
              <a:rPr lang="pl-PL" sz="1200" dirty="0" err="1">
                <a:solidFill>
                  <a:srgbClr val="AF00DB"/>
                </a:solidFill>
                <a:latin typeface="Consolas" panose="020B0609020204030204" pitchFamily="49" charset="0"/>
              </a:rPr>
              <a:t>while</a:t>
            </a:r>
            <a:r>
              <a:rPr lang="pl-PL" sz="1200" dirty="0">
                <a:solidFill>
                  <a:srgbClr val="202020"/>
                </a:solidFill>
                <a:latin typeface="Consolas" panose="020B0609020204030204" pitchFamily="49" charset="0"/>
              </a:rPr>
              <a:t> </a:t>
            </a:r>
            <a:r>
              <a:rPr lang="pl-PL" sz="1200" dirty="0">
                <a:solidFill>
                  <a:srgbClr val="0550AE"/>
                </a:solidFill>
                <a:latin typeface="Consolas" panose="020B0609020204030204" pitchFamily="49" charset="0"/>
              </a:rPr>
              <a:t>Q</a:t>
            </a:r>
            <a:r>
              <a:rPr lang="pl-PL" sz="1200" dirty="0">
                <a:solidFill>
                  <a:srgbClr val="202020"/>
                </a:solidFill>
                <a:latin typeface="Consolas" panose="020B0609020204030204" pitchFamily="49" charset="0"/>
              </a:rPr>
              <a:t> nie jest pusta:</a:t>
            </a:r>
          </a:p>
          <a:p>
            <a:r>
              <a:rPr lang="pl-PL" sz="1200" dirty="0">
                <a:solidFill>
                  <a:srgbClr val="098658"/>
                </a:solidFill>
                <a:latin typeface="Consolas" panose="020B0609020204030204" pitchFamily="49" charset="0"/>
              </a:rPr>
              <a:t>5</a:t>
            </a:r>
            <a:r>
              <a:rPr lang="pl-PL" sz="1200" dirty="0">
                <a:solidFill>
                  <a:srgbClr val="202020"/>
                </a:solidFill>
                <a:latin typeface="Consolas" panose="020B0609020204030204" pitchFamily="49" charset="0"/>
              </a:rPr>
              <a:t>.      (d, u)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err="1">
                <a:solidFill>
                  <a:srgbClr val="0550AE"/>
                </a:solidFill>
                <a:latin typeface="Consolas" panose="020B0609020204030204" pitchFamily="49" charset="0"/>
              </a:rPr>
              <a:t>Q</a:t>
            </a:r>
            <a:r>
              <a:rPr lang="pl-PL" sz="1200" dirty="0" err="1">
                <a:solidFill>
                  <a:srgbClr val="202020"/>
                </a:solidFill>
                <a:latin typeface="Consolas" panose="020B0609020204030204" pitchFamily="49" charset="0"/>
              </a:rPr>
              <a:t>.pop_min</a:t>
            </a:r>
            <a:r>
              <a:rPr lang="pl-PL" sz="1200" dirty="0">
                <a:solidFill>
                  <a:srgbClr val="202020"/>
                </a:solidFill>
                <a:latin typeface="Consolas" panose="020B0609020204030204" pitchFamily="49" charset="0"/>
              </a:rPr>
              <a:t>()</a:t>
            </a:r>
          </a:p>
          <a:p>
            <a:r>
              <a:rPr lang="pl-PL" sz="1200" dirty="0">
                <a:solidFill>
                  <a:srgbClr val="098658"/>
                </a:solidFill>
                <a:latin typeface="Consolas" panose="020B0609020204030204" pitchFamily="49" charset="0"/>
              </a:rPr>
              <a:t>6</a:t>
            </a:r>
            <a:r>
              <a:rPr lang="pl-PL" sz="1200" dirty="0">
                <a:solidFill>
                  <a:srgbClr val="202020"/>
                </a:solidFill>
                <a:latin typeface="Consolas" panose="020B0609020204030204" pitchFamily="49" charset="0"/>
              </a:rPr>
              <a:t>.      </a:t>
            </a:r>
            <a:r>
              <a:rPr lang="pl-PL" sz="1200" dirty="0" err="1">
                <a:solidFill>
                  <a:srgbClr val="AF00DB"/>
                </a:solidFill>
                <a:latin typeface="Consolas" panose="020B0609020204030204" pitchFamily="49" charset="0"/>
              </a:rPr>
              <a:t>if</a:t>
            </a:r>
            <a:r>
              <a:rPr lang="pl-PL" sz="1200" dirty="0">
                <a:solidFill>
                  <a:srgbClr val="202020"/>
                </a:solidFill>
                <a:latin typeface="Consolas" panose="020B0609020204030204" pitchFamily="49" charset="0"/>
              </a:rPr>
              <a:t> d </a:t>
            </a:r>
            <a:r>
              <a:rPr lang="pl-PL" sz="1200" dirty="0">
                <a:solidFill>
                  <a:srgbClr val="000000"/>
                </a:solidFill>
                <a:latin typeface="Consolas" panose="020B0609020204030204" pitchFamily="49" charset="0"/>
              </a:rPr>
              <a:t>&gt;</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[u]: </a:t>
            </a:r>
            <a:r>
              <a:rPr lang="pl-PL" sz="1200" dirty="0" err="1">
                <a:solidFill>
                  <a:srgbClr val="AF00DB"/>
                </a:solidFill>
                <a:latin typeface="Consolas" panose="020B0609020204030204" pitchFamily="49" charset="0"/>
              </a:rPr>
              <a:t>continue</a:t>
            </a:r>
            <a:endParaRPr lang="pl-PL" sz="1200" dirty="0">
              <a:solidFill>
                <a:srgbClr val="202020"/>
              </a:solidFill>
              <a:latin typeface="Consolas" panose="020B0609020204030204" pitchFamily="49" charset="0"/>
            </a:endParaRPr>
          </a:p>
          <a:p>
            <a:r>
              <a:rPr lang="pl-PL" sz="1200" dirty="0">
                <a:solidFill>
                  <a:srgbClr val="098658"/>
                </a:solidFill>
                <a:latin typeface="Consolas" panose="020B0609020204030204" pitchFamily="49" charset="0"/>
              </a:rPr>
              <a:t>7</a:t>
            </a:r>
            <a:r>
              <a:rPr lang="pl-PL" sz="1200" dirty="0">
                <a:solidFill>
                  <a:srgbClr val="202020"/>
                </a:solidFill>
                <a:latin typeface="Consolas" panose="020B0609020204030204" pitchFamily="49" charset="0"/>
              </a:rPr>
              <a:t>.      </a:t>
            </a:r>
            <a:r>
              <a:rPr lang="pl-PL" sz="1200" dirty="0">
                <a:solidFill>
                  <a:srgbClr val="AF00DB"/>
                </a:solidFill>
                <a:latin typeface="Consolas" panose="020B0609020204030204" pitchFamily="49" charset="0"/>
              </a:rPr>
              <a:t>for</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w</a:t>
            </a:r>
            <a:r>
              <a:rPr lang="pl-PL" sz="1200" dirty="0">
                <a:solidFill>
                  <a:srgbClr val="202020"/>
                </a:solidFill>
                <a:latin typeface="Consolas" panose="020B0609020204030204" pitchFamily="49" charset="0"/>
              </a:rPr>
              <a:t>) </a:t>
            </a:r>
            <a:r>
              <a:rPr lang="pl-PL" sz="1200" dirty="0">
                <a:solidFill>
                  <a:srgbClr val="0000FF"/>
                </a:solidFill>
                <a:latin typeface="Consolas" panose="020B0609020204030204" pitchFamily="49" charset="0"/>
              </a:rPr>
              <a:t>in</a:t>
            </a:r>
            <a:r>
              <a:rPr lang="pl-PL" sz="1200" dirty="0">
                <a:solidFill>
                  <a:srgbClr val="202020"/>
                </a:solidFill>
                <a:latin typeface="Consolas" panose="020B0609020204030204" pitchFamily="49" charset="0"/>
              </a:rPr>
              <a:t> sąsiedzi(u):</a:t>
            </a:r>
          </a:p>
          <a:p>
            <a:r>
              <a:rPr lang="pl-PL" sz="1200" dirty="0">
                <a:solidFill>
                  <a:srgbClr val="098658"/>
                </a:solidFill>
                <a:latin typeface="Consolas" panose="020B0609020204030204" pitchFamily="49" charset="0"/>
              </a:rPr>
              <a:t>8</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nowy_koszt</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[u]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w</a:t>
            </a:r>
            <a:endParaRPr lang="pl-PL" sz="1200" dirty="0">
              <a:solidFill>
                <a:srgbClr val="202020"/>
              </a:solidFill>
              <a:latin typeface="Consolas" panose="020B0609020204030204" pitchFamily="49" charset="0"/>
            </a:endParaRPr>
          </a:p>
          <a:p>
            <a:r>
              <a:rPr lang="pl-PL" sz="1200" dirty="0">
                <a:solidFill>
                  <a:srgbClr val="098658"/>
                </a:solidFill>
                <a:latin typeface="Consolas" panose="020B0609020204030204" pitchFamily="49" charset="0"/>
              </a:rPr>
              <a:t>9</a:t>
            </a:r>
            <a:r>
              <a:rPr lang="pl-PL" sz="1200" dirty="0">
                <a:solidFill>
                  <a:srgbClr val="202020"/>
                </a:solidFill>
                <a:latin typeface="Consolas" panose="020B0609020204030204" pitchFamily="49" charset="0"/>
              </a:rPr>
              <a:t>.          </a:t>
            </a:r>
            <a:r>
              <a:rPr lang="pl-PL" sz="1200" dirty="0" err="1">
                <a:solidFill>
                  <a:srgbClr val="AF00DB"/>
                </a:solidFill>
                <a:latin typeface="Consolas" panose="020B0609020204030204" pitchFamily="49" charset="0"/>
              </a:rPr>
              <a:t>if</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nowy_koszt</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&lt;</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a:t>
            </a:r>
          </a:p>
          <a:p>
            <a:r>
              <a:rPr lang="pl-PL" sz="1200" dirty="0">
                <a:solidFill>
                  <a:srgbClr val="098658"/>
                </a:solidFill>
                <a:latin typeface="Consolas" panose="020B0609020204030204" pitchFamily="49" charset="0"/>
              </a:rPr>
              <a:t>10</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dist</a:t>
            </a:r>
            <a:r>
              <a:rPr lang="pl-PL" sz="1200" dirty="0">
                <a:solidFill>
                  <a:srgbClr val="202020"/>
                </a:solidFill>
                <a:latin typeface="Consolas" panose="020B0609020204030204" pitchFamily="49" charset="0"/>
              </a:rPr>
              <a:t>[</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nowy_koszt</a:t>
            </a:r>
            <a:endParaRPr lang="pl-PL" sz="1200" dirty="0">
              <a:solidFill>
                <a:srgbClr val="202020"/>
              </a:solidFill>
              <a:latin typeface="Consolas" panose="020B0609020204030204" pitchFamily="49" charset="0"/>
            </a:endParaRPr>
          </a:p>
          <a:p>
            <a:r>
              <a:rPr lang="pl-PL" sz="1200" dirty="0">
                <a:solidFill>
                  <a:srgbClr val="098658"/>
                </a:solidFill>
                <a:latin typeface="Consolas" panose="020B0609020204030204" pitchFamily="49" charset="0"/>
              </a:rPr>
              <a:t>11</a:t>
            </a:r>
            <a:r>
              <a:rPr lang="pl-PL" sz="1200" dirty="0">
                <a:solidFill>
                  <a:srgbClr val="202020"/>
                </a:solidFill>
                <a:latin typeface="Consolas" panose="020B0609020204030204" pitchFamily="49" charset="0"/>
              </a:rPr>
              <a:t>.             poprzednik[</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u</a:t>
            </a:r>
          </a:p>
          <a:p>
            <a:r>
              <a:rPr lang="pl-PL" sz="1200" dirty="0">
                <a:solidFill>
                  <a:srgbClr val="098658"/>
                </a:solidFill>
                <a:latin typeface="Consolas" panose="020B0609020204030204" pitchFamily="49" charset="0"/>
              </a:rPr>
              <a:t>12</a:t>
            </a:r>
            <a:r>
              <a:rPr lang="pl-PL" sz="1200" dirty="0">
                <a:solidFill>
                  <a:srgbClr val="202020"/>
                </a:solidFill>
                <a:latin typeface="Consolas" panose="020B0609020204030204" pitchFamily="49" charset="0"/>
              </a:rPr>
              <a:t>.             </a:t>
            </a:r>
            <a:r>
              <a:rPr lang="pl-PL" sz="1200" dirty="0" err="1">
                <a:solidFill>
                  <a:srgbClr val="0550AE"/>
                </a:solidFill>
                <a:latin typeface="Consolas" panose="020B0609020204030204" pitchFamily="49" charset="0"/>
              </a:rPr>
              <a:t>Q</a:t>
            </a:r>
            <a:r>
              <a:rPr lang="pl-PL" sz="1200" dirty="0" err="1">
                <a:solidFill>
                  <a:srgbClr val="202020"/>
                </a:solidFill>
                <a:latin typeface="Consolas" panose="020B0609020204030204" pitchFamily="49" charset="0"/>
              </a:rPr>
              <a:t>.push</a:t>
            </a:r>
            <a:r>
              <a:rPr lang="pl-PL" sz="1200" dirty="0">
                <a:solidFill>
                  <a:srgbClr val="202020"/>
                </a:solidFill>
                <a:latin typeface="Consolas" panose="020B0609020204030204" pitchFamily="49" charset="0"/>
              </a:rPr>
              <a:t>((</a:t>
            </a:r>
            <a:r>
              <a:rPr lang="pl-PL" sz="1200" dirty="0" err="1">
                <a:solidFill>
                  <a:srgbClr val="1F2328"/>
                </a:solidFill>
                <a:latin typeface="Consolas" panose="020B0609020204030204" pitchFamily="49" charset="0"/>
              </a:rPr>
              <a:t>nowy_koszt</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a:t>
            </a:r>
          </a:p>
          <a:p>
            <a:r>
              <a:rPr lang="pl-PL" sz="1200" dirty="0">
                <a:solidFill>
                  <a:srgbClr val="098658"/>
                </a:solidFill>
                <a:latin typeface="Consolas" panose="020B0609020204030204" pitchFamily="49" charset="0"/>
              </a:rPr>
              <a:t>13</a:t>
            </a:r>
            <a:r>
              <a:rPr lang="pl-PL" sz="1200" dirty="0">
                <a:solidFill>
                  <a:srgbClr val="202020"/>
                </a:solidFill>
                <a:latin typeface="Consolas" panose="020B0609020204030204" pitchFamily="49" charset="0"/>
              </a:rPr>
              <a:t>. odtwórz ścieżkę przez poprzednik</a:t>
            </a:r>
            <a:r>
              <a:rPr lang="pl-PL" sz="1200" dirty="0" smtClean="0">
                <a:solidFill>
                  <a:srgbClr val="202020"/>
                </a:solidFill>
                <a:latin typeface="Consolas" panose="020B0609020204030204" pitchFamily="49" charset="0"/>
              </a:rPr>
              <a:t>[]</a:t>
            </a:r>
            <a:endParaRPr lang="pl-PL" sz="1200" dirty="0">
              <a:solidFill>
                <a:srgbClr val="202020"/>
              </a:solidFill>
              <a:latin typeface="Consolas" panose="020B0609020204030204" pitchFamily="49" charset="0"/>
            </a:endParaRPr>
          </a:p>
        </p:txBody>
      </p:sp>
      <p:sp>
        <p:nvSpPr>
          <p:cNvPr id="10" name="Shape 8"/>
          <p:cNvSpPr/>
          <p:nvPr/>
        </p:nvSpPr>
        <p:spPr>
          <a:xfrm>
            <a:off x="5943600" y="1097280"/>
            <a:ext cx="2926080" cy="2791139"/>
          </a:xfrm>
          <a:prstGeom prst="rect">
            <a:avLst/>
          </a:prstGeom>
          <a:solidFill>
            <a:srgbClr val="0D1B2A"/>
          </a:solidFill>
          <a:ln w="12700">
            <a:solidFill>
              <a:srgbClr val="0077A8"/>
            </a:solidFill>
            <a:prstDash val="solid"/>
          </a:ln>
          <a:effectLst>
            <a:outerShdw blurRad="76200" dist="25400" dir="8100000" algn="bl" rotWithShape="0">
              <a:srgbClr val="000000">
                <a:alpha val="12000"/>
              </a:srgbClr>
            </a:outerShdw>
          </a:effectLst>
        </p:spPr>
      </p:sp>
      <p:sp>
        <p:nvSpPr>
          <p:cNvPr id="11" name="Shape 9"/>
          <p:cNvSpPr/>
          <p:nvPr/>
        </p:nvSpPr>
        <p:spPr>
          <a:xfrm>
            <a:off x="5943600" y="1097280"/>
            <a:ext cx="2926080" cy="384048"/>
          </a:xfrm>
          <a:prstGeom prst="rect">
            <a:avLst/>
          </a:prstGeom>
          <a:solidFill>
            <a:srgbClr val="0077A8"/>
          </a:solidFill>
          <a:ln w="12700">
            <a:solidFill>
              <a:srgbClr val="0077A8"/>
            </a:solidFill>
            <a:prstDash val="solid"/>
          </a:ln>
        </p:spPr>
      </p:sp>
      <p:sp>
        <p:nvSpPr>
          <p:cNvPr id="12" name="Text 10"/>
          <p:cNvSpPr/>
          <p:nvPr/>
        </p:nvSpPr>
        <p:spPr>
          <a:xfrm>
            <a:off x="6080760" y="1115568"/>
            <a:ext cx="2651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Właściwości</a:t>
            </a:r>
            <a:endParaRPr lang="en-US" sz="1600" dirty="0"/>
          </a:p>
        </p:txBody>
      </p:sp>
      <p:sp>
        <p:nvSpPr>
          <p:cNvPr id="13" name="Text 11"/>
          <p:cNvSpPr/>
          <p:nvPr/>
        </p:nvSpPr>
        <p:spPr>
          <a:xfrm>
            <a:off x="6080760" y="1554480"/>
            <a:ext cx="2651760" cy="1972335"/>
          </a:xfrm>
          <a:prstGeom prst="rect">
            <a:avLst/>
          </a:prstGeom>
          <a:noFill/>
          <a:ln/>
        </p:spPr>
        <p:txBody>
          <a:bodyPr wrap="square" lIns="63500" tIns="101600" rIns="63500" bIns="63500" rtlCol="0" anchor="t">
            <a:spAutoFit/>
          </a:bodyPr>
          <a:lstStyle/>
          <a:p>
            <a:pPr marL="342900" indent="-3429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Gwarantuje optymalność</a:t>
            </a:r>
            <a:endParaRPr lang="en-US" sz="1200" dirty="0"/>
          </a:p>
          <a:p>
            <a:pPr marL="342900" indent="-342900">
              <a:spcAft>
                <a:spcPts val="800"/>
              </a:spcAft>
              <a:buSzPct val="100000"/>
              <a:buChar char="•"/>
            </a:pPr>
            <a:r>
              <a:rPr lang="en-US" sz="1200" b="1" dirty="0" err="1">
                <a:solidFill>
                  <a:srgbClr val="90E0EF"/>
                </a:solidFill>
                <a:latin typeface="Calibri" pitchFamily="34" charset="0"/>
                <a:ea typeface="Calibri" pitchFamily="34" charset="-122"/>
                <a:cs typeface="Calibri" pitchFamily="34" charset="-120"/>
              </a:rPr>
              <a:t>Brak</a:t>
            </a:r>
            <a:r>
              <a:rPr lang="en-US" sz="1200" b="1" dirty="0">
                <a:solidFill>
                  <a:srgbClr val="90E0EF"/>
                </a:solidFill>
                <a:latin typeface="Calibri" pitchFamily="34" charset="0"/>
                <a:ea typeface="Calibri" pitchFamily="34" charset="-122"/>
                <a:cs typeface="Calibri" pitchFamily="34" charset="-120"/>
              </a:rPr>
              <a:t> </a:t>
            </a:r>
            <a:r>
              <a:rPr lang="en-US" sz="1200" b="1" dirty="0" err="1" smtClean="0">
                <a:solidFill>
                  <a:srgbClr val="90E0EF"/>
                </a:solidFill>
                <a:latin typeface="Calibri" pitchFamily="34" charset="0"/>
                <a:ea typeface="Calibri" pitchFamily="34" charset="-122"/>
                <a:cs typeface="Calibri" pitchFamily="34" charset="-120"/>
              </a:rPr>
              <a:t>heurystyki</a:t>
            </a:r>
            <a:r>
              <a:rPr lang="pl-PL" sz="1200" dirty="0">
                <a:solidFill>
                  <a:srgbClr val="90E0EF"/>
                </a:solidFill>
                <a:latin typeface="Calibri" pitchFamily="34" charset="0"/>
                <a:ea typeface="Calibri" pitchFamily="34" charset="-122"/>
                <a:cs typeface="Calibri" pitchFamily="34" charset="-120"/>
              </a:rPr>
              <a:t>,</a:t>
            </a:r>
            <a:r>
              <a:rPr lang="en-US" sz="1200" dirty="0" smtClean="0">
                <a:solidFill>
                  <a:srgbClr val="90E0EF"/>
                </a:solidFill>
                <a:latin typeface="Calibri" pitchFamily="34" charset="0"/>
                <a:ea typeface="Calibri" pitchFamily="34" charset="-122"/>
                <a:cs typeface="Calibri" pitchFamily="34" charset="-120"/>
              </a:rPr>
              <a:t> </a:t>
            </a:r>
            <a:r>
              <a:rPr lang="en-US" sz="1200" dirty="0">
                <a:solidFill>
                  <a:srgbClr val="90E0EF"/>
                </a:solidFill>
                <a:latin typeface="Calibri" pitchFamily="34" charset="0"/>
                <a:ea typeface="Calibri" pitchFamily="34" charset="-122"/>
                <a:cs typeface="Calibri" pitchFamily="34" charset="-120"/>
              </a:rPr>
              <a:t>eksploruje we wszystkich kierunkach</a:t>
            </a:r>
            <a:endParaRPr lang="en-US" sz="1200" dirty="0"/>
          </a:p>
          <a:p>
            <a:pPr marL="342900" indent="-342900">
              <a:spcAft>
                <a:spcPts val="800"/>
              </a:spcAft>
              <a:buSzPct val="100000"/>
              <a:buChar char="•"/>
            </a:pPr>
            <a:r>
              <a:rPr lang="en-US" sz="1200" b="1" dirty="0">
                <a:solidFill>
                  <a:srgbClr val="90E0EF"/>
                </a:solidFill>
                <a:latin typeface="Calibri" pitchFamily="34" charset="0"/>
                <a:ea typeface="Calibri" pitchFamily="34" charset="-122"/>
                <a:cs typeface="Calibri" pitchFamily="34" charset="-120"/>
              </a:rPr>
              <a:t>Złożoność</a:t>
            </a:r>
            <a:r>
              <a:rPr lang="en-US" sz="1200" dirty="0">
                <a:solidFill>
                  <a:srgbClr val="90E0EF"/>
                </a:solidFill>
                <a:latin typeface="Calibri" pitchFamily="34" charset="0"/>
                <a:ea typeface="Calibri" pitchFamily="34" charset="-122"/>
                <a:cs typeface="Calibri" pitchFamily="34" charset="-120"/>
              </a:rPr>
              <a:t>: O((V+E) log V)</a:t>
            </a:r>
            <a:endParaRPr lang="en-US" sz="1200" dirty="0"/>
          </a:p>
          <a:p>
            <a:pPr marL="342900" indent="-342900">
              <a:spcAft>
                <a:spcPts val="800"/>
              </a:spcAft>
              <a:buSzPct val="100000"/>
              <a:buChar char="•"/>
            </a:pPr>
            <a:r>
              <a:rPr lang="pl-PL" sz="1200" b="1" dirty="0" smtClean="0">
                <a:solidFill>
                  <a:srgbClr val="90E0EF"/>
                </a:solidFill>
                <a:latin typeface="Calibri" pitchFamily="34" charset="0"/>
                <a:ea typeface="Calibri" pitchFamily="34" charset="-122"/>
                <a:cs typeface="Calibri" pitchFamily="34" charset="-120"/>
              </a:rPr>
              <a:t>Powolny</a:t>
            </a:r>
            <a:r>
              <a:rPr lang="pl-PL" sz="1200" dirty="0" smtClean="0">
                <a:solidFill>
                  <a:srgbClr val="90E0EF"/>
                </a:solidFill>
                <a:latin typeface="Calibri" pitchFamily="34" charset="0"/>
                <a:ea typeface="Calibri" pitchFamily="34" charset="-122"/>
                <a:cs typeface="Calibri" pitchFamily="34" charset="-120"/>
              </a:rPr>
              <a:t> </a:t>
            </a:r>
            <a:r>
              <a:rPr lang="en-US" sz="1200" dirty="0" err="1" smtClean="0">
                <a:solidFill>
                  <a:srgbClr val="90E0EF"/>
                </a:solidFill>
                <a:latin typeface="Calibri" pitchFamily="34" charset="0"/>
                <a:ea typeface="Calibri" pitchFamily="34" charset="-122"/>
                <a:cs typeface="Calibri" pitchFamily="34" charset="-120"/>
              </a:rPr>
              <a:t>dla</a:t>
            </a:r>
            <a:r>
              <a:rPr lang="en-US" sz="1200" dirty="0" smtClean="0">
                <a:solidFill>
                  <a:srgbClr val="90E0EF"/>
                </a:solidFill>
                <a:latin typeface="Calibri" pitchFamily="34" charset="0"/>
                <a:ea typeface="Calibri" pitchFamily="34" charset="-122"/>
                <a:cs typeface="Calibri" pitchFamily="34" charset="-120"/>
              </a:rPr>
              <a:t> </a:t>
            </a:r>
            <a:r>
              <a:rPr lang="en-US" sz="1200" dirty="0">
                <a:solidFill>
                  <a:srgbClr val="90E0EF"/>
                </a:solidFill>
                <a:latin typeface="Calibri" pitchFamily="34" charset="0"/>
                <a:ea typeface="Calibri" pitchFamily="34" charset="-122"/>
                <a:cs typeface="Calibri" pitchFamily="34" charset="-120"/>
              </a:rPr>
              <a:t>dużych map</a:t>
            </a:r>
            <a:endParaRPr lang="en-US" sz="1200" dirty="0"/>
          </a:p>
          <a:p>
            <a:pPr marL="342900" indent="-3429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Dobry jako punkt odniesienia</a:t>
            </a:r>
            <a:endParaRPr lang="en-US" sz="1200" dirty="0"/>
          </a:p>
          <a:p>
            <a:pPr marL="342900" indent="-342900">
              <a:spcAft>
                <a:spcPts val="800"/>
              </a:spcAft>
              <a:buSzPct val="100000"/>
              <a:buChar char="•"/>
            </a:pPr>
            <a:r>
              <a:rPr lang="en-US" sz="1200" b="1" dirty="0" err="1" smtClean="0">
                <a:solidFill>
                  <a:srgbClr val="90E0EF"/>
                </a:solidFill>
                <a:latin typeface="Calibri" pitchFamily="34" charset="0"/>
                <a:ea typeface="Calibri" pitchFamily="34" charset="-122"/>
                <a:cs typeface="Calibri" pitchFamily="34" charset="-120"/>
              </a:rPr>
              <a:t>Podstawa</a:t>
            </a:r>
            <a:r>
              <a:rPr lang="pl-PL" sz="1200" b="1" dirty="0" smtClean="0">
                <a:solidFill>
                  <a:srgbClr val="90E0EF"/>
                </a:solidFill>
                <a:latin typeface="Calibri" pitchFamily="34" charset="0"/>
                <a:ea typeface="Calibri" pitchFamily="34" charset="-122"/>
                <a:cs typeface="Calibri" pitchFamily="34" charset="-120"/>
              </a:rPr>
              <a:t> </a:t>
            </a:r>
            <a:r>
              <a:rPr lang="pl-PL" sz="1200" dirty="0" smtClean="0">
                <a:solidFill>
                  <a:srgbClr val="90E0EF"/>
                </a:solidFill>
                <a:latin typeface="Calibri" pitchFamily="34" charset="0"/>
                <a:ea typeface="Calibri" pitchFamily="34" charset="-122"/>
                <a:cs typeface="Calibri" pitchFamily="34" charset="-120"/>
              </a:rPr>
              <a:t>dla</a:t>
            </a:r>
            <a:r>
              <a:rPr lang="en-US" sz="1200" dirty="0" smtClean="0">
                <a:solidFill>
                  <a:srgbClr val="90E0EF"/>
                </a:solidFill>
                <a:latin typeface="Calibri" pitchFamily="34" charset="0"/>
                <a:ea typeface="Calibri" pitchFamily="34" charset="-122"/>
                <a:cs typeface="Calibri" pitchFamily="34" charset="-120"/>
              </a:rPr>
              <a:t> </a:t>
            </a:r>
            <a:r>
              <a:rPr lang="en-US" sz="1200" dirty="0">
                <a:solidFill>
                  <a:srgbClr val="90E0EF"/>
                </a:solidFill>
                <a:latin typeface="Calibri" pitchFamily="34" charset="0"/>
                <a:ea typeface="Calibri" pitchFamily="34" charset="-122"/>
                <a:cs typeface="Calibri" pitchFamily="34" charset="-120"/>
              </a:rPr>
              <a:t>A* i Bellmana-Forda</a:t>
            </a:r>
            <a:endParaRPr lang="en-US" sz="1200" dirty="0"/>
          </a:p>
        </p:txBody>
      </p:sp>
      <p:sp>
        <p:nvSpPr>
          <p:cNvPr id="14" name="Prostokąt 13"/>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Algorytm Dijkstry wyznacza najkrótszą ścieżkę w grafie z nieujemnymi kosztami krawędzi. Jego zaletą jest gwarancja optymalności, ale wadą brak kierunkowania poszukiwań w stronę celu. Oznacza to, że algorytm eksploruje wiele węzłów, które niekoniecznie prowadzą do rozwiązania. Dijkstra jest dobrym punktem odniesienia przy testowaniu innych algorytmów, takich jak A*, oraz przy budowie map typu </a:t>
            </a:r>
            <a:r>
              <a:rPr lang="pl-PL" sz="1400" dirty="0" err="1">
                <a:solidFill>
                  <a:schemeClr val="bg1"/>
                </a:solidFill>
              </a:rPr>
              <a:t>cost</a:t>
            </a:r>
            <a:r>
              <a:rPr lang="pl-PL" sz="1400" dirty="0">
                <a:solidFill>
                  <a:schemeClr val="bg1"/>
                </a:solidFill>
              </a:rPr>
              <a:t>-to-go. W robotyce mobilnej używa się go głównie wtedy, gdy mapa jest mała albo gdy nie mamy jednej konkretnej pozycji docelowej.</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22C55E"/>
          </a:solidFill>
          <a:ln w="12700">
            <a:solidFill>
              <a:srgbClr val="22C55E"/>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22C55E"/>
                </a:solidFill>
                <a:latin typeface="Trebuchet MS" pitchFamily="34" charset="0"/>
                <a:ea typeface="Trebuchet MS" pitchFamily="34" charset="-122"/>
                <a:cs typeface="Trebuchet MS" pitchFamily="34" charset="-120"/>
              </a:rPr>
              <a:t>SEKCJA 1 | 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Algorytm A* – planowanie z heurystyką</a:t>
            </a:r>
            <a:endParaRPr lang="en-US" sz="2400" dirty="0"/>
          </a:p>
        </p:txBody>
      </p:sp>
      <p:sp>
        <p:nvSpPr>
          <p:cNvPr id="6" name="Shape 4"/>
          <p:cNvSpPr/>
          <p:nvPr/>
        </p:nvSpPr>
        <p:spPr>
          <a:xfrm>
            <a:off x="274320" y="1097280"/>
            <a:ext cx="5394960" cy="269867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097280"/>
            <a:ext cx="5394960" cy="384048"/>
          </a:xfrm>
          <a:prstGeom prst="rect">
            <a:avLst/>
          </a:prstGeom>
          <a:solidFill>
            <a:srgbClr val="22C55E"/>
          </a:solidFill>
          <a:ln w="12700">
            <a:solidFill>
              <a:srgbClr val="22C55E"/>
            </a:solidFill>
            <a:prstDash val="solid"/>
          </a:ln>
        </p:spPr>
      </p:sp>
      <p:sp>
        <p:nvSpPr>
          <p:cNvPr id="8" name="Text 6"/>
          <p:cNvSpPr/>
          <p:nvPr/>
        </p:nvSpPr>
        <p:spPr>
          <a:xfrm>
            <a:off x="457200" y="1115568"/>
            <a:ext cx="502920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Pseudokod A*</a:t>
            </a:r>
            <a:endParaRPr lang="en-US" sz="1600" dirty="0"/>
          </a:p>
        </p:txBody>
      </p:sp>
      <p:sp>
        <p:nvSpPr>
          <p:cNvPr id="9" name="Text 7"/>
          <p:cNvSpPr/>
          <p:nvPr/>
        </p:nvSpPr>
        <p:spPr>
          <a:xfrm>
            <a:off x="404756" y="1502572"/>
            <a:ext cx="5166360" cy="2293380"/>
          </a:xfrm>
          <a:prstGeom prst="rect">
            <a:avLst/>
          </a:prstGeom>
          <a:noFill/>
          <a:ln/>
        </p:spPr>
        <p:txBody>
          <a:bodyPr wrap="square" lIns="0" tIns="0" rIns="0" bIns="0" rtlCol="0" anchor="t">
            <a:spAutoFit/>
          </a:bodyPr>
          <a:lstStyle/>
          <a:p>
            <a:pPr>
              <a:lnSpc>
                <a:spcPts val="1100"/>
              </a:lnSpc>
            </a:pPr>
            <a:r>
              <a:rPr lang="pl-PL" sz="1200" dirty="0">
                <a:solidFill>
                  <a:srgbClr val="202020"/>
                </a:solidFill>
                <a:latin typeface="Consolas" panose="020B0609020204030204" pitchFamily="49" charset="0"/>
              </a:rPr>
              <a:t>f(n)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g(n)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h(n)</a:t>
            </a:r>
          </a:p>
          <a:p>
            <a:pPr>
              <a:lnSpc>
                <a:spcPts val="1100"/>
              </a:lnSpc>
            </a:pPr>
            <a:r>
              <a:rPr lang="pl-PL" sz="1200" dirty="0">
                <a:solidFill>
                  <a:srgbClr val="202020"/>
                </a:solidFill>
                <a:latin typeface="Consolas" panose="020B0609020204030204" pitchFamily="49" charset="0"/>
              </a:rPr>
              <a:t>  g(n) – koszt dotarcia od startu do n</a:t>
            </a:r>
          </a:p>
          <a:p>
            <a:pPr>
              <a:lnSpc>
                <a:spcPts val="1100"/>
              </a:lnSpc>
            </a:pPr>
            <a:r>
              <a:rPr lang="pl-PL" sz="1200" dirty="0">
                <a:solidFill>
                  <a:srgbClr val="202020"/>
                </a:solidFill>
                <a:latin typeface="Consolas" panose="020B0609020204030204" pitchFamily="49" charset="0"/>
              </a:rPr>
              <a:t>  h(n) – heurystyka: szacunek do celu</a:t>
            </a:r>
          </a:p>
          <a:p>
            <a:pPr>
              <a:lnSpc>
                <a:spcPts val="1100"/>
              </a:lnSpc>
            </a:pPr>
            <a:r>
              <a:rPr lang="pl-PL" sz="1200" dirty="0">
                <a:solidFill>
                  <a:srgbClr val="202020"/>
                </a:solidFill>
                <a:latin typeface="Consolas" panose="020B0609020204030204" pitchFamily="49" charset="0"/>
              </a:rPr>
              <a:t/>
            </a:r>
            <a:br>
              <a:rPr lang="pl-PL" sz="1200" dirty="0">
                <a:solidFill>
                  <a:srgbClr val="202020"/>
                </a:solidFill>
                <a:latin typeface="Consolas" panose="020B0609020204030204" pitchFamily="49" charset="0"/>
              </a:rPr>
            </a:br>
            <a:r>
              <a:rPr lang="pl-PL" sz="1200" dirty="0">
                <a:solidFill>
                  <a:srgbClr val="098658"/>
                </a:solidFill>
                <a:latin typeface="Consolas" panose="020B0609020204030204" pitchFamily="49" charset="0"/>
              </a:rPr>
              <a:t>1</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open_set</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{start}</a:t>
            </a:r>
          </a:p>
          <a:p>
            <a:pPr>
              <a:lnSpc>
                <a:spcPts val="1100"/>
              </a:lnSpc>
            </a:pPr>
            <a:r>
              <a:rPr lang="pl-PL" sz="1200" dirty="0">
                <a:solidFill>
                  <a:srgbClr val="098658"/>
                </a:solidFill>
                <a:latin typeface="Consolas" panose="020B0609020204030204" pitchFamily="49" charset="0"/>
              </a:rPr>
              <a:t>2</a:t>
            </a:r>
            <a:r>
              <a:rPr lang="pl-PL" sz="1200" dirty="0">
                <a:solidFill>
                  <a:srgbClr val="202020"/>
                </a:solidFill>
                <a:latin typeface="Consolas" panose="020B0609020204030204" pitchFamily="49" charset="0"/>
              </a:rPr>
              <a:t>.  g[start]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a:solidFill>
                  <a:srgbClr val="098658"/>
                </a:solidFill>
                <a:latin typeface="Consolas" panose="020B0609020204030204" pitchFamily="49" charset="0"/>
              </a:rPr>
              <a:t>0</a:t>
            </a:r>
            <a:r>
              <a:rPr lang="pl-PL" sz="1200" dirty="0">
                <a:solidFill>
                  <a:srgbClr val="202020"/>
                </a:solidFill>
                <a:latin typeface="Consolas" panose="020B0609020204030204" pitchFamily="49" charset="0"/>
              </a:rPr>
              <a:t>;  f[start]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h(start)</a:t>
            </a:r>
          </a:p>
          <a:p>
            <a:pPr>
              <a:lnSpc>
                <a:spcPts val="1100"/>
              </a:lnSpc>
            </a:pPr>
            <a:r>
              <a:rPr lang="pl-PL" sz="1200" dirty="0">
                <a:solidFill>
                  <a:srgbClr val="098658"/>
                </a:solidFill>
                <a:latin typeface="Consolas" panose="020B0609020204030204" pitchFamily="49" charset="0"/>
              </a:rPr>
              <a:t>3</a:t>
            </a:r>
            <a:r>
              <a:rPr lang="pl-PL" sz="1200" dirty="0">
                <a:solidFill>
                  <a:srgbClr val="202020"/>
                </a:solidFill>
                <a:latin typeface="Consolas" panose="020B0609020204030204" pitchFamily="49" charset="0"/>
              </a:rPr>
              <a:t>.  </a:t>
            </a:r>
            <a:r>
              <a:rPr lang="pl-PL" sz="1200" dirty="0" err="1">
                <a:solidFill>
                  <a:srgbClr val="AF00DB"/>
                </a:solidFill>
                <a:latin typeface="Consolas" panose="020B0609020204030204" pitchFamily="49" charset="0"/>
              </a:rPr>
              <a:t>while</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open_set</a:t>
            </a:r>
            <a:r>
              <a:rPr lang="pl-PL" sz="1200" dirty="0">
                <a:solidFill>
                  <a:srgbClr val="202020"/>
                </a:solidFill>
                <a:latin typeface="Consolas" panose="020B0609020204030204" pitchFamily="49" charset="0"/>
              </a:rPr>
              <a:t> nie jest pusta:</a:t>
            </a:r>
          </a:p>
          <a:p>
            <a:pPr>
              <a:lnSpc>
                <a:spcPts val="1100"/>
              </a:lnSpc>
            </a:pPr>
            <a:r>
              <a:rPr lang="pl-PL" sz="1200" dirty="0">
                <a:solidFill>
                  <a:srgbClr val="098658"/>
                </a:solidFill>
                <a:latin typeface="Consolas" panose="020B0609020204030204" pitchFamily="49" charset="0"/>
              </a:rPr>
              <a:t>4</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u</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węzeł z </a:t>
            </a:r>
            <a:r>
              <a:rPr lang="pl-PL" sz="1200" dirty="0">
                <a:solidFill>
                  <a:srgbClr val="8250DF"/>
                </a:solidFill>
                <a:latin typeface="Consolas" panose="020B0609020204030204" pitchFamily="49" charset="0"/>
              </a:rPr>
              <a:t>min</a:t>
            </a:r>
            <a:r>
              <a:rPr lang="pl-PL" sz="1200" dirty="0">
                <a:solidFill>
                  <a:srgbClr val="202020"/>
                </a:solidFill>
                <a:latin typeface="Consolas" panose="020B0609020204030204" pitchFamily="49" charset="0"/>
              </a:rPr>
              <a:t> f w </a:t>
            </a:r>
            <a:r>
              <a:rPr lang="pl-PL" sz="1200" dirty="0" err="1">
                <a:solidFill>
                  <a:srgbClr val="1F2328"/>
                </a:solidFill>
                <a:latin typeface="Consolas" panose="020B0609020204030204" pitchFamily="49" charset="0"/>
              </a:rPr>
              <a:t>open_set</a:t>
            </a:r>
            <a:endParaRPr lang="pl-PL" sz="1200" dirty="0">
              <a:solidFill>
                <a:srgbClr val="202020"/>
              </a:solidFill>
              <a:latin typeface="Consolas" panose="020B0609020204030204" pitchFamily="49" charset="0"/>
            </a:endParaRPr>
          </a:p>
          <a:p>
            <a:pPr>
              <a:lnSpc>
                <a:spcPts val="1100"/>
              </a:lnSpc>
            </a:pPr>
            <a:r>
              <a:rPr lang="pl-PL" sz="1200" dirty="0">
                <a:solidFill>
                  <a:srgbClr val="098658"/>
                </a:solidFill>
                <a:latin typeface="Consolas" panose="020B0609020204030204" pitchFamily="49" charset="0"/>
              </a:rPr>
              <a:t>5</a:t>
            </a:r>
            <a:r>
              <a:rPr lang="pl-PL" sz="1200" dirty="0">
                <a:solidFill>
                  <a:srgbClr val="202020"/>
                </a:solidFill>
                <a:latin typeface="Consolas" panose="020B0609020204030204" pitchFamily="49" charset="0"/>
              </a:rPr>
              <a:t>.      </a:t>
            </a:r>
            <a:r>
              <a:rPr lang="pl-PL" sz="1200" dirty="0" err="1">
                <a:solidFill>
                  <a:srgbClr val="AF00DB"/>
                </a:solidFill>
                <a:latin typeface="Consolas" panose="020B0609020204030204" pitchFamily="49" charset="0"/>
              </a:rPr>
              <a:t>if</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u</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goal</a:t>
            </a:r>
            <a:r>
              <a:rPr lang="pl-PL" sz="1200" dirty="0">
                <a:solidFill>
                  <a:srgbClr val="202020"/>
                </a:solidFill>
                <a:latin typeface="Consolas" panose="020B0609020204030204" pitchFamily="49" charset="0"/>
              </a:rPr>
              <a:t>: odtwórz ścieżkę</a:t>
            </a:r>
          </a:p>
          <a:p>
            <a:pPr>
              <a:lnSpc>
                <a:spcPts val="1100"/>
              </a:lnSpc>
            </a:pPr>
            <a:r>
              <a:rPr lang="pl-PL" sz="1200" dirty="0">
                <a:solidFill>
                  <a:srgbClr val="098658"/>
                </a:solidFill>
                <a:latin typeface="Consolas" panose="020B0609020204030204" pitchFamily="49" charset="0"/>
              </a:rPr>
              <a:t>6</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open_set</a:t>
            </a:r>
            <a:r>
              <a:rPr lang="pl-PL" sz="1200" dirty="0" err="1">
                <a:solidFill>
                  <a:srgbClr val="202020"/>
                </a:solidFill>
                <a:latin typeface="Consolas" panose="020B0609020204030204" pitchFamily="49" charset="0"/>
              </a:rPr>
              <a:t>.</a:t>
            </a:r>
            <a:r>
              <a:rPr lang="pl-PL" sz="1200" dirty="0" err="1">
                <a:solidFill>
                  <a:srgbClr val="8250DF"/>
                </a:solidFill>
                <a:latin typeface="Consolas" panose="020B0609020204030204" pitchFamily="49" charset="0"/>
              </a:rPr>
              <a:t>remove</a:t>
            </a:r>
            <a:r>
              <a:rPr lang="pl-PL" sz="1200" dirty="0">
                <a:solidFill>
                  <a:srgbClr val="202020"/>
                </a:solidFill>
                <a:latin typeface="Consolas" panose="020B0609020204030204" pitchFamily="49" charset="0"/>
              </a:rPr>
              <a:t>(</a:t>
            </a:r>
            <a:r>
              <a:rPr lang="pl-PL" sz="1200" dirty="0">
                <a:solidFill>
                  <a:srgbClr val="1F2328"/>
                </a:solidFill>
                <a:latin typeface="Consolas" panose="020B0609020204030204" pitchFamily="49" charset="0"/>
              </a:rPr>
              <a:t>u</a:t>
            </a:r>
            <a:r>
              <a:rPr lang="pl-PL" sz="1200" dirty="0">
                <a:solidFill>
                  <a:srgbClr val="202020"/>
                </a:solidFill>
                <a:latin typeface="Consolas" panose="020B0609020204030204" pitchFamily="49" charset="0"/>
              </a:rPr>
              <a:t>)</a:t>
            </a:r>
          </a:p>
          <a:p>
            <a:pPr>
              <a:lnSpc>
                <a:spcPts val="1100"/>
              </a:lnSpc>
            </a:pPr>
            <a:r>
              <a:rPr lang="pl-PL" sz="1200" dirty="0">
                <a:solidFill>
                  <a:srgbClr val="098658"/>
                </a:solidFill>
                <a:latin typeface="Consolas" panose="020B0609020204030204" pitchFamily="49" charset="0"/>
              </a:rPr>
              <a:t>7</a:t>
            </a:r>
            <a:r>
              <a:rPr lang="pl-PL" sz="1200" dirty="0">
                <a:solidFill>
                  <a:srgbClr val="202020"/>
                </a:solidFill>
                <a:latin typeface="Consolas" panose="020B0609020204030204" pitchFamily="49" charset="0"/>
              </a:rPr>
              <a:t>.      </a:t>
            </a:r>
            <a:r>
              <a:rPr lang="pl-PL" sz="1200" dirty="0">
                <a:solidFill>
                  <a:srgbClr val="AF00DB"/>
                </a:solidFill>
                <a:latin typeface="Consolas" panose="020B0609020204030204" pitchFamily="49" charset="0"/>
              </a:rPr>
              <a:t>for</a:t>
            </a:r>
            <a:r>
              <a:rPr lang="pl-PL" sz="1200" dirty="0">
                <a:solidFill>
                  <a:srgbClr val="202020"/>
                </a:solidFill>
                <a:latin typeface="Consolas" panose="020B0609020204030204" pitchFamily="49" charset="0"/>
              </a:rPr>
              <a:t> </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FF"/>
                </a:solidFill>
                <a:latin typeface="Consolas" panose="020B0609020204030204" pitchFamily="49" charset="0"/>
              </a:rPr>
              <a:t>in</a:t>
            </a:r>
            <a:r>
              <a:rPr lang="pl-PL" sz="1200" dirty="0">
                <a:solidFill>
                  <a:srgbClr val="202020"/>
                </a:solidFill>
                <a:latin typeface="Consolas" panose="020B0609020204030204" pitchFamily="49" charset="0"/>
              </a:rPr>
              <a:t> sąsiedzi(</a:t>
            </a:r>
            <a:r>
              <a:rPr lang="pl-PL" sz="1200" dirty="0">
                <a:solidFill>
                  <a:srgbClr val="1F2328"/>
                </a:solidFill>
                <a:latin typeface="Consolas" panose="020B0609020204030204" pitchFamily="49" charset="0"/>
              </a:rPr>
              <a:t>u</a:t>
            </a:r>
            <a:r>
              <a:rPr lang="pl-PL" sz="1200" dirty="0">
                <a:solidFill>
                  <a:srgbClr val="202020"/>
                </a:solidFill>
                <a:latin typeface="Consolas" panose="020B0609020204030204" pitchFamily="49" charset="0"/>
              </a:rPr>
              <a:t>):</a:t>
            </a:r>
          </a:p>
          <a:p>
            <a:pPr>
              <a:lnSpc>
                <a:spcPts val="1100"/>
              </a:lnSpc>
            </a:pPr>
            <a:r>
              <a:rPr lang="pl-PL" sz="1200" dirty="0">
                <a:solidFill>
                  <a:srgbClr val="098658"/>
                </a:solidFill>
                <a:latin typeface="Consolas" panose="020B0609020204030204" pitchFamily="49" charset="0"/>
              </a:rPr>
              <a:t>8</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tentative_g</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g[</a:t>
            </a:r>
            <a:r>
              <a:rPr lang="pl-PL" sz="1200" dirty="0">
                <a:solidFill>
                  <a:srgbClr val="1F2328"/>
                </a:solidFill>
                <a:latin typeface="Consolas" panose="020B0609020204030204" pitchFamily="49" charset="0"/>
              </a:rPr>
              <a:t>u</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cost</a:t>
            </a:r>
            <a:r>
              <a:rPr lang="pl-PL" sz="1200" dirty="0">
                <a:solidFill>
                  <a:srgbClr val="202020"/>
                </a:solidFill>
                <a:latin typeface="Consolas" panose="020B0609020204030204" pitchFamily="49" charset="0"/>
              </a:rPr>
              <a:t>(</a:t>
            </a:r>
            <a:r>
              <a:rPr lang="pl-PL" sz="1200" dirty="0" err="1">
                <a:solidFill>
                  <a:srgbClr val="1F2328"/>
                </a:solidFill>
                <a:latin typeface="Consolas" panose="020B0609020204030204" pitchFamily="49" charset="0"/>
              </a:rPr>
              <a:t>u</a:t>
            </a:r>
            <a:r>
              <a:rPr lang="pl-PL" sz="1200" dirty="0" err="1">
                <a:solidFill>
                  <a:srgbClr val="202020"/>
                </a:solidFill>
                <a:latin typeface="Consolas" panose="020B0609020204030204" pitchFamily="49" charset="0"/>
              </a:rPr>
              <a:t>,</a:t>
            </a:r>
            <a:r>
              <a:rPr lang="pl-PL" sz="1200" dirty="0" err="1">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a:t>
            </a:r>
          </a:p>
          <a:p>
            <a:pPr>
              <a:lnSpc>
                <a:spcPts val="1100"/>
              </a:lnSpc>
            </a:pPr>
            <a:r>
              <a:rPr lang="pl-PL" sz="1200" dirty="0">
                <a:solidFill>
                  <a:srgbClr val="098658"/>
                </a:solidFill>
                <a:latin typeface="Consolas" panose="020B0609020204030204" pitchFamily="49" charset="0"/>
              </a:rPr>
              <a:t>9</a:t>
            </a:r>
            <a:r>
              <a:rPr lang="pl-PL" sz="1200" dirty="0">
                <a:solidFill>
                  <a:srgbClr val="202020"/>
                </a:solidFill>
                <a:latin typeface="Consolas" panose="020B0609020204030204" pitchFamily="49" charset="0"/>
              </a:rPr>
              <a:t>.          </a:t>
            </a:r>
            <a:r>
              <a:rPr lang="pl-PL" sz="1200" dirty="0" err="1">
                <a:solidFill>
                  <a:srgbClr val="AF00DB"/>
                </a:solidFill>
                <a:latin typeface="Consolas" panose="020B0609020204030204" pitchFamily="49" charset="0"/>
              </a:rPr>
              <a:t>if</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tentative_g</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&lt;</a:t>
            </a:r>
            <a:r>
              <a:rPr lang="pl-PL" sz="1200" dirty="0">
                <a:solidFill>
                  <a:srgbClr val="202020"/>
                </a:solidFill>
                <a:latin typeface="Consolas" panose="020B0609020204030204" pitchFamily="49" charset="0"/>
              </a:rPr>
              <a:t> g[</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a:t>
            </a:r>
          </a:p>
          <a:p>
            <a:pPr>
              <a:lnSpc>
                <a:spcPts val="1100"/>
              </a:lnSpc>
            </a:pPr>
            <a:r>
              <a:rPr lang="pl-PL" sz="1200" dirty="0">
                <a:solidFill>
                  <a:srgbClr val="098658"/>
                </a:solidFill>
                <a:latin typeface="Consolas" panose="020B0609020204030204" pitchFamily="49" charset="0"/>
              </a:rPr>
              <a:t>10</a:t>
            </a:r>
            <a:r>
              <a:rPr lang="pl-PL" sz="1200" dirty="0">
                <a:solidFill>
                  <a:srgbClr val="202020"/>
                </a:solidFill>
                <a:latin typeface="Consolas" panose="020B0609020204030204" pitchFamily="49" charset="0"/>
              </a:rPr>
              <a:t>.             g[</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err="1">
                <a:solidFill>
                  <a:srgbClr val="1F2328"/>
                </a:solidFill>
                <a:latin typeface="Consolas" panose="020B0609020204030204" pitchFamily="49" charset="0"/>
              </a:rPr>
              <a:t>tentative_g</a:t>
            </a:r>
            <a:endParaRPr lang="pl-PL" sz="1200" dirty="0">
              <a:solidFill>
                <a:srgbClr val="202020"/>
              </a:solidFill>
              <a:latin typeface="Consolas" panose="020B0609020204030204" pitchFamily="49" charset="0"/>
            </a:endParaRPr>
          </a:p>
          <a:p>
            <a:pPr>
              <a:lnSpc>
                <a:spcPts val="1100"/>
              </a:lnSpc>
            </a:pPr>
            <a:r>
              <a:rPr lang="pl-PL" sz="1200" dirty="0">
                <a:solidFill>
                  <a:srgbClr val="098658"/>
                </a:solidFill>
                <a:latin typeface="Consolas" panose="020B0609020204030204" pitchFamily="49" charset="0"/>
              </a:rPr>
              <a:t>11</a:t>
            </a:r>
            <a:r>
              <a:rPr lang="pl-PL" sz="1200" dirty="0">
                <a:solidFill>
                  <a:srgbClr val="202020"/>
                </a:solidFill>
                <a:latin typeface="Consolas" panose="020B0609020204030204" pitchFamily="49" charset="0"/>
              </a:rPr>
              <a:t>.             f[</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g[</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h(</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a:t>
            </a:r>
          </a:p>
          <a:p>
            <a:pPr>
              <a:lnSpc>
                <a:spcPts val="1100"/>
              </a:lnSpc>
            </a:pPr>
            <a:r>
              <a:rPr lang="pl-PL" sz="1200" dirty="0">
                <a:solidFill>
                  <a:srgbClr val="098658"/>
                </a:solidFill>
                <a:latin typeface="Consolas" panose="020B0609020204030204" pitchFamily="49" charset="0"/>
              </a:rPr>
              <a:t>12</a:t>
            </a:r>
            <a:r>
              <a:rPr lang="pl-PL" sz="1200" dirty="0">
                <a:solidFill>
                  <a:srgbClr val="202020"/>
                </a:solidFill>
                <a:latin typeface="Consolas" panose="020B0609020204030204" pitchFamily="49" charset="0"/>
              </a:rPr>
              <a:t>.             </a:t>
            </a:r>
            <a:r>
              <a:rPr lang="pl-PL" sz="1200" dirty="0" err="1">
                <a:solidFill>
                  <a:srgbClr val="202020"/>
                </a:solidFill>
                <a:latin typeface="Consolas" panose="020B0609020204030204" pitchFamily="49" charset="0"/>
              </a:rPr>
              <a:t>parent</a:t>
            </a:r>
            <a:r>
              <a:rPr lang="pl-PL" sz="1200" dirty="0">
                <a:solidFill>
                  <a:srgbClr val="202020"/>
                </a:solidFill>
                <a:latin typeface="Consolas" panose="020B0609020204030204" pitchFamily="49" charset="0"/>
              </a:rPr>
              <a:t>[</a:t>
            </a:r>
            <a:r>
              <a:rPr lang="pl-PL" sz="1200" dirty="0">
                <a:solidFill>
                  <a:srgbClr val="1F2328"/>
                </a:solidFill>
                <a:latin typeface="Consolas" panose="020B0609020204030204" pitchFamily="49" charset="0"/>
              </a:rPr>
              <a:t>v</a:t>
            </a:r>
            <a:r>
              <a:rPr lang="pl-PL" sz="1200" dirty="0">
                <a:solidFill>
                  <a:srgbClr val="202020"/>
                </a:solidFill>
                <a:latin typeface="Consolas" panose="020B0609020204030204" pitchFamily="49" charset="0"/>
              </a:rPr>
              <a:t>] </a:t>
            </a:r>
            <a:r>
              <a:rPr lang="pl-PL" sz="1200" dirty="0">
                <a:solidFill>
                  <a:srgbClr val="000000"/>
                </a:solidFill>
                <a:latin typeface="Consolas" panose="020B0609020204030204" pitchFamily="49" charset="0"/>
              </a:rPr>
              <a:t>=</a:t>
            </a:r>
            <a:r>
              <a:rPr lang="pl-PL" sz="1200" dirty="0">
                <a:solidFill>
                  <a:srgbClr val="202020"/>
                </a:solidFill>
                <a:latin typeface="Consolas" panose="020B0609020204030204" pitchFamily="49" charset="0"/>
              </a:rPr>
              <a:t> </a:t>
            </a:r>
            <a:r>
              <a:rPr lang="pl-PL" sz="1200" dirty="0" smtClean="0">
                <a:solidFill>
                  <a:srgbClr val="1F2328"/>
                </a:solidFill>
                <a:latin typeface="Consolas" panose="020B0609020204030204" pitchFamily="49" charset="0"/>
              </a:rPr>
              <a:t>u</a:t>
            </a:r>
            <a:endParaRPr lang="pl-PL" sz="1200" dirty="0">
              <a:solidFill>
                <a:srgbClr val="202020"/>
              </a:solidFill>
              <a:latin typeface="Consolas" panose="020B0609020204030204" pitchFamily="49" charset="0"/>
            </a:endParaRPr>
          </a:p>
        </p:txBody>
      </p:sp>
      <p:sp>
        <p:nvSpPr>
          <p:cNvPr id="10" name="Shape 8"/>
          <p:cNvSpPr/>
          <p:nvPr/>
        </p:nvSpPr>
        <p:spPr>
          <a:xfrm>
            <a:off x="5943600" y="1097280"/>
            <a:ext cx="2926080" cy="2374466"/>
          </a:xfrm>
          <a:prstGeom prst="rect">
            <a:avLst/>
          </a:prstGeom>
          <a:solidFill>
            <a:srgbClr val="0D1B2A"/>
          </a:solidFill>
          <a:ln w="12700">
            <a:solidFill>
              <a:srgbClr val="22C55E"/>
            </a:solidFill>
            <a:prstDash val="solid"/>
          </a:ln>
          <a:effectLst>
            <a:outerShdw blurRad="76200" dist="25400" dir="8100000" algn="bl" rotWithShape="0">
              <a:srgbClr val="000000">
                <a:alpha val="12000"/>
              </a:srgbClr>
            </a:outerShdw>
          </a:effectLst>
        </p:spPr>
      </p:sp>
      <p:sp>
        <p:nvSpPr>
          <p:cNvPr id="11" name="Shape 9"/>
          <p:cNvSpPr/>
          <p:nvPr/>
        </p:nvSpPr>
        <p:spPr>
          <a:xfrm>
            <a:off x="5943600" y="1097280"/>
            <a:ext cx="2926080" cy="384048"/>
          </a:xfrm>
          <a:prstGeom prst="rect">
            <a:avLst/>
          </a:prstGeom>
          <a:solidFill>
            <a:srgbClr val="22C55E"/>
          </a:solidFill>
          <a:ln w="12700">
            <a:solidFill>
              <a:srgbClr val="22C55E"/>
            </a:solidFill>
            <a:prstDash val="solid"/>
          </a:ln>
        </p:spPr>
      </p:sp>
      <p:sp>
        <p:nvSpPr>
          <p:cNvPr id="12" name="Text 10"/>
          <p:cNvSpPr/>
          <p:nvPr/>
        </p:nvSpPr>
        <p:spPr>
          <a:xfrm>
            <a:off x="6080760" y="1115568"/>
            <a:ext cx="2651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Właściwości</a:t>
            </a:r>
            <a:endParaRPr lang="en-US" sz="1600" dirty="0"/>
          </a:p>
        </p:txBody>
      </p:sp>
      <p:sp>
        <p:nvSpPr>
          <p:cNvPr id="13" name="Text 11"/>
          <p:cNvSpPr/>
          <p:nvPr/>
        </p:nvSpPr>
        <p:spPr>
          <a:xfrm>
            <a:off x="6080760" y="1554480"/>
            <a:ext cx="2651760" cy="1812731"/>
          </a:xfrm>
          <a:prstGeom prst="rect">
            <a:avLst/>
          </a:prstGeom>
          <a:noFill/>
          <a:ln/>
        </p:spPr>
        <p:txBody>
          <a:bodyPr wrap="square" lIns="63500" tIns="101600" rIns="63500" bIns="63500" rtlCol="0" anchor="t"/>
          <a:lstStyle/>
          <a:p>
            <a:pPr marL="342900" indent="-342900">
              <a:spcAft>
                <a:spcPts val="800"/>
              </a:spcAft>
              <a:buSzPct val="100000"/>
              <a:buChar char="•"/>
            </a:pPr>
            <a:r>
              <a:rPr lang="en-US" sz="1200" dirty="0" err="1" smtClean="0">
                <a:solidFill>
                  <a:srgbClr val="90E0EF"/>
                </a:solidFill>
                <a:latin typeface="Calibri" pitchFamily="34" charset="0"/>
                <a:ea typeface="Calibri" pitchFamily="34" charset="-122"/>
                <a:cs typeface="Calibri" pitchFamily="34" charset="-120"/>
              </a:rPr>
              <a:t>Optymalny</a:t>
            </a:r>
            <a:r>
              <a:rPr lang="pl-PL" sz="1200" dirty="0" smtClean="0">
                <a:solidFill>
                  <a:srgbClr val="90E0EF"/>
                </a:solidFill>
                <a:latin typeface="Calibri" pitchFamily="34" charset="0"/>
                <a:ea typeface="Calibri" pitchFamily="34" charset="-122"/>
                <a:cs typeface="Calibri" pitchFamily="34" charset="-120"/>
              </a:rPr>
              <a:t>,</a:t>
            </a:r>
            <a:r>
              <a:rPr lang="en-US" sz="1200" dirty="0" smtClean="0">
                <a:solidFill>
                  <a:srgbClr val="90E0EF"/>
                </a:solidFill>
                <a:latin typeface="Calibri" pitchFamily="34" charset="0"/>
                <a:ea typeface="Calibri" pitchFamily="34" charset="-122"/>
                <a:cs typeface="Calibri" pitchFamily="34" charset="-120"/>
              </a:rPr>
              <a:t> </a:t>
            </a:r>
            <a:r>
              <a:rPr lang="en-US" sz="1200" dirty="0">
                <a:solidFill>
                  <a:srgbClr val="90E0EF"/>
                </a:solidFill>
                <a:latin typeface="Calibri" pitchFamily="34" charset="0"/>
                <a:ea typeface="Calibri" pitchFamily="34" charset="-122"/>
                <a:cs typeface="Calibri" pitchFamily="34" charset="-120"/>
              </a:rPr>
              <a:t>gdy h admissible</a:t>
            </a:r>
            <a:endParaRPr lang="en-US" sz="1200" dirty="0"/>
          </a:p>
          <a:p>
            <a:pPr marL="342900" indent="-342900">
              <a:spcAft>
                <a:spcPts val="800"/>
              </a:spcAft>
              <a:buSzPct val="100000"/>
              <a:buChar char="•"/>
            </a:pPr>
            <a:r>
              <a:rPr lang="en-US" sz="1200" b="1" dirty="0">
                <a:solidFill>
                  <a:srgbClr val="90E0EF"/>
                </a:solidFill>
                <a:latin typeface="Calibri" pitchFamily="34" charset="0"/>
                <a:ea typeface="Calibri" pitchFamily="34" charset="-122"/>
                <a:cs typeface="Calibri" pitchFamily="34" charset="-120"/>
              </a:rPr>
              <a:t>Szybszy</a:t>
            </a:r>
            <a:r>
              <a:rPr lang="en-US" sz="1200" dirty="0">
                <a:solidFill>
                  <a:srgbClr val="90E0EF"/>
                </a:solidFill>
                <a:latin typeface="Calibri" pitchFamily="34" charset="0"/>
                <a:ea typeface="Calibri" pitchFamily="34" charset="-122"/>
                <a:cs typeface="Calibri" pitchFamily="34" charset="-120"/>
              </a:rPr>
              <a:t> od Dijkstry dzięki h</a:t>
            </a:r>
            <a:endParaRPr lang="en-US" sz="1200" dirty="0"/>
          </a:p>
          <a:p>
            <a:pPr marL="342900" indent="-342900">
              <a:spcAft>
                <a:spcPts val="800"/>
              </a:spcAft>
              <a:buSzPct val="100000"/>
              <a:buChar char="•"/>
            </a:pPr>
            <a:r>
              <a:rPr lang="en-US" sz="1200" b="1" dirty="0">
                <a:solidFill>
                  <a:srgbClr val="90E0EF"/>
                </a:solidFill>
                <a:latin typeface="Calibri" pitchFamily="34" charset="0"/>
                <a:ea typeface="Calibri" pitchFamily="34" charset="-122"/>
                <a:cs typeface="Calibri" pitchFamily="34" charset="-120"/>
              </a:rPr>
              <a:t>h euklidesowa</a:t>
            </a:r>
            <a:r>
              <a:rPr lang="en-US" sz="1200" dirty="0">
                <a:solidFill>
                  <a:srgbClr val="90E0EF"/>
                </a:solidFill>
                <a:latin typeface="Calibri" pitchFamily="34" charset="0"/>
                <a:ea typeface="Calibri" pitchFamily="34" charset="-122"/>
                <a:cs typeface="Calibri" pitchFamily="34" charset="-120"/>
              </a:rPr>
              <a:t>: √(dx²+dy²)</a:t>
            </a:r>
            <a:endParaRPr lang="en-US" sz="1200" dirty="0"/>
          </a:p>
          <a:p>
            <a:pPr marL="342900" indent="-342900">
              <a:spcAft>
                <a:spcPts val="800"/>
              </a:spcAft>
              <a:buSzPct val="100000"/>
              <a:buChar char="•"/>
            </a:pPr>
            <a:r>
              <a:rPr lang="en-US" sz="1200" b="1" dirty="0">
                <a:solidFill>
                  <a:srgbClr val="90E0EF"/>
                </a:solidFill>
                <a:latin typeface="Calibri" pitchFamily="34" charset="0"/>
                <a:ea typeface="Calibri" pitchFamily="34" charset="-122"/>
                <a:cs typeface="Calibri" pitchFamily="34" charset="-120"/>
              </a:rPr>
              <a:t>h Manhattan</a:t>
            </a:r>
            <a:r>
              <a:rPr lang="en-US" sz="1200" dirty="0">
                <a:solidFill>
                  <a:srgbClr val="90E0EF"/>
                </a:solidFill>
                <a:latin typeface="Calibri" pitchFamily="34" charset="0"/>
                <a:ea typeface="Calibri" pitchFamily="34" charset="-122"/>
                <a:cs typeface="Calibri" pitchFamily="34" charset="-120"/>
              </a:rPr>
              <a:t>: |dx|+|dy|</a:t>
            </a:r>
            <a:endParaRPr lang="en-US" sz="1200" dirty="0"/>
          </a:p>
          <a:p>
            <a:pPr marL="342900" indent="-3429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Im lepsza h, tym mniej węzłów</a:t>
            </a:r>
            <a:endParaRPr lang="en-US" sz="1200" dirty="0"/>
          </a:p>
          <a:p>
            <a:pPr marL="342900" indent="-342900">
              <a:spcAft>
                <a:spcPts val="800"/>
              </a:spcAft>
              <a:buSzPct val="100000"/>
              <a:buChar char="•"/>
            </a:pPr>
            <a:r>
              <a:rPr lang="en-US" sz="1200" b="1" dirty="0">
                <a:solidFill>
                  <a:srgbClr val="90E0EF"/>
                </a:solidFill>
                <a:latin typeface="Calibri" pitchFamily="34" charset="0"/>
                <a:ea typeface="Calibri" pitchFamily="34" charset="-122"/>
                <a:cs typeface="Calibri" pitchFamily="34" charset="-120"/>
              </a:rPr>
              <a:t>Złożoność</a:t>
            </a:r>
            <a:r>
              <a:rPr lang="en-US" sz="1200" dirty="0">
                <a:solidFill>
                  <a:srgbClr val="90E0EF"/>
                </a:solidFill>
                <a:latin typeface="Calibri" pitchFamily="34" charset="0"/>
                <a:ea typeface="Calibri" pitchFamily="34" charset="-122"/>
                <a:cs typeface="Calibri" pitchFamily="34" charset="-120"/>
              </a:rPr>
              <a:t>: O(b^d), b=branching</a:t>
            </a:r>
            <a:endParaRPr lang="en-US" sz="1200" dirty="0"/>
          </a:p>
        </p:txBody>
      </p:sp>
      <p:sp>
        <p:nvSpPr>
          <p:cNvPr id="14" name="Prostokąt 13"/>
          <p:cNvSpPr/>
          <p:nvPr/>
        </p:nvSpPr>
        <p:spPr>
          <a:xfrm>
            <a:off x="274320" y="3962336"/>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A* można traktować jako rozwinięcie algorytmu Dijkstry o heurystykę, czyli oszacowanie odległości do celu. Funkcja kosztu składa się z dwóch części: kosztu dotarcia do danego węzła oraz przewidywanego kosztu dojścia do celu. Dzięki temu algorytm przeszukuje graf bardziej selektywnie i zwykle działa znacznie szybciej. Kluczowa jest jakość heurystyki: jeśli nie przeszacowuje kosztu, A* zachowuje optymalność. Dla siatek 4-kierunkowych typowo stosuje się metrykę Manhattan, a dla ruchu bardziej ciągłego metrykę euklidesową.</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Algorytm </a:t>
            </a:r>
            <a:r>
              <a:rPr lang="pl-PL" sz="2400" b="1" dirty="0" smtClean="0">
                <a:solidFill>
                  <a:srgbClr val="FFFFFF"/>
                </a:solidFill>
                <a:latin typeface="Trebuchet MS" pitchFamily="34" charset="0"/>
                <a:ea typeface="Trebuchet MS" pitchFamily="34" charset="-122"/>
                <a:cs typeface="Trebuchet MS" pitchFamily="34" charset="-120"/>
              </a:rPr>
              <a:t>Dijkstry: </a:t>
            </a:r>
            <a:r>
              <a:rPr lang="pl-PL" sz="2400" b="1" dirty="0">
                <a:solidFill>
                  <a:srgbClr val="FFFFFF"/>
                </a:solidFill>
                <a:latin typeface="Trebuchet MS" pitchFamily="34" charset="0"/>
                <a:ea typeface="Trebuchet MS" pitchFamily="34" charset="-122"/>
                <a:cs typeface="Trebuchet MS" pitchFamily="34" charset="-120"/>
              </a:rPr>
              <a:t>implementacja na siatce 2D</a:t>
            </a: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6497146" cy="3009517"/>
          </a:xfrm>
          <a:prstGeom prst="rect">
            <a:avLst/>
          </a:prstGeom>
          <a:noFill/>
          <a:ln/>
        </p:spPr>
        <p:txBody>
          <a:bodyPr wrap="square" lIns="108000" tIns="0" rIns="36000" bIns="0" numCol="2" rtlCol="0" anchor="t">
            <a:noAutofit/>
          </a:bodyPr>
          <a:lstStyle/>
          <a:p>
            <a:r>
              <a:rPr lang="pl-PL" sz="800" spc="-40" dirty="0">
                <a:solidFill>
                  <a:srgbClr val="C586C0"/>
                </a:solidFill>
                <a:latin typeface="Consolas" panose="020B0609020204030204" pitchFamily="49" charset="0"/>
              </a:rPr>
              <a:t>import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heapq</a:t>
            </a:r>
            <a:endParaRPr lang="pl-PL" sz="800" spc="-40" dirty="0">
              <a:solidFill>
                <a:srgbClr val="CCCCCC"/>
              </a:solidFill>
              <a:latin typeface="Consolas" panose="020B0609020204030204" pitchFamily="49" charset="0"/>
            </a:endParaRPr>
          </a:p>
          <a:p>
            <a:r>
              <a:rPr lang="pl-PL" sz="800" spc="-40" dirty="0">
                <a:solidFill>
                  <a:srgbClr val="C586C0"/>
                </a:solidFill>
                <a:latin typeface="Consolas" panose="020B0609020204030204" pitchFamily="49" charset="0"/>
              </a:rPr>
              <a:t>import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numpy</a:t>
            </a: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as</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endParaRPr lang="pl-PL" sz="800" spc="-40" dirty="0">
              <a:solidFill>
                <a:srgbClr val="CCCCCC"/>
              </a:solidFill>
              <a:latin typeface="Consolas" panose="020B0609020204030204" pitchFamily="49" charset="0"/>
            </a:endParaRPr>
          </a:p>
          <a:p>
            <a:r>
              <a:rPr lang="pl-PL" sz="800" spc="-40" dirty="0">
                <a:solidFill>
                  <a:srgbClr val="C586C0"/>
                </a:solidFill>
                <a:latin typeface="Consolas" panose="020B0609020204030204" pitchFamily="49" charset="0"/>
              </a:rPr>
              <a:t>from</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typing</a:t>
            </a: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import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Optional</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dijkstra</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grid</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ndarray</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start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tuple</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goal</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tuple</a:t>
            </a:r>
            <a:r>
              <a:rPr lang="pl-PL" sz="800" spc="-40" dirty="0">
                <a:solidFill>
                  <a:srgbClr val="CCCCCC"/>
                </a:solidFill>
                <a:latin typeface="Consolas" panose="020B0609020204030204" pitchFamily="49" charset="0"/>
              </a:rPr>
              <a:t>) -&gt; </a:t>
            </a:r>
            <a:r>
              <a:rPr lang="pl-PL" sz="800" spc="-40" dirty="0" err="1">
                <a:solidFill>
                  <a:srgbClr val="4EC9B0"/>
                </a:solidFill>
                <a:latin typeface="Consolas" panose="020B0609020204030204" pitchFamily="49" charset="0"/>
              </a:rPr>
              <a:t>Optional</a:t>
            </a:r>
            <a:r>
              <a:rPr lang="pl-PL" sz="800" spc="-40" dirty="0">
                <a:solidFill>
                  <a:srgbClr val="CCCCCC"/>
                </a:solidFill>
                <a:latin typeface="Consolas" panose="020B0609020204030204" pitchFamily="49" charset="0"/>
              </a:rPr>
              <a:t>[</a:t>
            </a:r>
            <a:r>
              <a:rPr lang="pl-PL" sz="800" spc="-40" dirty="0">
                <a:solidFill>
                  <a:srgbClr val="4EC9B0"/>
                </a:solidFill>
                <a:latin typeface="Consolas" panose="020B0609020204030204" pitchFamily="49" charset="0"/>
              </a:rPr>
              <a:t>list</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CE9178"/>
                </a:solidFill>
                <a:latin typeface="Consolas" panose="020B0609020204030204" pitchFamily="49" charset="0"/>
              </a:rPr>
              <a:t>"""</a:t>
            </a:r>
            <a:endParaRPr lang="pl-PL" sz="800" spc="-40" dirty="0">
              <a:solidFill>
                <a:srgbClr val="CCCCCC"/>
              </a:solidFill>
              <a:latin typeface="Consolas" panose="020B0609020204030204" pitchFamily="49" charset="0"/>
            </a:endParaRPr>
          </a:p>
          <a:p>
            <a:r>
              <a:rPr lang="pl-PL" sz="800" spc="-40" dirty="0">
                <a:solidFill>
                  <a:srgbClr val="CE9178"/>
                </a:solidFill>
                <a:latin typeface="Consolas" panose="020B0609020204030204" pitchFamily="49" charset="0"/>
              </a:rPr>
              <a:t>    Dijkstra na siatce 2D (ruch 8-kierunkowy).</a:t>
            </a:r>
            <a:endParaRPr lang="pl-PL" sz="800" spc="-40" dirty="0">
              <a:solidFill>
                <a:srgbClr val="CCCCCC"/>
              </a:solidFill>
              <a:latin typeface="Consolas" panose="020B0609020204030204" pitchFamily="49" charset="0"/>
            </a:endParaRPr>
          </a:p>
          <a:p>
            <a:r>
              <a:rPr lang="pl-PL" sz="800" spc="-40" dirty="0">
                <a:solidFill>
                  <a:srgbClr val="CE9178"/>
                </a:solidFill>
                <a:latin typeface="Consolas" panose="020B0609020204030204" pitchFamily="49" charset="0"/>
              </a:rPr>
              <a:t>    </a:t>
            </a:r>
            <a:r>
              <a:rPr lang="pl-PL" sz="800" spc="-40" dirty="0" err="1">
                <a:solidFill>
                  <a:srgbClr val="CE9178"/>
                </a:solidFill>
                <a:latin typeface="Consolas" panose="020B0609020204030204" pitchFamily="49" charset="0"/>
              </a:rPr>
              <a:t>grid</a:t>
            </a:r>
            <a:r>
              <a:rPr lang="pl-PL" sz="800" spc="-40" dirty="0">
                <a:solidFill>
                  <a:srgbClr val="CE9178"/>
                </a:solidFill>
                <a:latin typeface="Consolas" panose="020B0609020204030204" pitchFamily="49" charset="0"/>
              </a:rPr>
              <a:t>[r][c] = 0: wolne, 1: </a:t>
            </a:r>
            <a:r>
              <a:rPr lang="pl-PL" sz="800" spc="-40" dirty="0" smtClean="0">
                <a:solidFill>
                  <a:srgbClr val="CE9178"/>
                </a:solidFill>
                <a:latin typeface="Consolas" panose="020B0609020204030204" pitchFamily="49" charset="0"/>
              </a:rPr>
              <a:t>zajęte.</a:t>
            </a:r>
            <a:endParaRPr lang="pl-PL" sz="800" spc="-40" dirty="0">
              <a:solidFill>
                <a:srgbClr val="CCCCCC"/>
              </a:solidFill>
              <a:latin typeface="Consolas" panose="020B0609020204030204" pitchFamily="49" charset="0"/>
            </a:endParaRPr>
          </a:p>
          <a:p>
            <a:r>
              <a:rPr lang="pl-PL" sz="800" spc="-40" dirty="0">
                <a:solidFill>
                  <a:srgbClr val="CE9178"/>
                </a:solidFill>
                <a:latin typeface="Consolas" panose="020B0609020204030204" pitchFamily="49" charset="0"/>
              </a:rPr>
              <a:t>    Zwraca </a:t>
            </a:r>
            <a:r>
              <a:rPr lang="pl-PL" sz="800" spc="-40" dirty="0" smtClean="0">
                <a:solidFill>
                  <a:srgbClr val="CE9178"/>
                </a:solidFill>
                <a:latin typeface="Consolas" panose="020B0609020204030204" pitchFamily="49" charset="0"/>
              </a:rPr>
              <a:t>listę </a:t>
            </a:r>
            <a:r>
              <a:rPr lang="pl-PL" sz="800" spc="-40" dirty="0">
                <a:solidFill>
                  <a:srgbClr val="CE9178"/>
                </a:solidFill>
                <a:latin typeface="Consolas" panose="020B0609020204030204" pitchFamily="49" charset="0"/>
              </a:rPr>
              <a:t>komórek lub </a:t>
            </a:r>
            <a:r>
              <a:rPr lang="pl-PL" sz="800" spc="-40" dirty="0" err="1">
                <a:solidFill>
                  <a:srgbClr val="CE9178"/>
                </a:solidFill>
                <a:latin typeface="Consolas" panose="020B0609020204030204" pitchFamily="49" charset="0"/>
              </a:rPr>
              <a:t>None</a:t>
            </a:r>
            <a:r>
              <a:rPr lang="pl-PL" sz="800" spc="-40" dirty="0">
                <a:solidFill>
                  <a:srgbClr val="CE9178"/>
                </a:solidFill>
                <a:latin typeface="Consolas" panose="020B0609020204030204" pitchFamily="49" charset="0"/>
              </a:rPr>
              <a:t>, gdy brak </a:t>
            </a:r>
            <a:r>
              <a:rPr lang="pl-PL" sz="800" spc="-40" dirty="0" smtClean="0">
                <a:solidFill>
                  <a:srgbClr val="CE9178"/>
                </a:solidFill>
                <a:latin typeface="Consolas" panose="020B0609020204030204" pitchFamily="49" charset="0"/>
              </a:rPr>
              <a:t>ścieżki.</a:t>
            </a:r>
            <a:endParaRPr lang="pl-PL" sz="800" spc="-40" dirty="0">
              <a:solidFill>
                <a:srgbClr val="CCCCCC"/>
              </a:solidFill>
              <a:latin typeface="Consolas" panose="020B0609020204030204" pitchFamily="49" charset="0"/>
            </a:endParaRPr>
          </a:p>
          <a:p>
            <a:r>
              <a:rPr lang="pl-PL" sz="800" spc="-40" dirty="0">
                <a:solidFill>
                  <a:srgbClr val="CE9178"/>
                </a:solidFill>
                <a:latin typeface="Consolas" panose="020B0609020204030204" pitchFamily="49" charset="0"/>
              </a:rPr>
              <a:t>    """</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rows</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cols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grid</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shape</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Koszt </a:t>
            </a:r>
            <a:r>
              <a:rPr lang="pl-PL" sz="800" spc="-40" dirty="0" smtClean="0">
                <a:solidFill>
                  <a:srgbClr val="6A9955"/>
                </a:solidFill>
                <a:latin typeface="Consolas" panose="020B0609020204030204" pitchFamily="49" charset="0"/>
              </a:rPr>
              <a:t>przejścia: </a:t>
            </a:r>
            <a:r>
              <a:rPr lang="pl-PL" sz="800" spc="-40" dirty="0">
                <a:solidFill>
                  <a:srgbClr val="6A9955"/>
                </a:solidFill>
                <a:latin typeface="Consolas" panose="020B0609020204030204" pitchFamily="49" charset="0"/>
              </a:rPr>
              <a:t>prosty = 1.0, skos = </a:t>
            </a:r>
            <a:r>
              <a:rPr lang="pl-PL" sz="800" spc="-40" dirty="0" err="1">
                <a:solidFill>
                  <a:srgbClr val="6A9955"/>
                </a:solidFill>
                <a:latin typeface="Consolas" panose="020B0609020204030204" pitchFamily="49" charset="0"/>
              </a:rPr>
              <a:t>sqrt</a:t>
            </a:r>
            <a:r>
              <a:rPr lang="pl-PL" sz="800" spc="-40" dirty="0">
                <a:solidFill>
                  <a:srgbClr val="6A9955"/>
                </a:solidFill>
                <a:latin typeface="Consolas" panose="020B0609020204030204" pitchFamily="49" charset="0"/>
              </a:rPr>
              <a:t>(2)</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a:solidFill>
                  <a:srgbClr val="4FC1FF"/>
                </a:solidFill>
                <a:latin typeface="Consolas" panose="020B0609020204030204" pitchFamily="49" charset="0"/>
              </a:rPr>
              <a:t>MOVES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1.0</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1.0</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1.0</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1.0</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1.414</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1.414</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1.414</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1.414</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dist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start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0.0</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prev</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start</a:t>
            </a:r>
            <a:r>
              <a:rPr lang="pl-PL" sz="800" spc="-40" dirty="0">
                <a:solidFill>
                  <a:srgbClr val="CCCCCC"/>
                </a:solidFill>
                <a:latin typeface="Consolas" panose="020B0609020204030204" pitchFamily="49" charset="0"/>
              </a:rPr>
              <a:t>: </a:t>
            </a:r>
            <a:r>
              <a:rPr lang="pl-PL" sz="800" spc="-40" dirty="0" err="1">
                <a:solidFill>
                  <a:srgbClr val="4FC1FF"/>
                </a:solidFill>
                <a:latin typeface="Consolas" panose="020B0609020204030204" pitchFamily="49" charset="0"/>
              </a:rPr>
              <a:t>None</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pq</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0.0</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start</a:t>
            </a: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(koszt, </a:t>
            </a:r>
            <a:r>
              <a:rPr lang="pl-PL" sz="800" spc="-40" dirty="0" smtClean="0">
                <a:solidFill>
                  <a:srgbClr val="6A9955"/>
                </a:solidFill>
                <a:latin typeface="Consolas" panose="020B0609020204030204" pitchFamily="49" charset="0"/>
              </a:rPr>
              <a:t>wierzchołek)</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while</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pq</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u</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heapq</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heappop</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pq</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if</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&gt;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dist</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get</a:t>
            </a:r>
            <a:r>
              <a:rPr lang="pl-PL" sz="800" spc="-40" dirty="0">
                <a:solidFill>
                  <a:srgbClr val="CCCCCC"/>
                </a:solidFill>
                <a:latin typeface="Consolas" panose="020B0609020204030204" pitchFamily="49" charset="0"/>
              </a:rPr>
              <a:t>(</a:t>
            </a:r>
            <a:r>
              <a:rPr lang="pl-PL" sz="800" spc="-40" dirty="0">
                <a:solidFill>
                  <a:srgbClr val="9CDCFE"/>
                </a:solidFill>
                <a:latin typeface="Consolas" panose="020B0609020204030204" pitchFamily="49" charset="0"/>
              </a:rPr>
              <a:t>u</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a:t>
            </a:r>
            <a:r>
              <a:rPr lang="pl-PL" sz="800" spc="-40" dirty="0">
                <a:solidFill>
                  <a:srgbClr val="CE9178"/>
                </a:solidFill>
                <a:latin typeface="Consolas" panose="020B0609020204030204" pitchFamily="49" charset="0"/>
              </a:rPr>
              <a:t>'</a:t>
            </a:r>
            <a:r>
              <a:rPr lang="pl-PL" sz="800" spc="-40" dirty="0" err="1">
                <a:solidFill>
                  <a:srgbClr val="CE9178"/>
                </a:solidFill>
                <a:latin typeface="Consolas" panose="020B0609020204030204" pitchFamily="49" charset="0"/>
              </a:rPr>
              <a:t>inf</a:t>
            </a:r>
            <a:r>
              <a:rPr lang="pl-PL" sz="800" spc="-40" dirty="0">
                <a:solidFill>
                  <a:srgbClr val="CE9178"/>
                </a:solidFill>
                <a:latin typeface="Consolas" panose="020B0609020204030204" pitchFamily="49" charset="0"/>
              </a:rPr>
              <a:t>'</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continue</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if</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u</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goal</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Odtworzenie </a:t>
            </a:r>
            <a:r>
              <a:rPr lang="pl-PL" sz="800" spc="-40" dirty="0" smtClean="0">
                <a:solidFill>
                  <a:srgbClr val="6A9955"/>
                </a:solidFill>
                <a:latin typeface="Consolas" panose="020B0609020204030204" pitchFamily="49" charset="0"/>
              </a:rPr>
              <a:t>ścieżki</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path</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node</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 </a:t>
            </a:r>
            <a:r>
              <a:rPr lang="pl-PL" sz="800" spc="-40" dirty="0">
                <a:solidFill>
                  <a:srgbClr val="9CDCFE"/>
                </a:solidFill>
                <a:latin typeface="Consolas" panose="020B0609020204030204" pitchFamily="49" charset="0"/>
              </a:rPr>
              <a:t>u</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while</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node</a:t>
            </a:r>
            <a:r>
              <a:rPr lang="pl-PL" sz="800" spc="-40" dirty="0">
                <a:solidFill>
                  <a:srgbClr val="CCCCCC"/>
                </a:solidFill>
                <a:latin typeface="Consolas" panose="020B0609020204030204" pitchFamily="49" charset="0"/>
              </a:rPr>
              <a:t> </a:t>
            </a:r>
            <a:r>
              <a:rPr lang="pl-PL" sz="800" spc="-40" dirty="0" err="1">
                <a:solidFill>
                  <a:srgbClr val="569CD6"/>
                </a:solidFill>
                <a:latin typeface="Consolas" panose="020B0609020204030204" pitchFamily="49" charset="0"/>
              </a:rPr>
              <a:t>is</a:t>
            </a:r>
            <a:r>
              <a:rPr lang="pl-PL" sz="800" spc="-40" dirty="0">
                <a:solidFill>
                  <a:srgbClr val="CCCCCC"/>
                </a:solidFill>
                <a:latin typeface="Consolas" panose="020B0609020204030204" pitchFamily="49" charset="0"/>
              </a:rPr>
              <a:t> </a:t>
            </a:r>
            <a:r>
              <a:rPr lang="pl-PL" sz="800" spc="-40" dirty="0">
                <a:solidFill>
                  <a:srgbClr val="569CD6"/>
                </a:solidFill>
                <a:latin typeface="Consolas" panose="020B0609020204030204" pitchFamily="49" charset="0"/>
              </a:rPr>
              <a:t>not</a:t>
            </a:r>
            <a:r>
              <a:rPr lang="pl-PL" sz="800" spc="-40" dirty="0">
                <a:solidFill>
                  <a:srgbClr val="CCCCCC"/>
                </a:solidFill>
                <a:latin typeface="Consolas" panose="020B0609020204030204" pitchFamily="49" charset="0"/>
              </a:rPr>
              <a:t> </a:t>
            </a:r>
            <a:r>
              <a:rPr lang="pl-PL" sz="800" spc="-40" dirty="0" err="1">
                <a:solidFill>
                  <a:srgbClr val="4FC1FF"/>
                </a:solidFill>
                <a:latin typeface="Consolas" panose="020B0609020204030204" pitchFamily="49" charset="0"/>
              </a:rPr>
              <a:t>None</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path</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append</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node</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node</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prev</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node</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path</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r</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c</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u</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for</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dr</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dc</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cost</a:t>
            </a: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in</a:t>
            </a:r>
            <a:r>
              <a:rPr lang="pl-PL" sz="800" spc="-40" dirty="0">
                <a:solidFill>
                  <a:srgbClr val="CCCCCC"/>
                </a:solidFill>
                <a:latin typeface="Consolas" panose="020B0609020204030204" pitchFamily="49" charset="0"/>
              </a:rPr>
              <a:t> </a:t>
            </a:r>
            <a:r>
              <a:rPr lang="pl-PL" sz="800" spc="-40" dirty="0">
                <a:solidFill>
                  <a:srgbClr val="4FC1FF"/>
                </a:solidFill>
                <a:latin typeface="Consolas" panose="020B0609020204030204" pitchFamily="49" charset="0"/>
              </a:rPr>
              <a:t>MOVES</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v</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r</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dr</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c</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dc</a:t>
            </a:r>
            <a:r>
              <a:rPr lang="pl-PL" sz="800" spc="-40" dirty="0">
                <a:solidFill>
                  <a:srgbClr val="CCCCCC"/>
                </a:solidFill>
                <a:latin typeface="Consolas" panose="020B0609020204030204" pitchFamily="49" charset="0"/>
              </a:rPr>
              <a:t>)</a:t>
            </a:r>
          </a:p>
          <a:p>
            <a:r>
              <a:rPr lang="pl-PL" sz="800" spc="-100" dirty="0">
                <a:solidFill>
                  <a:srgbClr val="CCCCCC"/>
                </a:solidFill>
                <a:latin typeface="Consolas" panose="020B0609020204030204" pitchFamily="49" charset="0"/>
              </a:rPr>
              <a:t>            </a:t>
            </a:r>
            <a:r>
              <a:rPr lang="pl-PL" sz="800" spc="-100" dirty="0" err="1">
                <a:solidFill>
                  <a:srgbClr val="C586C0"/>
                </a:solidFill>
                <a:latin typeface="Consolas" panose="020B0609020204030204" pitchFamily="49" charset="0"/>
              </a:rPr>
              <a:t>if</a:t>
            </a:r>
            <a:r>
              <a:rPr lang="pl-PL" sz="800" spc="-100" dirty="0">
                <a:solidFill>
                  <a:srgbClr val="CCCCCC"/>
                </a:solidFill>
                <a:latin typeface="Consolas" panose="020B0609020204030204" pitchFamily="49" charset="0"/>
              </a:rPr>
              <a:t> </a:t>
            </a:r>
            <a:r>
              <a:rPr lang="pl-PL" sz="800" spc="-100" dirty="0">
                <a:solidFill>
                  <a:srgbClr val="B5CEA8"/>
                </a:solidFill>
                <a:latin typeface="Consolas" panose="020B0609020204030204" pitchFamily="49" charset="0"/>
              </a:rPr>
              <a:t>0</a:t>
            </a:r>
            <a:r>
              <a:rPr lang="pl-PL" sz="800" spc="-100" dirty="0">
                <a:solidFill>
                  <a:srgbClr val="CCCCCC"/>
                </a:solidFill>
                <a:latin typeface="Consolas" panose="020B0609020204030204" pitchFamily="49" charset="0"/>
              </a:rPr>
              <a:t> </a:t>
            </a:r>
            <a:r>
              <a:rPr lang="pl-PL" sz="800" spc="-100" dirty="0">
                <a:solidFill>
                  <a:srgbClr val="D4D4D4"/>
                </a:solidFill>
                <a:latin typeface="Consolas" panose="020B0609020204030204" pitchFamily="49" charset="0"/>
              </a:rPr>
              <a:t>&lt;=</a:t>
            </a:r>
            <a:r>
              <a:rPr lang="pl-PL" sz="800" spc="-100" dirty="0">
                <a:solidFill>
                  <a:srgbClr val="CCCCCC"/>
                </a:solidFill>
                <a:latin typeface="Consolas" panose="020B0609020204030204" pitchFamily="49" charset="0"/>
              </a:rPr>
              <a:t> </a:t>
            </a:r>
            <a:r>
              <a:rPr lang="pl-PL" sz="800" spc="-100" dirty="0">
                <a:solidFill>
                  <a:srgbClr val="9CDCFE"/>
                </a:solidFill>
                <a:latin typeface="Consolas" panose="020B0609020204030204" pitchFamily="49" charset="0"/>
              </a:rPr>
              <a:t>v</a:t>
            </a:r>
            <a:r>
              <a:rPr lang="pl-PL" sz="800" spc="-100" dirty="0">
                <a:solidFill>
                  <a:srgbClr val="CCCCCC"/>
                </a:solidFill>
                <a:latin typeface="Consolas" panose="020B0609020204030204" pitchFamily="49" charset="0"/>
              </a:rPr>
              <a:t>[</a:t>
            </a:r>
            <a:r>
              <a:rPr lang="pl-PL" sz="800" spc="-100" dirty="0">
                <a:solidFill>
                  <a:srgbClr val="B5CEA8"/>
                </a:solidFill>
                <a:latin typeface="Consolas" panose="020B0609020204030204" pitchFamily="49" charset="0"/>
              </a:rPr>
              <a:t>0</a:t>
            </a:r>
            <a:r>
              <a:rPr lang="pl-PL" sz="800" spc="-100" dirty="0">
                <a:solidFill>
                  <a:srgbClr val="CCCCCC"/>
                </a:solidFill>
                <a:latin typeface="Consolas" panose="020B0609020204030204" pitchFamily="49" charset="0"/>
              </a:rPr>
              <a:t>] </a:t>
            </a:r>
            <a:r>
              <a:rPr lang="pl-PL" sz="800" spc="-100" dirty="0">
                <a:solidFill>
                  <a:srgbClr val="D4D4D4"/>
                </a:solidFill>
                <a:latin typeface="Consolas" panose="020B0609020204030204" pitchFamily="49" charset="0"/>
              </a:rPr>
              <a:t>&lt;</a:t>
            </a:r>
            <a:r>
              <a:rPr lang="pl-PL" sz="800" spc="-100" dirty="0">
                <a:solidFill>
                  <a:srgbClr val="CCCCCC"/>
                </a:solidFill>
                <a:latin typeface="Consolas" panose="020B0609020204030204" pitchFamily="49" charset="0"/>
              </a:rPr>
              <a:t> </a:t>
            </a:r>
            <a:r>
              <a:rPr lang="pl-PL" sz="800" spc="-100" dirty="0" err="1">
                <a:solidFill>
                  <a:srgbClr val="9CDCFE"/>
                </a:solidFill>
                <a:latin typeface="Consolas" panose="020B0609020204030204" pitchFamily="49" charset="0"/>
              </a:rPr>
              <a:t>rows</a:t>
            </a:r>
            <a:r>
              <a:rPr lang="pl-PL" sz="800" spc="-100" dirty="0">
                <a:solidFill>
                  <a:srgbClr val="CCCCCC"/>
                </a:solidFill>
                <a:latin typeface="Consolas" panose="020B0609020204030204" pitchFamily="49" charset="0"/>
              </a:rPr>
              <a:t> </a:t>
            </a:r>
            <a:r>
              <a:rPr lang="pl-PL" sz="800" spc="-100" dirty="0">
                <a:solidFill>
                  <a:srgbClr val="569CD6"/>
                </a:solidFill>
                <a:latin typeface="Consolas" panose="020B0609020204030204" pitchFamily="49" charset="0"/>
              </a:rPr>
              <a:t>and</a:t>
            </a:r>
            <a:r>
              <a:rPr lang="pl-PL" sz="800" spc="-100" dirty="0">
                <a:solidFill>
                  <a:srgbClr val="CCCCCC"/>
                </a:solidFill>
                <a:latin typeface="Consolas" panose="020B0609020204030204" pitchFamily="49" charset="0"/>
              </a:rPr>
              <a:t> </a:t>
            </a:r>
            <a:r>
              <a:rPr lang="pl-PL" sz="800" spc="-100" dirty="0">
                <a:solidFill>
                  <a:srgbClr val="B5CEA8"/>
                </a:solidFill>
                <a:latin typeface="Consolas" panose="020B0609020204030204" pitchFamily="49" charset="0"/>
              </a:rPr>
              <a:t>0</a:t>
            </a:r>
            <a:r>
              <a:rPr lang="pl-PL" sz="800" spc="-100" dirty="0">
                <a:solidFill>
                  <a:srgbClr val="CCCCCC"/>
                </a:solidFill>
                <a:latin typeface="Consolas" panose="020B0609020204030204" pitchFamily="49" charset="0"/>
              </a:rPr>
              <a:t> </a:t>
            </a:r>
            <a:r>
              <a:rPr lang="pl-PL" sz="800" spc="-100" dirty="0">
                <a:solidFill>
                  <a:srgbClr val="D4D4D4"/>
                </a:solidFill>
                <a:latin typeface="Consolas" panose="020B0609020204030204" pitchFamily="49" charset="0"/>
              </a:rPr>
              <a:t>&lt;=</a:t>
            </a:r>
            <a:r>
              <a:rPr lang="pl-PL" sz="800" spc="-100" dirty="0">
                <a:solidFill>
                  <a:srgbClr val="CCCCCC"/>
                </a:solidFill>
                <a:latin typeface="Consolas" panose="020B0609020204030204" pitchFamily="49" charset="0"/>
              </a:rPr>
              <a:t> </a:t>
            </a:r>
            <a:r>
              <a:rPr lang="pl-PL" sz="800" spc="-100" dirty="0">
                <a:solidFill>
                  <a:srgbClr val="9CDCFE"/>
                </a:solidFill>
                <a:latin typeface="Consolas" panose="020B0609020204030204" pitchFamily="49" charset="0"/>
              </a:rPr>
              <a:t>v</a:t>
            </a:r>
            <a:r>
              <a:rPr lang="pl-PL" sz="800" spc="-100" dirty="0">
                <a:solidFill>
                  <a:srgbClr val="CCCCCC"/>
                </a:solidFill>
                <a:latin typeface="Consolas" panose="020B0609020204030204" pitchFamily="49" charset="0"/>
              </a:rPr>
              <a:t>[</a:t>
            </a:r>
            <a:r>
              <a:rPr lang="pl-PL" sz="800" spc="-100" dirty="0">
                <a:solidFill>
                  <a:srgbClr val="B5CEA8"/>
                </a:solidFill>
                <a:latin typeface="Consolas" panose="020B0609020204030204" pitchFamily="49" charset="0"/>
              </a:rPr>
              <a:t>1</a:t>
            </a:r>
            <a:r>
              <a:rPr lang="pl-PL" sz="800" spc="-100" dirty="0">
                <a:solidFill>
                  <a:srgbClr val="CCCCCC"/>
                </a:solidFill>
                <a:latin typeface="Consolas" panose="020B0609020204030204" pitchFamily="49" charset="0"/>
              </a:rPr>
              <a:t>] </a:t>
            </a:r>
            <a:r>
              <a:rPr lang="pl-PL" sz="800" spc="-100" dirty="0">
                <a:solidFill>
                  <a:srgbClr val="D4D4D4"/>
                </a:solidFill>
                <a:latin typeface="Consolas" panose="020B0609020204030204" pitchFamily="49" charset="0"/>
              </a:rPr>
              <a:t>&lt;</a:t>
            </a:r>
            <a:r>
              <a:rPr lang="pl-PL" sz="800" spc="-100" dirty="0">
                <a:solidFill>
                  <a:srgbClr val="CCCCCC"/>
                </a:solidFill>
                <a:latin typeface="Consolas" panose="020B0609020204030204" pitchFamily="49" charset="0"/>
              </a:rPr>
              <a:t> </a:t>
            </a:r>
            <a:r>
              <a:rPr lang="pl-PL" sz="800" spc="-100" dirty="0" err="1">
                <a:solidFill>
                  <a:srgbClr val="9CDCFE"/>
                </a:solidFill>
                <a:latin typeface="Consolas" panose="020B0609020204030204" pitchFamily="49" charset="0"/>
              </a:rPr>
              <a:t>cols</a:t>
            </a:r>
            <a:r>
              <a:rPr lang="pl-PL" sz="800" spc="-100" dirty="0">
                <a:solidFill>
                  <a:srgbClr val="CCCCCC"/>
                </a:solidFill>
                <a:latin typeface="Consolas" panose="020B0609020204030204" pitchFamily="49" charset="0"/>
              </a:rPr>
              <a:t> </a:t>
            </a:r>
            <a:r>
              <a:rPr lang="pl-PL" sz="800" spc="-100" dirty="0">
                <a:solidFill>
                  <a:srgbClr val="569CD6"/>
                </a:solidFill>
                <a:latin typeface="Consolas" panose="020B0609020204030204" pitchFamily="49" charset="0"/>
              </a:rPr>
              <a:t>and</a:t>
            </a:r>
            <a:r>
              <a:rPr lang="pl-PL" sz="800" spc="-100" dirty="0">
                <a:solidFill>
                  <a:srgbClr val="CCCCCC"/>
                </a:solidFill>
                <a:latin typeface="Consolas" panose="020B0609020204030204" pitchFamily="49" charset="0"/>
              </a:rPr>
              <a:t> </a:t>
            </a:r>
            <a:r>
              <a:rPr lang="pl-PL" sz="800" spc="-100" dirty="0" err="1">
                <a:solidFill>
                  <a:srgbClr val="9CDCFE"/>
                </a:solidFill>
                <a:latin typeface="Consolas" panose="020B0609020204030204" pitchFamily="49" charset="0"/>
              </a:rPr>
              <a:t>grid</a:t>
            </a:r>
            <a:r>
              <a:rPr lang="pl-PL" sz="800" spc="-100" dirty="0">
                <a:solidFill>
                  <a:srgbClr val="CCCCCC"/>
                </a:solidFill>
                <a:latin typeface="Consolas" panose="020B0609020204030204" pitchFamily="49" charset="0"/>
              </a:rPr>
              <a:t>[</a:t>
            </a:r>
            <a:r>
              <a:rPr lang="pl-PL" sz="800" spc="-100" dirty="0">
                <a:solidFill>
                  <a:srgbClr val="9CDCFE"/>
                </a:solidFill>
                <a:latin typeface="Consolas" panose="020B0609020204030204" pitchFamily="49" charset="0"/>
              </a:rPr>
              <a:t>v</a:t>
            </a:r>
            <a:r>
              <a:rPr lang="pl-PL" sz="800" spc="-100" dirty="0">
                <a:solidFill>
                  <a:srgbClr val="CCCCCC"/>
                </a:solidFill>
                <a:latin typeface="Consolas" panose="020B0609020204030204" pitchFamily="49" charset="0"/>
              </a:rPr>
              <a:t>] </a:t>
            </a:r>
            <a:r>
              <a:rPr lang="pl-PL" sz="800" spc="-100" dirty="0">
                <a:solidFill>
                  <a:srgbClr val="DCDCAA"/>
                </a:solidFill>
                <a:latin typeface="Consolas" panose="020B0609020204030204" pitchFamily="49" charset="0"/>
              </a:rPr>
              <a:t>==</a:t>
            </a:r>
            <a:r>
              <a:rPr lang="pl-PL" sz="800" spc="-100" dirty="0">
                <a:solidFill>
                  <a:srgbClr val="CCCCCC"/>
                </a:solidFill>
                <a:latin typeface="Consolas" panose="020B0609020204030204" pitchFamily="49" charset="0"/>
              </a:rPr>
              <a:t> </a:t>
            </a:r>
            <a:r>
              <a:rPr lang="pl-PL" sz="800" spc="-100" dirty="0">
                <a:solidFill>
                  <a:srgbClr val="B5CEA8"/>
                </a:solidFill>
                <a:latin typeface="Consolas" panose="020B0609020204030204" pitchFamily="49" charset="0"/>
              </a:rPr>
              <a:t>0</a:t>
            </a:r>
            <a:r>
              <a:rPr lang="pl-PL" sz="800" spc="-10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nd</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d</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cost</a:t>
            </a:r>
            <a:endParaRPr lang="pl-PL" sz="800" spc="-40" dirty="0">
              <a:solidFill>
                <a:srgbClr val="CCCCCC"/>
              </a:solidFill>
              <a:latin typeface="Consolas" panose="020B0609020204030204" pitchFamily="49" charset="0"/>
            </a:endParaRPr>
          </a:p>
          <a:p>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if</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nd</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&lt;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dist</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get</a:t>
            </a:r>
            <a:r>
              <a:rPr lang="pl-PL" sz="800" spc="-40" dirty="0">
                <a:solidFill>
                  <a:srgbClr val="CCCCCC"/>
                </a:solidFill>
                <a:latin typeface="Consolas" panose="020B0609020204030204" pitchFamily="49" charset="0"/>
              </a:rPr>
              <a:t>(</a:t>
            </a:r>
            <a:r>
              <a:rPr lang="pl-PL" sz="800" spc="-40" dirty="0">
                <a:solidFill>
                  <a:srgbClr val="9CDCFE"/>
                </a:solidFill>
                <a:latin typeface="Consolas" panose="020B0609020204030204" pitchFamily="49" charset="0"/>
              </a:rPr>
              <a:t>v</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a:t>
            </a:r>
            <a:r>
              <a:rPr lang="pl-PL" sz="800" spc="-40" dirty="0">
                <a:solidFill>
                  <a:srgbClr val="CE9178"/>
                </a:solidFill>
                <a:latin typeface="Consolas" panose="020B0609020204030204" pitchFamily="49" charset="0"/>
              </a:rPr>
              <a:t>'</a:t>
            </a:r>
            <a:r>
              <a:rPr lang="pl-PL" sz="800" spc="-40" dirty="0" err="1">
                <a:solidFill>
                  <a:srgbClr val="CE9178"/>
                </a:solidFill>
                <a:latin typeface="Consolas" panose="020B0609020204030204" pitchFamily="49" charset="0"/>
              </a:rPr>
              <a:t>inf</a:t>
            </a:r>
            <a:r>
              <a:rPr lang="pl-PL" sz="800" spc="-40" dirty="0">
                <a:solidFill>
                  <a:srgbClr val="CE9178"/>
                </a:solidFill>
                <a:latin typeface="Consolas" panose="020B0609020204030204" pitchFamily="49" charset="0"/>
              </a:rPr>
              <a:t>'</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dist</a:t>
            </a:r>
            <a:r>
              <a:rPr lang="pl-PL" sz="800" spc="-40" dirty="0">
                <a:solidFill>
                  <a:srgbClr val="CCCCCC"/>
                </a:solidFill>
                <a:latin typeface="Consolas" panose="020B0609020204030204" pitchFamily="49" charset="0"/>
              </a:rPr>
              <a:t>[</a:t>
            </a:r>
            <a:r>
              <a:rPr lang="pl-PL" sz="800" spc="-40" dirty="0">
                <a:solidFill>
                  <a:srgbClr val="9CDCFE"/>
                </a:solidFill>
                <a:latin typeface="Consolas" panose="020B0609020204030204" pitchFamily="49" charset="0"/>
              </a:rPr>
              <a:t>v</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nd</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prev</a:t>
            </a:r>
            <a:r>
              <a:rPr lang="pl-PL" sz="800" spc="-40" dirty="0">
                <a:solidFill>
                  <a:srgbClr val="CCCCCC"/>
                </a:solidFill>
                <a:latin typeface="Consolas" panose="020B0609020204030204" pitchFamily="49" charset="0"/>
              </a:rPr>
              <a:t>[</a:t>
            </a:r>
            <a:r>
              <a:rPr lang="pl-PL" sz="800" spc="-40" dirty="0">
                <a:solidFill>
                  <a:srgbClr val="9CDCFE"/>
                </a:solidFill>
                <a:latin typeface="Consolas" panose="020B0609020204030204" pitchFamily="49" charset="0"/>
              </a:rPr>
              <a:t>v</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smtClean="0">
                <a:solidFill>
                  <a:srgbClr val="9CDCFE"/>
                </a:solidFill>
                <a:latin typeface="Consolas" panose="020B0609020204030204" pitchFamily="49" charset="0"/>
              </a:rPr>
              <a:t>u</a:t>
            </a:r>
            <a:endParaRPr lang="pl-PL" sz="800" spc="-40" dirty="0" smtClean="0">
              <a:solidFill>
                <a:srgbClr val="CCCCCC"/>
              </a:solidFill>
              <a:latin typeface="Consolas" panose="020B0609020204030204" pitchFamily="49" charset="0"/>
            </a:endParaRPr>
          </a:p>
          <a:p>
            <a:r>
              <a:rPr lang="pl-PL" sz="800" spc="-40" dirty="0" smtClean="0">
                <a:solidFill>
                  <a:srgbClr val="4EC9B0"/>
                </a:solidFill>
                <a:latin typeface="Consolas" panose="020B0609020204030204" pitchFamily="49" charset="0"/>
              </a:rPr>
              <a:t>                    </a:t>
            </a:r>
            <a:r>
              <a:rPr lang="pl-PL" sz="800" spc="-40" dirty="0" err="1" smtClean="0">
                <a:solidFill>
                  <a:srgbClr val="4EC9B0"/>
                </a:solidFill>
                <a:latin typeface="Consolas" panose="020B0609020204030204" pitchFamily="49" charset="0"/>
              </a:rPr>
              <a:t>heapq</a:t>
            </a:r>
            <a:r>
              <a:rPr lang="pl-PL" sz="800" spc="-40" dirty="0" err="1" smtClean="0">
                <a:solidFill>
                  <a:srgbClr val="CCCCCC"/>
                </a:solidFill>
                <a:latin typeface="Consolas" panose="020B0609020204030204" pitchFamily="49" charset="0"/>
              </a:rPr>
              <a:t>.</a:t>
            </a:r>
            <a:r>
              <a:rPr lang="pl-PL" sz="800" spc="-40" dirty="0" err="1" smtClean="0">
                <a:solidFill>
                  <a:srgbClr val="DCDCAA"/>
                </a:solidFill>
                <a:latin typeface="Consolas" panose="020B0609020204030204" pitchFamily="49" charset="0"/>
              </a:rPr>
              <a:t>heappush</a:t>
            </a:r>
            <a:r>
              <a:rPr lang="pl-PL" sz="800" spc="-40" dirty="0" smtClean="0">
                <a:solidFill>
                  <a:srgbClr val="CCCCCC"/>
                </a:solidFill>
                <a:latin typeface="Consolas" panose="020B0609020204030204" pitchFamily="49" charset="0"/>
              </a:rPr>
              <a:t>(</a:t>
            </a:r>
            <a:r>
              <a:rPr lang="pl-PL" sz="800" spc="-40" dirty="0" err="1" smtClean="0">
                <a:solidFill>
                  <a:srgbClr val="9CDCFE"/>
                </a:solidFill>
                <a:latin typeface="Consolas" panose="020B0609020204030204" pitchFamily="49" charset="0"/>
              </a:rPr>
              <a:t>pq</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nd</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v</a:t>
            </a:r>
            <a:r>
              <a:rPr lang="pl-PL" sz="800" spc="-40" dirty="0">
                <a:solidFill>
                  <a:srgbClr val="CCCCCC"/>
                </a:solidFill>
                <a:latin typeface="Consolas" panose="020B0609020204030204" pitchFamily="49" charset="0"/>
              </a:rPr>
              <a:t>))</a:t>
            </a:r>
          </a:p>
          <a:p>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err="1">
                <a:solidFill>
                  <a:srgbClr val="4FC1FF"/>
                </a:solidFill>
                <a:latin typeface="Consolas" panose="020B0609020204030204" pitchFamily="49" charset="0"/>
              </a:rPr>
              <a:t>None</a:t>
            </a: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brak </a:t>
            </a:r>
            <a:r>
              <a:rPr lang="pl-PL" sz="800" spc="-40" dirty="0" smtClean="0">
                <a:solidFill>
                  <a:srgbClr val="6A9955"/>
                </a:solidFill>
                <a:latin typeface="Consolas" panose="020B0609020204030204" pitchFamily="49" charset="0"/>
              </a:rPr>
              <a:t>ścieżki</a:t>
            </a:r>
            <a:endParaRPr lang="pl-PL" sz="800" b="0" spc="-4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algn="ctr"/>
            <a:r>
              <a:rPr lang="pl-PL" sz="1600" b="1" dirty="0" smtClean="0">
                <a:solidFill>
                  <a:schemeClr val="bg1"/>
                </a:solidFill>
                <a:latin typeface="Calibri" pitchFamily="34" charset="0"/>
                <a:ea typeface="Calibri" pitchFamily="34" charset="-122"/>
                <a:cs typeface="Calibri" pitchFamily="34" charset="-120"/>
              </a:rPr>
              <a:t>8-kierunkowy </a:t>
            </a:r>
            <a:r>
              <a:rPr lang="pl-PL" sz="1600" b="1" dirty="0">
                <a:solidFill>
                  <a:schemeClr val="bg1"/>
                </a:solidFill>
                <a:latin typeface="Calibri" pitchFamily="34" charset="0"/>
                <a:ea typeface="Calibri" pitchFamily="34" charset="-122"/>
                <a:cs typeface="Calibri" pitchFamily="34" charset="-120"/>
              </a:rPr>
              <a:t>Dijkstra; </a:t>
            </a:r>
            <a:r>
              <a:rPr lang="pl-PL" sz="1600" dirty="0" err="1">
                <a:solidFill>
                  <a:schemeClr val="bg1"/>
                </a:solidFill>
                <a:latin typeface="Calibri" pitchFamily="34" charset="0"/>
                <a:ea typeface="Calibri" pitchFamily="34" charset="-122"/>
                <a:cs typeface="Calibri" pitchFamily="34" charset="-120"/>
              </a:rPr>
              <a:t>heapq</a:t>
            </a:r>
            <a:r>
              <a:rPr lang="pl-PL" sz="1600" dirty="0">
                <a:solidFill>
                  <a:schemeClr val="bg1"/>
                </a:solidFill>
                <a:latin typeface="Calibri" pitchFamily="34" charset="0"/>
                <a:ea typeface="Calibri" pitchFamily="34" charset="-122"/>
                <a:cs typeface="Calibri" pitchFamily="34" charset="-120"/>
              </a:rPr>
              <a:t> jako min-</a:t>
            </a:r>
            <a:r>
              <a:rPr lang="pl-PL" sz="1600" dirty="0" err="1">
                <a:solidFill>
                  <a:schemeClr val="bg1"/>
                </a:solidFill>
                <a:latin typeface="Calibri" pitchFamily="34" charset="0"/>
                <a:ea typeface="Calibri" pitchFamily="34" charset="-122"/>
                <a:cs typeface="Calibri" pitchFamily="34" charset="-120"/>
              </a:rPr>
              <a:t>heap</a:t>
            </a:r>
            <a:r>
              <a:rPr lang="pl-PL" sz="1600" dirty="0">
                <a:solidFill>
                  <a:schemeClr val="bg1"/>
                </a:solidFill>
                <a:latin typeface="Calibri" pitchFamily="34" charset="0"/>
                <a:ea typeface="Calibri" pitchFamily="34" charset="-122"/>
                <a:cs typeface="Calibri" pitchFamily="34" charset="-120"/>
              </a:rPr>
              <a:t>; O((V+E) log V); nie wymaga heurystyki.</a:t>
            </a:r>
          </a:p>
        </p:txBody>
      </p:sp>
      <p:sp>
        <p:nvSpPr>
          <p:cNvPr id="7" name="Prostokąt 6"/>
          <p:cNvSpPr/>
          <p:nvPr/>
        </p:nvSpPr>
        <p:spPr>
          <a:xfrm>
            <a:off x="246888" y="745724"/>
            <a:ext cx="5141976" cy="276999"/>
          </a:xfrm>
          <a:prstGeom prst="rect">
            <a:avLst/>
          </a:prstGeom>
        </p:spPr>
        <p:txBody>
          <a:bodyPr wrap="square">
            <a:spAutoFit/>
          </a:bodyPr>
          <a:lstStyle/>
          <a:p>
            <a:r>
              <a:rPr lang="pl-PL" sz="1200" i="1" dirty="0">
                <a:solidFill>
                  <a:srgbClr val="90C8D8"/>
                </a:solidFill>
              </a:rPr>
              <a:t>Kompletna implementacja z kolejką priorytetową i odtwarzaniem ścieżki</a:t>
            </a:r>
          </a:p>
        </p:txBody>
      </p:sp>
      <p:sp>
        <p:nvSpPr>
          <p:cNvPr id="16" name="pole tekstowe 15"/>
          <p:cNvSpPr txBox="1"/>
          <p:nvPr/>
        </p:nvSpPr>
        <p:spPr>
          <a:xfrm>
            <a:off x="6809900" y="1093386"/>
            <a:ext cx="2105500" cy="2913618"/>
          </a:xfrm>
          <a:prstGeom prst="rect">
            <a:avLst/>
          </a:prstGeom>
          <a:noFill/>
        </p:spPr>
        <p:txBody>
          <a:bodyPr wrap="square" rtlCol="0">
            <a:spAutoFit/>
          </a:bodyPr>
          <a:lstStyle/>
          <a:p>
            <a:pPr algn="ctr">
              <a:lnSpc>
                <a:spcPts val="1100"/>
              </a:lnSpc>
            </a:pPr>
            <a:r>
              <a:rPr lang="pl-PL" sz="1600" b="1" u="sng" dirty="0" smtClean="0">
                <a:solidFill>
                  <a:schemeClr val="bg1"/>
                </a:solidFill>
              </a:rPr>
              <a:t>Dijkstra, </a:t>
            </a:r>
            <a:r>
              <a:rPr lang="pl-PL" sz="1600" b="1" u="sng" dirty="0">
                <a:solidFill>
                  <a:schemeClr val="bg1"/>
                </a:solidFill>
              </a:rPr>
              <a:t>a A*</a:t>
            </a:r>
          </a:p>
          <a:p>
            <a:pPr>
              <a:lnSpc>
                <a:spcPts val="1100"/>
              </a:lnSpc>
            </a:pPr>
            <a:endParaRPr lang="pl-PL" sz="1200" dirty="0" smtClean="0">
              <a:solidFill>
                <a:schemeClr val="bg1"/>
              </a:solidFill>
            </a:endParaRPr>
          </a:p>
          <a:p>
            <a:pPr>
              <a:lnSpc>
                <a:spcPts val="1100"/>
              </a:lnSpc>
            </a:pPr>
            <a:r>
              <a:rPr lang="pl-PL" sz="1200" dirty="0">
                <a:solidFill>
                  <a:schemeClr val="bg1"/>
                </a:solidFill>
              </a:rPr>
              <a:t>Dijkstra eksploruje wszystkie </a:t>
            </a:r>
            <a:r>
              <a:rPr lang="pl-PL" sz="1200" dirty="0" smtClean="0">
                <a:solidFill>
                  <a:schemeClr val="bg1"/>
                </a:solidFill>
              </a:rPr>
              <a:t>wierzchołki do celu; </a:t>
            </a:r>
            <a:r>
              <a:rPr lang="pl-PL" sz="1200" dirty="0">
                <a:solidFill>
                  <a:schemeClr val="bg1"/>
                </a:solidFill>
              </a:rPr>
              <a:t>brak heurystyki</a:t>
            </a:r>
            <a:r>
              <a:rPr lang="pl-PL" sz="1200" dirty="0" smtClean="0">
                <a:solidFill>
                  <a:schemeClr val="bg1"/>
                </a:solidFill>
              </a:rPr>
              <a:t>.</a:t>
            </a:r>
            <a:endParaRPr lang="pl-PL" sz="1400" b="1" dirty="0" smtClean="0">
              <a:solidFill>
                <a:schemeClr val="bg1"/>
              </a:solidFill>
            </a:endParaRPr>
          </a:p>
          <a:p>
            <a:pPr>
              <a:lnSpc>
                <a:spcPts val="1100"/>
              </a:lnSpc>
            </a:pPr>
            <a:endParaRPr lang="pl-PL" sz="1200" dirty="0" smtClean="0">
              <a:solidFill>
                <a:schemeClr val="bg1"/>
              </a:solidFill>
            </a:endParaRPr>
          </a:p>
          <a:p>
            <a:pPr>
              <a:lnSpc>
                <a:spcPts val="1100"/>
              </a:lnSpc>
            </a:pPr>
            <a:r>
              <a:rPr lang="pl-PL" sz="1400" b="1" dirty="0" smtClean="0">
                <a:solidFill>
                  <a:schemeClr val="bg1"/>
                </a:solidFill>
              </a:rPr>
              <a:t>Kiedy używać </a:t>
            </a:r>
            <a:r>
              <a:rPr lang="pl-PL" sz="1400" b="1" dirty="0">
                <a:solidFill>
                  <a:schemeClr val="bg1"/>
                </a:solidFill>
              </a:rPr>
              <a:t>Dijkstry:</a:t>
            </a:r>
          </a:p>
          <a:p>
            <a:pPr>
              <a:lnSpc>
                <a:spcPts val="1100"/>
              </a:lnSpc>
            </a:pPr>
            <a:r>
              <a:rPr lang="pl-PL" sz="1200" dirty="0">
                <a:solidFill>
                  <a:schemeClr val="bg1"/>
                </a:solidFill>
              </a:rPr>
              <a:t>• Mapa bez </a:t>
            </a:r>
            <a:r>
              <a:rPr lang="pl-PL" sz="1200" dirty="0" smtClean="0">
                <a:solidFill>
                  <a:schemeClr val="bg1"/>
                </a:solidFill>
              </a:rPr>
              <a:t>wyraźnego </a:t>
            </a:r>
            <a:r>
              <a:rPr lang="pl-PL" sz="1200" dirty="0">
                <a:solidFill>
                  <a:schemeClr val="bg1"/>
                </a:solidFill>
              </a:rPr>
              <a:t>celu  (Multi-target </a:t>
            </a:r>
            <a:r>
              <a:rPr lang="pl-PL" sz="1200" dirty="0" err="1">
                <a:solidFill>
                  <a:schemeClr val="bg1"/>
                </a:solidFill>
              </a:rPr>
              <a:t>search</a:t>
            </a:r>
            <a:r>
              <a:rPr lang="pl-PL" sz="1200" dirty="0">
                <a:solidFill>
                  <a:schemeClr val="bg1"/>
                </a:solidFill>
              </a:rPr>
              <a:t>)</a:t>
            </a:r>
          </a:p>
          <a:p>
            <a:pPr>
              <a:lnSpc>
                <a:spcPts val="1100"/>
              </a:lnSpc>
            </a:pPr>
            <a:r>
              <a:rPr lang="pl-PL" sz="1200" dirty="0">
                <a:solidFill>
                  <a:schemeClr val="bg1"/>
                </a:solidFill>
              </a:rPr>
              <a:t>• Weryfikacja </a:t>
            </a:r>
            <a:r>
              <a:rPr lang="pl-PL" sz="1200" dirty="0" smtClean="0">
                <a:solidFill>
                  <a:schemeClr val="bg1"/>
                </a:solidFill>
              </a:rPr>
              <a:t>optymalności</a:t>
            </a:r>
            <a:endParaRPr lang="pl-PL" sz="1200" dirty="0">
              <a:solidFill>
                <a:schemeClr val="bg1"/>
              </a:solidFill>
            </a:endParaRPr>
          </a:p>
          <a:p>
            <a:pPr>
              <a:lnSpc>
                <a:spcPts val="1100"/>
              </a:lnSpc>
            </a:pPr>
            <a:r>
              <a:rPr lang="pl-PL" sz="1200" dirty="0">
                <a:solidFill>
                  <a:schemeClr val="bg1"/>
                </a:solidFill>
              </a:rPr>
              <a:t>• Budowa </a:t>
            </a:r>
            <a:r>
              <a:rPr lang="pl-PL" sz="1200" dirty="0" err="1">
                <a:solidFill>
                  <a:schemeClr val="bg1"/>
                </a:solidFill>
              </a:rPr>
              <a:t>cost</a:t>
            </a:r>
            <a:r>
              <a:rPr lang="pl-PL" sz="1200" dirty="0">
                <a:solidFill>
                  <a:schemeClr val="bg1"/>
                </a:solidFill>
              </a:rPr>
              <a:t>-to-go mapy</a:t>
            </a:r>
          </a:p>
          <a:p>
            <a:pPr>
              <a:lnSpc>
                <a:spcPts val="1100"/>
              </a:lnSpc>
            </a:pPr>
            <a:r>
              <a:rPr lang="pl-PL" sz="1200" dirty="0">
                <a:solidFill>
                  <a:schemeClr val="bg1"/>
                </a:solidFill>
              </a:rPr>
              <a:t>• Mapy &lt; 200x200 </a:t>
            </a:r>
            <a:r>
              <a:rPr lang="pl-PL" sz="1200" dirty="0" smtClean="0">
                <a:solidFill>
                  <a:schemeClr val="bg1"/>
                </a:solidFill>
              </a:rPr>
              <a:t>komórek</a:t>
            </a:r>
            <a:endParaRPr lang="pl-PL" sz="1200" dirty="0">
              <a:solidFill>
                <a:schemeClr val="bg1"/>
              </a:solidFill>
            </a:endParaRPr>
          </a:p>
          <a:p>
            <a:pPr>
              <a:lnSpc>
                <a:spcPts val="1100"/>
              </a:lnSpc>
            </a:pPr>
            <a:endParaRPr lang="pl-PL" sz="1200" b="1" dirty="0" smtClean="0">
              <a:solidFill>
                <a:schemeClr val="bg1"/>
              </a:solidFill>
            </a:endParaRPr>
          </a:p>
          <a:p>
            <a:pPr>
              <a:lnSpc>
                <a:spcPts val="1100"/>
              </a:lnSpc>
            </a:pPr>
            <a:r>
              <a:rPr lang="pl-PL" sz="1400" b="1" dirty="0" smtClean="0">
                <a:solidFill>
                  <a:schemeClr val="bg1"/>
                </a:solidFill>
              </a:rPr>
              <a:t>Złożoność </a:t>
            </a:r>
            <a:r>
              <a:rPr lang="pl-PL" sz="1400" b="1" dirty="0">
                <a:solidFill>
                  <a:schemeClr val="bg1"/>
                </a:solidFill>
              </a:rPr>
              <a:t>czasowa:</a:t>
            </a:r>
          </a:p>
          <a:p>
            <a:pPr>
              <a:lnSpc>
                <a:spcPts val="1100"/>
              </a:lnSpc>
            </a:pPr>
            <a:r>
              <a:rPr lang="pl-PL" sz="1200" dirty="0">
                <a:solidFill>
                  <a:schemeClr val="bg1"/>
                </a:solidFill>
              </a:rPr>
              <a:t> O((V+E) · log V</a:t>
            </a:r>
            <a:r>
              <a:rPr lang="pl-PL" sz="1200" dirty="0" smtClean="0">
                <a:solidFill>
                  <a:schemeClr val="bg1"/>
                </a:solidFill>
              </a:rPr>
              <a:t>)</a:t>
            </a:r>
          </a:p>
          <a:p>
            <a:pPr>
              <a:lnSpc>
                <a:spcPts val="1100"/>
              </a:lnSpc>
            </a:pPr>
            <a:endParaRPr lang="pl-PL" sz="1200" b="1" dirty="0">
              <a:solidFill>
                <a:schemeClr val="bg1"/>
              </a:solidFill>
            </a:endParaRPr>
          </a:p>
          <a:p>
            <a:pPr>
              <a:lnSpc>
                <a:spcPts val="1100"/>
              </a:lnSpc>
            </a:pPr>
            <a:r>
              <a:rPr lang="pl-PL" sz="1400" b="1" dirty="0">
                <a:solidFill>
                  <a:schemeClr val="bg1"/>
                </a:solidFill>
              </a:rPr>
              <a:t>Ruch 8-kier. koszt skosu:</a:t>
            </a:r>
          </a:p>
          <a:p>
            <a:pPr>
              <a:lnSpc>
                <a:spcPts val="1100"/>
              </a:lnSpc>
            </a:pPr>
            <a:r>
              <a:rPr lang="pl-PL" sz="1200" dirty="0">
                <a:solidFill>
                  <a:schemeClr val="bg1"/>
                </a:solidFill>
              </a:rPr>
              <a:t> √2 ≈ 1.414 (metryczny</a:t>
            </a:r>
            <a:r>
              <a:rPr lang="pl-PL" sz="1200" dirty="0" smtClean="0">
                <a:solidFill>
                  <a:schemeClr val="bg1"/>
                </a:solidFill>
              </a:rPr>
              <a:t>)</a:t>
            </a:r>
          </a:p>
          <a:p>
            <a:pPr>
              <a:lnSpc>
                <a:spcPts val="1100"/>
              </a:lnSpc>
            </a:pPr>
            <a:endParaRPr lang="pl-PL" sz="1200" b="1" dirty="0" smtClean="0">
              <a:solidFill>
                <a:schemeClr val="bg1"/>
              </a:solidFill>
            </a:endParaRPr>
          </a:p>
          <a:p>
            <a:pPr algn="ctr">
              <a:lnSpc>
                <a:spcPts val="1100"/>
              </a:lnSpc>
            </a:pPr>
            <a:r>
              <a:rPr lang="pl-PL" sz="1200" b="1" dirty="0">
                <a:solidFill>
                  <a:schemeClr val="bg1"/>
                </a:solidFill>
              </a:rPr>
              <a:t>A* z h=0 === </a:t>
            </a:r>
            <a:r>
              <a:rPr lang="pl-PL" sz="1200" b="1" dirty="0" smtClean="0">
                <a:solidFill>
                  <a:schemeClr val="bg1"/>
                </a:solidFill>
              </a:rPr>
              <a:t>Dijkstra</a:t>
            </a:r>
            <a:endParaRPr lang="pl-PL" sz="1200" b="1" dirty="0">
              <a:solidFill>
                <a:schemeClr val="bg1"/>
              </a:solidFill>
            </a:endParaRPr>
          </a:p>
        </p:txBody>
      </p:sp>
    </p:spTree>
    <p:extLst>
      <p:ext uri="{BB962C8B-B14F-4D97-AF65-F5344CB8AC3E}">
        <p14:creationId xmlns:p14="http://schemas.microsoft.com/office/powerpoint/2010/main" val="1291872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A* na mapie zajętości </a:t>
            </a:r>
            <a:r>
              <a:rPr lang="en-US" sz="2400" dirty="0">
                <a:solidFill>
                  <a:srgbClr val="FFFFFF"/>
                </a:solidFill>
                <a:latin typeface="Trebuchet MS" pitchFamily="34" charset="0"/>
                <a:ea typeface="Trebuchet MS" pitchFamily="34" charset="-122"/>
                <a:cs typeface="Trebuchet MS" pitchFamily="34" charset="-120"/>
              </a:rPr>
              <a:t>(grid map)</a:t>
            </a:r>
            <a:endParaRPr lang="en-US" sz="2400" dirty="0"/>
          </a:p>
        </p:txBody>
      </p:sp>
      <p:sp>
        <p:nvSpPr>
          <p:cNvPr id="6" name="Shape 4"/>
          <p:cNvSpPr/>
          <p:nvPr/>
        </p:nvSpPr>
        <p:spPr>
          <a:xfrm>
            <a:off x="274320" y="1005839"/>
            <a:ext cx="8595360" cy="3233951"/>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053070"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09102"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565134"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317246" y="1072256"/>
            <a:ext cx="8321040" cy="3167534"/>
          </a:xfrm>
          <a:prstGeom prst="rect">
            <a:avLst/>
          </a:prstGeom>
          <a:noFill/>
          <a:ln/>
        </p:spPr>
        <p:txBody>
          <a:bodyPr wrap="square" lIns="108000" tIns="0" rIns="127000" bIns="63500" rtlCol="0" anchor="t">
            <a:spAutoFit/>
          </a:bodyPr>
          <a:lstStyle/>
          <a:p>
            <a:pPr>
              <a:lnSpc>
                <a:spcPts val="1100"/>
              </a:lnSpc>
            </a:pPr>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heapq</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pPr>
              <a:lnSpc>
                <a:spcPts val="11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astar</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grid</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start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"""A* na siatce 2D. </a:t>
            </a:r>
            <a:r>
              <a:rPr lang="pl-PL" sz="1200" dirty="0" err="1">
                <a:solidFill>
                  <a:srgbClr val="CE9178"/>
                </a:solidFill>
                <a:latin typeface="Consolas" panose="020B0609020204030204" pitchFamily="49" charset="0"/>
              </a:rPr>
              <a:t>grid</a:t>
            </a:r>
            <a:r>
              <a:rPr lang="pl-PL" sz="1200" dirty="0">
                <a:solidFill>
                  <a:srgbClr val="CE9178"/>
                </a:solidFill>
                <a:latin typeface="Consolas" panose="020B0609020204030204" pitchFamily="49" charset="0"/>
              </a:rPr>
              <a:t>[r][c]=0: wolne, 1: </a:t>
            </a:r>
            <a:r>
              <a:rPr lang="pl-PL" sz="1200" dirty="0" err="1">
                <a:solidFill>
                  <a:srgbClr val="CE9178"/>
                </a:solidFill>
                <a:latin typeface="Consolas" panose="020B0609020204030204" pitchFamily="49" charset="0"/>
              </a:rPr>
              <a:t>zajete</a:t>
            </a:r>
            <a:r>
              <a:rPr lang="pl-PL" sz="1200" dirty="0">
                <a:solidFill>
                  <a:srgbClr val="CE9178"/>
                </a:solidFill>
                <a:latin typeface="Consolas" panose="020B0609020204030204" pitchFamily="49" charset="0"/>
              </a:rPr>
              <a:t>."""</a:t>
            </a:r>
            <a:endParaRPr lang="pl-PL" sz="1200" dirty="0">
              <a:solidFill>
                <a:srgbClr val="CCCCCC"/>
              </a:solidFill>
              <a:latin typeface="Consolas" panose="020B0609020204030204" pitchFamily="49" charset="0"/>
            </a:endParaRPr>
          </a:p>
          <a:p>
            <a:pPr>
              <a:lnSpc>
                <a:spcPts val="1100"/>
              </a:lnSpc>
            </a:pP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rows</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cols</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grid</a:t>
            </a:r>
            <a:r>
              <a:rPr lang="pl-PL" sz="1200" dirty="0" err="1">
                <a:solidFill>
                  <a:srgbClr val="CCCCCC"/>
                </a:solidFill>
                <a:latin typeface="Consolas" panose="020B0609020204030204" pitchFamily="49" charset="0"/>
              </a:rPr>
              <a:t>.shape</a:t>
            </a:r>
            <a:endParaRPr lang="pl-PL" sz="1200" dirty="0">
              <a:solidFill>
                <a:srgbClr val="CCCCCC"/>
              </a:solidFill>
              <a:latin typeface="Consolas" panose="020B0609020204030204" pitchFamily="49" charset="0"/>
            </a:endParaRPr>
          </a:p>
          <a:p>
            <a:pPr>
              <a:lnSpc>
                <a:spcPts val="1100"/>
              </a:lnSpc>
            </a:pP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lambda</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r</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c</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abs</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r</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abs</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c</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g</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start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parent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start</a:t>
            </a:r>
            <a:r>
              <a:rPr lang="pl-PL" sz="1200" dirty="0">
                <a:solidFill>
                  <a:srgbClr val="CCCCCC"/>
                </a:solidFill>
                <a:latin typeface="Consolas" panose="020B0609020204030204" pitchFamily="49" charset="0"/>
              </a:rPr>
              <a:t>: </a:t>
            </a:r>
            <a:r>
              <a:rPr lang="pl-PL" sz="1200" dirty="0" err="1">
                <a:solidFill>
                  <a:srgbClr val="4FC1FF"/>
                </a:solidFill>
                <a:latin typeface="Consolas" panose="020B0609020204030204" pitchFamily="49" charset="0"/>
              </a:rPr>
              <a:t>None</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pq</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h</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start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start</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C586C0"/>
                </a:solidFill>
                <a:latin typeface="Consolas" panose="020B0609020204030204" pitchFamily="49" charset="0"/>
              </a:rPr>
              <a:t>while</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pq</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_</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heapq</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heappop</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pq</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C586C0"/>
                </a:solidFill>
                <a:latin typeface="Consolas" panose="020B0609020204030204" pitchFamily="49" charset="0"/>
              </a:rPr>
              <a:t>if</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path</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p>
          <a:p>
            <a:pPr>
              <a:lnSpc>
                <a:spcPts val="1100"/>
              </a:lnSpc>
            </a:pPr>
            <a:r>
              <a:rPr lang="pl-PL" sz="1200" dirty="0">
                <a:solidFill>
                  <a:srgbClr val="CCCCCC"/>
                </a:solidFill>
                <a:latin typeface="Consolas" panose="020B0609020204030204" pitchFamily="49" charset="0"/>
              </a:rPr>
              <a:t>            </a:t>
            </a:r>
            <a:r>
              <a:rPr lang="pl-PL" sz="1200" dirty="0" err="1">
                <a:solidFill>
                  <a:srgbClr val="C586C0"/>
                </a:solidFill>
                <a:latin typeface="Consolas" panose="020B0609020204030204" pitchFamily="49" charset="0"/>
              </a:rPr>
              <a:t>while</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path</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append</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parent</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path</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for</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dr</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dc</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in</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dr</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dc</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C586C0"/>
                </a:solidFill>
                <a:latin typeface="Consolas" panose="020B0609020204030204" pitchFamily="49" charset="0"/>
              </a:rPr>
              <a:t>if</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a:t>
            </a:r>
            <a:r>
              <a:rPr lang="pl-PL" sz="1200" dirty="0">
                <a:solidFill>
                  <a:srgbClr val="D4D4D4"/>
                </a:solidFill>
                <a:latin typeface="Consolas" panose="020B0609020204030204" pitchFamily="49" charset="0"/>
              </a:rPr>
              <a:t>&lt;=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&lt;</a:t>
            </a:r>
            <a:r>
              <a:rPr lang="pl-PL" sz="1200" dirty="0" err="1">
                <a:solidFill>
                  <a:srgbClr val="9CDCFE"/>
                </a:solidFill>
                <a:latin typeface="Consolas" panose="020B0609020204030204" pitchFamily="49" charset="0"/>
              </a:rPr>
              <a:t>rows</a:t>
            </a: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and</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0</a:t>
            </a:r>
            <a:r>
              <a:rPr lang="pl-PL" sz="1200" dirty="0">
                <a:solidFill>
                  <a:srgbClr val="D4D4D4"/>
                </a:solidFill>
                <a:latin typeface="Consolas" panose="020B0609020204030204" pitchFamily="49" charset="0"/>
              </a:rPr>
              <a:t>&lt;=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&lt;</a:t>
            </a:r>
            <a:r>
              <a:rPr lang="pl-PL" sz="1200" dirty="0" err="1">
                <a:solidFill>
                  <a:srgbClr val="9CDCFE"/>
                </a:solidFill>
                <a:latin typeface="Consolas" panose="020B0609020204030204" pitchFamily="49" charset="0"/>
              </a:rPr>
              <a:t>cols</a:t>
            </a:r>
            <a:r>
              <a:rPr lang="pl-PL" sz="1200" dirty="0">
                <a:solidFill>
                  <a:srgbClr val="CCCCCC"/>
                </a:solidFill>
                <a:latin typeface="Consolas" panose="020B0609020204030204" pitchFamily="49" charset="0"/>
              </a:rPr>
              <a:t> </a:t>
            </a:r>
            <a:r>
              <a:rPr lang="pl-PL" sz="1200" dirty="0">
                <a:solidFill>
                  <a:srgbClr val="569CD6"/>
                </a:solidFill>
                <a:latin typeface="Consolas" panose="020B0609020204030204" pitchFamily="49" charset="0"/>
              </a:rPr>
              <a:t>and</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grid</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ng</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g</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u</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a:t>
            </a:r>
            <a:endParaRPr lang="pl-PL" sz="1200" dirty="0">
              <a:solidFill>
                <a:srgbClr val="CCCCCC"/>
              </a:solidFill>
              <a:latin typeface="Consolas" panose="020B0609020204030204" pitchFamily="49" charset="0"/>
            </a:endParaRPr>
          </a:p>
          <a:p>
            <a:pPr>
              <a:lnSpc>
                <a:spcPts val="1100"/>
              </a:lnSpc>
            </a:pPr>
            <a:r>
              <a:rPr lang="pl-PL" sz="1200" dirty="0">
                <a:solidFill>
                  <a:srgbClr val="CCCCCC"/>
                </a:solidFill>
                <a:latin typeface="Consolas" panose="020B0609020204030204" pitchFamily="49" charset="0"/>
              </a:rPr>
              <a:t>                </a:t>
            </a:r>
            <a:r>
              <a:rPr lang="pl-PL" sz="1200" dirty="0" err="1">
                <a:solidFill>
                  <a:srgbClr val="C586C0"/>
                </a:solidFill>
                <a:latin typeface="Consolas" panose="020B0609020204030204" pitchFamily="49" charset="0"/>
              </a:rPr>
              <a:t>if</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ng</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&lt;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get</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1e9</a:t>
            </a:r>
            <a:r>
              <a:rPr lang="pl-PL" sz="1200" dirty="0">
                <a:solidFill>
                  <a:srgbClr val="CCCCCC"/>
                </a:solidFill>
                <a:latin typeface="Consolas" panose="020B0609020204030204" pitchFamily="49" charset="0"/>
              </a:rPr>
              <a:t>):</a:t>
            </a:r>
          </a:p>
          <a:p>
            <a:pPr>
              <a:lnSpc>
                <a:spcPts val="1100"/>
              </a:lnSpc>
            </a:pP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g</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ng</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parent</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u</a:t>
            </a:r>
            <a:endParaRPr lang="pl-PL" sz="1200" dirty="0">
              <a:solidFill>
                <a:srgbClr val="CCCCCC"/>
              </a:solidFill>
              <a:latin typeface="Consolas" panose="020B0609020204030204" pitchFamily="49" charset="0"/>
            </a:endParaRPr>
          </a:p>
          <a:p>
            <a:pPr>
              <a:lnSpc>
                <a:spcPts val="1100"/>
              </a:lnSpc>
            </a:pP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heapq</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heappush</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pq</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ng</a:t>
            </a:r>
            <a:r>
              <a:rPr lang="pl-PL" sz="1200" dirty="0" err="1">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h</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smtClean="0">
                <a:solidFill>
                  <a:srgbClr val="CCCCCC"/>
                </a:solidFill>
                <a:latin typeface="Consolas" panose="020B0609020204030204" pitchFamily="49" charset="0"/>
              </a:rPr>
              <a:t>))</a:t>
            </a:r>
            <a:endParaRPr lang="pl-PL" sz="1200" dirty="0">
              <a:solidFill>
                <a:srgbClr val="CCCCCC"/>
              </a:solidFill>
              <a:latin typeface="Consolas" panose="020B0609020204030204" pitchFamily="49" charset="0"/>
            </a:endParaRPr>
          </a:p>
        </p:txBody>
      </p:sp>
      <p:sp>
        <p:nvSpPr>
          <p:cNvPr id="11" name="Shape 9"/>
          <p:cNvSpPr/>
          <p:nvPr/>
        </p:nvSpPr>
        <p:spPr>
          <a:xfrm>
            <a:off x="274320" y="4534828"/>
            <a:ext cx="8595360" cy="402932"/>
          </a:xfrm>
          <a:prstGeom prst="rect">
            <a:avLst/>
          </a:prstGeom>
          <a:solidFill>
            <a:srgbClr val="1A3550"/>
          </a:solidFill>
          <a:ln w="12700">
            <a:solidFill>
              <a:srgbClr val="0077A8"/>
            </a:solidFill>
            <a:prstDash val="solid"/>
          </a:ln>
        </p:spPr>
      </p:sp>
      <p:sp>
        <p:nvSpPr>
          <p:cNvPr id="12" name="Text 10"/>
          <p:cNvSpPr/>
          <p:nvPr/>
        </p:nvSpPr>
        <p:spPr>
          <a:xfrm>
            <a:off x="457200" y="4534828"/>
            <a:ext cx="8321040" cy="402931"/>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Manhattan h – dopuszczalna i spójna; 4-kierunkowa sąsiedztwo; zwraca listę </a:t>
            </a:r>
            <a:r>
              <a:rPr lang="en-US" sz="1600" dirty="0" err="1">
                <a:solidFill>
                  <a:srgbClr val="E2EBF3"/>
                </a:solidFill>
                <a:latin typeface="Calibri" pitchFamily="34" charset="0"/>
                <a:ea typeface="Calibri" pitchFamily="34" charset="-122"/>
                <a:cs typeface="Calibri" pitchFamily="34" charset="-120"/>
              </a:rPr>
              <a:t>komórek</a:t>
            </a:r>
            <a:r>
              <a:rPr lang="en-US" sz="1600" dirty="0">
                <a:solidFill>
                  <a:srgbClr val="E2EBF3"/>
                </a:solidFill>
                <a:latin typeface="Calibri" pitchFamily="34" charset="0"/>
                <a:ea typeface="Calibri" pitchFamily="34" charset="-122"/>
                <a:cs typeface="Calibri" pitchFamily="34" charset="-120"/>
              </a:rPr>
              <a:t> </a:t>
            </a:r>
            <a:r>
              <a:rPr lang="en-US" sz="1600" dirty="0" err="1" smtClean="0">
                <a:solidFill>
                  <a:srgbClr val="E2EBF3"/>
                </a:solidFill>
                <a:latin typeface="Calibri" pitchFamily="34" charset="0"/>
                <a:ea typeface="Calibri" pitchFamily="34" charset="-122"/>
                <a:cs typeface="Calibri" pitchFamily="34" charset="-120"/>
              </a:rPr>
              <a:t>ścieżki</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77A8"/>
          </a:solidFill>
          <a:ln w="12700">
            <a:solidFill>
              <a:srgbClr val="0077A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77A8"/>
                </a:solidFill>
                <a:latin typeface="Trebuchet MS" pitchFamily="34" charset="0"/>
                <a:ea typeface="Trebuchet MS" pitchFamily="34" charset="-122"/>
                <a:cs typeface="Trebuchet MS" pitchFamily="34" charset="-120"/>
              </a:rPr>
              <a:t>SEKCJA 1 | HEURYSTYKI</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r>
              <a:rPr lang="pl-PL" sz="2400" b="1" dirty="0" smtClean="0">
                <a:solidFill>
                  <a:srgbClr val="FFFFFF"/>
                </a:solidFill>
                <a:latin typeface="Trebuchet MS" pitchFamily="34" charset="0"/>
                <a:ea typeface="Trebuchet MS" pitchFamily="34" charset="-122"/>
                <a:cs typeface="Trebuchet MS" pitchFamily="34" charset="-120"/>
              </a:rPr>
              <a:t>W</a:t>
            </a:r>
            <a:r>
              <a:rPr lang="en-US" sz="2400" b="1" dirty="0" err="1" smtClean="0">
                <a:solidFill>
                  <a:srgbClr val="FFFFFF"/>
                </a:solidFill>
                <a:latin typeface="Trebuchet MS" pitchFamily="34" charset="0"/>
                <a:ea typeface="Trebuchet MS" pitchFamily="34" charset="-122"/>
                <a:cs typeface="Trebuchet MS" pitchFamily="34" charset="-120"/>
              </a:rPr>
              <a:t>łaściwości</a:t>
            </a:r>
            <a:r>
              <a:rPr lang="en-US" sz="2400" b="1" dirty="0" smtClean="0">
                <a:solidFill>
                  <a:srgbClr val="FFFFFF"/>
                </a:solidFill>
                <a:latin typeface="Trebuchet MS" pitchFamily="34" charset="0"/>
                <a:ea typeface="Trebuchet MS" pitchFamily="34" charset="-122"/>
                <a:cs typeface="Trebuchet MS" pitchFamily="34" charset="-120"/>
              </a:rPr>
              <a:t> </a:t>
            </a:r>
            <a:r>
              <a:rPr lang="en-US" sz="2400" b="1" dirty="0" err="1">
                <a:solidFill>
                  <a:srgbClr val="FFFFFF"/>
                </a:solidFill>
                <a:latin typeface="Trebuchet MS" pitchFamily="34" charset="0"/>
                <a:ea typeface="Trebuchet MS" pitchFamily="34" charset="-122"/>
                <a:cs typeface="Trebuchet MS" pitchFamily="34" charset="-120"/>
              </a:rPr>
              <a:t>i</a:t>
            </a:r>
            <a:r>
              <a:rPr lang="en-US" sz="2400" b="1" dirty="0">
                <a:solidFill>
                  <a:srgbClr val="FFFFFF"/>
                </a:solidFill>
                <a:latin typeface="Trebuchet MS" pitchFamily="34" charset="0"/>
                <a:ea typeface="Trebuchet MS" pitchFamily="34" charset="-122"/>
                <a:cs typeface="Trebuchet MS" pitchFamily="34" charset="-120"/>
              </a:rPr>
              <a:t> </a:t>
            </a:r>
            <a:r>
              <a:rPr lang="en-US" sz="2400" b="1" dirty="0" err="1" smtClean="0">
                <a:solidFill>
                  <a:srgbClr val="FFFFFF"/>
                </a:solidFill>
                <a:latin typeface="Trebuchet MS" pitchFamily="34" charset="0"/>
                <a:ea typeface="Trebuchet MS" pitchFamily="34" charset="-122"/>
                <a:cs typeface="Trebuchet MS" pitchFamily="34" charset="-120"/>
              </a:rPr>
              <a:t>zastosowanie</a:t>
            </a:r>
            <a:r>
              <a:rPr lang="pl-PL" sz="2400" b="1" dirty="0" smtClean="0">
                <a:solidFill>
                  <a:srgbClr val="FFFFFF"/>
                </a:solidFill>
                <a:latin typeface="Trebuchet MS" pitchFamily="34" charset="0"/>
                <a:ea typeface="Trebuchet MS" pitchFamily="34" charset="-122"/>
                <a:cs typeface="Trebuchet MS" pitchFamily="34" charset="-120"/>
              </a:rPr>
              <a:t> </a:t>
            </a:r>
            <a:r>
              <a:rPr lang="en-US" sz="2400" b="1" dirty="0" err="1">
                <a:solidFill>
                  <a:srgbClr val="FFFFFF"/>
                </a:solidFill>
                <a:latin typeface="Trebuchet MS" pitchFamily="34" charset="0"/>
                <a:ea typeface="Trebuchet MS" pitchFamily="34" charset="-122"/>
                <a:cs typeface="Trebuchet MS" pitchFamily="34" charset="-120"/>
              </a:rPr>
              <a:t>Heurystyki</a:t>
            </a:r>
            <a:r>
              <a:rPr lang="en-US" sz="2400" b="1" dirty="0">
                <a:solidFill>
                  <a:srgbClr val="FFFFFF"/>
                </a:solidFill>
                <a:latin typeface="Trebuchet MS" pitchFamily="34" charset="0"/>
                <a:ea typeface="Trebuchet MS" pitchFamily="34" charset="-122"/>
                <a:cs typeface="Trebuchet MS" pitchFamily="34" charset="-120"/>
              </a:rPr>
              <a:t> w A* </a:t>
            </a:r>
            <a:endParaRPr lang="en-US" sz="2400" dirty="0"/>
          </a:p>
        </p:txBody>
      </p:sp>
      <p:sp>
        <p:nvSpPr>
          <p:cNvPr id="6" name="Shape 4"/>
          <p:cNvSpPr/>
          <p:nvPr/>
        </p:nvSpPr>
        <p:spPr>
          <a:xfrm>
            <a:off x="274320" y="1097280"/>
            <a:ext cx="4160520" cy="2269931"/>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269931"/>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411480"/>
          </a:xfrm>
          <a:prstGeom prst="rect">
            <a:avLst/>
          </a:prstGeom>
          <a:solidFill>
            <a:srgbClr val="0077A8"/>
          </a:solidFill>
          <a:ln w="12700">
            <a:solidFill>
              <a:srgbClr val="0077A8"/>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Heurystyka Manhattan (L1)</a:t>
            </a:r>
            <a:endParaRPr lang="en-US" sz="1600" dirty="0"/>
          </a:p>
        </p:txBody>
      </p:sp>
      <p:sp>
        <p:nvSpPr>
          <p:cNvPr id="10" name="Shape 8"/>
          <p:cNvSpPr/>
          <p:nvPr/>
        </p:nvSpPr>
        <p:spPr>
          <a:xfrm>
            <a:off x="4709160" y="1097280"/>
            <a:ext cx="4160520" cy="411480"/>
          </a:xfrm>
          <a:prstGeom prst="rect">
            <a:avLst/>
          </a:prstGeom>
          <a:solidFill>
            <a:srgbClr val="22C55E"/>
          </a:solidFill>
          <a:ln w="12700">
            <a:solidFill>
              <a:srgbClr val="22C55E"/>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Heurystyka euklidesowa (L2)</a:t>
            </a:r>
            <a:endParaRPr lang="en-US" sz="1600" dirty="0"/>
          </a:p>
        </p:txBody>
      </p:sp>
      <mc:AlternateContent xmlns:mc="http://schemas.openxmlformats.org/markup-compatibility/2006" xmlns:a14="http://schemas.microsoft.com/office/drawing/2010/main">
        <mc:Choice Requires="a14">
          <p:sp>
            <p:nvSpPr>
              <p:cNvPr id="12" name="Text 10"/>
              <p:cNvSpPr/>
              <p:nvPr/>
            </p:nvSpPr>
            <p:spPr>
              <a:xfrm>
                <a:off x="338328" y="1600200"/>
                <a:ext cx="3998348" cy="1739579"/>
              </a:xfrm>
              <a:prstGeom prst="rect">
                <a:avLst/>
              </a:prstGeom>
              <a:noFill/>
              <a:ln/>
            </p:spPr>
            <p:txBody>
              <a:bodyPr wrap="square" lIns="63500" tIns="101600" rIns="101600" bIns="63500" rtlCol="0" anchor="t"/>
              <a:lstStyle/>
              <a:p>
                <a:pPr marL="342900" indent="-342900">
                  <a:spcAft>
                    <a:spcPts val="800"/>
                  </a:spcAft>
                  <a:buSzPct val="100000"/>
                  <a:buChar char="•"/>
                </a:pP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h</m:t>
                    </m:r>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𝑛</m:t>
                        </m:r>
                      </m:e>
                    </m:d>
                    <m:r>
                      <a:rPr lang="en-US" sz="1400" i="1" dirty="0" smtClean="0">
                        <a:solidFill>
                          <a:schemeClr val="accent1"/>
                        </a:solidFill>
                        <a:latin typeface="Cambria Math" panose="02040503050406030204" pitchFamily="18" charset="0"/>
                        <a:ea typeface="Calibri" pitchFamily="34" charset="-122"/>
                        <a:cs typeface="Calibri" pitchFamily="34" charset="-120"/>
                      </a:rPr>
                      <m:t>= </m:t>
                    </m:r>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𝑑𝑥</m:t>
                        </m:r>
                      </m:e>
                    </m:d>
                    <m:r>
                      <a:rPr lang="en-US" sz="1400" i="1" dirty="0" smtClean="0">
                        <a:solidFill>
                          <a:schemeClr val="accent1"/>
                        </a:solidFill>
                        <a:latin typeface="Cambria Math" panose="02040503050406030204" pitchFamily="18" charset="0"/>
                        <a:ea typeface="Calibri" pitchFamily="34" charset="-122"/>
                        <a:cs typeface="Calibri" pitchFamily="34" charset="-120"/>
                      </a:rPr>
                      <m:t>+ </m:t>
                    </m:r>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err="1" smtClean="0">
                            <a:solidFill>
                              <a:schemeClr val="accent1"/>
                            </a:solidFill>
                            <a:latin typeface="Cambria Math" panose="02040503050406030204" pitchFamily="18" charset="0"/>
                            <a:ea typeface="Calibri" pitchFamily="34" charset="-122"/>
                            <a:cs typeface="Calibri" pitchFamily="34" charset="-120"/>
                          </a:rPr>
                          <m:t>𝑑𝑦</m:t>
                        </m:r>
                      </m:e>
                    </m:d>
                  </m:oMath>
                </a14:m>
                <a:endParaRPr lang="en-US" sz="1400" dirty="0">
                  <a:solidFill>
                    <a:schemeClr val="accent1"/>
                  </a:solidFill>
                </a:endParaRPr>
              </a:p>
              <a:p>
                <a:pPr marL="342900" indent="-342900">
                  <a:spcAft>
                    <a:spcPts val="800"/>
                  </a:spcAft>
                  <a:buSzPct val="100000"/>
                  <a:buChar char="•"/>
                </a:pPr>
                <a:r>
                  <a:rPr lang="en-US" sz="1400" dirty="0">
                    <a:solidFill>
                      <a:srgbClr val="0D1B2A"/>
                    </a:solidFill>
                    <a:latin typeface="Calibri" pitchFamily="34" charset="0"/>
                    <a:ea typeface="Calibri" pitchFamily="34" charset="-122"/>
                    <a:cs typeface="Calibri" pitchFamily="34" charset="-120"/>
                  </a:rPr>
                  <a:t>Idealna dla siatek z ruchem 4-kierunkowym</a:t>
                </a:r>
                <a:endParaRPr lang="en-US" sz="1400" dirty="0"/>
              </a:p>
              <a:p>
                <a:pPr marL="342900" indent="-342900">
                  <a:spcAft>
                    <a:spcPts val="800"/>
                  </a:spcAft>
                  <a:buSzPct val="100000"/>
                  <a:buChar char="•"/>
                </a:pPr>
                <a:r>
                  <a:rPr lang="en-US" sz="1400" b="1" dirty="0">
                    <a:solidFill>
                      <a:srgbClr val="0D1B2A"/>
                    </a:solidFill>
                    <a:latin typeface="Calibri" pitchFamily="34" charset="0"/>
                    <a:ea typeface="Calibri" pitchFamily="34" charset="-122"/>
                    <a:cs typeface="Calibri" pitchFamily="34" charset="-120"/>
                  </a:rPr>
                  <a:t>Dopuszczalna</a:t>
                </a:r>
                <a:r>
                  <a:rPr lang="en-US" sz="1400" dirty="0">
                    <a:solidFill>
                      <a:srgbClr val="0D1B2A"/>
                    </a:solidFill>
                    <a:latin typeface="Calibri" pitchFamily="34" charset="0"/>
                    <a:ea typeface="Calibri" pitchFamily="34" charset="-122"/>
                    <a:cs typeface="Calibri" pitchFamily="34" charset="-120"/>
                  </a:rPr>
                  <a:t>: nigdy nie przeszacowuje kosztu</a:t>
                </a:r>
                <a:endParaRPr lang="en-US" sz="1400" dirty="0"/>
              </a:p>
              <a:p>
                <a:pPr marL="342900" indent="-342900">
                  <a:spcAft>
                    <a:spcPts val="800"/>
                  </a:spcAft>
                  <a:buSzPct val="100000"/>
                  <a:buChar char="•"/>
                </a:pPr>
                <a:r>
                  <a:rPr lang="en-US" sz="1400" b="1" dirty="0" err="1">
                    <a:solidFill>
                      <a:srgbClr val="0D1B2A"/>
                    </a:solidFill>
                    <a:latin typeface="Calibri" pitchFamily="34" charset="0"/>
                    <a:ea typeface="Calibri" pitchFamily="34" charset="-122"/>
                    <a:cs typeface="Calibri" pitchFamily="34" charset="-120"/>
                  </a:rPr>
                  <a:t>Bardzo</a:t>
                </a:r>
                <a:r>
                  <a:rPr lang="en-US" sz="1400" b="1" dirty="0">
                    <a:solidFill>
                      <a:srgbClr val="0D1B2A"/>
                    </a:solidFill>
                    <a:latin typeface="Calibri" pitchFamily="34" charset="0"/>
                    <a:ea typeface="Calibri" pitchFamily="34" charset="-122"/>
                    <a:cs typeface="Calibri" pitchFamily="34" charset="-120"/>
                  </a:rPr>
                  <a:t> </a:t>
                </a:r>
                <a:r>
                  <a:rPr lang="en-US" sz="1400" b="1" dirty="0" err="1" smtClean="0">
                    <a:solidFill>
                      <a:srgbClr val="0D1B2A"/>
                    </a:solidFill>
                    <a:latin typeface="Calibri" pitchFamily="34" charset="0"/>
                    <a:ea typeface="Calibri" pitchFamily="34" charset="-122"/>
                    <a:cs typeface="Calibri" pitchFamily="34" charset="-120"/>
                  </a:rPr>
                  <a:t>szybka</a:t>
                </a:r>
                <a:r>
                  <a:rPr lang="pl-PL" sz="1400" b="1" dirty="0" smtClean="0">
                    <a:solidFill>
                      <a:srgbClr val="0D1B2A"/>
                    </a:solidFill>
                    <a:latin typeface="Calibri" pitchFamily="34" charset="0"/>
                    <a:ea typeface="Calibri" pitchFamily="34" charset="-122"/>
                    <a:cs typeface="Calibri" pitchFamily="34" charset="-120"/>
                  </a:rPr>
                  <a:t>:</a:t>
                </a:r>
                <a:r>
                  <a:rPr lang="en-US" sz="1400" dirty="0" smtClean="0">
                    <a:solidFill>
                      <a:srgbClr val="0D1B2A"/>
                    </a:solidFill>
                    <a:latin typeface="Calibri" pitchFamily="34" charset="0"/>
                    <a:ea typeface="Calibri" pitchFamily="34" charset="-122"/>
                    <a:cs typeface="Calibri" pitchFamily="34" charset="-120"/>
                  </a:rPr>
                  <a:t> </a:t>
                </a:r>
                <a:r>
                  <a:rPr lang="en-US" sz="1400" dirty="0">
                    <a:solidFill>
                      <a:srgbClr val="0D1B2A"/>
                    </a:solidFill>
                    <a:latin typeface="Calibri" pitchFamily="34" charset="0"/>
                    <a:ea typeface="Calibri" pitchFamily="34" charset="-122"/>
                    <a:cs typeface="Calibri" pitchFamily="34" charset="-120"/>
                  </a:rPr>
                  <a:t>prosta operacja arytmetyczna</a:t>
                </a:r>
                <a:endParaRPr lang="en-US" sz="1400" dirty="0"/>
              </a:p>
              <a:p>
                <a:pPr marL="342900" indent="-342900">
                  <a:spcAft>
                    <a:spcPts val="800"/>
                  </a:spcAft>
                  <a:buSzPct val="100000"/>
                  <a:buChar char="•"/>
                </a:pPr>
                <a:r>
                  <a:rPr lang="en-US" sz="1400" b="1" dirty="0">
                    <a:solidFill>
                      <a:srgbClr val="0D1B2A"/>
                    </a:solidFill>
                    <a:latin typeface="Calibri" pitchFamily="34" charset="0"/>
                    <a:ea typeface="Calibri" pitchFamily="34" charset="-122"/>
                    <a:cs typeface="Calibri" pitchFamily="34" charset="-120"/>
                  </a:rPr>
                  <a:t>Dla ruchu 8-kierunkowego</a:t>
                </a:r>
                <a:r>
                  <a:rPr lang="en-US" sz="1400" dirty="0">
                    <a:solidFill>
                      <a:srgbClr val="0D1B2A"/>
                    </a:solidFill>
                    <a:latin typeface="Calibri" pitchFamily="34" charset="0"/>
                    <a:ea typeface="Calibri" pitchFamily="34" charset="-122"/>
                    <a:cs typeface="Calibri" pitchFamily="34" charset="-120"/>
                  </a:rPr>
                  <a:t>: lekko nieprecyzyjna</a:t>
                </a:r>
                <a:endParaRPr lang="en-US" sz="1400" dirty="0"/>
              </a:p>
            </p:txBody>
          </p:sp>
        </mc:Choice>
        <mc:Fallback xmlns="">
          <p:sp>
            <p:nvSpPr>
              <p:cNvPr id="12" name="Text 10"/>
              <p:cNvSpPr>
                <a:spLocks noRot="1" noChangeAspect="1" noMove="1" noResize="1" noEditPoints="1" noAdjustHandles="1" noChangeArrowheads="1" noChangeShapeType="1" noTextEdit="1"/>
              </p:cNvSpPr>
              <p:nvPr/>
            </p:nvSpPr>
            <p:spPr>
              <a:xfrm>
                <a:off x="338328" y="1600200"/>
                <a:ext cx="3998348" cy="1739579"/>
              </a:xfrm>
              <a:prstGeom prst="rect">
                <a:avLst/>
              </a:prstGeom>
              <a:blipFill>
                <a:blip r:embed="rId3"/>
                <a:stretch>
                  <a:fillRect l="-1374"/>
                </a:stretch>
              </a:blipFill>
              <a:ln/>
            </p:spPr>
            <p:txBody>
              <a:bodyPr/>
              <a:lstStyle/>
              <a:p>
                <a:r>
                  <a:rPr lang="pl-PL">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4800599" y="1600200"/>
                <a:ext cx="4069081" cy="1739579"/>
              </a:xfrm>
              <a:prstGeom prst="rect">
                <a:avLst/>
              </a:prstGeom>
              <a:noFill/>
              <a:ln/>
            </p:spPr>
            <p:txBody>
              <a:bodyPr wrap="square" lIns="63500" tIns="101600" rIns="101600" bIns="63500" rtlCol="0" anchor="t"/>
              <a:lstStyle/>
              <a:p>
                <a:pPr marL="342900" indent="-342900">
                  <a:spcAft>
                    <a:spcPts val="800"/>
                  </a:spcAft>
                  <a:buSzPct val="100000"/>
                  <a:buChar char="•"/>
                </a:pP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h</m:t>
                    </m:r>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𝑛</m:t>
                    </m:r>
                    <m:r>
                      <a:rPr lang="en-US" sz="1400" i="1" dirty="0" smtClean="0">
                        <a:solidFill>
                          <a:schemeClr val="accent1"/>
                        </a:solidFill>
                        <a:latin typeface="Cambria Math" panose="02040503050406030204" pitchFamily="18" charset="0"/>
                        <a:ea typeface="Calibri" pitchFamily="34" charset="-122"/>
                        <a:cs typeface="Calibri" pitchFamily="34" charset="-120"/>
                      </a:rPr>
                      <m:t>) = </m:t>
                    </m:r>
                    <m:rad>
                      <m:radPr>
                        <m:degHide m:val="on"/>
                        <m:ctrlPr>
                          <a:rPr lang="en-US" sz="1400" i="1" dirty="0" smtClean="0">
                            <a:solidFill>
                              <a:schemeClr val="accent1"/>
                            </a:solidFill>
                            <a:latin typeface="Cambria Math" panose="02040503050406030204" pitchFamily="18" charset="0"/>
                            <a:ea typeface="Calibri" pitchFamily="34" charset="-122"/>
                            <a:cs typeface="Calibri" pitchFamily="34" charset="-120"/>
                          </a:rPr>
                        </m:ctrlPr>
                      </m:radPr>
                      <m:deg/>
                      <m:e>
                        <m:r>
                          <a:rPr lang="en-US" sz="1400" i="1" dirty="0" smtClean="0">
                            <a:solidFill>
                              <a:schemeClr val="accent1"/>
                            </a:solidFill>
                            <a:latin typeface="Cambria Math" panose="02040503050406030204" pitchFamily="18" charset="0"/>
                            <a:ea typeface="Calibri" pitchFamily="34" charset="-122"/>
                            <a:cs typeface="Calibri" pitchFamily="34" charset="-120"/>
                          </a:rPr>
                          <m:t>𝑑</m:t>
                        </m:r>
                        <m:sSup>
                          <m:sSup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pPr>
                          <m:e>
                            <m:r>
                              <a:rPr lang="en-US" sz="1400" i="1" dirty="0" smtClean="0">
                                <a:solidFill>
                                  <a:schemeClr val="accent1"/>
                                </a:solidFill>
                                <a:latin typeface="Cambria Math" panose="02040503050406030204" pitchFamily="18" charset="0"/>
                                <a:ea typeface="Calibri" pitchFamily="34" charset="-122"/>
                                <a:cs typeface="Calibri" pitchFamily="34" charset="-120"/>
                              </a:rPr>
                              <m:t>𝑥</m:t>
                            </m:r>
                          </m:e>
                          <m:sup>
                            <m:r>
                              <a:rPr lang="en-US" sz="1400" i="1" dirty="0" smtClean="0">
                                <a:solidFill>
                                  <a:schemeClr val="accent1"/>
                                </a:solidFill>
                                <a:latin typeface="Cambria Math" panose="02040503050406030204" pitchFamily="18" charset="0"/>
                                <a:ea typeface="Calibri" pitchFamily="34" charset="-122"/>
                                <a:cs typeface="Calibri" pitchFamily="34" charset="-120"/>
                              </a:rPr>
                              <m:t>2</m:t>
                            </m:r>
                          </m:sup>
                        </m:sSup>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𝑑</m:t>
                        </m:r>
                        <m:sSup>
                          <m:sSup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pPr>
                          <m:e>
                            <m:r>
                              <a:rPr lang="en-US" sz="1400" i="1" dirty="0" smtClean="0">
                                <a:solidFill>
                                  <a:schemeClr val="accent1"/>
                                </a:solidFill>
                                <a:latin typeface="Cambria Math" panose="02040503050406030204" pitchFamily="18" charset="0"/>
                                <a:ea typeface="Calibri" pitchFamily="34" charset="-122"/>
                                <a:cs typeface="Calibri" pitchFamily="34" charset="-120"/>
                              </a:rPr>
                              <m:t>𝑦</m:t>
                            </m:r>
                          </m:e>
                          <m:sup>
                            <m:r>
                              <a:rPr lang="en-US" sz="1400" i="1" dirty="0" smtClean="0">
                                <a:solidFill>
                                  <a:schemeClr val="accent1"/>
                                </a:solidFill>
                                <a:latin typeface="Cambria Math" panose="02040503050406030204" pitchFamily="18" charset="0"/>
                                <a:ea typeface="Calibri" pitchFamily="34" charset="-122"/>
                                <a:cs typeface="Calibri" pitchFamily="34" charset="-120"/>
                              </a:rPr>
                              <m:t>2</m:t>
                            </m:r>
                          </m:sup>
                        </m:sSup>
                      </m:e>
                    </m:rad>
                  </m:oMath>
                </a14:m>
                <a:endParaRPr lang="en-US" sz="1400" dirty="0">
                  <a:solidFill>
                    <a:schemeClr val="accent1"/>
                  </a:solidFill>
                </a:endParaRPr>
              </a:p>
              <a:p>
                <a:pPr marL="342900" indent="-342900">
                  <a:spcAft>
                    <a:spcPts val="800"/>
                  </a:spcAft>
                  <a:buSzPct val="100000"/>
                  <a:buChar char="•"/>
                </a:pPr>
                <a:r>
                  <a:rPr lang="en-US" sz="1400" dirty="0">
                    <a:solidFill>
                      <a:srgbClr val="0D1B2A"/>
                    </a:solidFill>
                    <a:latin typeface="Calibri" pitchFamily="34" charset="0"/>
                    <a:ea typeface="Calibri" pitchFamily="34" charset="-122"/>
                    <a:cs typeface="Calibri" pitchFamily="34" charset="-120"/>
                  </a:rPr>
                  <a:t>Odpowiednia dla ciągłego ruchu w 2D/3D</a:t>
                </a:r>
                <a:endParaRPr lang="en-US" sz="1400" dirty="0"/>
              </a:p>
              <a:p>
                <a:pPr marL="342900" indent="-342900">
                  <a:spcAft>
                    <a:spcPts val="800"/>
                  </a:spcAft>
                  <a:buSzPct val="100000"/>
                  <a:buChar char="•"/>
                </a:pPr>
                <a:r>
                  <a:rPr lang="en-US" sz="1400" dirty="0">
                    <a:solidFill>
                      <a:srgbClr val="0D1B2A"/>
                    </a:solidFill>
                    <a:latin typeface="Calibri" pitchFamily="34" charset="0"/>
                    <a:ea typeface="Calibri" pitchFamily="34" charset="-122"/>
                    <a:cs typeface="Calibri" pitchFamily="34" charset="-120"/>
                  </a:rPr>
                  <a:t>Dopuszczalna dla humanoida (metryczny koszt)</a:t>
                </a:r>
                <a:endParaRPr lang="en-US" sz="1400" dirty="0"/>
              </a:p>
              <a:p>
                <a:pPr marL="342900" indent="-342900">
                  <a:spcAft>
                    <a:spcPts val="800"/>
                  </a:spcAft>
                  <a:buSzPct val="100000"/>
                  <a:buChar char="•"/>
                </a:pPr>
                <a:r>
                  <a:rPr lang="en-US" sz="1400" b="1" dirty="0">
                    <a:solidFill>
                      <a:srgbClr val="0D1B2A"/>
                    </a:solidFill>
                    <a:latin typeface="Calibri" pitchFamily="34" charset="0"/>
                    <a:ea typeface="Calibri" pitchFamily="34" charset="-122"/>
                    <a:cs typeface="Calibri" pitchFamily="34" charset="-120"/>
                  </a:rPr>
                  <a:t>Droższa obliczeniowo </a:t>
                </a:r>
                <a:r>
                  <a:rPr lang="en-US" sz="1400" dirty="0">
                    <a:solidFill>
                      <a:srgbClr val="0D1B2A"/>
                    </a:solidFill>
                    <a:latin typeface="Calibri" pitchFamily="34" charset="0"/>
                    <a:ea typeface="Calibri" pitchFamily="34" charset="-122"/>
                    <a:cs typeface="Calibri" pitchFamily="34" charset="-120"/>
                  </a:rPr>
                  <a:t>(sqrt), lecz precyzyjniejsza</a:t>
                </a:r>
                <a:endParaRPr lang="en-US" sz="1400" dirty="0"/>
              </a:p>
              <a:p>
                <a:pPr marL="342900" indent="-342900">
                  <a:spcAft>
                    <a:spcPts val="800"/>
                  </a:spcAft>
                  <a:buSzPct val="100000"/>
                  <a:buChar char="•"/>
                </a:pPr>
                <a:r>
                  <a:rPr lang="en-US" sz="1400" dirty="0">
                    <a:solidFill>
                      <a:srgbClr val="0D1B2A"/>
                    </a:solidFill>
                    <a:latin typeface="Calibri" pitchFamily="34" charset="0"/>
                    <a:ea typeface="Calibri" pitchFamily="34" charset="-122"/>
                    <a:cs typeface="Calibri" pitchFamily="34" charset="-120"/>
                  </a:rPr>
                  <a:t>Zalecana gdy ścieżka jest wygładzana</a:t>
                </a:r>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4800599" y="1600200"/>
                <a:ext cx="4069081" cy="1739579"/>
              </a:xfrm>
              <a:prstGeom prst="rect">
                <a:avLst/>
              </a:prstGeom>
              <a:blipFill>
                <a:blip r:embed="rId4"/>
                <a:stretch>
                  <a:fillRect l="-1198"/>
                </a:stretch>
              </a:blipFill>
              <a:ln/>
            </p:spPr>
            <p:txBody>
              <a:bodyPr/>
              <a:lstStyle/>
              <a:p>
                <a:r>
                  <a:rPr lang="pl-PL">
                    <a:noFill/>
                  </a:rPr>
                  <a:t> </a:t>
                </a:r>
              </a:p>
            </p:txBody>
          </p:sp>
        </mc:Fallback>
      </mc:AlternateContent>
      <p:sp>
        <p:nvSpPr>
          <p:cNvPr id="14" name="Prostokąt 13"/>
          <p:cNvSpPr/>
          <p:nvPr/>
        </p:nvSpPr>
        <p:spPr>
          <a:xfrm>
            <a:off x="274320" y="3576447"/>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Heurystyka wpływa bezpośrednio na liczbę sprawdzanych węzłów i czas działania A*. Heurystyka Manhattan jest bardzo szybka i dobrze pasuje do ruchu po siatce w czterech kierunkach, gdzie robot porusza się tylko poziomo i pionowo. Heurystyka euklidesowa lepiej opisuje rzeczywisty ruch robota w przestrzeni ciągłej, zwłaszcza gdy dopuszczamy ruch po skosie lub późniejsze wygładzanie ścieżki. W praktyce wybór heurystyki powinien być spójny z modelem ruchu robota i sposobem liczenia kosztu przejścia.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COST MAP</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Planowanie z uwzględnieniem kosztów terenu</a:t>
            </a:r>
            <a:endParaRPr lang="en-US" sz="2400" dirty="0"/>
          </a:p>
        </p:txBody>
      </p:sp>
      <p:sp>
        <p:nvSpPr>
          <p:cNvPr id="6" name="Shape 4"/>
          <p:cNvSpPr/>
          <p:nvPr/>
        </p:nvSpPr>
        <p:spPr>
          <a:xfrm>
            <a:off x="274320" y="1097281"/>
            <a:ext cx="8595360" cy="267926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mc:AlternateContent xmlns:mc="http://schemas.openxmlformats.org/markup-compatibility/2006" xmlns:a14="http://schemas.microsoft.com/office/drawing/2010/main">
        <mc:Choice Requires="a14">
          <p:sp>
            <p:nvSpPr>
              <p:cNvPr id="7" name="Text 5"/>
              <p:cNvSpPr/>
              <p:nvPr/>
            </p:nvSpPr>
            <p:spPr>
              <a:xfrm>
                <a:off x="383238" y="1141652"/>
                <a:ext cx="8229600" cy="2573521"/>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400" b="1" dirty="0" smtClean="0">
                    <a:solidFill>
                      <a:srgbClr val="0D1B2A"/>
                    </a:solidFill>
                    <a:latin typeface="Calibri" pitchFamily="34" charset="0"/>
                    <a:ea typeface="Calibri" pitchFamily="34" charset="-122"/>
                    <a:cs typeface="Calibri" pitchFamily="34" charset="-120"/>
                  </a:rPr>
                  <a:t>Cost map </a:t>
                </a:r>
                <a:r>
                  <a:rPr lang="en-US" sz="1400" dirty="0">
                    <a:solidFill>
                      <a:srgbClr val="0D1B2A"/>
                    </a:solidFill>
                    <a:latin typeface="Calibri" pitchFamily="34" charset="0"/>
                    <a:ea typeface="Calibri" pitchFamily="34" charset="-122"/>
                    <a:cs typeface="Calibri" pitchFamily="34" charset="-120"/>
                  </a:rPr>
                  <a:t>zastępuje binarną mapę wolne/zajęte gradientem kosztów</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Cel</a:t>
                </a:r>
                <a:r>
                  <a:rPr lang="en-US" sz="1400" dirty="0">
                    <a:solidFill>
                      <a:srgbClr val="0D1B2A"/>
                    </a:solidFill>
                    <a:latin typeface="Calibri" pitchFamily="34" charset="0"/>
                    <a:ea typeface="Calibri" pitchFamily="34" charset="-122"/>
                    <a:cs typeface="Calibri" pitchFamily="34" charset="-120"/>
                  </a:rPr>
                  <a:t>: preferowanie bezpiecznych, szerokich przejść zamiast najkrótszej trasy geometrycznej</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Warstwy kosztu</a:t>
                </a:r>
                <a:r>
                  <a:rPr lang="en-US" sz="1400" dirty="0">
                    <a:solidFill>
                      <a:srgbClr val="0D1B2A"/>
                    </a:solidFill>
                    <a:latin typeface="Calibri" pitchFamily="34" charset="0"/>
                    <a:ea typeface="Calibri" pitchFamily="34" charset="-122"/>
                    <a:cs typeface="Calibri" pitchFamily="34" charset="-120"/>
                  </a:rPr>
                  <a:t>: inflacja wokół przeszkód, nachylenie terenu, wskaźnik stabilności, gęstość ruchu</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Implementacja</a:t>
                </a:r>
                <a:r>
                  <a:rPr lang="en-US" sz="1400" dirty="0">
                    <a:solidFill>
                      <a:srgbClr val="0D1B2A"/>
                    </a:solidFill>
                    <a:latin typeface="Calibri" pitchFamily="34" charset="0"/>
                    <a:ea typeface="Calibri" pitchFamily="34" charset="-122"/>
                    <a:cs typeface="Calibri" pitchFamily="34" charset="-120"/>
                  </a:rPr>
                  <a:t>: komórki siatki mają wartość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𝑐</m:t>
                    </m:r>
                    <m:r>
                      <a:rPr lang="en-US" sz="1400" i="1" dirty="0" smtClean="0">
                        <a:solidFill>
                          <a:schemeClr val="accent1"/>
                        </a:solidFill>
                        <a:latin typeface="Cambria Math" panose="02040503050406030204" pitchFamily="18" charset="0"/>
                        <a:ea typeface="Calibri" pitchFamily="34" charset="-122"/>
                        <a:cs typeface="Calibri" pitchFamily="34" charset="-120"/>
                      </a:rPr>
                      <m:t> ∈ </m:t>
                    </m:r>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0, 255</m:t>
                        </m:r>
                      </m:e>
                    </m:d>
                    <m:r>
                      <a:rPr lang="en-US" sz="1400" i="1" dirty="0">
                        <a:solidFill>
                          <a:srgbClr val="0D1B2A"/>
                        </a:solidFill>
                        <a:latin typeface="Cambria Math" panose="02040503050406030204" pitchFamily="18" charset="0"/>
                        <a:ea typeface="Calibri" pitchFamily="34" charset="-122"/>
                        <a:cs typeface="Calibri" pitchFamily="34" charset="-120"/>
                      </a:rPr>
                      <m:t>; </m:t>
                    </m:r>
                  </m:oMath>
                </a14:m>
                <a:r>
                  <a:rPr lang="en-US" sz="1400" dirty="0">
                    <a:solidFill>
                      <a:srgbClr val="0D1B2A"/>
                    </a:solidFill>
                    <a:latin typeface="Calibri" pitchFamily="34" charset="0"/>
                    <a:ea typeface="Calibri" pitchFamily="34" charset="-122"/>
                    <a:cs typeface="Calibri" pitchFamily="34" charset="-120"/>
                  </a:rPr>
                  <a:t>A* używa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𝑐𝑜𝑠𝑡</m:t>
                    </m:r>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𝑢</m:t>
                        </m:r>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𝑣</m:t>
                        </m:r>
                      </m:e>
                    </m:d>
                    <m:r>
                      <a:rPr lang="en-US" sz="1400" i="1" dirty="0" smtClean="0">
                        <a:solidFill>
                          <a:schemeClr val="accent1"/>
                        </a:solidFill>
                        <a:latin typeface="Cambria Math" panose="02040503050406030204" pitchFamily="18" charset="0"/>
                        <a:ea typeface="Calibri" pitchFamily="34" charset="-122"/>
                        <a:cs typeface="Calibri" pitchFamily="34" charset="-120"/>
                      </a:rPr>
                      <m:t>= 1 +</m:t>
                    </m:r>
                    <m:f>
                      <m:fPr>
                        <m:ctrlPr>
                          <a:rPr lang="en-US" sz="1400" i="1" dirty="0" smtClean="0">
                            <a:solidFill>
                              <a:schemeClr val="accent1"/>
                            </a:solidFill>
                            <a:latin typeface="Cambria Math" panose="02040503050406030204" pitchFamily="18" charset="0"/>
                            <a:ea typeface="Calibri" pitchFamily="34" charset="-122"/>
                            <a:cs typeface="Calibri" pitchFamily="34" charset="-120"/>
                          </a:rPr>
                        </m:ctrlPr>
                      </m:fPr>
                      <m:num>
                        <m:r>
                          <a:rPr lang="en-US" sz="1400" i="1" dirty="0" smtClean="0">
                            <a:solidFill>
                              <a:schemeClr val="accent1"/>
                            </a:solidFill>
                            <a:latin typeface="Cambria Math" panose="02040503050406030204" pitchFamily="18" charset="0"/>
                            <a:ea typeface="Calibri" pitchFamily="34" charset="-122"/>
                            <a:cs typeface="Calibri" pitchFamily="34" charset="-120"/>
                          </a:rPr>
                          <m:t>𝑐</m:t>
                        </m:r>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𝑣</m:t>
                            </m:r>
                          </m:e>
                        </m:d>
                      </m:num>
                      <m:den>
                        <m:r>
                          <a:rPr lang="en-US" sz="1400" i="1" dirty="0" smtClean="0">
                            <a:solidFill>
                              <a:schemeClr val="accent1"/>
                            </a:solidFill>
                            <a:latin typeface="Cambria Math" panose="02040503050406030204" pitchFamily="18" charset="0"/>
                            <a:ea typeface="Calibri" pitchFamily="34" charset="-122"/>
                            <a:cs typeface="Calibri" pitchFamily="34" charset="-120"/>
                          </a:rPr>
                          <m:t>50</m:t>
                        </m:r>
                      </m:den>
                    </m:f>
                  </m:oMath>
                </a14:m>
                <a:endParaRPr lang="en-US" sz="1400" dirty="0">
                  <a:solidFill>
                    <a:schemeClr val="accent1"/>
                  </a:solidFill>
                </a:endParaRPr>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Efekt</a:t>
                </a:r>
                <a:r>
                  <a:rPr lang="en-US" sz="1400" dirty="0">
                    <a:solidFill>
                      <a:srgbClr val="0D1B2A"/>
                    </a:solidFill>
                    <a:latin typeface="Calibri" pitchFamily="34" charset="0"/>
                    <a:ea typeface="Calibri" pitchFamily="34" charset="-122"/>
                    <a:cs typeface="Calibri" pitchFamily="34" charset="-120"/>
                  </a:rPr>
                  <a:t>: trasa omija obrzeża mebli i wąskie przejścia nawet gdy są geometrycznie wolne</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Dynamiczna aktualizacja</a:t>
                </a:r>
                <a:r>
                  <a:rPr lang="en-US" sz="1400" dirty="0">
                    <a:solidFill>
                      <a:srgbClr val="0D1B2A"/>
                    </a:solidFill>
                    <a:latin typeface="Calibri" pitchFamily="34" charset="0"/>
                    <a:ea typeface="Calibri" pitchFamily="34" charset="-122"/>
                    <a:cs typeface="Calibri" pitchFamily="34" charset="-120"/>
                  </a:rPr>
                  <a:t>: nowe obserwacje LiDAR/kamery zmieniają cost map online</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Parametryzacja</a:t>
                </a:r>
                <a:r>
                  <a:rPr lang="en-US" sz="1400" dirty="0">
                    <a:solidFill>
                      <a:srgbClr val="0D1B2A"/>
                    </a:solidFill>
                    <a:latin typeface="Calibri" pitchFamily="34" charset="0"/>
                    <a:ea typeface="Calibri" pitchFamily="34" charset="-122"/>
                    <a:cs typeface="Calibri" pitchFamily="34" charset="-120"/>
                  </a:rPr>
                  <a:t>: wagi warstw dobierane eksperymentalnie lub przez uczenie maszynowe</a:t>
                </a:r>
                <a:endParaRPr lang="en-US" sz="1400" dirty="0"/>
              </a:p>
            </p:txBody>
          </p:sp>
        </mc:Choice>
        <mc:Fallback xmlns="">
          <p:sp>
            <p:nvSpPr>
              <p:cNvPr id="7" name="Text 5"/>
              <p:cNvSpPr>
                <a:spLocks noRot="1" noChangeAspect="1" noMove="1" noResize="1" noEditPoints="1" noAdjustHandles="1" noChangeArrowheads="1" noChangeShapeType="1" noTextEdit="1"/>
              </p:cNvSpPr>
              <p:nvPr/>
            </p:nvSpPr>
            <p:spPr>
              <a:xfrm>
                <a:off x="383238" y="1141652"/>
                <a:ext cx="8229600" cy="2573521"/>
              </a:xfrm>
              <a:prstGeom prst="rect">
                <a:avLst/>
              </a:prstGeom>
              <a:blipFill>
                <a:blip r:embed="rId3"/>
                <a:stretch>
                  <a:fillRect t="-948" b="-3555"/>
                </a:stretch>
              </a:blipFill>
              <a:ln/>
            </p:spPr>
            <p:txBody>
              <a:bodyPr/>
              <a:lstStyle/>
              <a:p>
                <a:r>
                  <a:rPr lang="pl-PL">
                    <a:noFill/>
                  </a:rPr>
                  <a:t> </a:t>
                </a:r>
              </a:p>
            </p:txBody>
          </p:sp>
        </mc:Fallback>
      </mc:AlternateContent>
      <p:sp>
        <p:nvSpPr>
          <p:cNvPr id="8" name="Prostokąt 7"/>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err="1">
                <a:solidFill>
                  <a:schemeClr val="bg1"/>
                </a:solidFill>
              </a:rPr>
              <a:t>Cost</a:t>
            </a:r>
            <a:r>
              <a:rPr lang="pl-PL" sz="1400" dirty="0">
                <a:solidFill>
                  <a:schemeClr val="bg1"/>
                </a:solidFill>
              </a:rPr>
              <a:t> map rozszerza klasyczną mapę zajętości o informację o jakości i ryzyku przejazdu przez dany obszar. Zamiast rozróżniać tylko pola wolne i zajęte, każda komórka otrzymuje koszt. Wysoki koszt może oznaczać bliskość przeszkody, śliską nawierzchnię, nachylenie terenu albo strefę o dużym natężeniu ruchu. Dzięki temu robot nie wybiera tylko najkrótszej trasy geometrycznej, lecz trasę bezpieczniejszą i bardziej komfortową. W </a:t>
            </a:r>
            <a:r>
              <a:rPr lang="pl-PL" sz="1400" dirty="0" err="1">
                <a:solidFill>
                  <a:schemeClr val="bg1"/>
                </a:solidFill>
              </a:rPr>
              <a:t>humanoidach</a:t>
            </a:r>
            <a:r>
              <a:rPr lang="pl-PL" sz="1400" dirty="0">
                <a:solidFill>
                  <a:schemeClr val="bg1"/>
                </a:solidFill>
              </a:rPr>
              <a:t> </a:t>
            </a:r>
            <a:r>
              <a:rPr lang="pl-PL" sz="1400" dirty="0" err="1">
                <a:solidFill>
                  <a:schemeClr val="bg1"/>
                </a:solidFill>
              </a:rPr>
              <a:t>cost</a:t>
            </a:r>
            <a:r>
              <a:rPr lang="pl-PL" sz="1400" dirty="0">
                <a:solidFill>
                  <a:schemeClr val="bg1"/>
                </a:solidFill>
              </a:rPr>
              <a:t> map ma szczególne znaczenie, ponieważ bliskość przeszkód zwiększa ryzyko kolizji kończyn i utraty stabilności.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A* z mapą kosztów terenu</a:t>
            </a:r>
            <a:endParaRPr lang="en-US" sz="2400" dirty="0"/>
          </a:p>
        </p:txBody>
      </p:sp>
      <p:sp>
        <p:nvSpPr>
          <p:cNvPr id="6" name="Shape 4"/>
          <p:cNvSpPr/>
          <p:nvPr/>
        </p:nvSpPr>
        <p:spPr>
          <a:xfrm>
            <a:off x="274320" y="1005840"/>
            <a:ext cx="8595360" cy="3481702"/>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094076" y="1133856"/>
            <a:ext cx="146304" cy="146304"/>
          </a:xfrm>
          <a:prstGeom prst="ellipse">
            <a:avLst/>
          </a:prstGeom>
          <a:solidFill>
            <a:srgbClr val="F72585"/>
          </a:solidFill>
          <a:ln w="12700">
            <a:solidFill>
              <a:srgbClr val="F72585"/>
            </a:solidFill>
            <a:prstDash val="solid"/>
          </a:ln>
        </p:spPr>
      </p:sp>
      <p:sp>
        <p:nvSpPr>
          <p:cNvPr id="8" name="Shape 6"/>
          <p:cNvSpPr/>
          <p:nvPr/>
        </p:nvSpPr>
        <p:spPr>
          <a:xfrm>
            <a:off x="8350108" y="1133856"/>
            <a:ext cx="146304" cy="146304"/>
          </a:xfrm>
          <a:prstGeom prst="ellipse">
            <a:avLst/>
          </a:prstGeom>
          <a:solidFill>
            <a:srgbClr val="FFD60A"/>
          </a:solidFill>
          <a:ln w="12700">
            <a:solidFill>
              <a:srgbClr val="FFD60A"/>
            </a:solidFill>
            <a:prstDash val="solid"/>
          </a:ln>
        </p:spPr>
      </p:sp>
      <p:sp>
        <p:nvSpPr>
          <p:cNvPr id="9" name="Shape 7"/>
          <p:cNvSpPr/>
          <p:nvPr/>
        </p:nvSpPr>
        <p:spPr>
          <a:xfrm>
            <a:off x="8606140" y="1133856"/>
            <a:ext cx="146304" cy="146304"/>
          </a:xfrm>
          <a:prstGeom prst="ellipse">
            <a:avLst/>
          </a:prstGeom>
          <a:solidFill>
            <a:srgbClr val="C3F584"/>
          </a:solidFill>
          <a:ln w="12700">
            <a:solidFill>
              <a:srgbClr val="C3F584"/>
            </a:solidFill>
            <a:prstDash val="solid"/>
          </a:ln>
        </p:spPr>
      </p:sp>
      <p:sp>
        <p:nvSpPr>
          <p:cNvPr id="10" name="Text 8"/>
          <p:cNvSpPr/>
          <p:nvPr/>
        </p:nvSpPr>
        <p:spPr>
          <a:xfrm>
            <a:off x="350818" y="1037880"/>
            <a:ext cx="8321040" cy="3449662"/>
          </a:xfrm>
          <a:prstGeom prst="rect">
            <a:avLst/>
          </a:prstGeom>
          <a:noFill/>
          <a:ln/>
        </p:spPr>
        <p:txBody>
          <a:bodyPr wrap="square" lIns="108000" tIns="0" rIns="127000" bIns="63500" rtlCol="0" anchor="t">
            <a:spAutoFit/>
          </a:bodyPr>
          <a:lstStyle/>
          <a:p>
            <a:pPr>
              <a:lnSpc>
                <a:spcPts val="1200"/>
              </a:lnSpc>
            </a:pPr>
            <a:r>
              <a:rPr lang="pl-PL" sz="1100" dirty="0">
                <a:solidFill>
                  <a:srgbClr val="C586C0"/>
                </a:solidFill>
                <a:latin typeface="Consolas" panose="020B0609020204030204" pitchFamily="49" charset="0"/>
              </a:rPr>
              <a:t>import</a:t>
            </a: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heapq</a:t>
            </a: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numpy</a:t>
            </a:r>
            <a:r>
              <a:rPr lang="pl-PL" sz="1100" dirty="0">
                <a:solidFill>
                  <a:srgbClr val="CCCCCC"/>
                </a:solidFill>
                <a:latin typeface="Consolas" panose="020B0609020204030204" pitchFamily="49" charset="0"/>
              </a:rPr>
              <a:t> </a:t>
            </a:r>
            <a:r>
              <a:rPr lang="pl-PL" sz="1100" dirty="0">
                <a:solidFill>
                  <a:srgbClr val="C586C0"/>
                </a:solidFill>
                <a:latin typeface="Consolas" panose="020B0609020204030204" pitchFamily="49" charset="0"/>
              </a:rPr>
              <a:t>as</a:t>
            </a: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np</a:t>
            </a:r>
            <a:endParaRPr lang="pl-PL" sz="1100" dirty="0">
              <a:solidFill>
                <a:srgbClr val="CCCCCC"/>
              </a:solidFill>
              <a:latin typeface="Consolas" panose="020B0609020204030204" pitchFamily="49" charset="0"/>
            </a:endParaRPr>
          </a:p>
          <a:p>
            <a:pPr>
              <a:lnSpc>
                <a:spcPts val="1200"/>
              </a:lnSpc>
            </a:pPr>
            <a:r>
              <a:rPr lang="pl-PL" sz="1100" dirty="0">
                <a:solidFill>
                  <a:srgbClr val="CCCCCC"/>
                </a:solidFill>
                <a:latin typeface="Consolas" panose="020B0609020204030204" pitchFamily="49" charset="0"/>
              </a:rPr>
              <a:t/>
            </a:r>
            <a:br>
              <a:rPr lang="pl-PL" sz="1100" dirty="0">
                <a:solidFill>
                  <a:srgbClr val="CCCCCC"/>
                </a:solidFill>
                <a:latin typeface="Consolas" panose="020B0609020204030204" pitchFamily="49" charset="0"/>
              </a:rPr>
            </a:br>
            <a:r>
              <a:rPr lang="pl-PL" sz="1100" dirty="0">
                <a:solidFill>
                  <a:srgbClr val="569CD6"/>
                </a:solidFill>
                <a:latin typeface="Consolas" panose="020B0609020204030204" pitchFamily="49" charset="0"/>
              </a:rPr>
              <a:t>def</a:t>
            </a:r>
            <a:r>
              <a:rPr lang="pl-PL" sz="1100" dirty="0">
                <a:solidFill>
                  <a:srgbClr val="CCCCCC"/>
                </a:solidFill>
                <a:latin typeface="Consolas" panose="020B0609020204030204" pitchFamily="49" charset="0"/>
              </a:rPr>
              <a:t> </a:t>
            </a:r>
            <a:r>
              <a:rPr lang="pl-PL" sz="1100" dirty="0" err="1">
                <a:solidFill>
                  <a:srgbClr val="DCDCAA"/>
                </a:solidFill>
                <a:latin typeface="Consolas" panose="020B0609020204030204" pitchFamily="49" charset="0"/>
              </a:rPr>
              <a:t>astar_cost</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grid</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cost_map</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start</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goal</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CE9178"/>
                </a:solidFill>
                <a:latin typeface="Consolas" panose="020B0609020204030204" pitchFamily="49" charset="0"/>
              </a:rPr>
              <a:t>"""A* z kosztem </a:t>
            </a:r>
            <a:r>
              <a:rPr lang="pl-PL" sz="1100" dirty="0" err="1">
                <a:solidFill>
                  <a:srgbClr val="CE9178"/>
                </a:solidFill>
                <a:latin typeface="Consolas" panose="020B0609020204030204" pitchFamily="49" charset="0"/>
              </a:rPr>
              <a:t>komorki</a:t>
            </a:r>
            <a:r>
              <a:rPr lang="pl-PL" sz="1100" dirty="0">
                <a:solidFill>
                  <a:srgbClr val="CE9178"/>
                </a:solidFill>
                <a:latin typeface="Consolas" panose="020B0609020204030204" pitchFamily="49" charset="0"/>
              </a:rPr>
              <a:t> z </a:t>
            </a:r>
            <a:r>
              <a:rPr lang="pl-PL" sz="1100" dirty="0" err="1">
                <a:solidFill>
                  <a:srgbClr val="CE9178"/>
                </a:solidFill>
                <a:latin typeface="Consolas" panose="020B0609020204030204" pitchFamily="49" charset="0"/>
              </a:rPr>
              <a:t>cost_map</a:t>
            </a:r>
            <a:r>
              <a:rPr lang="pl-PL" sz="1100" dirty="0">
                <a:solidFill>
                  <a:srgbClr val="CE9178"/>
                </a:solidFill>
                <a:latin typeface="Consolas" panose="020B0609020204030204" pitchFamily="49" charset="0"/>
              </a:rPr>
              <a:t> [0-100]."""</a:t>
            </a:r>
            <a:endParaRPr lang="pl-PL" sz="1100" dirty="0">
              <a:solidFill>
                <a:srgbClr val="CCCCCC"/>
              </a:solidFill>
              <a:latin typeface="Consolas" panose="020B0609020204030204" pitchFamily="49" charset="0"/>
            </a:endParaRPr>
          </a:p>
          <a:p>
            <a:pPr>
              <a:lnSpc>
                <a:spcPts val="1200"/>
              </a:lnSpc>
            </a:pP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rows</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cols</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grid</a:t>
            </a:r>
            <a:r>
              <a:rPr lang="pl-PL" sz="1100" dirty="0" err="1">
                <a:solidFill>
                  <a:srgbClr val="CCCCCC"/>
                </a:solidFill>
                <a:latin typeface="Consolas" panose="020B0609020204030204" pitchFamily="49" charset="0"/>
              </a:rPr>
              <a:t>.shape</a:t>
            </a:r>
            <a:endParaRPr lang="pl-PL" sz="1100" dirty="0">
              <a:solidFill>
                <a:srgbClr val="CCCCCC"/>
              </a:solidFill>
              <a:latin typeface="Consolas" panose="020B0609020204030204" pitchFamily="49" charset="0"/>
            </a:endParaRPr>
          </a:p>
          <a:p>
            <a:pPr>
              <a:lnSpc>
                <a:spcPts val="1200"/>
              </a:lnSpc>
            </a:pP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h</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569CD6"/>
                </a:solidFill>
                <a:latin typeface="Consolas" panose="020B0609020204030204" pitchFamily="49" charset="0"/>
              </a:rPr>
              <a:t>lambda</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r</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c</a:t>
            </a: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hypot</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r</a:t>
            </a:r>
            <a:r>
              <a:rPr lang="pl-PL" sz="1100" dirty="0">
                <a:solidFill>
                  <a:srgbClr val="D4D4D4"/>
                </a:solidFill>
                <a:latin typeface="Consolas" panose="020B0609020204030204" pitchFamily="49" charset="0"/>
              </a:rPr>
              <a:t>-</a:t>
            </a:r>
            <a:r>
              <a:rPr lang="pl-PL" sz="1100" dirty="0" err="1">
                <a:solidFill>
                  <a:srgbClr val="9CDCFE"/>
                </a:solidFill>
                <a:latin typeface="Consolas" panose="020B0609020204030204" pitchFamily="49" charset="0"/>
              </a:rPr>
              <a:t>goal</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c</a:t>
            </a:r>
            <a:r>
              <a:rPr lang="pl-PL" sz="1100" dirty="0">
                <a:solidFill>
                  <a:srgbClr val="D4D4D4"/>
                </a:solidFill>
                <a:latin typeface="Consolas" panose="020B0609020204030204" pitchFamily="49" charset="0"/>
              </a:rPr>
              <a:t>-</a:t>
            </a:r>
            <a:r>
              <a:rPr lang="pl-PL" sz="1100" dirty="0" err="1">
                <a:solidFill>
                  <a:srgbClr val="9CDCFE"/>
                </a:solidFill>
                <a:latin typeface="Consolas" panose="020B0609020204030204" pitchFamily="49" charset="0"/>
              </a:rPr>
              <a:t>goal</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  </a:t>
            </a:r>
            <a:r>
              <a:rPr lang="pl-PL" sz="1100" dirty="0">
                <a:solidFill>
                  <a:srgbClr val="6A9955"/>
                </a:solidFill>
                <a:latin typeface="Consolas" panose="020B0609020204030204" pitchFamily="49" charset="0"/>
              </a:rPr>
              <a:t># euklidesowa</a:t>
            </a:r>
            <a:endParaRPr lang="pl-PL" sz="1100" dirty="0">
              <a:solidFill>
                <a:srgbClr val="CCCCCC"/>
              </a:solidFill>
              <a:latin typeface="Consolas" panose="020B0609020204030204" pitchFamily="49" charset="0"/>
            </a:endParaRPr>
          </a:p>
          <a:p>
            <a:pPr>
              <a:lnSpc>
                <a:spcPts val="1200"/>
              </a:lnSpc>
            </a:pP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g</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start</a:t>
            </a:r>
            <a:r>
              <a:rPr lang="pl-PL" sz="1100" dirty="0">
                <a:solidFill>
                  <a:srgbClr val="CCCCCC"/>
                </a:solidFill>
                <a:latin typeface="Consolas" panose="020B0609020204030204" pitchFamily="49" charset="0"/>
              </a:rPr>
              <a:t>: </a:t>
            </a:r>
            <a:r>
              <a:rPr lang="pl-PL" sz="1100" dirty="0">
                <a:solidFill>
                  <a:srgbClr val="B5CEA8"/>
                </a:solidFill>
                <a:latin typeface="Consolas" panose="020B0609020204030204" pitchFamily="49" charset="0"/>
              </a:rPr>
              <a:t>0.0</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parent</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start</a:t>
            </a:r>
            <a:r>
              <a:rPr lang="pl-PL" sz="1100" dirty="0">
                <a:solidFill>
                  <a:srgbClr val="CCCCCC"/>
                </a:solidFill>
                <a:latin typeface="Consolas" panose="020B0609020204030204" pitchFamily="49" charset="0"/>
              </a:rPr>
              <a:t>: </a:t>
            </a:r>
            <a:r>
              <a:rPr lang="pl-PL" sz="1100" dirty="0" err="1">
                <a:solidFill>
                  <a:srgbClr val="4FC1FF"/>
                </a:solidFill>
                <a:latin typeface="Consolas" panose="020B0609020204030204" pitchFamily="49" charset="0"/>
              </a:rPr>
              <a:t>None</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pq</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h</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9CDCFE"/>
                </a:solidFill>
                <a:latin typeface="Consolas" panose="020B0609020204030204" pitchFamily="49" charset="0"/>
              </a:rPr>
              <a:t>start</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start</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C586C0"/>
                </a:solidFill>
                <a:latin typeface="Consolas" panose="020B0609020204030204" pitchFamily="49" charset="0"/>
              </a:rPr>
              <a:t>while</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pq</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_</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u</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heapq</a:t>
            </a:r>
            <a:r>
              <a:rPr lang="pl-PL" sz="1100" dirty="0" err="1">
                <a:solidFill>
                  <a:srgbClr val="CCCCCC"/>
                </a:solidFill>
                <a:latin typeface="Consolas" panose="020B0609020204030204" pitchFamily="49" charset="0"/>
              </a:rPr>
              <a:t>.</a:t>
            </a:r>
            <a:r>
              <a:rPr lang="pl-PL" sz="1100" dirty="0" err="1">
                <a:solidFill>
                  <a:srgbClr val="DCDCAA"/>
                </a:solidFill>
                <a:latin typeface="Consolas" panose="020B0609020204030204" pitchFamily="49" charset="0"/>
              </a:rPr>
              <a:t>heappop</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pq</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C586C0"/>
                </a:solidFill>
                <a:latin typeface="Consolas" panose="020B0609020204030204" pitchFamily="49" charset="0"/>
              </a:rPr>
              <a:t>if</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u</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goal</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path</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node</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 </a:t>
            </a:r>
            <a:r>
              <a:rPr lang="pl-PL" sz="1100" dirty="0">
                <a:solidFill>
                  <a:srgbClr val="9CDCFE"/>
                </a:solidFill>
                <a:latin typeface="Consolas" panose="020B0609020204030204" pitchFamily="49" charset="0"/>
              </a:rPr>
              <a:t>u</a:t>
            </a:r>
            <a:endParaRPr lang="pl-PL" sz="1100" dirty="0">
              <a:solidFill>
                <a:srgbClr val="CCCCCC"/>
              </a:solidFill>
              <a:latin typeface="Consolas" panose="020B0609020204030204" pitchFamily="49" charset="0"/>
            </a:endParaRPr>
          </a:p>
          <a:p>
            <a:pPr>
              <a:lnSpc>
                <a:spcPts val="1200"/>
              </a:lnSpc>
            </a:pPr>
            <a:r>
              <a:rPr lang="pl-PL" sz="1100" dirty="0">
                <a:solidFill>
                  <a:srgbClr val="CCCCCC"/>
                </a:solidFill>
                <a:latin typeface="Consolas" panose="020B0609020204030204" pitchFamily="49" charset="0"/>
              </a:rPr>
              <a:t>            </a:t>
            </a:r>
            <a:r>
              <a:rPr lang="pl-PL" sz="1100" dirty="0" err="1">
                <a:solidFill>
                  <a:srgbClr val="C586C0"/>
                </a:solidFill>
                <a:latin typeface="Consolas" panose="020B0609020204030204" pitchFamily="49" charset="0"/>
              </a:rPr>
              <a:t>while</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node</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path</a:t>
            </a:r>
            <a:r>
              <a:rPr lang="pl-PL" sz="1100" dirty="0" err="1">
                <a:solidFill>
                  <a:srgbClr val="CCCCCC"/>
                </a:solidFill>
                <a:latin typeface="Consolas" panose="020B0609020204030204" pitchFamily="49" charset="0"/>
              </a:rPr>
              <a:t>.</a:t>
            </a:r>
            <a:r>
              <a:rPr lang="pl-PL" sz="1100" dirty="0" err="1">
                <a:solidFill>
                  <a:srgbClr val="DCDCAA"/>
                </a:solidFill>
                <a:latin typeface="Consolas" panose="020B0609020204030204" pitchFamily="49" charset="0"/>
              </a:rPr>
              <a:t>append</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node</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node</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parent</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node</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C586C0"/>
                </a:solidFill>
                <a:latin typeface="Consolas" panose="020B0609020204030204" pitchFamily="49" charset="0"/>
              </a:rPr>
              <a:t>return</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path</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C586C0"/>
                </a:solidFill>
                <a:latin typeface="Consolas" panose="020B0609020204030204" pitchFamily="49" charset="0"/>
              </a:rPr>
              <a:t>for</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dr</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dc</a:t>
            </a:r>
            <a:r>
              <a:rPr lang="pl-PL" sz="1100" dirty="0">
                <a:solidFill>
                  <a:srgbClr val="CCCCCC"/>
                </a:solidFill>
                <a:latin typeface="Consolas" panose="020B0609020204030204" pitchFamily="49" charset="0"/>
              </a:rPr>
              <a:t> </a:t>
            </a:r>
            <a:r>
              <a:rPr lang="pl-PL" sz="1100" dirty="0">
                <a:solidFill>
                  <a:srgbClr val="C586C0"/>
                </a:solidFill>
                <a:latin typeface="Consolas" panose="020B0609020204030204" pitchFamily="49" charset="0"/>
              </a:rPr>
              <a:t>in</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u</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9CDCFE"/>
                </a:solidFill>
                <a:latin typeface="Consolas" panose="020B0609020204030204" pitchFamily="49" charset="0"/>
              </a:rPr>
              <a:t>dr</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u</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9CDCFE"/>
                </a:solidFill>
                <a:latin typeface="Consolas" panose="020B0609020204030204" pitchFamily="49" charset="0"/>
              </a:rPr>
              <a:t>dc</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C586C0"/>
                </a:solidFill>
                <a:latin typeface="Consolas" panose="020B0609020204030204" pitchFamily="49" charset="0"/>
              </a:rPr>
              <a:t>if</a:t>
            </a:r>
            <a:r>
              <a:rPr lang="pl-PL" sz="1100" dirty="0">
                <a:solidFill>
                  <a:srgbClr val="CCCCCC"/>
                </a:solidFill>
                <a:latin typeface="Consolas" panose="020B0609020204030204" pitchFamily="49" charset="0"/>
              </a:rPr>
              <a:t> </a:t>
            </a:r>
            <a:r>
              <a:rPr lang="pl-PL" sz="1100" dirty="0">
                <a:solidFill>
                  <a:srgbClr val="B5CEA8"/>
                </a:solidFill>
                <a:latin typeface="Consolas" panose="020B0609020204030204" pitchFamily="49" charset="0"/>
              </a:rPr>
              <a:t>0</a:t>
            </a:r>
            <a:r>
              <a:rPr lang="pl-PL" sz="1100" dirty="0">
                <a:solidFill>
                  <a:srgbClr val="D4D4D4"/>
                </a:solidFill>
                <a:latin typeface="Consolas" panose="020B0609020204030204" pitchFamily="49" charset="0"/>
              </a:rPr>
              <a:t>&lt;=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&lt;</a:t>
            </a:r>
            <a:r>
              <a:rPr lang="pl-PL" sz="1100" dirty="0" err="1">
                <a:solidFill>
                  <a:srgbClr val="9CDCFE"/>
                </a:solidFill>
                <a:latin typeface="Consolas" panose="020B0609020204030204" pitchFamily="49" charset="0"/>
              </a:rPr>
              <a:t>rows</a:t>
            </a:r>
            <a:r>
              <a:rPr lang="pl-PL" sz="1100" dirty="0">
                <a:solidFill>
                  <a:srgbClr val="CCCCCC"/>
                </a:solidFill>
                <a:latin typeface="Consolas" panose="020B0609020204030204" pitchFamily="49" charset="0"/>
              </a:rPr>
              <a:t> </a:t>
            </a:r>
            <a:r>
              <a:rPr lang="pl-PL" sz="1100" dirty="0">
                <a:solidFill>
                  <a:srgbClr val="569CD6"/>
                </a:solidFill>
                <a:latin typeface="Consolas" panose="020B0609020204030204" pitchFamily="49" charset="0"/>
              </a:rPr>
              <a:t>and</a:t>
            </a:r>
            <a:r>
              <a:rPr lang="pl-PL" sz="1100" dirty="0">
                <a:solidFill>
                  <a:srgbClr val="CCCCCC"/>
                </a:solidFill>
                <a:latin typeface="Consolas" panose="020B0609020204030204" pitchFamily="49" charset="0"/>
              </a:rPr>
              <a:t> </a:t>
            </a:r>
            <a:r>
              <a:rPr lang="pl-PL" sz="1100" dirty="0">
                <a:solidFill>
                  <a:srgbClr val="B5CEA8"/>
                </a:solidFill>
                <a:latin typeface="Consolas" panose="020B0609020204030204" pitchFamily="49" charset="0"/>
              </a:rPr>
              <a:t>0</a:t>
            </a:r>
            <a:r>
              <a:rPr lang="pl-PL" sz="1100" dirty="0">
                <a:solidFill>
                  <a:srgbClr val="D4D4D4"/>
                </a:solidFill>
                <a:latin typeface="Consolas" panose="020B0609020204030204" pitchFamily="49" charset="0"/>
              </a:rPr>
              <a:t>&lt;=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&lt;</a:t>
            </a:r>
            <a:r>
              <a:rPr lang="pl-PL" sz="1100" dirty="0" err="1">
                <a:solidFill>
                  <a:srgbClr val="9CDCFE"/>
                </a:solidFill>
                <a:latin typeface="Consolas" panose="020B0609020204030204" pitchFamily="49" charset="0"/>
              </a:rPr>
              <a:t>cols</a:t>
            </a:r>
            <a:r>
              <a:rPr lang="pl-PL" sz="1100" dirty="0">
                <a:solidFill>
                  <a:srgbClr val="CCCCCC"/>
                </a:solidFill>
                <a:latin typeface="Consolas" panose="020B0609020204030204" pitchFamily="49" charset="0"/>
              </a:rPr>
              <a:t> </a:t>
            </a:r>
            <a:r>
              <a:rPr lang="pl-PL" sz="1100" dirty="0">
                <a:solidFill>
                  <a:srgbClr val="569CD6"/>
                </a:solidFill>
                <a:latin typeface="Consolas" panose="020B0609020204030204" pitchFamily="49" charset="0"/>
              </a:rPr>
              <a:t>and</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grid</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0</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step</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np</a:t>
            </a:r>
            <a:r>
              <a:rPr lang="pl-PL" sz="1100" dirty="0" err="1">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hypot</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dr</a:t>
            </a:r>
            <a:r>
              <a:rPr lang="pl-PL" sz="1100" dirty="0" err="1">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dc</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B5CEA8"/>
                </a:solidFill>
                <a:latin typeface="Consolas" panose="020B0609020204030204" pitchFamily="49" charset="0"/>
              </a:rPr>
              <a:t>1</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cost_map</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B5CEA8"/>
                </a:solidFill>
                <a:latin typeface="Consolas" panose="020B0609020204030204" pitchFamily="49" charset="0"/>
              </a:rPr>
              <a:t>50.0</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err="1">
                <a:solidFill>
                  <a:srgbClr val="C586C0"/>
                </a:solidFill>
                <a:latin typeface="Consolas" panose="020B0609020204030204" pitchFamily="49" charset="0"/>
              </a:rPr>
              <a:t>if</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ng</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a:t>
            </a: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g</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u</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9CDCFE"/>
                </a:solidFill>
                <a:latin typeface="Consolas" panose="020B0609020204030204" pitchFamily="49" charset="0"/>
              </a:rPr>
              <a:t>step</a:t>
            </a:r>
            <a:r>
              <a:rPr lang="pl-PL" sz="1100" dirty="0">
                <a:solidFill>
                  <a:srgbClr val="CCCCCC"/>
                </a:solidFill>
                <a:latin typeface="Consolas" panose="020B0609020204030204" pitchFamily="49" charset="0"/>
              </a:rPr>
              <a:t>) </a:t>
            </a:r>
            <a:r>
              <a:rPr lang="pl-PL" sz="1100" dirty="0">
                <a:solidFill>
                  <a:srgbClr val="D4D4D4"/>
                </a:solidFill>
                <a:latin typeface="Consolas" panose="020B0609020204030204" pitchFamily="49" charset="0"/>
              </a:rPr>
              <a:t>&lt;</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g</a:t>
            </a:r>
            <a:r>
              <a:rPr lang="pl-PL" sz="1100" dirty="0" err="1">
                <a:solidFill>
                  <a:srgbClr val="CCCCCC"/>
                </a:solidFill>
                <a:latin typeface="Consolas" panose="020B0609020204030204" pitchFamily="49" charset="0"/>
              </a:rPr>
              <a:t>.</a:t>
            </a:r>
            <a:r>
              <a:rPr lang="pl-PL" sz="1100" dirty="0" err="1">
                <a:solidFill>
                  <a:srgbClr val="DCDCAA"/>
                </a:solidFill>
                <a:latin typeface="Consolas" panose="020B0609020204030204" pitchFamily="49" charset="0"/>
              </a:rPr>
              <a:t>get</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B5CEA8"/>
                </a:solidFill>
                <a:latin typeface="Consolas" panose="020B0609020204030204" pitchFamily="49" charset="0"/>
              </a:rPr>
              <a:t>1e9</a:t>
            </a:r>
            <a:r>
              <a:rPr lang="pl-PL" sz="1100" dirty="0">
                <a:solidFill>
                  <a:srgbClr val="CCCCCC"/>
                </a:solidFill>
                <a:latin typeface="Consolas" panose="020B0609020204030204" pitchFamily="49" charset="0"/>
              </a:rPr>
              <a:t>):</a:t>
            </a:r>
          </a:p>
          <a:p>
            <a:pPr>
              <a:lnSpc>
                <a:spcPts val="1200"/>
              </a:lnSpc>
            </a:pPr>
            <a:r>
              <a:rPr lang="pl-PL" sz="1100" dirty="0">
                <a:solidFill>
                  <a:srgbClr val="CCCCCC"/>
                </a:solidFill>
                <a:latin typeface="Consolas" panose="020B0609020204030204" pitchFamily="49" charset="0"/>
              </a:rPr>
              <a:t>                    </a:t>
            </a:r>
            <a:r>
              <a:rPr lang="pl-PL" sz="1100" dirty="0">
                <a:solidFill>
                  <a:srgbClr val="9CDCFE"/>
                </a:solidFill>
                <a:latin typeface="Consolas" panose="020B0609020204030204" pitchFamily="49" charset="0"/>
              </a:rPr>
              <a:t>g</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err="1">
                <a:solidFill>
                  <a:srgbClr val="9CDCFE"/>
                </a:solidFill>
                <a:latin typeface="Consolas" panose="020B0609020204030204" pitchFamily="49" charset="0"/>
              </a:rPr>
              <a:t>ng</a:t>
            </a:r>
            <a:r>
              <a:rPr lang="pl-PL" sz="1100" dirty="0">
                <a:solidFill>
                  <a:srgbClr val="CCCCCC"/>
                </a:solidFill>
                <a:latin typeface="Consolas" panose="020B0609020204030204" pitchFamily="49" charset="0"/>
              </a:rPr>
              <a:t>; </a:t>
            </a:r>
            <a:r>
              <a:rPr lang="pl-PL" sz="1100" dirty="0" err="1">
                <a:solidFill>
                  <a:srgbClr val="9CDCFE"/>
                </a:solidFill>
                <a:latin typeface="Consolas" panose="020B0609020204030204" pitchFamily="49" charset="0"/>
              </a:rPr>
              <a:t>parent</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9CDCFE"/>
                </a:solidFill>
                <a:latin typeface="Consolas" panose="020B0609020204030204" pitchFamily="49" charset="0"/>
              </a:rPr>
              <a:t>u</a:t>
            </a:r>
            <a:endParaRPr lang="pl-PL" sz="1100" dirty="0">
              <a:solidFill>
                <a:srgbClr val="CCCCCC"/>
              </a:solidFill>
              <a:latin typeface="Consolas" panose="020B0609020204030204" pitchFamily="49" charset="0"/>
            </a:endParaRPr>
          </a:p>
          <a:p>
            <a:pPr>
              <a:lnSpc>
                <a:spcPts val="1200"/>
              </a:lnSpc>
            </a:pPr>
            <a:r>
              <a:rPr lang="pl-PL" sz="1100" dirty="0">
                <a:solidFill>
                  <a:srgbClr val="CCCCCC"/>
                </a:solidFill>
                <a:latin typeface="Consolas" panose="020B0609020204030204" pitchFamily="49" charset="0"/>
              </a:rPr>
              <a:t>                    </a:t>
            </a:r>
            <a:r>
              <a:rPr lang="pl-PL" sz="1100" dirty="0" err="1">
                <a:solidFill>
                  <a:srgbClr val="4EC9B0"/>
                </a:solidFill>
                <a:latin typeface="Consolas" panose="020B0609020204030204" pitchFamily="49" charset="0"/>
              </a:rPr>
              <a:t>heapq</a:t>
            </a:r>
            <a:r>
              <a:rPr lang="pl-PL" sz="1100" dirty="0" err="1">
                <a:solidFill>
                  <a:srgbClr val="CCCCCC"/>
                </a:solidFill>
                <a:latin typeface="Consolas" panose="020B0609020204030204" pitchFamily="49" charset="0"/>
              </a:rPr>
              <a:t>.</a:t>
            </a:r>
            <a:r>
              <a:rPr lang="pl-PL" sz="1100" dirty="0" err="1">
                <a:solidFill>
                  <a:srgbClr val="DCDCAA"/>
                </a:solidFill>
                <a:latin typeface="Consolas" panose="020B0609020204030204" pitchFamily="49" charset="0"/>
              </a:rPr>
              <a:t>heappush</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pq</a:t>
            </a:r>
            <a:r>
              <a:rPr lang="pl-PL" sz="1100" dirty="0">
                <a:solidFill>
                  <a:srgbClr val="CCCCCC"/>
                </a:solidFill>
                <a:latin typeface="Consolas" panose="020B0609020204030204" pitchFamily="49" charset="0"/>
              </a:rPr>
              <a:t>,(</a:t>
            </a:r>
            <a:r>
              <a:rPr lang="pl-PL" sz="1100" dirty="0" err="1">
                <a:solidFill>
                  <a:srgbClr val="9CDCFE"/>
                </a:solidFill>
                <a:latin typeface="Consolas" panose="020B0609020204030204" pitchFamily="49" charset="0"/>
              </a:rPr>
              <a:t>ng</a:t>
            </a:r>
            <a:r>
              <a:rPr lang="pl-PL" sz="1100" dirty="0" err="1">
                <a:solidFill>
                  <a:srgbClr val="D4D4D4"/>
                </a:solidFill>
                <a:latin typeface="Consolas" panose="020B0609020204030204" pitchFamily="49" charset="0"/>
              </a:rPr>
              <a:t>+</a:t>
            </a:r>
            <a:r>
              <a:rPr lang="pl-PL" sz="1100" dirty="0" err="1">
                <a:solidFill>
                  <a:srgbClr val="9CDCFE"/>
                </a:solidFill>
                <a:latin typeface="Consolas" panose="020B0609020204030204" pitchFamily="49" charset="0"/>
              </a:rPr>
              <a:t>h</a:t>
            </a:r>
            <a:r>
              <a:rPr lang="pl-PL" sz="1100" dirty="0">
                <a:solidFill>
                  <a:srgbClr val="CCCCCC"/>
                </a:solidFill>
                <a:latin typeface="Consolas" panose="020B0609020204030204" pitchFamily="49" charset="0"/>
              </a:rPr>
              <a:t>(</a:t>
            </a:r>
            <a:r>
              <a:rPr lang="pl-PL" sz="1100" dirty="0">
                <a:solidFill>
                  <a:srgbClr val="D4D4D4"/>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a:solidFill>
                  <a:srgbClr val="CCCCCC"/>
                </a:solidFill>
                <a:latin typeface="Consolas" panose="020B0609020204030204" pitchFamily="49" charset="0"/>
              </a:rPr>
              <a:t>),</a:t>
            </a:r>
            <a:r>
              <a:rPr lang="pl-PL" sz="1100" dirty="0">
                <a:solidFill>
                  <a:srgbClr val="9CDCFE"/>
                </a:solidFill>
                <a:latin typeface="Consolas" panose="020B0609020204030204" pitchFamily="49" charset="0"/>
              </a:rPr>
              <a:t>v</a:t>
            </a:r>
            <a:r>
              <a:rPr lang="pl-PL" sz="1100" dirty="0" smtClean="0">
                <a:solidFill>
                  <a:srgbClr val="CCCCCC"/>
                </a:solidFill>
                <a:latin typeface="Consolas" panose="020B0609020204030204" pitchFamily="49" charset="0"/>
              </a:rPr>
              <a:t>))</a:t>
            </a:r>
            <a:endParaRPr lang="pl-PL" sz="1100" b="0" dirty="0">
              <a:solidFill>
                <a:srgbClr val="CCCCCC"/>
              </a:solidFill>
              <a:effectLst/>
              <a:latin typeface="Consolas" panose="020B0609020204030204" pitchFamily="49" charset="0"/>
            </a:endParaRPr>
          </a:p>
        </p:txBody>
      </p:sp>
      <p:sp>
        <p:nvSpPr>
          <p:cNvPr id="11" name="Shape 9"/>
          <p:cNvSpPr/>
          <p:nvPr/>
        </p:nvSpPr>
        <p:spPr>
          <a:xfrm>
            <a:off x="274320" y="4586868"/>
            <a:ext cx="8595360" cy="350892"/>
          </a:xfrm>
          <a:prstGeom prst="rect">
            <a:avLst/>
          </a:prstGeom>
          <a:solidFill>
            <a:srgbClr val="1A3550"/>
          </a:solidFill>
          <a:ln w="12700">
            <a:solidFill>
              <a:srgbClr val="0077A8"/>
            </a:solidFill>
            <a:prstDash val="solid"/>
          </a:ln>
        </p:spPr>
      </p:sp>
      <p:sp>
        <p:nvSpPr>
          <p:cNvPr id="12" name="Text 10"/>
          <p:cNvSpPr/>
          <p:nvPr/>
        </p:nvSpPr>
        <p:spPr>
          <a:xfrm>
            <a:off x="358252" y="4586868"/>
            <a:ext cx="8419988" cy="350892"/>
          </a:xfrm>
          <a:prstGeom prst="rect">
            <a:avLst/>
          </a:prstGeom>
          <a:noFill/>
          <a:ln/>
        </p:spPr>
        <p:txBody>
          <a:bodyPr wrap="square" lIns="0" tIns="0" rIns="127000" bIns="0" rtlCol="0" anchor="ctr"/>
          <a:lstStyle/>
          <a:p>
            <a:pPr marL="0" indent="0" algn="ctr">
              <a:buNone/>
            </a:pPr>
            <a:r>
              <a:rPr lang="en-US" sz="1600" b="1" spc="-60" dirty="0">
                <a:solidFill>
                  <a:srgbClr val="00B4D8"/>
                </a:solidFill>
                <a:latin typeface="Calibri" pitchFamily="34" charset="0"/>
                <a:ea typeface="Calibri" pitchFamily="34" charset="-122"/>
                <a:cs typeface="Calibri" pitchFamily="34" charset="-120"/>
              </a:rPr>
              <a:t>Opis: </a:t>
            </a:r>
            <a:r>
              <a:rPr lang="en-US" sz="1600" spc="-60" dirty="0">
                <a:solidFill>
                  <a:srgbClr val="E2EBF3"/>
                </a:solidFill>
                <a:latin typeface="Calibri" pitchFamily="34" charset="0"/>
                <a:ea typeface="Calibri" pitchFamily="34" charset="-122"/>
                <a:cs typeface="Calibri" pitchFamily="34" charset="-120"/>
              </a:rPr>
              <a:t>8-kierunkowe sąsiedztwo; koszt przejścia = odległość * (1 + wartość_kosztu/50); ruch po </a:t>
            </a:r>
            <a:r>
              <a:rPr lang="en-US" sz="1600" spc="-60" dirty="0" err="1">
                <a:solidFill>
                  <a:srgbClr val="E2EBF3"/>
                </a:solidFill>
                <a:latin typeface="Calibri" pitchFamily="34" charset="0"/>
                <a:ea typeface="Calibri" pitchFamily="34" charset="-122"/>
                <a:cs typeface="Calibri" pitchFamily="34" charset="-120"/>
              </a:rPr>
              <a:t>skosie</a:t>
            </a:r>
            <a:r>
              <a:rPr lang="en-US" sz="1600" spc="-60" dirty="0">
                <a:solidFill>
                  <a:srgbClr val="E2EBF3"/>
                </a:solidFill>
                <a:latin typeface="Calibri" pitchFamily="34" charset="0"/>
                <a:ea typeface="Calibri" pitchFamily="34" charset="-122"/>
                <a:cs typeface="Calibri" pitchFamily="34" charset="-120"/>
              </a:rPr>
              <a:t> </a:t>
            </a:r>
            <a:r>
              <a:rPr lang="en-US" sz="1600" spc="-60" dirty="0" err="1" smtClean="0">
                <a:solidFill>
                  <a:srgbClr val="E2EBF3"/>
                </a:solidFill>
                <a:latin typeface="Calibri" pitchFamily="34" charset="0"/>
                <a:ea typeface="Calibri" pitchFamily="34" charset="-122"/>
                <a:cs typeface="Calibri" pitchFamily="34" charset="-120"/>
              </a:rPr>
              <a:t>droższy</a:t>
            </a:r>
            <a:endParaRPr lang="en-US" sz="1600" spc="-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1 | WYGŁADZANIE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Wygładzanie ścieżki globalnej</a:t>
            </a:r>
            <a:endParaRPr lang="en-US" sz="2400" dirty="0"/>
          </a:p>
        </p:txBody>
      </p:sp>
      <p:sp>
        <p:nvSpPr>
          <p:cNvPr id="6" name="Shape 4"/>
          <p:cNvSpPr/>
          <p:nvPr/>
        </p:nvSpPr>
        <p:spPr>
          <a:xfrm>
            <a:off x="274320" y="1097280"/>
            <a:ext cx="8595360" cy="255359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42892" y="1158984"/>
            <a:ext cx="8404419" cy="2290815"/>
          </a:xfrm>
          <a:prstGeom prst="rect">
            <a:avLst/>
          </a:prstGeom>
          <a:noFill/>
          <a:ln/>
        </p:spPr>
        <p:txBody>
          <a:bodyPr wrap="square" lIns="127000" tIns="36000" rIns="127000" bIns="0" rtlCol="0" anchor="t">
            <a:spAutoFit/>
          </a:bodyPr>
          <a:lstStyle/>
          <a:p>
            <a:pPr marL="180000" indent="-180000">
              <a:spcAft>
                <a:spcPts val="900"/>
              </a:spcAft>
              <a:buSzPct val="100000"/>
              <a:buChar char="•"/>
            </a:pPr>
            <a:r>
              <a:rPr lang="en-US" sz="1450" dirty="0">
                <a:solidFill>
                  <a:srgbClr val="0D1B2A"/>
                </a:solidFill>
                <a:latin typeface="Calibri" pitchFamily="34" charset="0"/>
                <a:ea typeface="Calibri" pitchFamily="34" charset="-122"/>
                <a:cs typeface="Calibri" pitchFamily="34" charset="-120"/>
              </a:rPr>
              <a:t>A* na siatce zwraca ścieżkę z ostrymi załamaniami przy każdej zmianie kierunku</a:t>
            </a:r>
            <a:endParaRPr lang="en-US" sz="1450" dirty="0"/>
          </a:p>
          <a:p>
            <a:pPr marL="180000" indent="-1800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Wygładzanie</a:t>
            </a:r>
            <a:r>
              <a:rPr lang="en-US" sz="1450" dirty="0">
                <a:solidFill>
                  <a:srgbClr val="0D1B2A"/>
                </a:solidFill>
                <a:latin typeface="Calibri" pitchFamily="34" charset="0"/>
                <a:ea typeface="Calibri" pitchFamily="34" charset="-122"/>
                <a:cs typeface="Calibri" pitchFamily="34" charset="-120"/>
              </a:rPr>
              <a:t>: konieczne przed przekazaniem ścieżki do generatora kroków lub MPC</a:t>
            </a:r>
            <a:endParaRPr lang="en-US" sz="1450" dirty="0"/>
          </a:p>
          <a:p>
            <a:pPr marL="180000" indent="-180000">
              <a:spcAft>
                <a:spcPts val="900"/>
              </a:spcAft>
              <a:buSzPct val="100000"/>
              <a:buChar char="•"/>
            </a:pPr>
            <a:r>
              <a:rPr lang="en-US" sz="1450" b="1" spc="-40" dirty="0" err="1">
                <a:solidFill>
                  <a:srgbClr val="0D1B2A"/>
                </a:solidFill>
                <a:latin typeface="Calibri" pitchFamily="34" charset="0"/>
                <a:ea typeface="Calibri" pitchFamily="34" charset="-122"/>
                <a:cs typeface="Calibri" pitchFamily="34" charset="-120"/>
              </a:rPr>
              <a:t>Metoda</a:t>
            </a:r>
            <a:r>
              <a:rPr lang="en-US" sz="1450" b="1" spc="-40" dirty="0">
                <a:solidFill>
                  <a:srgbClr val="0D1B2A"/>
                </a:solidFill>
                <a:latin typeface="Calibri" pitchFamily="34" charset="0"/>
                <a:ea typeface="Calibri" pitchFamily="34" charset="-122"/>
                <a:cs typeface="Calibri" pitchFamily="34" charset="-120"/>
              </a:rPr>
              <a:t> </a:t>
            </a:r>
            <a:r>
              <a:rPr lang="en-US" sz="1450" b="1" spc="-40" dirty="0" smtClean="0">
                <a:solidFill>
                  <a:srgbClr val="0D1B2A"/>
                </a:solidFill>
                <a:latin typeface="Calibri" pitchFamily="34" charset="0"/>
                <a:ea typeface="Calibri" pitchFamily="34" charset="-122"/>
                <a:cs typeface="Calibri" pitchFamily="34" charset="-120"/>
              </a:rPr>
              <a:t>1</a:t>
            </a:r>
            <a:r>
              <a:rPr lang="pl-PL" sz="1450" b="1" spc="-40" dirty="0">
                <a:solidFill>
                  <a:srgbClr val="0D1B2A"/>
                </a:solidFill>
                <a:latin typeface="Calibri" pitchFamily="34" charset="0"/>
                <a:ea typeface="Calibri" pitchFamily="34" charset="-122"/>
                <a:cs typeface="Calibri" pitchFamily="34" charset="-120"/>
              </a:rPr>
              <a:t>,</a:t>
            </a:r>
            <a:r>
              <a:rPr lang="en-US" sz="1450" spc="-40" dirty="0" smtClean="0">
                <a:solidFill>
                  <a:srgbClr val="0D1B2A"/>
                </a:solidFill>
                <a:latin typeface="Calibri" pitchFamily="34" charset="0"/>
                <a:ea typeface="Calibri" pitchFamily="34" charset="-122"/>
                <a:cs typeface="Calibri" pitchFamily="34" charset="-120"/>
              </a:rPr>
              <a:t> </a:t>
            </a:r>
            <a:r>
              <a:rPr lang="en-US" sz="1450" b="1" spc="-40" dirty="0">
                <a:solidFill>
                  <a:srgbClr val="0D1B2A"/>
                </a:solidFill>
                <a:latin typeface="Calibri" pitchFamily="34" charset="0"/>
                <a:ea typeface="Calibri" pitchFamily="34" charset="-122"/>
                <a:cs typeface="Calibri" pitchFamily="34" charset="-120"/>
              </a:rPr>
              <a:t>interpolacja B-spline</a:t>
            </a:r>
            <a:r>
              <a:rPr lang="en-US" sz="1450" spc="-40" dirty="0">
                <a:solidFill>
                  <a:srgbClr val="0D1B2A"/>
                </a:solidFill>
                <a:latin typeface="Calibri" pitchFamily="34" charset="0"/>
                <a:ea typeface="Calibri" pitchFamily="34" charset="-122"/>
                <a:cs typeface="Calibri" pitchFamily="34" charset="-120"/>
              </a:rPr>
              <a:t>: krzywa przechodzi blisko punktów kontrolnych, zachowuje ciągłość krzywizny</a:t>
            </a:r>
            <a:endParaRPr lang="en-US" sz="1450" spc="-40" dirty="0"/>
          </a:p>
          <a:p>
            <a:pPr marL="180000" indent="-180000">
              <a:spcAft>
                <a:spcPts val="900"/>
              </a:spcAft>
              <a:buSzPct val="100000"/>
              <a:buChar char="•"/>
            </a:pPr>
            <a:r>
              <a:rPr lang="en-US" sz="1450" b="1" spc="-40" dirty="0" err="1">
                <a:solidFill>
                  <a:srgbClr val="0D1B2A"/>
                </a:solidFill>
                <a:latin typeface="Calibri" pitchFamily="34" charset="0"/>
                <a:ea typeface="Calibri" pitchFamily="34" charset="-122"/>
                <a:cs typeface="Calibri" pitchFamily="34" charset="-120"/>
              </a:rPr>
              <a:t>Metoda</a:t>
            </a:r>
            <a:r>
              <a:rPr lang="en-US" sz="1450" b="1" spc="-40" dirty="0">
                <a:solidFill>
                  <a:srgbClr val="0D1B2A"/>
                </a:solidFill>
                <a:latin typeface="Calibri" pitchFamily="34" charset="0"/>
                <a:ea typeface="Calibri" pitchFamily="34" charset="-122"/>
                <a:cs typeface="Calibri" pitchFamily="34" charset="-120"/>
              </a:rPr>
              <a:t> </a:t>
            </a:r>
            <a:r>
              <a:rPr lang="en-US" sz="1450" b="1" spc="-40" dirty="0" smtClean="0">
                <a:solidFill>
                  <a:srgbClr val="0D1B2A"/>
                </a:solidFill>
                <a:latin typeface="Calibri" pitchFamily="34" charset="0"/>
                <a:ea typeface="Calibri" pitchFamily="34" charset="-122"/>
                <a:cs typeface="Calibri" pitchFamily="34" charset="-120"/>
              </a:rPr>
              <a:t>2</a:t>
            </a:r>
            <a:r>
              <a:rPr lang="pl-PL" sz="1450" b="1" spc="-40" dirty="0" smtClean="0">
                <a:solidFill>
                  <a:srgbClr val="0D1B2A"/>
                </a:solidFill>
                <a:latin typeface="Calibri" pitchFamily="34" charset="0"/>
                <a:ea typeface="Calibri" pitchFamily="34" charset="-122"/>
                <a:cs typeface="Calibri" pitchFamily="34" charset="-120"/>
              </a:rPr>
              <a:t>,</a:t>
            </a:r>
            <a:r>
              <a:rPr lang="en-US" sz="1450" spc="-40" dirty="0" smtClean="0">
                <a:solidFill>
                  <a:srgbClr val="0D1B2A"/>
                </a:solidFill>
                <a:latin typeface="Calibri" pitchFamily="34" charset="0"/>
                <a:ea typeface="Calibri" pitchFamily="34" charset="-122"/>
                <a:cs typeface="Calibri" pitchFamily="34" charset="-120"/>
              </a:rPr>
              <a:t> </a:t>
            </a:r>
            <a:r>
              <a:rPr lang="en-US" sz="1450" b="1" spc="-40" dirty="0" err="1" smtClean="0">
                <a:solidFill>
                  <a:srgbClr val="0D1B2A"/>
                </a:solidFill>
                <a:latin typeface="Calibri" pitchFamily="34" charset="0"/>
                <a:ea typeface="Calibri" pitchFamily="34" charset="-122"/>
                <a:cs typeface="Calibri" pitchFamily="34" charset="-120"/>
              </a:rPr>
              <a:t>skr</a:t>
            </a:r>
            <a:r>
              <a:rPr lang="pl-PL" sz="1450" b="1" spc="-40" dirty="0" smtClean="0">
                <a:solidFill>
                  <a:srgbClr val="0D1B2A"/>
                </a:solidFill>
                <a:latin typeface="Calibri" pitchFamily="34" charset="0"/>
                <a:ea typeface="Calibri" pitchFamily="34" charset="-122"/>
                <a:cs typeface="Calibri" pitchFamily="34" charset="-120"/>
              </a:rPr>
              <a:t>acanie</a:t>
            </a:r>
            <a:r>
              <a:rPr lang="en-US" sz="1450" b="1" spc="-40" dirty="0" smtClean="0">
                <a:solidFill>
                  <a:srgbClr val="0D1B2A"/>
                </a:solidFill>
                <a:latin typeface="Calibri" pitchFamily="34" charset="0"/>
                <a:ea typeface="Calibri" pitchFamily="34" charset="-122"/>
                <a:cs typeface="Calibri" pitchFamily="34" charset="-120"/>
              </a:rPr>
              <a:t> </a:t>
            </a:r>
            <a:r>
              <a:rPr lang="en-US" sz="1450" b="1" spc="-40" dirty="0">
                <a:solidFill>
                  <a:srgbClr val="0D1B2A"/>
                </a:solidFill>
                <a:latin typeface="Calibri" pitchFamily="34" charset="0"/>
                <a:ea typeface="Calibri" pitchFamily="34" charset="-122"/>
                <a:cs typeface="Calibri" pitchFamily="34" charset="-120"/>
              </a:rPr>
              <a:t>(shortcutting): </a:t>
            </a:r>
            <a:r>
              <a:rPr lang="en-US" sz="1450" spc="-40" dirty="0">
                <a:solidFill>
                  <a:srgbClr val="0D1B2A"/>
                </a:solidFill>
                <a:latin typeface="Calibri" pitchFamily="34" charset="0"/>
                <a:ea typeface="Calibri" pitchFamily="34" charset="-122"/>
                <a:cs typeface="Calibri" pitchFamily="34" charset="-120"/>
              </a:rPr>
              <a:t>iteracyjne usuwanie pośrednich punktów, jeśli prosta jest wolna od przeszkód</a:t>
            </a:r>
            <a:endParaRPr lang="en-US" sz="1450" spc="-40" dirty="0"/>
          </a:p>
          <a:p>
            <a:pPr marL="180000" indent="-180000">
              <a:spcAft>
                <a:spcPts val="900"/>
              </a:spcAft>
              <a:buSzPct val="100000"/>
              <a:buChar char="•"/>
            </a:pPr>
            <a:r>
              <a:rPr lang="en-US" sz="1450" b="1" dirty="0" err="1">
                <a:solidFill>
                  <a:srgbClr val="0D1B2A"/>
                </a:solidFill>
                <a:latin typeface="Calibri" pitchFamily="34" charset="0"/>
                <a:ea typeface="Calibri" pitchFamily="34" charset="-122"/>
                <a:cs typeface="Calibri" pitchFamily="34" charset="-120"/>
              </a:rPr>
              <a:t>Metoda</a:t>
            </a:r>
            <a:r>
              <a:rPr lang="en-US" sz="1450" b="1" dirty="0">
                <a:solidFill>
                  <a:srgbClr val="0D1B2A"/>
                </a:solidFill>
                <a:latin typeface="Calibri" pitchFamily="34" charset="0"/>
                <a:ea typeface="Calibri" pitchFamily="34" charset="-122"/>
                <a:cs typeface="Calibri" pitchFamily="34" charset="-120"/>
              </a:rPr>
              <a:t> </a:t>
            </a:r>
            <a:r>
              <a:rPr lang="en-US" sz="1450" b="1" dirty="0" smtClean="0">
                <a:solidFill>
                  <a:srgbClr val="0D1B2A"/>
                </a:solidFill>
                <a:latin typeface="Calibri" pitchFamily="34" charset="0"/>
                <a:ea typeface="Calibri" pitchFamily="34" charset="-122"/>
                <a:cs typeface="Calibri" pitchFamily="34" charset="-120"/>
              </a:rPr>
              <a:t>3</a:t>
            </a:r>
            <a:r>
              <a:rPr lang="pl-PL" sz="1450" b="1" dirty="0">
                <a:solidFill>
                  <a:srgbClr val="0D1B2A"/>
                </a:solidFill>
                <a:latin typeface="Calibri" pitchFamily="34" charset="0"/>
                <a:ea typeface="Calibri" pitchFamily="34" charset="-122"/>
                <a:cs typeface="Calibri" pitchFamily="34" charset="-120"/>
              </a:rPr>
              <a:t>,</a:t>
            </a:r>
            <a:r>
              <a:rPr lang="en-US" sz="1450" dirty="0" smtClean="0">
                <a:solidFill>
                  <a:srgbClr val="0D1B2A"/>
                </a:solidFill>
                <a:latin typeface="Calibri" pitchFamily="34" charset="0"/>
                <a:ea typeface="Calibri" pitchFamily="34" charset="-122"/>
                <a:cs typeface="Calibri" pitchFamily="34" charset="-120"/>
              </a:rPr>
              <a:t> </a:t>
            </a:r>
            <a:r>
              <a:rPr lang="en-US" sz="1450" b="1" dirty="0">
                <a:solidFill>
                  <a:srgbClr val="0D1B2A"/>
                </a:solidFill>
                <a:latin typeface="Calibri" pitchFamily="34" charset="0"/>
                <a:ea typeface="Calibri" pitchFamily="34" charset="-122"/>
                <a:cs typeface="Calibri" pitchFamily="34" charset="-120"/>
              </a:rPr>
              <a:t>filtr Gaussa 1D</a:t>
            </a:r>
            <a:r>
              <a:rPr lang="en-US" sz="1450" dirty="0">
                <a:solidFill>
                  <a:srgbClr val="0D1B2A"/>
                </a:solidFill>
                <a:latin typeface="Calibri" pitchFamily="34" charset="0"/>
                <a:ea typeface="Calibri" pitchFamily="34" charset="-122"/>
                <a:cs typeface="Calibri" pitchFamily="34" charset="-120"/>
              </a:rPr>
              <a:t>: ważona średnia po sąsiednich punktach wzdłuż ścieżki</a:t>
            </a:r>
            <a:endParaRPr lang="en-US" sz="1450" dirty="0"/>
          </a:p>
          <a:p>
            <a:pPr marL="180000" indent="-1800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Metryka</a:t>
            </a:r>
            <a:r>
              <a:rPr lang="en-US" sz="1450" dirty="0">
                <a:solidFill>
                  <a:srgbClr val="0D1B2A"/>
                </a:solidFill>
                <a:latin typeface="Calibri" pitchFamily="34" charset="0"/>
                <a:ea typeface="Calibri" pitchFamily="34" charset="-122"/>
                <a:cs typeface="Calibri" pitchFamily="34" charset="-120"/>
              </a:rPr>
              <a:t>: kąt ugięcia &lt; 15° między kolejnymi odcinkami jako warunek akceptacji</a:t>
            </a:r>
            <a:endParaRPr lang="en-US" sz="1450" dirty="0"/>
          </a:p>
          <a:p>
            <a:pPr marL="180000" indent="-1800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Ważne</a:t>
            </a:r>
            <a:r>
              <a:rPr lang="en-US" sz="1450" dirty="0">
                <a:solidFill>
                  <a:srgbClr val="0D1B2A"/>
                </a:solidFill>
                <a:latin typeface="Calibri" pitchFamily="34" charset="0"/>
                <a:ea typeface="Calibri" pitchFamily="34" charset="-122"/>
                <a:cs typeface="Calibri" pitchFamily="34" charset="-120"/>
              </a:rPr>
              <a:t>: wygładzona ścieżka musi pozostawać w wolnej przestrzeni – weryfikacja kolizji po wygładzeniu</a:t>
            </a:r>
            <a:endParaRPr lang="en-US" sz="1450" dirty="0"/>
          </a:p>
        </p:txBody>
      </p:sp>
      <p:sp>
        <p:nvSpPr>
          <p:cNvPr id="8" name="Prostokąt 7"/>
          <p:cNvSpPr/>
          <p:nvPr/>
        </p:nvSpPr>
        <p:spPr>
          <a:xfrm>
            <a:off x="274320" y="3778151"/>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Ścieżka zwrócona przez A* na siatce zwykle składa się z odcinków łamanych i ostrych zakrętów. Taka trajektoria nie nadaje się bezpośrednio do wykonania przez robota humanoidalnego, ponieważ wymagałaby gwałtownych zmian kierunku. Wygładzanie pozwala uzyskać trasę bardziej naturalną dla generatora kroków i kontrolera ruchu. Można użyć interpolacji B-</a:t>
            </a:r>
            <a:r>
              <a:rPr lang="pl-PL" sz="1400" dirty="0" err="1">
                <a:solidFill>
                  <a:schemeClr val="bg1"/>
                </a:solidFill>
              </a:rPr>
              <a:t>spline</a:t>
            </a:r>
            <a:r>
              <a:rPr lang="pl-PL" sz="1400" dirty="0">
                <a:solidFill>
                  <a:schemeClr val="bg1"/>
                </a:solidFill>
              </a:rPr>
              <a:t>, skracania ścieżki lub filtracji. Po każdym wygładzeniu trzeba jednak ponownie sprawdzić kolizje, ponieważ wygładzona krzywa może wejść w obszar zajęty, mimo że oryginalna ścieżka była poprawna.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Wygładzanie </a:t>
            </a:r>
            <a:r>
              <a:rPr lang="pl-PL" sz="2400" b="1" dirty="0" smtClean="0">
                <a:solidFill>
                  <a:srgbClr val="FFFFFF"/>
                </a:solidFill>
                <a:latin typeface="Trebuchet MS" pitchFamily="34" charset="0"/>
                <a:ea typeface="Trebuchet MS" pitchFamily="34" charset="-122"/>
                <a:cs typeface="Trebuchet MS" pitchFamily="34" charset="-120"/>
              </a:rPr>
              <a:t>ścieżki: </a:t>
            </a:r>
            <a:r>
              <a:rPr lang="pl-PL" sz="2400" b="1" dirty="0">
                <a:solidFill>
                  <a:srgbClr val="FFFFFF"/>
                </a:solidFill>
                <a:latin typeface="Trebuchet MS" pitchFamily="34" charset="0"/>
                <a:ea typeface="Trebuchet MS" pitchFamily="34" charset="-122"/>
                <a:cs typeface="Trebuchet MS" pitchFamily="34" charset="-120"/>
              </a:rPr>
              <a:t>interpolacja B-</a:t>
            </a:r>
            <a:r>
              <a:rPr lang="pl-PL" sz="2400" b="1" dirty="0" err="1">
                <a:solidFill>
                  <a:srgbClr val="FFFFFF"/>
                </a:solidFill>
                <a:latin typeface="Trebuchet MS" pitchFamily="34" charset="0"/>
                <a:ea typeface="Trebuchet MS" pitchFamily="34" charset="-122"/>
                <a:cs typeface="Trebuchet MS" pitchFamily="34" charset="-120"/>
              </a:rPr>
              <a:t>spline</a:t>
            </a:r>
            <a:endParaRPr lang="pl-PL" sz="2400" b="1" dirty="0">
              <a:solidFill>
                <a:srgbClr val="FFFFFF"/>
              </a:solidFill>
              <a:latin typeface="Trebuchet MS" pitchFamily="34" charset="0"/>
              <a:ea typeface="Trebuchet MS" pitchFamily="34" charset="-122"/>
              <a:cs typeface="Trebuchet MS" pitchFamily="34" charset="-120"/>
            </a:endParaRP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6497146" cy="3009517"/>
          </a:xfrm>
          <a:prstGeom prst="rect">
            <a:avLst/>
          </a:prstGeom>
          <a:noFill/>
          <a:ln/>
        </p:spPr>
        <p:txBody>
          <a:bodyPr wrap="square" lIns="108000" tIns="0" rIns="36000" bIns="0" numCol="2" rtlCol="0" anchor="t">
            <a:noAutofit/>
          </a:bodyPr>
          <a:lstStyle/>
          <a:p>
            <a:pPr>
              <a:lnSpc>
                <a:spcPts val="1000"/>
              </a:lnSpc>
            </a:pPr>
            <a:r>
              <a:rPr lang="pl-PL" sz="800" spc="-40" dirty="0">
                <a:solidFill>
                  <a:srgbClr val="C586C0"/>
                </a:solidFill>
                <a:latin typeface="Consolas" panose="020B0609020204030204" pitchFamily="49" charset="0"/>
              </a:rPr>
              <a:t>import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numpy</a:t>
            </a: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as</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endParaRPr lang="pl-PL" sz="800" spc="-40" dirty="0">
              <a:solidFill>
                <a:srgbClr val="CCCCCC"/>
              </a:solidFill>
              <a:latin typeface="Consolas" panose="020B0609020204030204" pitchFamily="49" charset="0"/>
            </a:endParaRPr>
          </a:p>
          <a:p>
            <a:pPr>
              <a:lnSpc>
                <a:spcPts val="1000"/>
              </a:lnSpc>
            </a:pPr>
            <a:r>
              <a:rPr lang="pl-PL" sz="800" spc="-40" dirty="0">
                <a:solidFill>
                  <a:srgbClr val="C586C0"/>
                </a:solidFill>
                <a:latin typeface="Consolas" panose="020B0609020204030204" pitchFamily="49" charset="0"/>
              </a:rPr>
              <a:t>from</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scipy</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interpolate</a:t>
            </a: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import</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splprep</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splev</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smooth_path_bspline</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path</a:t>
            </a:r>
            <a:r>
              <a:rPr lang="pl-PL" sz="800" spc="-40" dirty="0">
                <a:solidFill>
                  <a:srgbClr val="CCCCCC"/>
                </a:solidFill>
                <a:latin typeface="Consolas" panose="020B0609020204030204" pitchFamily="49" charset="0"/>
              </a:rPr>
              <a:t>: </a:t>
            </a:r>
            <a:r>
              <a:rPr lang="pl-PL" sz="800" spc="-40" dirty="0">
                <a:solidFill>
                  <a:srgbClr val="4EC9B0"/>
                </a:solidFill>
                <a:latin typeface="Consolas" panose="020B0609020204030204" pitchFamily="49" charset="0"/>
              </a:rPr>
              <a:t>list</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num_points</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int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300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smoothing</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degree</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int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3</a:t>
            </a:r>
            <a:r>
              <a:rPr lang="pl-PL" sz="800" spc="-40" dirty="0">
                <a:solidFill>
                  <a:srgbClr val="CCCCCC"/>
                </a:solidFill>
                <a:latin typeface="Consolas" panose="020B0609020204030204" pitchFamily="49" charset="0"/>
              </a:rPr>
              <a:t>) -&gt;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ndarray</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E9178"/>
                </a:solidFill>
                <a:latin typeface="Consolas" panose="020B0609020204030204" pitchFamily="49" charset="0"/>
              </a:rPr>
              <a:t>"""</a:t>
            </a:r>
            <a:endParaRPr lang="pl-PL" sz="800" spc="-4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a:t>
            </a:r>
            <a:r>
              <a:rPr lang="pl-PL" sz="800" spc="-100" dirty="0" smtClean="0">
                <a:solidFill>
                  <a:srgbClr val="CE9178"/>
                </a:solidFill>
                <a:latin typeface="Consolas" panose="020B0609020204030204" pitchFamily="49" charset="0"/>
              </a:rPr>
              <a:t>Wygładza ścieżkę </a:t>
            </a:r>
            <a:r>
              <a:rPr lang="pl-PL" sz="800" spc="-100" dirty="0">
                <a:solidFill>
                  <a:srgbClr val="CE9178"/>
                </a:solidFill>
                <a:latin typeface="Consolas" panose="020B0609020204030204" pitchFamily="49" charset="0"/>
              </a:rPr>
              <a:t>A* interpolacja B-</a:t>
            </a:r>
            <a:r>
              <a:rPr lang="pl-PL" sz="800" spc="-100" dirty="0" err="1">
                <a:solidFill>
                  <a:srgbClr val="CE9178"/>
                </a:solidFill>
                <a:latin typeface="Consolas" panose="020B0609020204030204" pitchFamily="49" charset="0"/>
              </a:rPr>
              <a:t>spline</a:t>
            </a: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scipy</a:t>
            </a:r>
            <a:r>
              <a:rPr lang="pl-PL" sz="800" spc="-100" dirty="0">
                <a:solidFill>
                  <a:srgbClr val="CE9178"/>
                </a:solidFill>
                <a:latin typeface="Consolas" panose="020B0609020204030204" pitchFamily="49" charset="0"/>
              </a:rPr>
              <a:t>).</a:t>
            </a:r>
            <a:endParaRPr lang="pl-PL" sz="800" spc="-10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path</a:t>
            </a:r>
            <a:r>
              <a:rPr lang="pl-PL" sz="800" spc="-100" dirty="0">
                <a:solidFill>
                  <a:srgbClr val="CE9178"/>
                </a:solidFill>
                <a:latin typeface="Consolas" panose="020B0609020204030204" pitchFamily="49" charset="0"/>
              </a:rPr>
              <a:t>       – lista (</a:t>
            </a:r>
            <a:r>
              <a:rPr lang="pl-PL" sz="800" spc="-100" dirty="0" err="1">
                <a:solidFill>
                  <a:srgbClr val="CE9178"/>
                </a:solidFill>
                <a:latin typeface="Consolas" panose="020B0609020204030204" pitchFamily="49" charset="0"/>
              </a:rPr>
              <a:t>row</a:t>
            </a:r>
            <a:r>
              <a:rPr lang="pl-PL" sz="800" spc="-100" dirty="0">
                <a:solidFill>
                  <a:srgbClr val="CE9178"/>
                </a:solidFill>
                <a:latin typeface="Consolas" panose="020B0609020204030204" pitchFamily="49" charset="0"/>
              </a:rPr>
              <a:t>, col) lub (x, y) z planisty</a:t>
            </a:r>
            <a:endParaRPr lang="pl-PL" sz="800" spc="-10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num_points</a:t>
            </a:r>
            <a:r>
              <a:rPr lang="pl-PL" sz="800" spc="-100" dirty="0">
                <a:solidFill>
                  <a:srgbClr val="CE9178"/>
                </a:solidFill>
                <a:latin typeface="Consolas" panose="020B0609020204030204" pitchFamily="49" charset="0"/>
              </a:rPr>
              <a:t> – </a:t>
            </a:r>
            <a:r>
              <a:rPr lang="pl-PL" sz="800" spc="-100" dirty="0" smtClean="0">
                <a:solidFill>
                  <a:srgbClr val="CE9178"/>
                </a:solidFill>
                <a:latin typeface="Consolas" panose="020B0609020204030204" pitchFamily="49" charset="0"/>
              </a:rPr>
              <a:t>gęstość punktów wyjściowych</a:t>
            </a:r>
            <a:endParaRPr lang="pl-PL" sz="800" spc="-10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smoothing</a:t>
            </a:r>
            <a:r>
              <a:rPr lang="pl-PL" sz="800" spc="-100" dirty="0">
                <a:solidFill>
                  <a:srgbClr val="CE9178"/>
                </a:solidFill>
                <a:latin typeface="Consolas" panose="020B0609020204030204" pitchFamily="49" charset="0"/>
              </a:rPr>
              <a:t>  – 0 = przechodzi dokładnie przez punkty;</a:t>
            </a:r>
            <a:endParaRPr lang="pl-PL" sz="800" spc="-10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&gt; 0 = aproksymacja (mniej </a:t>
            </a:r>
            <a:r>
              <a:rPr lang="pl-PL" sz="800" spc="-100" dirty="0" smtClean="0">
                <a:solidFill>
                  <a:srgbClr val="CE9178"/>
                </a:solidFill>
                <a:latin typeface="Consolas" panose="020B0609020204030204" pitchFamily="49" charset="0"/>
              </a:rPr>
              <a:t>załamania)</a:t>
            </a:r>
            <a:endParaRPr lang="pl-PL" sz="800" spc="-10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degree</a:t>
            </a:r>
            <a:r>
              <a:rPr lang="pl-PL" sz="800" spc="-100" dirty="0">
                <a:solidFill>
                  <a:srgbClr val="CE9178"/>
                </a:solidFill>
                <a:latin typeface="Consolas" panose="020B0609020204030204" pitchFamily="49" charset="0"/>
              </a:rPr>
              <a:t>     – </a:t>
            </a:r>
            <a:r>
              <a:rPr lang="pl-PL" sz="800" spc="-100" dirty="0" smtClean="0">
                <a:solidFill>
                  <a:srgbClr val="CE9178"/>
                </a:solidFill>
                <a:latin typeface="Consolas" panose="020B0609020204030204" pitchFamily="49" charset="0"/>
              </a:rPr>
              <a:t>stopień </a:t>
            </a:r>
            <a:r>
              <a:rPr lang="pl-PL" sz="800" spc="-100" dirty="0" err="1">
                <a:solidFill>
                  <a:srgbClr val="CE9178"/>
                </a:solidFill>
                <a:latin typeface="Consolas" panose="020B0609020204030204" pitchFamily="49" charset="0"/>
              </a:rPr>
              <a:t>splajnu</a:t>
            </a:r>
            <a:r>
              <a:rPr lang="pl-PL" sz="800" spc="-100" dirty="0">
                <a:solidFill>
                  <a:srgbClr val="CE9178"/>
                </a:solidFill>
                <a:latin typeface="Consolas" panose="020B0609020204030204" pitchFamily="49" charset="0"/>
              </a:rPr>
              <a:t> (3 = kubiczny)</a:t>
            </a:r>
            <a:endParaRPr lang="pl-PL" sz="800" spc="-100" dirty="0">
              <a:solidFill>
                <a:srgbClr val="CCCCCC"/>
              </a:solidFill>
              <a:latin typeface="Consolas" panose="020B0609020204030204" pitchFamily="49" charset="0"/>
            </a:endParaRPr>
          </a:p>
          <a:p>
            <a:pPr>
              <a:lnSpc>
                <a:spcPts val="1000"/>
              </a:lnSpc>
            </a:pPr>
            <a:r>
              <a:rPr lang="pl-PL" sz="800" spc="-100" dirty="0">
                <a:solidFill>
                  <a:srgbClr val="CE9178"/>
                </a:solidFill>
                <a:latin typeface="Consolas" panose="020B0609020204030204" pitchFamily="49" charset="0"/>
              </a:rPr>
              <a:t>    Zwraca </a:t>
            </a:r>
            <a:r>
              <a:rPr lang="pl-PL" sz="800" spc="-100" dirty="0" err="1">
                <a:solidFill>
                  <a:srgbClr val="CE9178"/>
                </a:solidFill>
                <a:latin typeface="Consolas" panose="020B0609020204030204" pitchFamily="49" charset="0"/>
              </a:rPr>
              <a:t>ndarray</a:t>
            </a: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shape</a:t>
            </a:r>
            <a:r>
              <a:rPr lang="pl-PL" sz="800" spc="-100" dirty="0">
                <a:solidFill>
                  <a:srgbClr val="CE9178"/>
                </a:solidFill>
                <a:latin typeface="Consolas" panose="020B0609020204030204" pitchFamily="49" charset="0"/>
              </a:rPr>
              <a:t> (</a:t>
            </a:r>
            <a:r>
              <a:rPr lang="pl-PL" sz="800" spc="-100" dirty="0" err="1">
                <a:solidFill>
                  <a:srgbClr val="CE9178"/>
                </a:solidFill>
                <a:latin typeface="Consolas" panose="020B0609020204030204" pitchFamily="49" charset="0"/>
              </a:rPr>
              <a:t>num_points</a:t>
            </a:r>
            <a:r>
              <a:rPr lang="pl-PL" sz="800" spc="-100" dirty="0">
                <a:solidFill>
                  <a:srgbClr val="CE9178"/>
                </a:solidFill>
                <a:latin typeface="Consolas" panose="020B0609020204030204" pitchFamily="49" charset="0"/>
              </a:rPr>
              <a:t>, 2) w metrach lub komórkach.</a:t>
            </a:r>
            <a:endParaRPr lang="pl-PL" sz="800" spc="-100" dirty="0">
              <a:solidFill>
                <a:srgbClr val="CCCCCC"/>
              </a:solidFill>
              <a:latin typeface="Consolas" panose="020B0609020204030204" pitchFamily="49" charset="0"/>
            </a:endParaRPr>
          </a:p>
          <a:p>
            <a:pPr>
              <a:lnSpc>
                <a:spcPts val="1000"/>
              </a:lnSpc>
            </a:pPr>
            <a:r>
              <a:rPr lang="pl-PL" sz="800" spc="-40" dirty="0">
                <a:solidFill>
                  <a:srgbClr val="CE9178"/>
                </a:solidFill>
                <a:latin typeface="Consolas" panose="020B0609020204030204" pitchFamily="49" charset="0"/>
              </a:rPr>
              <a:t>    """</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array</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path</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dtype</a:t>
            </a:r>
            <a:r>
              <a:rPr lang="pl-PL" sz="800" spc="-40" dirty="0">
                <a:solidFill>
                  <a:srgbClr val="D4D4D4"/>
                </a:solidFill>
                <a:latin typeface="Consolas" panose="020B0609020204030204" pitchFamily="49" charset="0"/>
              </a:rPr>
              <a:t>=</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a:t>
            </a:r>
          </a:p>
          <a:p>
            <a:pPr>
              <a:lnSpc>
                <a:spcPts val="1000"/>
              </a:lnSpc>
            </a:pPr>
            <a:r>
              <a:rPr lang="pl-PL" sz="800" spc="-80" dirty="0">
                <a:solidFill>
                  <a:srgbClr val="CCCCCC"/>
                </a:solidFill>
                <a:latin typeface="Consolas" panose="020B0609020204030204" pitchFamily="49" charset="0"/>
              </a:rPr>
              <a:t>    </a:t>
            </a:r>
            <a:r>
              <a:rPr lang="pl-PL" sz="800" spc="-80" dirty="0">
                <a:solidFill>
                  <a:srgbClr val="6A9955"/>
                </a:solidFill>
                <a:latin typeface="Consolas" panose="020B0609020204030204" pitchFamily="49" charset="0"/>
              </a:rPr>
              <a:t># </a:t>
            </a:r>
            <a:r>
              <a:rPr lang="pl-PL" sz="800" spc="-80" dirty="0" smtClean="0">
                <a:solidFill>
                  <a:srgbClr val="6A9955"/>
                </a:solidFill>
                <a:latin typeface="Consolas" panose="020B0609020204030204" pitchFamily="49" charset="0"/>
              </a:rPr>
              <a:t>Usuń </a:t>
            </a:r>
            <a:r>
              <a:rPr lang="pl-PL" sz="800" spc="-80" dirty="0">
                <a:solidFill>
                  <a:srgbClr val="6A9955"/>
                </a:solidFill>
                <a:latin typeface="Consolas" panose="020B0609020204030204" pitchFamily="49" charset="0"/>
              </a:rPr>
              <a:t>zduplikowane kolejne punkty (</a:t>
            </a:r>
            <a:r>
              <a:rPr lang="pl-PL" sz="800" spc="-80" dirty="0" err="1">
                <a:solidFill>
                  <a:srgbClr val="6A9955"/>
                </a:solidFill>
                <a:latin typeface="Consolas" panose="020B0609020204030204" pitchFamily="49" charset="0"/>
              </a:rPr>
              <a:t>splprep</a:t>
            </a:r>
            <a:r>
              <a:rPr lang="pl-PL" sz="800" spc="-80" dirty="0">
                <a:solidFill>
                  <a:srgbClr val="6A9955"/>
                </a:solidFill>
                <a:latin typeface="Consolas" panose="020B0609020204030204" pitchFamily="49" charset="0"/>
              </a:rPr>
              <a:t> wymaga unikalnych)</a:t>
            </a:r>
            <a:endParaRPr lang="pl-PL" sz="800" spc="-8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diffs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diff</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axis</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mask</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any</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diffs</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axis</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vstack</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mask</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if</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len</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&lt;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degree</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za </a:t>
            </a:r>
            <a:r>
              <a:rPr lang="pl-PL" sz="800" spc="-40" dirty="0" smtClean="0">
                <a:solidFill>
                  <a:srgbClr val="6A9955"/>
                </a:solidFill>
                <a:latin typeface="Consolas" panose="020B0609020204030204" pitchFamily="49" charset="0"/>
              </a:rPr>
              <a:t>mało punktów, zwróć oryginalną</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tck</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_</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splprep</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pts</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s</a:t>
            </a:r>
            <a:r>
              <a:rPr lang="pl-PL" sz="800" spc="-40" dirty="0">
                <a:solidFill>
                  <a:srgbClr val="D4D4D4"/>
                </a:solidFill>
                <a:latin typeface="Consolas" panose="020B0609020204030204" pitchFamily="49" charset="0"/>
              </a:rPr>
              <a:t>=</a:t>
            </a:r>
            <a:r>
              <a:rPr lang="pl-PL" sz="800" spc="-40" dirty="0" err="1">
                <a:solidFill>
                  <a:srgbClr val="9CDCFE"/>
                </a:solidFill>
                <a:latin typeface="Consolas" panose="020B0609020204030204" pitchFamily="49" charset="0"/>
              </a:rPr>
              <a:t>smoothing</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k</a:t>
            </a:r>
            <a:r>
              <a:rPr lang="pl-PL" sz="800" spc="-40" dirty="0">
                <a:solidFill>
                  <a:srgbClr val="D4D4D4"/>
                </a:solidFill>
                <a:latin typeface="Consolas" panose="020B0609020204030204" pitchFamily="49" charset="0"/>
              </a:rPr>
              <a:t>=</a:t>
            </a:r>
            <a:r>
              <a:rPr lang="pl-PL" sz="800" spc="-40" dirty="0" err="1">
                <a:solidFill>
                  <a:srgbClr val="9CDCFE"/>
                </a:solidFill>
                <a:latin typeface="Consolas" panose="020B0609020204030204" pitchFamily="49" charset="0"/>
              </a:rPr>
              <a:t>degree</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u_fine</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linspace</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num_points</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xs</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ys</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splev</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u_fine</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tck</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column_stack</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xs</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ys</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check_path_collision</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smooth_pts</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ndarray</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grid</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ndarray</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resolution</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0.05</a:t>
            </a:r>
            <a:r>
              <a:rPr lang="pl-PL" sz="800" spc="-40" dirty="0">
                <a:solidFill>
                  <a:srgbClr val="CCCCCC"/>
                </a:solidFill>
                <a:latin typeface="Consolas" panose="020B0609020204030204" pitchFamily="49" charset="0"/>
              </a:rPr>
              <a:t>) -&gt; </a:t>
            </a:r>
            <a:r>
              <a:rPr lang="pl-PL" sz="800" spc="-40" dirty="0" err="1">
                <a:solidFill>
                  <a:srgbClr val="4EC9B0"/>
                </a:solidFill>
                <a:latin typeface="Consolas" panose="020B0609020204030204" pitchFamily="49" charset="0"/>
              </a:rPr>
              <a:t>bool</a:t>
            </a:r>
            <a:r>
              <a:rPr lang="pl-PL" sz="800" spc="-40" dirty="0">
                <a:solidFill>
                  <a:srgbClr val="CCCCCC"/>
                </a:solidFill>
                <a:latin typeface="Consolas" panose="020B0609020204030204" pitchFamily="49" charset="0"/>
              </a:rPr>
              <a:t>:</a:t>
            </a:r>
          </a:p>
          <a:p>
            <a:pPr>
              <a:lnSpc>
                <a:spcPts val="1000"/>
              </a:lnSpc>
            </a:pPr>
            <a:r>
              <a:rPr lang="pl-PL" sz="800" spc="-80" dirty="0">
                <a:solidFill>
                  <a:srgbClr val="CCCCCC"/>
                </a:solidFill>
                <a:latin typeface="Consolas" panose="020B0609020204030204" pitchFamily="49" charset="0"/>
              </a:rPr>
              <a:t>    </a:t>
            </a:r>
            <a:r>
              <a:rPr lang="pl-PL" sz="800" spc="-80" dirty="0">
                <a:solidFill>
                  <a:srgbClr val="CE9178"/>
                </a:solidFill>
                <a:latin typeface="Consolas" panose="020B0609020204030204" pitchFamily="49" charset="0"/>
              </a:rPr>
              <a:t>"""Sprawdza, czy wygładzona </a:t>
            </a:r>
            <a:r>
              <a:rPr lang="pl-PL" sz="800" spc="-80" dirty="0" smtClean="0">
                <a:solidFill>
                  <a:srgbClr val="CE9178"/>
                </a:solidFill>
                <a:latin typeface="Consolas" panose="020B0609020204030204" pitchFamily="49" charset="0"/>
              </a:rPr>
              <a:t>ścieżka </a:t>
            </a:r>
            <a:r>
              <a:rPr lang="pl-PL" sz="800" spc="-80" dirty="0">
                <a:solidFill>
                  <a:srgbClr val="CE9178"/>
                </a:solidFill>
                <a:latin typeface="Consolas" panose="020B0609020204030204" pitchFamily="49" charset="0"/>
              </a:rPr>
              <a:t>nie koliduje z </a:t>
            </a:r>
            <a:r>
              <a:rPr lang="pl-PL" sz="800" spc="-80" dirty="0" smtClean="0">
                <a:solidFill>
                  <a:srgbClr val="CE9178"/>
                </a:solidFill>
                <a:latin typeface="Consolas" panose="020B0609020204030204" pitchFamily="49" charset="0"/>
              </a:rPr>
              <a:t>siatką."""</a:t>
            </a:r>
            <a:r>
              <a:rPr lang="pl-PL" sz="800" spc="-80" dirty="0" smtClean="0">
                <a:solidFill>
                  <a:srgbClr val="CCCCCC"/>
                </a:solidFill>
                <a:latin typeface="Consolas" panose="020B0609020204030204" pitchFamily="49" charset="0"/>
              </a:rPr>
              <a:t> </a:t>
            </a:r>
            <a:r>
              <a:rPr lang="pl-PL" sz="800" spc="-40" dirty="0">
                <a:solidFill>
                  <a:srgbClr val="CCCCCC"/>
                </a:solidFill>
                <a:latin typeface="Consolas" panose="020B0609020204030204" pitchFamily="49" charset="0"/>
              </a:rPr>
              <a:t>   </a:t>
            </a:r>
            <a:endParaRPr lang="pl-PL" sz="800" spc="-40" dirty="0" smtClean="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smtClean="0">
                <a:solidFill>
                  <a:srgbClr val="CCCCCC"/>
                </a:solidFill>
                <a:latin typeface="Consolas" panose="020B0609020204030204" pitchFamily="49" charset="0"/>
              </a:rPr>
              <a:t>   </a:t>
            </a:r>
            <a:r>
              <a:rPr lang="pl-PL" sz="800" spc="-40" dirty="0" err="1" smtClean="0">
                <a:solidFill>
                  <a:srgbClr val="9CDCFE"/>
                </a:solidFill>
                <a:latin typeface="Consolas" panose="020B0609020204030204" pitchFamily="49" charset="0"/>
              </a:rPr>
              <a:t>origin</a:t>
            </a:r>
            <a:r>
              <a:rPr lang="pl-PL" sz="800" spc="-40" dirty="0" smtClean="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grid</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shape</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2</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for</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y</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in</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smooth_pts</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cx</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int</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origin</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resolution</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cy</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int</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origin</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y</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resolution</a:t>
            </a:r>
            <a:r>
              <a:rPr lang="pl-PL" sz="800" spc="-40" dirty="0">
                <a:solidFill>
                  <a:srgbClr val="CCCCCC"/>
                </a:solidFill>
                <a:latin typeface="Consolas" panose="020B0609020204030204" pitchFamily="49" charset="0"/>
              </a:rPr>
              <a:t>)</a:t>
            </a:r>
          </a:p>
          <a:p>
            <a:pPr>
              <a:lnSpc>
                <a:spcPts val="1000"/>
              </a:lnSpc>
            </a:pPr>
            <a:r>
              <a:rPr lang="pl-PL" sz="800" spc="-80" dirty="0">
                <a:solidFill>
                  <a:srgbClr val="CCCCCC"/>
                </a:solidFill>
                <a:latin typeface="Consolas" panose="020B0609020204030204" pitchFamily="49" charset="0"/>
              </a:rPr>
              <a:t>        </a:t>
            </a:r>
            <a:r>
              <a:rPr lang="pl-PL" sz="800" spc="-80" dirty="0" err="1">
                <a:solidFill>
                  <a:srgbClr val="C586C0"/>
                </a:solidFill>
                <a:latin typeface="Consolas" panose="020B0609020204030204" pitchFamily="49" charset="0"/>
              </a:rPr>
              <a:t>if</a:t>
            </a:r>
            <a:r>
              <a:rPr lang="pl-PL" sz="800" spc="-80" dirty="0">
                <a:solidFill>
                  <a:srgbClr val="CCCCCC"/>
                </a:solidFill>
                <a:latin typeface="Consolas" panose="020B0609020204030204" pitchFamily="49" charset="0"/>
              </a:rPr>
              <a:t> </a:t>
            </a:r>
            <a:r>
              <a:rPr lang="pl-PL" sz="800" spc="-80" dirty="0">
                <a:solidFill>
                  <a:srgbClr val="B5CEA8"/>
                </a:solidFill>
                <a:latin typeface="Consolas" panose="020B0609020204030204" pitchFamily="49" charset="0"/>
              </a:rPr>
              <a:t>0</a:t>
            </a:r>
            <a:r>
              <a:rPr lang="pl-PL" sz="800" spc="-80" dirty="0">
                <a:solidFill>
                  <a:srgbClr val="CCCCCC"/>
                </a:solidFill>
                <a:latin typeface="Consolas" panose="020B0609020204030204" pitchFamily="49" charset="0"/>
              </a:rPr>
              <a:t> </a:t>
            </a:r>
            <a:r>
              <a:rPr lang="pl-PL" sz="800" spc="-80" dirty="0">
                <a:solidFill>
                  <a:srgbClr val="D4D4D4"/>
                </a:solidFill>
                <a:latin typeface="Consolas" panose="020B0609020204030204" pitchFamily="49" charset="0"/>
              </a:rPr>
              <a:t>&lt;=</a:t>
            </a:r>
            <a:r>
              <a:rPr lang="pl-PL" sz="800" spc="-80" dirty="0">
                <a:solidFill>
                  <a:srgbClr val="CCCCCC"/>
                </a:solidFill>
                <a:latin typeface="Consolas" panose="020B0609020204030204" pitchFamily="49" charset="0"/>
              </a:rPr>
              <a:t> </a:t>
            </a:r>
            <a:r>
              <a:rPr lang="pl-PL" sz="800" spc="-80" dirty="0">
                <a:solidFill>
                  <a:srgbClr val="9CDCFE"/>
                </a:solidFill>
                <a:latin typeface="Consolas" panose="020B0609020204030204" pitchFamily="49" charset="0"/>
              </a:rPr>
              <a:t>cx</a:t>
            </a:r>
            <a:r>
              <a:rPr lang="pl-PL" sz="800" spc="-80" dirty="0">
                <a:solidFill>
                  <a:srgbClr val="CCCCCC"/>
                </a:solidFill>
                <a:latin typeface="Consolas" panose="020B0609020204030204" pitchFamily="49" charset="0"/>
              </a:rPr>
              <a:t> </a:t>
            </a:r>
            <a:r>
              <a:rPr lang="pl-PL" sz="800" spc="-80" dirty="0">
                <a:solidFill>
                  <a:srgbClr val="D4D4D4"/>
                </a:solidFill>
                <a:latin typeface="Consolas" panose="020B0609020204030204" pitchFamily="49" charset="0"/>
              </a:rPr>
              <a:t>&lt;</a:t>
            </a:r>
            <a:r>
              <a:rPr lang="pl-PL" sz="800" spc="-80" dirty="0">
                <a:solidFill>
                  <a:srgbClr val="CCCCCC"/>
                </a:solidFill>
                <a:latin typeface="Consolas" panose="020B0609020204030204" pitchFamily="49" charset="0"/>
              </a:rPr>
              <a:t> </a:t>
            </a:r>
            <a:r>
              <a:rPr lang="pl-PL" sz="800" spc="-80" dirty="0" err="1">
                <a:solidFill>
                  <a:srgbClr val="9CDCFE"/>
                </a:solidFill>
                <a:latin typeface="Consolas" panose="020B0609020204030204" pitchFamily="49" charset="0"/>
              </a:rPr>
              <a:t>grid</a:t>
            </a:r>
            <a:r>
              <a:rPr lang="pl-PL" sz="800" spc="-80" dirty="0" err="1">
                <a:solidFill>
                  <a:srgbClr val="CCCCCC"/>
                </a:solidFill>
                <a:latin typeface="Consolas" panose="020B0609020204030204" pitchFamily="49" charset="0"/>
              </a:rPr>
              <a:t>.</a:t>
            </a:r>
            <a:r>
              <a:rPr lang="pl-PL" sz="800" spc="-80" dirty="0" err="1">
                <a:solidFill>
                  <a:srgbClr val="9CDCFE"/>
                </a:solidFill>
                <a:latin typeface="Consolas" panose="020B0609020204030204" pitchFamily="49" charset="0"/>
              </a:rPr>
              <a:t>shape</a:t>
            </a:r>
            <a:r>
              <a:rPr lang="pl-PL" sz="800" spc="-80" dirty="0">
                <a:solidFill>
                  <a:srgbClr val="CCCCCC"/>
                </a:solidFill>
                <a:latin typeface="Consolas" panose="020B0609020204030204" pitchFamily="49" charset="0"/>
              </a:rPr>
              <a:t>[</a:t>
            </a:r>
            <a:r>
              <a:rPr lang="pl-PL" sz="800" spc="-80" dirty="0">
                <a:solidFill>
                  <a:srgbClr val="B5CEA8"/>
                </a:solidFill>
                <a:latin typeface="Consolas" panose="020B0609020204030204" pitchFamily="49" charset="0"/>
              </a:rPr>
              <a:t>1</a:t>
            </a:r>
            <a:r>
              <a:rPr lang="pl-PL" sz="800" spc="-80" dirty="0">
                <a:solidFill>
                  <a:srgbClr val="CCCCCC"/>
                </a:solidFill>
                <a:latin typeface="Consolas" panose="020B0609020204030204" pitchFamily="49" charset="0"/>
              </a:rPr>
              <a:t>] </a:t>
            </a:r>
            <a:r>
              <a:rPr lang="pl-PL" sz="800" spc="-80" dirty="0">
                <a:solidFill>
                  <a:srgbClr val="569CD6"/>
                </a:solidFill>
                <a:latin typeface="Consolas" panose="020B0609020204030204" pitchFamily="49" charset="0"/>
              </a:rPr>
              <a:t>and</a:t>
            </a:r>
            <a:r>
              <a:rPr lang="pl-PL" sz="800" spc="-80" dirty="0">
                <a:solidFill>
                  <a:srgbClr val="CCCCCC"/>
                </a:solidFill>
                <a:latin typeface="Consolas" panose="020B0609020204030204" pitchFamily="49" charset="0"/>
              </a:rPr>
              <a:t> </a:t>
            </a:r>
            <a:r>
              <a:rPr lang="pl-PL" sz="800" spc="-80" dirty="0">
                <a:solidFill>
                  <a:srgbClr val="B5CEA8"/>
                </a:solidFill>
                <a:latin typeface="Consolas" panose="020B0609020204030204" pitchFamily="49" charset="0"/>
              </a:rPr>
              <a:t>0</a:t>
            </a:r>
            <a:r>
              <a:rPr lang="pl-PL" sz="800" spc="-80" dirty="0">
                <a:solidFill>
                  <a:srgbClr val="CCCCCC"/>
                </a:solidFill>
                <a:latin typeface="Consolas" panose="020B0609020204030204" pitchFamily="49" charset="0"/>
              </a:rPr>
              <a:t> </a:t>
            </a:r>
            <a:r>
              <a:rPr lang="pl-PL" sz="800" spc="-80" dirty="0">
                <a:solidFill>
                  <a:srgbClr val="D4D4D4"/>
                </a:solidFill>
                <a:latin typeface="Consolas" panose="020B0609020204030204" pitchFamily="49" charset="0"/>
              </a:rPr>
              <a:t>&lt;=</a:t>
            </a:r>
            <a:r>
              <a:rPr lang="pl-PL" sz="800" spc="-80" dirty="0">
                <a:solidFill>
                  <a:srgbClr val="CCCCCC"/>
                </a:solidFill>
                <a:latin typeface="Consolas" panose="020B0609020204030204" pitchFamily="49" charset="0"/>
              </a:rPr>
              <a:t> </a:t>
            </a:r>
            <a:r>
              <a:rPr lang="pl-PL" sz="800" spc="-80" dirty="0" err="1">
                <a:solidFill>
                  <a:srgbClr val="9CDCFE"/>
                </a:solidFill>
                <a:latin typeface="Consolas" panose="020B0609020204030204" pitchFamily="49" charset="0"/>
              </a:rPr>
              <a:t>cy</a:t>
            </a:r>
            <a:r>
              <a:rPr lang="pl-PL" sz="800" spc="-80" dirty="0">
                <a:solidFill>
                  <a:srgbClr val="CCCCCC"/>
                </a:solidFill>
                <a:latin typeface="Consolas" panose="020B0609020204030204" pitchFamily="49" charset="0"/>
              </a:rPr>
              <a:t> </a:t>
            </a:r>
            <a:r>
              <a:rPr lang="pl-PL" sz="800" spc="-80" dirty="0">
                <a:solidFill>
                  <a:srgbClr val="D4D4D4"/>
                </a:solidFill>
                <a:latin typeface="Consolas" panose="020B0609020204030204" pitchFamily="49" charset="0"/>
              </a:rPr>
              <a:t>&lt;</a:t>
            </a:r>
            <a:r>
              <a:rPr lang="pl-PL" sz="800" spc="-80" dirty="0">
                <a:solidFill>
                  <a:srgbClr val="CCCCCC"/>
                </a:solidFill>
                <a:latin typeface="Consolas" panose="020B0609020204030204" pitchFamily="49" charset="0"/>
              </a:rPr>
              <a:t> </a:t>
            </a:r>
            <a:r>
              <a:rPr lang="pl-PL" sz="800" spc="-80" dirty="0" err="1">
                <a:solidFill>
                  <a:srgbClr val="9CDCFE"/>
                </a:solidFill>
                <a:latin typeface="Consolas" panose="020B0609020204030204" pitchFamily="49" charset="0"/>
              </a:rPr>
              <a:t>grid</a:t>
            </a:r>
            <a:r>
              <a:rPr lang="pl-PL" sz="800" spc="-80" dirty="0" err="1">
                <a:solidFill>
                  <a:srgbClr val="CCCCCC"/>
                </a:solidFill>
                <a:latin typeface="Consolas" panose="020B0609020204030204" pitchFamily="49" charset="0"/>
              </a:rPr>
              <a:t>.</a:t>
            </a:r>
            <a:r>
              <a:rPr lang="pl-PL" sz="800" spc="-80" dirty="0" err="1">
                <a:solidFill>
                  <a:srgbClr val="9CDCFE"/>
                </a:solidFill>
                <a:latin typeface="Consolas" panose="020B0609020204030204" pitchFamily="49" charset="0"/>
              </a:rPr>
              <a:t>shape</a:t>
            </a:r>
            <a:r>
              <a:rPr lang="pl-PL" sz="800" spc="-80" dirty="0">
                <a:solidFill>
                  <a:srgbClr val="CCCCCC"/>
                </a:solidFill>
                <a:latin typeface="Consolas" panose="020B0609020204030204" pitchFamily="49" charset="0"/>
              </a:rPr>
              <a:t>[</a:t>
            </a:r>
            <a:r>
              <a:rPr lang="pl-PL" sz="800" spc="-80" dirty="0">
                <a:solidFill>
                  <a:srgbClr val="B5CEA8"/>
                </a:solidFill>
                <a:latin typeface="Consolas" panose="020B0609020204030204" pitchFamily="49" charset="0"/>
              </a:rPr>
              <a:t>0</a:t>
            </a:r>
            <a:r>
              <a:rPr lang="pl-PL" sz="800" spc="-8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C586C0"/>
                </a:solidFill>
                <a:latin typeface="Consolas" panose="020B0609020204030204" pitchFamily="49" charset="0"/>
              </a:rPr>
              <a:t>if</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grid</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cy</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cx</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&gt;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50</a:t>
            </a: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a:t>
            </a:r>
            <a:r>
              <a:rPr lang="pl-PL" sz="800" spc="-40" dirty="0" err="1">
                <a:solidFill>
                  <a:srgbClr val="6A9955"/>
                </a:solidFill>
                <a:latin typeface="Consolas" panose="020B0609020204030204" pitchFamily="49" charset="0"/>
              </a:rPr>
              <a:t>zajete</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a:solidFill>
                  <a:srgbClr val="4FC1FF"/>
                </a:solidFill>
                <a:latin typeface="Consolas" panose="020B0609020204030204" pitchFamily="49" charset="0"/>
              </a:rPr>
              <a:t>True</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err="1">
                <a:solidFill>
                  <a:srgbClr val="4FC1FF"/>
                </a:solidFill>
                <a:latin typeface="Consolas" panose="020B0609020204030204" pitchFamily="49" charset="0"/>
              </a:rPr>
              <a:t>False</a:t>
            </a:r>
            <a:endParaRPr lang="pl-PL" sz="800" b="0" spc="-4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algn="ctr"/>
            <a:r>
              <a:rPr lang="pl-PL" sz="1600" b="1" dirty="0" smtClean="0">
                <a:solidFill>
                  <a:schemeClr val="bg1"/>
                </a:solidFill>
                <a:latin typeface="Calibri" pitchFamily="34" charset="0"/>
                <a:ea typeface="Calibri" pitchFamily="34" charset="-122"/>
                <a:cs typeface="Calibri" pitchFamily="34" charset="-120"/>
              </a:rPr>
              <a:t>splprep/</a:t>
            </a:r>
            <a:r>
              <a:rPr lang="pl-PL" sz="1600" b="1" dirty="0" err="1" smtClean="0">
                <a:solidFill>
                  <a:schemeClr val="bg1"/>
                </a:solidFill>
                <a:latin typeface="Calibri" pitchFamily="34" charset="0"/>
                <a:ea typeface="Calibri" pitchFamily="34" charset="-122"/>
                <a:cs typeface="Calibri" pitchFamily="34" charset="-120"/>
              </a:rPr>
              <a:t>splev</a:t>
            </a:r>
            <a:r>
              <a:rPr lang="pl-PL" sz="1600" b="1" dirty="0" smtClean="0">
                <a:solidFill>
                  <a:schemeClr val="bg1"/>
                </a:solidFill>
                <a:latin typeface="Calibri" pitchFamily="34" charset="0"/>
                <a:ea typeface="Calibri" pitchFamily="34" charset="-122"/>
                <a:cs typeface="Calibri" pitchFamily="34" charset="-120"/>
              </a:rPr>
              <a:t> z </a:t>
            </a:r>
            <a:r>
              <a:rPr lang="pl-PL" sz="1600" b="1" dirty="0" err="1" smtClean="0">
                <a:solidFill>
                  <a:schemeClr val="bg1"/>
                </a:solidFill>
                <a:latin typeface="Calibri" pitchFamily="34" charset="0"/>
                <a:ea typeface="Calibri" pitchFamily="34" charset="-122"/>
                <a:cs typeface="Calibri" pitchFamily="34" charset="-120"/>
              </a:rPr>
              <a:t>scipy</a:t>
            </a:r>
            <a:r>
              <a:rPr lang="pl-PL" sz="1600" dirty="0" smtClean="0">
                <a:solidFill>
                  <a:schemeClr val="bg1"/>
                </a:solidFill>
                <a:latin typeface="Calibri" pitchFamily="34" charset="0"/>
                <a:ea typeface="Calibri" pitchFamily="34" charset="-122"/>
                <a:cs typeface="Calibri" pitchFamily="34" charset="-120"/>
              </a:rPr>
              <a:t>; s=0 interpolacja dokładna; po wygładzeniu obowiązkowo sprawdź kolizje.</a:t>
            </a:r>
            <a:endParaRPr lang="pl-PL" sz="1600" dirty="0">
              <a:solidFill>
                <a:schemeClr val="bg1"/>
              </a:solidFill>
              <a:latin typeface="Calibri" pitchFamily="34" charset="0"/>
              <a:ea typeface="Calibri" pitchFamily="34" charset="-122"/>
              <a:cs typeface="Calibri" pitchFamily="34" charset="-120"/>
            </a:endParaRPr>
          </a:p>
        </p:txBody>
      </p:sp>
      <p:sp>
        <p:nvSpPr>
          <p:cNvPr id="7" name="Prostokąt 6"/>
          <p:cNvSpPr/>
          <p:nvPr/>
        </p:nvSpPr>
        <p:spPr>
          <a:xfrm>
            <a:off x="246888" y="745724"/>
            <a:ext cx="5141976" cy="276999"/>
          </a:xfrm>
          <a:prstGeom prst="rect">
            <a:avLst/>
          </a:prstGeom>
        </p:spPr>
        <p:txBody>
          <a:bodyPr wrap="square">
            <a:spAutoFit/>
          </a:bodyPr>
          <a:lstStyle/>
          <a:p>
            <a:r>
              <a:rPr lang="pl-PL" sz="1200" i="1" dirty="0">
                <a:solidFill>
                  <a:srgbClr val="90C8D8"/>
                </a:solidFill>
              </a:rPr>
              <a:t>Usuwa ostre zakręty zwrócone przez A*; zachowuje ciągłość krzywizny</a:t>
            </a:r>
          </a:p>
        </p:txBody>
      </p:sp>
      <p:sp>
        <p:nvSpPr>
          <p:cNvPr id="16" name="pole tekstowe 15"/>
          <p:cNvSpPr txBox="1"/>
          <p:nvPr/>
        </p:nvSpPr>
        <p:spPr>
          <a:xfrm>
            <a:off x="6809900" y="1093386"/>
            <a:ext cx="2105500" cy="3054682"/>
          </a:xfrm>
          <a:prstGeom prst="rect">
            <a:avLst/>
          </a:prstGeom>
          <a:noFill/>
        </p:spPr>
        <p:txBody>
          <a:bodyPr wrap="square" rtlCol="0">
            <a:spAutoFit/>
          </a:bodyPr>
          <a:lstStyle/>
          <a:p>
            <a:pPr algn="ctr">
              <a:lnSpc>
                <a:spcPts val="1100"/>
              </a:lnSpc>
            </a:pPr>
            <a:r>
              <a:rPr lang="pl-PL" sz="1600" b="1" u="sng" dirty="0">
                <a:solidFill>
                  <a:schemeClr val="bg1"/>
                </a:solidFill>
              </a:rPr>
              <a:t>Kiedy </a:t>
            </a:r>
            <a:r>
              <a:rPr lang="pl-PL" sz="1600" b="1" u="sng" dirty="0" err="1">
                <a:solidFill>
                  <a:schemeClr val="bg1"/>
                </a:solidFill>
              </a:rPr>
              <a:t>wygładzac</a:t>
            </a:r>
            <a:r>
              <a:rPr lang="pl-PL" sz="1600" b="1" u="sng" dirty="0">
                <a:solidFill>
                  <a:schemeClr val="bg1"/>
                </a:solidFill>
              </a:rPr>
              <a:t>?</a:t>
            </a:r>
          </a:p>
          <a:p>
            <a:pPr>
              <a:lnSpc>
                <a:spcPts val="1100"/>
              </a:lnSpc>
            </a:pPr>
            <a:endParaRPr lang="pl-PL" sz="1200" dirty="0" smtClean="0">
              <a:solidFill>
                <a:schemeClr val="bg1"/>
              </a:solidFill>
            </a:endParaRPr>
          </a:p>
          <a:p>
            <a:pPr>
              <a:lnSpc>
                <a:spcPts val="1100"/>
              </a:lnSpc>
            </a:pPr>
            <a:r>
              <a:rPr lang="pl-PL" sz="1400" b="1" dirty="0" smtClean="0">
                <a:solidFill>
                  <a:schemeClr val="bg1"/>
                </a:solidFill>
              </a:rPr>
              <a:t>Zawsze </a:t>
            </a:r>
            <a:r>
              <a:rPr lang="pl-PL" sz="1400" b="1" dirty="0">
                <a:solidFill>
                  <a:schemeClr val="bg1"/>
                </a:solidFill>
              </a:rPr>
              <a:t>przed </a:t>
            </a:r>
            <a:r>
              <a:rPr lang="pl-PL" sz="1400" b="1" dirty="0" smtClean="0">
                <a:solidFill>
                  <a:schemeClr val="bg1"/>
                </a:solidFill>
              </a:rPr>
              <a:t>przekazaniem ścieżki </a:t>
            </a:r>
            <a:r>
              <a:rPr lang="pl-PL" sz="1400" b="1" dirty="0">
                <a:solidFill>
                  <a:schemeClr val="bg1"/>
                </a:solidFill>
              </a:rPr>
              <a:t>do:</a:t>
            </a:r>
          </a:p>
          <a:p>
            <a:pPr>
              <a:lnSpc>
                <a:spcPts val="1100"/>
              </a:lnSpc>
            </a:pPr>
            <a:r>
              <a:rPr lang="pl-PL" sz="1200" dirty="0">
                <a:solidFill>
                  <a:schemeClr val="bg1"/>
                </a:solidFill>
              </a:rPr>
              <a:t> • </a:t>
            </a:r>
            <a:r>
              <a:rPr lang="pl-PL" sz="1200" dirty="0" err="1">
                <a:solidFill>
                  <a:schemeClr val="bg1"/>
                </a:solidFill>
              </a:rPr>
              <a:t>footstep</a:t>
            </a:r>
            <a:r>
              <a:rPr lang="pl-PL" sz="1200" dirty="0">
                <a:solidFill>
                  <a:schemeClr val="bg1"/>
                </a:solidFill>
              </a:rPr>
              <a:t> </a:t>
            </a:r>
            <a:r>
              <a:rPr lang="pl-PL" sz="1200" dirty="0" err="1" smtClean="0">
                <a:solidFill>
                  <a:schemeClr val="bg1"/>
                </a:solidFill>
              </a:rPr>
              <a:t>plannera</a:t>
            </a:r>
            <a:endParaRPr lang="pl-PL" sz="1200" dirty="0" smtClean="0">
              <a:solidFill>
                <a:schemeClr val="bg1"/>
              </a:solidFill>
            </a:endParaRPr>
          </a:p>
          <a:p>
            <a:pPr>
              <a:lnSpc>
                <a:spcPts val="1100"/>
              </a:lnSpc>
            </a:pPr>
            <a:r>
              <a:rPr lang="pl-PL" sz="1200" dirty="0">
                <a:solidFill>
                  <a:schemeClr val="bg1"/>
                </a:solidFill>
              </a:rPr>
              <a:t> • generatora </a:t>
            </a:r>
            <a:r>
              <a:rPr lang="pl-PL" sz="1200" dirty="0" err="1">
                <a:solidFill>
                  <a:schemeClr val="bg1"/>
                </a:solidFill>
              </a:rPr>
              <a:t>CoM</a:t>
            </a:r>
            <a:endParaRPr lang="pl-PL" sz="1200" dirty="0">
              <a:solidFill>
                <a:schemeClr val="bg1"/>
              </a:solidFill>
            </a:endParaRPr>
          </a:p>
          <a:p>
            <a:pPr>
              <a:lnSpc>
                <a:spcPts val="1100"/>
              </a:lnSpc>
            </a:pPr>
            <a:r>
              <a:rPr lang="pl-PL" sz="1200" dirty="0">
                <a:solidFill>
                  <a:schemeClr val="bg1"/>
                </a:solidFill>
              </a:rPr>
              <a:t> • kontrolera MPC</a:t>
            </a:r>
          </a:p>
          <a:p>
            <a:pPr>
              <a:lnSpc>
                <a:spcPts val="1100"/>
              </a:lnSpc>
            </a:pPr>
            <a:endParaRPr lang="pl-PL" sz="1200" dirty="0" smtClean="0">
              <a:solidFill>
                <a:schemeClr val="bg1"/>
              </a:solidFill>
            </a:endParaRPr>
          </a:p>
          <a:p>
            <a:pPr>
              <a:lnSpc>
                <a:spcPts val="1100"/>
              </a:lnSpc>
            </a:pPr>
            <a:r>
              <a:rPr lang="pl-PL" sz="1400" b="1" dirty="0">
                <a:solidFill>
                  <a:schemeClr val="bg1"/>
                </a:solidFill>
              </a:rPr>
              <a:t>Parametr </a:t>
            </a:r>
            <a:r>
              <a:rPr lang="pl-PL" sz="1400" b="1" dirty="0" err="1">
                <a:solidFill>
                  <a:schemeClr val="bg1"/>
                </a:solidFill>
              </a:rPr>
              <a:t>degree</a:t>
            </a:r>
            <a:r>
              <a:rPr lang="pl-PL" sz="1400" b="1" dirty="0">
                <a:solidFill>
                  <a:schemeClr val="bg1"/>
                </a:solidFill>
              </a:rPr>
              <a:t>:</a:t>
            </a:r>
          </a:p>
          <a:p>
            <a:pPr>
              <a:lnSpc>
                <a:spcPts val="1100"/>
              </a:lnSpc>
            </a:pPr>
            <a:r>
              <a:rPr lang="pl-PL" sz="1200" dirty="0">
                <a:solidFill>
                  <a:schemeClr val="bg1"/>
                </a:solidFill>
              </a:rPr>
              <a:t> 3 = kubiczny (zalecany)</a:t>
            </a:r>
          </a:p>
          <a:p>
            <a:pPr>
              <a:lnSpc>
                <a:spcPts val="1100"/>
              </a:lnSpc>
            </a:pPr>
            <a:r>
              <a:rPr lang="pl-PL" sz="1200" dirty="0">
                <a:solidFill>
                  <a:schemeClr val="bg1"/>
                </a:solidFill>
              </a:rPr>
              <a:t> 5 = dla bardzo gładkich  tras (koszt: oscylacje)</a:t>
            </a:r>
            <a:endParaRPr lang="pl-PL" sz="1200" dirty="0" smtClean="0">
              <a:solidFill>
                <a:schemeClr val="bg1"/>
              </a:solidFill>
            </a:endParaRPr>
          </a:p>
          <a:p>
            <a:pPr>
              <a:lnSpc>
                <a:spcPts val="1100"/>
              </a:lnSpc>
            </a:pPr>
            <a:endParaRPr lang="pl-PL" sz="1200" dirty="0" smtClean="0">
              <a:solidFill>
                <a:schemeClr val="bg1"/>
              </a:solidFill>
            </a:endParaRPr>
          </a:p>
          <a:p>
            <a:pPr>
              <a:lnSpc>
                <a:spcPts val="1100"/>
              </a:lnSpc>
            </a:pPr>
            <a:r>
              <a:rPr lang="pl-PL" sz="1400" b="1" dirty="0">
                <a:solidFill>
                  <a:schemeClr val="bg1"/>
                </a:solidFill>
              </a:rPr>
              <a:t>Smoothing s:</a:t>
            </a:r>
          </a:p>
          <a:p>
            <a:pPr>
              <a:lnSpc>
                <a:spcPts val="1100"/>
              </a:lnSpc>
            </a:pPr>
            <a:r>
              <a:rPr lang="pl-PL" sz="1200" dirty="0">
                <a:solidFill>
                  <a:schemeClr val="bg1"/>
                </a:solidFill>
              </a:rPr>
              <a:t> 0.0 – </a:t>
            </a:r>
            <a:r>
              <a:rPr lang="pl-PL" sz="1200" dirty="0" err="1">
                <a:solidFill>
                  <a:schemeClr val="bg1"/>
                </a:solidFill>
              </a:rPr>
              <a:t>interp</a:t>
            </a:r>
            <a:r>
              <a:rPr lang="pl-PL" sz="1200" dirty="0">
                <a:solidFill>
                  <a:schemeClr val="bg1"/>
                </a:solidFill>
              </a:rPr>
              <a:t>. </a:t>
            </a:r>
            <a:r>
              <a:rPr lang="pl-PL" sz="1200" dirty="0" err="1">
                <a:solidFill>
                  <a:schemeClr val="bg1"/>
                </a:solidFill>
              </a:rPr>
              <a:t>dokladna</a:t>
            </a:r>
            <a:endParaRPr lang="pl-PL" sz="1200" dirty="0">
              <a:solidFill>
                <a:schemeClr val="bg1"/>
              </a:solidFill>
            </a:endParaRPr>
          </a:p>
          <a:p>
            <a:pPr>
              <a:lnSpc>
                <a:spcPts val="1100"/>
              </a:lnSpc>
            </a:pPr>
            <a:r>
              <a:rPr lang="pl-PL" sz="1200" dirty="0">
                <a:solidFill>
                  <a:schemeClr val="bg1"/>
                </a:solidFill>
              </a:rPr>
              <a:t> 0.5 – </a:t>
            </a:r>
            <a:r>
              <a:rPr lang="pl-PL" sz="1200" dirty="0" smtClean="0">
                <a:solidFill>
                  <a:schemeClr val="bg1"/>
                </a:solidFill>
              </a:rPr>
              <a:t>aproksymacja</a:t>
            </a:r>
          </a:p>
          <a:p>
            <a:pPr>
              <a:lnSpc>
                <a:spcPts val="1100"/>
              </a:lnSpc>
            </a:pPr>
            <a:endParaRPr lang="pl-PL" sz="1200" dirty="0">
              <a:solidFill>
                <a:schemeClr val="bg1"/>
              </a:solidFill>
            </a:endParaRPr>
          </a:p>
          <a:p>
            <a:pPr>
              <a:lnSpc>
                <a:spcPts val="1100"/>
              </a:lnSpc>
            </a:pPr>
            <a:r>
              <a:rPr lang="pl-PL" sz="1400" b="1" dirty="0">
                <a:solidFill>
                  <a:schemeClr val="bg1"/>
                </a:solidFill>
              </a:rPr>
              <a:t>Weryfikacja kolizji:</a:t>
            </a:r>
          </a:p>
          <a:p>
            <a:pPr>
              <a:lnSpc>
                <a:spcPts val="1100"/>
              </a:lnSpc>
            </a:pPr>
            <a:r>
              <a:rPr lang="pl-PL" sz="1200" dirty="0">
                <a:solidFill>
                  <a:schemeClr val="bg1"/>
                </a:solidFill>
              </a:rPr>
              <a:t> </a:t>
            </a:r>
            <a:r>
              <a:rPr lang="pl-PL" sz="1200" dirty="0" err="1">
                <a:solidFill>
                  <a:schemeClr val="bg1"/>
                </a:solidFill>
              </a:rPr>
              <a:t>check_path_collision</a:t>
            </a:r>
            <a:r>
              <a:rPr lang="pl-PL" sz="1200" dirty="0">
                <a:solidFill>
                  <a:schemeClr val="bg1"/>
                </a:solidFill>
              </a:rPr>
              <a:t>() po </a:t>
            </a:r>
            <a:r>
              <a:rPr lang="pl-PL" sz="1200" dirty="0" err="1">
                <a:solidFill>
                  <a:schemeClr val="bg1"/>
                </a:solidFill>
              </a:rPr>
              <a:t>kazdym</a:t>
            </a:r>
            <a:r>
              <a:rPr lang="pl-PL" sz="1200" dirty="0">
                <a:solidFill>
                  <a:schemeClr val="bg1"/>
                </a:solidFill>
              </a:rPr>
              <a:t> wygładzeniu!</a:t>
            </a:r>
            <a:endParaRPr lang="pl-PL" sz="1200" dirty="0" smtClean="0">
              <a:solidFill>
                <a:schemeClr val="bg1"/>
              </a:solidFill>
            </a:endParaRPr>
          </a:p>
          <a:p>
            <a:pPr>
              <a:lnSpc>
                <a:spcPts val="1100"/>
              </a:lnSpc>
            </a:pPr>
            <a:endParaRPr lang="pl-PL" sz="1200" b="1" dirty="0" smtClean="0">
              <a:solidFill>
                <a:schemeClr val="bg1"/>
              </a:solidFill>
            </a:endParaRPr>
          </a:p>
        </p:txBody>
      </p:sp>
    </p:spTree>
    <p:extLst>
      <p:ext uri="{BB962C8B-B14F-4D97-AF65-F5344CB8AC3E}">
        <p14:creationId xmlns:p14="http://schemas.microsoft.com/office/powerpoint/2010/main" val="4034017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Wygładzanie metodą skracania ścieżki (</a:t>
            </a:r>
            <a:r>
              <a:rPr lang="pl-PL" sz="2400" b="1" dirty="0" err="1">
                <a:solidFill>
                  <a:srgbClr val="FFFFFF"/>
                </a:solidFill>
                <a:latin typeface="Trebuchet MS" pitchFamily="34" charset="0"/>
                <a:ea typeface="Trebuchet MS" pitchFamily="34" charset="-122"/>
                <a:cs typeface="Trebuchet MS" pitchFamily="34" charset="-120"/>
              </a:rPr>
              <a:t>shortcutting</a:t>
            </a:r>
            <a:r>
              <a:rPr lang="pl-PL" sz="2400" b="1" dirty="0">
                <a:solidFill>
                  <a:srgbClr val="FFFFFF"/>
                </a:solidFill>
                <a:latin typeface="Trebuchet MS" pitchFamily="34" charset="0"/>
                <a:ea typeface="Trebuchet MS" pitchFamily="34" charset="-122"/>
                <a:cs typeface="Trebuchet MS" pitchFamily="34" charset="-120"/>
              </a:rPr>
              <a:t>)</a:t>
            </a: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274320" y="1082931"/>
            <a:ext cx="6535580" cy="3009517"/>
          </a:xfrm>
          <a:prstGeom prst="rect">
            <a:avLst/>
          </a:prstGeom>
          <a:noFill/>
          <a:ln/>
        </p:spPr>
        <p:txBody>
          <a:bodyPr wrap="square" lIns="108000" tIns="0" rIns="36000" bIns="0" numCol="2" rtlCol="0" anchor="t">
            <a:normAutofit fontScale="85000" lnSpcReduction="10000"/>
          </a:bodyPr>
          <a:lstStyle/>
          <a:p>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numpy</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as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err="1">
                <a:solidFill>
                  <a:srgbClr val="DCDCAA"/>
                </a:solidFill>
                <a:latin typeface="Consolas" panose="020B0609020204030204" pitchFamily="49" charset="0"/>
              </a:rPr>
              <a:t>shortcut_path</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path</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grid</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resolution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0.05</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max_iter</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200</a:t>
            </a:r>
            <a:r>
              <a:rPr lang="pl-PL" sz="1050" dirty="0">
                <a:solidFill>
                  <a:srgbClr val="CCCCCC"/>
                </a:solidFill>
                <a:latin typeface="Consolas" panose="020B0609020204030204" pitchFamily="49" charset="0"/>
              </a:rPr>
              <a:t>) -&gt;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spc="-60" dirty="0">
                <a:solidFill>
                  <a:srgbClr val="CE9178"/>
                </a:solidFill>
                <a:latin typeface="Consolas" panose="020B0609020204030204" pitchFamily="49" charset="0"/>
              </a:rPr>
              <a:t>    </a:t>
            </a:r>
            <a:r>
              <a:rPr lang="pl-PL" sz="1050" spc="-60" dirty="0" err="1">
                <a:solidFill>
                  <a:srgbClr val="CE9178"/>
                </a:solidFill>
                <a:latin typeface="Consolas" panose="020B0609020204030204" pitchFamily="49" charset="0"/>
              </a:rPr>
              <a:t>Greedy</a:t>
            </a:r>
            <a:r>
              <a:rPr lang="pl-PL" sz="1050" spc="-60" dirty="0">
                <a:solidFill>
                  <a:srgbClr val="CE9178"/>
                </a:solidFill>
                <a:latin typeface="Consolas" panose="020B0609020204030204" pitchFamily="49" charset="0"/>
              </a:rPr>
              <a:t> </a:t>
            </a:r>
            <a:r>
              <a:rPr lang="pl-PL" sz="1050" spc="-60" dirty="0" err="1">
                <a:solidFill>
                  <a:srgbClr val="CE9178"/>
                </a:solidFill>
                <a:latin typeface="Consolas" panose="020B0609020204030204" pitchFamily="49" charset="0"/>
              </a:rPr>
              <a:t>shortcutting</a:t>
            </a:r>
            <a:r>
              <a:rPr lang="pl-PL" sz="1050" spc="-60" dirty="0">
                <a:solidFill>
                  <a:srgbClr val="CE9178"/>
                </a:solidFill>
                <a:latin typeface="Consolas" panose="020B0609020204030204" pitchFamily="49" charset="0"/>
              </a:rPr>
              <a:t>: </a:t>
            </a:r>
            <a:r>
              <a:rPr lang="pl-PL" sz="1050" spc="-60" dirty="0" err="1">
                <a:solidFill>
                  <a:srgbClr val="CE9178"/>
                </a:solidFill>
                <a:latin typeface="Consolas" panose="020B0609020204030204" pitchFamily="49" charset="0"/>
              </a:rPr>
              <a:t>jesli</a:t>
            </a:r>
            <a:r>
              <a:rPr lang="pl-PL" sz="1050" spc="-60" dirty="0">
                <a:solidFill>
                  <a:srgbClr val="CE9178"/>
                </a:solidFill>
                <a:latin typeface="Consolas" panose="020B0609020204030204" pitchFamily="49" charset="0"/>
              </a:rPr>
              <a:t> prosta miedzy i a j</a:t>
            </a:r>
            <a:endParaRPr lang="pl-PL" sz="1050" spc="-60" dirty="0">
              <a:solidFill>
                <a:srgbClr val="CCCCCC"/>
              </a:solidFill>
              <a:latin typeface="Consolas" panose="020B0609020204030204" pitchFamily="49" charset="0"/>
            </a:endParaRPr>
          </a:p>
          <a:p>
            <a:r>
              <a:rPr lang="pl-PL" sz="1050" spc="-60" dirty="0">
                <a:solidFill>
                  <a:srgbClr val="CE9178"/>
                </a:solidFill>
                <a:latin typeface="Consolas" panose="020B0609020204030204" pitchFamily="49" charset="0"/>
              </a:rPr>
              <a:t>    jest wolna od </a:t>
            </a:r>
            <a:r>
              <a:rPr lang="pl-PL" sz="1050" spc="-60" dirty="0" smtClean="0">
                <a:solidFill>
                  <a:srgbClr val="CE9178"/>
                </a:solidFill>
                <a:latin typeface="Consolas" panose="020B0609020204030204" pitchFamily="49" charset="0"/>
              </a:rPr>
              <a:t>przeszkód, usuń </a:t>
            </a:r>
            <a:r>
              <a:rPr lang="pl-PL" sz="1050" spc="-60" dirty="0">
                <a:solidFill>
                  <a:srgbClr val="CE9178"/>
                </a:solidFill>
                <a:latin typeface="Consolas" panose="020B0609020204030204" pitchFamily="49" charset="0"/>
              </a:rPr>
              <a:t>punkty </a:t>
            </a:r>
            <a:r>
              <a:rPr lang="pl-PL" sz="1050" spc="-60" dirty="0" smtClean="0">
                <a:solidFill>
                  <a:srgbClr val="CE9178"/>
                </a:solidFill>
                <a:latin typeface="Consolas" panose="020B0609020204030204" pitchFamily="49" charset="0"/>
              </a:rPr>
              <a:t>pomiędzy.</a:t>
            </a:r>
            <a:endParaRPr lang="pl-PL" sz="1050" spc="-60" dirty="0">
              <a:solidFill>
                <a:srgbClr val="CCCCCC"/>
              </a:solidFill>
              <a:latin typeface="Consolas" panose="020B0609020204030204" pitchFamily="49" charset="0"/>
            </a:endParaRPr>
          </a:p>
          <a:p>
            <a:r>
              <a:rPr lang="pl-PL" sz="1050" spc="-60" dirty="0">
                <a:solidFill>
                  <a:srgbClr val="CE9178"/>
                </a:solidFill>
                <a:latin typeface="Consolas" panose="020B0609020204030204" pitchFamily="49" charset="0"/>
              </a:rPr>
              <a:t>    </a:t>
            </a:r>
            <a:r>
              <a:rPr lang="pl-PL" sz="1050" spc="-60" dirty="0" err="1">
                <a:solidFill>
                  <a:srgbClr val="CE9178"/>
                </a:solidFill>
                <a:latin typeface="Consolas" panose="020B0609020204030204" pitchFamily="49" charset="0"/>
              </a:rPr>
              <a:t>path</a:t>
            </a:r>
            <a:r>
              <a:rPr lang="pl-PL" sz="1050" spc="-60" dirty="0">
                <a:solidFill>
                  <a:srgbClr val="CE9178"/>
                </a:solidFill>
                <a:latin typeface="Consolas" panose="020B0609020204030204" pitchFamily="49" charset="0"/>
              </a:rPr>
              <a:t>       – lista (</a:t>
            </a:r>
            <a:r>
              <a:rPr lang="pl-PL" sz="1050" spc="-60" dirty="0" err="1">
                <a:solidFill>
                  <a:srgbClr val="CE9178"/>
                </a:solidFill>
                <a:latin typeface="Consolas" panose="020B0609020204030204" pitchFamily="49" charset="0"/>
              </a:rPr>
              <a:t>row</a:t>
            </a:r>
            <a:r>
              <a:rPr lang="pl-PL" sz="1050" spc="-60" dirty="0">
                <a:solidFill>
                  <a:srgbClr val="CE9178"/>
                </a:solidFill>
                <a:latin typeface="Consolas" panose="020B0609020204030204" pitchFamily="49" charset="0"/>
              </a:rPr>
              <a:t>, col) po A*</a:t>
            </a:r>
            <a:endParaRPr lang="pl-PL" sz="1050" spc="-60" dirty="0">
              <a:solidFill>
                <a:srgbClr val="CCCCCC"/>
              </a:solidFill>
              <a:latin typeface="Consolas" panose="020B0609020204030204" pitchFamily="49" charset="0"/>
            </a:endParaRPr>
          </a:p>
          <a:p>
            <a:r>
              <a:rPr lang="pl-PL" sz="1050" spc="-60" dirty="0">
                <a:solidFill>
                  <a:srgbClr val="CE9178"/>
                </a:solidFill>
                <a:latin typeface="Consolas" panose="020B0609020204030204" pitchFamily="49" charset="0"/>
              </a:rPr>
              <a:t>    </a:t>
            </a:r>
            <a:r>
              <a:rPr lang="pl-PL" sz="1050" spc="-60" dirty="0" err="1">
                <a:solidFill>
                  <a:srgbClr val="CE9178"/>
                </a:solidFill>
                <a:latin typeface="Consolas" panose="020B0609020204030204" pitchFamily="49" charset="0"/>
              </a:rPr>
              <a:t>grid</a:t>
            </a:r>
            <a:r>
              <a:rPr lang="pl-PL" sz="1050" spc="-60" dirty="0">
                <a:solidFill>
                  <a:srgbClr val="CE9178"/>
                </a:solidFill>
                <a:latin typeface="Consolas" panose="020B0609020204030204" pitchFamily="49" charset="0"/>
              </a:rPr>
              <a:t>       – siatka </a:t>
            </a:r>
            <a:r>
              <a:rPr lang="pl-PL" sz="1050" spc="-60" dirty="0" smtClean="0">
                <a:solidFill>
                  <a:srgbClr val="CE9178"/>
                </a:solidFill>
                <a:latin typeface="Consolas" panose="020B0609020204030204" pitchFamily="49" charset="0"/>
              </a:rPr>
              <a:t>zajętości </a:t>
            </a:r>
            <a:r>
              <a:rPr lang="pl-PL" sz="1050" spc="-60" dirty="0">
                <a:solidFill>
                  <a:srgbClr val="CE9178"/>
                </a:solidFill>
                <a:latin typeface="Consolas" panose="020B0609020204030204" pitchFamily="49" charset="0"/>
              </a:rPr>
              <a:t>(0=wolne, 1=</a:t>
            </a:r>
            <a:r>
              <a:rPr lang="pl-PL" sz="1050" spc="-60" dirty="0" err="1">
                <a:solidFill>
                  <a:srgbClr val="CE9178"/>
                </a:solidFill>
                <a:latin typeface="Consolas" panose="020B0609020204030204" pitchFamily="49" charset="0"/>
              </a:rPr>
              <a:t>zajete</a:t>
            </a:r>
            <a:r>
              <a:rPr lang="pl-PL" sz="1050" spc="-60" dirty="0">
                <a:solidFill>
                  <a:srgbClr val="CE9178"/>
                </a:solidFill>
                <a:latin typeface="Consolas" panose="020B0609020204030204" pitchFamily="49" charset="0"/>
              </a:rPr>
              <a:t>)</a:t>
            </a:r>
            <a:endParaRPr lang="pl-PL" sz="1050" spc="-60" dirty="0">
              <a:solidFill>
                <a:srgbClr val="CCCCCC"/>
              </a:solidFill>
              <a:latin typeface="Consolas" panose="020B0609020204030204" pitchFamily="49" charset="0"/>
            </a:endParaRPr>
          </a:p>
          <a:p>
            <a:r>
              <a:rPr lang="pl-PL" sz="1050" spc="-60" dirty="0">
                <a:solidFill>
                  <a:srgbClr val="CE9178"/>
                </a:solidFill>
                <a:latin typeface="Consolas" panose="020B0609020204030204" pitchFamily="49" charset="0"/>
              </a:rPr>
              <a:t>    resolution – metry/</a:t>
            </a:r>
            <a:r>
              <a:rPr lang="pl-PL" sz="1050" spc="-60" dirty="0" err="1">
                <a:solidFill>
                  <a:srgbClr val="CE9178"/>
                </a:solidFill>
                <a:latin typeface="Consolas" panose="020B0609020204030204" pitchFamily="49" charset="0"/>
              </a:rPr>
              <a:t>komorkę</a:t>
            </a:r>
            <a:endParaRPr lang="pl-PL" sz="1050" spc="-60" dirty="0">
              <a:solidFill>
                <a:srgbClr val="CCCCCC"/>
              </a:solidFill>
              <a:latin typeface="Consolas" panose="020B0609020204030204" pitchFamily="49" charset="0"/>
            </a:endParaRPr>
          </a:p>
          <a:p>
            <a:r>
              <a:rPr lang="pl-PL" sz="1050" spc="-60" dirty="0">
                <a:solidFill>
                  <a:srgbClr val="CE9178"/>
                </a:solidFill>
                <a:latin typeface="Consolas" panose="020B0609020204030204" pitchFamily="49" charset="0"/>
              </a:rPr>
              <a:t>    """</a:t>
            </a:r>
            <a:endParaRPr lang="pl-PL" sz="1050" spc="-6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path</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improved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4FC1FF"/>
                </a:solidFill>
                <a:latin typeface="Consolas" panose="020B0609020204030204" pitchFamily="49" charset="0"/>
              </a:rPr>
              <a:t>True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iteration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while</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improved</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and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iteration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max_iter</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improved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FC1FF"/>
                </a:solidFill>
                <a:latin typeface="Consolas" panose="020B0609020204030204" pitchFamily="49" charset="0"/>
              </a:rPr>
              <a:t>False</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while</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len</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pts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j</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len</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pts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while</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j</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&gt;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a:t>
            </a:r>
          </a:p>
          <a:p>
            <a:r>
              <a:rPr lang="pl-PL" sz="1050" spc="-40" dirty="0">
                <a:solidFill>
                  <a:srgbClr val="CCCCCC"/>
                </a:solidFill>
                <a:latin typeface="Consolas" panose="020B0609020204030204" pitchFamily="49" charset="0"/>
              </a:rPr>
              <a:t>                </a:t>
            </a:r>
            <a:r>
              <a:rPr lang="pl-PL" sz="1050" spc="-40" dirty="0" err="1">
                <a:solidFill>
                  <a:srgbClr val="C586C0"/>
                </a:solidFill>
                <a:latin typeface="Consolas" panose="020B0609020204030204" pitchFamily="49" charset="0"/>
              </a:rPr>
              <a:t>if</a:t>
            </a:r>
            <a:r>
              <a:rPr lang="pl-PL" sz="1050" spc="-40" dirty="0">
                <a:solidFill>
                  <a:srgbClr val="CCCCCC"/>
                </a:solidFill>
                <a:latin typeface="Consolas" panose="020B0609020204030204" pitchFamily="49" charset="0"/>
              </a:rPr>
              <a:t> </a:t>
            </a:r>
            <a:r>
              <a:rPr lang="pl-PL" sz="1050" spc="-40" dirty="0">
                <a:solidFill>
                  <a:srgbClr val="DCDCAA"/>
                </a:solidFill>
                <a:latin typeface="Consolas" panose="020B0609020204030204" pitchFamily="49" charset="0"/>
              </a:rPr>
              <a:t>_</a:t>
            </a:r>
            <a:r>
              <a:rPr lang="pl-PL" sz="1050" spc="-40" dirty="0" err="1">
                <a:solidFill>
                  <a:srgbClr val="DCDCAA"/>
                </a:solidFill>
                <a:latin typeface="Consolas" panose="020B0609020204030204" pitchFamily="49" charset="0"/>
              </a:rPr>
              <a:t>line_free</a:t>
            </a:r>
            <a:r>
              <a:rPr lang="pl-PL" sz="1050" spc="-40" dirty="0">
                <a:solidFill>
                  <a:srgbClr val="CCCCCC"/>
                </a:solidFill>
                <a:latin typeface="Consolas" panose="020B0609020204030204" pitchFamily="49" charset="0"/>
              </a:rPr>
              <a:t>(</a:t>
            </a:r>
            <a:r>
              <a:rPr lang="pl-PL" sz="1050" spc="-40" dirty="0" err="1">
                <a:solidFill>
                  <a:srgbClr val="9CDCFE"/>
                </a:solidFill>
                <a:latin typeface="Consolas" panose="020B0609020204030204" pitchFamily="49" charset="0"/>
              </a:rPr>
              <a:t>pts</a:t>
            </a:r>
            <a:r>
              <a:rPr lang="pl-PL" sz="1050" spc="-40" dirty="0">
                <a:solidFill>
                  <a:srgbClr val="CCCCCC"/>
                </a:solidFill>
                <a:latin typeface="Consolas" panose="020B0609020204030204" pitchFamily="49" charset="0"/>
              </a:rPr>
              <a:t>[</a:t>
            </a:r>
            <a:r>
              <a:rPr lang="pl-PL" sz="1050" spc="-40" dirty="0">
                <a:solidFill>
                  <a:srgbClr val="9CDCFE"/>
                </a:solidFill>
                <a:latin typeface="Consolas" panose="020B0609020204030204" pitchFamily="49" charset="0"/>
              </a:rPr>
              <a:t>i</a:t>
            </a:r>
            <a:r>
              <a:rPr lang="pl-PL" sz="1050" spc="-40" dirty="0">
                <a:solidFill>
                  <a:srgbClr val="CCCCCC"/>
                </a:solidFill>
                <a:latin typeface="Consolas" panose="020B0609020204030204" pitchFamily="49" charset="0"/>
              </a:rPr>
              <a:t>], </a:t>
            </a:r>
            <a:r>
              <a:rPr lang="pl-PL" sz="1050" spc="-40" dirty="0" err="1">
                <a:solidFill>
                  <a:srgbClr val="9CDCFE"/>
                </a:solidFill>
                <a:latin typeface="Consolas" panose="020B0609020204030204" pitchFamily="49" charset="0"/>
              </a:rPr>
              <a:t>pts</a:t>
            </a:r>
            <a:r>
              <a:rPr lang="pl-PL" sz="1050" spc="-40" dirty="0">
                <a:solidFill>
                  <a:srgbClr val="CCCCCC"/>
                </a:solidFill>
                <a:latin typeface="Consolas" panose="020B0609020204030204" pitchFamily="49" charset="0"/>
              </a:rPr>
              <a:t>[</a:t>
            </a:r>
            <a:r>
              <a:rPr lang="pl-PL" sz="1050" spc="-40" dirty="0">
                <a:solidFill>
                  <a:srgbClr val="9CDCFE"/>
                </a:solidFill>
                <a:latin typeface="Consolas" panose="020B0609020204030204" pitchFamily="49" charset="0"/>
              </a:rPr>
              <a:t>j</a:t>
            </a:r>
            <a:r>
              <a:rPr lang="pl-PL" sz="1050" spc="-40" dirty="0">
                <a:solidFill>
                  <a:srgbClr val="CCCCCC"/>
                </a:solidFill>
                <a:latin typeface="Consolas" panose="020B0609020204030204" pitchFamily="49" charset="0"/>
              </a:rPr>
              <a:t>], </a:t>
            </a:r>
            <a:r>
              <a:rPr lang="pl-PL" sz="1050" spc="-40" dirty="0" err="1">
                <a:solidFill>
                  <a:srgbClr val="9CDCFE"/>
                </a:solidFill>
                <a:latin typeface="Consolas" panose="020B0609020204030204" pitchFamily="49" charset="0"/>
              </a:rPr>
              <a:t>grid</a:t>
            </a:r>
            <a:r>
              <a:rPr lang="pl-PL" sz="1050" spc="-40" dirty="0">
                <a:solidFill>
                  <a:srgbClr val="CCCCCC"/>
                </a:solidFill>
                <a:latin typeface="Consolas" panose="020B0609020204030204" pitchFamily="49" charset="0"/>
              </a:rPr>
              <a:t>):</a:t>
            </a:r>
          </a:p>
          <a:p>
            <a:r>
              <a:rPr lang="pl-PL" sz="1050" spc="-50" dirty="0">
                <a:solidFill>
                  <a:srgbClr val="CCCCCC"/>
                </a:solidFill>
                <a:latin typeface="Consolas" panose="020B0609020204030204" pitchFamily="49" charset="0"/>
              </a:rPr>
              <a:t>                    </a:t>
            </a:r>
            <a:r>
              <a:rPr lang="pl-PL" sz="1050" spc="-50" dirty="0">
                <a:solidFill>
                  <a:srgbClr val="6A9955"/>
                </a:solidFill>
                <a:latin typeface="Consolas" panose="020B0609020204030204" pitchFamily="49" charset="0"/>
              </a:rPr>
              <a:t># </a:t>
            </a:r>
            <a:r>
              <a:rPr lang="pl-PL" sz="1050" spc="-50" dirty="0" err="1">
                <a:solidFill>
                  <a:srgbClr val="6A9955"/>
                </a:solidFill>
                <a:latin typeface="Consolas" panose="020B0609020204030204" pitchFamily="49" charset="0"/>
              </a:rPr>
              <a:t>Skrot</a:t>
            </a:r>
            <a:r>
              <a:rPr lang="pl-PL" sz="1050" spc="-50" dirty="0">
                <a:solidFill>
                  <a:srgbClr val="6A9955"/>
                </a:solidFill>
                <a:latin typeface="Consolas" panose="020B0609020204030204" pitchFamily="49" charset="0"/>
              </a:rPr>
              <a:t>: </a:t>
            </a:r>
            <a:r>
              <a:rPr lang="pl-PL" sz="1050" spc="-50" dirty="0" err="1">
                <a:solidFill>
                  <a:srgbClr val="6A9955"/>
                </a:solidFill>
                <a:latin typeface="Consolas" panose="020B0609020204030204" pitchFamily="49" charset="0"/>
              </a:rPr>
              <a:t>usun</a:t>
            </a:r>
            <a:r>
              <a:rPr lang="pl-PL" sz="1050" spc="-50" dirty="0">
                <a:solidFill>
                  <a:srgbClr val="6A9955"/>
                </a:solidFill>
                <a:latin typeface="Consolas" panose="020B0609020204030204" pitchFamily="49" charset="0"/>
              </a:rPr>
              <a:t> punkty i+1 .. j-1</a:t>
            </a:r>
            <a:endParaRPr lang="pl-PL" sz="1050" spc="-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pts</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i</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pts</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j</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improved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4FC1FF"/>
                </a:solidFill>
                <a:latin typeface="Consolas" panose="020B0609020204030204" pitchFamily="49" charset="0"/>
              </a:rPr>
              <a:t>True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break</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j</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iteration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pts</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_</a:t>
            </a:r>
            <a:r>
              <a:rPr lang="pl-PL" sz="1050" dirty="0" err="1">
                <a:solidFill>
                  <a:srgbClr val="DCDCAA"/>
                </a:solidFill>
                <a:latin typeface="Consolas" panose="020B0609020204030204" pitchFamily="49" charset="0"/>
              </a:rPr>
              <a:t>line_free</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p1</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tuple</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p2</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tuple</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grid</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steps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40</a:t>
            </a:r>
            <a:r>
              <a:rPr lang="pl-PL" sz="1050" dirty="0">
                <a:solidFill>
                  <a:srgbClr val="CCCCCC"/>
                </a:solidFill>
                <a:latin typeface="Consolas" panose="020B0609020204030204" pitchFamily="49" charset="0"/>
              </a:rPr>
              <a:t>) -&gt; </a:t>
            </a:r>
            <a:r>
              <a:rPr lang="pl-PL" sz="1050" dirty="0" err="1">
                <a:solidFill>
                  <a:srgbClr val="4EC9B0"/>
                </a:solidFill>
                <a:latin typeface="Consolas" panose="020B0609020204030204" pitchFamily="49" charset="0"/>
              </a:rPr>
              <a:t>bool</a:t>
            </a:r>
            <a:r>
              <a:rPr lang="pl-PL" sz="1050" dirty="0">
                <a:solidFill>
                  <a:srgbClr val="CCCCCC"/>
                </a:solidFill>
                <a:latin typeface="Consolas" panose="020B0609020204030204" pitchFamily="49" charset="0"/>
              </a:rPr>
              <a:t>:</a:t>
            </a:r>
          </a:p>
          <a:p>
            <a:r>
              <a:rPr lang="pl-PL" sz="1050" spc="-80" dirty="0">
                <a:solidFill>
                  <a:srgbClr val="CCCCCC"/>
                </a:solidFill>
                <a:latin typeface="Consolas" panose="020B0609020204030204" pitchFamily="49" charset="0"/>
              </a:rPr>
              <a:t>    </a:t>
            </a:r>
            <a:r>
              <a:rPr lang="pl-PL" sz="1050" spc="-80" dirty="0">
                <a:solidFill>
                  <a:srgbClr val="CE9178"/>
                </a:solidFill>
                <a:latin typeface="Consolas" panose="020B0609020204030204" pitchFamily="49" charset="0"/>
              </a:rPr>
              <a:t>"""Sprawdza czy odcinek p1-p2 jest wolny (</a:t>
            </a:r>
            <a:r>
              <a:rPr lang="pl-PL" sz="1050" spc="-80" dirty="0" err="1">
                <a:solidFill>
                  <a:srgbClr val="CE9178"/>
                </a:solidFill>
                <a:latin typeface="Consolas" panose="020B0609020204030204" pitchFamily="49" charset="0"/>
              </a:rPr>
              <a:t>Bresenham</a:t>
            </a:r>
            <a:r>
              <a:rPr lang="pl-PL" sz="1050" spc="-80" dirty="0" smtClean="0">
                <a:solidFill>
                  <a:srgbClr val="CE9178"/>
                </a:solidFill>
                <a:latin typeface="Consolas" panose="020B0609020204030204" pitchFamily="49" charset="0"/>
              </a:rPr>
              <a:t>)"""</a:t>
            </a:r>
            <a:endParaRPr lang="pl-PL" sz="1050" spc="-8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r1</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c1</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p1</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r2</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p2</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linspace</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steps</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round</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r1</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round</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c1</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not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r</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grid</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shape</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and</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grid</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shape</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4FC1FF"/>
                </a:solidFill>
                <a:latin typeface="Consolas" panose="020B0609020204030204" pitchFamily="49" charset="0"/>
              </a:rPr>
              <a:t>False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grid</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r</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c</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4FC1FF"/>
                </a:solidFill>
                <a:latin typeface="Consolas" panose="020B0609020204030204" pitchFamily="49" charset="0"/>
              </a:rPr>
              <a:t>False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a:solidFill>
                  <a:srgbClr val="4FC1FF"/>
                </a:solidFill>
                <a:latin typeface="Consolas" panose="020B0609020204030204" pitchFamily="49" charset="0"/>
              </a:rPr>
              <a:t>True</a:t>
            </a:r>
            <a:endParaRPr lang="pl-PL" sz="1050" b="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algn="ctr"/>
            <a:r>
              <a:rPr lang="pl-PL" sz="1600" b="1" dirty="0" smtClean="0">
                <a:solidFill>
                  <a:schemeClr val="bg1"/>
                </a:solidFill>
                <a:latin typeface="Calibri" pitchFamily="34" charset="0"/>
                <a:ea typeface="Calibri" pitchFamily="34" charset="-122"/>
                <a:cs typeface="Calibri" pitchFamily="34" charset="-120"/>
              </a:rPr>
              <a:t>_</a:t>
            </a:r>
            <a:r>
              <a:rPr lang="pl-PL" sz="1600" b="1" dirty="0" err="1">
                <a:solidFill>
                  <a:schemeClr val="bg1"/>
                </a:solidFill>
                <a:latin typeface="Calibri" pitchFamily="34" charset="0"/>
                <a:ea typeface="Calibri" pitchFamily="34" charset="-122"/>
                <a:cs typeface="Calibri" pitchFamily="34" charset="-120"/>
              </a:rPr>
              <a:t>line_free</a:t>
            </a:r>
            <a:r>
              <a:rPr lang="pl-PL" sz="1600" b="1" dirty="0">
                <a:solidFill>
                  <a:schemeClr val="bg1"/>
                </a:solidFill>
                <a:latin typeface="Calibri" pitchFamily="34" charset="0"/>
                <a:ea typeface="Calibri" pitchFamily="34" charset="-122"/>
                <a:cs typeface="Calibri" pitchFamily="34" charset="-120"/>
              </a:rPr>
              <a:t> </a:t>
            </a:r>
            <a:r>
              <a:rPr lang="pl-PL" sz="1600" dirty="0">
                <a:solidFill>
                  <a:schemeClr val="bg1"/>
                </a:solidFill>
                <a:latin typeface="Calibri" pitchFamily="34" charset="0"/>
                <a:ea typeface="Calibri" pitchFamily="34" charset="-122"/>
                <a:cs typeface="Calibri" pitchFamily="34" charset="-120"/>
              </a:rPr>
              <a:t>sprawdza 40 </a:t>
            </a:r>
            <a:r>
              <a:rPr lang="pl-PL" sz="1600" dirty="0" err="1">
                <a:solidFill>
                  <a:schemeClr val="bg1"/>
                </a:solidFill>
                <a:latin typeface="Calibri" pitchFamily="34" charset="0"/>
                <a:ea typeface="Calibri" pitchFamily="34" charset="-122"/>
                <a:cs typeface="Calibri" pitchFamily="34" charset="-120"/>
              </a:rPr>
              <a:t>punktow</a:t>
            </a:r>
            <a:r>
              <a:rPr lang="pl-PL" sz="1600" dirty="0">
                <a:solidFill>
                  <a:schemeClr val="bg1"/>
                </a:solidFill>
                <a:latin typeface="Calibri" pitchFamily="34" charset="0"/>
                <a:ea typeface="Calibri" pitchFamily="34" charset="-122"/>
                <a:cs typeface="Calibri" pitchFamily="34" charset="-120"/>
              </a:rPr>
              <a:t> </a:t>
            </a:r>
            <a:r>
              <a:rPr lang="pl-PL" sz="1600" dirty="0" err="1">
                <a:solidFill>
                  <a:schemeClr val="bg1"/>
                </a:solidFill>
                <a:latin typeface="Calibri" pitchFamily="34" charset="0"/>
                <a:ea typeface="Calibri" pitchFamily="34" charset="-122"/>
                <a:cs typeface="Calibri" pitchFamily="34" charset="-120"/>
              </a:rPr>
              <a:t>wzdluz</a:t>
            </a:r>
            <a:r>
              <a:rPr lang="pl-PL" sz="1600" dirty="0">
                <a:solidFill>
                  <a:schemeClr val="bg1"/>
                </a:solidFill>
                <a:latin typeface="Calibri" pitchFamily="34" charset="0"/>
                <a:ea typeface="Calibri" pitchFamily="34" charset="-122"/>
                <a:cs typeface="Calibri" pitchFamily="34" charset="-120"/>
              </a:rPr>
              <a:t> odcinka; O(n^2) per iteracja ale szybkie dla </a:t>
            </a:r>
            <a:r>
              <a:rPr lang="pl-PL" sz="1600" dirty="0" smtClean="0">
                <a:solidFill>
                  <a:schemeClr val="bg1"/>
                </a:solidFill>
                <a:latin typeface="Calibri" pitchFamily="34" charset="0"/>
                <a:ea typeface="Calibri" pitchFamily="34" charset="-122"/>
                <a:cs typeface="Calibri" pitchFamily="34" charset="-120"/>
              </a:rPr>
              <a:t>n&lt;500</a:t>
            </a:r>
            <a:endParaRPr lang="pl-PL" sz="1600" dirty="0">
              <a:solidFill>
                <a:schemeClr val="bg1"/>
              </a:solidFill>
              <a:latin typeface="Calibri" pitchFamily="34" charset="0"/>
              <a:ea typeface="Calibri" pitchFamily="34" charset="-122"/>
              <a:cs typeface="Calibri" pitchFamily="34" charset="-120"/>
            </a:endParaRPr>
          </a:p>
        </p:txBody>
      </p:sp>
      <p:sp>
        <p:nvSpPr>
          <p:cNvPr id="7" name="Prostokąt 6"/>
          <p:cNvSpPr/>
          <p:nvPr/>
        </p:nvSpPr>
        <p:spPr>
          <a:xfrm>
            <a:off x="246888" y="745724"/>
            <a:ext cx="5141976" cy="276999"/>
          </a:xfrm>
          <a:prstGeom prst="rect">
            <a:avLst/>
          </a:prstGeom>
        </p:spPr>
        <p:txBody>
          <a:bodyPr wrap="square">
            <a:spAutoFit/>
          </a:bodyPr>
          <a:lstStyle/>
          <a:p>
            <a:r>
              <a:rPr lang="pl-PL" sz="1200" i="1" dirty="0">
                <a:solidFill>
                  <a:srgbClr val="90C8D8"/>
                </a:solidFill>
              </a:rPr>
              <a:t>Iteracyjne usuwanie zbędnych punktów pośrednich – bez bibliotek zewnętrznych</a:t>
            </a:r>
          </a:p>
        </p:txBody>
      </p:sp>
      <p:sp>
        <p:nvSpPr>
          <p:cNvPr id="16" name="pole tekstowe 15"/>
          <p:cNvSpPr txBox="1"/>
          <p:nvPr/>
        </p:nvSpPr>
        <p:spPr>
          <a:xfrm>
            <a:off x="6681216" y="1093386"/>
            <a:ext cx="2234184" cy="2926442"/>
          </a:xfrm>
          <a:prstGeom prst="rect">
            <a:avLst/>
          </a:prstGeom>
          <a:noFill/>
        </p:spPr>
        <p:txBody>
          <a:bodyPr wrap="square" rtlCol="0">
            <a:spAutoFit/>
          </a:bodyPr>
          <a:lstStyle/>
          <a:p>
            <a:pPr>
              <a:lnSpc>
                <a:spcPts val="1300"/>
              </a:lnSpc>
            </a:pPr>
            <a:r>
              <a:rPr lang="pl-PL" sz="1600" b="1" dirty="0" err="1">
                <a:solidFill>
                  <a:schemeClr val="bg1"/>
                </a:solidFill>
              </a:rPr>
              <a:t>Shortcutting</a:t>
            </a:r>
            <a:r>
              <a:rPr lang="pl-PL" sz="1600" b="1" dirty="0">
                <a:solidFill>
                  <a:schemeClr val="bg1"/>
                </a:solidFill>
              </a:rPr>
              <a:t> vs B-</a:t>
            </a:r>
            <a:r>
              <a:rPr lang="pl-PL" sz="1600" b="1" dirty="0" err="1">
                <a:solidFill>
                  <a:schemeClr val="bg1"/>
                </a:solidFill>
              </a:rPr>
              <a:t>spline</a:t>
            </a:r>
            <a:endParaRPr lang="pl-PL" sz="1600" b="1" dirty="0">
              <a:solidFill>
                <a:schemeClr val="bg1"/>
              </a:solidFill>
            </a:endParaRPr>
          </a:p>
          <a:p>
            <a:pPr>
              <a:lnSpc>
                <a:spcPts val="1300"/>
              </a:lnSpc>
            </a:pPr>
            <a:endParaRPr lang="pl-PL" sz="1200" dirty="0" smtClean="0">
              <a:solidFill>
                <a:schemeClr val="bg1"/>
              </a:solidFill>
            </a:endParaRPr>
          </a:p>
          <a:p>
            <a:pPr>
              <a:lnSpc>
                <a:spcPts val="1300"/>
              </a:lnSpc>
            </a:pPr>
            <a:r>
              <a:rPr lang="pl-PL" sz="1400" b="1" dirty="0" err="1">
                <a:solidFill>
                  <a:schemeClr val="bg1"/>
                </a:solidFill>
              </a:rPr>
              <a:t>Shortcutting</a:t>
            </a:r>
            <a:r>
              <a:rPr lang="pl-PL" sz="1400" b="1" dirty="0">
                <a:solidFill>
                  <a:schemeClr val="bg1"/>
                </a:solidFill>
              </a:rPr>
              <a:t>:</a:t>
            </a:r>
          </a:p>
          <a:p>
            <a:pPr>
              <a:lnSpc>
                <a:spcPts val="1300"/>
              </a:lnSpc>
            </a:pPr>
            <a:r>
              <a:rPr lang="pl-PL" sz="1200" dirty="0">
                <a:solidFill>
                  <a:schemeClr val="bg1"/>
                </a:solidFill>
              </a:rPr>
              <a:t> + Gwarantuje brak </a:t>
            </a:r>
            <a:r>
              <a:rPr lang="pl-PL" sz="1200" dirty="0" smtClean="0">
                <a:solidFill>
                  <a:schemeClr val="bg1"/>
                </a:solidFill>
              </a:rPr>
              <a:t>kolizji</a:t>
            </a:r>
          </a:p>
          <a:p>
            <a:pPr>
              <a:lnSpc>
                <a:spcPts val="1300"/>
              </a:lnSpc>
            </a:pPr>
            <a:r>
              <a:rPr lang="pl-PL" sz="1200" dirty="0">
                <a:solidFill>
                  <a:schemeClr val="bg1"/>
                </a:solidFill>
              </a:rPr>
              <a:t> + Działa bez </a:t>
            </a:r>
            <a:r>
              <a:rPr lang="pl-PL" sz="1200" dirty="0" err="1" smtClean="0">
                <a:solidFill>
                  <a:schemeClr val="bg1"/>
                </a:solidFill>
              </a:rPr>
              <a:t>scipy</a:t>
            </a:r>
            <a:endParaRPr lang="pl-PL" sz="1200" dirty="0" smtClean="0">
              <a:solidFill>
                <a:schemeClr val="bg1"/>
              </a:solidFill>
            </a:endParaRPr>
          </a:p>
          <a:p>
            <a:pPr>
              <a:lnSpc>
                <a:spcPts val="1300"/>
              </a:lnSpc>
            </a:pPr>
            <a:r>
              <a:rPr lang="pl-PL" sz="1200" dirty="0">
                <a:solidFill>
                  <a:schemeClr val="bg1"/>
                </a:solidFill>
              </a:rPr>
              <a:t> + Zachowuje punkty oryg</a:t>
            </a:r>
            <a:r>
              <a:rPr lang="pl-PL" sz="1200" dirty="0" smtClean="0">
                <a:solidFill>
                  <a:schemeClr val="bg1"/>
                </a:solidFill>
              </a:rPr>
              <a:t>.</a:t>
            </a:r>
          </a:p>
          <a:p>
            <a:pPr>
              <a:lnSpc>
                <a:spcPts val="1300"/>
              </a:lnSpc>
            </a:pPr>
            <a:r>
              <a:rPr lang="pl-PL" sz="1200" dirty="0">
                <a:solidFill>
                  <a:schemeClr val="bg1"/>
                </a:solidFill>
              </a:rPr>
              <a:t> - </a:t>
            </a:r>
            <a:r>
              <a:rPr lang="pl-PL" sz="1200" dirty="0" err="1">
                <a:solidFill>
                  <a:schemeClr val="bg1"/>
                </a:solidFill>
              </a:rPr>
              <a:t>Kanciate</a:t>
            </a:r>
            <a:r>
              <a:rPr lang="pl-PL" sz="1200" dirty="0">
                <a:solidFill>
                  <a:schemeClr val="bg1"/>
                </a:solidFill>
              </a:rPr>
              <a:t> </a:t>
            </a:r>
            <a:r>
              <a:rPr lang="pl-PL" sz="1200" dirty="0" smtClean="0">
                <a:solidFill>
                  <a:schemeClr val="bg1"/>
                </a:solidFill>
              </a:rPr>
              <a:t>zakręty</a:t>
            </a:r>
          </a:p>
          <a:p>
            <a:pPr>
              <a:lnSpc>
                <a:spcPts val="1300"/>
              </a:lnSpc>
            </a:pPr>
            <a:r>
              <a:rPr lang="pl-PL" sz="1200" dirty="0">
                <a:solidFill>
                  <a:schemeClr val="bg1"/>
                </a:solidFill>
              </a:rPr>
              <a:t> - O(n^2) per iteracja</a:t>
            </a:r>
            <a:endParaRPr lang="pl-PL" sz="1200" dirty="0" smtClean="0">
              <a:solidFill>
                <a:schemeClr val="bg1"/>
              </a:solidFill>
            </a:endParaRPr>
          </a:p>
          <a:p>
            <a:pPr>
              <a:lnSpc>
                <a:spcPts val="1300"/>
              </a:lnSpc>
            </a:pPr>
            <a:endParaRPr lang="pl-PL" sz="1200" dirty="0" smtClean="0">
              <a:solidFill>
                <a:schemeClr val="bg1"/>
              </a:solidFill>
            </a:endParaRPr>
          </a:p>
          <a:p>
            <a:pPr>
              <a:lnSpc>
                <a:spcPts val="1300"/>
              </a:lnSpc>
            </a:pPr>
            <a:r>
              <a:rPr lang="pl-PL" sz="1400" b="1" dirty="0">
                <a:solidFill>
                  <a:schemeClr val="bg1"/>
                </a:solidFill>
              </a:rPr>
              <a:t>B-</a:t>
            </a:r>
            <a:r>
              <a:rPr lang="pl-PL" sz="1400" b="1" dirty="0" err="1">
                <a:solidFill>
                  <a:schemeClr val="bg1"/>
                </a:solidFill>
              </a:rPr>
              <a:t>spline</a:t>
            </a:r>
            <a:r>
              <a:rPr lang="pl-PL" sz="1400" b="1" dirty="0">
                <a:solidFill>
                  <a:schemeClr val="bg1"/>
                </a:solidFill>
              </a:rPr>
              <a:t>:</a:t>
            </a:r>
          </a:p>
          <a:p>
            <a:pPr>
              <a:lnSpc>
                <a:spcPts val="1300"/>
              </a:lnSpc>
            </a:pPr>
            <a:r>
              <a:rPr lang="pl-PL" sz="1200" dirty="0">
                <a:solidFill>
                  <a:schemeClr val="bg1"/>
                </a:solidFill>
              </a:rPr>
              <a:t> + </a:t>
            </a:r>
            <a:r>
              <a:rPr lang="pl-PL" sz="1200" dirty="0" err="1">
                <a:solidFill>
                  <a:schemeClr val="bg1"/>
                </a:solidFill>
              </a:rPr>
              <a:t>Ciagla</a:t>
            </a:r>
            <a:r>
              <a:rPr lang="pl-PL" sz="1200" dirty="0">
                <a:solidFill>
                  <a:schemeClr val="bg1"/>
                </a:solidFill>
              </a:rPr>
              <a:t> </a:t>
            </a:r>
            <a:r>
              <a:rPr lang="pl-PL" sz="1200" dirty="0" smtClean="0">
                <a:solidFill>
                  <a:schemeClr val="bg1"/>
                </a:solidFill>
              </a:rPr>
              <a:t>krzywa</a:t>
            </a:r>
          </a:p>
          <a:p>
            <a:pPr>
              <a:lnSpc>
                <a:spcPts val="1300"/>
              </a:lnSpc>
            </a:pPr>
            <a:r>
              <a:rPr lang="pl-PL" sz="1200" dirty="0">
                <a:solidFill>
                  <a:schemeClr val="bg1"/>
                </a:solidFill>
              </a:rPr>
              <a:t> + Kontrola </a:t>
            </a:r>
            <a:r>
              <a:rPr lang="pl-PL" sz="1200" dirty="0" err="1" smtClean="0">
                <a:solidFill>
                  <a:schemeClr val="bg1"/>
                </a:solidFill>
              </a:rPr>
              <a:t>gladkosci</a:t>
            </a:r>
            <a:endParaRPr lang="pl-PL" sz="1200" dirty="0" smtClean="0">
              <a:solidFill>
                <a:schemeClr val="bg1"/>
              </a:solidFill>
            </a:endParaRPr>
          </a:p>
          <a:p>
            <a:pPr>
              <a:lnSpc>
                <a:spcPts val="1300"/>
              </a:lnSpc>
            </a:pPr>
            <a:endParaRPr lang="pl-PL" sz="1200" dirty="0" smtClean="0">
              <a:solidFill>
                <a:schemeClr val="bg1"/>
              </a:solidFill>
            </a:endParaRPr>
          </a:p>
          <a:p>
            <a:pPr>
              <a:lnSpc>
                <a:spcPts val="1300"/>
              </a:lnSpc>
            </a:pPr>
            <a:r>
              <a:rPr lang="pl-PL" sz="1400" b="1" dirty="0">
                <a:solidFill>
                  <a:schemeClr val="bg1"/>
                </a:solidFill>
              </a:rPr>
              <a:t>Zalecenie:</a:t>
            </a:r>
          </a:p>
          <a:p>
            <a:pPr>
              <a:lnSpc>
                <a:spcPts val="1300"/>
              </a:lnSpc>
            </a:pPr>
            <a:r>
              <a:rPr lang="pl-PL" sz="1200" dirty="0" err="1" smtClean="0">
                <a:solidFill>
                  <a:schemeClr val="bg1"/>
                </a:solidFill>
              </a:rPr>
              <a:t>Shortcutting</a:t>
            </a:r>
            <a:r>
              <a:rPr lang="pl-PL" sz="1200" dirty="0" smtClean="0">
                <a:solidFill>
                  <a:schemeClr val="bg1"/>
                </a:solidFill>
              </a:rPr>
              <a:t> </a:t>
            </a:r>
            <a:r>
              <a:rPr lang="pl-PL" sz="1200" dirty="0">
                <a:solidFill>
                  <a:schemeClr val="bg1"/>
                </a:solidFill>
              </a:rPr>
              <a:t>→ </a:t>
            </a:r>
            <a:r>
              <a:rPr lang="pl-PL" sz="1200" dirty="0" smtClean="0">
                <a:solidFill>
                  <a:schemeClr val="bg1"/>
                </a:solidFill>
              </a:rPr>
              <a:t>B-</a:t>
            </a:r>
            <a:r>
              <a:rPr lang="pl-PL" sz="1200" dirty="0" err="1" smtClean="0">
                <a:solidFill>
                  <a:schemeClr val="bg1"/>
                </a:solidFill>
              </a:rPr>
              <a:t>spline</a:t>
            </a:r>
            <a:r>
              <a:rPr lang="pl-PL" sz="1200" dirty="0">
                <a:solidFill>
                  <a:schemeClr val="bg1"/>
                </a:solidFill>
              </a:rPr>
              <a:t>  → </a:t>
            </a:r>
            <a:r>
              <a:rPr lang="pl-PL" sz="1200" dirty="0" err="1">
                <a:solidFill>
                  <a:schemeClr val="bg1"/>
                </a:solidFill>
              </a:rPr>
              <a:t>check_collision</a:t>
            </a:r>
            <a:r>
              <a:rPr lang="pl-PL" sz="1200" dirty="0">
                <a:solidFill>
                  <a:schemeClr val="bg1"/>
                </a:solidFill>
              </a:rPr>
              <a:t>()</a:t>
            </a:r>
            <a:endParaRPr lang="pl-PL" sz="1200" dirty="0" smtClean="0">
              <a:solidFill>
                <a:schemeClr val="bg1"/>
              </a:solidFill>
            </a:endParaRPr>
          </a:p>
          <a:p>
            <a:pPr>
              <a:lnSpc>
                <a:spcPts val="1300"/>
              </a:lnSpc>
            </a:pPr>
            <a:r>
              <a:rPr lang="pl-PL" sz="1200" dirty="0" smtClean="0">
                <a:solidFill>
                  <a:schemeClr val="bg1"/>
                </a:solidFill>
              </a:rPr>
              <a:t>Obie </a:t>
            </a:r>
            <a:r>
              <a:rPr lang="pl-PL" sz="1200" dirty="0">
                <a:solidFill>
                  <a:schemeClr val="bg1"/>
                </a:solidFill>
              </a:rPr>
              <a:t>metody kolejno!</a:t>
            </a:r>
            <a:endParaRPr lang="pl-PL" sz="1200" dirty="0" smtClean="0">
              <a:solidFill>
                <a:schemeClr val="bg1"/>
              </a:solidFill>
            </a:endParaRPr>
          </a:p>
        </p:txBody>
      </p:sp>
    </p:spTree>
    <p:extLst>
      <p:ext uri="{BB962C8B-B14F-4D97-AF65-F5344CB8AC3E}">
        <p14:creationId xmlns:p14="http://schemas.microsoft.com/office/powerpoint/2010/main" val="28731086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FB923C"/>
          </a:solidFill>
          <a:ln w="12700">
            <a:solidFill>
              <a:srgbClr val="FB923C"/>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FB923C">
                    <a:alpha val="80000"/>
                  </a:srgbClr>
                </a:solidFill>
                <a:latin typeface="Trebuchet MS" pitchFamily="34" charset="0"/>
                <a:ea typeface="Trebuchet MS" pitchFamily="34" charset="-122"/>
                <a:cs typeface="Trebuchet MS" pitchFamily="34" charset="-120"/>
              </a:rPr>
              <a:t>02</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FB923C"/>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63140" y="1702420"/>
            <a:ext cx="984280" cy="984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FB923C"/>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3931920" cy="100584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Planowanie lokalne</a:t>
            </a:r>
            <a:endParaRPr lang="en-US" sz="3200" dirty="0"/>
          </a:p>
          <a:p>
            <a:pPr marL="0" indent="0">
              <a:buNone/>
            </a:pPr>
            <a:r>
              <a:rPr lang="en-US" sz="3200" b="1" dirty="0">
                <a:solidFill>
                  <a:srgbClr val="FFFFFF"/>
                </a:solidFill>
                <a:latin typeface="Trebuchet MS" pitchFamily="34" charset="0"/>
                <a:ea typeface="Trebuchet MS" pitchFamily="34" charset="-122"/>
                <a:cs typeface="Trebuchet MS" pitchFamily="34" charset="-120"/>
              </a:rPr>
              <a:t>i unikanie przeszkód</a:t>
            </a:r>
            <a:endParaRPr lang="en-US" sz="3200" dirty="0"/>
          </a:p>
        </p:txBody>
      </p:sp>
      <p:sp>
        <p:nvSpPr>
          <p:cNvPr id="9" name="Shape 6"/>
          <p:cNvSpPr/>
          <p:nvPr/>
        </p:nvSpPr>
        <p:spPr>
          <a:xfrm>
            <a:off x="2926080" y="2697480"/>
            <a:ext cx="3931920" cy="27432"/>
          </a:xfrm>
          <a:prstGeom prst="rect">
            <a:avLst/>
          </a:prstGeom>
          <a:solidFill>
            <a:srgbClr val="FB923C"/>
          </a:solidFill>
          <a:ln w="12700">
            <a:solidFill>
              <a:srgbClr val="FB923C"/>
            </a:solidFill>
            <a:prstDash val="solid"/>
          </a:ln>
          <a:effectLst>
            <a:outerShdw blurRad="50800" dist="38100" dir="2700000" algn="tl" rotWithShape="0">
              <a:prstClr val="black">
                <a:alpha val="40000"/>
              </a:prstClr>
            </a:outerShdw>
          </a:effectLst>
        </p:spPr>
      </p:sp>
      <p:sp>
        <p:nvSpPr>
          <p:cNvPr id="10" name="Text 7"/>
          <p:cNvSpPr/>
          <p:nvPr/>
        </p:nvSpPr>
        <p:spPr>
          <a:xfrm>
            <a:off x="2926080" y="2834640"/>
            <a:ext cx="3931920" cy="82296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DWA, potential fields, MPC, przeszkody dynamiczne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B923C"/>
          </a:solidFill>
          <a:ln w="12700">
            <a:solidFill>
              <a:srgbClr val="FB923C"/>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FB923C"/>
                </a:solidFill>
                <a:latin typeface="Trebuchet MS" pitchFamily="34" charset="0"/>
                <a:ea typeface="Trebuchet MS" pitchFamily="34" charset="-122"/>
                <a:cs typeface="Trebuchet MS" pitchFamily="34" charset="-120"/>
              </a:rPr>
              <a:t>SEKCJA 2 | PLANISTA LOKALNY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Po co potrzebny planista lokalny?</a:t>
            </a:r>
            <a:endParaRPr lang="en-US" sz="2800" dirty="0"/>
          </a:p>
        </p:txBody>
      </p:sp>
      <p:sp>
        <p:nvSpPr>
          <p:cNvPr id="6" name="Shape 4"/>
          <p:cNvSpPr/>
          <p:nvPr/>
        </p:nvSpPr>
        <p:spPr>
          <a:xfrm>
            <a:off x="274320" y="1120699"/>
            <a:ext cx="4160520" cy="120307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120698"/>
            <a:ext cx="4160520" cy="52267"/>
          </a:xfrm>
          <a:prstGeom prst="rect">
            <a:avLst/>
          </a:prstGeom>
          <a:solidFill>
            <a:srgbClr val="FB923C"/>
          </a:solidFill>
          <a:ln w="12700">
            <a:solidFill>
              <a:srgbClr val="FB923C"/>
            </a:solidFill>
            <a:prstDash val="solid"/>
          </a:ln>
        </p:spPr>
      </p:sp>
      <p:sp>
        <p:nvSpPr>
          <p:cNvPr id="8" name="Text 6"/>
          <p:cNvSpPr/>
          <p:nvPr/>
        </p:nvSpPr>
        <p:spPr>
          <a:xfrm>
            <a:off x="384048" y="1207810"/>
            <a:ext cx="3941064" cy="495401"/>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Świat dynamiczny</a:t>
            </a:r>
            <a:endParaRPr lang="en-US" sz="2000" dirty="0"/>
          </a:p>
        </p:txBody>
      </p:sp>
      <p:sp>
        <p:nvSpPr>
          <p:cNvPr id="9" name="Text 7"/>
          <p:cNvSpPr/>
          <p:nvPr/>
        </p:nvSpPr>
        <p:spPr>
          <a:xfrm>
            <a:off x="384048" y="1712570"/>
            <a:ext cx="4050792" cy="571388"/>
          </a:xfrm>
          <a:prstGeom prst="rect">
            <a:avLst/>
          </a:prstGeom>
          <a:noFill/>
          <a:ln/>
        </p:spPr>
        <p:txBody>
          <a:bodyPr wrap="square" lIns="0" tIns="0" rIns="0" bIns="0" rtlCol="0" anchor="ctr"/>
          <a:lstStyle/>
          <a:p>
            <a:pPr marL="0" indent="0">
              <a:buNone/>
            </a:pPr>
            <a:r>
              <a:rPr lang="en-US" sz="1400" spc="-20" dirty="0">
                <a:solidFill>
                  <a:srgbClr val="475569"/>
                </a:solidFill>
                <a:latin typeface="Calibri" pitchFamily="34" charset="0"/>
                <a:ea typeface="Calibri" pitchFamily="34" charset="-122"/>
                <a:cs typeface="Calibri" pitchFamily="34" charset="-120"/>
              </a:rPr>
              <a:t>Mapa globalna nie uwzględnia ludzi, wózków, </a:t>
            </a:r>
            <a:r>
              <a:rPr lang="en-US" sz="1400" spc="-20" dirty="0" err="1">
                <a:solidFill>
                  <a:srgbClr val="475569"/>
                </a:solidFill>
                <a:latin typeface="Calibri" pitchFamily="34" charset="0"/>
                <a:ea typeface="Calibri" pitchFamily="34" charset="-122"/>
                <a:cs typeface="Calibri" pitchFamily="34" charset="-120"/>
              </a:rPr>
              <a:t>otwieranych</a:t>
            </a:r>
            <a:r>
              <a:rPr lang="en-US" sz="1400" spc="-20" dirty="0">
                <a:solidFill>
                  <a:srgbClr val="475569"/>
                </a:solidFill>
                <a:latin typeface="Calibri" pitchFamily="34" charset="0"/>
                <a:ea typeface="Calibri" pitchFamily="34" charset="-122"/>
                <a:cs typeface="Calibri" pitchFamily="34" charset="-120"/>
              </a:rPr>
              <a:t> </a:t>
            </a:r>
            <a:r>
              <a:rPr lang="en-US" sz="1400" spc="-20" dirty="0" err="1" smtClean="0">
                <a:solidFill>
                  <a:srgbClr val="475569"/>
                </a:solidFill>
                <a:latin typeface="Calibri" pitchFamily="34" charset="0"/>
                <a:ea typeface="Calibri" pitchFamily="34" charset="-122"/>
                <a:cs typeface="Calibri" pitchFamily="34" charset="-120"/>
              </a:rPr>
              <a:t>drzwi</a:t>
            </a:r>
            <a:r>
              <a:rPr lang="pl-PL" sz="1400" spc="-20" dirty="0">
                <a:solidFill>
                  <a:srgbClr val="475569"/>
                </a:solidFill>
                <a:latin typeface="Calibri" pitchFamily="34" charset="0"/>
                <a:ea typeface="Calibri" pitchFamily="34" charset="-122"/>
                <a:cs typeface="Calibri" pitchFamily="34" charset="-120"/>
              </a:rPr>
              <a:t>.</a:t>
            </a:r>
            <a:r>
              <a:rPr lang="en-US" sz="1400" spc="-20" dirty="0" smtClean="0">
                <a:solidFill>
                  <a:srgbClr val="475569"/>
                </a:solidFill>
                <a:latin typeface="Calibri" pitchFamily="34" charset="0"/>
                <a:ea typeface="Calibri" pitchFamily="34" charset="-122"/>
                <a:cs typeface="Calibri" pitchFamily="34" charset="-120"/>
              </a:rPr>
              <a:t> </a:t>
            </a:r>
            <a:r>
              <a:rPr lang="pl-PL" sz="1400" spc="-20" dirty="0">
                <a:solidFill>
                  <a:srgbClr val="475569"/>
                </a:solidFill>
                <a:latin typeface="Calibri" pitchFamily="34" charset="0"/>
                <a:ea typeface="Calibri" pitchFamily="34" charset="-122"/>
                <a:cs typeface="Calibri" pitchFamily="34" charset="-120"/>
              </a:rPr>
              <a:t>P</a:t>
            </a:r>
            <a:r>
              <a:rPr lang="en-US" sz="1400" spc="-20" dirty="0" err="1" smtClean="0">
                <a:solidFill>
                  <a:srgbClr val="475569"/>
                </a:solidFill>
                <a:latin typeface="Calibri" pitchFamily="34" charset="0"/>
                <a:ea typeface="Calibri" pitchFamily="34" charset="-122"/>
                <a:cs typeface="Calibri" pitchFamily="34" charset="-120"/>
              </a:rPr>
              <a:t>lanista</a:t>
            </a:r>
            <a:r>
              <a:rPr lang="en-US" sz="1400" spc="-20" dirty="0" smtClean="0">
                <a:solidFill>
                  <a:srgbClr val="475569"/>
                </a:solidFill>
                <a:latin typeface="Calibri" pitchFamily="34" charset="0"/>
                <a:ea typeface="Calibri" pitchFamily="34" charset="-122"/>
                <a:cs typeface="Calibri" pitchFamily="34" charset="-120"/>
              </a:rPr>
              <a:t> </a:t>
            </a:r>
            <a:r>
              <a:rPr lang="en-US" sz="1400" spc="-20" dirty="0">
                <a:solidFill>
                  <a:srgbClr val="475569"/>
                </a:solidFill>
                <a:latin typeface="Calibri" pitchFamily="34" charset="0"/>
                <a:ea typeface="Calibri" pitchFamily="34" charset="-122"/>
                <a:cs typeface="Calibri" pitchFamily="34" charset="-120"/>
              </a:rPr>
              <a:t>lokalny reaguje na bieżąco</a:t>
            </a:r>
            <a:endParaRPr lang="en-US" sz="1400" spc="-20" dirty="0"/>
          </a:p>
        </p:txBody>
      </p:sp>
      <p:sp>
        <p:nvSpPr>
          <p:cNvPr id="10" name="Shape 8"/>
          <p:cNvSpPr/>
          <p:nvPr/>
        </p:nvSpPr>
        <p:spPr>
          <a:xfrm>
            <a:off x="4709160" y="1120699"/>
            <a:ext cx="4160520" cy="1203076"/>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4709160" y="1120698"/>
            <a:ext cx="4160520" cy="52267"/>
          </a:xfrm>
          <a:prstGeom prst="rect">
            <a:avLst/>
          </a:prstGeom>
          <a:solidFill>
            <a:srgbClr val="0077A8"/>
          </a:solidFill>
          <a:ln w="12700">
            <a:solidFill>
              <a:srgbClr val="0077A8"/>
            </a:solidFill>
            <a:prstDash val="solid"/>
          </a:ln>
        </p:spPr>
      </p:sp>
      <p:sp>
        <p:nvSpPr>
          <p:cNvPr id="12" name="Text 10"/>
          <p:cNvSpPr/>
          <p:nvPr/>
        </p:nvSpPr>
        <p:spPr>
          <a:xfrm>
            <a:off x="4818888" y="1207810"/>
            <a:ext cx="3941064" cy="495401"/>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Niedoskonała mapa</a:t>
            </a:r>
            <a:endParaRPr lang="en-US" sz="2000" dirty="0"/>
          </a:p>
        </p:txBody>
      </p:sp>
      <p:sp>
        <p:nvSpPr>
          <p:cNvPr id="13" name="Text 11"/>
          <p:cNvSpPr/>
          <p:nvPr/>
        </p:nvSpPr>
        <p:spPr>
          <a:xfrm>
            <a:off x="4818888" y="1712570"/>
            <a:ext cx="3941064" cy="571388"/>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Sensory mają szum, mapa jest zbudowana ze starego skanu – lokalna mapa jest zawsze świeższa</a:t>
            </a:r>
            <a:endParaRPr lang="en-US" sz="1400" dirty="0"/>
          </a:p>
        </p:txBody>
      </p:sp>
      <p:sp>
        <p:nvSpPr>
          <p:cNvPr id="14" name="Shape 12"/>
          <p:cNvSpPr/>
          <p:nvPr/>
        </p:nvSpPr>
        <p:spPr>
          <a:xfrm>
            <a:off x="274320" y="2522986"/>
            <a:ext cx="4160520" cy="1290737"/>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274320" y="2522986"/>
            <a:ext cx="4160520" cy="52267"/>
          </a:xfrm>
          <a:prstGeom prst="rect">
            <a:avLst/>
          </a:prstGeom>
          <a:solidFill>
            <a:srgbClr val="0077A8"/>
          </a:solidFill>
          <a:ln w="12700">
            <a:solidFill>
              <a:srgbClr val="0077A8"/>
            </a:solidFill>
            <a:prstDash val="solid"/>
          </a:ln>
        </p:spPr>
      </p:sp>
      <p:sp>
        <p:nvSpPr>
          <p:cNvPr id="16" name="Text 14"/>
          <p:cNvSpPr/>
          <p:nvPr/>
        </p:nvSpPr>
        <p:spPr>
          <a:xfrm>
            <a:off x="384048" y="2610098"/>
            <a:ext cx="3941064" cy="495401"/>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Ograniczenia dynamiki</a:t>
            </a:r>
            <a:endParaRPr lang="en-US" sz="2000" dirty="0"/>
          </a:p>
        </p:txBody>
      </p:sp>
      <p:sp>
        <p:nvSpPr>
          <p:cNvPr id="17" name="Text 15"/>
          <p:cNvSpPr/>
          <p:nvPr/>
        </p:nvSpPr>
        <p:spPr>
          <a:xfrm>
            <a:off x="384048" y="3114858"/>
            <a:ext cx="3941064" cy="571388"/>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Robot nie może skręcić dowolnie ostro ani zatrzymać się natychmiast – kinematyka musi być uwzględniona</a:t>
            </a:r>
            <a:endParaRPr lang="en-US" sz="1400" dirty="0"/>
          </a:p>
        </p:txBody>
      </p:sp>
      <p:sp>
        <p:nvSpPr>
          <p:cNvPr id="18" name="Shape 16"/>
          <p:cNvSpPr/>
          <p:nvPr/>
        </p:nvSpPr>
        <p:spPr>
          <a:xfrm>
            <a:off x="4709160" y="2522986"/>
            <a:ext cx="4160520" cy="1290737"/>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4709160" y="2522986"/>
            <a:ext cx="4160520" cy="52267"/>
          </a:xfrm>
          <a:prstGeom prst="rect">
            <a:avLst/>
          </a:prstGeom>
          <a:solidFill>
            <a:srgbClr val="1A3550"/>
          </a:solidFill>
          <a:ln w="12700">
            <a:solidFill>
              <a:srgbClr val="1A3550"/>
            </a:solidFill>
            <a:prstDash val="solid"/>
          </a:ln>
        </p:spPr>
      </p:sp>
      <p:sp>
        <p:nvSpPr>
          <p:cNvPr id="20" name="Text 18"/>
          <p:cNvSpPr/>
          <p:nvPr/>
        </p:nvSpPr>
        <p:spPr>
          <a:xfrm>
            <a:off x="4818888" y="2610098"/>
            <a:ext cx="3941064" cy="495401"/>
          </a:xfrm>
          <a:prstGeom prst="rect">
            <a:avLst/>
          </a:prstGeom>
          <a:noFill/>
          <a:ln/>
        </p:spPr>
        <p:txBody>
          <a:bodyPr wrap="square" lIns="0" tIns="0" rIns="0" bIns="0" rtlCol="0" anchor="ctr"/>
          <a:lstStyle/>
          <a:p>
            <a:pPr marL="0" indent="0">
              <a:buNone/>
            </a:pPr>
            <a:r>
              <a:rPr lang="en-US" sz="2000" b="1" dirty="0">
                <a:solidFill>
                  <a:srgbClr val="0D1B2A"/>
                </a:solidFill>
                <a:latin typeface="Trebuchet MS" pitchFamily="34" charset="0"/>
                <a:ea typeface="Trebuchet MS" pitchFamily="34" charset="-122"/>
                <a:cs typeface="Trebuchet MS" pitchFamily="34" charset="-120"/>
              </a:rPr>
              <a:t>Horyzont predykcji</a:t>
            </a:r>
            <a:endParaRPr lang="en-US" sz="2000" dirty="0"/>
          </a:p>
        </p:txBody>
      </p:sp>
      <p:sp>
        <p:nvSpPr>
          <p:cNvPr id="21" name="Text 19"/>
          <p:cNvSpPr/>
          <p:nvPr/>
        </p:nvSpPr>
        <p:spPr>
          <a:xfrm>
            <a:off x="4818888" y="3114858"/>
            <a:ext cx="3941064" cy="571388"/>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Decyzje na 1–3 s do przodu wystarczają; pełny replan jest zbyt kosztowny w każdym cyklu (10–50 Hz)</a:t>
            </a:r>
            <a:endParaRPr lang="en-US" sz="1400" dirty="0"/>
          </a:p>
        </p:txBody>
      </p:sp>
      <p:sp>
        <p:nvSpPr>
          <p:cNvPr id="22" name="Prostokąt 21"/>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Planista globalny zakłada pewien obraz świata, ale rzeczywiste środowisko jest dynamiczne i niepewne. Ludzie mogą wejść na trasę, drzwi mogą się zamknąć, a sensory mogą wykryć przeszkodę, której nie było na mapie. Planista lokalny działa z większą częstotliwością i reaguje na bieżące dane sensoryczne. Jego zadaniem jest bezpieczne podążanie za ścieżką globalną, ale z uwzględnieniem aktualnych ograniczeń ruchu, dynamiki robota i przeszkód </a:t>
            </a:r>
            <a:r>
              <a:rPr lang="pl-PL" sz="1400" dirty="0" smtClean="0">
                <a:solidFill>
                  <a:schemeClr val="bg1"/>
                </a:solidFill>
              </a:rPr>
              <a:t/>
            </a:r>
            <a:br>
              <a:rPr lang="pl-PL" sz="1400" dirty="0" smtClean="0">
                <a:solidFill>
                  <a:schemeClr val="bg1"/>
                </a:solidFill>
              </a:rPr>
            </a:br>
            <a:r>
              <a:rPr lang="pl-PL" sz="1400" dirty="0" smtClean="0">
                <a:solidFill>
                  <a:schemeClr val="bg1"/>
                </a:solidFill>
              </a:rPr>
              <a:t>w </a:t>
            </a:r>
            <a:r>
              <a:rPr lang="pl-PL" sz="1400" dirty="0">
                <a:solidFill>
                  <a:schemeClr val="bg1"/>
                </a:solidFill>
              </a:rPr>
              <a:t>najbliższym otoczeniu. Dla humanoida lokalne decyzje muszą dodatkowo respektować stabilność chodu.</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A855F7"/>
          </a:solidFill>
          <a:ln w="12700">
            <a:solidFill>
              <a:srgbClr val="A855F7"/>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A855F7"/>
                </a:solidFill>
                <a:latin typeface="Trebuchet MS" pitchFamily="34" charset="0"/>
                <a:ea typeface="Trebuchet MS" pitchFamily="34" charset="-122"/>
                <a:cs typeface="Trebuchet MS" pitchFamily="34" charset="-120"/>
              </a:rPr>
              <a:t>SEKCJA 2 | POTENTIAL FIELDS</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Pola potencjału </a:t>
            </a:r>
            <a:r>
              <a:rPr lang="en-US" sz="2400" dirty="0">
                <a:solidFill>
                  <a:srgbClr val="FFFFFF"/>
                </a:solidFill>
                <a:latin typeface="Trebuchet MS" pitchFamily="34" charset="0"/>
                <a:ea typeface="Trebuchet MS" pitchFamily="34" charset="-122"/>
                <a:cs typeface="Trebuchet MS" pitchFamily="34" charset="-120"/>
              </a:rPr>
              <a:t>(Potential Fields)</a:t>
            </a:r>
            <a:endParaRPr lang="en-US" sz="2400" dirty="0"/>
          </a:p>
        </p:txBody>
      </p:sp>
      <p:sp>
        <p:nvSpPr>
          <p:cNvPr id="6" name="Shape 4"/>
          <p:cNvSpPr/>
          <p:nvPr/>
        </p:nvSpPr>
        <p:spPr>
          <a:xfrm>
            <a:off x="274320" y="1097281"/>
            <a:ext cx="5394960" cy="2679266"/>
          </a:xfrm>
          <a:prstGeom prst="rect">
            <a:avLst/>
          </a:prstGeom>
          <a:solidFill>
            <a:srgbClr val="0D1B2A"/>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20" y="1097280"/>
            <a:ext cx="5394960" cy="298125"/>
          </a:xfrm>
          <a:prstGeom prst="rect">
            <a:avLst/>
          </a:prstGeom>
          <a:solidFill>
            <a:srgbClr val="A855F7"/>
          </a:solidFill>
          <a:ln w="12700">
            <a:solidFill>
              <a:srgbClr val="A855F7"/>
            </a:solidFill>
            <a:prstDash val="solid"/>
          </a:ln>
        </p:spPr>
      </p:sp>
      <p:sp>
        <p:nvSpPr>
          <p:cNvPr id="8" name="Text 6"/>
          <p:cNvSpPr/>
          <p:nvPr/>
        </p:nvSpPr>
        <p:spPr>
          <a:xfrm>
            <a:off x="457200" y="1115568"/>
            <a:ext cx="5029200" cy="26973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Wzory sił</a:t>
            </a:r>
            <a:endParaRPr lang="en-US" sz="1600" dirty="0"/>
          </a:p>
        </p:txBody>
      </p:sp>
      <p:sp>
        <p:nvSpPr>
          <p:cNvPr id="9" name="Text 7"/>
          <p:cNvSpPr/>
          <p:nvPr/>
        </p:nvSpPr>
        <p:spPr>
          <a:xfrm>
            <a:off x="411480" y="1475677"/>
            <a:ext cx="5166360" cy="2190788"/>
          </a:xfrm>
          <a:prstGeom prst="rect">
            <a:avLst/>
          </a:prstGeom>
          <a:noFill/>
          <a:ln/>
        </p:spPr>
        <p:txBody>
          <a:bodyPr wrap="square" lIns="63500" tIns="36000" rIns="101600" bIns="0" rtlCol="0" anchor="t">
            <a:spAutoFit/>
          </a:bodyPr>
          <a:lstStyle/>
          <a:p>
            <a:pPr>
              <a:lnSpc>
                <a:spcPts val="1400"/>
              </a:lnSpc>
            </a:pPr>
            <a:r>
              <a:rPr lang="pl-PL" sz="1200" b="1" dirty="0" err="1" smtClean="0">
                <a:solidFill>
                  <a:srgbClr val="CCCCCC"/>
                </a:solidFill>
                <a:latin typeface="Consolas" panose="020B0609020204030204" pitchFamily="49" charset="0"/>
              </a:rPr>
              <a:t>U</a:t>
            </a:r>
            <a:r>
              <a:rPr lang="pl-PL" sz="1200" b="1" baseline="-25000" dirty="0" err="1" smtClean="0">
                <a:solidFill>
                  <a:srgbClr val="CCCCCC"/>
                </a:solidFill>
                <a:latin typeface="Consolas" panose="020B0609020204030204" pitchFamily="49" charset="0"/>
              </a:rPr>
              <a:t>attr</a:t>
            </a:r>
            <a:r>
              <a:rPr lang="pl-PL" sz="1200" b="1" dirty="0" smtClean="0">
                <a:solidFill>
                  <a:srgbClr val="CCCCCC"/>
                </a:solidFill>
                <a:latin typeface="Consolas" panose="020B0609020204030204" pitchFamily="49" charset="0"/>
              </a:rPr>
              <a:t>(q</a:t>
            </a:r>
            <a:r>
              <a:rPr lang="pl-PL" sz="1200" b="1" dirty="0">
                <a:solidFill>
                  <a:srgbClr val="CCCCCC"/>
                </a:solidFill>
                <a:latin typeface="Consolas" panose="020B0609020204030204" pitchFamily="49" charset="0"/>
              </a:rPr>
              <a:t>)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½ · </a:t>
            </a:r>
            <a:r>
              <a:rPr lang="pl-PL" sz="1200" b="1" dirty="0" smtClean="0">
                <a:solidFill>
                  <a:srgbClr val="CCCCCC"/>
                </a:solidFill>
                <a:latin typeface="Consolas" panose="020B0609020204030204" pitchFamily="49" charset="0"/>
              </a:rPr>
              <a:t>k</a:t>
            </a:r>
            <a:r>
              <a:rPr lang="pl-PL" sz="1200" b="1" baseline="-25000" dirty="0" smtClean="0">
                <a:solidFill>
                  <a:srgbClr val="CCCCCC"/>
                </a:solidFill>
                <a:latin typeface="Consolas" panose="020B0609020204030204" pitchFamily="49" charset="0"/>
              </a:rPr>
              <a:t>att</a:t>
            </a:r>
            <a:r>
              <a:rPr lang="pl-PL" sz="1200" b="1" dirty="0" smtClean="0">
                <a:solidFill>
                  <a:srgbClr val="CCCCCC"/>
                </a:solidFill>
                <a:latin typeface="Consolas" panose="020B0609020204030204" pitchFamily="49" charset="0"/>
              </a:rPr>
              <a:t> </a:t>
            </a:r>
            <a:r>
              <a:rPr lang="pl-PL" sz="1200" b="1" dirty="0">
                <a:solidFill>
                  <a:srgbClr val="CCCCCC"/>
                </a:solidFill>
                <a:latin typeface="Consolas" panose="020B0609020204030204" pitchFamily="49" charset="0"/>
              </a:rPr>
              <a:t>· d²(q, </a:t>
            </a:r>
            <a:r>
              <a:rPr lang="pl-PL" sz="1200" b="1" dirty="0" err="1" smtClean="0">
                <a:solidFill>
                  <a:srgbClr val="CCCCCC"/>
                </a:solidFill>
                <a:latin typeface="Consolas" panose="020B0609020204030204" pitchFamily="49" charset="0"/>
              </a:rPr>
              <a:t>q</a:t>
            </a:r>
            <a:r>
              <a:rPr lang="pl-PL" sz="1200" b="1" baseline="-25000" dirty="0" err="1" smtClean="0">
                <a:solidFill>
                  <a:srgbClr val="CCCCCC"/>
                </a:solidFill>
                <a:latin typeface="Consolas" panose="020B0609020204030204" pitchFamily="49" charset="0"/>
              </a:rPr>
              <a:t>goal</a:t>
            </a:r>
            <a:r>
              <a:rPr lang="pl-PL" sz="1200" b="1" dirty="0">
                <a:solidFill>
                  <a:srgbClr val="CCCCCC"/>
                </a:solidFill>
                <a:latin typeface="Consolas" panose="020B0609020204030204" pitchFamily="49" charset="0"/>
              </a:rPr>
              <a:t>)</a:t>
            </a:r>
          </a:p>
          <a:p>
            <a:pPr>
              <a:lnSpc>
                <a:spcPts val="1400"/>
              </a:lnSpc>
            </a:pPr>
            <a:r>
              <a:rPr lang="pl-PL" sz="1200" dirty="0">
                <a:solidFill>
                  <a:srgbClr val="CCCCCC"/>
                </a:solidFill>
                <a:latin typeface="Consolas" panose="020B0609020204030204" pitchFamily="49" charset="0"/>
              </a:rPr>
              <a:t>  – </a:t>
            </a:r>
            <a:r>
              <a:rPr lang="pl-PL" sz="1200" dirty="0" err="1">
                <a:solidFill>
                  <a:srgbClr val="CCCCCC"/>
                </a:solidFill>
                <a:latin typeface="Consolas" panose="020B0609020204030204" pitchFamily="49" charset="0"/>
              </a:rPr>
              <a:t>attrakcja</a:t>
            </a:r>
            <a:r>
              <a:rPr lang="pl-PL" sz="1200" dirty="0">
                <a:solidFill>
                  <a:srgbClr val="CCCCCC"/>
                </a:solidFill>
                <a:latin typeface="Consolas" panose="020B0609020204030204" pitchFamily="49" charset="0"/>
              </a:rPr>
              <a:t> do celu; rośnie z odległością</a:t>
            </a:r>
          </a:p>
          <a:p>
            <a:pPr>
              <a:lnSpc>
                <a:spcPts val="14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b="1" dirty="0" err="1" smtClean="0">
                <a:solidFill>
                  <a:srgbClr val="CCCCCC"/>
                </a:solidFill>
                <a:latin typeface="Consolas" panose="020B0609020204030204" pitchFamily="49" charset="0"/>
              </a:rPr>
              <a:t>U</a:t>
            </a:r>
            <a:r>
              <a:rPr lang="pl-PL" sz="1200" b="1" baseline="-25000" dirty="0" err="1" smtClean="0">
                <a:solidFill>
                  <a:srgbClr val="CCCCCC"/>
                </a:solidFill>
                <a:latin typeface="Consolas" panose="020B0609020204030204" pitchFamily="49" charset="0"/>
              </a:rPr>
              <a:t>rep</a:t>
            </a:r>
            <a:r>
              <a:rPr lang="pl-PL" sz="1200" b="1" dirty="0" smtClean="0">
                <a:solidFill>
                  <a:srgbClr val="CCCCCC"/>
                </a:solidFill>
                <a:latin typeface="Consolas" panose="020B0609020204030204" pitchFamily="49" charset="0"/>
              </a:rPr>
              <a:t>(q</a:t>
            </a:r>
            <a:r>
              <a:rPr lang="pl-PL" sz="1200" b="1" dirty="0">
                <a:solidFill>
                  <a:srgbClr val="CCCCCC"/>
                </a:solidFill>
                <a:latin typeface="Consolas" panose="020B0609020204030204" pitchFamily="49" charset="0"/>
              </a:rPr>
              <a:t>)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½ · </a:t>
            </a:r>
            <a:r>
              <a:rPr lang="pl-PL" sz="1200" b="1" dirty="0" err="1">
                <a:solidFill>
                  <a:srgbClr val="CCCCCC"/>
                </a:solidFill>
                <a:latin typeface="Consolas" panose="020B0609020204030204" pitchFamily="49" charset="0"/>
              </a:rPr>
              <a:t>k_rep</a:t>
            </a:r>
            <a:r>
              <a:rPr lang="pl-PL" sz="1200" b="1" dirty="0">
                <a:solidFill>
                  <a:srgbClr val="CCCCCC"/>
                </a:solidFill>
                <a:latin typeface="Consolas" panose="020B0609020204030204" pitchFamily="49" charset="0"/>
              </a:rPr>
              <a:t> · (</a:t>
            </a:r>
            <a:r>
              <a:rPr lang="pl-PL" sz="1200" b="1" dirty="0">
                <a:solidFill>
                  <a:srgbClr val="B5CEA8"/>
                </a:solidFill>
                <a:latin typeface="Consolas" panose="020B0609020204030204" pitchFamily="49" charset="0"/>
              </a:rPr>
              <a:t>1</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d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a:t>
            </a:r>
            <a:r>
              <a:rPr lang="pl-PL" sz="1200" b="1" dirty="0">
                <a:solidFill>
                  <a:srgbClr val="B5CEA8"/>
                </a:solidFill>
                <a:latin typeface="Consolas" panose="020B0609020204030204" pitchFamily="49" charset="0"/>
              </a:rPr>
              <a:t>1</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d₀)²</a:t>
            </a:r>
          </a:p>
          <a:p>
            <a:pPr>
              <a:lnSpc>
                <a:spcPts val="1400"/>
              </a:lnSpc>
            </a:pPr>
            <a:r>
              <a:rPr lang="pl-PL" sz="1200" dirty="0">
                <a:solidFill>
                  <a:srgbClr val="CCCCCC"/>
                </a:solidFill>
                <a:latin typeface="Consolas" panose="020B0609020204030204" pitchFamily="49" charset="0"/>
              </a:rPr>
              <a:t>        </a:t>
            </a:r>
            <a:r>
              <a:rPr lang="pl-PL" sz="1200" dirty="0" smtClean="0">
                <a:solidFill>
                  <a:srgbClr val="CCCCCC"/>
                </a:solidFill>
                <a:latin typeface="Consolas" panose="020B0609020204030204" pitchFamily="49" charset="0"/>
              </a:rPr>
              <a:t>gdy </a:t>
            </a:r>
            <a:r>
              <a:rPr lang="pl-PL" sz="1200" dirty="0">
                <a:solidFill>
                  <a:srgbClr val="CCCCCC"/>
                </a:solidFill>
                <a:latin typeface="Consolas" panose="020B0609020204030204" pitchFamily="49" charset="0"/>
              </a:rPr>
              <a:t>d </a:t>
            </a:r>
            <a:r>
              <a:rPr lang="pl-PL" sz="1200" dirty="0">
                <a:solidFill>
                  <a:srgbClr val="D4D4D4"/>
                </a:solidFill>
                <a:latin typeface="Consolas" panose="020B0609020204030204" pitchFamily="49" charset="0"/>
              </a:rPr>
              <a:t>&lt;</a:t>
            </a:r>
            <a:r>
              <a:rPr lang="pl-PL" sz="1200" dirty="0">
                <a:solidFill>
                  <a:srgbClr val="CCCCCC"/>
                </a:solidFill>
                <a:latin typeface="Consolas" panose="020B0609020204030204" pitchFamily="49" charset="0"/>
              </a:rPr>
              <a:t> d₀, inaczej </a:t>
            </a:r>
            <a:r>
              <a:rPr lang="pl-PL" sz="1200" dirty="0" smtClean="0">
                <a:solidFill>
                  <a:srgbClr val="B5CEA8"/>
                </a:solidFill>
                <a:latin typeface="Consolas" panose="020B0609020204030204" pitchFamily="49" charset="0"/>
              </a:rPr>
              <a:t>0 </a:t>
            </a:r>
            <a:r>
              <a:rPr lang="pl-PL" sz="1200" dirty="0" smtClean="0">
                <a:solidFill>
                  <a:srgbClr val="CCCCCC"/>
                </a:solidFill>
                <a:latin typeface="Consolas" panose="020B0609020204030204" pitchFamily="49" charset="0"/>
              </a:rPr>
              <a:t>– </a:t>
            </a:r>
            <a:r>
              <a:rPr lang="pl-PL" sz="1200" dirty="0">
                <a:solidFill>
                  <a:srgbClr val="CCCCCC"/>
                </a:solidFill>
                <a:latin typeface="Consolas" panose="020B0609020204030204" pitchFamily="49" charset="0"/>
              </a:rPr>
              <a:t>odpychanie od przeszkód</a:t>
            </a:r>
          </a:p>
          <a:p>
            <a:pPr>
              <a:lnSpc>
                <a:spcPts val="1400"/>
              </a:lnSpc>
            </a:pPr>
            <a:r>
              <a:rPr lang="pl-PL" sz="1200" dirty="0">
                <a:solidFill>
                  <a:srgbClr val="CCCCCC"/>
                </a:solidFill>
                <a:latin typeface="Consolas" panose="020B0609020204030204" pitchFamily="49" charset="0"/>
              </a:rPr>
              <a:t>  </a:t>
            </a:r>
            <a:r>
              <a:rPr lang="pl-PL" sz="1200" dirty="0" smtClean="0">
                <a:solidFill>
                  <a:srgbClr val="CCCCCC"/>
                </a:solidFill>
                <a:latin typeface="Consolas" panose="020B0609020204030204" pitchFamily="49" charset="0"/>
              </a:rPr>
              <a:t>	     d</a:t>
            </a:r>
            <a:r>
              <a:rPr lang="pl-PL" sz="1200" dirty="0">
                <a:solidFill>
                  <a:srgbClr val="CCCCCC"/>
                </a:solidFill>
                <a:latin typeface="Consolas" panose="020B0609020204030204" pitchFamily="49" charset="0"/>
              </a:rPr>
              <a:t>₀ – promień wpływu przeszkody</a:t>
            </a:r>
          </a:p>
          <a:p>
            <a:pPr>
              <a:lnSpc>
                <a:spcPts val="14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b="1" dirty="0">
                <a:solidFill>
                  <a:srgbClr val="CCCCCC"/>
                </a:solidFill>
                <a:latin typeface="Consolas" panose="020B0609020204030204" pitchFamily="49" charset="0"/>
              </a:rPr>
              <a:t>F(q)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–∇U(q)</a:t>
            </a:r>
          </a:p>
          <a:p>
            <a:pPr>
              <a:lnSpc>
                <a:spcPts val="1400"/>
              </a:lnSpc>
            </a:pPr>
            <a:r>
              <a:rPr lang="pl-PL" sz="1200" b="1" dirty="0">
                <a:solidFill>
                  <a:srgbClr val="CCCCCC"/>
                </a:solidFill>
                <a:latin typeface="Consolas" panose="020B0609020204030204" pitchFamily="49" charset="0"/>
              </a:rPr>
              <a:t>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a:t>
            </a:r>
            <a:r>
              <a:rPr lang="pl-PL" sz="1200" b="1" dirty="0" err="1" smtClean="0">
                <a:solidFill>
                  <a:srgbClr val="CCCCCC"/>
                </a:solidFill>
                <a:latin typeface="Consolas" panose="020B0609020204030204" pitchFamily="49" charset="0"/>
              </a:rPr>
              <a:t>F</a:t>
            </a:r>
            <a:r>
              <a:rPr lang="pl-PL" sz="1200" b="1" baseline="-25000" dirty="0" err="1" smtClean="0">
                <a:solidFill>
                  <a:srgbClr val="CCCCCC"/>
                </a:solidFill>
                <a:latin typeface="Consolas" panose="020B0609020204030204" pitchFamily="49" charset="0"/>
              </a:rPr>
              <a:t>attr</a:t>
            </a:r>
            <a:r>
              <a:rPr lang="pl-PL" sz="1200" b="1" dirty="0" smtClean="0">
                <a:solidFill>
                  <a:srgbClr val="CCCCCC"/>
                </a:solidFill>
                <a:latin typeface="Consolas" panose="020B0609020204030204" pitchFamily="49" charset="0"/>
              </a:rPr>
              <a:t>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a:t>
            </a:r>
            <a:r>
              <a:rPr lang="pl-PL" sz="1200" b="1" dirty="0" err="1" smtClean="0">
                <a:solidFill>
                  <a:srgbClr val="CCCCCC"/>
                </a:solidFill>
                <a:latin typeface="Consolas" panose="020B0609020204030204" pitchFamily="49" charset="0"/>
              </a:rPr>
              <a:t>F</a:t>
            </a:r>
            <a:r>
              <a:rPr lang="pl-PL" sz="1200" b="1" baseline="-25000" dirty="0" err="1" smtClean="0">
                <a:solidFill>
                  <a:srgbClr val="CCCCCC"/>
                </a:solidFill>
                <a:latin typeface="Consolas" panose="020B0609020204030204" pitchFamily="49" charset="0"/>
              </a:rPr>
              <a:t>rep</a:t>
            </a:r>
            <a:endParaRPr lang="pl-PL" sz="1200" b="1" baseline="-25000" dirty="0">
              <a:solidFill>
                <a:srgbClr val="CCCCCC"/>
              </a:solidFill>
              <a:latin typeface="Consolas" panose="020B0609020204030204" pitchFamily="49" charset="0"/>
            </a:endParaRPr>
          </a:p>
          <a:p>
            <a:pPr>
              <a:lnSpc>
                <a:spcPts val="1400"/>
              </a:lnSpc>
            </a:pPr>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CCCCCC"/>
                </a:solidFill>
                <a:latin typeface="Consolas" panose="020B0609020204030204" pitchFamily="49" charset="0"/>
              </a:rPr>
              <a:t>Ruch: </a:t>
            </a:r>
            <a:r>
              <a:rPr lang="pl-PL" sz="1200" b="1" dirty="0" err="1" smtClean="0">
                <a:solidFill>
                  <a:srgbClr val="CCCCCC"/>
                </a:solidFill>
                <a:latin typeface="Consolas" panose="020B0609020204030204" pitchFamily="49" charset="0"/>
              </a:rPr>
              <a:t>q</a:t>
            </a:r>
            <a:r>
              <a:rPr lang="pl-PL" sz="1200" b="1" baseline="-25000" dirty="0" err="1" smtClean="0">
                <a:solidFill>
                  <a:srgbClr val="CCCCCC"/>
                </a:solidFill>
                <a:latin typeface="Consolas" panose="020B0609020204030204" pitchFamily="49" charset="0"/>
              </a:rPr>
              <a:t>new</a:t>
            </a:r>
            <a:r>
              <a:rPr lang="pl-PL" sz="1200" b="1" dirty="0" smtClean="0">
                <a:solidFill>
                  <a:srgbClr val="CCCCCC"/>
                </a:solidFill>
                <a:latin typeface="Consolas" panose="020B0609020204030204" pitchFamily="49" charset="0"/>
              </a:rPr>
              <a:t>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q </a:t>
            </a:r>
            <a:r>
              <a:rPr lang="pl-PL" sz="1200" b="1" dirty="0">
                <a:solidFill>
                  <a:srgbClr val="D4D4D4"/>
                </a:solidFill>
                <a:latin typeface="Consolas" panose="020B0609020204030204" pitchFamily="49" charset="0"/>
              </a:rPr>
              <a:t>+</a:t>
            </a:r>
            <a:r>
              <a:rPr lang="pl-PL" sz="1200" b="1" dirty="0">
                <a:solidFill>
                  <a:srgbClr val="CCCCCC"/>
                </a:solidFill>
                <a:latin typeface="Consolas" panose="020B0609020204030204" pitchFamily="49" charset="0"/>
              </a:rPr>
              <a:t> </a:t>
            </a:r>
            <a:r>
              <a:rPr lang="el-GR" sz="1200" b="1" dirty="0">
                <a:solidFill>
                  <a:srgbClr val="CCCCCC"/>
                </a:solidFill>
                <a:latin typeface="Consolas" panose="020B0609020204030204" pitchFamily="49" charset="0"/>
              </a:rPr>
              <a:t>α · </a:t>
            </a:r>
            <a:r>
              <a:rPr lang="pl-PL" sz="1200" b="1" dirty="0">
                <a:solidFill>
                  <a:srgbClr val="CCCCCC"/>
                </a:solidFill>
                <a:latin typeface="Consolas" panose="020B0609020204030204" pitchFamily="49" charset="0"/>
              </a:rPr>
              <a:t>F(q)</a:t>
            </a:r>
          </a:p>
          <a:p>
            <a:pPr>
              <a:lnSpc>
                <a:spcPts val="1400"/>
              </a:lnSpc>
            </a:pPr>
            <a:r>
              <a:rPr lang="pl-PL" sz="1200" dirty="0">
                <a:solidFill>
                  <a:srgbClr val="CCCCCC"/>
                </a:solidFill>
                <a:latin typeface="Consolas" panose="020B0609020204030204" pitchFamily="49" charset="0"/>
              </a:rPr>
              <a:t>  </a:t>
            </a:r>
            <a:r>
              <a:rPr lang="el-GR" sz="1200" dirty="0">
                <a:solidFill>
                  <a:srgbClr val="CCCCCC"/>
                </a:solidFill>
                <a:latin typeface="Consolas" panose="020B0609020204030204" pitchFamily="49" charset="0"/>
              </a:rPr>
              <a:t>α </a:t>
            </a:r>
            <a:r>
              <a:rPr lang="el-GR" sz="1200" dirty="0" smtClean="0">
                <a:solidFill>
                  <a:srgbClr val="CCCCCC"/>
                </a:solidFill>
                <a:latin typeface="Consolas" panose="020B0609020204030204" pitchFamily="49" charset="0"/>
              </a:rPr>
              <a:t>– </a:t>
            </a:r>
            <a:r>
              <a:rPr lang="pl-PL" sz="1200" dirty="0">
                <a:solidFill>
                  <a:srgbClr val="CCCCCC"/>
                </a:solidFill>
                <a:latin typeface="Consolas" panose="020B0609020204030204" pitchFamily="49" charset="0"/>
              </a:rPr>
              <a:t>krok </a:t>
            </a:r>
            <a:r>
              <a:rPr lang="pl-PL" sz="1200" dirty="0" smtClean="0">
                <a:solidFill>
                  <a:srgbClr val="CCCCCC"/>
                </a:solidFill>
                <a:latin typeface="Consolas" panose="020B0609020204030204" pitchFamily="49" charset="0"/>
              </a:rPr>
              <a:t>iteracji</a:t>
            </a:r>
            <a:endParaRPr lang="pl-PL" sz="1200" dirty="0">
              <a:solidFill>
                <a:srgbClr val="CCCCCC"/>
              </a:solidFill>
              <a:latin typeface="Consolas" panose="020B0609020204030204" pitchFamily="49" charset="0"/>
            </a:endParaRPr>
          </a:p>
        </p:txBody>
      </p:sp>
      <p:sp>
        <p:nvSpPr>
          <p:cNvPr id="10" name="Shape 8"/>
          <p:cNvSpPr/>
          <p:nvPr/>
        </p:nvSpPr>
        <p:spPr>
          <a:xfrm>
            <a:off x="5943600" y="1097281"/>
            <a:ext cx="2926080" cy="2679266"/>
          </a:xfrm>
          <a:prstGeom prst="rect">
            <a:avLst/>
          </a:prstGeom>
          <a:solidFill>
            <a:srgbClr val="0D1B2A"/>
          </a:solidFill>
          <a:ln w="12700">
            <a:solidFill>
              <a:srgbClr val="A855F7"/>
            </a:solidFill>
            <a:prstDash val="solid"/>
          </a:ln>
          <a:effectLst>
            <a:outerShdw blurRad="76200" dist="25400" dir="8100000" algn="bl" rotWithShape="0">
              <a:srgbClr val="000000">
                <a:alpha val="12000"/>
              </a:srgbClr>
            </a:outerShdw>
          </a:effectLst>
        </p:spPr>
      </p:sp>
      <p:sp>
        <p:nvSpPr>
          <p:cNvPr id="11" name="Shape 9"/>
          <p:cNvSpPr/>
          <p:nvPr/>
        </p:nvSpPr>
        <p:spPr>
          <a:xfrm>
            <a:off x="5943600" y="1097280"/>
            <a:ext cx="2926080" cy="298125"/>
          </a:xfrm>
          <a:prstGeom prst="rect">
            <a:avLst/>
          </a:prstGeom>
          <a:solidFill>
            <a:srgbClr val="A855F7"/>
          </a:solidFill>
          <a:ln w="12700">
            <a:solidFill>
              <a:srgbClr val="A855F7"/>
            </a:solidFill>
            <a:prstDash val="solid"/>
          </a:ln>
        </p:spPr>
      </p:sp>
      <p:sp>
        <p:nvSpPr>
          <p:cNvPr id="12" name="Text 10"/>
          <p:cNvSpPr/>
          <p:nvPr/>
        </p:nvSpPr>
        <p:spPr>
          <a:xfrm>
            <a:off x="6080760" y="1115568"/>
            <a:ext cx="2651760" cy="26973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Właściwości</a:t>
            </a:r>
            <a:endParaRPr lang="en-US" sz="1600" dirty="0"/>
          </a:p>
        </p:txBody>
      </p:sp>
      <p:sp>
        <p:nvSpPr>
          <p:cNvPr id="13" name="Text 11"/>
          <p:cNvSpPr/>
          <p:nvPr/>
        </p:nvSpPr>
        <p:spPr>
          <a:xfrm>
            <a:off x="6080760" y="1554480"/>
            <a:ext cx="2651760" cy="1841974"/>
          </a:xfrm>
          <a:prstGeom prst="rect">
            <a:avLst/>
          </a:prstGeom>
          <a:noFill/>
          <a:ln/>
        </p:spPr>
        <p:txBody>
          <a:bodyPr wrap="square" lIns="63500" tIns="36000" rIns="63500" bIns="0" rtlCol="0" anchor="t">
            <a:spAutoFit/>
          </a:bodyPr>
          <a:lstStyle/>
          <a:p>
            <a:pPr marL="180000" indent="-1800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Prosta implementacja</a:t>
            </a:r>
            <a:endParaRPr lang="en-US" sz="1200" dirty="0"/>
          </a:p>
          <a:p>
            <a:pPr marL="180000" indent="-1800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Działa w czasie rzeczywistym</a:t>
            </a:r>
            <a:endParaRPr lang="en-US" sz="1200" dirty="0"/>
          </a:p>
          <a:p>
            <a:pPr marL="180000" indent="-1800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Problem: minima lokalne</a:t>
            </a:r>
            <a:endParaRPr lang="en-US" sz="1200" dirty="0"/>
          </a:p>
          <a:p>
            <a:pPr marL="180000" indent="-1800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Oscylacje w wąskich przejściach</a:t>
            </a:r>
            <a:endParaRPr lang="en-US" sz="1200" dirty="0"/>
          </a:p>
          <a:p>
            <a:pPr marL="180000" indent="-180000">
              <a:spcAft>
                <a:spcPts val="800"/>
              </a:spcAft>
              <a:buSzPct val="100000"/>
              <a:buChar char="•"/>
            </a:pPr>
            <a:r>
              <a:rPr lang="en-US" sz="1200" dirty="0">
                <a:solidFill>
                  <a:srgbClr val="90E0EF"/>
                </a:solidFill>
                <a:latin typeface="Calibri" pitchFamily="34" charset="0"/>
                <a:ea typeface="Calibri" pitchFamily="34" charset="-122"/>
                <a:cs typeface="Calibri" pitchFamily="34" charset="-120"/>
              </a:rPr>
              <a:t>Trudna </a:t>
            </a:r>
            <a:r>
              <a:rPr lang="en-US" sz="1200" dirty="0" err="1">
                <a:solidFill>
                  <a:srgbClr val="90E0EF"/>
                </a:solidFill>
                <a:latin typeface="Calibri" pitchFamily="34" charset="0"/>
                <a:ea typeface="Calibri" pitchFamily="34" charset="-122"/>
                <a:cs typeface="Calibri" pitchFamily="34" charset="-120"/>
              </a:rPr>
              <a:t>parametryzacja</a:t>
            </a:r>
            <a:r>
              <a:rPr lang="en-US" sz="1200" dirty="0">
                <a:solidFill>
                  <a:srgbClr val="90E0EF"/>
                </a:solidFill>
                <a:latin typeface="Calibri" pitchFamily="34" charset="0"/>
                <a:ea typeface="Calibri" pitchFamily="34" charset="-122"/>
                <a:cs typeface="Calibri" pitchFamily="34" charset="-120"/>
              </a:rPr>
              <a:t> </a:t>
            </a:r>
            <a:r>
              <a:rPr lang="en-US" sz="1200" dirty="0" err="1" smtClean="0">
                <a:solidFill>
                  <a:srgbClr val="90E0EF"/>
                </a:solidFill>
                <a:latin typeface="Calibri" pitchFamily="34" charset="0"/>
                <a:ea typeface="Calibri" pitchFamily="34" charset="-122"/>
                <a:cs typeface="Calibri" pitchFamily="34" charset="-120"/>
              </a:rPr>
              <a:t>k</a:t>
            </a:r>
            <a:r>
              <a:rPr lang="en-US" sz="1200" baseline="-25000" dirty="0" err="1" smtClean="0">
                <a:solidFill>
                  <a:srgbClr val="90E0EF"/>
                </a:solidFill>
                <a:latin typeface="Calibri" pitchFamily="34" charset="0"/>
                <a:ea typeface="Calibri" pitchFamily="34" charset="-122"/>
                <a:cs typeface="Calibri" pitchFamily="34" charset="-120"/>
              </a:rPr>
              <a:t>att</a:t>
            </a:r>
            <a:r>
              <a:rPr lang="en-US" sz="1200" dirty="0">
                <a:solidFill>
                  <a:srgbClr val="90E0EF"/>
                </a:solidFill>
                <a:latin typeface="Calibri" pitchFamily="34" charset="0"/>
                <a:ea typeface="Calibri" pitchFamily="34" charset="-122"/>
                <a:cs typeface="Calibri" pitchFamily="34" charset="-120"/>
              </a:rPr>
              <a:t>, </a:t>
            </a:r>
            <a:r>
              <a:rPr lang="en-US" sz="1200" dirty="0" err="1" smtClean="0">
                <a:solidFill>
                  <a:srgbClr val="90E0EF"/>
                </a:solidFill>
                <a:latin typeface="Calibri" pitchFamily="34" charset="0"/>
                <a:ea typeface="Calibri" pitchFamily="34" charset="-122"/>
                <a:cs typeface="Calibri" pitchFamily="34" charset="-120"/>
              </a:rPr>
              <a:t>k</a:t>
            </a:r>
            <a:r>
              <a:rPr lang="en-US" sz="1200" baseline="-25000" dirty="0" err="1" smtClean="0">
                <a:solidFill>
                  <a:srgbClr val="90E0EF"/>
                </a:solidFill>
                <a:latin typeface="Calibri" pitchFamily="34" charset="0"/>
                <a:ea typeface="Calibri" pitchFamily="34" charset="-122"/>
                <a:cs typeface="Calibri" pitchFamily="34" charset="-120"/>
              </a:rPr>
              <a:t>rep</a:t>
            </a:r>
            <a:endParaRPr lang="en-US" sz="1200" baseline="-25000" dirty="0"/>
          </a:p>
          <a:p>
            <a:pPr marL="180000" indent="-180000">
              <a:spcAft>
                <a:spcPts val="800"/>
              </a:spcAft>
              <a:buSzPct val="100000"/>
              <a:buChar char="•"/>
            </a:pPr>
            <a:r>
              <a:rPr lang="en-US" sz="1200" b="1" dirty="0">
                <a:solidFill>
                  <a:srgbClr val="90E0EF"/>
                </a:solidFill>
                <a:latin typeface="Calibri" pitchFamily="34" charset="0"/>
                <a:ea typeface="Calibri" pitchFamily="34" charset="-122"/>
                <a:cs typeface="Calibri" pitchFamily="34" charset="-120"/>
              </a:rPr>
              <a:t>Rozwiązanie</a:t>
            </a:r>
            <a:r>
              <a:rPr lang="en-US" sz="1200" dirty="0">
                <a:solidFill>
                  <a:srgbClr val="90E0EF"/>
                </a:solidFill>
                <a:latin typeface="Calibri" pitchFamily="34" charset="0"/>
                <a:ea typeface="Calibri" pitchFamily="34" charset="-122"/>
                <a:cs typeface="Calibri" pitchFamily="34" charset="-120"/>
              </a:rPr>
              <a:t>: potencjały harmoniczne lub RRT</a:t>
            </a:r>
            <a:endParaRPr lang="en-US" sz="1200" dirty="0"/>
          </a:p>
        </p:txBody>
      </p:sp>
      <p:sp>
        <p:nvSpPr>
          <p:cNvPr id="14" name="Prostokąt 13"/>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Metoda pól potencjału opisuje ruch robota jako wynik działania sił: przyciągania do celu i odpychania od przeszkód. Jest to intuicyjna i szybka metoda, dlatego nadaje się do prostych zadań lokalnej nawigacji. Jej ograniczeniem są minima lokalne, czyli sytuacje, w których suma sił się zeruje, mimo że robot nie osiągnął celu. Problem może wystąpić na przykład w narożnikach lub wąskich przejściach. W praktycznych systemach pola potencjału często łączy się z innymi metodami, takimi jak A*, RRT, DWA lub okresowe </a:t>
            </a:r>
            <a:r>
              <a:rPr lang="pl-PL" sz="1400" dirty="0" err="1">
                <a:solidFill>
                  <a:schemeClr val="bg1"/>
                </a:solidFill>
              </a:rPr>
              <a:t>przeplanowywanie</a:t>
            </a:r>
            <a:r>
              <a:rPr lang="pl-PL" sz="1400" dirty="0">
                <a:solidFill>
                  <a:schemeClr val="bg1"/>
                </a:solidFill>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Pole potencjału – lokalny wektor ruchu</a:t>
            </a:r>
            <a:endParaRPr lang="en-US" sz="2400" dirty="0"/>
          </a:p>
        </p:txBody>
      </p:sp>
      <p:sp>
        <p:nvSpPr>
          <p:cNvPr id="6" name="Shape 4"/>
          <p:cNvSpPr/>
          <p:nvPr/>
        </p:nvSpPr>
        <p:spPr>
          <a:xfrm>
            <a:off x="274320" y="1005840"/>
            <a:ext cx="8595360" cy="3374062"/>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048578" y="1115568"/>
            <a:ext cx="146304" cy="146304"/>
          </a:xfrm>
          <a:prstGeom prst="ellipse">
            <a:avLst/>
          </a:prstGeom>
          <a:solidFill>
            <a:srgbClr val="F72585"/>
          </a:solidFill>
          <a:ln w="12700">
            <a:solidFill>
              <a:srgbClr val="F72585"/>
            </a:solidFill>
            <a:prstDash val="solid"/>
          </a:ln>
        </p:spPr>
      </p:sp>
      <p:sp>
        <p:nvSpPr>
          <p:cNvPr id="8" name="Shape 6"/>
          <p:cNvSpPr/>
          <p:nvPr/>
        </p:nvSpPr>
        <p:spPr>
          <a:xfrm>
            <a:off x="8304610" y="1115568"/>
            <a:ext cx="146304" cy="146304"/>
          </a:xfrm>
          <a:prstGeom prst="ellipse">
            <a:avLst/>
          </a:prstGeom>
          <a:solidFill>
            <a:srgbClr val="FFD60A"/>
          </a:solidFill>
          <a:ln w="12700">
            <a:solidFill>
              <a:srgbClr val="FFD60A"/>
            </a:solidFill>
            <a:prstDash val="solid"/>
          </a:ln>
        </p:spPr>
      </p:sp>
      <p:sp>
        <p:nvSpPr>
          <p:cNvPr id="9" name="Shape 7"/>
          <p:cNvSpPr/>
          <p:nvPr/>
        </p:nvSpPr>
        <p:spPr>
          <a:xfrm>
            <a:off x="8560642" y="1115568"/>
            <a:ext cx="146304" cy="146304"/>
          </a:xfrm>
          <a:prstGeom prst="ellipse">
            <a:avLst/>
          </a:prstGeom>
          <a:solidFill>
            <a:srgbClr val="C3F584"/>
          </a:solidFill>
          <a:ln w="12700">
            <a:solidFill>
              <a:srgbClr val="C3F584"/>
            </a:solidFill>
            <a:prstDash val="solid"/>
          </a:ln>
        </p:spPr>
      </p:sp>
      <p:sp>
        <p:nvSpPr>
          <p:cNvPr id="10" name="Text 8"/>
          <p:cNvSpPr/>
          <p:nvPr/>
        </p:nvSpPr>
        <p:spPr>
          <a:xfrm>
            <a:off x="385906" y="1005840"/>
            <a:ext cx="8321040" cy="3388107"/>
          </a:xfrm>
          <a:prstGeom prst="rect">
            <a:avLst/>
          </a:prstGeom>
          <a:noFill/>
          <a:ln/>
        </p:spPr>
        <p:txBody>
          <a:bodyPr wrap="square" lIns="108000" tIns="0" rIns="127000" bIns="63500" rtlCol="0" anchor="t">
            <a:spAutoFit/>
          </a:bodyPr>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potential_field_move</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robot_pos</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goal_pos</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obstacles</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k_att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1.0</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k_rep</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100.0</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d0</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1.5</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"""Wyznacza wektor ruchu z </a:t>
            </a:r>
            <a:r>
              <a:rPr lang="pl-PL" sz="1200" dirty="0" err="1">
                <a:solidFill>
                  <a:srgbClr val="CE9178"/>
                </a:solidFill>
                <a:latin typeface="Consolas" panose="020B0609020204030204" pitchFamily="49" charset="0"/>
              </a:rPr>
              <a:t>pol</a:t>
            </a:r>
            <a:r>
              <a:rPr lang="pl-PL" sz="1200" dirty="0">
                <a:solidFill>
                  <a:srgbClr val="CE9178"/>
                </a:solidFill>
                <a:latin typeface="Consolas" panose="020B0609020204030204" pitchFamily="49" charset="0"/>
              </a:rPr>
              <a:t> potencjalnych."""</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robot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array</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robot_pos</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dtype</a:t>
            </a:r>
            <a:r>
              <a:rPr lang="pl-PL" sz="1200" dirty="0">
                <a:solidFill>
                  <a:srgbClr val="D4D4D4"/>
                </a:solidFill>
                <a:latin typeface="Consolas" panose="020B0609020204030204" pitchFamily="49" charset="0"/>
              </a:rPr>
              <a:t>=</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array</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goal_pos</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dtype</a:t>
            </a:r>
            <a:r>
              <a:rPr lang="pl-PL" sz="1200" dirty="0">
                <a:solidFill>
                  <a:srgbClr val="D4D4D4"/>
                </a:solidFill>
                <a:latin typeface="Consolas" panose="020B0609020204030204" pitchFamily="49" charset="0"/>
              </a:rPr>
              <a:t>=</a:t>
            </a:r>
            <a:r>
              <a:rPr lang="pl-PL" sz="1200" dirty="0" err="1">
                <a:solidFill>
                  <a:srgbClr val="4EC9B0"/>
                </a:solidFill>
                <a:latin typeface="Consolas" panose="020B0609020204030204" pitchFamily="49" charset="0"/>
              </a:rPr>
              <a:t>float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a:t>
            </a:r>
            <a:r>
              <a:rPr lang="pl-PL" sz="1200" dirty="0" err="1">
                <a:solidFill>
                  <a:srgbClr val="6A9955"/>
                </a:solidFill>
                <a:latin typeface="Consolas" panose="020B0609020204030204" pitchFamily="49" charset="0"/>
              </a:rPr>
              <a:t>Sila</a:t>
            </a:r>
            <a:r>
              <a:rPr lang="pl-PL" sz="1200" dirty="0">
                <a:solidFill>
                  <a:srgbClr val="6A9955"/>
                </a:solidFill>
                <a:latin typeface="Consolas" panose="020B0609020204030204" pitchFamily="49" charset="0"/>
              </a:rPr>
              <a:t> atrakcji do celu</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f_att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k_att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robot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Suma sil odpychania od </a:t>
            </a:r>
            <a:r>
              <a:rPr lang="pl-PL" sz="1200" dirty="0" smtClean="0">
                <a:solidFill>
                  <a:srgbClr val="6A9955"/>
                </a:solidFill>
                <a:latin typeface="Consolas" panose="020B0609020204030204" pitchFamily="49" charset="0"/>
              </a:rPr>
              <a:t>przeszkód</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f_rep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zeros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2</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for</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obs</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in</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obstacles</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diff</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robot</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array</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obs</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linalg</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norm</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diff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1e-6</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C586C0"/>
                </a:solidFill>
                <a:latin typeface="Consolas" panose="020B0609020204030204" pitchFamily="49" charset="0"/>
              </a:rPr>
              <a:t>if</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&lt;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d0</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f_rep</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k_rep</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d</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d0</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diff</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a:t>
            </a:r>
            <a:r>
              <a:rPr lang="pl-PL" sz="1200" dirty="0">
                <a:solidFill>
                  <a:srgbClr val="DCDCAA"/>
                </a:solidFill>
                <a:latin typeface="Consolas" panose="020B0609020204030204" pitchFamily="49" charset="0"/>
              </a:rPr>
              <a:t>**</a:t>
            </a:r>
            <a:r>
              <a:rPr lang="pl-PL" sz="1200" dirty="0">
                <a:solidFill>
                  <a:srgbClr val="B5CEA8"/>
                </a:solidFill>
                <a:latin typeface="Consolas" panose="020B0609020204030204" pitchFamily="49" charset="0"/>
              </a:rPr>
              <a:t>3</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total</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f_att</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f_rep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total</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linalg</a:t>
            </a:r>
            <a:r>
              <a:rPr lang="pl-PL" sz="1200" dirty="0" err="1">
                <a:solidFill>
                  <a:srgbClr val="CCCCCC"/>
                </a:solidFill>
                <a:latin typeface="Consolas" panose="020B0609020204030204" pitchFamily="49" charset="0"/>
              </a:rPr>
              <a:t>.</a:t>
            </a:r>
            <a:r>
              <a:rPr lang="pl-PL" sz="1200" dirty="0" err="1">
                <a:solidFill>
                  <a:srgbClr val="DCDCAA"/>
                </a:solidFill>
                <a:latin typeface="Consolas" panose="020B0609020204030204" pitchFamily="49" charset="0"/>
              </a:rPr>
              <a:t>norm</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total</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1e-6</a:t>
            </a:r>
            <a:r>
              <a:rPr lang="pl-PL" sz="1200" dirty="0">
                <a:solidFill>
                  <a:srgbClr val="CCCCCC"/>
                </a:solidFill>
                <a:latin typeface="Consolas" panose="020B0609020204030204" pitchFamily="49" charset="0"/>
              </a:rPr>
              <a:t>)  </a:t>
            </a:r>
            <a:r>
              <a:rPr lang="pl-PL" sz="1200" dirty="0">
                <a:solidFill>
                  <a:srgbClr val="6A9955"/>
                </a:solidFill>
                <a:latin typeface="Consolas" panose="020B0609020204030204" pitchFamily="49" charset="0"/>
              </a:rPr>
              <a:t># wektor </a:t>
            </a:r>
            <a:r>
              <a:rPr lang="pl-PL" sz="1200" dirty="0" smtClean="0">
                <a:solidFill>
                  <a:srgbClr val="6A9955"/>
                </a:solidFill>
                <a:latin typeface="Consolas" panose="020B0609020204030204" pitchFamily="49" charset="0"/>
              </a:rPr>
              <a:t>jednostkowy</a:t>
            </a:r>
            <a:endParaRPr lang="pl-PL" sz="1200" dirty="0">
              <a:solidFill>
                <a:srgbClr val="CCCCCC"/>
              </a:solidFill>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274320" y="4453054"/>
            <a:ext cx="8595360" cy="484706"/>
          </a:xfrm>
          <a:prstGeom prst="rect">
            <a:avLst/>
          </a:prstGeom>
          <a:noFill/>
          <a:ln/>
        </p:spPr>
        <p:txBody>
          <a:bodyPr wrap="square" lIns="0" tIns="0" rIns="0" bIns="0" rtlCol="0" anchor="ctr"/>
          <a:lstStyle/>
          <a:p>
            <a:pPr marL="0" indent="0" algn="ctr">
              <a:buNone/>
            </a:pPr>
            <a:r>
              <a:rPr lang="en-US" sz="1600" b="1" spc="-60" dirty="0">
                <a:solidFill>
                  <a:srgbClr val="00B4D8"/>
                </a:solidFill>
                <a:latin typeface="Calibri" pitchFamily="34" charset="0"/>
                <a:ea typeface="Calibri" pitchFamily="34" charset="-122"/>
                <a:cs typeface="Calibri" pitchFamily="34" charset="-120"/>
              </a:rPr>
              <a:t>Opis: </a:t>
            </a:r>
            <a:r>
              <a:rPr lang="en-US" sz="1600" spc="-60" dirty="0">
                <a:solidFill>
                  <a:srgbClr val="E2EBF3"/>
                </a:solidFill>
                <a:latin typeface="Calibri" pitchFamily="34" charset="0"/>
                <a:ea typeface="Calibri" pitchFamily="34" charset="-122"/>
                <a:cs typeface="Calibri" pitchFamily="34" charset="-120"/>
              </a:rPr>
              <a:t>Zwraca znormalizowany wektor ruchu; mnożymy przez dt i prędkość robota, by </a:t>
            </a:r>
            <a:r>
              <a:rPr lang="en-US" sz="1600" spc="-60" dirty="0" err="1">
                <a:solidFill>
                  <a:srgbClr val="E2EBF3"/>
                </a:solidFill>
                <a:latin typeface="Calibri" pitchFamily="34" charset="0"/>
                <a:ea typeface="Calibri" pitchFamily="34" charset="-122"/>
                <a:cs typeface="Calibri" pitchFamily="34" charset="-120"/>
              </a:rPr>
              <a:t>uzyskać</a:t>
            </a:r>
            <a:r>
              <a:rPr lang="en-US" sz="1600" spc="-60" dirty="0">
                <a:solidFill>
                  <a:srgbClr val="E2EBF3"/>
                </a:solidFill>
                <a:latin typeface="Calibri" pitchFamily="34" charset="0"/>
                <a:ea typeface="Calibri" pitchFamily="34" charset="-122"/>
                <a:cs typeface="Calibri" pitchFamily="34" charset="-120"/>
              </a:rPr>
              <a:t> </a:t>
            </a:r>
            <a:r>
              <a:rPr lang="en-US" sz="1600" spc="-60" dirty="0" err="1" smtClean="0">
                <a:solidFill>
                  <a:srgbClr val="E2EBF3"/>
                </a:solidFill>
                <a:latin typeface="Calibri" pitchFamily="34" charset="0"/>
                <a:ea typeface="Calibri" pitchFamily="34" charset="-122"/>
                <a:cs typeface="Calibri" pitchFamily="34" charset="-120"/>
              </a:rPr>
              <a:t>przemieszczenie</a:t>
            </a:r>
            <a:endParaRPr lang="en-US" sz="1600" spc="-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Ocena kandydatów trajektorii </a:t>
            </a:r>
            <a:r>
              <a:rPr lang="en-US" sz="2400" dirty="0">
                <a:solidFill>
                  <a:srgbClr val="FFFFFF"/>
                </a:solidFill>
                <a:latin typeface="Trebuchet MS" pitchFamily="34" charset="0"/>
                <a:ea typeface="Trebuchet MS" pitchFamily="34" charset="-122"/>
                <a:cs typeface="Trebuchet MS" pitchFamily="34" charset="-120"/>
              </a:rPr>
              <a:t>(uproszczone DWA)</a:t>
            </a:r>
            <a:endParaRPr lang="en-US" sz="2400" dirty="0"/>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34163"/>
            <a:ext cx="8321040" cy="3203441"/>
          </a:xfrm>
          <a:prstGeom prst="rect">
            <a:avLst/>
          </a:prstGeom>
          <a:noFill/>
          <a:ln/>
        </p:spPr>
        <p:txBody>
          <a:bodyPr wrap="square" lIns="108000" tIns="0" rIns="127000" bIns="63500" rtlCol="0" anchor="t">
            <a:spAutoFit/>
          </a:bodyPr>
          <a:lstStyle/>
          <a:p>
            <a:r>
              <a:rPr lang="pl-PL" sz="1200" dirty="0">
                <a:solidFill>
                  <a:srgbClr val="C586C0"/>
                </a:solidFill>
                <a:latin typeface="Consolas" panose="020B0609020204030204" pitchFamily="49" charset="0"/>
              </a:rPr>
              <a:t>import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numpy</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as</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r>
            <a:br>
              <a:rPr lang="pl-PL" sz="1200" dirty="0">
                <a:solidFill>
                  <a:srgbClr val="CCCCCC"/>
                </a:solidFill>
                <a:latin typeface="Consolas" panose="020B0609020204030204" pitchFamily="49" charset="0"/>
              </a:rPr>
            </a:br>
            <a:r>
              <a:rPr lang="pl-PL" sz="1200" dirty="0">
                <a:solidFill>
                  <a:srgbClr val="569CD6"/>
                </a:solidFill>
                <a:latin typeface="Consolas" panose="020B0609020204030204" pitchFamily="49" charset="0"/>
              </a:rPr>
              <a:t>def</a:t>
            </a:r>
            <a:r>
              <a:rPr lang="pl-PL" sz="1200" dirty="0">
                <a:solidFill>
                  <a:srgbClr val="CCCCCC"/>
                </a:solidFill>
                <a:latin typeface="Consolas" panose="020B0609020204030204" pitchFamily="49" charset="0"/>
              </a:rPr>
              <a:t> </a:t>
            </a:r>
            <a:r>
              <a:rPr lang="pl-PL" sz="1200" dirty="0" err="1">
                <a:solidFill>
                  <a:srgbClr val="DCDCAA"/>
                </a:solidFill>
                <a:latin typeface="Consolas" panose="020B0609020204030204" pitchFamily="49" charset="0"/>
              </a:rPr>
              <a:t>score_trajectory</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omega</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robot_state</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obstacles</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2.0</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dt</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0.1</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0.4</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beta</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0.4</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gamma</a:t>
            </a:r>
            <a:r>
              <a:rPr lang="pl-PL" sz="1200" dirty="0">
                <a:solidFill>
                  <a:srgbClr val="D4D4D4"/>
                </a:solidFill>
                <a:latin typeface="Consolas" panose="020B0609020204030204" pitchFamily="49" charset="0"/>
              </a:rPr>
              <a:t>=</a:t>
            </a:r>
            <a:r>
              <a:rPr lang="pl-PL" sz="1200" dirty="0">
                <a:solidFill>
                  <a:srgbClr val="B5CEA8"/>
                </a:solidFill>
                <a:latin typeface="Consolas" panose="020B0609020204030204" pitchFamily="49" charset="0"/>
              </a:rPr>
              <a:t>0.2</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CE9178"/>
                </a:solidFill>
                <a:latin typeface="Consolas" panose="020B0609020204030204" pitchFamily="49" charset="0"/>
              </a:rPr>
              <a:t>"""Ocenia trajektorie (v, omega) w horyzoncie T sekund."""</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robot_state</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min_clearance</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B5CEA8"/>
                </a:solidFill>
                <a:latin typeface="Consolas" panose="020B0609020204030204" pitchFamily="49" charset="0"/>
              </a:rPr>
              <a:t>1e9</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for</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_</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in</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range</a:t>
            </a:r>
            <a:r>
              <a:rPr lang="pl-PL" sz="1200" dirty="0">
                <a:solidFill>
                  <a:srgbClr val="CCCCCC"/>
                </a:solidFill>
                <a:latin typeface="Consolas" panose="020B0609020204030204" pitchFamily="49" charset="0"/>
              </a:rPr>
              <a:t>(</a:t>
            </a:r>
            <a:r>
              <a:rPr lang="pl-PL" sz="1200" dirty="0" err="1">
                <a:solidFill>
                  <a:srgbClr val="4EC9B0"/>
                </a:solidFill>
                <a:latin typeface="Consolas" panose="020B0609020204030204" pitchFamily="49" charset="0"/>
              </a:rPr>
              <a:t>int</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dt</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cos</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y</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v</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sin</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omega</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dt</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for</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obs</a:t>
            </a:r>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in</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obstacles</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min_clearance</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DCDCAA"/>
                </a:solidFill>
                <a:latin typeface="Consolas" panose="020B0609020204030204" pitchFamily="49" charset="0"/>
              </a:rPr>
              <a:t>min</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min_clearance</a:t>
            </a:r>
            <a:r>
              <a:rPr lang="pl-PL" sz="1200" dirty="0">
                <a:solidFill>
                  <a:srgbClr val="CCCCCC"/>
                </a:solidFill>
                <a:latin typeface="Consolas" panose="020B0609020204030204" pitchFamily="49" charset="0"/>
              </a:rPr>
              <a:t>, </a:t>
            </a:r>
            <a:r>
              <a:rPr lang="pl-PL" sz="1200" dirty="0" err="1">
                <a:solidFill>
                  <a:srgbClr val="4EC9B0"/>
                </a:solidFill>
                <a:latin typeface="Consolas" panose="020B0609020204030204" pitchFamily="49" charset="0"/>
              </a:rPr>
              <a:t>np</a:t>
            </a:r>
            <a:r>
              <a:rPr lang="pl-PL" sz="1200" dirty="0" err="1">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hypot</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x</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obs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y</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obs</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heading</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err="1">
                <a:solidFill>
                  <a:srgbClr val="DCDCAA"/>
                </a:solidFill>
                <a:latin typeface="Consolas" panose="020B0609020204030204" pitchFamily="49" charset="0"/>
              </a:rPr>
              <a:t>abs</a:t>
            </a:r>
            <a:r>
              <a:rPr lang="pl-PL" sz="1200" dirty="0">
                <a:solidFill>
                  <a:srgbClr val="CCCCCC"/>
                </a:solidFill>
                <a:latin typeface="Consolas" panose="020B0609020204030204" pitchFamily="49" charset="0"/>
              </a:rPr>
              <a:t>(</a:t>
            </a:r>
            <a:r>
              <a:rPr lang="pl-PL" sz="1200" dirty="0">
                <a:solidFill>
                  <a:srgbClr val="4EC9B0"/>
                </a:solidFill>
                <a:latin typeface="Consolas" panose="020B0609020204030204" pitchFamily="49" charset="0"/>
              </a:rPr>
              <a:t>np</a:t>
            </a:r>
            <a:r>
              <a:rPr lang="pl-PL" sz="1200" dirty="0">
                <a:solidFill>
                  <a:srgbClr val="CCCCCC"/>
                </a:solidFill>
                <a:latin typeface="Consolas" panose="020B0609020204030204" pitchFamily="49" charset="0"/>
              </a:rPr>
              <a:t>.</a:t>
            </a:r>
            <a:r>
              <a:rPr lang="pl-PL" sz="1200" dirty="0">
                <a:solidFill>
                  <a:srgbClr val="9CDCFE"/>
                </a:solidFill>
                <a:latin typeface="Consolas" panose="020B0609020204030204" pitchFamily="49" charset="0"/>
              </a:rPr>
              <a:t>arctan2</a:t>
            </a:r>
            <a:r>
              <a:rPr lang="pl-PL" sz="1200" dirty="0">
                <a:solidFill>
                  <a:srgbClr val="CCCCCC"/>
                </a:solidFill>
                <a:latin typeface="Consolas" panose="020B0609020204030204" pitchFamily="49" charset="0"/>
              </a:rPr>
              <a:t>(</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1</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y</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goal</a:t>
            </a:r>
            <a:r>
              <a:rPr lang="pl-PL" sz="1200" dirty="0">
                <a:solidFill>
                  <a:srgbClr val="CCCCCC"/>
                </a:solidFill>
                <a:latin typeface="Consolas" panose="020B0609020204030204" pitchFamily="49" charset="0"/>
              </a:rPr>
              <a:t>[</a:t>
            </a:r>
            <a:r>
              <a:rPr lang="pl-PL" sz="1200" dirty="0">
                <a:solidFill>
                  <a:srgbClr val="B5CEA8"/>
                </a:solidFill>
                <a:latin typeface="Consolas" panose="020B0609020204030204" pitchFamily="49" charset="0"/>
              </a:rPr>
              <a:t>0</a:t>
            </a:r>
            <a:r>
              <a:rPr lang="pl-PL" sz="1200" dirty="0">
                <a:solidFill>
                  <a:srgbClr val="CCCCCC"/>
                </a:solidFill>
                <a:latin typeface="Consolas" panose="020B0609020204030204" pitchFamily="49" charset="0"/>
              </a:rPr>
              <a:t>]</a:t>
            </a:r>
            <a:r>
              <a:rPr lang="pl-PL" sz="1200" dirty="0">
                <a:solidFill>
                  <a:srgbClr val="D4D4D4"/>
                </a:solidFill>
                <a:latin typeface="Consolas" panose="020B0609020204030204" pitchFamily="49" charset="0"/>
              </a:rPr>
              <a:t>-</a:t>
            </a:r>
            <a:r>
              <a:rPr lang="pl-PL" sz="1200" dirty="0">
                <a:solidFill>
                  <a:srgbClr val="9CDCFE"/>
                </a:solidFill>
                <a:latin typeface="Consolas" panose="020B0609020204030204" pitchFamily="49" charset="0"/>
              </a:rPr>
              <a:t>x</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yaw</a:t>
            </a:r>
            <a:r>
              <a:rPr lang="pl-PL" sz="1200" dirty="0">
                <a:solidFill>
                  <a:srgbClr val="CCCCCC"/>
                </a:solidFill>
                <a:latin typeface="Consolas" panose="020B0609020204030204" pitchFamily="49" charset="0"/>
              </a:rPr>
              <a:t>)</a:t>
            </a:r>
          </a:p>
          <a:p>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clearance</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min_clearance</a:t>
            </a:r>
            <a:endParaRPr lang="pl-PL" sz="1200" dirty="0">
              <a:solidFill>
                <a:srgbClr val="CCCCCC"/>
              </a:solidFill>
              <a:latin typeface="Consolas" panose="020B0609020204030204" pitchFamily="49" charset="0"/>
            </a:endParaRPr>
          </a:p>
          <a:p>
            <a:r>
              <a:rPr lang="pl-PL" sz="1200" dirty="0">
                <a:solidFill>
                  <a:srgbClr val="CCCCCC"/>
                </a:solidFill>
                <a:latin typeface="Consolas" panose="020B0609020204030204" pitchFamily="49" charset="0"/>
              </a:rPr>
              <a:t>    </a:t>
            </a:r>
            <a:r>
              <a:rPr lang="pl-PL" sz="1200" dirty="0">
                <a:solidFill>
                  <a:srgbClr val="C586C0"/>
                </a:solidFill>
                <a:latin typeface="Consolas" panose="020B0609020204030204" pitchFamily="49" charset="0"/>
              </a:rPr>
              <a:t>return</a:t>
            </a:r>
            <a:r>
              <a:rPr lang="pl-PL" sz="1200" dirty="0">
                <a:solidFill>
                  <a:srgbClr val="CCCCCC"/>
                </a:solidFill>
                <a:latin typeface="Consolas" panose="020B0609020204030204" pitchFamily="49" charset="0"/>
              </a:rPr>
              <a:t> </a:t>
            </a:r>
            <a:r>
              <a:rPr lang="pl-PL" sz="1200" dirty="0" err="1">
                <a:solidFill>
                  <a:srgbClr val="9CDCFE"/>
                </a:solidFill>
                <a:latin typeface="Consolas" panose="020B0609020204030204" pitchFamily="49" charset="0"/>
              </a:rPr>
              <a:t>alpha</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heading</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a:solidFill>
                  <a:srgbClr val="9CDCFE"/>
                </a:solidFill>
                <a:latin typeface="Consolas" panose="020B0609020204030204" pitchFamily="49" charset="0"/>
              </a:rPr>
              <a:t>beta</a:t>
            </a:r>
            <a:r>
              <a:rPr lang="pl-PL" sz="1200" dirty="0">
                <a:solidFill>
                  <a:srgbClr val="D4D4D4"/>
                </a:solidFill>
                <a:latin typeface="Consolas" panose="020B0609020204030204" pitchFamily="49" charset="0"/>
              </a:rPr>
              <a:t>*</a:t>
            </a:r>
            <a:r>
              <a:rPr lang="pl-PL" sz="1200" dirty="0" err="1">
                <a:solidFill>
                  <a:srgbClr val="9CDCFE"/>
                </a:solidFill>
                <a:latin typeface="Consolas" panose="020B0609020204030204" pitchFamily="49" charset="0"/>
              </a:rPr>
              <a:t>clearance</a:t>
            </a:r>
            <a:r>
              <a:rPr lang="pl-PL" sz="1200" dirty="0">
                <a:solidFill>
                  <a:srgbClr val="CCCCCC"/>
                </a:solidFill>
                <a:latin typeface="Consolas" panose="020B0609020204030204" pitchFamily="49" charset="0"/>
              </a:rPr>
              <a:t> </a:t>
            </a:r>
            <a:r>
              <a:rPr lang="pl-PL" sz="1200" dirty="0">
                <a:solidFill>
                  <a:srgbClr val="D4D4D4"/>
                </a:solidFill>
                <a:latin typeface="Consolas" panose="020B0609020204030204" pitchFamily="49" charset="0"/>
              </a:rPr>
              <a:t>+</a:t>
            </a:r>
            <a:r>
              <a:rPr lang="pl-PL" sz="1200" dirty="0">
                <a:solidFill>
                  <a:srgbClr val="CCCCCC"/>
                </a:solidFill>
                <a:latin typeface="Consolas" panose="020B0609020204030204" pitchFamily="49" charset="0"/>
              </a:rPr>
              <a:t> </a:t>
            </a:r>
            <a:r>
              <a:rPr lang="pl-PL" sz="1200" dirty="0" smtClean="0">
                <a:solidFill>
                  <a:srgbClr val="9CDCFE"/>
                </a:solidFill>
                <a:latin typeface="Consolas" panose="020B0609020204030204" pitchFamily="49" charset="0"/>
              </a:rPr>
              <a:t>gamma</a:t>
            </a:r>
            <a:r>
              <a:rPr lang="pl-PL" sz="1200" dirty="0" smtClean="0">
                <a:solidFill>
                  <a:srgbClr val="D4D4D4"/>
                </a:solidFill>
                <a:latin typeface="Consolas" panose="020B0609020204030204" pitchFamily="49" charset="0"/>
              </a:rPr>
              <a:t>*</a:t>
            </a:r>
            <a:r>
              <a:rPr lang="pl-PL" sz="1200" dirty="0" smtClean="0">
                <a:solidFill>
                  <a:srgbClr val="9CDCFE"/>
                </a:solidFill>
                <a:latin typeface="Consolas" panose="020B0609020204030204" pitchFamily="49" charset="0"/>
              </a:rPr>
              <a:t>v</a:t>
            </a:r>
            <a:endParaRPr lang="pl-PL" sz="1200" dirty="0">
              <a:solidFill>
                <a:srgbClr val="CCCCCC"/>
              </a:solidFill>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Wyższy score = lepsza trajektoria; wywoływane dla N par (v, ω), wybierana para z max </a:t>
            </a:r>
            <a:r>
              <a:rPr lang="en-US" sz="1600" dirty="0" smtClean="0">
                <a:solidFill>
                  <a:srgbClr val="E2EBF3"/>
                </a:solidFill>
                <a:latin typeface="Calibri" pitchFamily="34" charset="0"/>
                <a:ea typeface="Calibri" pitchFamily="34" charset="-122"/>
                <a:cs typeface="Calibri" pitchFamily="34" charset="-120"/>
              </a:rPr>
              <a:t>score</a:t>
            </a:r>
            <a:endParaRPr lang="en-US" sz="1600" dirty="0"/>
          </a:p>
        </p:txBody>
      </p:sp>
      <p:sp>
        <p:nvSpPr>
          <p:cNvPr id="13" name="Shape 5"/>
          <p:cNvSpPr/>
          <p:nvPr/>
        </p:nvSpPr>
        <p:spPr>
          <a:xfrm>
            <a:off x="8048578"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04610"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560642" y="1115568"/>
            <a:ext cx="146304" cy="146304"/>
          </a:xfrm>
          <a:prstGeom prst="ellipse">
            <a:avLst/>
          </a:prstGeom>
          <a:solidFill>
            <a:srgbClr val="C3F584"/>
          </a:solidFill>
          <a:ln w="12700">
            <a:solidFill>
              <a:srgbClr val="C3F584"/>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DWA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pl-PL" sz="2400" b="1" dirty="0" smtClean="0">
                <a:solidFill>
                  <a:srgbClr val="FFFFFF"/>
                </a:solidFill>
                <a:latin typeface="Trebuchet MS" pitchFamily="34" charset="0"/>
                <a:ea typeface="Trebuchet MS" pitchFamily="34" charset="-122"/>
                <a:cs typeface="Trebuchet MS" pitchFamily="34" charset="-120"/>
              </a:rPr>
              <a:t>Idea </a:t>
            </a:r>
            <a:r>
              <a:rPr lang="en-US" sz="2400" b="1" dirty="0" smtClean="0">
                <a:solidFill>
                  <a:srgbClr val="FFFFFF"/>
                </a:solidFill>
                <a:latin typeface="Trebuchet MS" pitchFamily="34" charset="0"/>
                <a:ea typeface="Trebuchet MS" pitchFamily="34" charset="-122"/>
                <a:cs typeface="Trebuchet MS" pitchFamily="34" charset="-120"/>
              </a:rPr>
              <a:t>Dynamic </a:t>
            </a:r>
            <a:r>
              <a:rPr lang="en-US" sz="2400" b="1" dirty="0">
                <a:solidFill>
                  <a:srgbClr val="FFFFFF"/>
                </a:solidFill>
                <a:latin typeface="Trebuchet MS" pitchFamily="34" charset="0"/>
                <a:ea typeface="Trebuchet MS" pitchFamily="34" charset="-122"/>
                <a:cs typeface="Trebuchet MS" pitchFamily="34" charset="-120"/>
              </a:rPr>
              <a:t>Window Approach </a:t>
            </a:r>
            <a:r>
              <a:rPr lang="en-US" sz="2400" dirty="0">
                <a:solidFill>
                  <a:srgbClr val="FFFFFF"/>
                </a:solidFill>
                <a:latin typeface="Trebuchet MS" pitchFamily="34" charset="0"/>
                <a:ea typeface="Trebuchet MS" pitchFamily="34" charset="-122"/>
                <a:cs typeface="Trebuchet MS" pitchFamily="34" charset="-120"/>
              </a:rPr>
              <a:t>(DWA</a:t>
            </a:r>
            <a:r>
              <a:rPr lang="en-US" sz="2400" dirty="0" smtClean="0">
                <a:solidFill>
                  <a:srgbClr val="FFFFFF"/>
                </a:solidFill>
                <a:latin typeface="Trebuchet MS" pitchFamily="34" charset="0"/>
                <a:ea typeface="Trebuchet MS" pitchFamily="34" charset="-122"/>
                <a:cs typeface="Trebuchet MS" pitchFamily="34" charset="-120"/>
              </a:rPr>
              <a:t>)</a:t>
            </a:r>
            <a:endParaRPr lang="en-US" sz="2400" dirty="0"/>
          </a:p>
        </p:txBody>
      </p:sp>
      <p:sp>
        <p:nvSpPr>
          <p:cNvPr id="6" name="Shape 4"/>
          <p:cNvSpPr/>
          <p:nvPr/>
        </p:nvSpPr>
        <p:spPr>
          <a:xfrm>
            <a:off x="274320" y="1030042"/>
            <a:ext cx="8595360" cy="272840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mc:AlternateContent xmlns:mc="http://schemas.openxmlformats.org/markup-compatibility/2006" xmlns:a14="http://schemas.microsoft.com/office/drawing/2010/main">
        <mc:Choice Requires="a14">
          <p:sp>
            <p:nvSpPr>
              <p:cNvPr id="7" name="Text 5"/>
              <p:cNvSpPr/>
              <p:nvPr/>
            </p:nvSpPr>
            <p:spPr>
              <a:xfrm>
                <a:off x="410132" y="1060965"/>
                <a:ext cx="8229600" cy="2604165"/>
              </a:xfrm>
              <a:prstGeom prst="rect">
                <a:avLst/>
              </a:prstGeom>
              <a:noFill/>
              <a:ln/>
            </p:spPr>
            <p:txBody>
              <a:bodyPr wrap="square" lIns="127000" tIns="36000" rIns="127000" bIns="36000" rtlCol="0" anchor="t">
                <a:spAutoFit/>
              </a:bodyPr>
              <a:lstStyle/>
              <a:p>
                <a:pPr marL="144000" indent="-144000">
                  <a:spcAft>
                    <a:spcPts val="900"/>
                  </a:spcAft>
                  <a:buSzPct val="100000"/>
                  <a:buChar char="•"/>
                </a:pPr>
                <a:r>
                  <a:rPr lang="en-US" sz="1400" b="1" dirty="0" smtClean="0">
                    <a:solidFill>
                      <a:srgbClr val="0D1B2A"/>
                    </a:solidFill>
                    <a:latin typeface="Calibri" pitchFamily="34" charset="0"/>
                    <a:ea typeface="Calibri" pitchFamily="34" charset="-122"/>
                    <a:cs typeface="Calibri" pitchFamily="34" charset="-120"/>
                  </a:rPr>
                  <a:t>Idea</a:t>
                </a:r>
                <a:r>
                  <a:rPr lang="en-US" sz="1400" dirty="0">
                    <a:solidFill>
                      <a:srgbClr val="0D1B2A"/>
                    </a:solidFill>
                    <a:latin typeface="Calibri" pitchFamily="34" charset="0"/>
                    <a:ea typeface="Calibri" pitchFamily="34" charset="-122"/>
                    <a:cs typeface="Calibri" pitchFamily="34" charset="-120"/>
                  </a:rPr>
                  <a:t>: w każdym kroku czasowym szukaj najlepszej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𝑝𝑎𝑟𝑦</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𝑝𝑟</m:t>
                    </m:r>
                    <m:r>
                      <a:rPr lang="en-US" sz="1400" i="1" dirty="0" smtClean="0">
                        <a:solidFill>
                          <a:schemeClr val="accent1"/>
                        </a:solidFill>
                        <a:latin typeface="Cambria Math" panose="02040503050406030204" pitchFamily="18" charset="0"/>
                        <a:ea typeface="Calibri" pitchFamily="34" charset="-122"/>
                        <a:cs typeface="Calibri" pitchFamily="34" charset="-120"/>
                      </a:rPr>
                      <m:t>ę</m:t>
                    </m:r>
                    <m:r>
                      <a:rPr lang="en-US" sz="1400" i="1" dirty="0" smtClean="0">
                        <a:solidFill>
                          <a:schemeClr val="accent1"/>
                        </a:solidFill>
                        <a:latin typeface="Cambria Math" panose="02040503050406030204" pitchFamily="18" charset="0"/>
                        <a:ea typeface="Calibri" pitchFamily="34" charset="-122"/>
                        <a:cs typeface="Calibri" pitchFamily="34" charset="-120"/>
                      </a:rPr>
                      <m:t>𝑑𝑘𝑜</m:t>
                    </m:r>
                    <m:r>
                      <a:rPr lang="en-US" sz="1400" i="1" dirty="0" smtClean="0">
                        <a:solidFill>
                          <a:schemeClr val="accent1"/>
                        </a:solidFill>
                        <a:latin typeface="Cambria Math" panose="02040503050406030204" pitchFamily="18" charset="0"/>
                        <a:ea typeface="Calibri" pitchFamily="34" charset="-122"/>
                        <a:cs typeface="Calibri" pitchFamily="34" charset="-120"/>
                      </a:rPr>
                      <m:t>ś</m:t>
                    </m:r>
                    <m:r>
                      <a:rPr lang="en-US" sz="1400" i="1" dirty="0" smtClean="0">
                        <a:solidFill>
                          <a:schemeClr val="accent1"/>
                        </a:solidFill>
                        <a:latin typeface="Cambria Math" panose="02040503050406030204" pitchFamily="18" charset="0"/>
                        <a:ea typeface="Calibri" pitchFamily="34" charset="-122"/>
                        <a:cs typeface="Calibri" pitchFamily="34" charset="-120"/>
                      </a:rPr>
                      <m:t>𝑐𝑖</m:t>
                    </m:r>
                    <m:r>
                      <a:rPr lang="en-US" sz="1400" i="1" dirty="0" smtClean="0">
                        <a:solidFill>
                          <a:schemeClr val="accent1"/>
                        </a:solidFill>
                        <a:latin typeface="Cambria Math" panose="02040503050406030204" pitchFamily="18" charset="0"/>
                        <a:ea typeface="Calibri" pitchFamily="34" charset="-122"/>
                        <a:cs typeface="Calibri" pitchFamily="34" charset="-120"/>
                      </a:rPr>
                      <m:t> </m:t>
                    </m:r>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𝜔</m:t>
                        </m:r>
                      </m:e>
                    </m:d>
                    <m:r>
                      <a:rPr lang="en-US" sz="1400" i="1" dirty="0" smtClean="0">
                        <a:solidFill>
                          <a:schemeClr val="accent1"/>
                        </a:solidFill>
                        <a:latin typeface="Cambria Math" panose="02040503050406030204" pitchFamily="18" charset="0"/>
                        <a:ea typeface="Calibri" pitchFamily="34" charset="-122"/>
                        <a:cs typeface="Calibri" pitchFamily="34" charset="-120"/>
                      </a:rPr>
                      <m:t> </m:t>
                    </m:r>
                  </m:oMath>
                </a14:m>
                <a:r>
                  <a:rPr lang="en-US" sz="1400" dirty="0">
                    <a:solidFill>
                      <a:srgbClr val="0D1B2A"/>
                    </a:solidFill>
                    <a:latin typeface="Calibri" pitchFamily="34" charset="0"/>
                    <a:ea typeface="Calibri" pitchFamily="34" charset="-122"/>
                    <a:cs typeface="Calibri" pitchFamily="34" charset="-120"/>
                  </a:rPr>
                  <a:t>z okna osiągalnego</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Okno dynamiczne</a:t>
                </a:r>
                <a:r>
                  <a:rPr lang="en-US" sz="1400" dirty="0">
                    <a:solidFill>
                      <a:srgbClr val="0D1B2A"/>
                    </a:solidFill>
                    <a:latin typeface="Calibri" pitchFamily="34" charset="0"/>
                    <a:ea typeface="Calibri" pitchFamily="34" charset="-122"/>
                    <a:cs typeface="Calibri" pitchFamily="34" charset="-120"/>
                  </a:rPr>
                  <a:t>: </a:t>
                </a:r>
                <a14:m>
                  <m:oMath xmlns:m="http://schemas.openxmlformats.org/officeDocument/2006/math">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𝜔</m:t>
                            </m:r>
                          </m:e>
                        </m:d>
                      </m:e>
                    </m:d>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 ∈ </m:t>
                    </m:r>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𝑎</m:t>
                            </m:r>
                          </m:e>
                          <m:sub>
                            <m:r>
                              <m:rPr>
                                <m:sty m:val="p"/>
                              </m:rPr>
                              <a:rPr lang="en-US" sz="1400" i="1" dirty="0" smtClean="0">
                                <a:solidFill>
                                  <a:schemeClr val="accent1"/>
                                </a:solidFill>
                                <a:latin typeface="Cambria Math" panose="02040503050406030204" pitchFamily="18" charset="0"/>
                                <a:ea typeface="Calibri" pitchFamily="34" charset="-122"/>
                                <a:cs typeface="Calibri" pitchFamily="34" charset="-120"/>
                              </a:rPr>
                              <m:t>max</m:t>
                            </m:r>
                          </m:sub>
                        </m:sSub>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𝑑𝑡</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𝑎</m:t>
                            </m:r>
                          </m:e>
                          <m:sub>
                            <m:r>
                              <m:rPr>
                                <m:sty m:val="p"/>
                              </m:rPr>
                              <a:rPr lang="en-US" sz="1400" i="1" dirty="0" smtClean="0">
                                <a:solidFill>
                                  <a:schemeClr val="accent1"/>
                                </a:solidFill>
                                <a:latin typeface="Cambria Math" panose="02040503050406030204" pitchFamily="18" charset="0"/>
                                <a:ea typeface="Calibri" pitchFamily="34" charset="-122"/>
                                <a:cs typeface="Calibri" pitchFamily="34" charset="-120"/>
                              </a:rPr>
                              <m:t>max</m:t>
                            </m:r>
                          </m:sub>
                        </m:sSub>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𝑑𝑡</m:t>
                        </m:r>
                      </m:e>
                    </m:d>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pl-PL" sz="1400" b="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𝜔</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𝑎𝑛𝑎𝑙𝑜𝑔𝑖𝑐𝑧𝑛𝑖𝑒</m:t>
                    </m:r>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pl-PL" sz="1400" b="0" i="0" dirty="0" smtClean="0">
                        <a:solidFill>
                          <a:schemeClr val="accent1"/>
                        </a:solidFill>
                        <a:latin typeface="Cambria Math" panose="02040503050406030204" pitchFamily="18" charset="0"/>
                        <a:ea typeface="Calibri" pitchFamily="34" charset="-122"/>
                        <a:cs typeface="Calibri" pitchFamily="34" charset="-120"/>
                      </a:rPr>
                      <m:t> </m:t>
                    </m:r>
                  </m:oMath>
                </a14:m>
                <a:endParaRPr lang="en-US" sz="1400" dirty="0">
                  <a:solidFill>
                    <a:schemeClr val="accent1"/>
                  </a:solidFill>
                </a:endParaRPr>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Ocena trajektorii</a:t>
                </a:r>
                <a:r>
                  <a:rPr lang="en-US" sz="1400" dirty="0">
                    <a:solidFill>
                      <a:srgbClr val="0D1B2A"/>
                    </a:solidFill>
                    <a:latin typeface="Calibri" pitchFamily="34" charset="0"/>
                    <a:ea typeface="Calibri" pitchFamily="34" charset="-122"/>
                    <a:cs typeface="Calibri" pitchFamily="34" charset="-120"/>
                  </a:rPr>
                  <a:t>: dla </a:t>
                </a:r>
                <a:r>
                  <a:rPr lang="en-US" sz="1400" dirty="0">
                    <a:solidFill>
                      <a:schemeClr val="accent1"/>
                    </a:solidFill>
                    <a:latin typeface="Calibri" pitchFamily="34" charset="0"/>
                    <a:ea typeface="Calibri" pitchFamily="34" charset="-122"/>
                    <a:cs typeface="Calibri" pitchFamily="34" charset="-120"/>
                  </a:rPr>
                  <a:t>każdego kandydata (v, ω) </a:t>
                </a:r>
                <a:r>
                  <a:rPr lang="en-US" sz="1400" dirty="0">
                    <a:solidFill>
                      <a:srgbClr val="0D1B2A"/>
                    </a:solidFill>
                    <a:latin typeface="Calibri" pitchFamily="34" charset="0"/>
                    <a:ea typeface="Calibri" pitchFamily="34" charset="-122"/>
                    <a:cs typeface="Calibri" pitchFamily="34" charset="-120"/>
                  </a:rPr>
                  <a:t>symuluj ruch przez T sekund (np. T=2 s)</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Funkcja celu</a:t>
                </a:r>
                <a:r>
                  <a:rPr lang="en-US" sz="1400" dirty="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𝐺</m:t>
                    </m:r>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𝜔</m:t>
                        </m:r>
                      </m:e>
                    </m:d>
                    <m:r>
                      <a:rPr lang="en-US" sz="1400" i="1" dirty="0" smtClean="0">
                        <a:solidFill>
                          <a:schemeClr val="accent1"/>
                        </a:solidFill>
                        <a:latin typeface="Cambria Math" panose="02040503050406030204" pitchFamily="18" charset="0"/>
                        <a:ea typeface="Calibri" pitchFamily="34" charset="-122"/>
                        <a:cs typeface="Calibri" pitchFamily="34" charset="-120"/>
                      </a:rPr>
                      <m:t>= </m:t>
                    </m:r>
                    <m:r>
                      <a:rPr lang="en-US" sz="1400" i="1" dirty="0" smtClean="0">
                        <a:solidFill>
                          <a:schemeClr val="accent1"/>
                        </a:solidFill>
                        <a:latin typeface="Cambria Math" panose="02040503050406030204" pitchFamily="18" charset="0"/>
                        <a:ea typeface="Calibri" pitchFamily="34" charset="-122"/>
                        <a:cs typeface="Calibri" pitchFamily="34" charset="-120"/>
                      </a:rPr>
                      <m:t>𝛼</m:t>
                    </m:r>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h𝑒𝑎𝑑𝑖𝑛𝑔</m:t>
                    </m:r>
                    <m:r>
                      <a:rPr lang="en-US" sz="1400" i="1" dirty="0" smtClean="0">
                        <a:solidFill>
                          <a:schemeClr val="accent1"/>
                        </a:solidFill>
                        <a:latin typeface="Cambria Math" panose="02040503050406030204" pitchFamily="18" charset="0"/>
                        <a:ea typeface="Calibri" pitchFamily="34" charset="-122"/>
                        <a:cs typeface="Calibri" pitchFamily="34" charset="-120"/>
                      </a:rPr>
                      <m:t> + </m:t>
                    </m:r>
                    <m:r>
                      <a:rPr lang="en-US" sz="1400" i="1" dirty="0" smtClean="0">
                        <a:solidFill>
                          <a:schemeClr val="accent1"/>
                        </a:solidFill>
                        <a:latin typeface="Cambria Math" panose="02040503050406030204" pitchFamily="18" charset="0"/>
                        <a:ea typeface="Calibri" pitchFamily="34" charset="-122"/>
                        <a:cs typeface="Calibri" pitchFamily="34" charset="-120"/>
                      </a:rPr>
                      <m:t>𝛽</m:t>
                    </m:r>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𝑐𝑙𝑒𝑎𝑟𝑎𝑛𝑐𝑒</m:t>
                    </m:r>
                    <m:r>
                      <a:rPr lang="en-US" sz="1400" i="1" dirty="0" smtClean="0">
                        <a:solidFill>
                          <a:schemeClr val="accent1"/>
                        </a:solidFill>
                        <a:latin typeface="Cambria Math" panose="02040503050406030204" pitchFamily="18" charset="0"/>
                        <a:ea typeface="Calibri" pitchFamily="34" charset="-122"/>
                        <a:cs typeface="Calibri" pitchFamily="34" charset="-120"/>
                      </a:rPr>
                      <m:t> + </m:t>
                    </m:r>
                    <m:r>
                      <a:rPr lang="en-US" sz="1400" i="1" dirty="0" smtClean="0">
                        <a:solidFill>
                          <a:schemeClr val="accent1"/>
                        </a:solidFill>
                        <a:latin typeface="Cambria Math" panose="02040503050406030204" pitchFamily="18" charset="0"/>
                        <a:ea typeface="Calibri" pitchFamily="34" charset="-122"/>
                        <a:cs typeface="Calibri" pitchFamily="34" charset="-120"/>
                      </a:rPr>
                      <m:t>𝛾</m:t>
                    </m:r>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𝑣𝑒𝑙𝑜𝑐𝑖𝑡𝑦</m:t>
                    </m:r>
                  </m:oMath>
                </a14:m>
                <a:endParaRPr lang="en-US" sz="1400" dirty="0">
                  <a:solidFill>
                    <a:schemeClr val="accent1"/>
                  </a:solidFill>
                </a:endParaRPr>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heading</a:t>
                </a:r>
                <a:r>
                  <a:rPr lang="en-US" sz="1400" dirty="0">
                    <a:solidFill>
                      <a:srgbClr val="0D1B2A"/>
                    </a:solidFill>
                    <a:latin typeface="Calibri" pitchFamily="34" charset="0"/>
                    <a:ea typeface="Calibri" pitchFamily="34" charset="-122"/>
                    <a:cs typeface="Calibri" pitchFamily="34" charset="-120"/>
                  </a:rPr>
                  <a:t>:   wyrównanie kierunku ruchu z celem globalnym</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clearance</a:t>
                </a:r>
                <a:r>
                  <a:rPr lang="en-US" sz="1400" dirty="0">
                    <a:solidFill>
                      <a:srgbClr val="0D1B2A"/>
                    </a:solidFill>
                    <a:latin typeface="Calibri" pitchFamily="34" charset="0"/>
                    <a:ea typeface="Calibri" pitchFamily="34" charset="-122"/>
                    <a:cs typeface="Calibri" pitchFamily="34" charset="-120"/>
                  </a:rPr>
                  <a:t>: odległość od najbliższej przeszkody wzdłuż trajektorii</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velocity</a:t>
                </a:r>
                <a:r>
                  <a:rPr lang="en-US" sz="1400" dirty="0">
                    <a:solidFill>
                      <a:srgbClr val="0D1B2A"/>
                    </a:solidFill>
                    <a:latin typeface="Calibri" pitchFamily="34" charset="0"/>
                    <a:ea typeface="Calibri" pitchFamily="34" charset="-122"/>
                    <a:cs typeface="Calibri" pitchFamily="34" charset="-120"/>
                  </a:rPr>
                  <a:t>:  nagroda za wyższą prędkość do przodu</a:t>
                </a:r>
                <a:endParaRPr lang="en-US" sz="1400" dirty="0"/>
              </a:p>
              <a:p>
                <a:pPr marL="144000" indent="-144000">
                  <a:spcAft>
                    <a:spcPts val="900"/>
                  </a:spcAft>
                  <a:buSzPct val="100000"/>
                  <a:buChar char="•"/>
                </a:pPr>
                <a:r>
                  <a:rPr lang="pl-PL" sz="1400" b="1" dirty="0" smtClean="0">
                    <a:solidFill>
                      <a:srgbClr val="0D1B2A"/>
                    </a:solidFill>
                    <a:latin typeface="Calibri" pitchFamily="34" charset="0"/>
                    <a:ea typeface="Calibri" pitchFamily="34" charset="-122"/>
                    <a:cs typeface="Calibri" pitchFamily="34" charset="-120"/>
                  </a:rPr>
                  <a:t>wybierz</a:t>
                </a:r>
                <a:r>
                  <a:rPr lang="en-US" sz="1400" b="1" dirty="0" smtClean="0">
                    <a:solidFill>
                      <a:srgbClr val="0D1B2A"/>
                    </a:solidFill>
                    <a:latin typeface="Calibri" pitchFamily="34" charset="0"/>
                    <a:ea typeface="Calibri" pitchFamily="34" charset="-122"/>
                    <a:cs typeface="Calibri" pitchFamily="34" charset="-120"/>
                  </a:rPr>
                  <a:t> </a:t>
                </a:r>
                <a14:m>
                  <m:oMath xmlns:m="http://schemas.openxmlformats.org/officeDocument/2006/math">
                    <m:d>
                      <m:dPr>
                        <m:ctrlPr>
                          <a:rPr lang="en-US" sz="1400" b="1" i="1" dirty="0" smtClean="0">
                            <a:solidFill>
                              <a:schemeClr val="accent1"/>
                            </a:solidFill>
                            <a:latin typeface="Cambria Math" panose="02040503050406030204" pitchFamily="18" charset="0"/>
                            <a:ea typeface="Calibri" pitchFamily="34" charset="-122"/>
                            <a:cs typeface="Calibri" pitchFamily="34" charset="-120"/>
                          </a:rPr>
                        </m:ctrlPr>
                      </m:dPr>
                      <m:e>
                        <m:r>
                          <a:rPr lang="en-US" sz="1400" b="1" i="1" dirty="0" smtClean="0">
                            <a:solidFill>
                              <a:schemeClr val="accent1"/>
                            </a:solidFill>
                            <a:latin typeface="Cambria Math" panose="02040503050406030204" pitchFamily="18" charset="0"/>
                            <a:ea typeface="Calibri" pitchFamily="34" charset="-122"/>
                            <a:cs typeface="Calibri" pitchFamily="34" charset="-120"/>
                          </a:rPr>
                          <m:t>𝒗</m:t>
                        </m:r>
                        <m:r>
                          <a:rPr lang="en-US" sz="1400" b="1" i="1" dirty="0" smtClean="0">
                            <a:solidFill>
                              <a:schemeClr val="accent1"/>
                            </a:solidFill>
                            <a:latin typeface="Cambria Math" panose="02040503050406030204" pitchFamily="18" charset="0"/>
                            <a:ea typeface="Calibri" pitchFamily="34" charset="-122"/>
                            <a:cs typeface="Calibri" pitchFamily="34" charset="-120"/>
                          </a:rPr>
                          <m:t>∗, </m:t>
                        </m:r>
                        <m:r>
                          <a:rPr lang="en-US" sz="1400" b="1" i="1" dirty="0" smtClean="0">
                            <a:solidFill>
                              <a:schemeClr val="accent1"/>
                            </a:solidFill>
                            <a:latin typeface="Cambria Math" panose="02040503050406030204" pitchFamily="18" charset="0"/>
                            <a:ea typeface="Calibri" pitchFamily="34" charset="-122"/>
                            <a:cs typeface="Calibri" pitchFamily="34" charset="-120"/>
                          </a:rPr>
                          <m:t>𝝎</m:t>
                        </m:r>
                        <m:r>
                          <a:rPr lang="en-US" sz="1400" b="1" i="1" dirty="0" smtClean="0">
                            <a:solidFill>
                              <a:schemeClr val="accent1"/>
                            </a:solidFill>
                            <a:latin typeface="Cambria Math" panose="02040503050406030204" pitchFamily="18" charset="0"/>
                            <a:ea typeface="Calibri" pitchFamily="34" charset="-122"/>
                            <a:cs typeface="Calibri" pitchFamily="34" charset="-120"/>
                          </a:rPr>
                          <m:t>∗</m:t>
                        </m:r>
                      </m:e>
                    </m:d>
                    <m:r>
                      <a:rPr lang="en-US" sz="1400" b="1" i="1" dirty="0" smtClean="0">
                        <a:solidFill>
                          <a:schemeClr val="accent1"/>
                        </a:solidFill>
                        <a:latin typeface="Cambria Math" panose="02040503050406030204" pitchFamily="18" charset="0"/>
                        <a:ea typeface="Calibri" pitchFamily="34" charset="-122"/>
                        <a:cs typeface="Calibri" pitchFamily="34" charset="-120"/>
                      </a:rPr>
                      <m:t>= </m:t>
                    </m:r>
                    <m:r>
                      <a:rPr lang="en-US" sz="1400" b="1" i="1" dirty="0" smtClean="0">
                        <a:solidFill>
                          <a:schemeClr val="accent1"/>
                        </a:solidFill>
                        <a:latin typeface="Cambria Math" panose="02040503050406030204" pitchFamily="18" charset="0"/>
                        <a:ea typeface="Calibri" pitchFamily="34" charset="-122"/>
                        <a:cs typeface="Calibri" pitchFamily="34" charset="-120"/>
                      </a:rPr>
                      <m:t>𝒂𝒓𝒈𝒎𝒂𝒙</m:t>
                    </m:r>
                    <m:r>
                      <a:rPr lang="en-US" sz="1400" b="1" i="1" dirty="0" smtClean="0">
                        <a:solidFill>
                          <a:schemeClr val="accent1"/>
                        </a:solidFill>
                        <a:latin typeface="Cambria Math" panose="02040503050406030204" pitchFamily="18" charset="0"/>
                        <a:ea typeface="Calibri" pitchFamily="34" charset="-122"/>
                        <a:cs typeface="Calibri" pitchFamily="34" charset="-120"/>
                      </a:rPr>
                      <m:t> </m:t>
                    </m:r>
                    <m:r>
                      <a:rPr lang="en-US" sz="1400" b="1" i="1" dirty="0" smtClean="0">
                        <a:solidFill>
                          <a:schemeClr val="accent1"/>
                        </a:solidFill>
                        <a:latin typeface="Cambria Math" panose="02040503050406030204" pitchFamily="18" charset="0"/>
                        <a:ea typeface="Calibri" pitchFamily="34" charset="-122"/>
                        <a:cs typeface="Calibri" pitchFamily="34" charset="-120"/>
                      </a:rPr>
                      <m:t>𝑮</m:t>
                    </m:r>
                    <m:r>
                      <a:rPr lang="en-US" sz="1400" b="1" i="1" dirty="0" smtClean="0">
                        <a:solidFill>
                          <a:schemeClr val="accent1"/>
                        </a:solidFill>
                        <a:latin typeface="Cambria Math" panose="02040503050406030204" pitchFamily="18" charset="0"/>
                        <a:ea typeface="Calibri" pitchFamily="34" charset="-122"/>
                        <a:cs typeface="Calibri" pitchFamily="34" charset="-120"/>
                      </a:rPr>
                      <m:t> </m:t>
                    </m:r>
                  </m:oMath>
                </a14:m>
                <a:r>
                  <a:rPr lang="en-US" sz="1400" dirty="0">
                    <a:solidFill>
                      <a:srgbClr val="0D1B2A"/>
                    </a:solidFill>
                    <a:latin typeface="Calibri" pitchFamily="34" charset="0"/>
                    <a:ea typeface="Calibri" pitchFamily="34" charset="-122"/>
                    <a:cs typeface="Calibri" pitchFamily="34" charset="-120"/>
                  </a:rPr>
                  <a:t>– wykonaj jeden krok, przelicz w kolejnym cyklu</a:t>
                </a:r>
                <a:endParaRPr lang="en-US" sz="1400" dirty="0"/>
              </a:p>
            </p:txBody>
          </p:sp>
        </mc:Choice>
        <mc:Fallback xmlns="">
          <p:sp>
            <p:nvSpPr>
              <p:cNvPr id="7" name="Text 5"/>
              <p:cNvSpPr>
                <a:spLocks noRot="1" noChangeAspect="1" noMove="1" noResize="1" noEditPoints="1" noAdjustHandles="1" noChangeArrowheads="1" noChangeShapeType="1" noTextEdit="1"/>
              </p:cNvSpPr>
              <p:nvPr/>
            </p:nvSpPr>
            <p:spPr>
              <a:xfrm>
                <a:off x="410132" y="1060965"/>
                <a:ext cx="8229600" cy="2604165"/>
              </a:xfrm>
              <a:prstGeom prst="rect">
                <a:avLst/>
              </a:prstGeom>
              <a:blipFill>
                <a:blip r:embed="rId3"/>
                <a:stretch>
                  <a:fillRect t="-1171" b="-2108"/>
                </a:stretch>
              </a:blipFill>
              <a:ln/>
            </p:spPr>
            <p:txBody>
              <a:bodyPr/>
              <a:lstStyle/>
              <a:p>
                <a:r>
                  <a:rPr lang="pl-PL">
                    <a:noFill/>
                  </a:rPr>
                  <a:t> </a:t>
                </a:r>
              </a:p>
            </p:txBody>
          </p:sp>
        </mc:Fallback>
      </mc:AlternateContent>
      <p:sp>
        <p:nvSpPr>
          <p:cNvPr id="8" name="Prostokąt 7"/>
          <p:cNvSpPr/>
          <p:nvPr/>
        </p:nvSpPr>
        <p:spPr>
          <a:xfrm>
            <a:off x="274320" y="3912622"/>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spc="-40" dirty="0" err="1">
                <a:solidFill>
                  <a:schemeClr val="bg1"/>
                </a:solidFill>
              </a:rPr>
              <a:t>Dynamic</a:t>
            </a:r>
            <a:r>
              <a:rPr lang="pl-PL" sz="1400" spc="-40" dirty="0">
                <a:solidFill>
                  <a:schemeClr val="bg1"/>
                </a:solidFill>
              </a:rPr>
              <a:t> </a:t>
            </a:r>
            <a:r>
              <a:rPr lang="pl-PL" sz="1400" spc="-40" dirty="0" err="1">
                <a:solidFill>
                  <a:schemeClr val="bg1"/>
                </a:solidFill>
              </a:rPr>
              <a:t>Window</a:t>
            </a:r>
            <a:r>
              <a:rPr lang="pl-PL" sz="1400" spc="-40" dirty="0">
                <a:solidFill>
                  <a:schemeClr val="bg1"/>
                </a:solidFill>
              </a:rPr>
              <a:t> </a:t>
            </a:r>
            <a:r>
              <a:rPr lang="pl-PL" sz="1400" spc="-40" dirty="0" err="1">
                <a:solidFill>
                  <a:schemeClr val="bg1"/>
                </a:solidFill>
              </a:rPr>
              <a:t>Approach</a:t>
            </a:r>
            <a:r>
              <a:rPr lang="pl-PL" sz="1400" spc="-40" dirty="0">
                <a:solidFill>
                  <a:schemeClr val="bg1"/>
                </a:solidFill>
              </a:rPr>
              <a:t> wybiera najlepszą parę prędkości liniowej i kątowej, którą robot może osiągnąć </a:t>
            </a:r>
            <a:r>
              <a:rPr lang="pl-PL" sz="1400" spc="-40" dirty="0" smtClean="0">
                <a:solidFill>
                  <a:schemeClr val="bg1"/>
                </a:solidFill>
              </a:rPr>
              <a:t>w </a:t>
            </a:r>
            <a:r>
              <a:rPr lang="pl-PL" sz="1400" spc="-40" dirty="0">
                <a:solidFill>
                  <a:schemeClr val="bg1"/>
                </a:solidFill>
              </a:rPr>
              <a:t>krótkim czasie, biorąc pod uwagę ograniczenia przyspieszenia. Dla każdej kandydackiej pary symulowana jest krótka trajektoria, a następnie oceniana funkcją celu. Funkcja ta premiuje zgodność z kierunkiem do celu, bezpieczny dystans od przeszkód oraz odpowiednią prędkość ruchu. DWA dobrze nadaje się do planowania lokalnego, ponieważ działa cyklicznie </a:t>
            </a:r>
            <a:r>
              <a:rPr lang="pl-PL" sz="1400" spc="-40" dirty="0" smtClean="0">
                <a:solidFill>
                  <a:schemeClr val="bg1"/>
                </a:solidFill>
              </a:rPr>
              <a:t/>
            </a:r>
            <a:br>
              <a:rPr lang="pl-PL" sz="1400" spc="-40" dirty="0" smtClean="0">
                <a:solidFill>
                  <a:schemeClr val="bg1"/>
                </a:solidFill>
              </a:rPr>
            </a:br>
            <a:r>
              <a:rPr lang="pl-PL" sz="1400" spc="-40" dirty="0" smtClean="0">
                <a:solidFill>
                  <a:schemeClr val="bg1"/>
                </a:solidFill>
              </a:rPr>
              <a:t>i </a:t>
            </a:r>
            <a:r>
              <a:rPr lang="pl-PL" sz="1400" spc="-40" dirty="0">
                <a:solidFill>
                  <a:schemeClr val="bg1"/>
                </a:solidFill>
              </a:rPr>
              <a:t>może szybko reagować na nowe przeszkody. Dla humanoida trzeba dodatkowo filtrować trajektorie pod kątem stabilności.</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PRZESZKODY DYNAMICZNE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Unikanie ludzi i przeszkód dynamicznych</a:t>
            </a:r>
            <a:endParaRPr lang="en-US" sz="2400" dirty="0"/>
          </a:p>
        </p:txBody>
      </p:sp>
      <p:sp>
        <p:nvSpPr>
          <p:cNvPr id="6" name="Shape 4"/>
          <p:cNvSpPr/>
          <p:nvPr/>
        </p:nvSpPr>
        <p:spPr>
          <a:xfrm>
            <a:off x="274320" y="1097280"/>
            <a:ext cx="4160520" cy="23447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34473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Detekcja i predykcja</a:t>
            </a:r>
            <a:endParaRPr lang="en-US" sz="1600"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Planowanie z uwzględnieniem ruchu</a:t>
            </a:r>
            <a:endParaRPr lang="en-US" sz="1600" dirty="0"/>
          </a:p>
        </p:txBody>
      </p:sp>
      <p:sp>
        <p:nvSpPr>
          <p:cNvPr id="12" name="Text 10"/>
          <p:cNvSpPr/>
          <p:nvPr/>
        </p:nvSpPr>
        <p:spPr>
          <a:xfrm>
            <a:off x="367991" y="1600200"/>
            <a:ext cx="3976895" cy="1765474"/>
          </a:xfrm>
          <a:prstGeom prst="rect">
            <a:avLst/>
          </a:prstGeom>
          <a:noFill/>
          <a:ln/>
        </p:spPr>
        <p:txBody>
          <a:bodyPr wrap="square" lIns="63500" tIns="36000" rIns="63500" bIns="0" rtlCol="0" anchor="t">
            <a:spAutoFit/>
          </a:bodyPr>
          <a:lstStyle/>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Detekcja ludzi</a:t>
            </a:r>
            <a:r>
              <a:rPr lang="en-US" sz="1400" dirty="0">
                <a:solidFill>
                  <a:srgbClr val="0D1B2A"/>
                </a:solidFill>
                <a:latin typeface="Calibri" pitchFamily="34" charset="0"/>
                <a:ea typeface="Calibri" pitchFamily="34" charset="-122"/>
                <a:cs typeface="Calibri" pitchFamily="34" charset="-120"/>
              </a:rPr>
              <a:t>: YOLO, PointNet na chmurze LiDAR</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Śledzenie</a:t>
            </a:r>
            <a:r>
              <a:rPr lang="en-US" sz="1400" dirty="0">
                <a:solidFill>
                  <a:srgbClr val="0D1B2A"/>
                </a:solidFill>
                <a:latin typeface="Calibri" pitchFamily="34" charset="0"/>
                <a:ea typeface="Calibri" pitchFamily="34" charset="-122"/>
                <a:cs typeface="Calibri" pitchFamily="34" charset="-120"/>
              </a:rPr>
              <a:t> (tracking): filtr Kalmana per obiekt</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Predykcja</a:t>
            </a:r>
            <a:r>
              <a:rPr lang="en-US" sz="1400" dirty="0">
                <a:solidFill>
                  <a:srgbClr val="0D1B2A"/>
                </a:solidFill>
                <a:latin typeface="Calibri" pitchFamily="34" charset="0"/>
                <a:ea typeface="Calibri" pitchFamily="34" charset="-122"/>
                <a:cs typeface="Calibri" pitchFamily="34" charset="-120"/>
              </a:rPr>
              <a:t>: stałe velocity, Social Force Model</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Horyzont predykcji</a:t>
            </a:r>
            <a:r>
              <a:rPr lang="en-US" sz="1400" dirty="0">
                <a:solidFill>
                  <a:srgbClr val="0D1B2A"/>
                </a:solidFill>
                <a:latin typeface="Calibri" pitchFamily="34" charset="0"/>
                <a:ea typeface="Calibri" pitchFamily="34" charset="-122"/>
                <a:cs typeface="Calibri" pitchFamily="34" charset="-120"/>
              </a:rPr>
              <a:t>: 1–3 s wystarczy</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Niepewność</a:t>
            </a:r>
            <a:r>
              <a:rPr lang="en-US" sz="1400" dirty="0">
                <a:solidFill>
                  <a:srgbClr val="0D1B2A"/>
                </a:solidFill>
                <a:latin typeface="Calibri" pitchFamily="34" charset="0"/>
                <a:ea typeface="Calibri" pitchFamily="34" charset="-122"/>
                <a:cs typeface="Calibri" pitchFamily="34" charset="-120"/>
              </a:rPr>
              <a:t>: elipsa kowariancji wokół ścieżki</a:t>
            </a:r>
            <a:endParaRPr lang="en-US" sz="1400" dirty="0"/>
          </a:p>
        </p:txBody>
      </p:sp>
      <p:sp>
        <p:nvSpPr>
          <p:cNvPr id="13" name="Text 11"/>
          <p:cNvSpPr/>
          <p:nvPr/>
        </p:nvSpPr>
        <p:spPr>
          <a:xfrm>
            <a:off x="4780529" y="1540728"/>
            <a:ext cx="4006632" cy="1729123"/>
          </a:xfrm>
          <a:prstGeom prst="rect">
            <a:avLst/>
          </a:prstGeom>
          <a:noFill/>
          <a:ln/>
        </p:spPr>
        <p:txBody>
          <a:bodyPr wrap="square" lIns="63500" tIns="36000" rIns="63500" bIns="0" rtlCol="0" anchor="t">
            <a:spAutoFit/>
          </a:bodyPr>
          <a:lstStyle/>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Strefa bezpieczeństwa</a:t>
            </a:r>
            <a:r>
              <a:rPr lang="en-US" sz="1400" spc="-60" dirty="0">
                <a:solidFill>
                  <a:srgbClr val="0D1B2A"/>
                </a:solidFill>
                <a:latin typeface="Calibri" pitchFamily="34" charset="0"/>
                <a:ea typeface="Calibri" pitchFamily="34" charset="-122"/>
                <a:cs typeface="Calibri" pitchFamily="34" charset="-120"/>
              </a:rPr>
              <a:t>: okrąg lub elipsa wokół człowieka</a:t>
            </a:r>
            <a:endParaRPr lang="en-US" sz="1400" spc="-6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Prędkość</a:t>
            </a:r>
            <a:r>
              <a:rPr lang="en-US" sz="1400" dirty="0">
                <a:solidFill>
                  <a:srgbClr val="0D1B2A"/>
                </a:solidFill>
                <a:latin typeface="Calibri" pitchFamily="34" charset="0"/>
                <a:ea typeface="Calibri" pitchFamily="34" charset="-122"/>
                <a:cs typeface="Calibri" pitchFamily="34" charset="-120"/>
              </a:rPr>
              <a:t> przeszkody skaluje rozmiar strefy</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ORCA</a:t>
            </a:r>
            <a:r>
              <a:rPr lang="en-US" sz="1400" dirty="0">
                <a:solidFill>
                  <a:srgbClr val="0D1B2A"/>
                </a:solidFill>
                <a:latin typeface="Calibri" pitchFamily="34" charset="0"/>
                <a:ea typeface="Calibri" pitchFamily="34" charset="-122"/>
                <a:cs typeface="Calibri" pitchFamily="34" charset="-120"/>
              </a:rPr>
              <a:t> (Optimal Reciprocal Collision Avoidance)</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Social navigation</a:t>
            </a:r>
            <a:r>
              <a:rPr lang="en-US" sz="1400" dirty="0">
                <a:solidFill>
                  <a:srgbClr val="0D1B2A"/>
                </a:solidFill>
                <a:latin typeface="Calibri" pitchFamily="34" charset="0"/>
                <a:ea typeface="Calibri" pitchFamily="34" charset="-122"/>
                <a:cs typeface="Calibri" pitchFamily="34" charset="-120"/>
              </a:rPr>
              <a:t>: min. 1,2 m od człowieka</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Zatrzymanie gdy człowiek zbliży się &lt; 0,5 m</a:t>
            </a:r>
            <a:endParaRPr lang="en-US" sz="1400" dirty="0"/>
          </a:p>
        </p:txBody>
      </p:sp>
      <p:sp>
        <p:nvSpPr>
          <p:cNvPr id="14" name="Prostokąt 13"/>
          <p:cNvSpPr/>
          <p:nvPr/>
        </p:nvSpPr>
        <p:spPr>
          <a:xfrm>
            <a:off x="274320" y="3615587"/>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W środowisku z ludźmi samo wykrycie przeszkody nie wystarcza. Robot musi śledzić jej ruch i przewidywać, gdzie znajdzie się za kilka sekund. Typowy </a:t>
            </a:r>
            <a:r>
              <a:rPr lang="pl-PL" sz="1400" dirty="0" err="1">
                <a:solidFill>
                  <a:schemeClr val="bg1"/>
                </a:solidFill>
              </a:rPr>
              <a:t>pipeline</a:t>
            </a:r>
            <a:r>
              <a:rPr lang="pl-PL" sz="1400" dirty="0">
                <a:solidFill>
                  <a:schemeClr val="bg1"/>
                </a:solidFill>
              </a:rPr>
              <a:t> obejmuje detekcję człowieka, estymację pozycji i prędkości, predykcję trajektorii oraz wyznaczenie strefy bezpieczeństwa. W nawigacji społecznej ważne jest nie tylko uniknięcie kolizji, ale też zachowanie komfortowego dystansu. Robot powinien poruszać się przewidywalnie, nie przecinać agresywnie toru ruchu człowieka i zatrzymać się, gdy odległość spadnie poniżej krytycznego progu.</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Śledzenie pieszego: filtr Kalmana (model CV)</a:t>
            </a: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6594014" cy="3009517"/>
          </a:xfrm>
          <a:prstGeom prst="rect">
            <a:avLst/>
          </a:prstGeom>
          <a:noFill/>
          <a:ln/>
        </p:spPr>
        <p:txBody>
          <a:bodyPr wrap="square" lIns="108000" tIns="0" rIns="36000" bIns="0" numCol="2" rtlCol="0" anchor="t">
            <a:noAutofit/>
          </a:bodyPr>
          <a:lstStyle/>
          <a:p>
            <a:pPr>
              <a:lnSpc>
                <a:spcPts val="1000"/>
              </a:lnSpc>
            </a:pPr>
            <a:r>
              <a:rPr lang="pl-PL" sz="800" spc="-40" dirty="0">
                <a:solidFill>
                  <a:srgbClr val="C586C0"/>
                </a:solidFill>
                <a:latin typeface="Consolas" panose="020B0609020204030204" pitchFamily="49" charset="0"/>
              </a:rPr>
              <a:t>import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numpy</a:t>
            </a: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as</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err="1">
                <a:solidFill>
                  <a:srgbClr val="569CD6"/>
                </a:solidFill>
                <a:latin typeface="Consolas" panose="020B0609020204030204" pitchFamily="49" charset="0"/>
              </a:rPr>
              <a:t>class</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PedestrianKF</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E9178"/>
                </a:solidFill>
                <a:latin typeface="Consolas" panose="020B0609020204030204" pitchFamily="49" charset="0"/>
              </a:rPr>
              <a:t>"""</a:t>
            </a:r>
            <a:endParaRPr lang="pl-PL" sz="800" spc="-40" dirty="0">
              <a:solidFill>
                <a:srgbClr val="CCCCCC"/>
              </a:solidFill>
              <a:latin typeface="Consolas" panose="020B0609020204030204" pitchFamily="49" charset="0"/>
            </a:endParaRPr>
          </a:p>
          <a:p>
            <a:pPr>
              <a:lnSpc>
                <a:spcPts val="1000"/>
              </a:lnSpc>
            </a:pPr>
            <a:r>
              <a:rPr lang="pl-PL" sz="800" spc="-40" dirty="0">
                <a:solidFill>
                  <a:srgbClr val="CE9178"/>
                </a:solidFill>
                <a:latin typeface="Consolas" panose="020B0609020204030204" pitchFamily="49" charset="0"/>
              </a:rPr>
              <a:t>    Filtr Kalmana dla śledzenia pieszego – model CV.</a:t>
            </a:r>
            <a:endParaRPr lang="pl-PL" sz="800" spc="-40" dirty="0">
              <a:solidFill>
                <a:srgbClr val="CCCCCC"/>
              </a:solidFill>
              <a:latin typeface="Consolas" panose="020B0609020204030204" pitchFamily="49" charset="0"/>
            </a:endParaRPr>
          </a:p>
          <a:p>
            <a:pPr>
              <a:lnSpc>
                <a:spcPts val="1000"/>
              </a:lnSpc>
            </a:pPr>
            <a:r>
              <a:rPr lang="pl-PL" sz="800" spc="-40" dirty="0">
                <a:solidFill>
                  <a:srgbClr val="CE9178"/>
                </a:solidFill>
                <a:latin typeface="Consolas" panose="020B0609020204030204" pitchFamily="49" charset="0"/>
              </a:rPr>
              <a:t>    Stan: [x, y, </a:t>
            </a:r>
            <a:r>
              <a:rPr lang="pl-PL" sz="800" spc="-40" dirty="0" err="1">
                <a:solidFill>
                  <a:srgbClr val="CE9178"/>
                </a:solidFill>
                <a:latin typeface="Consolas" panose="020B0609020204030204" pitchFamily="49" charset="0"/>
              </a:rPr>
              <a:t>vx</a:t>
            </a:r>
            <a:r>
              <a:rPr lang="pl-PL" sz="800" spc="-40" dirty="0">
                <a:solidFill>
                  <a:srgbClr val="CE9178"/>
                </a:solidFill>
                <a:latin typeface="Consolas" panose="020B0609020204030204" pitchFamily="49" charset="0"/>
              </a:rPr>
              <a:t>, </a:t>
            </a:r>
            <a:r>
              <a:rPr lang="pl-PL" sz="800" spc="-40" dirty="0" err="1">
                <a:solidFill>
                  <a:srgbClr val="CE9178"/>
                </a:solidFill>
                <a:latin typeface="Consolas" panose="020B0609020204030204" pitchFamily="49" charset="0"/>
              </a:rPr>
              <a:t>vy</a:t>
            </a:r>
            <a:r>
              <a:rPr lang="pl-PL" sz="800" spc="-40" dirty="0">
                <a:solidFill>
                  <a:srgbClr val="CE9178"/>
                </a:solidFill>
                <a:latin typeface="Consolas" panose="020B0609020204030204" pitchFamily="49" charset="0"/>
              </a:rPr>
              <a:t>]   Pomiar: [x, y]</a:t>
            </a:r>
            <a:endParaRPr lang="pl-PL" sz="800" spc="-40" dirty="0">
              <a:solidFill>
                <a:srgbClr val="CCCCCC"/>
              </a:solidFill>
              <a:latin typeface="Consolas" panose="020B0609020204030204" pitchFamily="49" charset="0"/>
            </a:endParaRPr>
          </a:p>
          <a:p>
            <a:pPr>
              <a:lnSpc>
                <a:spcPts val="1000"/>
              </a:lnSpc>
            </a:pPr>
            <a:r>
              <a:rPr lang="pl-PL" sz="800" spc="-40" dirty="0">
                <a:solidFill>
                  <a:srgbClr val="CE9178"/>
                </a:solidFill>
                <a:latin typeface="Consolas" panose="020B0609020204030204" pitchFamily="49" charset="0"/>
              </a:rPr>
              <a:t>    """</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__</a:t>
            </a:r>
            <a:r>
              <a:rPr lang="pl-PL" sz="800" spc="-40" dirty="0" err="1">
                <a:solidFill>
                  <a:srgbClr val="DCDCAA"/>
                </a:solidFill>
                <a:latin typeface="Consolas" panose="020B0609020204030204" pitchFamily="49" charset="0"/>
              </a:rPr>
              <a:t>init</a:t>
            </a:r>
            <a:r>
              <a:rPr lang="pl-PL" sz="800" spc="-40" dirty="0">
                <a:solidFill>
                  <a:srgbClr val="DCDCAA"/>
                </a:solidFill>
                <a:latin typeface="Consolas" panose="020B0609020204030204" pitchFamily="49" charset="0"/>
              </a:rPr>
              <a:t>__</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self</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x0</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y0</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float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0.1</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dt</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Wektor stanu: pozycja + </a:t>
            </a:r>
            <a:r>
              <a:rPr lang="pl-PL" sz="800" spc="-40" dirty="0" smtClean="0">
                <a:solidFill>
                  <a:srgbClr val="6A9955"/>
                </a:solidFill>
                <a:latin typeface="Consolas" panose="020B0609020204030204" pitchFamily="49" charset="0"/>
              </a:rPr>
              <a:t>prędkość</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array</a:t>
            </a:r>
            <a:r>
              <a:rPr lang="pl-PL" sz="800" spc="-40" dirty="0">
                <a:solidFill>
                  <a:srgbClr val="CCCCCC"/>
                </a:solidFill>
                <a:latin typeface="Consolas" panose="020B0609020204030204" pitchFamily="49" charset="0"/>
              </a:rPr>
              <a:t>([</a:t>
            </a:r>
            <a:r>
              <a:rPr lang="pl-PL" sz="800" spc="-40" dirty="0">
                <a:solidFill>
                  <a:srgbClr val="9CDCFE"/>
                </a:solidFill>
                <a:latin typeface="Consolas" panose="020B0609020204030204" pitchFamily="49" charset="0"/>
              </a:rPr>
              <a:t>x0</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y0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Macierz kowariancji: wysokie P0 = </a:t>
            </a:r>
            <a:r>
              <a:rPr lang="pl-PL" sz="800" spc="-40" dirty="0" smtClean="0">
                <a:solidFill>
                  <a:srgbClr val="6A9955"/>
                </a:solidFill>
                <a:latin typeface="Consolas" panose="020B0609020204030204" pitchFamily="49" charset="0"/>
              </a:rPr>
              <a:t>duża niepewność</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diag</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0.5</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0.5</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Macierz </a:t>
            </a:r>
            <a:r>
              <a:rPr lang="pl-PL" sz="800" spc="-40" dirty="0" smtClean="0">
                <a:solidFill>
                  <a:srgbClr val="6A9955"/>
                </a:solidFill>
                <a:latin typeface="Consolas" panose="020B0609020204030204" pitchFamily="49" charset="0"/>
              </a:rPr>
              <a:t>przejścia </a:t>
            </a:r>
            <a:r>
              <a:rPr lang="pl-PL" sz="800" spc="-40" dirty="0">
                <a:solidFill>
                  <a:srgbClr val="6A9955"/>
                </a:solidFill>
                <a:latin typeface="Consolas" panose="020B0609020204030204" pitchFamily="49" charset="0"/>
              </a:rPr>
              <a:t>stanu (kinematyka CV)</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F</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array</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Macierz obserwacji: obserwujemy tylko [x, y]</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H</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array</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1</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Szum procesu (przyspieszenie pieszego ~0.5 m/s^2)</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q</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0.5</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Q</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q</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2</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diag</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dt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3</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3</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3</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3</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dt</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Szum pomiaru (</a:t>
            </a:r>
            <a:r>
              <a:rPr lang="pl-PL" sz="800" spc="-40" dirty="0" err="1">
                <a:solidFill>
                  <a:srgbClr val="6A9955"/>
                </a:solidFill>
                <a:latin typeface="Consolas" panose="020B0609020204030204" pitchFamily="49" charset="0"/>
              </a:rPr>
              <a:t>LiDAR</a:t>
            </a:r>
            <a:r>
              <a:rPr lang="pl-PL" sz="800" spc="-40" dirty="0">
                <a:solidFill>
                  <a:srgbClr val="6A9955"/>
                </a:solidFill>
                <a:latin typeface="Consolas" panose="020B0609020204030204" pitchFamily="49" charset="0"/>
              </a:rPr>
              <a:t>/kamera ~0.1 m)</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R</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diag</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0.1</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2</a:t>
            </a:r>
            <a:r>
              <a:rPr lang="pl-PL" sz="800" spc="-40" dirty="0">
                <a:solidFill>
                  <a:srgbClr val="CCCCCC"/>
                </a:solidFill>
                <a:latin typeface="Consolas" panose="020B0609020204030204" pitchFamily="49" charset="0"/>
              </a:rPr>
              <a:t>, </a:t>
            </a:r>
            <a:r>
              <a:rPr lang="pl-PL" sz="800" spc="-40" dirty="0">
                <a:solidFill>
                  <a:srgbClr val="B5CEA8"/>
                </a:solidFill>
                <a:latin typeface="Consolas" panose="020B0609020204030204" pitchFamily="49" charset="0"/>
              </a:rPr>
              <a:t>0.1</a:t>
            </a:r>
            <a:r>
              <a:rPr lang="pl-PL" sz="800" spc="-40" dirty="0">
                <a:solidFill>
                  <a:srgbClr val="D4D4D4"/>
                </a:solidFill>
                <a:latin typeface="Consolas" panose="020B0609020204030204" pitchFamily="49" charset="0"/>
              </a:rPr>
              <a:t>**</a:t>
            </a:r>
            <a:r>
              <a:rPr lang="pl-PL" sz="800" spc="-40" dirty="0">
                <a:solidFill>
                  <a:srgbClr val="B5CEA8"/>
                </a:solidFill>
                <a:latin typeface="Consolas" panose="020B0609020204030204" pitchFamily="49" charset="0"/>
              </a:rPr>
              <a:t>2</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predict</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self</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E9178"/>
                </a:solidFill>
                <a:latin typeface="Consolas" panose="020B0609020204030204" pitchFamily="49" charset="0"/>
              </a:rPr>
              <a:t>"""Krok predykcji (przed nowym pomiarem)."""</a:t>
            </a:r>
            <a:r>
              <a:rPr lang="pl-PL" sz="800" spc="-40" dirty="0">
                <a:solidFill>
                  <a:srgbClr val="CCCCCC"/>
                </a:solidFill>
                <a:latin typeface="Consolas" panose="020B0609020204030204" pitchFamily="49" charset="0"/>
              </a:rPr>
              <a:t>        </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F</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F</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T</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Q</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update</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self</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z</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ndarray</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E9178"/>
                </a:solidFill>
                <a:latin typeface="Consolas" panose="020B0609020204030204" pitchFamily="49" charset="0"/>
              </a:rPr>
              <a:t>"""Korekcja z pomiaru z = [</a:t>
            </a:r>
            <a:r>
              <a:rPr lang="pl-PL" sz="800" spc="-40" dirty="0" err="1">
                <a:solidFill>
                  <a:srgbClr val="CE9178"/>
                </a:solidFill>
                <a:latin typeface="Consolas" panose="020B0609020204030204" pitchFamily="49" charset="0"/>
              </a:rPr>
              <a:t>x_obs</a:t>
            </a:r>
            <a:r>
              <a:rPr lang="pl-PL" sz="800" spc="-40" dirty="0">
                <a:solidFill>
                  <a:srgbClr val="CE9178"/>
                </a:solidFill>
                <a:latin typeface="Consolas" panose="020B0609020204030204" pitchFamily="49" charset="0"/>
              </a:rPr>
              <a:t>, </a:t>
            </a:r>
            <a:r>
              <a:rPr lang="pl-PL" sz="800" spc="-40" dirty="0" err="1">
                <a:solidFill>
                  <a:srgbClr val="CE9178"/>
                </a:solidFill>
                <a:latin typeface="Consolas" panose="020B0609020204030204" pitchFamily="49" charset="0"/>
              </a:rPr>
              <a:t>y_obs</a:t>
            </a:r>
            <a:r>
              <a:rPr lang="pl-PL" sz="800" spc="-40" dirty="0">
                <a:solidFill>
                  <a:srgbClr val="CE9178"/>
                </a:solidFill>
                <a:latin typeface="Consolas" panose="020B0609020204030204" pitchFamily="49" charset="0"/>
              </a:rPr>
              <a:t>]."""</a:t>
            </a:r>
            <a:r>
              <a:rPr lang="pl-PL" sz="800" spc="-40" dirty="0">
                <a:solidFill>
                  <a:srgbClr val="CCCCCC"/>
                </a:solidFill>
                <a:latin typeface="Consolas" panose="020B0609020204030204" pitchFamily="49" charset="0"/>
              </a:rPr>
              <a:t>        </a:t>
            </a: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innov</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9CDCFE"/>
                </a:solidFill>
                <a:latin typeface="Consolas" panose="020B0609020204030204" pitchFamily="49" charset="0"/>
              </a:rPr>
              <a:t>z</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H</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smtClean="0">
                <a:solidFill>
                  <a:srgbClr val="6A9955"/>
                </a:solidFill>
                <a:latin typeface="Consolas" panose="020B0609020204030204" pitchFamily="49" charset="0"/>
              </a:rPr>
              <a:t># </a:t>
            </a:r>
            <a:r>
              <a:rPr lang="pl-PL" sz="800" spc="-40" dirty="0">
                <a:solidFill>
                  <a:srgbClr val="6A9955"/>
                </a:solidFill>
                <a:latin typeface="Consolas" panose="020B0609020204030204" pitchFamily="49" charset="0"/>
              </a:rPr>
              <a:t>innowacja</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kowariancja </a:t>
            </a:r>
            <a:r>
              <a:rPr lang="pl-PL" sz="800" spc="-40" dirty="0" smtClean="0">
                <a:solidFill>
                  <a:srgbClr val="6A9955"/>
                </a:solidFill>
                <a:latin typeface="Consolas" panose="020B0609020204030204" pitchFamily="49" charset="0"/>
              </a:rPr>
              <a:t>innowacji</a:t>
            </a:r>
            <a:endParaRPr lang="pl-PL" sz="800" spc="-40" dirty="0" smtClean="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smtClean="0">
                <a:solidFill>
                  <a:srgbClr val="CCCCCC"/>
                </a:solidFill>
                <a:latin typeface="Consolas" panose="020B0609020204030204" pitchFamily="49" charset="0"/>
              </a:rPr>
              <a:t>       </a:t>
            </a:r>
            <a:r>
              <a:rPr lang="pl-PL" sz="800" spc="-40" dirty="0" smtClean="0">
                <a:solidFill>
                  <a:srgbClr val="4FC1FF"/>
                </a:solidFill>
                <a:latin typeface="Consolas" panose="020B0609020204030204" pitchFamily="49" charset="0"/>
              </a:rPr>
              <a:t>S</a:t>
            </a:r>
            <a:r>
              <a:rPr lang="pl-PL" sz="800" spc="-40" dirty="0" smtClean="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H</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H</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T</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R</a:t>
            </a:r>
            <a:r>
              <a:rPr lang="pl-PL" sz="800" spc="-40" dirty="0">
                <a:solidFill>
                  <a:srgbClr val="CCCCCC"/>
                </a:solidFill>
                <a:latin typeface="Consolas" panose="020B0609020204030204" pitchFamily="49" charset="0"/>
              </a:rPr>
              <a:t>         </a:t>
            </a:r>
            <a:endParaRPr lang="pl-PL" sz="800" spc="-40" dirty="0" smtClean="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smtClean="0">
                <a:solidFill>
                  <a:srgbClr val="CCCCCC"/>
                </a:solidFill>
                <a:latin typeface="Consolas" panose="020B0609020204030204" pitchFamily="49" charset="0"/>
              </a:rPr>
              <a:t>       </a:t>
            </a:r>
            <a:r>
              <a:rPr lang="pl-PL" sz="800" spc="-40" dirty="0" smtClean="0">
                <a:solidFill>
                  <a:srgbClr val="4FC1FF"/>
                </a:solidFill>
                <a:latin typeface="Consolas" panose="020B0609020204030204" pitchFamily="49" charset="0"/>
              </a:rPr>
              <a:t>K</a:t>
            </a:r>
            <a:r>
              <a:rPr lang="pl-PL" sz="800" spc="-40" dirty="0" smtClean="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H</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T</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4EC9B0"/>
                </a:solidFill>
                <a:latin typeface="Consolas" panose="020B0609020204030204" pitchFamily="49" charset="0"/>
              </a:rPr>
              <a:t>linalg</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inv</a:t>
            </a:r>
            <a:r>
              <a:rPr lang="pl-PL" sz="800" spc="-40" dirty="0">
                <a:solidFill>
                  <a:srgbClr val="CCCCCC"/>
                </a:solidFill>
                <a:latin typeface="Consolas" panose="020B0609020204030204" pitchFamily="49" charset="0"/>
              </a:rPr>
              <a:t>(</a:t>
            </a:r>
            <a:r>
              <a:rPr lang="pl-PL" sz="800" spc="-40" dirty="0">
                <a:solidFill>
                  <a:srgbClr val="4FC1FF"/>
                </a:solidFill>
                <a:latin typeface="Consolas" panose="020B0609020204030204" pitchFamily="49" charset="0"/>
              </a:rPr>
              <a:t>S</a:t>
            </a:r>
            <a:r>
              <a:rPr lang="pl-PL" sz="800" spc="-40" dirty="0">
                <a:solidFill>
                  <a:srgbClr val="CCCCCC"/>
                </a:solidFill>
                <a:latin typeface="Consolas" panose="020B0609020204030204" pitchFamily="49" charset="0"/>
              </a:rPr>
              <a:t>) </a:t>
            </a:r>
            <a:r>
              <a:rPr lang="pl-PL" sz="800" spc="-40" dirty="0">
                <a:solidFill>
                  <a:srgbClr val="6A9955"/>
                </a:solidFill>
                <a:latin typeface="Consolas" panose="020B0609020204030204" pitchFamily="49" charset="0"/>
              </a:rPr>
              <a:t># wzmocnienie</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4FC1FF"/>
                </a:solidFill>
                <a:latin typeface="Consolas" panose="020B0609020204030204" pitchFamily="49" charset="0"/>
              </a:rPr>
              <a:t>K</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innov</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r>
              <a:rPr lang="pl-PL" sz="800" spc="-40" dirty="0">
                <a:solidFill>
                  <a:srgbClr val="CCCCCC"/>
                </a:solidFill>
                <a:latin typeface="Consolas" panose="020B0609020204030204" pitchFamily="49" charset="0"/>
              </a:rPr>
              <a:t> </a:t>
            </a:r>
            <a:r>
              <a:rPr lang="pl-PL" sz="800" spc="-40" dirty="0">
                <a:solidFill>
                  <a:srgbClr val="D4D4D4"/>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4EC9B0"/>
                </a:solidFill>
                <a:latin typeface="Consolas" panose="020B0609020204030204" pitchFamily="49" charset="0"/>
              </a:rPr>
              <a:t>np</a:t>
            </a:r>
            <a:r>
              <a:rPr lang="pl-PL" sz="800" spc="-40" dirty="0" err="1">
                <a:solidFill>
                  <a:srgbClr val="CCCCCC"/>
                </a:solidFill>
                <a:latin typeface="Consolas" panose="020B0609020204030204" pitchFamily="49" charset="0"/>
              </a:rPr>
              <a:t>.</a:t>
            </a:r>
            <a:r>
              <a:rPr lang="pl-PL" sz="800" spc="-40" dirty="0" err="1">
                <a:solidFill>
                  <a:srgbClr val="DCDCAA"/>
                </a:solidFill>
                <a:latin typeface="Consolas" panose="020B0609020204030204" pitchFamily="49" charset="0"/>
              </a:rPr>
              <a:t>eye</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4</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a:solidFill>
                  <a:srgbClr val="4FC1FF"/>
                </a:solidFill>
                <a:latin typeface="Consolas" panose="020B0609020204030204" pitchFamily="49" charset="0"/>
              </a:rPr>
              <a:t>K</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H</a:t>
            </a:r>
            <a:r>
              <a:rPr lang="pl-PL" sz="800" spc="-40" dirty="0">
                <a:solidFill>
                  <a:srgbClr val="CCCCCC"/>
                </a:solidFill>
                <a:latin typeface="Consolas" panose="020B0609020204030204" pitchFamily="49" charset="0"/>
              </a:rPr>
              <a:t>) </a:t>
            </a:r>
            <a:r>
              <a:rPr lang="pl-PL" sz="800" spc="-40" dirty="0">
                <a:solidFill>
                  <a:srgbClr val="DCDCAA"/>
                </a:solidFill>
                <a:latin typeface="Consolas" panose="020B0609020204030204" pitchFamily="49" charset="0"/>
              </a:rPr>
              <a:t>@</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P</a:t>
            </a:r>
            <a:endParaRPr lang="pl-PL" sz="800" spc="-40" dirty="0">
              <a:solidFill>
                <a:srgbClr val="CCCCCC"/>
              </a:solidFill>
              <a:latin typeface="Consolas" panose="020B0609020204030204" pitchFamily="49" charset="0"/>
            </a:endParaRPr>
          </a:p>
          <a:p>
            <a:pPr>
              <a:lnSpc>
                <a:spcPts val="1000"/>
              </a:lnSpc>
            </a:pPr>
            <a:r>
              <a:rPr lang="pl-PL" sz="800" spc="-40" dirty="0">
                <a:solidFill>
                  <a:srgbClr val="CCCCCC"/>
                </a:solidFill>
                <a:latin typeface="Consolas" panose="020B0609020204030204" pitchFamily="49" charset="0"/>
              </a:rPr>
              <a:t/>
            </a:r>
            <a:br>
              <a:rPr lang="pl-PL" sz="800" spc="-40" dirty="0">
                <a:solidFill>
                  <a:srgbClr val="CCCCCC"/>
                </a:solidFill>
                <a:latin typeface="Consolas" panose="020B0609020204030204" pitchFamily="49" charset="0"/>
              </a:rPr>
            </a:br>
            <a:r>
              <a:rPr lang="pl-PL" sz="800" spc="-40" dirty="0">
                <a:solidFill>
                  <a:srgbClr val="CCCCCC"/>
                </a:solidFill>
                <a:latin typeface="Consolas" panose="020B0609020204030204" pitchFamily="49" charset="0"/>
              </a:rPr>
              <a:t>    </a:t>
            </a:r>
            <a:r>
              <a:rPr lang="pl-PL" sz="800" spc="-40" dirty="0">
                <a:solidFill>
                  <a:srgbClr val="569CD6"/>
                </a:solidFill>
                <a:latin typeface="Consolas" panose="020B0609020204030204" pitchFamily="49" charset="0"/>
              </a:rPr>
              <a:t>def</a:t>
            </a:r>
            <a:r>
              <a:rPr lang="pl-PL" sz="800" spc="-40" dirty="0">
                <a:solidFill>
                  <a:srgbClr val="CCCCCC"/>
                </a:solidFill>
                <a:latin typeface="Consolas" panose="020B0609020204030204" pitchFamily="49" charset="0"/>
              </a:rPr>
              <a:t> </a:t>
            </a:r>
            <a:r>
              <a:rPr lang="pl-PL" sz="800" spc="-40" dirty="0" err="1">
                <a:solidFill>
                  <a:srgbClr val="DCDCAA"/>
                </a:solidFill>
                <a:latin typeface="Consolas" panose="020B0609020204030204" pitchFamily="49" charset="0"/>
              </a:rPr>
              <a:t>get_pos_vel</a:t>
            </a:r>
            <a:r>
              <a:rPr lang="pl-PL" sz="800" spc="-40" dirty="0">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self</a:t>
            </a:r>
            <a:r>
              <a:rPr lang="pl-PL" sz="800" spc="-40" dirty="0">
                <a:solidFill>
                  <a:srgbClr val="CCCCCC"/>
                </a:solidFill>
                <a:latin typeface="Consolas" panose="020B0609020204030204" pitchFamily="49" charset="0"/>
              </a:rPr>
              <a:t>):</a:t>
            </a:r>
          </a:p>
          <a:p>
            <a:pPr>
              <a:lnSpc>
                <a:spcPts val="1000"/>
              </a:lnSpc>
            </a:pPr>
            <a:r>
              <a:rPr lang="pl-PL" sz="800" spc="-40" dirty="0">
                <a:solidFill>
                  <a:srgbClr val="CCCCCC"/>
                </a:solidFill>
                <a:latin typeface="Consolas" panose="020B0609020204030204" pitchFamily="49" charset="0"/>
              </a:rPr>
              <a:t>        </a:t>
            </a:r>
            <a:r>
              <a:rPr lang="pl-PL" sz="800" spc="-40" dirty="0">
                <a:solidFill>
                  <a:srgbClr val="C586C0"/>
                </a:solidFill>
                <a:latin typeface="Consolas" panose="020B0609020204030204" pitchFamily="49" charset="0"/>
              </a:rPr>
              <a:t>return</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2</a:t>
            </a:r>
            <a:r>
              <a:rPr lang="pl-PL" sz="800" spc="-40" dirty="0">
                <a:solidFill>
                  <a:srgbClr val="CCCCCC"/>
                </a:solidFill>
                <a:latin typeface="Consolas" panose="020B0609020204030204" pitchFamily="49" charset="0"/>
              </a:rPr>
              <a:t>], </a:t>
            </a:r>
            <a:r>
              <a:rPr lang="pl-PL" sz="800" spc="-40" dirty="0" err="1">
                <a:solidFill>
                  <a:srgbClr val="9CDCFE"/>
                </a:solidFill>
                <a:latin typeface="Consolas" panose="020B0609020204030204" pitchFamily="49" charset="0"/>
              </a:rPr>
              <a:t>self</a:t>
            </a:r>
            <a:r>
              <a:rPr lang="pl-PL" sz="800" spc="-40" dirty="0" err="1">
                <a:solidFill>
                  <a:srgbClr val="CCCCCC"/>
                </a:solidFill>
                <a:latin typeface="Consolas" panose="020B0609020204030204" pitchFamily="49" charset="0"/>
              </a:rPr>
              <a:t>.</a:t>
            </a:r>
            <a:r>
              <a:rPr lang="pl-PL" sz="800" spc="-40" dirty="0" err="1">
                <a:solidFill>
                  <a:srgbClr val="9CDCFE"/>
                </a:solidFill>
                <a:latin typeface="Consolas" panose="020B0609020204030204" pitchFamily="49" charset="0"/>
              </a:rPr>
              <a:t>x</a:t>
            </a:r>
            <a:r>
              <a:rPr lang="pl-PL" sz="800" spc="-40" dirty="0">
                <a:solidFill>
                  <a:srgbClr val="CCCCCC"/>
                </a:solidFill>
                <a:latin typeface="Consolas" panose="020B0609020204030204" pitchFamily="49" charset="0"/>
              </a:rPr>
              <a:t>[</a:t>
            </a:r>
            <a:r>
              <a:rPr lang="pl-PL" sz="800" spc="-40" dirty="0">
                <a:solidFill>
                  <a:srgbClr val="B5CEA8"/>
                </a:solidFill>
                <a:latin typeface="Consolas" panose="020B0609020204030204" pitchFamily="49" charset="0"/>
              </a:rPr>
              <a:t>2</a:t>
            </a:r>
            <a:r>
              <a:rPr lang="pl-PL" sz="800" spc="-40" dirty="0">
                <a:solidFill>
                  <a:srgbClr val="CCCCCC"/>
                </a:solidFill>
                <a:latin typeface="Consolas" panose="020B0609020204030204" pitchFamily="49" charset="0"/>
              </a:rPr>
              <a:t>:]</a:t>
            </a:r>
            <a:endParaRPr lang="pl-PL" sz="800" b="0" spc="-4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algn="ctr"/>
            <a:r>
              <a:rPr lang="pl-PL" sz="1500" dirty="0" err="1" smtClean="0">
                <a:solidFill>
                  <a:srgbClr val="FF6565"/>
                </a:solidFill>
                <a:latin typeface="Calibri" pitchFamily="34" charset="0"/>
                <a:ea typeface="Calibri" pitchFamily="34" charset="-122"/>
                <a:cs typeface="Calibri" pitchFamily="34" charset="-120"/>
              </a:rPr>
              <a:t>dt</a:t>
            </a:r>
            <a:r>
              <a:rPr lang="pl-PL" sz="1500" dirty="0" smtClean="0">
                <a:solidFill>
                  <a:srgbClr val="FF6565"/>
                </a:solidFill>
                <a:latin typeface="Calibri" pitchFamily="34" charset="0"/>
                <a:ea typeface="Calibri" pitchFamily="34" charset="-122"/>
                <a:cs typeface="Calibri" pitchFamily="34" charset="-120"/>
              </a:rPr>
              <a:t>=0.1 s (10 </a:t>
            </a:r>
            <a:r>
              <a:rPr lang="pl-PL" sz="1500" dirty="0" err="1" smtClean="0">
                <a:solidFill>
                  <a:srgbClr val="FF6565"/>
                </a:solidFill>
                <a:latin typeface="Calibri" pitchFamily="34" charset="0"/>
                <a:ea typeface="Calibri" pitchFamily="34" charset="-122"/>
                <a:cs typeface="Calibri" pitchFamily="34" charset="-120"/>
              </a:rPr>
              <a:t>Hz</a:t>
            </a:r>
            <a:r>
              <a:rPr lang="pl-PL" sz="1500" dirty="0" smtClean="0">
                <a:solidFill>
                  <a:srgbClr val="FF6565"/>
                </a:solidFill>
                <a:latin typeface="Calibri" pitchFamily="34" charset="0"/>
                <a:ea typeface="Calibri" pitchFamily="34" charset="-122"/>
                <a:cs typeface="Calibri" pitchFamily="34" charset="-120"/>
              </a:rPr>
              <a:t> </a:t>
            </a:r>
            <a:r>
              <a:rPr lang="pl-PL" sz="1500" dirty="0" err="1" smtClean="0">
                <a:solidFill>
                  <a:srgbClr val="FF6565"/>
                </a:solidFill>
                <a:latin typeface="Calibri" pitchFamily="34" charset="0"/>
                <a:ea typeface="Calibri" pitchFamily="34" charset="-122"/>
                <a:cs typeface="Calibri" pitchFamily="34" charset="-120"/>
              </a:rPr>
              <a:t>LiDAR</a:t>
            </a:r>
            <a:r>
              <a:rPr lang="pl-PL" sz="1500" dirty="0" smtClean="0">
                <a:solidFill>
                  <a:srgbClr val="FF6565"/>
                </a:solidFill>
                <a:latin typeface="Calibri" pitchFamily="34" charset="0"/>
                <a:ea typeface="Calibri" pitchFamily="34" charset="-122"/>
                <a:cs typeface="Calibri" pitchFamily="34" charset="-120"/>
              </a:rPr>
              <a:t>); </a:t>
            </a:r>
            <a:r>
              <a:rPr lang="pl-PL" sz="1500" dirty="0" smtClean="0">
                <a:solidFill>
                  <a:schemeClr val="accent4"/>
                </a:solidFill>
                <a:latin typeface="Calibri" pitchFamily="34" charset="0"/>
                <a:ea typeface="Calibri" pitchFamily="34" charset="-122"/>
                <a:cs typeface="Calibri" pitchFamily="34" charset="-120"/>
              </a:rPr>
              <a:t>Q modeluje zmiany prędkości;</a:t>
            </a:r>
            <a:r>
              <a:rPr lang="pl-PL" sz="1500" dirty="0" smtClean="0">
                <a:solidFill>
                  <a:srgbClr val="00B4D8"/>
                </a:solidFill>
                <a:latin typeface="Calibri" pitchFamily="34" charset="0"/>
                <a:ea typeface="Calibri" pitchFamily="34" charset="-122"/>
                <a:cs typeface="Calibri" pitchFamily="34" charset="-120"/>
              </a:rPr>
              <a:t> </a:t>
            </a:r>
            <a:r>
              <a:rPr lang="pl-PL" sz="1500" dirty="0" smtClean="0">
                <a:solidFill>
                  <a:schemeClr val="accent2"/>
                </a:solidFill>
                <a:latin typeface="Calibri" pitchFamily="34" charset="0"/>
                <a:ea typeface="Calibri" pitchFamily="34" charset="-122"/>
                <a:cs typeface="Calibri" pitchFamily="34" charset="-120"/>
              </a:rPr>
              <a:t>R = szum detektora;</a:t>
            </a:r>
            <a:r>
              <a:rPr lang="pl-PL" sz="1500" dirty="0" smtClean="0">
                <a:solidFill>
                  <a:srgbClr val="00B4D8"/>
                </a:solidFill>
                <a:latin typeface="Calibri" pitchFamily="34" charset="0"/>
                <a:ea typeface="Calibri" pitchFamily="34" charset="-122"/>
                <a:cs typeface="Calibri" pitchFamily="34" charset="-120"/>
              </a:rPr>
              <a:t> </a:t>
            </a:r>
            <a:r>
              <a:rPr lang="pl-PL" sz="1500" dirty="0" err="1" smtClean="0">
                <a:solidFill>
                  <a:srgbClr val="00B4D8"/>
                </a:solidFill>
                <a:latin typeface="Calibri" pitchFamily="34" charset="0"/>
                <a:ea typeface="Calibri" pitchFamily="34" charset="-122"/>
                <a:cs typeface="Calibri" pitchFamily="34" charset="-120"/>
              </a:rPr>
              <a:t>predict</a:t>
            </a:r>
            <a:r>
              <a:rPr lang="pl-PL" sz="1500" dirty="0" smtClean="0">
                <a:solidFill>
                  <a:srgbClr val="00B4D8"/>
                </a:solidFill>
                <a:latin typeface="Calibri" pitchFamily="34" charset="0"/>
                <a:ea typeface="Calibri" pitchFamily="34" charset="-122"/>
                <a:cs typeface="Calibri" pitchFamily="34" charset="-120"/>
              </a:rPr>
              <a:t>()+update() co klatkę.</a:t>
            </a:r>
            <a:endParaRPr lang="pl-PL" sz="1500" dirty="0">
              <a:solidFill>
                <a:srgbClr val="00B4D8"/>
              </a:solidFill>
              <a:latin typeface="Calibri" pitchFamily="34" charset="0"/>
              <a:ea typeface="Calibri" pitchFamily="34" charset="-122"/>
              <a:cs typeface="Calibri" pitchFamily="34" charset="-120"/>
            </a:endParaRPr>
          </a:p>
        </p:txBody>
      </p:sp>
      <p:sp>
        <p:nvSpPr>
          <p:cNvPr id="7" name="Prostokąt 6"/>
          <p:cNvSpPr/>
          <p:nvPr/>
        </p:nvSpPr>
        <p:spPr>
          <a:xfrm>
            <a:off x="246888" y="745724"/>
            <a:ext cx="5141976" cy="276999"/>
          </a:xfrm>
          <a:prstGeom prst="rect">
            <a:avLst/>
          </a:prstGeom>
        </p:spPr>
        <p:txBody>
          <a:bodyPr wrap="square">
            <a:spAutoFit/>
          </a:bodyPr>
          <a:lstStyle/>
          <a:p>
            <a:r>
              <a:rPr lang="pl-PL" sz="1200" i="1" dirty="0">
                <a:solidFill>
                  <a:srgbClr val="90C8D8"/>
                </a:solidFill>
              </a:rPr>
              <a:t>Model stałej prędkości (</a:t>
            </a:r>
            <a:r>
              <a:rPr lang="pl-PL" sz="1200" i="1" dirty="0" err="1">
                <a:solidFill>
                  <a:srgbClr val="90C8D8"/>
                </a:solidFill>
              </a:rPr>
              <a:t>Constant</a:t>
            </a:r>
            <a:r>
              <a:rPr lang="pl-PL" sz="1200" i="1" dirty="0">
                <a:solidFill>
                  <a:srgbClr val="90C8D8"/>
                </a:solidFill>
              </a:rPr>
              <a:t> </a:t>
            </a:r>
            <a:r>
              <a:rPr lang="pl-PL" sz="1200" i="1" dirty="0" err="1">
                <a:solidFill>
                  <a:srgbClr val="90C8D8"/>
                </a:solidFill>
              </a:rPr>
              <a:t>Velocity</a:t>
            </a:r>
            <a:r>
              <a:rPr lang="pl-PL" sz="1200" i="1" dirty="0">
                <a:solidFill>
                  <a:srgbClr val="90C8D8"/>
                </a:solidFill>
              </a:rPr>
              <a:t>) dla każdego wykrytego pieszego</a:t>
            </a:r>
          </a:p>
        </p:txBody>
      </p:sp>
      <p:sp>
        <p:nvSpPr>
          <p:cNvPr id="16" name="pole tekstowe 15"/>
          <p:cNvSpPr txBox="1"/>
          <p:nvPr/>
        </p:nvSpPr>
        <p:spPr>
          <a:xfrm>
            <a:off x="6906768" y="1026146"/>
            <a:ext cx="2008632" cy="3195747"/>
          </a:xfrm>
          <a:prstGeom prst="rect">
            <a:avLst/>
          </a:prstGeom>
          <a:noFill/>
        </p:spPr>
        <p:txBody>
          <a:bodyPr wrap="square" rtlCol="0">
            <a:spAutoFit/>
          </a:bodyPr>
          <a:lstStyle/>
          <a:p>
            <a:pPr algn="ctr">
              <a:lnSpc>
                <a:spcPts val="1100"/>
              </a:lnSpc>
            </a:pPr>
            <a:r>
              <a:rPr lang="pl-PL" sz="1600" b="1" u="sng" dirty="0">
                <a:solidFill>
                  <a:schemeClr val="bg1"/>
                </a:solidFill>
              </a:rPr>
              <a:t>Model CV vs CA</a:t>
            </a:r>
          </a:p>
          <a:p>
            <a:pPr>
              <a:lnSpc>
                <a:spcPts val="1100"/>
              </a:lnSpc>
            </a:pPr>
            <a:endParaRPr lang="pl-PL" sz="1200" b="1" dirty="0" smtClean="0">
              <a:solidFill>
                <a:schemeClr val="bg1"/>
              </a:solidFill>
            </a:endParaRPr>
          </a:p>
          <a:p>
            <a:pPr>
              <a:lnSpc>
                <a:spcPts val="1100"/>
              </a:lnSpc>
            </a:pPr>
            <a:r>
              <a:rPr lang="pl-PL" sz="1200" b="1" dirty="0" err="1" smtClean="0">
                <a:solidFill>
                  <a:schemeClr val="bg1"/>
                </a:solidFill>
              </a:rPr>
              <a:t>Constant</a:t>
            </a:r>
            <a:r>
              <a:rPr lang="pl-PL" sz="1200" b="1" dirty="0" smtClean="0">
                <a:solidFill>
                  <a:schemeClr val="bg1"/>
                </a:solidFill>
              </a:rPr>
              <a:t> </a:t>
            </a:r>
            <a:r>
              <a:rPr lang="pl-PL" sz="1200" b="1" dirty="0" err="1">
                <a:solidFill>
                  <a:schemeClr val="bg1"/>
                </a:solidFill>
              </a:rPr>
              <a:t>Velocity</a:t>
            </a:r>
            <a:r>
              <a:rPr lang="pl-PL" sz="1200" b="1" dirty="0">
                <a:solidFill>
                  <a:schemeClr val="bg1"/>
                </a:solidFill>
              </a:rPr>
              <a:t> (CV</a:t>
            </a:r>
            <a:r>
              <a:rPr lang="pl-PL" sz="1200" b="1" dirty="0" smtClean="0">
                <a:solidFill>
                  <a:schemeClr val="bg1"/>
                </a:solidFill>
              </a:rPr>
              <a:t>)</a:t>
            </a:r>
            <a:endParaRPr lang="pl-PL" sz="1200" b="1" dirty="0">
              <a:solidFill>
                <a:schemeClr val="bg1"/>
              </a:solidFill>
            </a:endParaRPr>
          </a:p>
          <a:p>
            <a:pPr marL="171450" indent="-171450">
              <a:lnSpc>
                <a:spcPts val="1100"/>
              </a:lnSpc>
              <a:buFont typeface="Arial" panose="020B0604020202020204" pitchFamily="34" charset="0"/>
              <a:buChar char="•"/>
            </a:pPr>
            <a:r>
              <a:rPr lang="pl-PL" sz="1100" dirty="0" smtClean="0">
                <a:solidFill>
                  <a:schemeClr val="bg1"/>
                </a:solidFill>
              </a:rPr>
              <a:t> </a:t>
            </a:r>
            <a:r>
              <a:rPr lang="pl-PL" sz="1100" dirty="0">
                <a:solidFill>
                  <a:schemeClr val="bg1"/>
                </a:solidFill>
              </a:rPr>
              <a:t>v = </a:t>
            </a:r>
            <a:r>
              <a:rPr lang="pl-PL" sz="1100" dirty="0" err="1">
                <a:solidFill>
                  <a:schemeClr val="bg1"/>
                </a:solidFill>
              </a:rPr>
              <a:t>const</a:t>
            </a:r>
            <a:r>
              <a:rPr lang="pl-PL" sz="1100" dirty="0">
                <a:solidFill>
                  <a:schemeClr val="bg1"/>
                </a:solidFill>
              </a:rPr>
              <a:t> między krokami</a:t>
            </a:r>
          </a:p>
          <a:p>
            <a:pPr marL="171450" indent="-171450">
              <a:lnSpc>
                <a:spcPts val="1100"/>
              </a:lnSpc>
              <a:buFont typeface="Arial" panose="020B0604020202020204" pitchFamily="34" charset="0"/>
              <a:buChar char="•"/>
            </a:pPr>
            <a:r>
              <a:rPr lang="pl-PL" sz="1100" dirty="0">
                <a:solidFill>
                  <a:schemeClr val="bg1"/>
                </a:solidFill>
              </a:rPr>
              <a:t> </a:t>
            </a:r>
            <a:r>
              <a:rPr lang="pl-PL" sz="1100" dirty="0" smtClean="0">
                <a:solidFill>
                  <a:schemeClr val="bg1"/>
                </a:solidFill>
              </a:rPr>
              <a:t>Dokładny </a:t>
            </a:r>
            <a:r>
              <a:rPr lang="pl-PL" sz="1100" dirty="0">
                <a:solidFill>
                  <a:schemeClr val="bg1"/>
                </a:solidFill>
              </a:rPr>
              <a:t>do ~1 s </a:t>
            </a:r>
          </a:p>
          <a:p>
            <a:pPr marL="171450" indent="-171450">
              <a:lnSpc>
                <a:spcPts val="1100"/>
              </a:lnSpc>
              <a:buFont typeface="Arial" panose="020B0604020202020204" pitchFamily="34" charset="0"/>
              <a:buChar char="•"/>
            </a:pPr>
            <a:r>
              <a:rPr lang="pl-PL" sz="1100" dirty="0" smtClean="0">
                <a:solidFill>
                  <a:schemeClr val="bg1"/>
                </a:solidFill>
              </a:rPr>
              <a:t> Prosty</a:t>
            </a:r>
            <a:r>
              <a:rPr lang="pl-PL" sz="1100" dirty="0">
                <a:solidFill>
                  <a:schemeClr val="bg1"/>
                </a:solidFill>
              </a:rPr>
              <a:t>, szybki</a:t>
            </a:r>
          </a:p>
          <a:p>
            <a:pPr>
              <a:lnSpc>
                <a:spcPts val="1100"/>
              </a:lnSpc>
            </a:pPr>
            <a:endParaRPr lang="pl-PL" sz="1100" dirty="0">
              <a:solidFill>
                <a:schemeClr val="bg1"/>
              </a:solidFill>
            </a:endParaRPr>
          </a:p>
          <a:p>
            <a:pPr>
              <a:lnSpc>
                <a:spcPts val="1100"/>
              </a:lnSpc>
            </a:pPr>
            <a:r>
              <a:rPr lang="pl-PL" sz="1200" b="1" dirty="0" err="1">
                <a:solidFill>
                  <a:schemeClr val="bg1"/>
                </a:solidFill>
              </a:rPr>
              <a:t>Const</a:t>
            </a:r>
            <a:r>
              <a:rPr lang="pl-PL" sz="1200" b="1" dirty="0">
                <a:solidFill>
                  <a:schemeClr val="bg1"/>
                </a:solidFill>
              </a:rPr>
              <a:t>. </a:t>
            </a:r>
            <a:r>
              <a:rPr lang="pl-PL" sz="1200" b="1" dirty="0" smtClean="0">
                <a:solidFill>
                  <a:schemeClr val="bg1"/>
                </a:solidFill>
              </a:rPr>
              <a:t>Acceleration</a:t>
            </a:r>
            <a:endParaRPr lang="pl-PL" sz="1200" b="1" dirty="0">
              <a:solidFill>
                <a:schemeClr val="bg1"/>
              </a:solidFill>
            </a:endParaRPr>
          </a:p>
          <a:p>
            <a:pPr marL="171450" indent="-171450">
              <a:lnSpc>
                <a:spcPts val="1100"/>
              </a:lnSpc>
              <a:buFont typeface="Arial" panose="020B0604020202020204" pitchFamily="34" charset="0"/>
              <a:buChar char="•"/>
            </a:pPr>
            <a:r>
              <a:rPr lang="pl-PL" sz="1100" dirty="0">
                <a:solidFill>
                  <a:schemeClr val="bg1"/>
                </a:solidFill>
              </a:rPr>
              <a:t> Lepszy przy </a:t>
            </a:r>
            <a:r>
              <a:rPr lang="pl-PL" sz="1100" dirty="0" err="1">
                <a:solidFill>
                  <a:schemeClr val="bg1"/>
                </a:solidFill>
              </a:rPr>
              <a:t>skretach</a:t>
            </a:r>
            <a:endParaRPr lang="pl-PL" sz="1100" dirty="0">
              <a:solidFill>
                <a:schemeClr val="bg1"/>
              </a:solidFill>
            </a:endParaRPr>
          </a:p>
          <a:p>
            <a:pPr marL="171450" indent="-171450">
              <a:lnSpc>
                <a:spcPts val="1100"/>
              </a:lnSpc>
              <a:buFont typeface="Arial" panose="020B0604020202020204" pitchFamily="34" charset="0"/>
              <a:buChar char="•"/>
            </a:pPr>
            <a:r>
              <a:rPr lang="pl-PL" sz="1100" dirty="0">
                <a:solidFill>
                  <a:schemeClr val="bg1"/>
                </a:solidFill>
              </a:rPr>
              <a:t> Stan: [</a:t>
            </a:r>
            <a:r>
              <a:rPr lang="pl-PL" sz="1100" dirty="0" err="1">
                <a:solidFill>
                  <a:schemeClr val="bg1"/>
                </a:solidFill>
              </a:rPr>
              <a:t>x,y,vx,vy,ax,ay</a:t>
            </a:r>
            <a:r>
              <a:rPr lang="pl-PL" sz="1100" dirty="0">
                <a:solidFill>
                  <a:schemeClr val="bg1"/>
                </a:solidFill>
              </a:rPr>
              <a:t>]</a:t>
            </a:r>
          </a:p>
          <a:p>
            <a:pPr marL="171450" indent="-171450">
              <a:lnSpc>
                <a:spcPts val="1100"/>
              </a:lnSpc>
              <a:buFont typeface="Arial" panose="020B0604020202020204" pitchFamily="34" charset="0"/>
              <a:buChar char="•"/>
            </a:pPr>
            <a:r>
              <a:rPr lang="pl-PL" sz="1100" dirty="0">
                <a:solidFill>
                  <a:schemeClr val="bg1"/>
                </a:solidFill>
              </a:rPr>
              <a:t> </a:t>
            </a:r>
            <a:r>
              <a:rPr lang="pl-PL" sz="1100" dirty="0" smtClean="0">
                <a:solidFill>
                  <a:schemeClr val="bg1"/>
                </a:solidFill>
              </a:rPr>
              <a:t>Większy koszt</a:t>
            </a:r>
          </a:p>
          <a:p>
            <a:pPr>
              <a:lnSpc>
                <a:spcPts val="1100"/>
              </a:lnSpc>
            </a:pPr>
            <a:endParaRPr lang="pl-PL" sz="1100" dirty="0">
              <a:solidFill>
                <a:schemeClr val="bg1"/>
              </a:solidFill>
            </a:endParaRPr>
          </a:p>
          <a:p>
            <a:pPr>
              <a:lnSpc>
                <a:spcPts val="1100"/>
              </a:lnSpc>
            </a:pPr>
            <a:r>
              <a:rPr lang="pl-PL" sz="1200" b="1" dirty="0">
                <a:solidFill>
                  <a:schemeClr val="bg1"/>
                </a:solidFill>
              </a:rPr>
              <a:t>Wieloosobowe </a:t>
            </a:r>
            <a:r>
              <a:rPr lang="pl-PL" sz="1200" b="1" dirty="0" smtClean="0">
                <a:solidFill>
                  <a:schemeClr val="bg1"/>
                </a:solidFill>
              </a:rPr>
              <a:t>śledzenie</a:t>
            </a:r>
            <a:endParaRPr lang="pl-PL" sz="1200" b="1" dirty="0">
              <a:solidFill>
                <a:schemeClr val="bg1"/>
              </a:solidFill>
            </a:endParaRPr>
          </a:p>
          <a:p>
            <a:pPr marL="171450" indent="-171450">
              <a:lnSpc>
                <a:spcPts val="1100"/>
              </a:lnSpc>
              <a:buFont typeface="Arial" panose="020B0604020202020204" pitchFamily="34" charset="0"/>
              <a:buChar char="•"/>
            </a:pPr>
            <a:r>
              <a:rPr lang="pl-PL" sz="1100" dirty="0" smtClean="0">
                <a:solidFill>
                  <a:schemeClr val="bg1"/>
                </a:solidFill>
              </a:rPr>
              <a:t> Jeden </a:t>
            </a:r>
            <a:r>
              <a:rPr lang="pl-PL" sz="1100" dirty="0">
                <a:solidFill>
                  <a:schemeClr val="bg1"/>
                </a:solidFill>
              </a:rPr>
              <a:t>KF per obiekt</a:t>
            </a:r>
          </a:p>
          <a:p>
            <a:pPr marL="171450" indent="-171450">
              <a:lnSpc>
                <a:spcPts val="1100"/>
              </a:lnSpc>
              <a:buFont typeface="Arial" panose="020B0604020202020204" pitchFamily="34" charset="0"/>
              <a:buChar char="•"/>
            </a:pPr>
            <a:r>
              <a:rPr lang="pl-PL" sz="1100" dirty="0" smtClean="0">
                <a:solidFill>
                  <a:schemeClr val="bg1"/>
                </a:solidFill>
              </a:rPr>
              <a:t> </a:t>
            </a:r>
            <a:r>
              <a:rPr lang="pl-PL" sz="1100" dirty="0" err="1" smtClean="0">
                <a:solidFill>
                  <a:schemeClr val="bg1"/>
                </a:solidFill>
              </a:rPr>
              <a:t>IoU</a:t>
            </a:r>
            <a:r>
              <a:rPr lang="pl-PL" sz="1100" dirty="0" smtClean="0">
                <a:solidFill>
                  <a:schemeClr val="bg1"/>
                </a:solidFill>
              </a:rPr>
              <a:t> </a:t>
            </a:r>
            <a:r>
              <a:rPr lang="pl-PL" sz="1100" dirty="0">
                <a:solidFill>
                  <a:schemeClr val="bg1"/>
                </a:solidFill>
              </a:rPr>
              <a:t>lub </a:t>
            </a:r>
            <a:r>
              <a:rPr lang="pl-PL" sz="1100" dirty="0" err="1">
                <a:solidFill>
                  <a:schemeClr val="bg1"/>
                </a:solidFill>
              </a:rPr>
              <a:t>dist</a:t>
            </a:r>
            <a:r>
              <a:rPr lang="pl-PL" sz="1100" dirty="0">
                <a:solidFill>
                  <a:schemeClr val="bg1"/>
                </a:solidFill>
              </a:rPr>
              <a:t> </a:t>
            </a:r>
            <a:r>
              <a:rPr lang="pl-PL" sz="1100" dirty="0" err="1">
                <a:solidFill>
                  <a:schemeClr val="bg1"/>
                </a:solidFill>
              </a:rPr>
              <a:t>matching</a:t>
            </a:r>
            <a:endParaRPr lang="pl-PL" sz="1100" dirty="0">
              <a:solidFill>
                <a:schemeClr val="bg1"/>
              </a:solidFill>
            </a:endParaRPr>
          </a:p>
          <a:p>
            <a:pPr marL="171450" indent="-171450">
              <a:lnSpc>
                <a:spcPts val="1100"/>
              </a:lnSpc>
              <a:buFont typeface="Arial" panose="020B0604020202020204" pitchFamily="34" charset="0"/>
              <a:buChar char="•"/>
            </a:pPr>
            <a:r>
              <a:rPr lang="pl-PL" sz="1100" dirty="0" smtClean="0">
                <a:solidFill>
                  <a:schemeClr val="bg1"/>
                </a:solidFill>
              </a:rPr>
              <a:t> Nowy </a:t>
            </a:r>
            <a:r>
              <a:rPr lang="pl-PL" sz="1100" dirty="0">
                <a:solidFill>
                  <a:schemeClr val="bg1"/>
                </a:solidFill>
              </a:rPr>
              <a:t>KF gdy nowy detektor</a:t>
            </a:r>
          </a:p>
          <a:p>
            <a:pPr marL="171450" indent="-171450">
              <a:lnSpc>
                <a:spcPts val="1100"/>
              </a:lnSpc>
              <a:buFont typeface="Arial" panose="020B0604020202020204" pitchFamily="34" charset="0"/>
              <a:buChar char="•"/>
            </a:pPr>
            <a:r>
              <a:rPr lang="pl-PL" sz="1100" dirty="0" smtClean="0">
                <a:solidFill>
                  <a:schemeClr val="bg1"/>
                </a:solidFill>
              </a:rPr>
              <a:t> Usuń </a:t>
            </a:r>
            <a:r>
              <a:rPr lang="pl-PL" sz="1100" dirty="0">
                <a:solidFill>
                  <a:schemeClr val="bg1"/>
                </a:solidFill>
              </a:rPr>
              <a:t>gdy brak pomiaru</a:t>
            </a:r>
          </a:p>
          <a:p>
            <a:pPr marL="171450" indent="-171450">
              <a:lnSpc>
                <a:spcPts val="1100"/>
              </a:lnSpc>
              <a:buFont typeface="Arial" panose="020B0604020202020204" pitchFamily="34" charset="0"/>
              <a:buChar char="•"/>
            </a:pPr>
            <a:r>
              <a:rPr lang="pl-PL" sz="1100" dirty="0" smtClean="0">
                <a:solidFill>
                  <a:schemeClr val="bg1"/>
                </a:solidFill>
              </a:rPr>
              <a:t> przez </a:t>
            </a:r>
            <a:r>
              <a:rPr lang="pl-PL" sz="1100" dirty="0">
                <a:solidFill>
                  <a:schemeClr val="bg1"/>
                </a:solidFill>
              </a:rPr>
              <a:t>&gt; 0.5 </a:t>
            </a:r>
            <a:r>
              <a:rPr lang="pl-PL" sz="1100" dirty="0" smtClean="0">
                <a:solidFill>
                  <a:schemeClr val="bg1"/>
                </a:solidFill>
              </a:rPr>
              <a:t>s</a:t>
            </a:r>
          </a:p>
          <a:p>
            <a:pPr>
              <a:lnSpc>
                <a:spcPts val="1100"/>
              </a:lnSpc>
            </a:pPr>
            <a:endParaRPr lang="pl-PL" sz="1100" dirty="0">
              <a:solidFill>
                <a:schemeClr val="bg1"/>
              </a:solidFill>
            </a:endParaRPr>
          </a:p>
          <a:p>
            <a:pPr>
              <a:lnSpc>
                <a:spcPts val="1100"/>
              </a:lnSpc>
            </a:pPr>
            <a:r>
              <a:rPr lang="pl-PL" sz="1200" b="1" dirty="0">
                <a:solidFill>
                  <a:schemeClr val="bg1"/>
                </a:solidFill>
              </a:rPr>
              <a:t>Chi2 test </a:t>
            </a:r>
            <a:r>
              <a:rPr lang="pl-PL" sz="1200" b="1" dirty="0" smtClean="0">
                <a:solidFill>
                  <a:schemeClr val="bg1"/>
                </a:solidFill>
              </a:rPr>
              <a:t>innowacji</a:t>
            </a:r>
            <a:endParaRPr lang="pl-PL" sz="1200" b="1" dirty="0">
              <a:solidFill>
                <a:schemeClr val="bg1"/>
              </a:solidFill>
            </a:endParaRPr>
          </a:p>
          <a:p>
            <a:pPr marL="171450" indent="-171450">
              <a:lnSpc>
                <a:spcPts val="1100"/>
              </a:lnSpc>
              <a:buFont typeface="Arial" panose="020B0604020202020204" pitchFamily="34" charset="0"/>
              <a:buChar char="•"/>
            </a:pPr>
            <a:r>
              <a:rPr lang="pl-PL" sz="1100" dirty="0" smtClean="0">
                <a:solidFill>
                  <a:schemeClr val="bg1"/>
                </a:solidFill>
              </a:rPr>
              <a:t> </a:t>
            </a:r>
            <a:r>
              <a:rPr lang="pl-PL" sz="1100" dirty="0" err="1" smtClean="0">
                <a:solidFill>
                  <a:schemeClr val="bg1"/>
                </a:solidFill>
              </a:rPr>
              <a:t>Outlier</a:t>
            </a:r>
            <a:r>
              <a:rPr lang="pl-PL" sz="1100" dirty="0" smtClean="0">
                <a:solidFill>
                  <a:schemeClr val="bg1"/>
                </a:solidFill>
              </a:rPr>
              <a:t> </a:t>
            </a:r>
            <a:r>
              <a:rPr lang="pl-PL" sz="1100" dirty="0" err="1">
                <a:solidFill>
                  <a:schemeClr val="bg1"/>
                </a:solidFill>
              </a:rPr>
              <a:t>detection</a:t>
            </a:r>
            <a:endParaRPr lang="pl-PL" sz="1100" dirty="0">
              <a:solidFill>
                <a:schemeClr val="bg1"/>
              </a:solidFill>
            </a:endParaRPr>
          </a:p>
          <a:p>
            <a:pPr marL="171450" indent="-171450">
              <a:lnSpc>
                <a:spcPts val="1100"/>
              </a:lnSpc>
              <a:buFont typeface="Arial" panose="020B0604020202020204" pitchFamily="34" charset="0"/>
              <a:buChar char="•"/>
            </a:pPr>
            <a:r>
              <a:rPr lang="pl-PL" sz="1100" dirty="0" smtClean="0">
                <a:solidFill>
                  <a:schemeClr val="bg1"/>
                </a:solidFill>
              </a:rPr>
              <a:t> NIS </a:t>
            </a:r>
            <a:r>
              <a:rPr lang="pl-PL" sz="1100" dirty="0">
                <a:solidFill>
                  <a:schemeClr val="bg1"/>
                </a:solidFill>
              </a:rPr>
              <a:t>&gt; chi2(0.95, 2) → skip</a:t>
            </a:r>
          </a:p>
        </p:txBody>
      </p:sp>
    </p:spTree>
    <p:extLst>
      <p:ext uri="{BB962C8B-B14F-4D97-AF65-F5344CB8AC3E}">
        <p14:creationId xmlns:p14="http://schemas.microsoft.com/office/powerpoint/2010/main" val="36809781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Predykcja trajektorii i zarządzanie śledzonymi obiektami</a:t>
            </a: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8465486" cy="3009517"/>
          </a:xfrm>
          <a:prstGeom prst="rect">
            <a:avLst/>
          </a:prstGeom>
          <a:noFill/>
          <a:ln/>
        </p:spPr>
        <p:txBody>
          <a:bodyPr wrap="square" lIns="108000" tIns="0" rIns="36000" bIns="0" numCol="2" rtlCol="0" anchor="t">
            <a:normAutofit fontScale="70000" lnSpcReduction="20000"/>
          </a:bodyPr>
          <a:lstStyle/>
          <a:p>
            <a:pPr>
              <a:lnSpc>
                <a:spcPts val="800"/>
              </a:lnSpc>
            </a:pPr>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numpy</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as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endParaRPr lang="pl-PL" sz="1050" dirty="0">
              <a:solidFill>
                <a:srgbClr val="CCCCCC"/>
              </a:solidFill>
              <a:latin typeface="Consolas" panose="020B0609020204030204" pitchFamily="49" charset="0"/>
            </a:endParaRPr>
          </a:p>
          <a:p>
            <a:pPr>
              <a:lnSpc>
                <a:spcPts val="800"/>
              </a:lnSpc>
            </a:pPr>
            <a:r>
              <a:rPr lang="pl-PL" sz="1050" dirty="0">
                <a:solidFill>
                  <a:srgbClr val="C586C0"/>
                </a:solidFill>
                <a:latin typeface="Consolas" panose="020B0609020204030204" pitchFamily="49" charset="0"/>
              </a:rPr>
              <a:t>from</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typing</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Dict</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err="1">
                <a:solidFill>
                  <a:srgbClr val="569CD6"/>
                </a:solidFill>
                <a:latin typeface="Consolas" panose="020B0609020204030204" pitchFamily="49" charset="0"/>
              </a:rPr>
              <a:t>class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MultiPedestrianTracker</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smtClean="0">
                <a:solidFill>
                  <a:srgbClr val="CE9178"/>
                </a:solidFill>
                <a:latin typeface="Consolas" panose="020B0609020204030204" pitchFamily="49" charset="0"/>
              </a:rPr>
              <a:t>"""Śledzenie </a:t>
            </a:r>
            <a:r>
              <a:rPr lang="pl-PL" sz="1050" dirty="0">
                <a:solidFill>
                  <a:srgbClr val="CE9178"/>
                </a:solidFill>
                <a:latin typeface="Consolas" panose="020B0609020204030204" pitchFamily="49" charset="0"/>
              </a:rPr>
              <a:t>wielu pieszych z automatycznym tworzeniem i usuwaniem KF."""</a:t>
            </a:r>
            <a:r>
              <a:rPr lang="pl-PL" sz="1050" dirty="0">
                <a:solidFill>
                  <a:srgbClr val="CCCCCC"/>
                </a:solidFill>
                <a:latin typeface="Consolas" panose="020B0609020204030204" pitchFamily="49" charset="0"/>
              </a:rPr>
              <a:t>    </a:t>
            </a:r>
          </a:p>
          <a:p>
            <a:pPr>
              <a:lnSpc>
                <a:spcPts val="800"/>
              </a:lnSpc>
            </a:pP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__</a:t>
            </a:r>
            <a:r>
              <a:rPr lang="pl-PL" sz="1050" dirty="0" err="1">
                <a:solidFill>
                  <a:srgbClr val="DCDCAA"/>
                </a:solidFill>
                <a:latin typeface="Consolas" panose="020B0609020204030204" pitchFamily="49" charset="0"/>
              </a:rPr>
              <a:t>init</a:t>
            </a:r>
            <a:r>
              <a:rPr lang="pl-PL" sz="1050" dirty="0">
                <a:solidFill>
                  <a:srgbClr val="DCDCAA"/>
                </a:solidFill>
                <a:latin typeface="Consolas" panose="020B0609020204030204" pitchFamily="49" charset="0"/>
              </a:rPr>
              <a:t>__</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self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0.1</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max_miss</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5</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Dict</a:t>
            </a:r>
            <a:r>
              <a:rPr lang="pl-PL" sz="1050" dirty="0">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dict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   </a:t>
            </a:r>
            <a:r>
              <a:rPr lang="pl-PL" sz="1050" dirty="0">
                <a:solidFill>
                  <a:srgbClr val="6A9955"/>
                </a:solidFill>
                <a:latin typeface="Consolas" panose="020B0609020204030204" pitchFamily="49" charset="0"/>
              </a:rPr>
              <a:t># id -&gt; {</a:t>
            </a:r>
            <a:r>
              <a:rPr lang="pl-PL" sz="1050" dirty="0" err="1">
                <a:solidFill>
                  <a:srgbClr val="6A9955"/>
                </a:solidFill>
                <a:latin typeface="Consolas" panose="020B0609020204030204" pitchFamily="49" charset="0"/>
              </a:rPr>
              <a:t>kf</a:t>
            </a:r>
            <a:r>
              <a:rPr lang="pl-PL" sz="1050" dirty="0">
                <a:solidFill>
                  <a:srgbClr val="6A9955"/>
                </a:solidFill>
                <a:latin typeface="Consolas" panose="020B0609020204030204" pitchFamily="49" charset="0"/>
              </a:rPr>
              <a:t>, </a:t>
            </a:r>
            <a:r>
              <a:rPr lang="pl-PL" sz="1050" dirty="0" err="1">
                <a:solidFill>
                  <a:srgbClr val="6A9955"/>
                </a:solidFill>
                <a:latin typeface="Consolas" panose="020B0609020204030204" pitchFamily="49" charset="0"/>
              </a:rPr>
              <a:t>miss_count</a:t>
            </a:r>
            <a:r>
              <a:rPr lang="pl-PL" sz="1050" dirty="0">
                <a:solidFill>
                  <a:srgbClr val="6A9955"/>
                </a:solidFill>
                <a:latin typeface="Consolas" panose="020B0609020204030204" pitchFamily="49" charset="0"/>
              </a:rPr>
              <a:t>}</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_</a:t>
            </a:r>
            <a:r>
              <a:rPr lang="pl-PL" sz="1050" dirty="0" err="1">
                <a:solidFill>
                  <a:srgbClr val="9CDCFE"/>
                </a:solidFill>
                <a:latin typeface="Consolas" panose="020B0609020204030204" pitchFamily="49" charset="0"/>
              </a:rPr>
              <a:t>next_id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max_miss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max_miss</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klatki bez pomiaru przed </a:t>
            </a:r>
            <a:r>
              <a:rPr lang="pl-PL" sz="1050" dirty="0" smtClean="0">
                <a:solidFill>
                  <a:srgbClr val="6A9955"/>
                </a:solidFill>
                <a:latin typeface="Consolas" panose="020B0609020204030204" pitchFamily="49" charset="0"/>
              </a:rPr>
              <a:t>usunięciem</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update</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self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detections</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 -&gt; </a:t>
            </a:r>
            <a:r>
              <a:rPr lang="pl-PL" sz="1050" dirty="0" err="1">
                <a:solidFill>
                  <a:srgbClr val="4EC9B0"/>
                </a:solidFill>
                <a:latin typeface="Consolas" panose="020B0609020204030204" pitchFamily="49" charset="0"/>
              </a:rPr>
              <a:t>Dict</a:t>
            </a:r>
            <a:r>
              <a:rPr lang="pl-PL" sz="1050" dirty="0">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pPr>
              <a:lnSpc>
                <a:spcPts val="800"/>
              </a:lnSpc>
            </a:pPr>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detections</a:t>
            </a:r>
            <a:r>
              <a:rPr lang="pl-PL" sz="1050" dirty="0">
                <a:solidFill>
                  <a:srgbClr val="CE9178"/>
                </a:solidFill>
                <a:latin typeface="Consolas" panose="020B0609020204030204" pitchFamily="49" charset="0"/>
              </a:rPr>
              <a:t>: lista </a:t>
            </a:r>
            <a:r>
              <a:rPr lang="pl-PL" sz="1050" dirty="0" smtClean="0">
                <a:solidFill>
                  <a:srgbClr val="CE9178"/>
                </a:solidFill>
                <a:latin typeface="Consolas" panose="020B0609020204030204" pitchFamily="49" charset="0"/>
              </a:rPr>
              <a:t>pomiarów </a:t>
            </a:r>
            <a:r>
              <a:rPr lang="pl-PL" sz="1050" dirty="0">
                <a:solidFill>
                  <a:srgbClr val="CE9178"/>
                </a:solidFill>
                <a:latin typeface="Consolas" panose="020B0609020204030204" pitchFamily="49" charset="0"/>
              </a:rPr>
              <a:t>[x, y] (m) z </a:t>
            </a:r>
            <a:r>
              <a:rPr lang="pl-PL" sz="1050" dirty="0" smtClean="0">
                <a:solidFill>
                  <a:srgbClr val="CE9178"/>
                </a:solidFill>
                <a:latin typeface="Consolas" panose="020B0609020204030204" pitchFamily="49" charset="0"/>
              </a:rPr>
              <a:t>bieżącej </a:t>
            </a:r>
            <a:r>
              <a:rPr lang="pl-PL" sz="1050" dirty="0">
                <a:solidFill>
                  <a:srgbClr val="CE9178"/>
                </a:solidFill>
                <a:latin typeface="Consolas" panose="020B0609020204030204" pitchFamily="49" charset="0"/>
              </a:rPr>
              <a:t>klatki.</a:t>
            </a:r>
            <a:endParaRPr lang="pl-PL" sz="1050" dirty="0">
              <a:solidFill>
                <a:srgbClr val="CCCCCC"/>
              </a:solidFill>
              <a:latin typeface="Consolas" panose="020B0609020204030204" pitchFamily="49" charset="0"/>
            </a:endParaRPr>
          </a:p>
          <a:p>
            <a:pPr>
              <a:lnSpc>
                <a:spcPts val="800"/>
              </a:lnSpc>
            </a:pPr>
            <a:r>
              <a:rPr lang="pl-PL" sz="1050" dirty="0">
                <a:solidFill>
                  <a:srgbClr val="CE9178"/>
                </a:solidFill>
                <a:latin typeface="Consolas" panose="020B0609020204030204" pitchFamily="49" charset="0"/>
              </a:rPr>
              <a:t>        Zwraca </a:t>
            </a:r>
            <a:r>
              <a:rPr lang="pl-PL" sz="1050" dirty="0" smtClean="0">
                <a:solidFill>
                  <a:srgbClr val="CE9178"/>
                </a:solidFill>
                <a:latin typeface="Consolas" panose="020B0609020204030204" pitchFamily="49" charset="0"/>
              </a:rPr>
              <a:t>słownik </a:t>
            </a:r>
            <a:r>
              <a:rPr lang="pl-PL" sz="1050" dirty="0">
                <a:solidFill>
                  <a:srgbClr val="CE9178"/>
                </a:solidFill>
                <a:latin typeface="Consolas" panose="020B0609020204030204" pitchFamily="49" charset="0"/>
              </a:rPr>
              <a:t>{id: stan [</a:t>
            </a:r>
            <a:r>
              <a:rPr lang="pl-PL" sz="1050" dirty="0" err="1">
                <a:solidFill>
                  <a:srgbClr val="CE9178"/>
                </a:solidFill>
                <a:latin typeface="Consolas" panose="020B0609020204030204" pitchFamily="49" charset="0"/>
              </a:rPr>
              <a:t>x,y,vx,vy</a:t>
            </a:r>
            <a:r>
              <a:rPr lang="pl-PL" sz="1050" dirty="0">
                <a:solidFill>
                  <a:srgbClr val="CE9178"/>
                </a:solidFill>
                <a:latin typeface="Consolas" panose="020B0609020204030204" pitchFamily="49" charset="0"/>
              </a:rPr>
              <a:t>]} dla </a:t>
            </a:r>
            <a:r>
              <a:rPr lang="pl-PL" sz="1050" dirty="0" smtClean="0">
                <a:solidFill>
                  <a:srgbClr val="CE9178"/>
                </a:solidFill>
                <a:latin typeface="Consolas" panose="020B0609020204030204" pitchFamily="49" charset="0"/>
              </a:rPr>
              <a:t>każdego śledzonego.</a:t>
            </a:r>
            <a:endParaRPr lang="pl-PL" sz="1050" dirty="0">
              <a:solidFill>
                <a:srgbClr val="CCCCCC"/>
              </a:solidFill>
              <a:latin typeface="Consolas" panose="020B0609020204030204" pitchFamily="49" charset="0"/>
            </a:endParaRPr>
          </a:p>
          <a:p>
            <a:pPr>
              <a:lnSpc>
                <a:spcPts val="800"/>
              </a:lnSpc>
            </a:pPr>
            <a:r>
              <a:rPr lang="pl-PL" sz="1050" dirty="0">
                <a:solidFill>
                  <a:srgbClr val="CE9178"/>
                </a:solidFill>
                <a:latin typeface="Consolas" panose="020B0609020204030204" pitchFamily="49" charset="0"/>
              </a:rPr>
              <a:t>        """</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1. Predykcja wszystkich KF</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kf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a:t>
            </a:r>
            <a:r>
              <a:rPr lang="pl-PL" sz="1050" dirty="0" err="1">
                <a:solidFill>
                  <a:srgbClr val="CCCCCC"/>
                </a:solidFill>
                <a:latin typeface="Consolas" panose="020B0609020204030204" pitchFamily="49" charset="0"/>
              </a:rPr>
              <a:t>predict</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p>
          <a:p>
            <a:pPr>
              <a:lnSpc>
                <a:spcPts val="800"/>
              </a:lnSpc>
            </a:pP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2. Proste dopasowanie: </a:t>
            </a:r>
            <a:r>
              <a:rPr lang="pl-PL" sz="1050" dirty="0" smtClean="0">
                <a:solidFill>
                  <a:srgbClr val="6A9955"/>
                </a:solidFill>
                <a:latin typeface="Consolas" panose="020B0609020204030204" pitchFamily="49" charset="0"/>
              </a:rPr>
              <a:t>najbliższy </a:t>
            </a:r>
            <a:r>
              <a:rPr lang="pl-PL" sz="1050" dirty="0">
                <a:solidFill>
                  <a:srgbClr val="6A9955"/>
                </a:solidFill>
                <a:latin typeface="Consolas" panose="020B0609020204030204" pitchFamily="49" charset="0"/>
              </a:rPr>
              <a:t>pieszy (</a:t>
            </a:r>
            <a:r>
              <a:rPr lang="pl-PL" sz="1050" dirty="0" err="1">
                <a:solidFill>
                  <a:srgbClr val="6A9955"/>
                </a:solidFill>
                <a:latin typeface="Consolas" panose="020B0609020204030204" pitchFamily="49" charset="0"/>
              </a:rPr>
              <a:t>greedy</a:t>
            </a:r>
            <a:r>
              <a:rPr lang="pl-PL" sz="1050" dirty="0">
                <a:solidFill>
                  <a:srgbClr val="6A9955"/>
                </a:solidFill>
                <a:latin typeface="Consolas" panose="020B0609020204030204" pitchFamily="49" charset="0"/>
              </a:rPr>
              <a:t>)</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matched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set</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det</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detections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best_id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FC1FF"/>
                </a:solidFill>
                <a:latin typeface="Consolas" panose="020B0609020204030204" pitchFamily="49" charset="0"/>
              </a:rPr>
              <a:t>None</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inf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items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matched</a:t>
            </a: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continue</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kf_pos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kf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].x[:</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linalg</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norm</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det</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kf_pos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d</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best_d</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and</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d</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1.5</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próg 1.5 m</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best_id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best_id</a:t>
            </a:r>
            <a:r>
              <a:rPr lang="pl-PL" sz="1050" dirty="0">
                <a:solidFill>
                  <a:srgbClr val="CCCCCC"/>
                </a:solidFill>
                <a:latin typeface="Consolas" panose="020B0609020204030204" pitchFamily="49" charset="0"/>
              </a:rPr>
              <a:t> </a:t>
            </a:r>
            <a:r>
              <a:rPr lang="pl-PL" sz="1050" dirty="0" err="1">
                <a:solidFill>
                  <a:srgbClr val="569CD6"/>
                </a:solidFill>
                <a:latin typeface="Consolas" panose="020B0609020204030204" pitchFamily="49" charset="0"/>
              </a:rPr>
              <a:t>is</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not</a:t>
            </a:r>
            <a:r>
              <a:rPr lang="pl-PL" sz="1050" dirty="0">
                <a:solidFill>
                  <a:srgbClr val="CCCCCC"/>
                </a:solidFill>
                <a:latin typeface="Consolas" panose="020B0609020204030204" pitchFamily="49" charset="0"/>
              </a:rPr>
              <a:t> </a:t>
            </a:r>
            <a:r>
              <a:rPr lang="pl-PL" sz="1050" dirty="0" err="1">
                <a:solidFill>
                  <a:srgbClr val="4FC1FF"/>
                </a:solidFill>
                <a:latin typeface="Consolas" panose="020B0609020204030204" pitchFamily="49" charset="0"/>
              </a:rPr>
              <a:t>None</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best_id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kf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].update(</a:t>
            </a:r>
            <a:r>
              <a:rPr lang="pl-PL" sz="1050" dirty="0" err="1">
                <a:solidFill>
                  <a:srgbClr val="9CDCFE"/>
                </a:solidFill>
                <a:latin typeface="Consolas" panose="020B0609020204030204" pitchFamily="49" charset="0"/>
              </a:rPr>
              <a:t>det</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best_id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miss_count</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matched</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add</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best_id</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else</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Nowy obiekt – nowy KF</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from</a:t>
            </a:r>
            <a:r>
              <a:rPr lang="pl-PL" sz="1050" dirty="0">
                <a:solidFill>
                  <a:srgbClr val="CCCCCC"/>
                </a:solidFill>
                <a:latin typeface="Consolas" panose="020B0609020204030204" pitchFamily="49" charset="0"/>
              </a:rPr>
              <a:t> w3_extra_code </a:t>
            </a:r>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CCCCCC"/>
                </a:solidFill>
                <a:latin typeface="Consolas" panose="020B0609020204030204" pitchFamily="49" charset="0"/>
              </a:rPr>
              <a:t>PedestrianKF</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importuj </a:t>
            </a:r>
            <a:r>
              <a:rPr lang="pl-PL" sz="1050" dirty="0" smtClean="0">
                <a:solidFill>
                  <a:srgbClr val="6A9955"/>
                </a:solidFill>
                <a:latin typeface="Consolas" panose="020B0609020204030204" pitchFamily="49" charset="0"/>
              </a:rPr>
              <a:t>klasę </a:t>
            </a:r>
            <a:r>
              <a:rPr lang="pl-PL" sz="1050" dirty="0">
                <a:solidFill>
                  <a:srgbClr val="6A9955"/>
                </a:solidFill>
                <a:latin typeface="Consolas" panose="020B0609020204030204" pitchFamily="49" charset="0"/>
              </a:rPr>
              <a:t>KF</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new_kf</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CCCCCC"/>
                </a:solidFill>
                <a:latin typeface="Consolas" panose="020B0609020204030204" pitchFamily="49" charset="0"/>
              </a:rPr>
              <a:t>PedestrianKF</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det</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det</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self</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_</a:t>
            </a:r>
            <a:r>
              <a:rPr lang="pl-PL" sz="1050" dirty="0" err="1">
                <a:solidFill>
                  <a:srgbClr val="9CDCFE"/>
                </a:solidFill>
                <a:latin typeface="Consolas" panose="020B0609020204030204" pitchFamily="49" charset="0"/>
              </a:rPr>
              <a:t>next_id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kf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new_kf</a:t>
            </a:r>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miss_count</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_</a:t>
            </a:r>
            <a:r>
              <a:rPr lang="pl-PL" sz="1050" dirty="0" err="1">
                <a:solidFill>
                  <a:srgbClr val="9CDCFE"/>
                </a:solidFill>
                <a:latin typeface="Consolas" panose="020B0609020204030204" pitchFamily="49" charset="0"/>
              </a:rPr>
              <a:t>next_id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3. </a:t>
            </a:r>
            <a:r>
              <a:rPr lang="pl-PL" sz="1050" dirty="0" smtClean="0">
                <a:solidFill>
                  <a:srgbClr val="6A9955"/>
                </a:solidFill>
                <a:latin typeface="Consolas" panose="020B0609020204030204" pitchFamily="49" charset="0"/>
              </a:rPr>
              <a:t>Zwiększ </a:t>
            </a:r>
            <a:r>
              <a:rPr lang="pl-PL" sz="1050" dirty="0">
                <a:solidFill>
                  <a:srgbClr val="6A9955"/>
                </a:solidFill>
                <a:latin typeface="Consolas" panose="020B0609020204030204" pitchFamily="49" charset="0"/>
              </a:rPr>
              <a:t>licznik braku pomiaru; </a:t>
            </a:r>
            <a:r>
              <a:rPr lang="pl-PL" sz="1050" dirty="0" smtClean="0">
                <a:solidFill>
                  <a:srgbClr val="6A9955"/>
                </a:solidFill>
                <a:latin typeface="Consolas" panose="020B0609020204030204" pitchFamily="49" charset="0"/>
              </a:rPr>
              <a:t>usuń </a:t>
            </a:r>
            <a:r>
              <a:rPr lang="pl-PL" sz="1050" dirty="0">
                <a:solidFill>
                  <a:srgbClr val="6A9955"/>
                </a:solidFill>
                <a:latin typeface="Consolas" panose="020B0609020204030204" pitchFamily="49" charset="0"/>
              </a:rPr>
              <a:t>stare</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stale</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items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miss_count</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&gt;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max_miss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stale</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del</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not</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matched</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miss_count</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endParaRPr lang="pl-PL" sz="1050" dirty="0">
              <a:solidFill>
                <a:srgbClr val="CCCCCC"/>
              </a:solidFill>
              <a:latin typeface="Consolas" panose="020B0609020204030204" pitchFamily="49" charset="0"/>
            </a:endParaRP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kf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].x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items</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err="1">
                <a:solidFill>
                  <a:srgbClr val="DCDCAA"/>
                </a:solidFill>
                <a:latin typeface="Consolas" panose="020B0609020204030204" pitchFamily="49" charset="0"/>
              </a:rPr>
              <a:t>predict_trajectory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self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horizon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20</a:t>
            </a:r>
            <a:r>
              <a:rPr lang="pl-PL" sz="1050" dirty="0">
                <a:solidFill>
                  <a:srgbClr val="CCCCCC"/>
                </a:solidFill>
                <a:latin typeface="Consolas" panose="020B0609020204030204" pitchFamily="49" charset="0"/>
              </a:rPr>
              <a:t>) -&gt;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"""Predykcja H kroków do przodu dla obiektu </a:t>
            </a:r>
            <a:r>
              <a:rPr lang="pl-PL" sz="1050" dirty="0" err="1">
                <a:solidFill>
                  <a:srgbClr val="CE9178"/>
                </a:solidFill>
                <a:latin typeface="Consolas" panose="020B0609020204030204" pitchFamily="49" charset="0"/>
              </a:rPr>
              <a:t>tid</a:t>
            </a:r>
            <a:r>
              <a:rPr lang="pl-PL" sz="1050" dirty="0">
                <a:solidFill>
                  <a:srgbClr val="CE9178"/>
                </a:solidFill>
                <a:latin typeface="Consolas" panose="020B0609020204030204" pitchFamily="49" charset="0"/>
              </a:rPr>
              <a:t> (model CV)."""</a:t>
            </a:r>
            <a:r>
              <a:rPr lang="pl-PL" sz="1050" dirty="0">
                <a:solidFill>
                  <a:srgbClr val="CCCCCC"/>
                </a:solidFill>
                <a:latin typeface="Consolas" panose="020B0609020204030204" pitchFamily="49" charset="0"/>
              </a:rPr>
              <a:t>        </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kf</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trackers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tid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kf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pos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kf</a:t>
            </a:r>
            <a:r>
              <a:rPr lang="pl-PL" sz="1050" dirty="0" err="1">
                <a:solidFill>
                  <a:srgbClr val="CCCCCC"/>
                </a:solidFill>
                <a:latin typeface="Consolas" panose="020B0609020204030204" pitchFamily="49" charset="0"/>
              </a:rPr>
              <a:t>.x</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a:t>
            </a:r>
            <a:r>
              <a:rPr lang="pl-PL" sz="1050" dirty="0" err="1">
                <a:solidFill>
                  <a:srgbClr val="CCCCCC"/>
                </a:solidFill>
                <a:latin typeface="Consolas" panose="020B0609020204030204" pitchFamily="49" charset="0"/>
              </a:rPr>
              <a:t>copy</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vel</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kf</a:t>
            </a:r>
            <a:r>
              <a:rPr lang="pl-PL" sz="1050" dirty="0" err="1">
                <a:solidFill>
                  <a:srgbClr val="CCCCCC"/>
                </a:solidFill>
                <a:latin typeface="Consolas" panose="020B0609020204030204" pitchFamily="49" charset="0"/>
              </a:rPr>
              <a:t>.x</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a:t>
            </a:r>
            <a:r>
              <a:rPr lang="pl-PL" sz="1050" dirty="0" err="1">
                <a:solidFill>
                  <a:srgbClr val="CCCCCC"/>
                </a:solidFill>
                <a:latin typeface="Consolas" panose="020B0609020204030204" pitchFamily="49" charset="0"/>
              </a:rPr>
              <a:t>copy</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traj</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pos</a:t>
            </a:r>
            <a:r>
              <a:rPr lang="pl-PL" sz="1050" dirty="0" err="1">
                <a:solidFill>
                  <a:srgbClr val="CCCCCC"/>
                </a:solidFill>
                <a:latin typeface="Consolas" panose="020B0609020204030204" pitchFamily="49" charset="0"/>
              </a:rPr>
              <a:t>.copy</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_</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range</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horizon</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pos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pos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vel</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self</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traj</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append</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pos</a:t>
            </a:r>
            <a:r>
              <a:rPr lang="pl-PL" sz="1050" dirty="0" err="1">
                <a:solidFill>
                  <a:srgbClr val="CCCCCC"/>
                </a:solidFill>
                <a:latin typeface="Consolas" panose="020B0609020204030204" pitchFamily="49" charset="0"/>
              </a:rPr>
              <a:t>.copy</a:t>
            </a:r>
            <a:r>
              <a:rPr lang="pl-PL" sz="1050" dirty="0">
                <a:solidFill>
                  <a:srgbClr val="CCCCCC"/>
                </a:solidFill>
                <a:latin typeface="Consolas" panose="020B0609020204030204" pitchFamily="49" charset="0"/>
              </a:rPr>
              <a:t>())</a:t>
            </a:r>
          </a:p>
          <a:p>
            <a:pPr>
              <a:lnSpc>
                <a:spcPts val="8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traj</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(H+1, 2)</a:t>
            </a:r>
            <a:endParaRPr lang="pl-PL" sz="1050" b="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algn="ctr"/>
            <a:r>
              <a:rPr lang="pl-PL" sz="1600" b="1" dirty="0" smtClean="0">
                <a:solidFill>
                  <a:schemeClr val="bg1"/>
                </a:solidFill>
                <a:latin typeface="Calibri" pitchFamily="34" charset="0"/>
                <a:ea typeface="Calibri" pitchFamily="34" charset="-122"/>
                <a:cs typeface="Calibri" pitchFamily="34" charset="-120"/>
              </a:rPr>
              <a:t>predict_trajectory</a:t>
            </a:r>
            <a:r>
              <a:rPr lang="pl-PL" sz="1600" b="1" dirty="0">
                <a:solidFill>
                  <a:schemeClr val="bg1"/>
                </a:solidFill>
                <a:latin typeface="Calibri" pitchFamily="34" charset="0"/>
                <a:ea typeface="Calibri" pitchFamily="34" charset="-122"/>
                <a:cs typeface="Calibri" pitchFamily="34" charset="-120"/>
              </a:rPr>
              <a:t>(): </a:t>
            </a:r>
            <a:r>
              <a:rPr lang="pl-PL" sz="1600" dirty="0">
                <a:solidFill>
                  <a:schemeClr val="bg1"/>
                </a:solidFill>
                <a:latin typeface="Calibri" pitchFamily="34" charset="0"/>
                <a:ea typeface="Calibri" pitchFamily="34" charset="-122"/>
                <a:cs typeface="Calibri" pitchFamily="34" charset="-120"/>
              </a:rPr>
              <a:t>model CV na H kroków; dla lepszej predykcji zastąp </a:t>
            </a:r>
            <a:r>
              <a:rPr lang="pl-PL" sz="1600" dirty="0" err="1">
                <a:solidFill>
                  <a:schemeClr val="bg1"/>
                </a:solidFill>
                <a:latin typeface="Calibri" pitchFamily="34" charset="0"/>
                <a:ea typeface="Calibri" pitchFamily="34" charset="-122"/>
                <a:cs typeface="Calibri" pitchFamily="34" charset="-120"/>
              </a:rPr>
              <a:t>Social</a:t>
            </a:r>
            <a:r>
              <a:rPr lang="pl-PL" sz="1600" dirty="0">
                <a:solidFill>
                  <a:schemeClr val="bg1"/>
                </a:solidFill>
                <a:latin typeface="Calibri" pitchFamily="34" charset="0"/>
                <a:ea typeface="Calibri" pitchFamily="34" charset="-122"/>
                <a:cs typeface="Calibri" pitchFamily="34" charset="-120"/>
              </a:rPr>
              <a:t> Force lub </a:t>
            </a:r>
            <a:r>
              <a:rPr lang="pl-PL" sz="1600" dirty="0" smtClean="0">
                <a:solidFill>
                  <a:schemeClr val="bg1"/>
                </a:solidFill>
                <a:latin typeface="Calibri" pitchFamily="34" charset="0"/>
                <a:ea typeface="Calibri" pitchFamily="34" charset="-122"/>
                <a:cs typeface="Calibri" pitchFamily="34" charset="-120"/>
              </a:rPr>
              <a:t>LSTM</a:t>
            </a:r>
            <a:endParaRPr lang="pl-PL" sz="1600" dirty="0">
              <a:solidFill>
                <a:schemeClr val="bg1"/>
              </a:solidFill>
              <a:latin typeface="Calibri" pitchFamily="34" charset="0"/>
              <a:ea typeface="Calibri" pitchFamily="34" charset="-122"/>
              <a:cs typeface="Calibri" pitchFamily="34" charset="-120"/>
            </a:endParaRPr>
          </a:p>
        </p:txBody>
      </p:sp>
      <p:sp>
        <p:nvSpPr>
          <p:cNvPr id="13" name="Shape 5"/>
          <p:cNvSpPr/>
          <p:nvPr/>
        </p:nvSpPr>
        <p:spPr>
          <a:xfrm>
            <a:off x="8048578"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04610"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560642" y="1115568"/>
            <a:ext cx="146304" cy="146304"/>
          </a:xfrm>
          <a:prstGeom prst="ellipse">
            <a:avLst/>
          </a:prstGeom>
          <a:solidFill>
            <a:srgbClr val="C3F584"/>
          </a:solidFill>
          <a:ln w="12700">
            <a:solidFill>
              <a:srgbClr val="C3F584"/>
            </a:solidFill>
            <a:prstDash val="solid"/>
          </a:ln>
        </p:spPr>
      </p:sp>
      <p:sp>
        <p:nvSpPr>
          <p:cNvPr id="7" name="Prostokąt 6"/>
          <p:cNvSpPr/>
          <p:nvPr/>
        </p:nvSpPr>
        <p:spPr>
          <a:xfrm>
            <a:off x="246888" y="745724"/>
            <a:ext cx="5141976" cy="276999"/>
          </a:xfrm>
          <a:prstGeom prst="rect">
            <a:avLst/>
          </a:prstGeom>
        </p:spPr>
        <p:txBody>
          <a:bodyPr wrap="square">
            <a:spAutoFit/>
          </a:bodyPr>
          <a:lstStyle/>
          <a:p>
            <a:r>
              <a:rPr lang="pl-PL" sz="1200" i="1" dirty="0">
                <a:solidFill>
                  <a:srgbClr val="90C8D8"/>
                </a:solidFill>
              </a:rPr>
              <a:t>MultiTracker: propagacja KF, dopasowanie detektorów, predykcja na H kroków</a:t>
            </a:r>
          </a:p>
        </p:txBody>
      </p:sp>
    </p:spTree>
    <p:extLst>
      <p:ext uri="{BB962C8B-B14F-4D97-AF65-F5344CB8AC3E}">
        <p14:creationId xmlns:p14="http://schemas.microsoft.com/office/powerpoint/2010/main" val="38973218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Uproszczone ORCA: </a:t>
            </a:r>
            <a:r>
              <a:rPr lang="pl-PL" sz="2400" b="1" dirty="0" err="1">
                <a:solidFill>
                  <a:srgbClr val="FFFFFF"/>
                </a:solidFill>
                <a:latin typeface="Trebuchet MS" pitchFamily="34" charset="0"/>
                <a:ea typeface="Trebuchet MS" pitchFamily="34" charset="-122"/>
                <a:cs typeface="Trebuchet MS" pitchFamily="34" charset="-120"/>
              </a:rPr>
              <a:t>Optimal</a:t>
            </a:r>
            <a:r>
              <a:rPr lang="pl-PL" sz="2400" b="1" dirty="0">
                <a:solidFill>
                  <a:srgbClr val="FFFFFF"/>
                </a:solidFill>
                <a:latin typeface="Trebuchet MS" pitchFamily="34" charset="0"/>
                <a:ea typeface="Trebuchet MS" pitchFamily="34" charset="-122"/>
                <a:cs typeface="Trebuchet MS" pitchFamily="34" charset="-120"/>
              </a:rPr>
              <a:t> </a:t>
            </a:r>
            <a:r>
              <a:rPr lang="pl-PL" sz="2400" b="1" dirty="0" err="1">
                <a:solidFill>
                  <a:srgbClr val="FFFFFF"/>
                </a:solidFill>
                <a:latin typeface="Trebuchet MS" pitchFamily="34" charset="0"/>
                <a:ea typeface="Trebuchet MS" pitchFamily="34" charset="-122"/>
                <a:cs typeface="Trebuchet MS" pitchFamily="34" charset="-120"/>
              </a:rPr>
              <a:t>Reciprocal</a:t>
            </a:r>
            <a:r>
              <a:rPr lang="pl-PL" sz="2400" b="1" dirty="0">
                <a:solidFill>
                  <a:srgbClr val="FFFFFF"/>
                </a:solidFill>
                <a:latin typeface="Trebuchet MS" pitchFamily="34" charset="0"/>
                <a:ea typeface="Trebuchet MS" pitchFamily="34" charset="-122"/>
                <a:cs typeface="Trebuchet MS" pitchFamily="34" charset="-120"/>
              </a:rPr>
              <a:t> </a:t>
            </a:r>
            <a:r>
              <a:rPr lang="pl-PL" sz="2400" b="1" dirty="0" err="1">
                <a:solidFill>
                  <a:srgbClr val="FFFFFF"/>
                </a:solidFill>
                <a:latin typeface="Trebuchet MS" pitchFamily="34" charset="0"/>
                <a:ea typeface="Trebuchet MS" pitchFamily="34" charset="-122"/>
                <a:cs typeface="Trebuchet MS" pitchFamily="34" charset="-120"/>
              </a:rPr>
              <a:t>Collision</a:t>
            </a:r>
            <a:r>
              <a:rPr lang="pl-PL" sz="2400" b="1" dirty="0">
                <a:solidFill>
                  <a:srgbClr val="FFFFFF"/>
                </a:solidFill>
                <a:latin typeface="Trebuchet MS" pitchFamily="34" charset="0"/>
                <a:ea typeface="Trebuchet MS" pitchFamily="34" charset="-122"/>
                <a:cs typeface="Trebuchet MS" pitchFamily="34" charset="-120"/>
              </a:rPr>
              <a:t> </a:t>
            </a:r>
            <a:r>
              <a:rPr lang="pl-PL" sz="2400" b="1" dirty="0" err="1">
                <a:solidFill>
                  <a:srgbClr val="FFFFFF"/>
                </a:solidFill>
                <a:latin typeface="Trebuchet MS" pitchFamily="34" charset="0"/>
                <a:ea typeface="Trebuchet MS" pitchFamily="34" charset="-122"/>
                <a:cs typeface="Trebuchet MS" pitchFamily="34" charset="-120"/>
              </a:rPr>
              <a:t>Avoidance</a:t>
            </a:r>
            <a:endParaRPr lang="pl-PL" sz="2400" b="1" dirty="0">
              <a:solidFill>
                <a:srgbClr val="FFFFFF"/>
              </a:solidFill>
              <a:latin typeface="Trebuchet MS" pitchFamily="34" charset="0"/>
              <a:ea typeface="Trebuchet MS" pitchFamily="34" charset="-122"/>
              <a:cs typeface="Trebuchet MS" pitchFamily="34" charset="-120"/>
            </a:endParaRP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8394192" cy="3009517"/>
          </a:xfrm>
          <a:prstGeom prst="rect">
            <a:avLst/>
          </a:prstGeom>
          <a:noFill/>
          <a:ln/>
        </p:spPr>
        <p:txBody>
          <a:bodyPr wrap="square" lIns="108000" tIns="0" rIns="36000" bIns="0" numCol="2" rtlCol="0" anchor="t">
            <a:normAutofit fontScale="77500" lnSpcReduction="20000"/>
          </a:bodyPr>
          <a:lstStyle/>
          <a:p>
            <a:pPr>
              <a:lnSpc>
                <a:spcPts val="900"/>
              </a:lnSpc>
            </a:pPr>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numpy</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as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err="1">
                <a:solidFill>
                  <a:srgbClr val="DCDCAA"/>
                </a:solidFill>
                <a:latin typeface="Consolas" panose="020B0609020204030204" pitchFamily="49" charset="0"/>
              </a:rPr>
              <a:t>orca_velocity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robot_pos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robot_vel</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v_pref</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pedestrians</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tau</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2.0</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r_robot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0.35</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r_ped</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0.25</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v_max</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1.0</a:t>
            </a:r>
            <a:r>
              <a:rPr lang="pl-PL" sz="1050" dirty="0">
                <a:solidFill>
                  <a:srgbClr val="CCCCCC"/>
                </a:solidFill>
                <a:latin typeface="Consolas" panose="020B0609020204030204" pitchFamily="49" charset="0"/>
              </a:rPr>
              <a:t>) -&gt;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pPr>
              <a:lnSpc>
                <a:spcPts val="900"/>
              </a:lnSpc>
            </a:pPr>
            <a:r>
              <a:rPr lang="pl-PL" sz="1050" dirty="0">
                <a:solidFill>
                  <a:srgbClr val="CE9178"/>
                </a:solidFill>
                <a:latin typeface="Consolas" panose="020B0609020204030204" pitchFamily="49" charset="0"/>
              </a:rPr>
              <a:t>    Uproszczone ORCA dla robota wśród pieszych.</a:t>
            </a:r>
            <a:endParaRPr lang="pl-PL" sz="1050" dirty="0">
              <a:solidFill>
                <a:srgbClr val="CCCCCC"/>
              </a:solidFill>
              <a:latin typeface="Consolas" panose="020B0609020204030204" pitchFamily="49" charset="0"/>
            </a:endParaRPr>
          </a:p>
          <a:p>
            <a:pPr>
              <a:lnSpc>
                <a:spcPts val="900"/>
              </a:lnSpc>
            </a:pPr>
            <a:r>
              <a:rPr lang="pl-PL" sz="1050" dirty="0">
                <a:solidFill>
                  <a:srgbClr val="CE9178"/>
                </a:solidFill>
                <a:latin typeface="Consolas" panose="020B0609020204030204" pitchFamily="49" charset="0"/>
              </a:rPr>
              <a:t>    Robot bierze PEŁNA odpowiedzialność (pieszy ignoruje ORCA).</a:t>
            </a:r>
            <a:endParaRPr lang="pl-PL" sz="1050" dirty="0">
              <a:solidFill>
                <a:srgbClr val="CCCCCC"/>
              </a:solidFill>
              <a:latin typeface="Consolas" panose="020B0609020204030204" pitchFamily="49" charset="0"/>
            </a:endParaRPr>
          </a:p>
          <a:p>
            <a:pPr>
              <a:lnSpc>
                <a:spcPts val="900"/>
              </a:lnSpc>
            </a:pPr>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pedestrians</a:t>
            </a:r>
            <a:r>
              <a:rPr lang="pl-PL" sz="1050" dirty="0">
                <a:solidFill>
                  <a:srgbClr val="CE9178"/>
                </a:solidFill>
                <a:latin typeface="Consolas" panose="020B0609020204030204" pitchFamily="49" charset="0"/>
              </a:rPr>
              <a:t>: lista {'</a:t>
            </a:r>
            <a:r>
              <a:rPr lang="pl-PL" sz="1050" dirty="0" err="1">
                <a:solidFill>
                  <a:srgbClr val="CE9178"/>
                </a:solidFill>
                <a:latin typeface="Consolas" panose="020B0609020204030204" pitchFamily="49" charset="0"/>
              </a:rPr>
              <a:t>pos</a:t>
            </a:r>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x,y</a:t>
            </a:r>
            <a:r>
              <a:rPr lang="pl-PL" sz="1050" dirty="0">
                <a:solidFill>
                  <a:srgbClr val="CE9178"/>
                </a:solidFill>
                <a:latin typeface="Consolas" panose="020B0609020204030204" pitchFamily="49" charset="0"/>
              </a:rPr>
              <a:t>], 'vel': [</a:t>
            </a:r>
            <a:r>
              <a:rPr lang="pl-PL" sz="1050" dirty="0" err="1">
                <a:solidFill>
                  <a:srgbClr val="CE9178"/>
                </a:solidFill>
                <a:latin typeface="Consolas" panose="020B0609020204030204" pitchFamily="49" charset="0"/>
              </a:rPr>
              <a:t>vx,vy</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pPr>
              <a:lnSpc>
                <a:spcPts val="900"/>
              </a:lnSpc>
            </a:pPr>
            <a:r>
              <a:rPr lang="pl-PL" sz="1050" dirty="0">
                <a:solidFill>
                  <a:srgbClr val="CE9178"/>
                </a:solidFill>
                <a:latin typeface="Consolas" panose="020B0609020204030204" pitchFamily="49" charset="0"/>
              </a:rPr>
              <a:t>    tau: horyzont czasowy unikania [s]</a:t>
            </a:r>
            <a:endParaRPr lang="pl-PL" sz="1050" dirty="0">
              <a:solidFill>
                <a:srgbClr val="CCCCCC"/>
              </a:solidFill>
              <a:latin typeface="Consolas" panose="020B0609020204030204" pitchFamily="49" charset="0"/>
            </a:endParaRPr>
          </a:p>
          <a:p>
            <a:pPr>
              <a:lnSpc>
                <a:spcPts val="900"/>
              </a:lnSpc>
            </a:pPr>
            <a:r>
              <a:rPr lang="pl-PL" sz="1050" dirty="0">
                <a:solidFill>
                  <a:srgbClr val="CE9178"/>
                </a:solidFill>
                <a:latin typeface="Consolas" panose="020B0609020204030204" pitchFamily="49" charset="0"/>
              </a:rPr>
              <a:t>    Zwraca skorygowana prędkość </a:t>
            </a:r>
            <a:r>
              <a:rPr lang="pl-PL" sz="1050" dirty="0" err="1">
                <a:solidFill>
                  <a:srgbClr val="CE9178"/>
                </a:solidFill>
                <a:latin typeface="Consolas" panose="020B0609020204030204" pitchFamily="49" charset="0"/>
              </a:rPr>
              <a:t>v_new</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pPr>
              <a:lnSpc>
                <a:spcPts val="900"/>
              </a:lnSpc>
            </a:pPr>
            <a:r>
              <a:rPr lang="pl-PL" sz="1050" dirty="0">
                <a:solidFill>
                  <a:srgbClr val="CE9178"/>
                </a:solidFill>
                <a:latin typeface="Consolas" panose="020B0609020204030204" pitchFamily="49" charset="0"/>
              </a:rPr>
              <a:t>    """</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Zbierz half-</a:t>
            </a:r>
            <a:r>
              <a:rPr lang="pl-PL" sz="1050" dirty="0" err="1">
                <a:solidFill>
                  <a:srgbClr val="6A9955"/>
                </a:solidFill>
                <a:latin typeface="Consolas" panose="020B0609020204030204" pitchFamily="49" charset="0"/>
              </a:rPr>
              <a:t>plane'y</a:t>
            </a:r>
            <a:r>
              <a:rPr lang="pl-PL" sz="1050" dirty="0">
                <a:solidFill>
                  <a:srgbClr val="6A9955"/>
                </a:solidFill>
                <a:latin typeface="Consolas" panose="020B0609020204030204" pitchFamily="49" charset="0"/>
              </a:rPr>
              <a:t> </a:t>
            </a:r>
            <a:r>
              <a:rPr lang="pl-PL" sz="1050" dirty="0" err="1">
                <a:solidFill>
                  <a:srgbClr val="6A9955"/>
                </a:solidFill>
                <a:latin typeface="Consolas" panose="020B0609020204030204" pitchFamily="49" charset="0"/>
              </a:rPr>
              <a:t>ORCAi</a:t>
            </a:r>
            <a:r>
              <a:rPr lang="pl-PL" sz="1050" dirty="0">
                <a:solidFill>
                  <a:srgbClr val="6A9955"/>
                </a:solidFill>
                <a:latin typeface="Consolas" panose="020B0609020204030204" pitchFamily="49" charset="0"/>
              </a:rPr>
              <a:t> dla każdego pieszego</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constraints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smtClean="0">
                <a:solidFill>
                  <a:srgbClr val="CCCCCC"/>
                </a:solidFill>
                <a:latin typeface="Consolas" panose="020B0609020204030204" pitchFamily="49" charset="0"/>
              </a:rPr>
              <a:t>[] </a:t>
            </a:r>
            <a:r>
              <a:rPr lang="pl-PL" sz="1050" spc="-100" dirty="0" smtClean="0">
                <a:solidFill>
                  <a:srgbClr val="6A9955"/>
                </a:solidFill>
                <a:latin typeface="Consolas" panose="020B0609020204030204" pitchFamily="49" charset="0"/>
              </a:rPr>
              <a:t># </a:t>
            </a:r>
            <a:r>
              <a:rPr lang="pl-PL" sz="1050" spc="-100" dirty="0">
                <a:solidFill>
                  <a:srgbClr val="6A9955"/>
                </a:solidFill>
                <a:latin typeface="Consolas" panose="020B0609020204030204" pitchFamily="49" charset="0"/>
              </a:rPr>
              <a:t>lista (p: punkt na half-</a:t>
            </a:r>
            <a:r>
              <a:rPr lang="pl-PL" sz="1050" spc="-100" dirty="0" err="1">
                <a:solidFill>
                  <a:srgbClr val="6A9955"/>
                </a:solidFill>
                <a:latin typeface="Consolas" panose="020B0609020204030204" pitchFamily="49" charset="0"/>
              </a:rPr>
              <a:t>plane</a:t>
            </a:r>
            <a:r>
              <a:rPr lang="pl-PL" sz="1050" spc="-100" dirty="0">
                <a:solidFill>
                  <a:srgbClr val="6A9955"/>
                </a:solidFill>
                <a:latin typeface="Consolas" panose="020B0609020204030204" pitchFamily="49" charset="0"/>
              </a:rPr>
              <a:t>, n: normalny do wewnątrz)</a:t>
            </a:r>
            <a:endParaRPr lang="pl-PL" sz="1050" spc="-10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ped</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pedestrians</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rel_pos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ped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pos</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robot_pos</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od robota do pieszego</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rel_vel</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robot_vel</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ped</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'vel'</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względna prędkość</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combined_r</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r_robot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r_ped</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suma promieni</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dist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linalg</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norm</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rel_pos</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1e-9</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a:t>
            </a:r>
            <a:r>
              <a:rPr lang="pl-PL" sz="1050" dirty="0" smtClean="0">
                <a:solidFill>
                  <a:srgbClr val="6A9955"/>
                </a:solidFill>
                <a:latin typeface="Consolas" panose="020B0609020204030204" pitchFamily="49" charset="0"/>
              </a:rPr>
              <a:t>Sprawdź, </a:t>
            </a:r>
            <a:r>
              <a:rPr lang="pl-PL" sz="1050" dirty="0">
                <a:solidFill>
                  <a:srgbClr val="6A9955"/>
                </a:solidFill>
                <a:latin typeface="Consolas" panose="020B0609020204030204" pitchFamily="49" charset="0"/>
              </a:rPr>
              <a:t>czy kolizja jest </a:t>
            </a:r>
            <a:r>
              <a:rPr lang="pl-PL" sz="1050" dirty="0" smtClean="0">
                <a:solidFill>
                  <a:srgbClr val="6A9955"/>
                </a:solidFill>
                <a:latin typeface="Consolas" panose="020B0609020204030204" pitchFamily="49" charset="0"/>
              </a:rPr>
              <a:t>możliwa </a:t>
            </a:r>
            <a:r>
              <a:rPr lang="pl-PL" sz="1050" dirty="0">
                <a:solidFill>
                  <a:srgbClr val="6A9955"/>
                </a:solidFill>
                <a:latin typeface="Consolas" panose="020B0609020204030204" pitchFamily="49" charset="0"/>
              </a:rPr>
              <a:t>w horyzoncie tau</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dist</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&gt;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combined_r</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v_max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tau</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continue</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zbyt daleko</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Oblicz punkt na granicy strefy kolizji (uproszczone)</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rel_pos</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dist</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normalny od pieszego do robota</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u</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combined_r</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tau</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rel_vel</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wektor korekty prędkości</a:t>
            </a:r>
            <a:endParaRPr lang="pl-PL" sz="1050" dirty="0">
              <a:solidFill>
                <a:srgbClr val="CCCCCC"/>
              </a:solidFill>
              <a:latin typeface="Consolas" panose="020B0609020204030204" pitchFamily="49" charset="0"/>
            </a:endParaRPr>
          </a:p>
          <a:p>
            <a:pPr>
              <a:lnSpc>
                <a:spcPts val="900"/>
              </a:lnSpc>
            </a:pPr>
            <a:endParaRPr lang="pl-PL" sz="1050" dirty="0" smtClean="0">
              <a:solidFill>
                <a:srgbClr val="CCCCCC"/>
              </a:solidFill>
              <a:latin typeface="Consolas" panose="020B0609020204030204" pitchFamily="49" charset="0"/>
            </a:endParaRPr>
          </a:p>
          <a:p>
            <a:pPr>
              <a:lnSpc>
                <a:spcPts val="900"/>
              </a:lnSpc>
            </a:pPr>
            <a:endParaRPr lang="pl-PL" sz="1050" dirty="0">
              <a:solidFill>
                <a:srgbClr val="CCCCCC"/>
              </a:solidFill>
              <a:latin typeface="Consolas" panose="020B0609020204030204" pitchFamily="49" charset="0"/>
            </a:endParaRPr>
          </a:p>
          <a:p>
            <a:pPr>
              <a:lnSpc>
                <a:spcPts val="900"/>
              </a:lnSpc>
            </a:pPr>
            <a:endParaRPr lang="pl-PL" sz="1050" dirty="0" smtClean="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Half-</a:t>
            </a:r>
            <a:r>
              <a:rPr lang="pl-PL" sz="1050" dirty="0" err="1">
                <a:solidFill>
                  <a:srgbClr val="6A9955"/>
                </a:solidFill>
                <a:latin typeface="Consolas" panose="020B0609020204030204" pitchFamily="49" charset="0"/>
              </a:rPr>
              <a:t>plane</a:t>
            </a:r>
            <a:r>
              <a:rPr lang="pl-PL" sz="1050" dirty="0">
                <a:solidFill>
                  <a:srgbClr val="6A9955"/>
                </a:solidFill>
                <a:latin typeface="Consolas" panose="020B0609020204030204" pitchFamily="49" charset="0"/>
              </a:rPr>
              <a:t>: prędkość musi </a:t>
            </a:r>
            <a:r>
              <a:rPr lang="pl-PL" sz="1050" dirty="0" smtClean="0">
                <a:solidFill>
                  <a:srgbClr val="6A9955"/>
                </a:solidFill>
                <a:latin typeface="Consolas" panose="020B0609020204030204" pitchFamily="49" charset="0"/>
              </a:rPr>
              <a:t>być </a:t>
            </a:r>
            <a:r>
              <a:rPr lang="pl-PL" sz="1050" dirty="0">
                <a:solidFill>
                  <a:srgbClr val="6A9955"/>
                </a:solidFill>
                <a:latin typeface="Consolas" panose="020B0609020204030204" pitchFamily="49" charset="0"/>
              </a:rPr>
              <a:t>po stronie u względem </a:t>
            </a:r>
            <a:r>
              <a:rPr lang="pl-PL" sz="1050" dirty="0" err="1">
                <a:solidFill>
                  <a:srgbClr val="6A9955"/>
                </a:solidFill>
                <a:latin typeface="Consolas" panose="020B0609020204030204" pitchFamily="49" charset="0"/>
              </a:rPr>
              <a:t>rel_vel</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constraints</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append</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rel_vel</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u</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(punkt, normalny)</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not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constraints</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Brak </a:t>
            </a:r>
            <a:r>
              <a:rPr lang="pl-PL" sz="1050" dirty="0" smtClean="0">
                <a:solidFill>
                  <a:srgbClr val="6A9955"/>
                </a:solidFill>
                <a:latin typeface="Consolas" panose="020B0609020204030204" pitchFamily="49" charset="0"/>
              </a:rPr>
              <a:t>zagrożenia, idź </a:t>
            </a:r>
            <a:r>
              <a:rPr lang="pl-PL" sz="1050" dirty="0">
                <a:solidFill>
                  <a:srgbClr val="6A9955"/>
                </a:solidFill>
                <a:latin typeface="Consolas" panose="020B0609020204030204" pitchFamily="49" charset="0"/>
              </a:rPr>
              <a:t>z preferowana </a:t>
            </a:r>
            <a:r>
              <a:rPr lang="pl-PL" sz="1050" dirty="0" smtClean="0">
                <a:solidFill>
                  <a:srgbClr val="6A9955"/>
                </a:solidFill>
                <a:latin typeface="Consolas" panose="020B0609020204030204" pitchFamily="49" charset="0"/>
              </a:rPr>
              <a:t>prędkością</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v_pref</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copy</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else</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spc="-100" dirty="0">
                <a:solidFill>
                  <a:srgbClr val="6A9955"/>
                </a:solidFill>
                <a:latin typeface="Consolas" panose="020B0609020204030204" pitchFamily="49" charset="0"/>
              </a:rPr>
              <a:t># Projekcja </a:t>
            </a:r>
            <a:r>
              <a:rPr lang="pl-PL" sz="1050" spc="-100" dirty="0" err="1">
                <a:solidFill>
                  <a:srgbClr val="6A9955"/>
                </a:solidFill>
                <a:latin typeface="Consolas" panose="020B0609020204030204" pitchFamily="49" charset="0"/>
              </a:rPr>
              <a:t>v_pref</a:t>
            </a:r>
            <a:r>
              <a:rPr lang="pl-PL" sz="1050" spc="-100" dirty="0">
                <a:solidFill>
                  <a:srgbClr val="6A9955"/>
                </a:solidFill>
                <a:latin typeface="Consolas" panose="020B0609020204030204" pitchFamily="49" charset="0"/>
              </a:rPr>
              <a:t> na </a:t>
            </a:r>
            <a:r>
              <a:rPr lang="pl-PL" sz="1050" spc="-100" dirty="0" smtClean="0">
                <a:solidFill>
                  <a:srgbClr val="6A9955"/>
                </a:solidFill>
                <a:latin typeface="Consolas" panose="020B0609020204030204" pitchFamily="49" charset="0"/>
              </a:rPr>
              <a:t>bezpieczną prędkość </a:t>
            </a:r>
            <a:r>
              <a:rPr lang="pl-PL" sz="1050" spc="-100" dirty="0">
                <a:solidFill>
                  <a:srgbClr val="6A9955"/>
                </a:solidFill>
                <a:latin typeface="Consolas" panose="020B0609020204030204" pitchFamily="49" charset="0"/>
              </a:rPr>
              <a:t>(uproszczone: minimalna zmiana)</a:t>
            </a:r>
            <a:endParaRPr lang="pl-PL" sz="1050" spc="-10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v_pref</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copy</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constraints</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Jeśli </a:t>
            </a:r>
            <a:r>
              <a:rPr lang="pl-PL" sz="1050" dirty="0" err="1">
                <a:solidFill>
                  <a:srgbClr val="6A9955"/>
                </a:solidFill>
                <a:latin typeface="Consolas" panose="020B0609020204030204" pitchFamily="49" charset="0"/>
              </a:rPr>
              <a:t>v_new</a:t>
            </a:r>
            <a:r>
              <a:rPr lang="pl-PL" sz="1050" dirty="0">
                <a:solidFill>
                  <a:srgbClr val="6A9955"/>
                </a:solidFill>
                <a:latin typeface="Consolas" panose="020B0609020204030204" pitchFamily="49" charset="0"/>
              </a:rPr>
              <a:t> narusza half-</a:t>
            </a:r>
            <a:r>
              <a:rPr lang="pl-PL" sz="1050" dirty="0" err="1">
                <a:solidFill>
                  <a:srgbClr val="6A9955"/>
                </a:solidFill>
                <a:latin typeface="Consolas" panose="020B0609020204030204" pitchFamily="49" charset="0"/>
              </a:rPr>
              <a:t>plane</a:t>
            </a:r>
            <a:r>
              <a:rPr lang="pl-PL" sz="1050" dirty="0">
                <a:solidFill>
                  <a:srgbClr val="6A9955"/>
                </a:solidFill>
                <a:latin typeface="Consolas" panose="020B0609020204030204" pitchFamily="49" charset="0"/>
              </a:rPr>
              <a:t> -&gt; skoryguj</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penetration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np</a:t>
            </a:r>
            <a:r>
              <a:rPr lang="pl-PL" sz="1050" dirty="0">
                <a:solidFill>
                  <a:srgbClr val="CCCCCC"/>
                </a:solidFill>
                <a:latin typeface="Consolas" panose="020B0609020204030204" pitchFamily="49" charset="0"/>
              </a:rPr>
              <a:t>.</a:t>
            </a:r>
            <a:r>
              <a:rPr lang="pl-PL" sz="1050" dirty="0">
                <a:solidFill>
                  <a:srgbClr val="DCDCAA"/>
                </a:solidFill>
                <a:latin typeface="Consolas" panose="020B0609020204030204" pitchFamily="49" charset="0"/>
              </a:rPr>
              <a:t>dot</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penetration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penetration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Ogranicz do </a:t>
            </a:r>
            <a:r>
              <a:rPr lang="pl-PL" sz="1050" dirty="0" err="1">
                <a:solidFill>
                  <a:srgbClr val="6A9955"/>
                </a:solidFill>
                <a:latin typeface="Consolas" panose="020B0609020204030204" pitchFamily="49" charset="0"/>
              </a:rPr>
              <a:t>v_max</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speed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linalg</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norm</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a:t>
            </a:r>
          </a:p>
          <a:p>
            <a:pPr>
              <a:lnSpc>
                <a:spcPts val="900"/>
              </a:lnSpc>
            </a:pP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speed</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&gt;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v_max</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speed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v_max</a:t>
            </a:r>
            <a:endParaRPr lang="pl-PL" sz="1050" dirty="0">
              <a:solidFill>
                <a:srgbClr val="CCCCCC"/>
              </a:solidFill>
              <a:latin typeface="Consolas" panose="020B0609020204030204" pitchFamily="49" charset="0"/>
            </a:endParaRPr>
          </a:p>
          <a:p>
            <a:pPr>
              <a:lnSpc>
                <a:spcPts val="900"/>
              </a:lnSpc>
            </a:pP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v_new</a:t>
            </a:r>
            <a:endParaRPr lang="pl-PL" sz="1050" b="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457200" y="4453054"/>
            <a:ext cx="8321040" cy="484706"/>
          </a:xfrm>
          <a:prstGeom prst="rect">
            <a:avLst/>
          </a:prstGeom>
          <a:noFill/>
          <a:ln/>
        </p:spPr>
        <p:txBody>
          <a:bodyPr wrap="square" lIns="0" tIns="0" rIns="127000" bIns="0" rtlCol="0" anchor="ctr"/>
          <a:lstStyle/>
          <a:p>
            <a:pPr algn="ctr"/>
            <a:r>
              <a:rPr lang="pl-PL" sz="1600" b="1" dirty="0" smtClean="0">
                <a:solidFill>
                  <a:schemeClr val="bg1"/>
                </a:solidFill>
                <a:latin typeface="Calibri" pitchFamily="34" charset="0"/>
                <a:ea typeface="Calibri" pitchFamily="34" charset="-122"/>
                <a:cs typeface="Calibri" pitchFamily="34" charset="-120"/>
              </a:rPr>
              <a:t>tau=2.0 </a:t>
            </a:r>
            <a:r>
              <a:rPr lang="pl-PL" sz="1600" b="1" dirty="0">
                <a:solidFill>
                  <a:schemeClr val="bg1"/>
                </a:solidFill>
                <a:latin typeface="Calibri" pitchFamily="34" charset="0"/>
                <a:ea typeface="Calibri" pitchFamily="34" charset="-122"/>
                <a:cs typeface="Calibri" pitchFamily="34" charset="-120"/>
              </a:rPr>
              <a:t>s: </a:t>
            </a:r>
            <a:r>
              <a:rPr lang="pl-PL" sz="1600" dirty="0">
                <a:solidFill>
                  <a:schemeClr val="bg1"/>
                </a:solidFill>
                <a:latin typeface="Calibri" pitchFamily="34" charset="0"/>
                <a:ea typeface="Calibri" pitchFamily="34" charset="-122"/>
                <a:cs typeface="Calibri" pitchFamily="34" charset="-120"/>
              </a:rPr>
              <a:t>horyzont unikania; dla </a:t>
            </a:r>
            <a:r>
              <a:rPr lang="pl-PL" sz="1600" dirty="0" smtClean="0">
                <a:solidFill>
                  <a:schemeClr val="bg1"/>
                </a:solidFill>
                <a:latin typeface="Calibri" pitchFamily="34" charset="0"/>
                <a:ea typeface="Calibri" pitchFamily="34" charset="-122"/>
                <a:cs typeface="Calibri" pitchFamily="34" charset="-120"/>
              </a:rPr>
              <a:t>pełnego </a:t>
            </a:r>
            <a:r>
              <a:rPr lang="pl-PL" sz="1600" dirty="0">
                <a:solidFill>
                  <a:schemeClr val="bg1"/>
                </a:solidFill>
                <a:latin typeface="Calibri" pitchFamily="34" charset="0"/>
                <a:ea typeface="Calibri" pitchFamily="34" charset="-122"/>
                <a:cs typeface="Calibri" pitchFamily="34" charset="-120"/>
              </a:rPr>
              <a:t>ORCA </a:t>
            </a:r>
            <a:r>
              <a:rPr lang="pl-PL" sz="1600" dirty="0" smtClean="0">
                <a:solidFill>
                  <a:schemeClr val="bg1"/>
                </a:solidFill>
                <a:latin typeface="Calibri" pitchFamily="34" charset="0"/>
                <a:ea typeface="Calibri" pitchFamily="34" charset="-122"/>
                <a:cs typeface="Calibri" pitchFamily="34" charset="-120"/>
              </a:rPr>
              <a:t>użyj </a:t>
            </a:r>
            <a:r>
              <a:rPr lang="pl-PL" sz="1600" dirty="0">
                <a:solidFill>
                  <a:schemeClr val="bg1"/>
                </a:solidFill>
                <a:latin typeface="Calibri" pitchFamily="34" charset="0"/>
                <a:ea typeface="Calibri" pitchFamily="34" charset="-122"/>
                <a:cs typeface="Calibri" pitchFamily="34" charset="-120"/>
              </a:rPr>
              <a:t>biblioteki RVO2 (C++/</a:t>
            </a:r>
            <a:r>
              <a:rPr lang="pl-PL" sz="1600" dirty="0" err="1">
                <a:solidFill>
                  <a:schemeClr val="bg1"/>
                </a:solidFill>
                <a:latin typeface="Calibri" pitchFamily="34" charset="0"/>
                <a:ea typeface="Calibri" pitchFamily="34" charset="-122"/>
                <a:cs typeface="Calibri" pitchFamily="34" charset="-120"/>
              </a:rPr>
              <a:t>Python</a:t>
            </a:r>
            <a:r>
              <a:rPr lang="pl-PL" sz="1600" dirty="0">
                <a:solidFill>
                  <a:schemeClr val="bg1"/>
                </a:solidFill>
                <a:latin typeface="Calibri" pitchFamily="34" charset="0"/>
                <a:ea typeface="Calibri" pitchFamily="34" charset="-122"/>
                <a:cs typeface="Calibri" pitchFamily="34" charset="-120"/>
              </a:rPr>
              <a:t> </a:t>
            </a:r>
            <a:r>
              <a:rPr lang="pl-PL" sz="1600" dirty="0" err="1">
                <a:solidFill>
                  <a:schemeClr val="bg1"/>
                </a:solidFill>
                <a:latin typeface="Calibri" pitchFamily="34" charset="0"/>
                <a:ea typeface="Calibri" pitchFamily="34" charset="-122"/>
                <a:cs typeface="Calibri" pitchFamily="34" charset="-120"/>
              </a:rPr>
              <a:t>binding</a:t>
            </a:r>
            <a:r>
              <a:rPr lang="pl-PL" sz="1600" dirty="0" smtClean="0">
                <a:solidFill>
                  <a:schemeClr val="bg1"/>
                </a:solidFill>
                <a:latin typeface="Calibri" pitchFamily="34" charset="0"/>
                <a:ea typeface="Calibri" pitchFamily="34" charset="-122"/>
                <a:cs typeface="Calibri" pitchFamily="34" charset="-120"/>
              </a:rPr>
              <a:t>)</a:t>
            </a:r>
            <a:endParaRPr lang="pl-PL" sz="1600" dirty="0">
              <a:solidFill>
                <a:schemeClr val="bg1"/>
              </a:solidFill>
              <a:latin typeface="Calibri" pitchFamily="34" charset="0"/>
              <a:ea typeface="Calibri" pitchFamily="34" charset="-122"/>
              <a:cs typeface="Calibri" pitchFamily="34" charset="-120"/>
            </a:endParaRPr>
          </a:p>
        </p:txBody>
      </p:sp>
      <p:sp>
        <p:nvSpPr>
          <p:cNvPr id="13" name="Shape 5"/>
          <p:cNvSpPr/>
          <p:nvPr/>
        </p:nvSpPr>
        <p:spPr>
          <a:xfrm>
            <a:off x="8048578"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04610"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560642" y="1115568"/>
            <a:ext cx="146304" cy="146304"/>
          </a:xfrm>
          <a:prstGeom prst="ellipse">
            <a:avLst/>
          </a:prstGeom>
          <a:solidFill>
            <a:srgbClr val="C3F584"/>
          </a:solidFill>
          <a:ln w="12700">
            <a:solidFill>
              <a:srgbClr val="C3F584"/>
            </a:solidFill>
            <a:prstDash val="solid"/>
          </a:ln>
        </p:spPr>
      </p:sp>
      <p:sp>
        <p:nvSpPr>
          <p:cNvPr id="7" name="Prostokąt 6"/>
          <p:cNvSpPr/>
          <p:nvPr/>
        </p:nvSpPr>
        <p:spPr>
          <a:xfrm>
            <a:off x="246888" y="745724"/>
            <a:ext cx="6153912" cy="276999"/>
          </a:xfrm>
          <a:prstGeom prst="rect">
            <a:avLst/>
          </a:prstGeom>
        </p:spPr>
        <p:txBody>
          <a:bodyPr wrap="square">
            <a:spAutoFit/>
          </a:bodyPr>
          <a:lstStyle/>
          <a:p>
            <a:r>
              <a:rPr lang="pl-PL" sz="1200" i="1" dirty="0">
                <a:solidFill>
                  <a:srgbClr val="90C8D8"/>
                </a:solidFill>
              </a:rPr>
              <a:t>Robot przyjmuje pełną odpowiedzialność za unikanie kolizji (pieszy nie stosuje ORCA)</a:t>
            </a:r>
          </a:p>
        </p:txBody>
      </p:sp>
    </p:spTree>
    <p:extLst>
      <p:ext uri="{BB962C8B-B14F-4D97-AF65-F5344CB8AC3E}">
        <p14:creationId xmlns:p14="http://schemas.microsoft.com/office/powerpoint/2010/main" val="29085887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MPC</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Model Predictive </a:t>
            </a:r>
            <a:r>
              <a:rPr lang="en-US" sz="2400" b="1" dirty="0" smtClean="0">
                <a:solidFill>
                  <a:srgbClr val="FFFFFF"/>
                </a:solidFill>
                <a:latin typeface="Trebuchet MS" pitchFamily="34" charset="0"/>
                <a:ea typeface="Trebuchet MS" pitchFamily="34" charset="-122"/>
                <a:cs typeface="Trebuchet MS" pitchFamily="34" charset="-120"/>
              </a:rPr>
              <a:t>Control</a:t>
            </a:r>
            <a:r>
              <a:rPr lang="pl-PL" sz="2400" b="1" dirty="0" smtClean="0">
                <a:solidFill>
                  <a:srgbClr val="FFFFFF"/>
                </a:solidFill>
                <a:latin typeface="Trebuchet MS" pitchFamily="34" charset="0"/>
                <a:ea typeface="Trebuchet MS" pitchFamily="34" charset="-122"/>
                <a:cs typeface="Trebuchet MS" pitchFamily="34" charset="-120"/>
              </a:rPr>
              <a:t>, czyli taka</a:t>
            </a:r>
            <a:r>
              <a:rPr lang="en-US" sz="2400" b="1" dirty="0" smtClean="0">
                <a:solidFill>
                  <a:srgbClr val="FFFFFF"/>
                </a:solidFill>
                <a:latin typeface="Trebuchet MS" pitchFamily="34" charset="0"/>
                <a:ea typeface="Trebuchet MS" pitchFamily="34" charset="-122"/>
                <a:cs typeface="Trebuchet MS" pitchFamily="34" charset="-120"/>
              </a:rPr>
              <a:t> </a:t>
            </a:r>
            <a:r>
              <a:rPr lang="pl-PL" sz="2400" b="1" dirty="0" smtClean="0">
                <a:solidFill>
                  <a:srgbClr val="FFFFFF"/>
                </a:solidFill>
                <a:latin typeface="Trebuchet MS" pitchFamily="34" charset="0"/>
                <a:ea typeface="Trebuchet MS" pitchFamily="34" charset="-122"/>
                <a:cs typeface="Trebuchet MS" pitchFamily="34" charset="-120"/>
              </a:rPr>
              <a:t>„</a:t>
            </a:r>
            <a:r>
              <a:rPr lang="en-US" sz="2400" b="1" dirty="0" err="1" smtClean="0">
                <a:solidFill>
                  <a:srgbClr val="FFFFFF"/>
                </a:solidFill>
                <a:latin typeface="Trebuchet MS" pitchFamily="34" charset="0"/>
                <a:ea typeface="Trebuchet MS" pitchFamily="34" charset="-122"/>
                <a:cs typeface="Trebuchet MS" pitchFamily="34" charset="-120"/>
              </a:rPr>
              <a:t>intuicja</a:t>
            </a:r>
            <a:r>
              <a:rPr lang="pl-PL" sz="2400" b="1" dirty="0" smtClean="0">
                <a:solidFill>
                  <a:srgbClr val="FFFFFF"/>
                </a:solidFill>
                <a:latin typeface="Trebuchet MS" pitchFamily="34" charset="0"/>
                <a:ea typeface="Trebuchet MS" pitchFamily="34" charset="-122"/>
                <a:cs typeface="Trebuchet MS" pitchFamily="34" charset="-120"/>
              </a:rPr>
              <a:t>”</a:t>
            </a:r>
            <a:endParaRPr lang="en-US" sz="2400" dirty="0"/>
          </a:p>
        </p:txBody>
      </p:sp>
      <p:sp>
        <p:nvSpPr>
          <p:cNvPr id="6" name="Shape 4"/>
          <p:cNvSpPr/>
          <p:nvPr/>
        </p:nvSpPr>
        <p:spPr>
          <a:xfrm>
            <a:off x="274320" y="1097281"/>
            <a:ext cx="8595360" cy="239223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mc:AlternateContent xmlns:mc="http://schemas.openxmlformats.org/markup-compatibility/2006" xmlns:a14="http://schemas.microsoft.com/office/drawing/2010/main">
        <mc:Choice Requires="a14">
          <p:sp>
            <p:nvSpPr>
              <p:cNvPr id="7" name="Text 5"/>
              <p:cNvSpPr/>
              <p:nvPr/>
            </p:nvSpPr>
            <p:spPr>
              <a:xfrm>
                <a:off x="363068" y="1121480"/>
                <a:ext cx="8229600" cy="2267860"/>
              </a:xfrm>
              <a:prstGeom prst="rect">
                <a:avLst/>
              </a:prstGeom>
              <a:noFill/>
              <a:ln/>
            </p:spPr>
            <p:txBody>
              <a:bodyPr wrap="square" lIns="127000" tIns="36000" rIns="127000" bIns="0" rtlCol="0" anchor="t">
                <a:spAutoFit/>
              </a:bodyPr>
              <a:lstStyle/>
              <a:p>
                <a:pPr marL="144000" indent="-144000">
                  <a:spcAft>
                    <a:spcPts val="900"/>
                  </a:spcAft>
                  <a:buSzPct val="100000"/>
                  <a:buChar char="•"/>
                </a:pPr>
                <a:r>
                  <a:rPr lang="en-US" sz="1400" b="1" dirty="0" smtClean="0">
                    <a:solidFill>
                      <a:srgbClr val="0D1B2A"/>
                    </a:solidFill>
                    <a:latin typeface="Calibri" pitchFamily="34" charset="0"/>
                    <a:ea typeface="Calibri" pitchFamily="34" charset="-122"/>
                    <a:cs typeface="Calibri" pitchFamily="34" charset="-120"/>
                  </a:rPr>
                  <a:t>MPC</a:t>
                </a:r>
                <a:r>
                  <a:rPr lang="en-US" sz="1400" dirty="0">
                    <a:solidFill>
                      <a:srgbClr val="0D1B2A"/>
                    </a:solidFill>
                    <a:latin typeface="Calibri" pitchFamily="34" charset="0"/>
                    <a:ea typeface="Calibri" pitchFamily="34" charset="-122"/>
                    <a:cs typeface="Calibri" pitchFamily="34" charset="-120"/>
                  </a:rPr>
                  <a:t> optymalizuje sekwencję </a:t>
                </a:r>
                <a:r>
                  <a:rPr lang="en-US" sz="1400" dirty="0" err="1">
                    <a:solidFill>
                      <a:srgbClr val="0D1B2A"/>
                    </a:solidFill>
                    <a:latin typeface="Calibri" pitchFamily="34" charset="0"/>
                    <a:ea typeface="Calibri" pitchFamily="34" charset="-122"/>
                    <a:cs typeface="Calibri" pitchFamily="34" charset="-120"/>
                  </a:rPr>
                  <a:t>sterowań</a:t>
                </a:r>
                <a:r>
                  <a:rPr lang="en-US" sz="1400" dirty="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𝑢</m:t>
                    </m:r>
                    <m:r>
                      <a:rPr lang="en-US" sz="1400" i="1" dirty="0" smtClean="0">
                        <a:solidFill>
                          <a:schemeClr val="accent1"/>
                        </a:solidFill>
                        <a:latin typeface="Cambria Math" panose="02040503050406030204" pitchFamily="18" charset="0"/>
                        <a:ea typeface="Calibri" pitchFamily="34" charset="-122"/>
                        <a:cs typeface="Calibri" pitchFamily="34" charset="-120"/>
                      </a:rPr>
                      <m:t>₀, </m:t>
                    </m:r>
                    <m:r>
                      <a:rPr lang="en-US" sz="1400" i="1" dirty="0" smtClean="0">
                        <a:solidFill>
                          <a:schemeClr val="accent1"/>
                        </a:solidFill>
                        <a:latin typeface="Cambria Math" panose="02040503050406030204" pitchFamily="18" charset="0"/>
                        <a:ea typeface="Calibri" pitchFamily="34" charset="-122"/>
                        <a:cs typeface="Calibri" pitchFamily="34" charset="-120"/>
                      </a:rPr>
                      <m:t>𝑢</m:t>
                    </m:r>
                    <m:r>
                      <a:rPr lang="en-US" sz="1400" i="1" dirty="0" smtClean="0">
                        <a:solidFill>
                          <a:schemeClr val="accent1"/>
                        </a:solidFill>
                        <a:latin typeface="Cambria Math" panose="02040503050406030204" pitchFamily="18" charset="0"/>
                        <a:ea typeface="Calibri" pitchFamily="34" charset="-122"/>
                        <a:cs typeface="Calibri" pitchFamily="34" charset="-120"/>
                      </a:rPr>
                      <m:t>₁, …, </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𝑢</m:t>
                        </m:r>
                      </m:e>
                      <m:sub>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𝑁</m:t>
                            </m:r>
                            <m:r>
                              <a:rPr lang="en-US" sz="1400" i="1" dirty="0" smtClean="0">
                                <a:solidFill>
                                  <a:schemeClr val="accent1"/>
                                </a:solidFill>
                                <a:latin typeface="Cambria Math" panose="02040503050406030204" pitchFamily="18" charset="0"/>
                                <a:ea typeface="Calibri" pitchFamily="34" charset="-122"/>
                                <a:cs typeface="Calibri" pitchFamily="34" charset="-120"/>
                              </a:rPr>
                              <m:t>−1</m:t>
                            </m:r>
                          </m:e>
                        </m:d>
                      </m:sub>
                    </m:sSub>
                    <m:r>
                      <a:rPr lang="en-US" sz="1400" i="1" dirty="0" smtClean="0">
                        <a:solidFill>
                          <a:schemeClr val="accent1"/>
                        </a:solidFill>
                        <a:latin typeface="Cambria Math" panose="02040503050406030204" pitchFamily="18" charset="0"/>
                        <a:ea typeface="Calibri" pitchFamily="34" charset="-122"/>
                        <a:cs typeface="Calibri" pitchFamily="34" charset="-120"/>
                      </a:rPr>
                      <m:t> </m:t>
                    </m:r>
                  </m:oMath>
                </a14:m>
                <a:r>
                  <a:rPr lang="en-US" sz="1400" dirty="0">
                    <a:solidFill>
                      <a:srgbClr val="0D1B2A"/>
                    </a:solidFill>
                    <a:latin typeface="Calibri" pitchFamily="34" charset="0"/>
                    <a:ea typeface="Calibri" pitchFamily="34" charset="-122"/>
                    <a:cs typeface="Calibri" pitchFamily="34" charset="-120"/>
                  </a:rPr>
                  <a:t>na horyzoncie N kroków</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Model predykcji</a:t>
                </a:r>
                <a:r>
                  <a:rPr lang="en-US" sz="1400" dirty="0">
                    <a:solidFill>
                      <a:srgbClr val="0D1B2A"/>
                    </a:solidFill>
                    <a:latin typeface="Calibri" pitchFamily="34" charset="0"/>
                    <a:ea typeface="Calibri" pitchFamily="34" charset="-122"/>
                    <a:cs typeface="Calibri" pitchFamily="34" charset="-120"/>
                  </a:rPr>
                  <a:t>: </a:t>
                </a:r>
                <a14:m>
                  <m:oMath xmlns:m="http://schemas.openxmlformats.org/officeDocument/2006/math">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𝑥</m:t>
                        </m:r>
                      </m:e>
                      <m:sub>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𝑡</m:t>
                            </m:r>
                            <m:r>
                              <a:rPr lang="en-US" sz="1400" i="1" dirty="0" smtClean="0">
                                <a:solidFill>
                                  <a:schemeClr val="accent1"/>
                                </a:solidFill>
                                <a:latin typeface="Cambria Math" panose="02040503050406030204" pitchFamily="18" charset="0"/>
                                <a:ea typeface="Calibri" pitchFamily="34" charset="-122"/>
                                <a:cs typeface="Calibri" pitchFamily="34" charset="-120"/>
                              </a:rPr>
                              <m:t>+1</m:t>
                            </m:r>
                          </m:e>
                        </m:d>
                      </m:sub>
                    </m:sSub>
                    <m:r>
                      <a:rPr lang="en-US" sz="1400" i="1" dirty="0" smtClean="0">
                        <a:solidFill>
                          <a:schemeClr val="accent1"/>
                        </a:solidFill>
                        <a:latin typeface="Cambria Math" panose="02040503050406030204" pitchFamily="18" charset="0"/>
                        <a:ea typeface="Calibri" pitchFamily="34" charset="-122"/>
                        <a:cs typeface="Calibri" pitchFamily="34" charset="-120"/>
                      </a:rPr>
                      <m:t> = </m:t>
                    </m:r>
                    <m:r>
                      <a:rPr lang="en-US" sz="1400" i="1" dirty="0" smtClean="0">
                        <a:solidFill>
                          <a:schemeClr val="accent1"/>
                        </a:solidFill>
                        <a:latin typeface="Cambria Math" panose="02040503050406030204" pitchFamily="18" charset="0"/>
                        <a:ea typeface="Calibri" pitchFamily="34" charset="-122"/>
                        <a:cs typeface="Calibri" pitchFamily="34" charset="-120"/>
                      </a:rPr>
                      <m:t>𝑓</m:t>
                    </m:r>
                    <m:d>
                      <m:dPr>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sSub>
                          <m:sSubPr>
                            <m:ctrlPr>
                              <a:rPr lang="en-US" sz="1400" i="1" dirty="0" err="1"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err="1" smtClean="0">
                                <a:solidFill>
                                  <a:schemeClr val="accent1"/>
                                </a:solidFill>
                                <a:latin typeface="Cambria Math" panose="02040503050406030204" pitchFamily="18" charset="0"/>
                                <a:ea typeface="Calibri" pitchFamily="34" charset="-122"/>
                                <a:cs typeface="Calibri" pitchFamily="34" charset="-120"/>
                              </a:rPr>
                              <m:t>𝑥</m:t>
                            </m:r>
                          </m:e>
                          <m:sub>
                            <m:r>
                              <a:rPr lang="en-US" sz="1400" i="1" dirty="0" err="1" smtClean="0">
                                <a:solidFill>
                                  <a:schemeClr val="accent1"/>
                                </a:solidFill>
                                <a:latin typeface="Cambria Math" panose="02040503050406030204" pitchFamily="18" charset="0"/>
                                <a:ea typeface="Calibri" pitchFamily="34" charset="-122"/>
                                <a:cs typeface="Calibri" pitchFamily="34" charset="-120"/>
                              </a:rPr>
                              <m:t>𝑡</m:t>
                            </m:r>
                          </m:sub>
                        </m:sSub>
                        <m:r>
                          <a:rPr lang="en-US" sz="1400" i="1" dirty="0" smtClean="0">
                            <a:solidFill>
                              <a:schemeClr val="accent1"/>
                            </a:solidFill>
                            <a:latin typeface="Cambria Math" panose="02040503050406030204" pitchFamily="18" charset="0"/>
                            <a:ea typeface="Calibri" pitchFamily="34" charset="-122"/>
                            <a:cs typeface="Calibri" pitchFamily="34" charset="-120"/>
                          </a:rPr>
                          <m:t>, </m:t>
                        </m:r>
                        <m:sSub>
                          <m:sSubPr>
                            <m:ctrlPr>
                              <a:rPr lang="en-US" sz="1400" i="1" dirty="0" err="1"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err="1" smtClean="0">
                                <a:solidFill>
                                  <a:schemeClr val="accent1"/>
                                </a:solidFill>
                                <a:latin typeface="Cambria Math" panose="02040503050406030204" pitchFamily="18" charset="0"/>
                                <a:ea typeface="Calibri" pitchFamily="34" charset="-122"/>
                                <a:cs typeface="Calibri" pitchFamily="34" charset="-120"/>
                              </a:rPr>
                              <m:t>𝑢</m:t>
                            </m:r>
                          </m:e>
                          <m:sub>
                            <m:r>
                              <a:rPr lang="en-US" sz="1400" i="1" dirty="0" err="1" smtClean="0">
                                <a:solidFill>
                                  <a:schemeClr val="accent1"/>
                                </a:solidFill>
                                <a:latin typeface="Cambria Math" panose="02040503050406030204" pitchFamily="18" charset="0"/>
                                <a:ea typeface="Calibri" pitchFamily="34" charset="-122"/>
                                <a:cs typeface="Calibri" pitchFamily="34" charset="-120"/>
                              </a:rPr>
                              <m:t>𝑡</m:t>
                            </m:r>
                          </m:sub>
                        </m:sSub>
                      </m:e>
                    </m:d>
                    <m:r>
                      <a:rPr lang="en-US" sz="1400" i="1" dirty="0" smtClean="0">
                        <a:solidFill>
                          <a:srgbClr val="0D1B2A"/>
                        </a:solidFill>
                        <a:latin typeface="Cambria Math" panose="02040503050406030204" pitchFamily="18" charset="0"/>
                        <a:ea typeface="Calibri" pitchFamily="34" charset="-122"/>
                        <a:cs typeface="Calibri" pitchFamily="34" charset="-120"/>
                      </a:rPr>
                      <m:t> </m:t>
                    </m:r>
                  </m:oMath>
                </a14:m>
                <a:r>
                  <a:rPr lang="en-US" sz="1400" dirty="0">
                    <a:solidFill>
                      <a:srgbClr val="0D1B2A"/>
                    </a:solidFill>
                    <a:latin typeface="Calibri" pitchFamily="34" charset="0"/>
                    <a:ea typeface="Calibri" pitchFamily="34" charset="-122"/>
                    <a:cs typeface="Calibri" pitchFamily="34" charset="-120"/>
                  </a:rPr>
                  <a:t>– uproszczony model kinematyczny/dynamiczny robota</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Funkcja celu</a:t>
                </a:r>
                <a:r>
                  <a:rPr lang="en-US" sz="1400" dirty="0">
                    <a:solidFill>
                      <a:srgbClr val="0D1B2A"/>
                    </a:solidFill>
                    <a:latin typeface="Calibri" pitchFamily="34" charset="0"/>
                    <a:ea typeface="Calibri" pitchFamily="34" charset="-122"/>
                    <a:cs typeface="Calibri" pitchFamily="34" charset="-120"/>
                  </a:rPr>
                  <a:t>: minimalizacja odchylenia od ścieżki + kosztu sterowania + penalizacja za przeszkody</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Ograniczenia</a:t>
                </a:r>
                <a:r>
                  <a:rPr lang="en-US" sz="1400" dirty="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m:t>
                    </m:r>
                    <m:r>
                      <a:rPr lang="en-US" sz="1400" i="1" dirty="0" smtClean="0">
                        <a:solidFill>
                          <a:schemeClr val="accent1"/>
                        </a:solidFill>
                        <a:latin typeface="Cambria Math" panose="02040503050406030204" pitchFamily="18" charset="0"/>
                        <a:ea typeface="Calibri" pitchFamily="34" charset="-122"/>
                        <a:cs typeface="Calibri" pitchFamily="34" charset="-120"/>
                      </a:rPr>
                      <m:t>𝑣</m:t>
                    </m:r>
                    <m:r>
                      <a:rPr lang="en-US" sz="1400" i="1" dirty="0" smtClean="0">
                        <a:solidFill>
                          <a:schemeClr val="accent1"/>
                        </a:solidFill>
                        <a:latin typeface="Cambria Math" panose="02040503050406030204" pitchFamily="18" charset="0"/>
                        <a:ea typeface="Calibri" pitchFamily="34" charset="-122"/>
                        <a:cs typeface="Calibri" pitchFamily="34" charset="-120"/>
                      </a:rPr>
                      <m:t>| ≤ </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𝑣</m:t>
                        </m:r>
                      </m:e>
                      <m:sub>
                        <m:r>
                          <m:rPr>
                            <m:sty m:val="p"/>
                          </m:rPr>
                          <a:rPr lang="en-US" sz="1400" i="1" dirty="0" smtClean="0">
                            <a:solidFill>
                              <a:schemeClr val="accent1"/>
                            </a:solidFill>
                            <a:latin typeface="Cambria Math" panose="02040503050406030204" pitchFamily="18" charset="0"/>
                            <a:ea typeface="Calibri" pitchFamily="34" charset="-122"/>
                            <a:cs typeface="Calibri" pitchFamily="34" charset="-120"/>
                          </a:rPr>
                          <m:t>max</m:t>
                        </m:r>
                      </m:sub>
                    </m:sSub>
                    <m:r>
                      <a:rPr lang="en-US" sz="1400" i="1" dirty="0" smtClean="0">
                        <a:solidFill>
                          <a:schemeClr val="accent1"/>
                        </a:solidFill>
                        <a:latin typeface="Cambria Math" panose="02040503050406030204" pitchFamily="18" charset="0"/>
                        <a:ea typeface="Calibri" pitchFamily="34" charset="-122"/>
                        <a:cs typeface="Calibri" pitchFamily="34" charset="-120"/>
                      </a:rPr>
                      <m:t>, </m:t>
                    </m:r>
                    <m:d>
                      <m:dPr>
                        <m:begChr m:val="|"/>
                        <m:endChr m:val="|"/>
                        <m:ctrlPr>
                          <a:rPr lang="en-US" sz="1400" i="1" dirty="0" smtClean="0">
                            <a:solidFill>
                              <a:schemeClr val="accent1"/>
                            </a:solidFill>
                            <a:latin typeface="Cambria Math" panose="02040503050406030204" pitchFamily="18" charset="0"/>
                            <a:ea typeface="Calibri" pitchFamily="34" charset="-122"/>
                            <a:cs typeface="Calibri" pitchFamily="34" charset="-120"/>
                          </a:rPr>
                        </m:ctrlPr>
                      </m:dPr>
                      <m:e>
                        <m:r>
                          <a:rPr lang="en-US" sz="1400" i="1" dirty="0" smtClean="0">
                            <a:solidFill>
                              <a:schemeClr val="accent1"/>
                            </a:solidFill>
                            <a:latin typeface="Cambria Math" panose="02040503050406030204" pitchFamily="18" charset="0"/>
                            <a:ea typeface="Calibri" pitchFamily="34" charset="-122"/>
                            <a:cs typeface="Calibri" pitchFamily="34" charset="-120"/>
                          </a:rPr>
                          <m:t>𝜔</m:t>
                        </m:r>
                      </m:e>
                    </m:d>
                    <m:r>
                      <a:rPr lang="en-US" sz="1400" i="1" dirty="0" smtClean="0">
                        <a:solidFill>
                          <a:schemeClr val="accent1"/>
                        </a:solidFill>
                        <a:latin typeface="Cambria Math" panose="02040503050406030204" pitchFamily="18" charset="0"/>
                        <a:ea typeface="Calibri" pitchFamily="34" charset="-122"/>
                        <a:cs typeface="Calibri" pitchFamily="34" charset="-120"/>
                      </a:rPr>
                      <m:t> ≤ </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𝜔</m:t>
                        </m:r>
                      </m:e>
                      <m:sub>
                        <m:r>
                          <m:rPr>
                            <m:sty m:val="p"/>
                          </m:rPr>
                          <a:rPr lang="en-US" sz="1400" i="1" dirty="0" smtClean="0">
                            <a:solidFill>
                              <a:schemeClr val="accent1"/>
                            </a:solidFill>
                            <a:latin typeface="Cambria Math" panose="02040503050406030204" pitchFamily="18" charset="0"/>
                            <a:ea typeface="Calibri" pitchFamily="34" charset="-122"/>
                            <a:cs typeface="Calibri" pitchFamily="34" charset="-120"/>
                          </a:rPr>
                          <m:t>max</m:t>
                        </m:r>
                      </m:sub>
                    </m:sSub>
                  </m:oMath>
                </a14:m>
                <a:r>
                  <a:rPr lang="en-US" sz="1400" dirty="0">
                    <a:solidFill>
                      <a:srgbClr val="0D1B2A"/>
                    </a:solidFill>
                    <a:latin typeface="Calibri" pitchFamily="34" charset="0"/>
                    <a:ea typeface="Calibri" pitchFamily="34" charset="-122"/>
                    <a:cs typeface="Calibri" pitchFamily="34" charset="-120"/>
                  </a:rPr>
                  <a:t>, brak kolizji, stabilność ZMP</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Receding horizon</a:t>
                </a:r>
                <a:r>
                  <a:rPr lang="en-US" sz="1400" dirty="0">
                    <a:solidFill>
                      <a:srgbClr val="0D1B2A"/>
                    </a:solidFill>
                    <a:latin typeface="Calibri" pitchFamily="34" charset="0"/>
                    <a:ea typeface="Calibri" pitchFamily="34" charset="-122"/>
                    <a:cs typeface="Calibri" pitchFamily="34" charset="-120"/>
                  </a:rPr>
                  <a:t>: po wyznaczeniu sekwencji wykonuje się tylko u₀, a plan jest aktualizowany</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Zalety</a:t>
                </a:r>
                <a:r>
                  <a:rPr lang="en-US" sz="1400" dirty="0">
                    <a:solidFill>
                      <a:srgbClr val="0D1B2A"/>
                    </a:solidFill>
                    <a:latin typeface="Calibri" pitchFamily="34" charset="0"/>
                    <a:ea typeface="Calibri" pitchFamily="34" charset="-122"/>
                    <a:cs typeface="Calibri" pitchFamily="34" charset="-120"/>
                  </a:rPr>
                  <a:t>: jawne ograniczenia dynamiczne, optymalne zarządzanie kolizjami w horyzoncie</a:t>
                </a:r>
                <a:endParaRPr lang="en-US" sz="1400" dirty="0"/>
              </a:p>
              <a:p>
                <a:pPr marL="144000" indent="-144000">
                  <a:spcAft>
                    <a:spcPts val="900"/>
                  </a:spcAft>
                  <a:buSzPct val="100000"/>
                  <a:buChar char="•"/>
                </a:pPr>
                <a:r>
                  <a:rPr lang="en-US" sz="1400" b="1" dirty="0">
                    <a:solidFill>
                      <a:srgbClr val="0D1B2A"/>
                    </a:solidFill>
                    <a:latin typeface="Calibri" pitchFamily="34" charset="0"/>
                    <a:ea typeface="Calibri" pitchFamily="34" charset="-122"/>
                    <a:cs typeface="Calibri" pitchFamily="34" charset="-120"/>
                  </a:rPr>
                  <a:t>Wada</a:t>
                </a:r>
                <a:r>
                  <a:rPr lang="en-US" sz="1400" dirty="0">
                    <a:solidFill>
                      <a:srgbClr val="0D1B2A"/>
                    </a:solidFill>
                    <a:latin typeface="Calibri" pitchFamily="34" charset="0"/>
                    <a:ea typeface="Calibri" pitchFamily="34" charset="-122"/>
                    <a:cs typeface="Calibri" pitchFamily="34" charset="-120"/>
                  </a:rPr>
                  <a:t>: wysoki koszt obliczeniowy (solver QP/NLP); wymaga dedykowanego CPU lub GPU</a:t>
                </a:r>
                <a:endParaRPr lang="en-US" sz="1400" dirty="0"/>
              </a:p>
            </p:txBody>
          </p:sp>
        </mc:Choice>
        <mc:Fallback xmlns="">
          <p:sp>
            <p:nvSpPr>
              <p:cNvPr id="7" name="Text 5"/>
              <p:cNvSpPr>
                <a:spLocks noRot="1" noChangeAspect="1" noMove="1" noResize="1" noEditPoints="1" noAdjustHandles="1" noChangeArrowheads="1" noChangeShapeType="1" noTextEdit="1"/>
              </p:cNvSpPr>
              <p:nvPr/>
            </p:nvSpPr>
            <p:spPr>
              <a:xfrm>
                <a:off x="363068" y="1121480"/>
                <a:ext cx="8229600" cy="2267860"/>
              </a:xfrm>
              <a:prstGeom prst="rect">
                <a:avLst/>
              </a:prstGeom>
              <a:blipFill>
                <a:blip r:embed="rId3"/>
                <a:stretch>
                  <a:fillRect t="-1075" b="-4032"/>
                </a:stretch>
              </a:blipFill>
              <a:ln/>
            </p:spPr>
            <p:txBody>
              <a:bodyPr/>
              <a:lstStyle/>
              <a:p>
                <a:r>
                  <a:rPr lang="pl-PL">
                    <a:noFill/>
                  </a:rPr>
                  <a:t> </a:t>
                </a:r>
              </a:p>
            </p:txBody>
          </p:sp>
        </mc:Fallback>
      </mc:AlternateContent>
      <p:sp>
        <p:nvSpPr>
          <p:cNvPr id="8" name="Prostokąt 7"/>
          <p:cNvSpPr/>
          <p:nvPr/>
        </p:nvSpPr>
        <p:spPr>
          <a:xfrm>
            <a:off x="260872" y="3636956"/>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spc="-40" dirty="0">
                <a:solidFill>
                  <a:schemeClr val="bg1"/>
                </a:solidFill>
              </a:rPr>
              <a:t>MPC planuje sterowanie w horyzoncie czasowym, czyli przewiduje kilka przyszłych kroków i wybiera taką sekwencję akcji, która minimalizuje określony koszt. W odróżnieniu od prostych metod reaktywnych MPC może jawnie uwzględniać ograniczenia prędkości, skrętu, kolizji i stabilności. W każdym cyklu wykonywany jest tylko pierwszy element zaplanowanej sekwencji, po czym cały proces jest liczony ponownie. To pozwala reagować na zmiany otoczenia. Wadą MPC jest koszt obliczeniowy oraz konieczność posiadania modelu robota i wydajnego </a:t>
            </a:r>
            <a:r>
              <a:rPr lang="pl-PL" sz="1400" spc="-40" dirty="0" err="1">
                <a:solidFill>
                  <a:schemeClr val="bg1"/>
                </a:solidFill>
              </a:rPr>
              <a:t>solvera</a:t>
            </a:r>
            <a:r>
              <a:rPr lang="pl-PL" sz="1400" spc="-40" dirty="0">
                <a:solidFill>
                  <a:schemeClr val="bg1"/>
                </a:solidFill>
              </a:rPr>
              <a:t> optymalizacyjnego.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Uproszczony MPC: Model </a:t>
            </a:r>
            <a:r>
              <a:rPr lang="pl-PL" sz="2400" b="1" dirty="0" err="1">
                <a:solidFill>
                  <a:srgbClr val="FFFFFF"/>
                </a:solidFill>
                <a:latin typeface="Trebuchet MS" pitchFamily="34" charset="0"/>
                <a:ea typeface="Trebuchet MS" pitchFamily="34" charset="-122"/>
                <a:cs typeface="Trebuchet MS" pitchFamily="34" charset="-120"/>
              </a:rPr>
              <a:t>Predictive</a:t>
            </a:r>
            <a:r>
              <a:rPr lang="pl-PL" sz="2400" b="1" dirty="0">
                <a:solidFill>
                  <a:srgbClr val="FFFFFF"/>
                </a:solidFill>
                <a:latin typeface="Trebuchet MS" pitchFamily="34" charset="0"/>
                <a:ea typeface="Trebuchet MS" pitchFamily="34" charset="-122"/>
                <a:cs typeface="Trebuchet MS" pitchFamily="34" charset="-120"/>
              </a:rPr>
              <a:t> Control lokalny</a:t>
            </a: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8394192" cy="3009517"/>
          </a:xfrm>
          <a:prstGeom prst="rect">
            <a:avLst/>
          </a:prstGeom>
          <a:noFill/>
          <a:ln/>
        </p:spPr>
        <p:txBody>
          <a:bodyPr wrap="square" lIns="108000" tIns="0" rIns="36000" bIns="0" numCol="2" rtlCol="0" anchor="t">
            <a:normAutofit fontScale="77500" lnSpcReduction="20000"/>
          </a:bodyPr>
          <a:lstStyle/>
          <a:p>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numpy</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as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err="1">
                <a:solidFill>
                  <a:srgbClr val="DCDCAA"/>
                </a:solidFill>
                <a:latin typeface="Consolas" panose="020B0609020204030204" pitchFamily="49" charset="0"/>
              </a:rPr>
              <a:t>mpc_local_planner</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robot_state</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ref_path</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obstacles</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10</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v_max</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0.8</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omega_max</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1.0</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n_samples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int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200</a:t>
            </a:r>
            <a:r>
              <a:rPr lang="pl-PL" sz="1050" dirty="0">
                <a:solidFill>
                  <a:srgbClr val="CCCCCC"/>
                </a:solidFill>
                <a:latin typeface="Consolas" panose="020B0609020204030204" pitchFamily="49" charset="0"/>
              </a:rPr>
              <a:t>) -&gt;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Uproszczony MPC oparty na </a:t>
            </a:r>
            <a:r>
              <a:rPr lang="pl-PL" sz="1050" dirty="0" err="1">
                <a:solidFill>
                  <a:srgbClr val="CE9178"/>
                </a:solidFill>
                <a:latin typeface="Consolas" panose="020B0609020204030204" pitchFamily="49" charset="0"/>
              </a:rPr>
              <a:t>probkowaniu</a:t>
            </a:r>
            <a:r>
              <a:rPr lang="pl-PL" sz="1050" dirty="0">
                <a:solidFill>
                  <a:srgbClr val="CE9178"/>
                </a:solidFill>
                <a:latin typeface="Consolas" panose="020B0609020204030204" pitchFamily="49" charset="0"/>
              </a:rPr>
              <a:t> trajektorii (CEM/MPPI lite).</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robot_state</a:t>
            </a:r>
            <a:r>
              <a:rPr lang="pl-PL" sz="1050" dirty="0">
                <a:solidFill>
                  <a:srgbClr val="CE9178"/>
                </a:solidFill>
                <a:latin typeface="Consolas" panose="020B0609020204030204" pitchFamily="49" charset="0"/>
              </a:rPr>
              <a:t>: [x, y, </a:t>
            </a:r>
            <a:r>
              <a:rPr lang="pl-PL" sz="1050" dirty="0" err="1">
                <a:solidFill>
                  <a:srgbClr val="CE9178"/>
                </a:solidFill>
                <a:latin typeface="Consolas" panose="020B0609020204030204" pitchFamily="49" charset="0"/>
              </a:rPr>
              <a:t>yaw</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ref_path</a:t>
            </a:r>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ndarray</a:t>
            </a:r>
            <a:r>
              <a:rPr lang="pl-PL" sz="1050" dirty="0">
                <a:solidFill>
                  <a:srgbClr val="CE9178"/>
                </a:solidFill>
                <a:latin typeface="Consolas" panose="020B0609020204030204" pitchFamily="49" charset="0"/>
              </a:rPr>
              <a:t> (M, 2) – referencja geometryczna</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obstacles</a:t>
            </a:r>
            <a:r>
              <a:rPr lang="pl-PL" sz="1050" dirty="0">
                <a:solidFill>
                  <a:srgbClr val="CE9178"/>
                </a:solidFill>
                <a:latin typeface="Consolas" panose="020B0609020204030204" pitchFamily="49" charset="0"/>
              </a:rPr>
              <a:t>: lista {'</a:t>
            </a:r>
            <a:r>
              <a:rPr lang="pl-PL" sz="1050" dirty="0" err="1">
                <a:solidFill>
                  <a:srgbClr val="CE9178"/>
                </a:solidFill>
                <a:latin typeface="Consolas" panose="020B0609020204030204" pitchFamily="49" charset="0"/>
              </a:rPr>
              <a:t>pos</a:t>
            </a:r>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x,y</a:t>
            </a:r>
            <a:r>
              <a:rPr lang="pl-PL" sz="1050" dirty="0">
                <a:solidFill>
                  <a:srgbClr val="CE9178"/>
                </a:solidFill>
                <a:latin typeface="Consolas" panose="020B0609020204030204" pitchFamily="49" charset="0"/>
              </a:rPr>
              <a:t>], 'r': </a:t>
            </a:r>
            <a:r>
              <a:rPr lang="pl-PL" sz="1050" dirty="0" err="1">
                <a:solidFill>
                  <a:srgbClr val="CE9178"/>
                </a:solidFill>
                <a:latin typeface="Consolas" panose="020B0609020204030204" pitchFamily="49" charset="0"/>
              </a:rPr>
              <a:t>float</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Zwraca optymalny wektor akcji [v, omega] dla pierwszego kroku.</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inf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best_action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0.0</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_</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range</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n_samples</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Losuj </a:t>
            </a:r>
            <a:r>
              <a:rPr lang="pl-PL" sz="1050" dirty="0" err="1">
                <a:solidFill>
                  <a:srgbClr val="6A9955"/>
                </a:solidFill>
                <a:latin typeface="Consolas" panose="020B0609020204030204" pitchFamily="49" charset="0"/>
              </a:rPr>
              <a:t>stala</a:t>
            </a:r>
            <a:r>
              <a:rPr lang="pl-PL" sz="1050" dirty="0">
                <a:solidFill>
                  <a:srgbClr val="6A9955"/>
                </a:solidFill>
                <a:latin typeface="Consolas" panose="020B0609020204030204" pitchFamily="49" charset="0"/>
              </a:rPr>
              <a:t> sekwencje (v, omega) na </a:t>
            </a:r>
            <a:r>
              <a:rPr lang="pl-PL" sz="1050" dirty="0" err="1">
                <a:solidFill>
                  <a:srgbClr val="6A9955"/>
                </a:solidFill>
                <a:latin typeface="Consolas" panose="020B0609020204030204" pitchFamily="49" charset="0"/>
              </a:rPr>
              <a:t>caly</a:t>
            </a:r>
            <a:r>
              <a:rPr lang="pl-PL" sz="1050" dirty="0">
                <a:solidFill>
                  <a:srgbClr val="6A9955"/>
                </a:solidFill>
                <a:latin typeface="Consolas" panose="020B0609020204030204" pitchFamily="49" charset="0"/>
              </a:rPr>
              <a:t> horyzont (uproszczenie)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v</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random</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uniform</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0.0</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v_max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random</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uniform</a:t>
            </a:r>
            <a:r>
              <a:rPr lang="pl-PL" sz="1050" dirty="0">
                <a:solidFill>
                  <a:srgbClr val="CCCCCC"/>
                </a:solidFill>
                <a:latin typeface="Consolas" panose="020B0609020204030204" pitchFamily="49" charset="0"/>
              </a:rPr>
              <a:t>(</a:t>
            </a:r>
            <a:r>
              <a:rPr lang="pl-PL" sz="1050" dirty="0">
                <a:solidFill>
                  <a:srgbClr val="D4D4D4"/>
                </a:solidFill>
                <a:latin typeface="Consolas" panose="020B0609020204030204" pitchFamily="49" charset="0"/>
              </a:rPr>
              <a:t>-</a:t>
            </a:r>
            <a:r>
              <a:rPr lang="pl-PL" sz="1050" dirty="0" err="1">
                <a:solidFill>
                  <a:srgbClr val="9CDCFE"/>
                </a:solidFill>
                <a:latin typeface="Consolas" panose="020B0609020204030204" pitchFamily="49" charset="0"/>
              </a:rPr>
              <a:t>omega_max</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omega_max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Symuluj trajektorie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x</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y</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yaw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robot_state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collision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FC1FF"/>
                </a:solidFill>
                <a:latin typeface="Consolas" panose="020B0609020204030204" pitchFamily="49" charset="0"/>
              </a:rPr>
              <a:t>False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k</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range</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N</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v</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cos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yaw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v</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sin</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yaw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yaw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Koszt: </a:t>
            </a:r>
            <a:r>
              <a:rPr lang="pl-PL" sz="1050" dirty="0" err="1">
                <a:solidFill>
                  <a:srgbClr val="6A9955"/>
                </a:solidFill>
                <a:latin typeface="Consolas" panose="020B0609020204030204" pitchFamily="49" charset="0"/>
              </a:rPr>
              <a:t>odleglosc</a:t>
            </a:r>
            <a:r>
              <a:rPr lang="pl-PL" sz="1050" dirty="0">
                <a:solidFill>
                  <a:srgbClr val="6A9955"/>
                </a:solidFill>
                <a:latin typeface="Consolas" panose="020B0609020204030204" pitchFamily="49" charset="0"/>
              </a:rPr>
              <a:t> od referencji (</a:t>
            </a:r>
            <a:r>
              <a:rPr lang="pl-PL" sz="1050" dirty="0" err="1">
                <a:solidFill>
                  <a:srgbClr val="6A9955"/>
                </a:solidFill>
                <a:latin typeface="Consolas" panose="020B0609020204030204" pitchFamily="49" charset="0"/>
              </a:rPr>
              <a:t>najblizszy</a:t>
            </a:r>
            <a:r>
              <a:rPr lang="pl-PL" sz="1050" dirty="0">
                <a:solidFill>
                  <a:srgbClr val="6A9955"/>
                </a:solidFill>
                <a:latin typeface="Consolas" panose="020B0609020204030204" pitchFamily="49" charset="0"/>
              </a:rPr>
              <a:t> punkt)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dists_ref</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linalg</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norm</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ref_path</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x</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y</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axis</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dists_ref</a:t>
            </a:r>
            <a:r>
              <a:rPr lang="pl-PL" sz="1050" dirty="0" err="1">
                <a:solidFill>
                  <a:srgbClr val="CCCCCC"/>
                </a:solidFill>
                <a:latin typeface="Consolas" panose="020B0609020204030204" pitchFamily="49" charset="0"/>
              </a:rPr>
              <a:t>.min</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Kara za przeszkody</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obs</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obstacles</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linalg</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norm</a:t>
            </a:r>
            <a:r>
              <a:rPr lang="pl-PL" sz="1050" dirty="0">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x</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y</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obs</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pos</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d</a:t>
            </a:r>
            <a:r>
              <a:rPr lang="pl-PL" sz="1050" dirty="0">
                <a:solidFill>
                  <a:srgbClr val="CCCCCC"/>
                </a:solidFill>
                <a:latin typeface="Consolas" panose="020B0609020204030204" pitchFamily="49" charset="0"/>
              </a:rPr>
              <a:t> </a:t>
            </a:r>
            <a:r>
              <a:rPr lang="pl-PL" sz="1050" dirty="0">
                <a:solidFill>
                  <a:srgbClr val="DCDCAA"/>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obs</a:t>
            </a:r>
            <a:r>
              <a:rPr lang="pl-PL" sz="1050" dirty="0" err="1">
                <a:solidFill>
                  <a:srgbClr val="CCCCCC"/>
                </a:solidFill>
                <a:latin typeface="Consolas" panose="020B0609020204030204" pitchFamily="49" charset="0"/>
              </a:rPr>
              <a:t>.get</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'r'</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0.5</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0.35</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200.0</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kara kolizji</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collision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4FC1FF"/>
                </a:solidFill>
                <a:latin typeface="Consolas" panose="020B0609020204030204" pitchFamily="49" charset="0"/>
              </a:rPr>
              <a:t>True</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Nagroda za </a:t>
            </a:r>
            <a:r>
              <a:rPr lang="pl-PL" sz="1050" dirty="0" err="1">
                <a:solidFill>
                  <a:srgbClr val="6A9955"/>
                </a:solidFill>
                <a:latin typeface="Consolas" panose="020B0609020204030204" pitchFamily="49" charset="0"/>
              </a:rPr>
              <a:t>predkosc</a:t>
            </a:r>
            <a:r>
              <a:rPr lang="pl-PL" sz="1050" dirty="0">
                <a:solidFill>
                  <a:srgbClr val="6A9955"/>
                </a:solidFill>
                <a:latin typeface="Consolas" panose="020B0609020204030204" pitchFamily="49" charset="0"/>
              </a:rPr>
              <a:t> (do przodu)</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0.3</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v</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cos</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yaw</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robot_state</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Nie wybieraj trajektorii kolizyjnych </a:t>
            </a:r>
            <a:r>
              <a:rPr lang="pl-PL" sz="1050" dirty="0" err="1">
                <a:solidFill>
                  <a:srgbClr val="6A9955"/>
                </a:solidFill>
                <a:latin typeface="Consolas" panose="020B0609020204030204" pitchFamily="49" charset="0"/>
              </a:rPr>
              <a:t>jesli</a:t>
            </a:r>
            <a:r>
              <a:rPr lang="pl-PL" sz="1050" dirty="0">
                <a:solidFill>
                  <a:srgbClr val="6A9955"/>
                </a:solidFill>
                <a:latin typeface="Consolas" panose="020B0609020204030204" pitchFamily="49" charset="0"/>
              </a:rPr>
              <a:t> jest lepsza</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a:solidFill>
                  <a:srgbClr val="569CD6"/>
                </a:solidFill>
                <a:latin typeface="Consolas" panose="020B0609020204030204" pitchFamily="49" charset="0"/>
              </a:rPr>
              <a:t>not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collision</a:t>
            </a:r>
            <a:r>
              <a:rPr lang="pl-PL" sz="1050" dirty="0">
                <a:solidFill>
                  <a:srgbClr val="CCCCCC"/>
                </a:solidFill>
                <a:latin typeface="Consolas" panose="020B0609020204030204" pitchFamily="49" charset="0"/>
              </a:rPr>
              <a:t> </a:t>
            </a:r>
            <a:r>
              <a:rPr lang="pl-PL" sz="1050" dirty="0" err="1">
                <a:solidFill>
                  <a:srgbClr val="569CD6"/>
                </a:solidFill>
                <a:latin typeface="Consolas" panose="020B0609020204030204" pitchFamily="49" charset="0"/>
              </a:rPr>
              <a:t>or</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inf</a:t>
            </a:r>
            <a:r>
              <a:rPr lang="pl-PL" sz="1050" dirty="0">
                <a:solidFill>
                  <a:srgbClr val="CE9178"/>
                </a:solidFill>
                <a:latin typeface="Consolas" panose="020B0609020204030204" pitchFamily="49" charset="0"/>
              </a:rPr>
              <a: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if</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best_cost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best_cost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cost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best_action</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v</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best_action</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[v [m/s], omega [rad/s]]</a:t>
            </a:r>
            <a:endParaRPr lang="pl-PL" sz="1050" b="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312754" y="4453054"/>
            <a:ext cx="8465486" cy="484706"/>
          </a:xfrm>
          <a:prstGeom prst="rect">
            <a:avLst/>
          </a:prstGeom>
          <a:noFill/>
          <a:ln/>
        </p:spPr>
        <p:txBody>
          <a:bodyPr wrap="square" lIns="0" tIns="0" rIns="127000" bIns="0" rtlCol="0" anchor="ctr"/>
          <a:lstStyle/>
          <a:p>
            <a:pPr algn="ctr"/>
            <a:r>
              <a:rPr lang="pl-PL" sz="1500" spc="-50" dirty="0" err="1" smtClean="0">
                <a:solidFill>
                  <a:schemeClr val="bg1"/>
                </a:solidFill>
                <a:latin typeface="Calibri" pitchFamily="34" charset="0"/>
                <a:ea typeface="Calibri" pitchFamily="34" charset="-122"/>
                <a:cs typeface="Calibri" pitchFamily="34" charset="-120"/>
              </a:rPr>
              <a:t>n_samples</a:t>
            </a:r>
            <a:r>
              <a:rPr lang="pl-PL" sz="1500" spc="-50" dirty="0" smtClean="0">
                <a:solidFill>
                  <a:schemeClr val="bg1"/>
                </a:solidFill>
                <a:latin typeface="Calibri" pitchFamily="34" charset="0"/>
                <a:ea typeface="Calibri" pitchFamily="34" charset="-122"/>
                <a:cs typeface="Calibri" pitchFamily="34" charset="-120"/>
              </a:rPr>
              <a:t>=200 </a:t>
            </a:r>
            <a:r>
              <a:rPr lang="pl-PL" sz="1500" spc="-50" dirty="0">
                <a:solidFill>
                  <a:schemeClr val="bg1"/>
                </a:solidFill>
                <a:latin typeface="Calibri" pitchFamily="34" charset="0"/>
                <a:ea typeface="Calibri" pitchFamily="34" charset="-122"/>
                <a:cs typeface="Calibri" pitchFamily="34" charset="-120"/>
              </a:rPr>
              <a:t>trajektorii × N=10 kroków; prawdziwy MPC </a:t>
            </a:r>
            <a:r>
              <a:rPr lang="pl-PL" sz="1500" spc="-50" dirty="0" err="1">
                <a:solidFill>
                  <a:schemeClr val="bg1"/>
                </a:solidFill>
                <a:latin typeface="Calibri" pitchFamily="34" charset="0"/>
                <a:ea typeface="Calibri" pitchFamily="34" charset="-122"/>
                <a:cs typeface="Calibri" pitchFamily="34" charset="-120"/>
              </a:rPr>
              <a:t>uzywa</a:t>
            </a:r>
            <a:r>
              <a:rPr lang="pl-PL" sz="1500" spc="-50" dirty="0">
                <a:solidFill>
                  <a:schemeClr val="bg1"/>
                </a:solidFill>
                <a:latin typeface="Calibri" pitchFamily="34" charset="0"/>
                <a:ea typeface="Calibri" pitchFamily="34" charset="-122"/>
                <a:cs typeface="Calibri" pitchFamily="34" charset="-120"/>
              </a:rPr>
              <a:t> </a:t>
            </a:r>
            <a:r>
              <a:rPr lang="pl-PL" sz="1500" spc="-50" dirty="0" err="1">
                <a:solidFill>
                  <a:schemeClr val="bg1"/>
                </a:solidFill>
                <a:latin typeface="Calibri" pitchFamily="34" charset="0"/>
                <a:ea typeface="Calibri" pitchFamily="34" charset="-122"/>
                <a:cs typeface="Calibri" pitchFamily="34" charset="-120"/>
              </a:rPr>
              <a:t>solvera</a:t>
            </a:r>
            <a:r>
              <a:rPr lang="pl-PL" sz="1500" spc="-50" dirty="0">
                <a:solidFill>
                  <a:schemeClr val="bg1"/>
                </a:solidFill>
                <a:latin typeface="Calibri" pitchFamily="34" charset="0"/>
                <a:ea typeface="Calibri" pitchFamily="34" charset="-122"/>
                <a:cs typeface="Calibri" pitchFamily="34" charset="-120"/>
              </a:rPr>
              <a:t> QP (</a:t>
            </a:r>
            <a:r>
              <a:rPr lang="pl-PL" sz="1500" spc="-50" dirty="0" err="1">
                <a:solidFill>
                  <a:schemeClr val="bg1"/>
                </a:solidFill>
                <a:latin typeface="Calibri" pitchFamily="34" charset="0"/>
                <a:ea typeface="Calibri" pitchFamily="34" charset="-122"/>
                <a:cs typeface="Calibri" pitchFamily="34" charset="-120"/>
              </a:rPr>
              <a:t>osqp</a:t>
            </a:r>
            <a:r>
              <a:rPr lang="pl-PL" sz="1500" spc="-50" dirty="0">
                <a:solidFill>
                  <a:schemeClr val="bg1"/>
                </a:solidFill>
                <a:latin typeface="Calibri" pitchFamily="34" charset="0"/>
                <a:ea typeface="Calibri" pitchFamily="34" charset="-122"/>
                <a:cs typeface="Calibri" pitchFamily="34" charset="-120"/>
              </a:rPr>
              <a:t>/</a:t>
            </a:r>
            <a:r>
              <a:rPr lang="pl-PL" sz="1500" spc="-50" dirty="0" err="1">
                <a:solidFill>
                  <a:schemeClr val="bg1"/>
                </a:solidFill>
                <a:latin typeface="Calibri" pitchFamily="34" charset="0"/>
                <a:ea typeface="Calibri" pitchFamily="34" charset="-122"/>
                <a:cs typeface="Calibri" pitchFamily="34" charset="-120"/>
              </a:rPr>
              <a:t>casadi</a:t>
            </a:r>
            <a:r>
              <a:rPr lang="pl-PL" sz="1500" spc="-50" dirty="0">
                <a:solidFill>
                  <a:schemeClr val="bg1"/>
                </a:solidFill>
                <a:latin typeface="Calibri" pitchFamily="34" charset="0"/>
                <a:ea typeface="Calibri" pitchFamily="34" charset="-122"/>
                <a:cs typeface="Calibri" pitchFamily="34" charset="-120"/>
              </a:rPr>
              <a:t>) z ograniczeniami </a:t>
            </a:r>
            <a:r>
              <a:rPr lang="pl-PL" sz="1500" spc="-50" dirty="0" smtClean="0">
                <a:solidFill>
                  <a:schemeClr val="bg1"/>
                </a:solidFill>
                <a:latin typeface="Calibri" pitchFamily="34" charset="0"/>
                <a:ea typeface="Calibri" pitchFamily="34" charset="-122"/>
                <a:cs typeface="Calibri" pitchFamily="34" charset="-120"/>
              </a:rPr>
              <a:t>ZMP</a:t>
            </a:r>
            <a:endParaRPr lang="pl-PL" sz="1500" spc="-50" dirty="0">
              <a:solidFill>
                <a:schemeClr val="bg1"/>
              </a:solidFill>
              <a:latin typeface="Calibri" pitchFamily="34" charset="0"/>
              <a:ea typeface="Calibri" pitchFamily="34" charset="-122"/>
              <a:cs typeface="Calibri" pitchFamily="34" charset="-120"/>
            </a:endParaRPr>
          </a:p>
        </p:txBody>
      </p:sp>
      <p:sp>
        <p:nvSpPr>
          <p:cNvPr id="13" name="Shape 5"/>
          <p:cNvSpPr/>
          <p:nvPr/>
        </p:nvSpPr>
        <p:spPr>
          <a:xfrm>
            <a:off x="8048578" y="1115568"/>
            <a:ext cx="146304" cy="146304"/>
          </a:xfrm>
          <a:prstGeom prst="ellipse">
            <a:avLst/>
          </a:prstGeom>
          <a:solidFill>
            <a:srgbClr val="F72585"/>
          </a:solidFill>
          <a:ln w="12700">
            <a:solidFill>
              <a:srgbClr val="F72585"/>
            </a:solidFill>
            <a:prstDash val="solid"/>
          </a:ln>
        </p:spPr>
      </p:sp>
      <p:sp>
        <p:nvSpPr>
          <p:cNvPr id="14" name="Shape 6"/>
          <p:cNvSpPr/>
          <p:nvPr/>
        </p:nvSpPr>
        <p:spPr>
          <a:xfrm>
            <a:off x="8304610" y="1115568"/>
            <a:ext cx="146304" cy="146304"/>
          </a:xfrm>
          <a:prstGeom prst="ellipse">
            <a:avLst/>
          </a:prstGeom>
          <a:solidFill>
            <a:srgbClr val="FFD60A"/>
          </a:solidFill>
          <a:ln w="12700">
            <a:solidFill>
              <a:srgbClr val="FFD60A"/>
            </a:solidFill>
            <a:prstDash val="solid"/>
          </a:ln>
        </p:spPr>
      </p:sp>
      <p:sp>
        <p:nvSpPr>
          <p:cNvPr id="15" name="Shape 7"/>
          <p:cNvSpPr/>
          <p:nvPr/>
        </p:nvSpPr>
        <p:spPr>
          <a:xfrm>
            <a:off x="8560642" y="1115568"/>
            <a:ext cx="146304" cy="146304"/>
          </a:xfrm>
          <a:prstGeom prst="ellipse">
            <a:avLst/>
          </a:prstGeom>
          <a:solidFill>
            <a:srgbClr val="C3F584"/>
          </a:solidFill>
          <a:ln w="12700">
            <a:solidFill>
              <a:srgbClr val="C3F584"/>
            </a:solidFill>
            <a:prstDash val="solid"/>
          </a:ln>
        </p:spPr>
      </p:sp>
      <p:sp>
        <p:nvSpPr>
          <p:cNvPr id="7" name="Prostokąt 6"/>
          <p:cNvSpPr/>
          <p:nvPr/>
        </p:nvSpPr>
        <p:spPr>
          <a:xfrm>
            <a:off x="246888" y="745724"/>
            <a:ext cx="6153912" cy="276999"/>
          </a:xfrm>
          <a:prstGeom prst="rect">
            <a:avLst/>
          </a:prstGeom>
        </p:spPr>
        <p:txBody>
          <a:bodyPr wrap="square">
            <a:spAutoFit/>
          </a:bodyPr>
          <a:lstStyle/>
          <a:p>
            <a:r>
              <a:rPr lang="pl-PL" sz="1200" i="1" dirty="0">
                <a:solidFill>
                  <a:srgbClr val="90C8D8"/>
                </a:solidFill>
              </a:rPr>
              <a:t>Optymalizacja sekwencji sterowań na horyzoncie N kroków bez </a:t>
            </a:r>
            <a:r>
              <a:rPr lang="pl-PL" sz="1200" i="1" dirty="0" err="1">
                <a:solidFill>
                  <a:srgbClr val="90C8D8"/>
                </a:solidFill>
              </a:rPr>
              <a:t>solvera</a:t>
            </a:r>
            <a:r>
              <a:rPr lang="pl-PL" sz="1200" i="1" dirty="0">
                <a:solidFill>
                  <a:srgbClr val="90C8D8"/>
                </a:solidFill>
              </a:rPr>
              <a:t> QP</a:t>
            </a:r>
          </a:p>
        </p:txBody>
      </p:sp>
    </p:spTree>
    <p:extLst>
      <p:ext uri="{BB962C8B-B14F-4D97-AF65-F5344CB8AC3E}">
        <p14:creationId xmlns:p14="http://schemas.microsoft.com/office/powerpoint/2010/main" val="17983880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1A3550"/>
          </a:solidFill>
          <a:ln w="12700">
            <a:solidFill>
              <a:srgbClr val="1A3550"/>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lvl="0"/>
            <a:r>
              <a:rPr lang="en-US" sz="900" b="1" kern="0" spc="200" dirty="0" smtClean="0">
                <a:solidFill>
                  <a:srgbClr val="00B4D8"/>
                </a:solidFill>
                <a:latin typeface="Trebuchet MS" pitchFamily="34" charset="0"/>
                <a:ea typeface="Trebuchet MS" pitchFamily="34" charset="-122"/>
                <a:cs typeface="Trebuchet MS" pitchFamily="34" charset="-120"/>
              </a:rPr>
              <a:t>SEKCJA </a:t>
            </a:r>
            <a:r>
              <a:rPr lang="en-US" sz="900" b="1" kern="0" spc="200" dirty="0">
                <a:solidFill>
                  <a:srgbClr val="00B4D8"/>
                </a:solidFill>
                <a:latin typeface="Trebuchet MS" pitchFamily="34" charset="0"/>
                <a:ea typeface="Trebuchet MS" pitchFamily="34" charset="-122"/>
                <a:cs typeface="Trebuchet MS" pitchFamily="34" charset="-120"/>
              </a:rPr>
              <a:t>2 | REPLANOWANIE </a:t>
            </a:r>
            <a:endParaRPr lang="en-US" sz="900" dirty="0">
              <a:solidFill>
                <a:prstClr val="black"/>
              </a:solidFill>
            </a:endParaRPr>
          </a:p>
          <a:p>
            <a:pPr marL="0" indent="0">
              <a:buNone/>
            </a:pP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pl-PL" sz="2400" b="1" dirty="0" smtClean="0">
                <a:solidFill>
                  <a:srgbClr val="FFFFFF"/>
                </a:solidFill>
                <a:latin typeface="Trebuchet MS" pitchFamily="34" charset="0"/>
                <a:ea typeface="Trebuchet MS" pitchFamily="34" charset="-122"/>
                <a:cs typeface="Trebuchet MS" pitchFamily="34" charset="-120"/>
              </a:rPr>
              <a:t>K</a:t>
            </a:r>
            <a:r>
              <a:rPr lang="en-US" sz="2400" b="1" dirty="0" err="1" smtClean="0">
                <a:solidFill>
                  <a:srgbClr val="FFFFFF"/>
                </a:solidFill>
                <a:latin typeface="Trebuchet MS" pitchFamily="34" charset="0"/>
                <a:ea typeface="Trebuchet MS" pitchFamily="34" charset="-122"/>
                <a:cs typeface="Trebuchet MS" pitchFamily="34" charset="-120"/>
              </a:rPr>
              <a:t>iedy</a:t>
            </a:r>
            <a:r>
              <a:rPr lang="en-US" sz="2400" b="1" dirty="0" smtClean="0">
                <a:solidFill>
                  <a:srgbClr val="FFFFFF"/>
                </a:solidFill>
                <a:latin typeface="Trebuchet MS" pitchFamily="34" charset="0"/>
                <a:ea typeface="Trebuchet MS" pitchFamily="34" charset="-122"/>
                <a:cs typeface="Trebuchet MS" pitchFamily="34" charset="-120"/>
              </a:rPr>
              <a:t> </a:t>
            </a:r>
            <a:r>
              <a:rPr lang="en-US" sz="2400" b="1" dirty="0" err="1">
                <a:solidFill>
                  <a:srgbClr val="FFFFFF"/>
                </a:solidFill>
                <a:latin typeface="Trebuchet MS" pitchFamily="34" charset="0"/>
                <a:ea typeface="Trebuchet MS" pitchFamily="34" charset="-122"/>
                <a:cs typeface="Trebuchet MS" pitchFamily="34" charset="-120"/>
              </a:rPr>
              <a:t>i</a:t>
            </a:r>
            <a:r>
              <a:rPr lang="en-US" sz="2400" b="1" dirty="0">
                <a:solidFill>
                  <a:srgbClr val="FFFFFF"/>
                </a:solidFill>
                <a:latin typeface="Trebuchet MS" pitchFamily="34" charset="0"/>
                <a:ea typeface="Trebuchet MS" pitchFamily="34" charset="-122"/>
                <a:cs typeface="Trebuchet MS" pitchFamily="34" charset="-120"/>
              </a:rPr>
              <a:t> </a:t>
            </a:r>
            <a:r>
              <a:rPr lang="en-US" sz="2400" b="1" dirty="0" err="1" smtClean="0">
                <a:solidFill>
                  <a:srgbClr val="FFFFFF"/>
                </a:solidFill>
                <a:latin typeface="Trebuchet MS" pitchFamily="34" charset="0"/>
                <a:ea typeface="Trebuchet MS" pitchFamily="34" charset="-122"/>
                <a:cs typeface="Trebuchet MS" pitchFamily="34" charset="-120"/>
              </a:rPr>
              <a:t>jak</a:t>
            </a:r>
            <a:r>
              <a:rPr lang="pl-PL" sz="2400" b="1" dirty="0" smtClean="0">
                <a:solidFill>
                  <a:srgbClr val="FFFFFF"/>
                </a:solidFill>
                <a:latin typeface="Trebuchet MS" pitchFamily="34" charset="0"/>
                <a:ea typeface="Trebuchet MS" pitchFamily="34" charset="-122"/>
                <a:cs typeface="Trebuchet MS" pitchFamily="34" charset="-120"/>
              </a:rPr>
              <a:t> </a:t>
            </a:r>
            <a:r>
              <a:rPr lang="pl-PL" sz="2400" b="1" dirty="0" err="1" smtClean="0">
                <a:solidFill>
                  <a:srgbClr val="FFFFFF"/>
                </a:solidFill>
                <a:latin typeface="Trebuchet MS" pitchFamily="34" charset="0"/>
                <a:ea typeface="Trebuchet MS" pitchFamily="34" charset="-122"/>
                <a:cs typeface="Trebuchet MS" pitchFamily="34" charset="-120"/>
              </a:rPr>
              <a:t>przeplanowywać</a:t>
            </a:r>
            <a:r>
              <a:rPr lang="pl-PL" sz="2400" b="1" dirty="0" smtClean="0">
                <a:solidFill>
                  <a:srgbClr val="FFFFFF"/>
                </a:solidFill>
                <a:latin typeface="Trebuchet MS" pitchFamily="34" charset="0"/>
                <a:ea typeface="Trebuchet MS" pitchFamily="34" charset="-122"/>
                <a:cs typeface="Trebuchet MS" pitchFamily="34" charset="-120"/>
              </a:rPr>
              <a:t> online</a:t>
            </a:r>
            <a:endParaRPr lang="en-US" sz="2400" dirty="0"/>
          </a:p>
        </p:txBody>
      </p:sp>
      <p:sp>
        <p:nvSpPr>
          <p:cNvPr id="6" name="Shape 4"/>
          <p:cNvSpPr/>
          <p:nvPr/>
        </p:nvSpPr>
        <p:spPr>
          <a:xfrm>
            <a:off x="274320" y="1097280"/>
            <a:ext cx="4160520" cy="2560320"/>
          </a:xfrm>
          <a:prstGeom prst="rect">
            <a:avLst/>
          </a:prstGeom>
          <a:solidFill>
            <a:srgbClr val="EFF6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0"/>
            <a:ext cx="4160520" cy="2560320"/>
          </a:xfrm>
          <a:prstGeom prst="rect">
            <a:avLst/>
          </a:prstGeom>
          <a:solidFill>
            <a:srgbClr val="FFF1F5"/>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411480"/>
          </a:xfrm>
          <a:prstGeom prst="rect">
            <a:avLst/>
          </a:prstGeom>
          <a:solidFill>
            <a:srgbClr val="1A3550"/>
          </a:solidFill>
          <a:ln w="12700">
            <a:solidFill>
              <a:srgbClr val="1A3550"/>
            </a:solidFill>
            <a:prstDash val="solid"/>
          </a:ln>
        </p:spPr>
      </p:sp>
      <p:sp>
        <p:nvSpPr>
          <p:cNvPr id="9" name="Text 7"/>
          <p:cNvSpPr/>
          <p:nvPr/>
        </p:nvSpPr>
        <p:spPr>
          <a:xfrm>
            <a:off x="45720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Replan globalny </a:t>
            </a:r>
            <a:r>
              <a:rPr lang="en-US" sz="1600" dirty="0">
                <a:solidFill>
                  <a:srgbClr val="FFFFFF"/>
                </a:solidFill>
                <a:latin typeface="Trebuchet MS" pitchFamily="34" charset="0"/>
                <a:ea typeface="Trebuchet MS" pitchFamily="34" charset="-122"/>
                <a:cs typeface="Trebuchet MS" pitchFamily="34" charset="-120"/>
              </a:rPr>
              <a:t>(rzadki)</a:t>
            </a:r>
            <a:endParaRPr lang="en-US" sz="1600" dirty="0"/>
          </a:p>
        </p:txBody>
      </p:sp>
      <p:sp>
        <p:nvSpPr>
          <p:cNvPr id="10" name="Shape 8"/>
          <p:cNvSpPr/>
          <p:nvPr/>
        </p:nvSpPr>
        <p:spPr>
          <a:xfrm>
            <a:off x="4709160" y="1097280"/>
            <a:ext cx="4160520" cy="411480"/>
          </a:xfrm>
          <a:prstGeom prst="rect">
            <a:avLst/>
          </a:prstGeom>
          <a:solidFill>
            <a:srgbClr val="FB923C"/>
          </a:solidFill>
          <a:ln w="12700">
            <a:solidFill>
              <a:srgbClr val="FB923C"/>
            </a:solidFill>
            <a:prstDash val="solid"/>
          </a:ln>
        </p:spPr>
      </p:sp>
      <p:sp>
        <p:nvSpPr>
          <p:cNvPr id="11" name="Text 9"/>
          <p:cNvSpPr/>
          <p:nvPr/>
        </p:nvSpPr>
        <p:spPr>
          <a:xfrm>
            <a:off x="4892040" y="1115568"/>
            <a:ext cx="3794760" cy="365760"/>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Replan lokalny </a:t>
            </a:r>
            <a:r>
              <a:rPr lang="en-US" sz="1600" dirty="0">
                <a:solidFill>
                  <a:srgbClr val="FFFFFF"/>
                </a:solidFill>
                <a:latin typeface="Trebuchet MS" pitchFamily="34" charset="0"/>
                <a:ea typeface="Trebuchet MS" pitchFamily="34" charset="-122"/>
                <a:cs typeface="Trebuchet MS" pitchFamily="34" charset="-120"/>
              </a:rPr>
              <a:t>(częsty)</a:t>
            </a:r>
            <a:endParaRPr lang="en-US" sz="1600" dirty="0"/>
          </a:p>
        </p:txBody>
      </p:sp>
      <p:sp>
        <p:nvSpPr>
          <p:cNvPr id="12" name="Text 10"/>
          <p:cNvSpPr/>
          <p:nvPr/>
        </p:nvSpPr>
        <p:spPr>
          <a:xfrm>
            <a:off x="367991" y="1615068"/>
            <a:ext cx="4006631" cy="1729123"/>
          </a:xfrm>
          <a:prstGeom prst="rect">
            <a:avLst/>
          </a:prstGeom>
          <a:noFill/>
          <a:ln/>
        </p:spPr>
        <p:txBody>
          <a:bodyPr wrap="square" lIns="63500" tIns="36000" rIns="101600" bIns="0" rtlCol="0" anchor="t">
            <a:spAutoFit/>
          </a:bodyPr>
          <a:lstStyle/>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Gdy cel misji zostaje zmieniony</a:t>
            </a:r>
            <a:endParaRPr lang="en-US" sz="1400" dirty="0"/>
          </a:p>
          <a:p>
            <a:pPr marL="144000" indent="-144000">
              <a:spcAft>
                <a:spcPts val="1200"/>
              </a:spcAft>
              <a:buSzPct val="100000"/>
              <a:buChar char="•"/>
            </a:pPr>
            <a:r>
              <a:rPr lang="en-US" sz="1400" spc="-40" dirty="0">
                <a:solidFill>
                  <a:srgbClr val="0D1B2A"/>
                </a:solidFill>
                <a:latin typeface="Calibri" pitchFamily="34" charset="0"/>
                <a:ea typeface="Calibri" pitchFamily="34" charset="-122"/>
                <a:cs typeface="Calibri" pitchFamily="34" charset="-120"/>
              </a:rPr>
              <a:t>Gdy mapa zasadniczo się zmienia </a:t>
            </a:r>
            <a:r>
              <a:rPr lang="en-US" sz="1400" i="1" spc="-40" dirty="0">
                <a:solidFill>
                  <a:srgbClr val="0D1B2A"/>
                </a:solidFill>
                <a:latin typeface="Calibri" pitchFamily="34" charset="0"/>
                <a:ea typeface="Calibri" pitchFamily="34" charset="-122"/>
                <a:cs typeface="Calibri" pitchFamily="34" charset="-120"/>
              </a:rPr>
              <a:t>(zamknięte przejście)</a:t>
            </a:r>
            <a:endParaRPr lang="en-US" sz="1400" i="1" spc="-4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Co 5–30 sekund lub na żądanie operatora</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Kosztowny obliczeniowo – całkowite A*</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Alternatywa: D* Lite </a:t>
            </a:r>
            <a:r>
              <a:rPr lang="en-US" sz="1400" i="1" dirty="0">
                <a:solidFill>
                  <a:srgbClr val="0D1B2A"/>
                </a:solidFill>
                <a:latin typeface="Calibri" pitchFamily="34" charset="0"/>
                <a:ea typeface="Calibri" pitchFamily="34" charset="-122"/>
                <a:cs typeface="Calibri" pitchFamily="34" charset="-120"/>
              </a:rPr>
              <a:t>(przyrostowy A*)</a:t>
            </a:r>
            <a:endParaRPr lang="en-US" sz="1400" i="1" dirty="0"/>
          </a:p>
        </p:txBody>
      </p:sp>
      <p:sp>
        <p:nvSpPr>
          <p:cNvPr id="13" name="Text 11"/>
          <p:cNvSpPr/>
          <p:nvPr/>
        </p:nvSpPr>
        <p:spPr>
          <a:xfrm>
            <a:off x="4862304" y="1600200"/>
            <a:ext cx="3724136" cy="1765474"/>
          </a:xfrm>
          <a:prstGeom prst="rect">
            <a:avLst/>
          </a:prstGeom>
          <a:noFill/>
          <a:ln/>
        </p:spPr>
        <p:txBody>
          <a:bodyPr wrap="square" lIns="63500" tIns="36000" rIns="101600" bIns="0" rtlCol="0" anchor="t">
            <a:spAutoFit/>
          </a:bodyPr>
          <a:lstStyle/>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Co 50–100 ms w każdym cyklu planisty</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Okno lokalne wokół bieżącej pozycji robota</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Reaguje na nowe przeszkody dynamiczne</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Możliwy na CPU embarked 1–2 ms</a:t>
            </a:r>
            <a:endParaRPr lang="en-US" sz="1400" dirty="0"/>
          </a:p>
          <a:p>
            <a:pPr marL="144000" indent="-144000">
              <a:spcAft>
                <a:spcPts val="1200"/>
              </a:spcAft>
              <a:buSzPct val="100000"/>
              <a:buChar char="•"/>
            </a:pPr>
            <a:r>
              <a:rPr lang="en-US" sz="1400" dirty="0">
                <a:solidFill>
                  <a:srgbClr val="0D1B2A"/>
                </a:solidFill>
                <a:latin typeface="Calibri" pitchFamily="34" charset="0"/>
                <a:ea typeface="Calibri" pitchFamily="34" charset="-122"/>
                <a:cs typeface="Calibri" pitchFamily="34" charset="-120"/>
              </a:rPr>
              <a:t>Brak zmiany ścieżki globalnej</a:t>
            </a:r>
            <a:endParaRPr lang="en-US" sz="1400" dirty="0"/>
          </a:p>
        </p:txBody>
      </p:sp>
      <p:sp>
        <p:nvSpPr>
          <p:cNvPr id="14" name="Prostokąt 13"/>
          <p:cNvSpPr/>
          <p:nvPr/>
        </p:nvSpPr>
        <p:spPr>
          <a:xfrm>
            <a:off x="274320" y="3823745"/>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err="1">
                <a:solidFill>
                  <a:schemeClr val="bg1"/>
                </a:solidFill>
              </a:rPr>
              <a:t>Przeplanowywanie</a:t>
            </a:r>
            <a:r>
              <a:rPr lang="pl-PL" sz="1400" dirty="0">
                <a:solidFill>
                  <a:schemeClr val="bg1"/>
                </a:solidFill>
              </a:rPr>
              <a:t> może odbywać się na dwóch poziomach. Globalne przeplanowanie jest kosztowne i wykonuje się je rzadko, na przykład gdy cel się zmieni albo główne przejście zostanie zablokowane. Lokalne przeplanowanie działa znacznie częściej, nawet co kilkadziesiąt milisekund, i odpowiada za reakcje na przeszkody w pobliżu robota. W praktyce oba poziomy powinny współpracować: lokalny planista próbuje ominąć problem, a jeśli przeszkoda blokuje drogę przez dłuższy czas, system uruchamia nowy plan globalny.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2 | STABILNOŚĆ A PLAN</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pl-PL" sz="2400" b="1" dirty="0" smtClean="0">
                <a:solidFill>
                  <a:srgbClr val="FFFFFF"/>
                </a:solidFill>
                <a:latin typeface="Trebuchet MS" pitchFamily="34" charset="0"/>
                <a:ea typeface="Trebuchet MS" pitchFamily="34" charset="-122"/>
                <a:cs typeface="Trebuchet MS" pitchFamily="34" charset="-120"/>
              </a:rPr>
              <a:t>Konflikt między planem,</a:t>
            </a:r>
            <a:r>
              <a:rPr lang="en-US" sz="2400" b="1" dirty="0" smtClean="0">
                <a:solidFill>
                  <a:srgbClr val="FFFFFF"/>
                </a:solidFill>
                <a:latin typeface="Trebuchet MS" pitchFamily="34" charset="0"/>
                <a:ea typeface="Trebuchet MS" pitchFamily="34" charset="-122"/>
                <a:cs typeface="Trebuchet MS" pitchFamily="34" charset="-120"/>
              </a:rPr>
              <a:t> </a:t>
            </a:r>
            <a:r>
              <a:rPr lang="en-US" sz="2400" b="1" dirty="0">
                <a:solidFill>
                  <a:srgbClr val="FFFFFF"/>
                </a:solidFill>
                <a:latin typeface="Trebuchet MS" pitchFamily="34" charset="0"/>
                <a:ea typeface="Trebuchet MS" pitchFamily="34" charset="-122"/>
                <a:cs typeface="Trebuchet MS" pitchFamily="34" charset="-120"/>
              </a:rPr>
              <a:t>a stabilnością</a:t>
            </a:r>
            <a:endParaRPr lang="en-US" sz="2400" dirty="0"/>
          </a:p>
        </p:txBody>
      </p:sp>
      <p:sp>
        <p:nvSpPr>
          <p:cNvPr id="6" name="Shape 4"/>
          <p:cNvSpPr/>
          <p:nvPr/>
        </p:nvSpPr>
        <p:spPr>
          <a:xfrm>
            <a:off x="274320" y="1097280"/>
            <a:ext cx="8595360" cy="2746174"/>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29444" y="1141652"/>
            <a:ext cx="8585956" cy="2575508"/>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Problem</a:t>
            </a:r>
            <a:r>
              <a:rPr lang="en-US" sz="1500" dirty="0">
                <a:solidFill>
                  <a:srgbClr val="0D1B2A"/>
                </a:solidFill>
                <a:latin typeface="Calibri" pitchFamily="34" charset="0"/>
                <a:ea typeface="Calibri" pitchFamily="34" charset="-122"/>
                <a:cs typeface="Calibri" pitchFamily="34" charset="-120"/>
              </a:rPr>
              <a:t>: optymalny manewr unikania może wymagać szybkiego skrętu lub dużej prędkości bocznej</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Konsekwencja</a:t>
            </a:r>
            <a:r>
              <a:rPr lang="en-US" sz="1500" dirty="0">
                <a:solidFill>
                  <a:srgbClr val="0D1B2A"/>
                </a:solidFill>
                <a:latin typeface="Calibri" pitchFamily="34" charset="0"/>
                <a:ea typeface="Calibri" pitchFamily="34" charset="-122"/>
                <a:cs typeface="Calibri" pitchFamily="34" charset="-120"/>
              </a:rPr>
              <a:t>: środek masy wychodzi poza wielobok podparcia → utrata równowagi</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Reguła nadrzędna</a:t>
            </a:r>
            <a:r>
              <a:rPr lang="en-US" sz="1500" dirty="0">
                <a:solidFill>
                  <a:srgbClr val="0D1B2A"/>
                </a:solidFill>
                <a:latin typeface="Calibri" pitchFamily="34" charset="0"/>
                <a:ea typeface="Calibri" pitchFamily="34" charset="-122"/>
                <a:cs typeface="Calibri" pitchFamily="34" charset="-120"/>
              </a:rPr>
              <a:t>: stabilność &gt; unikanie kolizji &gt; optymalizacja trasy</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Implementacja</a:t>
            </a:r>
            <a:r>
              <a:rPr lang="en-US" sz="1500" dirty="0">
                <a:solidFill>
                  <a:srgbClr val="0D1B2A"/>
                </a:solidFill>
                <a:latin typeface="Calibri" pitchFamily="34" charset="0"/>
                <a:ea typeface="Calibri" pitchFamily="34" charset="-122"/>
                <a:cs typeface="Calibri" pitchFamily="34" charset="-120"/>
              </a:rPr>
              <a:t>: każda kandydatka trajektoria lokalnej jest filtrowana przez weryfikator ZMP</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Weryfikator ZMP</a:t>
            </a:r>
            <a:r>
              <a:rPr lang="en-US" sz="1500" dirty="0">
                <a:solidFill>
                  <a:srgbClr val="0D1B2A"/>
                </a:solidFill>
                <a:latin typeface="Calibri" pitchFamily="34" charset="0"/>
                <a:ea typeface="Calibri" pitchFamily="34" charset="-122"/>
                <a:cs typeface="Calibri" pitchFamily="34" charset="-120"/>
              </a:rPr>
              <a:t>: odrzuca trajektorie, gdzie przewidywany ZMP wychodzi poza margines bezpieczeństwa</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Efekt</a:t>
            </a:r>
            <a:r>
              <a:rPr lang="en-US" sz="1500" dirty="0">
                <a:solidFill>
                  <a:srgbClr val="0D1B2A"/>
                </a:solidFill>
                <a:latin typeface="Calibri" pitchFamily="34" charset="0"/>
                <a:ea typeface="Calibri" pitchFamily="34" charset="-122"/>
                <a:cs typeface="Calibri" pitchFamily="34" charset="-120"/>
              </a:rPr>
              <a:t>: planista lokalny preferuje wolniejsze, bardziej konserwatywne manewry w trudnym terenie</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Parametr</a:t>
            </a:r>
            <a:r>
              <a:rPr lang="en-US" sz="1500" dirty="0">
                <a:solidFill>
                  <a:srgbClr val="0D1B2A"/>
                </a:solidFill>
                <a:latin typeface="Calibri" pitchFamily="34" charset="0"/>
                <a:ea typeface="Calibri" pitchFamily="34" charset="-122"/>
                <a:cs typeface="Calibri" pitchFamily="34" charset="-120"/>
              </a:rPr>
              <a:t>: safety_margin_zmp = 2–4 cm; dla schodów i pochyłości zwiększony do 5–8 cm</a:t>
            </a:r>
            <a:endParaRPr lang="en-US" sz="1500" dirty="0"/>
          </a:p>
        </p:txBody>
      </p:sp>
      <p:sp>
        <p:nvSpPr>
          <p:cNvPr id="8" name="Prostokąt 7"/>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Najkrótsza lub najszybsza trajektoria nie zawsze jest wykonalna dla humanoida. Robot dwunożny ma ograniczony wielobok podparcia i musi utrzymać środek masy oraz ZMP w bezpiecznych granicach. Gwałtowny skręt, duża prędkość boczna lub zbyt szeroki krok mogą doprowadzić do utraty równowagi. Dlatego w hierarchii decyzji stabilność ma wyższy priorytet niż optymalność trasy. Planista powinien odrzucać trajektorie, które są geometrycznie poprawne, ale niestabilne biomechanicznie lub dynamicznie.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1A3550"/>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22C55E"/>
          </a:solidFill>
          <a:ln w="12700">
            <a:solidFill>
              <a:srgbClr val="22C55E"/>
            </a:solidFill>
            <a:prstDash val="solid"/>
          </a:ln>
        </p:spPr>
      </p:sp>
      <p:sp>
        <p:nvSpPr>
          <p:cNvPr id="3" name="Shape 1"/>
          <p:cNvSpPr/>
          <p:nvPr/>
        </p:nvSpPr>
        <p:spPr>
          <a:xfrm>
            <a:off x="0" y="5052060"/>
            <a:ext cx="9144000" cy="91440"/>
          </a:xfrm>
          <a:prstGeom prst="rect">
            <a:avLst/>
          </a:prstGeom>
          <a:solidFill>
            <a:srgbClr val="0077A8"/>
          </a:solidFill>
          <a:ln w="12700">
            <a:solidFill>
              <a:srgbClr val="0077A8"/>
            </a:solidFill>
            <a:prstDash val="solid"/>
          </a:ln>
        </p:spPr>
      </p:sp>
      <p:sp>
        <p:nvSpPr>
          <p:cNvPr id="4" name="Text 2"/>
          <p:cNvSpPr/>
          <p:nvPr/>
        </p:nvSpPr>
        <p:spPr>
          <a:xfrm>
            <a:off x="457200" y="640080"/>
            <a:ext cx="2286000" cy="2286000"/>
          </a:xfrm>
          <a:prstGeom prst="rect">
            <a:avLst/>
          </a:prstGeom>
          <a:noFill/>
          <a:ln/>
          <a:effectLst>
            <a:outerShdw blurRad="50800" dist="38100" dir="2700000" algn="tl" rotWithShape="0">
              <a:prstClr val="black">
                <a:alpha val="40000"/>
              </a:prstClr>
            </a:outerShdw>
          </a:effectLst>
        </p:spPr>
        <p:txBody>
          <a:bodyPr wrap="square" lIns="0" tIns="0" rIns="0" bIns="0" rtlCol="0" anchor="ctr"/>
          <a:lstStyle/>
          <a:p>
            <a:pPr marL="0" indent="0" algn="ctr">
              <a:buNone/>
            </a:pPr>
            <a:r>
              <a:rPr lang="en-US" sz="12000" b="1" dirty="0">
                <a:solidFill>
                  <a:srgbClr val="22C55E">
                    <a:alpha val="80000"/>
                  </a:srgbClr>
                </a:solidFill>
                <a:latin typeface="Trebuchet MS" pitchFamily="34" charset="0"/>
                <a:ea typeface="Trebuchet MS" pitchFamily="34" charset="-122"/>
                <a:cs typeface="Trebuchet MS" pitchFamily="34" charset="-120"/>
              </a:rPr>
              <a:t>03</a:t>
            </a:r>
            <a:endParaRPr lang="en-US" sz="12000" dirty="0"/>
          </a:p>
        </p:txBody>
      </p:sp>
      <p:sp>
        <p:nvSpPr>
          <p:cNvPr id="5" name="Shape 3"/>
          <p:cNvSpPr/>
          <p:nvPr/>
        </p:nvSpPr>
        <p:spPr>
          <a:xfrm>
            <a:off x="7132320" y="1371600"/>
            <a:ext cx="1645920" cy="1645920"/>
          </a:xfrm>
          <a:prstGeom prst="ellipse">
            <a:avLst/>
          </a:prstGeom>
          <a:solidFill>
            <a:schemeClr val="bg1"/>
          </a:solidFill>
          <a:ln w="57150">
            <a:solidFill>
              <a:srgbClr val="22C55E"/>
            </a:solidFill>
            <a:prstDash val="solid"/>
          </a:ln>
          <a:effectLst>
            <a:outerShdw blurRad="50800" dist="38100" dir="2700000" algn="tl" rotWithShape="0">
              <a:prstClr val="black">
                <a:alpha val="40000"/>
              </a:prstClr>
            </a:outerShdw>
          </a:effectLst>
        </p:spPr>
      </p:sp>
      <p:pic>
        <p:nvPicPr>
          <p:cNvPr id="6" name="Image 0" descr="preencoded.png"/>
          <p:cNvPicPr>
            <a:picLocks noChangeAspect="1"/>
          </p:cNvPicPr>
          <p:nvPr/>
        </p:nvPicPr>
        <p:blipFill>
          <a:blip r:embed="rId3"/>
          <a:stretch>
            <a:fillRect/>
          </a:stretch>
        </p:blipFill>
        <p:spPr>
          <a:xfrm>
            <a:off x="7463140" y="1702420"/>
            <a:ext cx="984280" cy="984280"/>
          </a:xfrm>
          <a:prstGeom prst="rect">
            <a:avLst/>
          </a:prstGeom>
        </p:spPr>
      </p:pic>
      <p:sp>
        <p:nvSpPr>
          <p:cNvPr id="7" name="Text 4"/>
          <p:cNvSpPr/>
          <p:nvPr/>
        </p:nvSpPr>
        <p:spPr>
          <a:xfrm>
            <a:off x="2926080" y="1188720"/>
            <a:ext cx="3931920" cy="365760"/>
          </a:xfrm>
          <a:prstGeom prst="rect">
            <a:avLst/>
          </a:prstGeom>
          <a:noFill/>
          <a:ln/>
        </p:spPr>
        <p:txBody>
          <a:bodyPr wrap="square" lIns="0" tIns="0" rIns="0" bIns="0" rtlCol="0" anchor="ctr"/>
          <a:lstStyle/>
          <a:p>
            <a:pPr marL="0" indent="0">
              <a:buNone/>
            </a:pPr>
            <a:r>
              <a:rPr lang="en-US" sz="1200" b="1" kern="0" spc="400" dirty="0">
                <a:solidFill>
                  <a:srgbClr val="22C55E"/>
                </a:solidFill>
                <a:latin typeface="Trebuchet MS" pitchFamily="34" charset="0"/>
                <a:ea typeface="Trebuchet MS" pitchFamily="34" charset="-122"/>
                <a:cs typeface="Trebuchet MS" pitchFamily="34" charset="-120"/>
              </a:rPr>
              <a:t>SEKCJA</a:t>
            </a:r>
            <a:endParaRPr lang="en-US" sz="1200" dirty="0"/>
          </a:p>
        </p:txBody>
      </p:sp>
      <p:sp>
        <p:nvSpPr>
          <p:cNvPr id="8" name="Text 5"/>
          <p:cNvSpPr/>
          <p:nvPr/>
        </p:nvSpPr>
        <p:spPr>
          <a:xfrm>
            <a:off x="2926080" y="1600200"/>
            <a:ext cx="4206240" cy="1005840"/>
          </a:xfrm>
          <a:prstGeom prst="rect">
            <a:avLst/>
          </a:prstGeom>
          <a:noFill/>
          <a:ln/>
        </p:spPr>
        <p:txBody>
          <a:bodyPr wrap="square" lIns="0" tIns="0" rIns="0" bIns="0" rtlCol="0" anchor="ctr"/>
          <a:lstStyle/>
          <a:p>
            <a:pPr marL="0" indent="0">
              <a:buNone/>
            </a:pPr>
            <a:r>
              <a:rPr lang="en-US" sz="3000" b="1" spc="-40" dirty="0">
                <a:solidFill>
                  <a:srgbClr val="FFFFFF"/>
                </a:solidFill>
                <a:latin typeface="Trebuchet MS" pitchFamily="34" charset="0"/>
                <a:ea typeface="Trebuchet MS" pitchFamily="34" charset="-122"/>
                <a:cs typeface="Trebuchet MS" pitchFamily="34" charset="-120"/>
              </a:rPr>
              <a:t>Planowanie kroków</a:t>
            </a:r>
            <a:endParaRPr lang="en-US" sz="3000" spc="-40" dirty="0"/>
          </a:p>
          <a:p>
            <a:pPr marL="0" indent="0">
              <a:buNone/>
            </a:pPr>
            <a:r>
              <a:rPr lang="en-US" sz="3000" b="1" spc="-40" dirty="0">
                <a:solidFill>
                  <a:srgbClr val="FFFFFF"/>
                </a:solidFill>
                <a:latin typeface="Trebuchet MS" pitchFamily="34" charset="0"/>
                <a:ea typeface="Trebuchet MS" pitchFamily="34" charset="-122"/>
                <a:cs typeface="Trebuchet MS" pitchFamily="34" charset="-120"/>
              </a:rPr>
              <a:t>i trajektorii humanoida</a:t>
            </a:r>
            <a:endParaRPr lang="en-US" sz="3000" spc="-40" dirty="0"/>
          </a:p>
        </p:txBody>
      </p:sp>
      <p:sp>
        <p:nvSpPr>
          <p:cNvPr id="9" name="Shape 6"/>
          <p:cNvSpPr/>
          <p:nvPr/>
        </p:nvSpPr>
        <p:spPr>
          <a:xfrm>
            <a:off x="2926080" y="2697480"/>
            <a:ext cx="3931920" cy="27432"/>
          </a:xfrm>
          <a:prstGeom prst="rect">
            <a:avLst/>
          </a:prstGeom>
          <a:solidFill>
            <a:srgbClr val="22C55E"/>
          </a:solidFill>
          <a:ln w="12700">
            <a:solidFill>
              <a:srgbClr val="22C55E"/>
            </a:solidFill>
            <a:prstDash val="solid"/>
          </a:ln>
          <a:effectLst>
            <a:outerShdw blurRad="50800" dist="38100" dir="2700000" algn="tl" rotWithShape="0">
              <a:prstClr val="black">
                <a:alpha val="40000"/>
              </a:prstClr>
            </a:outerShdw>
          </a:effectLst>
        </p:spPr>
      </p:sp>
      <p:sp>
        <p:nvSpPr>
          <p:cNvPr id="10" name="Text 7"/>
          <p:cNvSpPr/>
          <p:nvPr/>
        </p:nvSpPr>
        <p:spPr>
          <a:xfrm>
            <a:off x="2926080" y="2834641"/>
            <a:ext cx="4133626" cy="228600"/>
          </a:xfrm>
          <a:prstGeom prst="rect">
            <a:avLst/>
          </a:prstGeom>
          <a:noFill/>
          <a:ln/>
        </p:spPr>
        <p:txBody>
          <a:bodyPr wrap="square" lIns="0" tIns="0" rIns="0" bIns="0" rtlCol="0" anchor="ctr"/>
          <a:lstStyle/>
          <a:p>
            <a:pPr marL="0" indent="0">
              <a:buNone/>
            </a:pPr>
            <a:r>
              <a:rPr lang="en-US" sz="1400" i="1" dirty="0">
                <a:solidFill>
                  <a:srgbClr val="E2EBF3"/>
                </a:solidFill>
                <a:latin typeface="Calibri" pitchFamily="34" charset="0"/>
                <a:ea typeface="Calibri" pitchFamily="34" charset="-122"/>
                <a:cs typeface="Calibri" pitchFamily="34" charset="-120"/>
              </a:rPr>
              <a:t>Footstep planning, ograniczenia, schody, trajektoria CoM</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22C55E"/>
          </a:solidFill>
          <a:ln w="12700">
            <a:solidFill>
              <a:srgbClr val="22C55E"/>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22C55E"/>
                </a:solidFill>
                <a:latin typeface="Trebuchet MS" pitchFamily="34" charset="0"/>
                <a:ea typeface="Trebuchet MS" pitchFamily="34" charset="-122"/>
                <a:cs typeface="Trebuchet MS" pitchFamily="34" charset="-120"/>
              </a:rPr>
              <a:t>SEKCJA 3 | FOOTSTEP PIPELINE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Od ścieżki geometrycznej do sekwencji kroków</a:t>
            </a:r>
            <a:endParaRPr lang="en-US" sz="2400" dirty="0"/>
          </a:p>
        </p:txBody>
      </p:sp>
      <p:sp>
        <p:nvSpPr>
          <p:cNvPr id="6" name="Shape 4"/>
          <p:cNvSpPr/>
          <p:nvPr/>
        </p:nvSpPr>
        <p:spPr>
          <a:xfrm>
            <a:off x="274320" y="1097280"/>
            <a:ext cx="2011680" cy="257518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987552" y="1188720"/>
            <a:ext cx="585216" cy="585216"/>
          </a:xfrm>
          <a:prstGeom prst="ellipse">
            <a:avLst/>
          </a:prstGeom>
          <a:solidFill>
            <a:srgbClr val="22C55E"/>
          </a:solidFill>
          <a:ln w="12700">
            <a:solidFill>
              <a:srgbClr val="22C55E"/>
            </a:solidFill>
            <a:prstDash val="solid"/>
          </a:ln>
        </p:spPr>
      </p:sp>
      <p:sp>
        <p:nvSpPr>
          <p:cNvPr id="8" name="Text 6"/>
          <p:cNvSpPr/>
          <p:nvPr/>
        </p:nvSpPr>
        <p:spPr>
          <a:xfrm>
            <a:off x="987552" y="1188720"/>
            <a:ext cx="585216" cy="585216"/>
          </a:xfrm>
          <a:prstGeom prst="rect">
            <a:avLst/>
          </a:prstGeom>
          <a:noFill/>
          <a:ln/>
        </p:spPr>
        <p:txBody>
          <a:bodyPr wrap="square" lIns="0" tIns="0" rIns="0" bIns="0"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1</a:t>
            </a:r>
            <a:endParaRPr lang="en-US" sz="1700" dirty="0"/>
          </a:p>
        </p:txBody>
      </p:sp>
      <p:sp>
        <p:nvSpPr>
          <p:cNvPr id="9" name="Text 7"/>
          <p:cNvSpPr/>
          <p:nvPr/>
        </p:nvSpPr>
        <p:spPr>
          <a:xfrm>
            <a:off x="365760" y="1874520"/>
            <a:ext cx="1828800" cy="502920"/>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Ścieżka bazy</a:t>
            </a:r>
            <a:endParaRPr lang="en-US" sz="1600" dirty="0"/>
          </a:p>
        </p:txBody>
      </p:sp>
      <p:sp>
        <p:nvSpPr>
          <p:cNvPr id="10" name="Text 8"/>
          <p:cNvSpPr/>
          <p:nvPr/>
        </p:nvSpPr>
        <p:spPr>
          <a:xfrm>
            <a:off x="365760" y="2423160"/>
            <a:ext cx="1828800" cy="111549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Globalna trasa (x,y) lub (x,y,z) wyznaczona przez A*; reprezentuje ruch CoM lub miednicy</a:t>
            </a:r>
            <a:endParaRPr lang="en-US" sz="1400" dirty="0"/>
          </a:p>
        </p:txBody>
      </p:sp>
      <p:sp>
        <p:nvSpPr>
          <p:cNvPr id="11" name="Shape 9"/>
          <p:cNvSpPr/>
          <p:nvPr/>
        </p:nvSpPr>
        <p:spPr>
          <a:xfrm>
            <a:off x="2423160" y="1097280"/>
            <a:ext cx="2011680" cy="257518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2" name="Shape 10"/>
          <p:cNvSpPr/>
          <p:nvPr/>
        </p:nvSpPr>
        <p:spPr>
          <a:xfrm>
            <a:off x="3136392" y="1188720"/>
            <a:ext cx="585216" cy="585216"/>
          </a:xfrm>
          <a:prstGeom prst="ellipse">
            <a:avLst/>
          </a:prstGeom>
          <a:solidFill>
            <a:srgbClr val="22C55E"/>
          </a:solidFill>
          <a:ln w="12700">
            <a:solidFill>
              <a:srgbClr val="22C55E"/>
            </a:solidFill>
            <a:prstDash val="solid"/>
          </a:ln>
        </p:spPr>
      </p:sp>
      <p:sp>
        <p:nvSpPr>
          <p:cNvPr id="13" name="Text 11"/>
          <p:cNvSpPr/>
          <p:nvPr/>
        </p:nvSpPr>
        <p:spPr>
          <a:xfrm>
            <a:off x="3136392" y="1188720"/>
            <a:ext cx="585216" cy="585216"/>
          </a:xfrm>
          <a:prstGeom prst="rect">
            <a:avLst/>
          </a:prstGeom>
          <a:noFill/>
          <a:ln/>
        </p:spPr>
        <p:txBody>
          <a:bodyPr wrap="square" lIns="0" tIns="0" rIns="0" bIns="0"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2</a:t>
            </a:r>
            <a:endParaRPr lang="en-US" sz="1700" dirty="0"/>
          </a:p>
        </p:txBody>
      </p:sp>
      <p:sp>
        <p:nvSpPr>
          <p:cNvPr id="14" name="Text 12"/>
          <p:cNvSpPr/>
          <p:nvPr/>
        </p:nvSpPr>
        <p:spPr>
          <a:xfrm>
            <a:off x="2514600" y="1874520"/>
            <a:ext cx="1828800" cy="502920"/>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Wzorzec chodu</a:t>
            </a:r>
            <a:endParaRPr lang="en-US" sz="1600" dirty="0"/>
          </a:p>
        </p:txBody>
      </p:sp>
      <p:sp>
        <p:nvSpPr>
          <p:cNvPr id="15" name="Text 13"/>
          <p:cNvSpPr/>
          <p:nvPr/>
        </p:nvSpPr>
        <p:spPr>
          <a:xfrm>
            <a:off x="2514600" y="2423160"/>
            <a:ext cx="1828800" cy="111549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Parametry: długość kroku l, szerokość w, czas fazy T_step, T_swing; regularne lub adaptacyjne</a:t>
            </a:r>
            <a:endParaRPr lang="en-US" sz="1400" dirty="0"/>
          </a:p>
        </p:txBody>
      </p:sp>
      <p:sp>
        <p:nvSpPr>
          <p:cNvPr id="16" name="Shape 14"/>
          <p:cNvSpPr/>
          <p:nvPr/>
        </p:nvSpPr>
        <p:spPr>
          <a:xfrm>
            <a:off x="4572000" y="1097280"/>
            <a:ext cx="2011680" cy="257518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7" name="Shape 15"/>
          <p:cNvSpPr/>
          <p:nvPr/>
        </p:nvSpPr>
        <p:spPr>
          <a:xfrm>
            <a:off x="5285232" y="1188720"/>
            <a:ext cx="585216" cy="585216"/>
          </a:xfrm>
          <a:prstGeom prst="ellipse">
            <a:avLst/>
          </a:prstGeom>
          <a:solidFill>
            <a:srgbClr val="22C55E"/>
          </a:solidFill>
          <a:ln w="12700">
            <a:solidFill>
              <a:srgbClr val="22C55E"/>
            </a:solidFill>
            <a:prstDash val="solid"/>
          </a:ln>
        </p:spPr>
      </p:sp>
      <p:sp>
        <p:nvSpPr>
          <p:cNvPr id="18" name="Text 16"/>
          <p:cNvSpPr/>
          <p:nvPr/>
        </p:nvSpPr>
        <p:spPr>
          <a:xfrm>
            <a:off x="5285232" y="1188720"/>
            <a:ext cx="585216" cy="585216"/>
          </a:xfrm>
          <a:prstGeom prst="rect">
            <a:avLst/>
          </a:prstGeom>
          <a:noFill/>
          <a:ln/>
        </p:spPr>
        <p:txBody>
          <a:bodyPr wrap="square" lIns="0" tIns="0" rIns="0" bIns="0"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3</a:t>
            </a:r>
            <a:endParaRPr lang="en-US" sz="1700" dirty="0"/>
          </a:p>
        </p:txBody>
      </p:sp>
      <p:sp>
        <p:nvSpPr>
          <p:cNvPr id="19" name="Text 17"/>
          <p:cNvSpPr/>
          <p:nvPr/>
        </p:nvSpPr>
        <p:spPr>
          <a:xfrm>
            <a:off x="4663440" y="1874520"/>
            <a:ext cx="1828800" cy="502920"/>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Wyznaczenie stóp</a:t>
            </a:r>
            <a:endParaRPr lang="en-US" sz="1600" dirty="0"/>
          </a:p>
        </p:txBody>
      </p:sp>
      <p:sp>
        <p:nvSpPr>
          <p:cNvPr id="20" name="Text 18"/>
          <p:cNvSpPr/>
          <p:nvPr/>
        </p:nvSpPr>
        <p:spPr>
          <a:xfrm>
            <a:off x="4663440" y="2423160"/>
            <a:ext cx="1828800" cy="111549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Dla każdego punktu ścieżki wyznacz cele stopy: offset lewo/prawo ±w/2, orientacja = yaw trasy</a:t>
            </a:r>
            <a:endParaRPr lang="en-US" sz="1400" dirty="0"/>
          </a:p>
        </p:txBody>
      </p:sp>
      <p:sp>
        <p:nvSpPr>
          <p:cNvPr id="21" name="Shape 19"/>
          <p:cNvSpPr/>
          <p:nvPr/>
        </p:nvSpPr>
        <p:spPr>
          <a:xfrm>
            <a:off x="6720840" y="1097280"/>
            <a:ext cx="2011680" cy="2575188"/>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2" name="Shape 20"/>
          <p:cNvSpPr/>
          <p:nvPr/>
        </p:nvSpPr>
        <p:spPr>
          <a:xfrm>
            <a:off x="7434072" y="1188720"/>
            <a:ext cx="585216" cy="585216"/>
          </a:xfrm>
          <a:prstGeom prst="ellipse">
            <a:avLst/>
          </a:prstGeom>
          <a:solidFill>
            <a:srgbClr val="22C55E"/>
          </a:solidFill>
          <a:ln w="12700">
            <a:solidFill>
              <a:srgbClr val="22C55E"/>
            </a:solidFill>
            <a:prstDash val="solid"/>
          </a:ln>
        </p:spPr>
      </p:sp>
      <p:sp>
        <p:nvSpPr>
          <p:cNvPr id="23" name="Text 21"/>
          <p:cNvSpPr/>
          <p:nvPr/>
        </p:nvSpPr>
        <p:spPr>
          <a:xfrm>
            <a:off x="7434072" y="1188720"/>
            <a:ext cx="585216" cy="585216"/>
          </a:xfrm>
          <a:prstGeom prst="rect">
            <a:avLst/>
          </a:prstGeom>
          <a:noFill/>
          <a:ln/>
        </p:spPr>
        <p:txBody>
          <a:bodyPr wrap="square" lIns="0" tIns="0" rIns="0" bIns="0" rtlCol="0" anchor="ctr"/>
          <a:lstStyle/>
          <a:p>
            <a:pPr marL="0" indent="0" algn="ctr">
              <a:buNone/>
            </a:pPr>
            <a:r>
              <a:rPr lang="en-US" sz="1700" b="1" dirty="0">
                <a:solidFill>
                  <a:srgbClr val="FFFFFF"/>
                </a:solidFill>
                <a:latin typeface="Trebuchet MS" pitchFamily="34" charset="0"/>
                <a:ea typeface="Trebuchet MS" pitchFamily="34" charset="-122"/>
                <a:cs typeface="Trebuchet MS" pitchFamily="34" charset="-120"/>
              </a:rPr>
              <a:t>4</a:t>
            </a:r>
            <a:endParaRPr lang="en-US" sz="1700" dirty="0"/>
          </a:p>
        </p:txBody>
      </p:sp>
      <p:sp>
        <p:nvSpPr>
          <p:cNvPr id="24" name="Text 22"/>
          <p:cNvSpPr/>
          <p:nvPr/>
        </p:nvSpPr>
        <p:spPr>
          <a:xfrm>
            <a:off x="6812280" y="1874520"/>
            <a:ext cx="1828800" cy="502920"/>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Weryfikacja</a:t>
            </a:r>
            <a:endParaRPr lang="en-US" sz="1600" dirty="0"/>
          </a:p>
        </p:txBody>
      </p:sp>
      <p:sp>
        <p:nvSpPr>
          <p:cNvPr id="25" name="Text 23"/>
          <p:cNvSpPr/>
          <p:nvPr/>
        </p:nvSpPr>
        <p:spPr>
          <a:xfrm>
            <a:off x="6812280" y="2423160"/>
            <a:ext cx="1828800" cy="1115494"/>
          </a:xfrm>
          <a:prstGeom prst="rect">
            <a:avLst/>
          </a:prstGeom>
          <a:noFill/>
          <a:ln/>
        </p:spPr>
        <p:txBody>
          <a:bodyPr wrap="square" lIns="0" tIns="0" rIns="0" bIns="0"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Sprawdź </a:t>
            </a:r>
            <a:r>
              <a:rPr lang="en-US" sz="1400" dirty="0" err="1">
                <a:solidFill>
                  <a:srgbClr val="475569"/>
                </a:solidFill>
                <a:latin typeface="Calibri" pitchFamily="34" charset="0"/>
                <a:ea typeface="Calibri" pitchFamily="34" charset="-122"/>
                <a:cs typeface="Calibri" pitchFamily="34" charset="-120"/>
              </a:rPr>
              <a:t>długość</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err="1" smtClean="0">
                <a:solidFill>
                  <a:srgbClr val="475569"/>
                </a:solidFill>
                <a:latin typeface="Calibri" pitchFamily="34" charset="0"/>
                <a:ea typeface="Calibri" pitchFamily="34" charset="-122"/>
                <a:cs typeface="Calibri" pitchFamily="34" charset="-120"/>
              </a:rPr>
              <a:t>kroku</a:t>
            </a:r>
            <a:r>
              <a:rPr lang="en-US" sz="1400" dirty="0">
                <a:solidFill>
                  <a:srgbClr val="475569"/>
                </a:solidFill>
                <a:latin typeface="Calibri" pitchFamily="34" charset="0"/>
                <a:ea typeface="Calibri" pitchFamily="34" charset="-122"/>
                <a:cs typeface="Calibri" pitchFamily="34" charset="-120"/>
              </a:rPr>
              <a:t>, osiągalność kinematyczną, </a:t>
            </a:r>
            <a:r>
              <a:rPr lang="en-US" sz="1400" dirty="0" err="1">
                <a:solidFill>
                  <a:srgbClr val="475569"/>
                </a:solidFill>
                <a:latin typeface="Calibri" pitchFamily="34" charset="0"/>
                <a:ea typeface="Calibri" pitchFamily="34" charset="-122"/>
                <a:cs typeface="Calibri" pitchFamily="34" charset="-120"/>
              </a:rPr>
              <a:t>kontakt</a:t>
            </a:r>
            <a:r>
              <a:rPr lang="en-US" sz="1400" dirty="0">
                <a:solidFill>
                  <a:srgbClr val="475569"/>
                </a:solidFill>
                <a:latin typeface="Calibri" pitchFamily="34" charset="0"/>
                <a:ea typeface="Calibri" pitchFamily="34" charset="-122"/>
                <a:cs typeface="Calibri" pitchFamily="34" charset="-120"/>
              </a:rPr>
              <a:t> </a:t>
            </a:r>
            <a:r>
              <a:rPr lang="pl-PL" sz="1400" dirty="0" smtClean="0">
                <a:solidFill>
                  <a:srgbClr val="475569"/>
                </a:solidFill>
                <a:latin typeface="Calibri" pitchFamily="34" charset="0"/>
                <a:ea typeface="Calibri" pitchFamily="34" charset="-122"/>
                <a:cs typeface="Calibri" pitchFamily="34" charset="-120"/>
              </a:rPr>
              <a:t/>
            </a:r>
            <a:br>
              <a:rPr lang="pl-PL" sz="1400" dirty="0" smtClean="0">
                <a:solidFill>
                  <a:srgbClr val="475569"/>
                </a:solidFill>
                <a:latin typeface="Calibri" pitchFamily="34" charset="0"/>
                <a:ea typeface="Calibri" pitchFamily="34" charset="-122"/>
                <a:cs typeface="Calibri" pitchFamily="34" charset="-120"/>
              </a:rPr>
            </a:br>
            <a:r>
              <a:rPr lang="en-US" sz="1400" dirty="0" smtClean="0">
                <a:solidFill>
                  <a:srgbClr val="475569"/>
                </a:solidFill>
                <a:latin typeface="Calibri" pitchFamily="34" charset="0"/>
                <a:ea typeface="Calibri" pitchFamily="34" charset="-122"/>
                <a:cs typeface="Calibri" pitchFamily="34" charset="-120"/>
              </a:rPr>
              <a:t>z </a:t>
            </a:r>
            <a:r>
              <a:rPr lang="en-US" sz="1400" dirty="0">
                <a:solidFill>
                  <a:srgbClr val="475569"/>
                </a:solidFill>
                <a:latin typeface="Calibri" pitchFamily="34" charset="0"/>
                <a:ea typeface="Calibri" pitchFamily="34" charset="-122"/>
                <a:cs typeface="Calibri" pitchFamily="34" charset="-120"/>
              </a:rPr>
              <a:t>terenem, margines ZMP i stabilność</a:t>
            </a:r>
            <a:endParaRPr lang="en-US" sz="1400" dirty="0"/>
          </a:p>
        </p:txBody>
      </p:sp>
      <p:sp>
        <p:nvSpPr>
          <p:cNvPr id="26" name="Prostokąt 25"/>
          <p:cNvSpPr/>
          <p:nvPr/>
        </p:nvSpPr>
        <p:spPr>
          <a:xfrm>
            <a:off x="274320" y="3798315"/>
            <a:ext cx="845820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Ścieżka globalna opisuje zwykle ruch punktu referencyjnego, na przykład środka masy, miednicy albo bazy robota. </a:t>
            </a:r>
            <a:r>
              <a:rPr lang="pl-PL" sz="1400" dirty="0" err="1">
                <a:solidFill>
                  <a:schemeClr val="bg1"/>
                </a:solidFill>
              </a:rPr>
              <a:t>Humanoid</a:t>
            </a:r>
            <a:r>
              <a:rPr lang="pl-PL" sz="1400" dirty="0">
                <a:solidFill>
                  <a:schemeClr val="bg1"/>
                </a:solidFill>
              </a:rPr>
              <a:t> nie może jednak po prostu „jechać” po tej </a:t>
            </a:r>
            <a:r>
              <a:rPr lang="pl-PL" sz="1400" dirty="0" smtClean="0">
                <a:solidFill>
                  <a:schemeClr val="bg1"/>
                </a:solidFill>
              </a:rPr>
              <a:t>ścieżce, ale </a:t>
            </a:r>
            <a:r>
              <a:rPr lang="pl-PL" sz="1400" dirty="0">
                <a:solidFill>
                  <a:schemeClr val="bg1"/>
                </a:solidFill>
              </a:rPr>
              <a:t>musi postawić konkretne kroki. </a:t>
            </a:r>
            <a:r>
              <a:rPr lang="pl-PL" sz="1400" dirty="0" err="1">
                <a:solidFill>
                  <a:schemeClr val="bg1"/>
                </a:solidFill>
              </a:rPr>
              <a:t>Footstep</a:t>
            </a:r>
            <a:r>
              <a:rPr lang="pl-PL" sz="1400" dirty="0">
                <a:solidFill>
                  <a:schemeClr val="bg1"/>
                </a:solidFill>
              </a:rPr>
              <a:t> </a:t>
            </a:r>
            <a:r>
              <a:rPr lang="pl-PL" sz="1400" dirty="0" err="1">
                <a:solidFill>
                  <a:schemeClr val="bg1"/>
                </a:solidFill>
              </a:rPr>
              <a:t>planner</a:t>
            </a:r>
            <a:r>
              <a:rPr lang="pl-PL" sz="1400" dirty="0">
                <a:solidFill>
                  <a:schemeClr val="bg1"/>
                </a:solidFill>
              </a:rPr>
              <a:t> przekształca trasę w sekwencję pozycji lewej i prawej stopy. Uwzględnia długość kroku, szerokość rozstawu, orientację stóp i ograniczenia kontaktu z podłożem. Każdy krok musi zostać zweryfikowany pod kątem kinematyki, dostępności miejsca kontaktu oraz stabilności całego ciała.</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794376" cy="361676"/>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Weryfikacja wykonalności </a:t>
            </a:r>
            <a:r>
              <a:rPr lang="pl-PL" sz="2400" b="1" dirty="0" smtClean="0">
                <a:solidFill>
                  <a:srgbClr val="FFFFFF"/>
                </a:solidFill>
                <a:latin typeface="Trebuchet MS" pitchFamily="34" charset="0"/>
                <a:ea typeface="Trebuchet MS" pitchFamily="34" charset="-122"/>
                <a:cs typeface="Trebuchet MS" pitchFamily="34" charset="-120"/>
              </a:rPr>
              <a:t>kroku</a:t>
            </a:r>
            <a:endParaRPr lang="pl-PL" sz="2400" b="1" dirty="0">
              <a:solidFill>
                <a:srgbClr val="FFFFFF"/>
              </a:solidFill>
              <a:latin typeface="Trebuchet MS" pitchFamily="34" charset="0"/>
              <a:ea typeface="Trebuchet MS" pitchFamily="34" charset="-122"/>
              <a:cs typeface="Trebuchet MS" pitchFamily="34" charset="-120"/>
            </a:endParaRPr>
          </a:p>
        </p:txBody>
      </p:sp>
      <p:sp>
        <p:nvSpPr>
          <p:cNvPr id="6" name="Shape 4"/>
          <p:cNvSpPr/>
          <p:nvPr/>
        </p:nvSpPr>
        <p:spPr>
          <a:xfrm>
            <a:off x="274320" y="1005840"/>
            <a:ext cx="8595360" cy="3303942"/>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4" y="1082931"/>
            <a:ext cx="8465486" cy="3154673"/>
          </a:xfrm>
          <a:prstGeom prst="rect">
            <a:avLst/>
          </a:prstGeom>
          <a:noFill/>
          <a:ln/>
        </p:spPr>
        <p:txBody>
          <a:bodyPr wrap="square" lIns="108000" tIns="0" rIns="36000" bIns="0" numCol="2" spcCol="72000" rtlCol="0" anchor="t">
            <a:noAutofit/>
          </a:bodyPr>
          <a:lstStyle/>
          <a:p>
            <a:pPr>
              <a:lnSpc>
                <a:spcPts val="900"/>
              </a:lnSpc>
            </a:pPr>
            <a:r>
              <a:rPr lang="pl-PL" sz="900" dirty="0">
                <a:solidFill>
                  <a:srgbClr val="C586C0"/>
                </a:solidFill>
                <a:latin typeface="Consolas" panose="020B0609020204030204" pitchFamily="49" charset="0"/>
              </a:rPr>
              <a:t>import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numpy</a:t>
            </a:r>
            <a:r>
              <a:rPr lang="pl-PL" sz="900" dirty="0">
                <a:solidFill>
                  <a:srgbClr val="CCCCCC"/>
                </a:solidFill>
                <a:latin typeface="Consolas" panose="020B0609020204030204" pitchFamily="49" charset="0"/>
              </a:rPr>
              <a:t> </a:t>
            </a:r>
            <a:r>
              <a:rPr lang="pl-PL" sz="900" dirty="0">
                <a:solidFill>
                  <a:srgbClr val="C586C0"/>
                </a:solidFill>
                <a:latin typeface="Consolas" panose="020B0609020204030204" pitchFamily="49" charset="0"/>
              </a:rPr>
              <a:t>as</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np</a:t>
            </a:r>
            <a:endParaRPr lang="pl-PL" sz="900" dirty="0">
              <a:solidFill>
                <a:srgbClr val="CCCCCC"/>
              </a:solidFill>
              <a:latin typeface="Consolas" panose="020B0609020204030204" pitchFamily="49" charset="0"/>
            </a:endParaRPr>
          </a:p>
          <a:p>
            <a:pPr>
              <a:lnSpc>
                <a:spcPts val="900"/>
              </a:lnSpc>
            </a:pPr>
            <a:r>
              <a:rPr lang="pl-PL" sz="900" dirty="0">
                <a:solidFill>
                  <a:srgbClr val="C586C0"/>
                </a:solidFill>
                <a:latin typeface="Consolas" panose="020B0609020204030204" pitchFamily="49" charset="0"/>
              </a:rPr>
              <a:t>from</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dataclasses</a:t>
            </a:r>
            <a:r>
              <a:rPr lang="pl-PL" sz="900" dirty="0">
                <a:solidFill>
                  <a:srgbClr val="CCCCCC"/>
                </a:solidFill>
                <a:latin typeface="Consolas" panose="020B0609020204030204" pitchFamily="49" charset="0"/>
              </a:rPr>
              <a:t> </a:t>
            </a:r>
            <a:r>
              <a:rPr lang="pl-PL" sz="900" dirty="0">
                <a:solidFill>
                  <a:srgbClr val="C586C0"/>
                </a:solidFill>
                <a:latin typeface="Consolas" panose="020B0609020204030204" pitchFamily="49" charset="0"/>
              </a:rPr>
              <a:t>import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dataclass</a:t>
            </a:r>
            <a:endParaRPr lang="pl-PL" sz="900" dirty="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r>
            <a:br>
              <a:rPr lang="pl-PL" sz="900" dirty="0">
                <a:solidFill>
                  <a:srgbClr val="CCCCCC"/>
                </a:solidFill>
                <a:latin typeface="Consolas" panose="020B0609020204030204" pitchFamily="49" charset="0"/>
              </a:rPr>
            </a:br>
            <a:r>
              <a:rPr lang="pl-PL" sz="900" dirty="0">
                <a:solidFill>
                  <a:srgbClr val="DCDCAA"/>
                </a:solidFill>
                <a:latin typeface="Consolas" panose="020B0609020204030204" pitchFamily="49" charset="0"/>
              </a:rPr>
              <a:t>@</a:t>
            </a:r>
            <a:r>
              <a:rPr lang="pl-PL" sz="900" dirty="0" err="1">
                <a:solidFill>
                  <a:srgbClr val="DCDCAA"/>
                </a:solidFill>
                <a:latin typeface="Consolas" panose="020B0609020204030204" pitchFamily="49" charset="0"/>
              </a:rPr>
              <a:t>dataclass</a:t>
            </a:r>
            <a:endParaRPr lang="pl-PL" sz="900" dirty="0">
              <a:solidFill>
                <a:srgbClr val="CCCCCC"/>
              </a:solidFill>
              <a:latin typeface="Consolas" panose="020B0609020204030204" pitchFamily="49" charset="0"/>
            </a:endParaRPr>
          </a:p>
          <a:p>
            <a:pPr>
              <a:lnSpc>
                <a:spcPts val="900"/>
              </a:lnSpc>
            </a:pPr>
            <a:r>
              <a:rPr lang="pl-PL" sz="900" spc="-40" dirty="0" err="1">
                <a:solidFill>
                  <a:srgbClr val="569CD6"/>
                </a:solidFill>
                <a:latin typeface="Consolas" panose="020B0609020204030204" pitchFamily="49" charset="0"/>
              </a:rPr>
              <a:t>class</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FootstepConstraints</a:t>
            </a:r>
            <a:r>
              <a:rPr lang="pl-PL" sz="900" spc="-40" dirty="0">
                <a:solidFill>
                  <a:srgbClr val="CCCCCC"/>
                </a:solidFill>
                <a:latin typeface="Consolas" panose="020B0609020204030204" pitchFamily="49" charset="0"/>
              </a:rPr>
              <a:t>:</a:t>
            </a: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max_step_len</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0.50</a:t>
            </a:r>
            <a:r>
              <a:rPr lang="pl-PL" sz="900" spc="-40" dirty="0">
                <a:solidFill>
                  <a:srgbClr val="CCCCCC"/>
                </a:solidFill>
                <a:latin typeface="Consolas" panose="020B0609020204030204" pitchFamily="49" charset="0"/>
              </a:rPr>
              <a:t>  </a:t>
            </a:r>
            <a:r>
              <a:rPr lang="pl-PL" sz="900" spc="-40" dirty="0" smtClean="0">
                <a:solidFill>
                  <a:srgbClr val="6A9955"/>
                </a:solidFill>
                <a:latin typeface="Consolas" panose="020B0609020204030204" pitchFamily="49" charset="0"/>
              </a:rPr>
              <a:t># </a:t>
            </a:r>
            <a:r>
              <a:rPr lang="pl-PL" sz="900" spc="-40" dirty="0">
                <a:solidFill>
                  <a:srgbClr val="6A9955"/>
                </a:solidFill>
                <a:latin typeface="Consolas" panose="020B0609020204030204" pitchFamily="49" charset="0"/>
              </a:rPr>
              <a:t>[m] max długoś kroku wzdłużna</a:t>
            </a:r>
            <a:endParaRPr lang="pl-PL" sz="900" spc="-4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max_step_width</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0.28</a:t>
            </a:r>
            <a:r>
              <a:rPr lang="pl-PL" sz="900" spc="-40" dirty="0">
                <a:solidFill>
                  <a:srgbClr val="CCCCCC"/>
                </a:solidFill>
                <a:latin typeface="Consolas" panose="020B0609020204030204" pitchFamily="49" charset="0"/>
              </a:rPr>
              <a:t>  </a:t>
            </a:r>
            <a:r>
              <a:rPr lang="pl-PL" sz="900" spc="-100" dirty="0" smtClean="0">
                <a:solidFill>
                  <a:srgbClr val="6A9955"/>
                </a:solidFill>
                <a:latin typeface="Consolas" panose="020B0609020204030204" pitchFamily="49" charset="0"/>
              </a:rPr>
              <a:t># </a:t>
            </a:r>
            <a:r>
              <a:rPr lang="pl-PL" sz="900" spc="-100" dirty="0">
                <a:solidFill>
                  <a:srgbClr val="6A9955"/>
                </a:solidFill>
                <a:latin typeface="Consolas" panose="020B0609020204030204" pitchFamily="49" charset="0"/>
              </a:rPr>
              <a:t>[m] max odległość boczna miedzy stopami</a:t>
            </a:r>
            <a:endParaRPr lang="pl-PL" sz="900" spc="-10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max_delta_yaw</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0.35</a:t>
            </a:r>
            <a:r>
              <a:rPr lang="pl-PL" sz="900" spc="-40" dirty="0">
                <a:solidFill>
                  <a:srgbClr val="CCCCCC"/>
                </a:solidFill>
                <a:latin typeface="Consolas" panose="020B0609020204030204" pitchFamily="49" charset="0"/>
              </a:rPr>
              <a:t>  </a:t>
            </a:r>
            <a:r>
              <a:rPr lang="pl-PL" sz="900" spc="-100" dirty="0" smtClean="0">
                <a:solidFill>
                  <a:srgbClr val="6A9955"/>
                </a:solidFill>
                <a:latin typeface="Consolas" panose="020B0609020204030204" pitchFamily="49" charset="0"/>
              </a:rPr>
              <a:t># </a:t>
            </a:r>
            <a:r>
              <a:rPr lang="pl-PL" sz="900" spc="-100" dirty="0">
                <a:solidFill>
                  <a:srgbClr val="6A9955"/>
                </a:solidFill>
                <a:latin typeface="Consolas" panose="020B0609020204030204" pitchFamily="49" charset="0"/>
              </a:rPr>
              <a:t>[rad] max skręt w jednym kroku (~20 </a:t>
            </a:r>
            <a:r>
              <a:rPr lang="pl-PL" sz="900" spc="-100" dirty="0" err="1">
                <a:solidFill>
                  <a:srgbClr val="6A9955"/>
                </a:solidFill>
                <a:latin typeface="Consolas" panose="020B0609020204030204" pitchFamily="49" charset="0"/>
              </a:rPr>
              <a:t>deg</a:t>
            </a:r>
            <a:r>
              <a:rPr lang="pl-PL" sz="900" spc="-100" dirty="0">
                <a:solidFill>
                  <a:srgbClr val="6A9955"/>
                </a:solidFill>
                <a:latin typeface="Consolas" panose="020B0609020204030204" pitchFamily="49" charset="0"/>
              </a:rPr>
              <a:t>)</a:t>
            </a:r>
            <a:endParaRPr lang="pl-PL" sz="900" spc="-10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min_step_width</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0.08</a:t>
            </a:r>
            <a:r>
              <a:rPr lang="pl-PL" sz="900" spc="-40" dirty="0">
                <a:solidFill>
                  <a:srgbClr val="CCCCCC"/>
                </a:solidFill>
                <a:latin typeface="Consolas" panose="020B0609020204030204" pitchFamily="49" charset="0"/>
              </a:rPr>
              <a:t>  </a:t>
            </a:r>
            <a:r>
              <a:rPr lang="pl-PL" sz="900" spc="-40" dirty="0" smtClean="0">
                <a:solidFill>
                  <a:srgbClr val="6A9955"/>
                </a:solidFill>
                <a:latin typeface="Consolas" panose="020B0609020204030204" pitchFamily="49" charset="0"/>
              </a:rPr>
              <a:t># </a:t>
            </a:r>
            <a:r>
              <a:rPr lang="pl-PL" sz="900" spc="-40" dirty="0">
                <a:solidFill>
                  <a:srgbClr val="6A9955"/>
                </a:solidFill>
                <a:latin typeface="Consolas" panose="020B0609020204030204" pitchFamily="49" charset="0"/>
              </a:rPr>
              <a:t>[m] stopy nie mogą nachodzić</a:t>
            </a:r>
            <a:endParaRPr lang="pl-PL" sz="900" spc="-4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max_height</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0.30</a:t>
            </a:r>
            <a:r>
              <a:rPr lang="pl-PL" sz="900" spc="-40" dirty="0">
                <a:solidFill>
                  <a:srgbClr val="CCCCCC"/>
                </a:solidFill>
                <a:latin typeface="Consolas" panose="020B0609020204030204" pitchFamily="49" charset="0"/>
              </a:rPr>
              <a:t>  </a:t>
            </a:r>
            <a:r>
              <a:rPr lang="pl-PL" sz="900" spc="-40" dirty="0" smtClean="0">
                <a:solidFill>
                  <a:srgbClr val="6A9955"/>
                </a:solidFill>
                <a:latin typeface="Consolas" panose="020B0609020204030204" pitchFamily="49" charset="0"/>
              </a:rPr>
              <a:t># </a:t>
            </a:r>
            <a:r>
              <a:rPr lang="pl-PL" sz="900" spc="-40" dirty="0">
                <a:solidFill>
                  <a:srgbClr val="6A9955"/>
                </a:solidFill>
                <a:latin typeface="Consolas" panose="020B0609020204030204" pitchFamily="49" charset="0"/>
              </a:rPr>
              <a:t>[m] max różnica wysokości stopni</a:t>
            </a:r>
            <a:endParaRPr lang="pl-PL" sz="900" spc="-4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zmp_margin</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0.025</a:t>
            </a:r>
            <a:r>
              <a:rPr lang="pl-PL" sz="900" spc="-40" dirty="0">
                <a:solidFill>
                  <a:srgbClr val="CCCCCC"/>
                </a:solidFill>
                <a:latin typeface="Consolas" panose="020B0609020204030204" pitchFamily="49" charset="0"/>
              </a:rPr>
              <a:t> </a:t>
            </a:r>
            <a:r>
              <a:rPr lang="pl-PL" sz="900" spc="-80" dirty="0" smtClean="0">
                <a:solidFill>
                  <a:srgbClr val="6A9955"/>
                </a:solidFill>
                <a:latin typeface="Consolas" panose="020B0609020204030204" pitchFamily="49" charset="0"/>
              </a:rPr>
              <a:t># </a:t>
            </a:r>
            <a:r>
              <a:rPr lang="pl-PL" sz="900" spc="-80" dirty="0">
                <a:solidFill>
                  <a:srgbClr val="6A9955"/>
                </a:solidFill>
                <a:latin typeface="Consolas" panose="020B0609020204030204" pitchFamily="49" charset="0"/>
              </a:rPr>
              <a:t>[m] wymagany margines ZMP od krawędzi</a:t>
            </a:r>
            <a:endParaRPr lang="pl-PL" sz="900" spc="-8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foot_len</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0.24</a:t>
            </a:r>
            <a:r>
              <a:rPr lang="pl-PL" sz="900" spc="-40" dirty="0">
                <a:solidFill>
                  <a:srgbClr val="CCCCCC"/>
                </a:solidFill>
                <a:latin typeface="Consolas" panose="020B0609020204030204" pitchFamily="49" charset="0"/>
              </a:rPr>
              <a:t>  </a:t>
            </a:r>
            <a:r>
              <a:rPr lang="pl-PL" sz="900" spc="-40" dirty="0" smtClean="0">
                <a:solidFill>
                  <a:srgbClr val="6A9955"/>
                </a:solidFill>
                <a:latin typeface="Consolas" panose="020B0609020204030204" pitchFamily="49" charset="0"/>
              </a:rPr>
              <a:t># </a:t>
            </a:r>
            <a:r>
              <a:rPr lang="pl-PL" sz="900" spc="-40" dirty="0">
                <a:solidFill>
                  <a:srgbClr val="6A9955"/>
                </a:solidFill>
                <a:latin typeface="Consolas" panose="020B0609020204030204" pitchFamily="49" charset="0"/>
              </a:rPr>
              <a:t>[m] długość stopy</a:t>
            </a:r>
            <a:endParaRPr lang="pl-PL" sz="900" spc="-40" dirty="0">
              <a:solidFill>
                <a:srgbClr val="CCCCCC"/>
              </a:solidFill>
              <a:latin typeface="Consolas" panose="020B0609020204030204" pitchFamily="49" charset="0"/>
            </a:endParaRPr>
          </a:p>
          <a:p>
            <a:pPr>
              <a:lnSpc>
                <a:spcPts val="900"/>
              </a:lnSpc>
            </a:pPr>
            <a:r>
              <a:rPr lang="pl-PL" sz="900" spc="-40" dirty="0">
                <a:solidFill>
                  <a:srgbClr val="CCCCCC"/>
                </a:solidFill>
                <a:latin typeface="Consolas" panose="020B0609020204030204" pitchFamily="49" charset="0"/>
              </a:rPr>
              <a:t>    </a:t>
            </a:r>
            <a:r>
              <a:rPr lang="pl-PL" sz="900" spc="-40" dirty="0" err="1">
                <a:solidFill>
                  <a:srgbClr val="CCCCCC"/>
                </a:solidFill>
                <a:latin typeface="Consolas" panose="020B0609020204030204" pitchFamily="49" charset="0"/>
              </a:rPr>
              <a:t>foot_width</a:t>
            </a:r>
            <a:r>
              <a:rPr lang="pl-PL" sz="900" spc="-40" dirty="0">
                <a:solidFill>
                  <a:srgbClr val="CCCCCC"/>
                </a:solidFill>
                <a:latin typeface="Consolas" panose="020B0609020204030204" pitchFamily="49" charset="0"/>
              </a:rPr>
              <a:t>:     </a:t>
            </a:r>
            <a:r>
              <a:rPr lang="pl-PL" sz="900" spc="-40" dirty="0" err="1">
                <a:solidFill>
                  <a:srgbClr val="4EC9B0"/>
                </a:solidFill>
                <a:latin typeface="Consolas" panose="020B0609020204030204" pitchFamily="49" charset="0"/>
              </a:rPr>
              <a:t>float</a:t>
            </a:r>
            <a:r>
              <a:rPr lang="pl-PL" sz="900" spc="-40" dirty="0">
                <a:solidFill>
                  <a:srgbClr val="CCCCCC"/>
                </a:solidFill>
                <a:latin typeface="Consolas" panose="020B0609020204030204" pitchFamily="49" charset="0"/>
              </a:rPr>
              <a:t> </a:t>
            </a:r>
            <a:r>
              <a:rPr lang="pl-PL" sz="900" spc="-40" dirty="0">
                <a:solidFill>
                  <a:srgbClr val="D4D4D4"/>
                </a:solidFill>
                <a:latin typeface="Consolas" panose="020B0609020204030204" pitchFamily="49" charset="0"/>
              </a:rPr>
              <a:t>=</a:t>
            </a:r>
            <a:r>
              <a:rPr lang="pl-PL" sz="900" spc="-40" dirty="0">
                <a:solidFill>
                  <a:srgbClr val="CCCCCC"/>
                </a:solidFill>
                <a:latin typeface="Consolas" panose="020B0609020204030204" pitchFamily="49" charset="0"/>
              </a:rPr>
              <a:t> </a:t>
            </a:r>
            <a:r>
              <a:rPr lang="pl-PL" sz="900" spc="-40" dirty="0">
                <a:solidFill>
                  <a:srgbClr val="B5CEA8"/>
                </a:solidFill>
                <a:latin typeface="Consolas" panose="020B0609020204030204" pitchFamily="49" charset="0"/>
              </a:rPr>
              <a:t>0.10</a:t>
            </a:r>
            <a:r>
              <a:rPr lang="pl-PL" sz="900" spc="-40" dirty="0">
                <a:solidFill>
                  <a:srgbClr val="CCCCCC"/>
                </a:solidFill>
                <a:latin typeface="Consolas" panose="020B0609020204030204" pitchFamily="49" charset="0"/>
              </a:rPr>
              <a:t>  </a:t>
            </a:r>
            <a:r>
              <a:rPr lang="pl-PL" sz="900" spc="-40" dirty="0" smtClean="0">
                <a:solidFill>
                  <a:srgbClr val="6A9955"/>
                </a:solidFill>
                <a:latin typeface="Consolas" panose="020B0609020204030204" pitchFamily="49" charset="0"/>
              </a:rPr>
              <a:t># </a:t>
            </a:r>
            <a:r>
              <a:rPr lang="pl-PL" sz="900" spc="-40" dirty="0">
                <a:solidFill>
                  <a:srgbClr val="6A9955"/>
                </a:solidFill>
                <a:latin typeface="Consolas" panose="020B0609020204030204" pitchFamily="49" charset="0"/>
              </a:rPr>
              <a:t>[m] szerokość stopy</a:t>
            </a:r>
            <a:endParaRPr lang="pl-PL" sz="900" spc="-40" dirty="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r>
            <a:br>
              <a:rPr lang="pl-PL" sz="900" dirty="0">
                <a:solidFill>
                  <a:srgbClr val="CCCCCC"/>
                </a:solidFill>
                <a:latin typeface="Consolas" panose="020B0609020204030204" pitchFamily="49" charset="0"/>
              </a:rPr>
            </a:br>
            <a:r>
              <a:rPr lang="pl-PL" sz="900" dirty="0">
                <a:solidFill>
                  <a:srgbClr val="CCCCCC"/>
                </a:solidFill>
                <a:latin typeface="Consolas" panose="020B0609020204030204" pitchFamily="49" charset="0"/>
              </a:rPr>
              <a:t/>
            </a:r>
            <a:br>
              <a:rPr lang="pl-PL" sz="900" dirty="0">
                <a:solidFill>
                  <a:srgbClr val="CCCCCC"/>
                </a:solidFill>
                <a:latin typeface="Consolas" panose="020B0609020204030204" pitchFamily="49" charset="0"/>
              </a:rPr>
            </a:br>
            <a:r>
              <a:rPr lang="pl-PL" sz="900" spc="-100" dirty="0">
                <a:solidFill>
                  <a:srgbClr val="569CD6"/>
                </a:solidFill>
                <a:latin typeface="Consolas" panose="020B0609020204030204" pitchFamily="49" charset="0"/>
              </a:rPr>
              <a:t>def</a:t>
            </a:r>
            <a:r>
              <a:rPr lang="pl-PL" sz="900" spc="-100" dirty="0">
                <a:solidFill>
                  <a:srgbClr val="CCCCCC"/>
                </a:solidFill>
                <a:latin typeface="Consolas" panose="020B0609020204030204" pitchFamily="49" charset="0"/>
              </a:rPr>
              <a:t> </a:t>
            </a:r>
            <a:r>
              <a:rPr lang="pl-PL" sz="900" spc="-100" dirty="0" err="1">
                <a:solidFill>
                  <a:srgbClr val="DCDCAA"/>
                </a:solidFill>
                <a:latin typeface="Consolas" panose="020B0609020204030204" pitchFamily="49" charset="0"/>
              </a:rPr>
              <a:t>verify_footstep</a:t>
            </a:r>
            <a:r>
              <a:rPr lang="pl-PL" sz="900" spc="-100" dirty="0">
                <a:solidFill>
                  <a:srgbClr val="CCCCCC"/>
                </a:solidFill>
                <a:latin typeface="Consolas" panose="020B0609020204030204" pitchFamily="49" charset="0"/>
              </a:rPr>
              <a:t>(</a:t>
            </a:r>
            <a:r>
              <a:rPr lang="pl-PL" sz="900" spc="-100" dirty="0" err="1">
                <a:solidFill>
                  <a:srgbClr val="9CDCFE"/>
                </a:solidFill>
                <a:latin typeface="Consolas" panose="020B0609020204030204" pitchFamily="49" charset="0"/>
              </a:rPr>
              <a:t>prev</a:t>
            </a:r>
            <a:r>
              <a:rPr lang="pl-PL" sz="900" spc="-100" dirty="0">
                <a:solidFill>
                  <a:srgbClr val="CCCCCC"/>
                </a:solidFill>
                <a:latin typeface="Consolas" panose="020B0609020204030204" pitchFamily="49" charset="0"/>
              </a:rPr>
              <a:t>: </a:t>
            </a:r>
            <a:r>
              <a:rPr lang="pl-PL" sz="900" spc="-100" dirty="0" err="1">
                <a:solidFill>
                  <a:srgbClr val="4EC9B0"/>
                </a:solidFill>
                <a:latin typeface="Consolas" panose="020B0609020204030204" pitchFamily="49" charset="0"/>
              </a:rPr>
              <a:t>dict</a:t>
            </a:r>
            <a:r>
              <a:rPr lang="pl-PL" sz="900" spc="-100" dirty="0">
                <a:solidFill>
                  <a:srgbClr val="CCCCCC"/>
                </a:solidFill>
                <a:latin typeface="Consolas" panose="020B0609020204030204" pitchFamily="49" charset="0"/>
              </a:rPr>
              <a:t>, </a:t>
            </a:r>
            <a:r>
              <a:rPr lang="pl-PL" sz="900" spc="-100" dirty="0" err="1">
                <a:solidFill>
                  <a:srgbClr val="9CDCFE"/>
                </a:solidFill>
                <a:latin typeface="Consolas" panose="020B0609020204030204" pitchFamily="49" charset="0"/>
              </a:rPr>
              <a:t>curr</a:t>
            </a:r>
            <a:r>
              <a:rPr lang="pl-PL" sz="900" spc="-100" dirty="0">
                <a:solidFill>
                  <a:srgbClr val="CCCCCC"/>
                </a:solidFill>
                <a:latin typeface="Consolas" panose="020B0609020204030204" pitchFamily="49" charset="0"/>
              </a:rPr>
              <a:t>: </a:t>
            </a:r>
            <a:r>
              <a:rPr lang="pl-PL" sz="900" spc="-100" dirty="0" err="1">
                <a:solidFill>
                  <a:srgbClr val="4EC9B0"/>
                </a:solidFill>
                <a:latin typeface="Consolas" panose="020B0609020204030204" pitchFamily="49" charset="0"/>
              </a:rPr>
              <a:t>dict</a:t>
            </a:r>
            <a:r>
              <a:rPr lang="pl-PL" sz="900" spc="-100" dirty="0">
                <a:solidFill>
                  <a:srgbClr val="CCCCCC"/>
                </a:solidFill>
                <a:latin typeface="Consolas" panose="020B0609020204030204" pitchFamily="49" charset="0"/>
              </a:rPr>
              <a:t>,</a:t>
            </a:r>
          </a:p>
          <a:p>
            <a:pPr>
              <a:lnSpc>
                <a:spcPts val="900"/>
              </a:lnSpc>
            </a:pPr>
            <a:r>
              <a:rPr lang="pl-PL" sz="900" spc="-100" dirty="0">
                <a:solidFill>
                  <a:srgbClr val="CCCCCC"/>
                </a:solidFill>
                <a:latin typeface="Consolas" panose="020B0609020204030204" pitchFamily="49" charset="0"/>
              </a:rPr>
              <a:t>                    </a:t>
            </a:r>
            <a:r>
              <a:rPr lang="pl-PL" sz="900" spc="-100" dirty="0" err="1">
                <a:solidFill>
                  <a:srgbClr val="9CDCFE"/>
                </a:solidFill>
                <a:latin typeface="Consolas" panose="020B0609020204030204" pitchFamily="49" charset="0"/>
              </a:rPr>
              <a:t>cfg</a:t>
            </a:r>
            <a:r>
              <a:rPr lang="pl-PL" sz="900" spc="-100" dirty="0">
                <a:solidFill>
                  <a:srgbClr val="CCCCCC"/>
                </a:solidFill>
                <a:latin typeface="Consolas" panose="020B0609020204030204" pitchFamily="49" charset="0"/>
              </a:rPr>
              <a:t>: </a:t>
            </a:r>
            <a:r>
              <a:rPr lang="pl-PL" sz="900" spc="-100" dirty="0" err="1">
                <a:solidFill>
                  <a:srgbClr val="4EC9B0"/>
                </a:solidFill>
                <a:latin typeface="Consolas" panose="020B0609020204030204" pitchFamily="49" charset="0"/>
              </a:rPr>
              <a:t>FootstepConstraints</a:t>
            </a:r>
            <a:r>
              <a:rPr lang="pl-PL" sz="900" spc="-100" dirty="0">
                <a:solidFill>
                  <a:srgbClr val="CCCCCC"/>
                </a:solidFill>
                <a:latin typeface="Consolas" panose="020B0609020204030204" pitchFamily="49" charset="0"/>
              </a:rPr>
              <a:t> </a:t>
            </a:r>
            <a:r>
              <a:rPr lang="pl-PL" sz="900" spc="-100" dirty="0">
                <a:solidFill>
                  <a:srgbClr val="D4D4D4"/>
                </a:solidFill>
                <a:latin typeface="Consolas" panose="020B0609020204030204" pitchFamily="49" charset="0"/>
              </a:rPr>
              <a:t>=</a:t>
            </a:r>
            <a:r>
              <a:rPr lang="pl-PL" sz="900" spc="-100" dirty="0">
                <a:solidFill>
                  <a:srgbClr val="CCCCCC"/>
                </a:solidFill>
                <a:latin typeface="Consolas" panose="020B0609020204030204" pitchFamily="49" charset="0"/>
              </a:rPr>
              <a:t> </a:t>
            </a:r>
            <a:r>
              <a:rPr lang="pl-PL" sz="900" spc="-100" dirty="0" err="1">
                <a:solidFill>
                  <a:srgbClr val="4EC9B0"/>
                </a:solidFill>
                <a:latin typeface="Consolas" panose="020B0609020204030204" pitchFamily="49" charset="0"/>
              </a:rPr>
              <a:t>FootstepConstraints</a:t>
            </a:r>
            <a:r>
              <a:rPr lang="pl-PL" sz="900" spc="-100" dirty="0">
                <a:solidFill>
                  <a:srgbClr val="CCCCCC"/>
                </a:solidFill>
                <a:latin typeface="Consolas" panose="020B0609020204030204" pitchFamily="49" charset="0"/>
              </a:rPr>
              <a:t>()</a:t>
            </a:r>
          </a:p>
          <a:p>
            <a:pPr>
              <a:lnSpc>
                <a:spcPts val="900"/>
              </a:lnSpc>
            </a:pPr>
            <a:r>
              <a:rPr lang="pl-PL" sz="900" spc="-100" dirty="0">
                <a:solidFill>
                  <a:srgbClr val="CCCCCC"/>
                </a:solidFill>
                <a:latin typeface="Consolas" panose="020B0609020204030204" pitchFamily="49" charset="0"/>
              </a:rPr>
              <a:t>                    ) -&gt; </a:t>
            </a:r>
            <a:r>
              <a:rPr lang="pl-PL" sz="900" spc="-100" dirty="0" err="1">
                <a:solidFill>
                  <a:srgbClr val="4EC9B0"/>
                </a:solidFill>
                <a:latin typeface="Consolas" panose="020B0609020204030204" pitchFamily="49" charset="0"/>
              </a:rPr>
              <a:t>dict</a:t>
            </a:r>
            <a:r>
              <a:rPr lang="pl-PL" sz="900" spc="-1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endParaRPr lang="pl-PL" sz="900" dirty="0">
              <a:solidFill>
                <a:srgbClr val="CCCCCC"/>
              </a:solidFill>
              <a:latin typeface="Consolas" panose="020B0609020204030204" pitchFamily="49" charset="0"/>
            </a:endParaRPr>
          </a:p>
          <a:p>
            <a:pPr>
              <a:lnSpc>
                <a:spcPts val="900"/>
              </a:lnSpc>
            </a:pPr>
            <a:r>
              <a:rPr lang="pl-PL" sz="900" dirty="0">
                <a:solidFill>
                  <a:srgbClr val="CE9178"/>
                </a:solidFill>
                <a:latin typeface="Consolas" panose="020B0609020204030204" pitchFamily="49" charset="0"/>
              </a:rPr>
              <a:t>    Weryfikuje krok z </a:t>
            </a:r>
            <a:r>
              <a:rPr lang="pl-PL" sz="900" dirty="0" err="1">
                <a:solidFill>
                  <a:srgbClr val="CE9178"/>
                </a:solidFill>
                <a:latin typeface="Consolas" panose="020B0609020204030204" pitchFamily="49" charset="0"/>
              </a:rPr>
              <a:t>prev</a:t>
            </a:r>
            <a:r>
              <a:rPr lang="pl-PL" sz="900" dirty="0">
                <a:solidFill>
                  <a:srgbClr val="CE9178"/>
                </a:solidFill>
                <a:latin typeface="Consolas" panose="020B0609020204030204" pitchFamily="49" charset="0"/>
              </a:rPr>
              <a:t> → </a:t>
            </a:r>
            <a:r>
              <a:rPr lang="pl-PL" sz="900" dirty="0" err="1">
                <a:solidFill>
                  <a:srgbClr val="CE9178"/>
                </a:solidFill>
                <a:latin typeface="Consolas" panose="020B0609020204030204" pitchFamily="49" charset="0"/>
              </a:rPr>
              <a:t>curr</a:t>
            </a:r>
            <a:r>
              <a:rPr lang="pl-PL" sz="900" dirty="0">
                <a:solidFill>
                  <a:srgbClr val="CE9178"/>
                </a:solidFill>
                <a:latin typeface="Consolas" panose="020B0609020204030204" pitchFamily="49" charset="0"/>
              </a:rPr>
              <a:t>.</a:t>
            </a:r>
            <a:endParaRPr lang="pl-PL" sz="900" dirty="0">
              <a:solidFill>
                <a:srgbClr val="CCCCCC"/>
              </a:solidFill>
              <a:latin typeface="Consolas" panose="020B0609020204030204" pitchFamily="49" charset="0"/>
            </a:endParaRPr>
          </a:p>
          <a:p>
            <a:pPr>
              <a:lnSpc>
                <a:spcPts val="900"/>
              </a:lnSpc>
            </a:pPr>
            <a:r>
              <a:rPr lang="pl-PL" sz="900" dirty="0">
                <a:solidFill>
                  <a:srgbClr val="CE9178"/>
                </a:solidFill>
                <a:latin typeface="Consolas" panose="020B0609020204030204" pitchFamily="49" charset="0"/>
              </a:rPr>
              <a:t>    Słowniki: {'x','y','</a:t>
            </a:r>
            <a:r>
              <a:rPr lang="pl-PL" sz="900" dirty="0" err="1">
                <a:solidFill>
                  <a:srgbClr val="CE9178"/>
                </a:solidFill>
                <a:latin typeface="Consolas" panose="020B0609020204030204" pitchFamily="49" charset="0"/>
              </a:rPr>
              <a:t>yaw</a:t>
            </a:r>
            <a:r>
              <a:rPr lang="pl-PL" sz="900" dirty="0">
                <a:solidFill>
                  <a:srgbClr val="CE9178"/>
                </a:solidFill>
                <a:latin typeface="Consolas" panose="020B0609020204030204" pitchFamily="49" charset="0"/>
              </a:rPr>
              <a:t>','z','</a:t>
            </a:r>
            <a:r>
              <a:rPr lang="pl-PL" sz="900" dirty="0" err="1">
                <a:solidFill>
                  <a:srgbClr val="CE9178"/>
                </a:solidFill>
                <a:latin typeface="Consolas" panose="020B0609020204030204" pitchFamily="49" charset="0"/>
              </a:rPr>
              <a:t>left</a:t>
            </a:r>
            <a:r>
              <a:rPr lang="pl-PL" sz="900" dirty="0">
                <a:solidFill>
                  <a:srgbClr val="CE9178"/>
                </a:solidFill>
                <a:latin typeface="Consolas" panose="020B0609020204030204" pitchFamily="49" charset="0"/>
              </a:rPr>
              <a:t>'} (z w metrach)</a:t>
            </a:r>
            <a:endParaRPr lang="pl-PL" sz="900" dirty="0">
              <a:solidFill>
                <a:srgbClr val="CCCCCC"/>
              </a:solidFill>
              <a:latin typeface="Consolas" panose="020B0609020204030204" pitchFamily="49" charset="0"/>
            </a:endParaRPr>
          </a:p>
          <a:p>
            <a:pPr>
              <a:lnSpc>
                <a:spcPts val="900"/>
              </a:lnSpc>
            </a:pPr>
            <a:r>
              <a:rPr lang="pl-PL" sz="900" dirty="0">
                <a:solidFill>
                  <a:srgbClr val="CE9178"/>
                </a:solidFill>
                <a:latin typeface="Consolas" panose="020B0609020204030204" pitchFamily="49" charset="0"/>
              </a:rPr>
              <a:t>    Zwraca {'ok': </a:t>
            </a:r>
            <a:r>
              <a:rPr lang="pl-PL" sz="900" dirty="0" err="1">
                <a:solidFill>
                  <a:srgbClr val="CE9178"/>
                </a:solidFill>
                <a:latin typeface="Consolas" panose="020B0609020204030204" pitchFamily="49" charset="0"/>
              </a:rPr>
              <a:t>bool</a:t>
            </a:r>
            <a:r>
              <a:rPr lang="pl-PL" sz="900" dirty="0">
                <a:solidFill>
                  <a:srgbClr val="CE9178"/>
                </a:solidFill>
                <a:latin typeface="Consolas" panose="020B0609020204030204" pitchFamily="49" charset="0"/>
              </a:rPr>
              <a:t>, '</a:t>
            </a:r>
            <a:r>
              <a:rPr lang="pl-PL" sz="900" dirty="0" err="1">
                <a:solidFill>
                  <a:srgbClr val="CE9178"/>
                </a:solidFill>
                <a:latin typeface="Consolas" panose="020B0609020204030204" pitchFamily="49" charset="0"/>
              </a:rPr>
              <a:t>reason</a:t>
            </a:r>
            <a:r>
              <a:rPr lang="pl-PL" sz="900" dirty="0">
                <a:solidFill>
                  <a:srgbClr val="CE9178"/>
                </a:solidFill>
                <a:latin typeface="Consolas" panose="020B0609020204030204" pitchFamily="49" charset="0"/>
              </a:rPr>
              <a:t>': </a:t>
            </a:r>
            <a:r>
              <a:rPr lang="pl-PL" sz="900" dirty="0" err="1">
                <a:solidFill>
                  <a:srgbClr val="CE9178"/>
                </a:solidFill>
                <a:latin typeface="Consolas" panose="020B0609020204030204" pitchFamily="49" charset="0"/>
              </a:rPr>
              <a:t>str</a:t>
            </a:r>
            <a:r>
              <a:rPr lang="pl-PL" sz="900" dirty="0">
                <a:solidFill>
                  <a:srgbClr val="CE9178"/>
                </a:solidFill>
                <a:latin typeface="Consolas" panose="020B0609020204030204" pitchFamily="49" charset="0"/>
              </a:rPr>
              <a:t>, '</a:t>
            </a:r>
            <a:r>
              <a:rPr lang="pl-PL" sz="900" dirty="0" err="1">
                <a:solidFill>
                  <a:srgbClr val="CE9178"/>
                </a:solidFill>
                <a:latin typeface="Consolas" panose="020B0609020204030204" pitchFamily="49" charset="0"/>
              </a:rPr>
              <a:t>metrics</a:t>
            </a:r>
            <a:r>
              <a:rPr lang="pl-PL" sz="900" dirty="0">
                <a:solidFill>
                  <a:srgbClr val="CE9178"/>
                </a:solidFill>
                <a:latin typeface="Consolas" panose="020B0609020204030204" pitchFamily="49" charset="0"/>
              </a:rPr>
              <a:t>': </a:t>
            </a:r>
            <a:r>
              <a:rPr lang="pl-PL" sz="900" dirty="0" err="1">
                <a:solidFill>
                  <a:srgbClr val="CE9178"/>
                </a:solidFill>
                <a:latin typeface="Consolas" panose="020B0609020204030204" pitchFamily="49" charset="0"/>
              </a:rPr>
              <a:t>dict</a:t>
            </a:r>
            <a:r>
              <a:rPr lang="pl-PL" sz="900" dirty="0">
                <a:solidFill>
                  <a:srgbClr val="CE9178"/>
                </a:solidFill>
                <a:latin typeface="Consolas" panose="020B0609020204030204" pitchFamily="49" charset="0"/>
              </a:rPr>
              <a:t>}</a:t>
            </a:r>
            <a:endParaRPr lang="pl-PL" sz="900" dirty="0">
              <a:solidFill>
                <a:srgbClr val="CCCCCC"/>
              </a:solidFill>
              <a:latin typeface="Consolas" panose="020B0609020204030204" pitchFamily="49" charset="0"/>
            </a:endParaRPr>
          </a:p>
          <a:p>
            <a:pPr>
              <a:lnSpc>
                <a:spcPts val="900"/>
              </a:lnSpc>
            </a:pPr>
            <a:r>
              <a:rPr lang="pl-PL" sz="900" dirty="0">
                <a:solidFill>
                  <a:srgbClr val="CE9178"/>
                </a:solidFill>
                <a:latin typeface="Consolas" panose="020B0609020204030204" pitchFamily="49" charset="0"/>
              </a:rPr>
              <a:t>    """</a:t>
            </a:r>
            <a:endParaRPr lang="pl-PL" sz="900" dirty="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dx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curr</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'x'</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prev</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'x'</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dy</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curr</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'y'</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prev</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'y'</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dz</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curr.get</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'z'</a:t>
            </a:r>
            <a:r>
              <a:rPr lang="pl-PL" sz="900" dirty="0">
                <a:solidFill>
                  <a:srgbClr val="CCCCCC"/>
                </a:solidFill>
                <a:latin typeface="Consolas" panose="020B0609020204030204" pitchFamily="49" charset="0"/>
              </a:rPr>
              <a:t>, </a:t>
            </a:r>
            <a:r>
              <a:rPr lang="pl-PL" sz="900" dirty="0">
                <a:solidFill>
                  <a:srgbClr val="B5CEA8"/>
                </a:solidFill>
                <a:latin typeface="Consolas" panose="020B0609020204030204" pitchFamily="49" charset="0"/>
              </a:rPr>
              <a:t>0.0</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prev.get</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'z'</a:t>
            </a:r>
            <a:r>
              <a:rPr lang="pl-PL" sz="900" dirty="0">
                <a:solidFill>
                  <a:srgbClr val="CCCCCC"/>
                </a:solidFill>
                <a:latin typeface="Consolas" panose="020B0609020204030204" pitchFamily="49" charset="0"/>
              </a:rPr>
              <a:t>, </a:t>
            </a:r>
            <a:r>
              <a:rPr lang="pl-PL" sz="900" dirty="0">
                <a:solidFill>
                  <a:srgbClr val="B5CEA8"/>
                </a:solidFill>
                <a:latin typeface="Consolas" panose="020B0609020204030204" pitchFamily="49" charset="0"/>
              </a:rPr>
              <a:t>0.0</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dyaw</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DCDCAA"/>
                </a:solidFill>
                <a:latin typeface="Consolas" panose="020B0609020204030204" pitchFamily="49" charset="0"/>
              </a:rPr>
              <a:t>abs</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curr</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yaw</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prev</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yaw</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6A9955"/>
                </a:solidFill>
                <a:latin typeface="Consolas" panose="020B0609020204030204" pitchFamily="49" charset="0"/>
              </a:rPr>
              <a:t># Normalizacja kata do [-pi, pi]</a:t>
            </a:r>
            <a:endParaRPr lang="pl-PL" sz="900" dirty="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dyaw</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DCDCAA"/>
                </a:solidFill>
                <a:latin typeface="Consolas" panose="020B0609020204030204" pitchFamily="49" charset="0"/>
              </a:rPr>
              <a:t>abs</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dyaw</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np.pi</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a:solidFill>
                  <a:srgbClr val="B5CEA8"/>
                </a:solidFill>
                <a:latin typeface="Consolas" panose="020B0609020204030204" pitchFamily="49" charset="0"/>
              </a:rPr>
              <a:t>2</a:t>
            </a:r>
            <a:r>
              <a:rPr lang="pl-PL" sz="900" dirty="0">
                <a:solidFill>
                  <a:srgbClr val="D4D4D4"/>
                </a:solidFill>
                <a:latin typeface="Consolas" panose="020B0609020204030204" pitchFamily="49" charset="0"/>
              </a:rPr>
              <a:t>*</a:t>
            </a:r>
            <a:r>
              <a:rPr lang="pl-PL" sz="900" dirty="0" err="1">
                <a:solidFill>
                  <a:srgbClr val="CCCCCC"/>
                </a:solidFill>
                <a:latin typeface="Consolas" panose="020B0609020204030204" pitchFamily="49" charset="0"/>
              </a:rPr>
              <a:t>np.pi</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np.pi</a:t>
            </a:r>
            <a:r>
              <a:rPr lang="pl-PL" sz="900" dirty="0">
                <a:solidFill>
                  <a:srgbClr val="CCCCCC"/>
                </a:solidFill>
                <a:latin typeface="Consolas" panose="020B0609020204030204" pitchFamily="49" charset="0"/>
              </a:rPr>
              <a:t>)</a:t>
            </a:r>
          </a:p>
          <a:p>
            <a:pPr>
              <a:lnSpc>
                <a:spcPts val="900"/>
              </a:lnSpc>
            </a:pPr>
            <a:endParaRPr lang="pl-PL" sz="900" dirty="0" smtClean="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t>
            </a:r>
            <a:r>
              <a:rPr lang="pl-PL" sz="900" dirty="0" smtClean="0">
                <a:solidFill>
                  <a:srgbClr val="CCCCCC"/>
                </a:solidFill>
                <a:latin typeface="Consolas" panose="020B0609020204030204" pitchFamily="49" charset="0"/>
              </a:rPr>
              <a:t>   </a:t>
            </a:r>
            <a:r>
              <a:rPr lang="pl-PL" sz="900" dirty="0" smtClean="0">
                <a:solidFill>
                  <a:srgbClr val="6A9955"/>
                </a:solidFill>
                <a:latin typeface="Consolas" panose="020B0609020204030204" pitchFamily="49" charset="0"/>
              </a:rPr>
              <a:t># Długoś </a:t>
            </a:r>
            <a:r>
              <a:rPr lang="pl-PL" sz="900" dirty="0">
                <a:solidFill>
                  <a:srgbClr val="6A9955"/>
                </a:solidFill>
                <a:latin typeface="Consolas" panose="020B0609020204030204" pitchFamily="49" charset="0"/>
              </a:rPr>
              <a:t>w kierunku ruchu i na boki</a:t>
            </a:r>
            <a:endParaRPr lang="pl-PL" sz="900" dirty="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yaw_ref</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prev</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yaw</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step_fwd</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dx</a:t>
            </a:r>
            <a:r>
              <a:rPr lang="pl-PL" sz="900" dirty="0">
                <a:solidFill>
                  <a:srgbClr val="D4D4D4"/>
                </a:solidFill>
                <a:latin typeface="Consolas" panose="020B0609020204030204" pitchFamily="49" charset="0"/>
              </a:rPr>
              <a:t>*</a:t>
            </a:r>
            <a:r>
              <a:rPr lang="pl-PL" sz="900" dirty="0" err="1">
                <a:solidFill>
                  <a:srgbClr val="CCCCCC"/>
                </a:solidFill>
                <a:latin typeface="Consolas" panose="020B0609020204030204" pitchFamily="49" charset="0"/>
              </a:rPr>
              <a:t>np.cos</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yaw_ref</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dy</a:t>
            </a:r>
            <a:r>
              <a:rPr lang="pl-PL" sz="900" dirty="0">
                <a:solidFill>
                  <a:srgbClr val="D4D4D4"/>
                </a:solidFill>
                <a:latin typeface="Consolas" panose="020B0609020204030204" pitchFamily="49" charset="0"/>
              </a:rPr>
              <a:t>*</a:t>
            </a:r>
            <a:r>
              <a:rPr lang="pl-PL" sz="900" dirty="0" err="1">
                <a:solidFill>
                  <a:srgbClr val="CCCCCC"/>
                </a:solidFill>
                <a:latin typeface="Consolas" panose="020B0609020204030204" pitchFamily="49" charset="0"/>
              </a:rPr>
              <a:t>np.sin</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yaw_ref</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step_side</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DCDCAA"/>
                </a:solidFill>
                <a:latin typeface="Consolas" panose="020B0609020204030204" pitchFamily="49" charset="0"/>
              </a:rPr>
              <a:t>abs</a:t>
            </a:r>
            <a:r>
              <a:rPr lang="pl-PL" sz="900" dirty="0">
                <a:solidFill>
                  <a:srgbClr val="CCCCCC"/>
                </a:solidFill>
                <a:latin typeface="Consolas" panose="020B0609020204030204" pitchFamily="49" charset="0"/>
              </a:rPr>
              <a:t>(</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dx</a:t>
            </a:r>
            <a:r>
              <a:rPr lang="pl-PL" sz="900" dirty="0">
                <a:solidFill>
                  <a:srgbClr val="D4D4D4"/>
                </a:solidFill>
                <a:latin typeface="Consolas" panose="020B0609020204030204" pitchFamily="49" charset="0"/>
              </a:rPr>
              <a:t>*</a:t>
            </a:r>
            <a:r>
              <a:rPr lang="pl-PL" sz="900" dirty="0" err="1">
                <a:solidFill>
                  <a:srgbClr val="CCCCCC"/>
                </a:solidFill>
                <a:latin typeface="Consolas" panose="020B0609020204030204" pitchFamily="49" charset="0"/>
              </a:rPr>
              <a:t>np.sin</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yaw_ref</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dy</a:t>
            </a:r>
            <a:r>
              <a:rPr lang="pl-PL" sz="900" dirty="0">
                <a:solidFill>
                  <a:srgbClr val="D4D4D4"/>
                </a:solidFill>
                <a:latin typeface="Consolas" panose="020B0609020204030204" pitchFamily="49" charset="0"/>
              </a:rPr>
              <a:t>*</a:t>
            </a:r>
            <a:r>
              <a:rPr lang="pl-PL" sz="900" dirty="0" err="1">
                <a:solidFill>
                  <a:srgbClr val="CCCCCC"/>
                </a:solidFill>
                <a:latin typeface="Consolas" panose="020B0609020204030204" pitchFamily="49" charset="0"/>
              </a:rPr>
              <a:t>np.cos</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yaw_ref</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step_dist</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np.hypot</a:t>
            </a:r>
            <a:r>
              <a:rPr lang="pl-PL" sz="900" dirty="0">
                <a:solidFill>
                  <a:srgbClr val="CCCCCC"/>
                </a:solidFill>
                <a:latin typeface="Consolas" panose="020B0609020204030204" pitchFamily="49" charset="0"/>
              </a:rPr>
              <a:t>(dx, </a:t>
            </a:r>
            <a:r>
              <a:rPr lang="pl-PL" sz="900" dirty="0" err="1">
                <a:solidFill>
                  <a:srgbClr val="CCCCCC"/>
                </a:solidFill>
                <a:latin typeface="Consolas" panose="020B0609020204030204" pitchFamily="49" charset="0"/>
              </a:rPr>
              <a:t>dy</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r>
            <a:br>
              <a:rPr lang="pl-PL" sz="900" dirty="0">
                <a:solidFill>
                  <a:srgbClr val="CCCCCC"/>
                </a:solidFill>
                <a:latin typeface="Consolas" panose="020B0609020204030204" pitchFamily="49" charset="0"/>
              </a:rPr>
            </a:b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checks</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step_len_ok</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step_dist</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&lt;=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cfg.max_step_len</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step_width_ok</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step_side</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&gt;=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cfg.min_step_width</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max_width_ok</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step_side</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&lt;=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cfg.max_step_width</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yaw_ok</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dyaw</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&lt;=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cfg.max_delta_yaw</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height_ok</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DCDCAA"/>
                </a:solidFill>
                <a:latin typeface="Consolas" panose="020B0609020204030204" pitchFamily="49" charset="0"/>
              </a:rPr>
              <a:t>abs</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dz</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&lt;=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cfg.max_height</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p>
          <a:p>
            <a:pPr>
              <a:lnSpc>
                <a:spcPts val="900"/>
              </a:lnSpc>
            </a:pP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all_ok</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DCDCAA"/>
                </a:solidFill>
                <a:latin typeface="Consolas" panose="020B0609020204030204" pitchFamily="49" charset="0"/>
              </a:rPr>
              <a:t>all</a:t>
            </a:r>
            <a:r>
              <a:rPr lang="pl-PL" sz="900" dirty="0">
                <a:solidFill>
                  <a:srgbClr val="CCCCCC"/>
                </a:solidFill>
                <a:latin typeface="Consolas" panose="020B0609020204030204" pitchFamily="49" charset="0"/>
              </a:rPr>
              <a:t>(</a:t>
            </a:r>
            <a:r>
              <a:rPr lang="pl-PL" sz="900" dirty="0" err="1">
                <a:solidFill>
                  <a:srgbClr val="CCCCCC"/>
                </a:solidFill>
                <a:latin typeface="Consolas" panose="020B0609020204030204" pitchFamily="49" charset="0"/>
              </a:rPr>
              <a:t>checks.values</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spc="-120" dirty="0" err="1">
                <a:solidFill>
                  <a:srgbClr val="CCCCCC"/>
                </a:solidFill>
                <a:latin typeface="Consolas" panose="020B0609020204030204" pitchFamily="49" charset="0"/>
              </a:rPr>
              <a:t>reason</a:t>
            </a:r>
            <a:r>
              <a:rPr lang="pl-PL" sz="900" spc="-120" dirty="0">
                <a:solidFill>
                  <a:srgbClr val="CCCCCC"/>
                </a:solidFill>
                <a:latin typeface="Consolas" panose="020B0609020204030204" pitchFamily="49" charset="0"/>
              </a:rPr>
              <a:t> </a:t>
            </a:r>
            <a:r>
              <a:rPr lang="pl-PL" sz="900" spc="-120" dirty="0">
                <a:solidFill>
                  <a:srgbClr val="D4D4D4"/>
                </a:solidFill>
                <a:latin typeface="Consolas" panose="020B0609020204030204" pitchFamily="49" charset="0"/>
              </a:rPr>
              <a:t>=</a:t>
            </a:r>
            <a:r>
              <a:rPr lang="pl-PL" sz="900" spc="-120" dirty="0">
                <a:solidFill>
                  <a:srgbClr val="CCCCCC"/>
                </a:solidFill>
                <a:latin typeface="Consolas" panose="020B0609020204030204" pitchFamily="49" charset="0"/>
              </a:rPr>
              <a:t> </a:t>
            </a:r>
            <a:r>
              <a:rPr lang="pl-PL" sz="900" spc="-120" dirty="0">
                <a:solidFill>
                  <a:srgbClr val="CE9178"/>
                </a:solidFill>
                <a:latin typeface="Consolas" panose="020B0609020204030204" pitchFamily="49" charset="0"/>
              </a:rPr>
              <a:t>'OK'</a:t>
            </a:r>
            <a:r>
              <a:rPr lang="pl-PL" sz="900" spc="-120" dirty="0">
                <a:solidFill>
                  <a:srgbClr val="CCCCCC"/>
                </a:solidFill>
                <a:latin typeface="Consolas" panose="020B0609020204030204" pitchFamily="49" charset="0"/>
              </a:rPr>
              <a:t> </a:t>
            </a:r>
            <a:r>
              <a:rPr lang="pl-PL" sz="900" spc="-120" dirty="0" err="1">
                <a:solidFill>
                  <a:srgbClr val="C586C0"/>
                </a:solidFill>
                <a:latin typeface="Consolas" panose="020B0609020204030204" pitchFamily="49" charset="0"/>
              </a:rPr>
              <a:t>if</a:t>
            </a:r>
            <a:r>
              <a:rPr lang="pl-PL" sz="900" spc="-120" dirty="0">
                <a:solidFill>
                  <a:srgbClr val="CCCCCC"/>
                </a:solidFill>
                <a:latin typeface="Consolas" panose="020B0609020204030204" pitchFamily="49" charset="0"/>
              </a:rPr>
              <a:t> </a:t>
            </a:r>
            <a:r>
              <a:rPr lang="pl-PL" sz="900" spc="-120" dirty="0" err="1">
                <a:solidFill>
                  <a:srgbClr val="CCCCCC"/>
                </a:solidFill>
                <a:latin typeface="Consolas" panose="020B0609020204030204" pitchFamily="49" charset="0"/>
              </a:rPr>
              <a:t>all_ok</a:t>
            </a:r>
            <a:r>
              <a:rPr lang="pl-PL" sz="900" spc="-120" dirty="0">
                <a:solidFill>
                  <a:srgbClr val="CCCCCC"/>
                </a:solidFill>
                <a:latin typeface="Consolas" panose="020B0609020204030204" pitchFamily="49" charset="0"/>
              </a:rPr>
              <a:t> </a:t>
            </a:r>
            <a:r>
              <a:rPr lang="pl-PL" sz="900" spc="-120" dirty="0" err="1">
                <a:solidFill>
                  <a:srgbClr val="C586C0"/>
                </a:solidFill>
                <a:latin typeface="Consolas" panose="020B0609020204030204" pitchFamily="49" charset="0"/>
              </a:rPr>
              <a:t>else</a:t>
            </a:r>
            <a:r>
              <a:rPr lang="pl-PL" sz="900" spc="-120" dirty="0">
                <a:solidFill>
                  <a:srgbClr val="CCCCCC"/>
                </a:solidFill>
                <a:latin typeface="Consolas" panose="020B0609020204030204" pitchFamily="49" charset="0"/>
              </a:rPr>
              <a:t> </a:t>
            </a:r>
            <a:r>
              <a:rPr lang="pl-PL" sz="900" spc="-120" dirty="0">
                <a:solidFill>
                  <a:srgbClr val="CE9178"/>
                </a:solidFill>
                <a:latin typeface="Consolas" panose="020B0609020204030204" pitchFamily="49" charset="0"/>
              </a:rPr>
              <a:t>', '</a:t>
            </a:r>
            <a:r>
              <a:rPr lang="pl-PL" sz="900" spc="-120" dirty="0">
                <a:solidFill>
                  <a:srgbClr val="CCCCCC"/>
                </a:solidFill>
                <a:latin typeface="Consolas" panose="020B0609020204030204" pitchFamily="49" charset="0"/>
              </a:rPr>
              <a:t>.</a:t>
            </a:r>
            <a:r>
              <a:rPr lang="pl-PL" sz="900" spc="-120" dirty="0" err="1" smtClean="0">
                <a:solidFill>
                  <a:srgbClr val="CCCCCC"/>
                </a:solidFill>
                <a:latin typeface="Consolas" panose="020B0609020204030204" pitchFamily="49" charset="0"/>
              </a:rPr>
              <a:t>join</a:t>
            </a:r>
            <a:r>
              <a:rPr lang="pl-PL" sz="900" spc="-120" dirty="0" smtClean="0">
                <a:solidFill>
                  <a:srgbClr val="CCCCCC"/>
                </a:solidFill>
                <a:latin typeface="Consolas" panose="020B0609020204030204" pitchFamily="49" charset="0"/>
              </a:rPr>
              <a:t>(k </a:t>
            </a:r>
            <a:r>
              <a:rPr lang="pl-PL" sz="900" spc="-120" dirty="0">
                <a:solidFill>
                  <a:srgbClr val="C586C0"/>
                </a:solidFill>
                <a:latin typeface="Consolas" panose="020B0609020204030204" pitchFamily="49" charset="0"/>
              </a:rPr>
              <a:t>for</a:t>
            </a:r>
            <a:r>
              <a:rPr lang="pl-PL" sz="900" spc="-120" dirty="0">
                <a:solidFill>
                  <a:srgbClr val="CCCCCC"/>
                </a:solidFill>
                <a:latin typeface="Consolas" panose="020B0609020204030204" pitchFamily="49" charset="0"/>
              </a:rPr>
              <a:t> k, v </a:t>
            </a:r>
            <a:r>
              <a:rPr lang="pl-PL" sz="900" spc="-120" dirty="0">
                <a:solidFill>
                  <a:srgbClr val="C586C0"/>
                </a:solidFill>
                <a:latin typeface="Consolas" panose="020B0609020204030204" pitchFamily="49" charset="0"/>
              </a:rPr>
              <a:t>in</a:t>
            </a:r>
            <a:r>
              <a:rPr lang="pl-PL" sz="900" spc="-120" dirty="0">
                <a:solidFill>
                  <a:srgbClr val="CCCCCC"/>
                </a:solidFill>
                <a:latin typeface="Consolas" panose="020B0609020204030204" pitchFamily="49" charset="0"/>
              </a:rPr>
              <a:t> </a:t>
            </a:r>
            <a:r>
              <a:rPr lang="pl-PL" sz="900" spc="-120" dirty="0" err="1">
                <a:solidFill>
                  <a:srgbClr val="CCCCCC"/>
                </a:solidFill>
                <a:latin typeface="Consolas" panose="020B0609020204030204" pitchFamily="49" charset="0"/>
              </a:rPr>
              <a:t>checks.items</a:t>
            </a:r>
            <a:r>
              <a:rPr lang="pl-PL" sz="900" spc="-120" dirty="0">
                <a:solidFill>
                  <a:srgbClr val="CCCCCC"/>
                </a:solidFill>
                <a:latin typeface="Consolas" panose="020B0609020204030204" pitchFamily="49" charset="0"/>
              </a:rPr>
              <a:t>() </a:t>
            </a:r>
            <a:r>
              <a:rPr lang="pl-PL" sz="900" spc="-120" dirty="0" err="1">
                <a:solidFill>
                  <a:srgbClr val="C586C0"/>
                </a:solidFill>
                <a:latin typeface="Consolas" panose="020B0609020204030204" pitchFamily="49" charset="0"/>
              </a:rPr>
              <a:t>if</a:t>
            </a:r>
            <a:r>
              <a:rPr lang="pl-PL" sz="900" spc="-120" dirty="0">
                <a:solidFill>
                  <a:srgbClr val="CCCCCC"/>
                </a:solidFill>
                <a:latin typeface="Consolas" panose="020B0609020204030204" pitchFamily="49" charset="0"/>
              </a:rPr>
              <a:t> </a:t>
            </a:r>
            <a:r>
              <a:rPr lang="pl-PL" sz="900" spc="-120" dirty="0">
                <a:solidFill>
                  <a:srgbClr val="C586C0"/>
                </a:solidFill>
                <a:latin typeface="Consolas" panose="020B0609020204030204" pitchFamily="49" charset="0"/>
              </a:rPr>
              <a:t>not</a:t>
            </a:r>
            <a:r>
              <a:rPr lang="pl-PL" sz="900" spc="-120" dirty="0">
                <a:solidFill>
                  <a:srgbClr val="CCCCCC"/>
                </a:solidFill>
                <a:latin typeface="Consolas" panose="020B0609020204030204" pitchFamily="49" charset="0"/>
              </a:rPr>
              <a:t> v</a:t>
            </a:r>
            <a:r>
              <a:rPr lang="pl-PL" sz="900" spc="-120" dirty="0" smtClean="0">
                <a:solidFill>
                  <a:srgbClr val="CCCCCC"/>
                </a:solidFill>
                <a:latin typeface="Consolas" panose="020B0609020204030204" pitchFamily="49" charset="0"/>
              </a:rPr>
              <a:t>)</a:t>
            </a:r>
            <a:r>
              <a:rPr lang="pl-PL" sz="900" dirty="0">
                <a:solidFill>
                  <a:srgbClr val="CCCCCC"/>
                </a:solidFill>
                <a:latin typeface="Consolas" panose="020B0609020204030204" pitchFamily="49" charset="0"/>
              </a:rPr>
              <a:t/>
            </a:r>
            <a:br>
              <a:rPr lang="pl-PL" sz="900" dirty="0">
                <a:solidFill>
                  <a:srgbClr val="CCCCCC"/>
                </a:solidFill>
                <a:latin typeface="Consolas" panose="020B0609020204030204" pitchFamily="49" charset="0"/>
              </a:rPr>
            </a:b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metrics</a:t>
            </a:r>
            <a:r>
              <a:rPr lang="pl-PL" sz="900" dirty="0">
                <a:solidFill>
                  <a:srgbClr val="CCCCCC"/>
                </a:solidFill>
                <a:latin typeface="Consolas" panose="020B0609020204030204" pitchFamily="49" charset="0"/>
              </a:rPr>
              <a:t> </a:t>
            </a:r>
            <a:r>
              <a:rPr lang="pl-PL" sz="900" dirty="0">
                <a:solidFill>
                  <a:srgbClr val="D4D4D4"/>
                </a:solidFill>
                <a:latin typeface="Consolas" panose="020B0609020204030204" pitchFamily="49" charset="0"/>
              </a:rPr>
              <a:t>=</a:t>
            </a:r>
            <a:r>
              <a:rPr lang="pl-PL" sz="900" dirty="0">
                <a:solidFill>
                  <a:srgbClr val="CCCCCC"/>
                </a:solidFill>
                <a:latin typeface="Consolas" panose="020B0609020204030204" pitchFamily="49" charset="0"/>
              </a:rPr>
              <a:t> {</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step_fwd</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step_fwd</a:t>
            </a: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step_side</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step_side</a:t>
            </a:r>
            <a:r>
              <a:rPr lang="pl-PL" sz="90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spc="-60" dirty="0">
                <a:solidFill>
                  <a:srgbClr val="CE9178"/>
                </a:solidFill>
                <a:latin typeface="Consolas" panose="020B0609020204030204" pitchFamily="49" charset="0"/>
              </a:rPr>
              <a:t>'</a:t>
            </a:r>
            <a:r>
              <a:rPr lang="pl-PL" sz="900" spc="-60" dirty="0" err="1">
                <a:solidFill>
                  <a:srgbClr val="CE9178"/>
                </a:solidFill>
                <a:latin typeface="Consolas" panose="020B0609020204030204" pitchFamily="49" charset="0"/>
              </a:rPr>
              <a:t>step_dist</a:t>
            </a:r>
            <a:r>
              <a:rPr lang="pl-PL" sz="900" spc="-60" dirty="0">
                <a:solidFill>
                  <a:srgbClr val="CE9178"/>
                </a:solidFill>
                <a:latin typeface="Consolas" panose="020B0609020204030204" pitchFamily="49" charset="0"/>
              </a:rPr>
              <a:t>'</a:t>
            </a:r>
            <a:r>
              <a:rPr lang="pl-PL" sz="900" spc="-60" dirty="0">
                <a:solidFill>
                  <a:srgbClr val="CCCCCC"/>
                </a:solidFill>
                <a:latin typeface="Consolas" panose="020B0609020204030204" pitchFamily="49" charset="0"/>
              </a:rPr>
              <a:t>: </a:t>
            </a:r>
            <a:r>
              <a:rPr lang="pl-PL" sz="900" spc="-60" dirty="0" err="1">
                <a:solidFill>
                  <a:srgbClr val="CCCCCC"/>
                </a:solidFill>
                <a:latin typeface="Consolas" panose="020B0609020204030204" pitchFamily="49" charset="0"/>
              </a:rPr>
              <a:t>step_dist</a:t>
            </a:r>
            <a:r>
              <a:rPr lang="pl-PL" sz="900" spc="-60" dirty="0">
                <a:solidFill>
                  <a:srgbClr val="CCCCCC"/>
                </a:solidFill>
                <a:latin typeface="Consolas" panose="020B0609020204030204" pitchFamily="49" charset="0"/>
              </a:rPr>
              <a:t>, </a:t>
            </a:r>
            <a:r>
              <a:rPr lang="pl-PL" sz="900" spc="-60" dirty="0">
                <a:solidFill>
                  <a:srgbClr val="CE9178"/>
                </a:solidFill>
                <a:latin typeface="Consolas" panose="020B0609020204030204" pitchFamily="49" charset="0"/>
              </a:rPr>
              <a:t>'</a:t>
            </a:r>
            <a:r>
              <a:rPr lang="pl-PL" sz="900" spc="-60" dirty="0" err="1">
                <a:solidFill>
                  <a:srgbClr val="CE9178"/>
                </a:solidFill>
                <a:latin typeface="Consolas" panose="020B0609020204030204" pitchFamily="49" charset="0"/>
              </a:rPr>
              <a:t>delta_yaw_deg</a:t>
            </a:r>
            <a:r>
              <a:rPr lang="pl-PL" sz="900" spc="-60" dirty="0">
                <a:solidFill>
                  <a:srgbClr val="CE9178"/>
                </a:solidFill>
                <a:latin typeface="Consolas" panose="020B0609020204030204" pitchFamily="49" charset="0"/>
              </a:rPr>
              <a:t>'</a:t>
            </a:r>
            <a:r>
              <a:rPr lang="pl-PL" sz="900" spc="-60" dirty="0">
                <a:solidFill>
                  <a:srgbClr val="CCCCCC"/>
                </a:solidFill>
                <a:latin typeface="Consolas" panose="020B0609020204030204" pitchFamily="49" charset="0"/>
              </a:rPr>
              <a:t>: </a:t>
            </a:r>
            <a:r>
              <a:rPr lang="pl-PL" sz="900" spc="-60" dirty="0" err="1">
                <a:solidFill>
                  <a:srgbClr val="CCCCCC"/>
                </a:solidFill>
                <a:latin typeface="Consolas" panose="020B0609020204030204" pitchFamily="49" charset="0"/>
              </a:rPr>
              <a:t>np.degrees</a:t>
            </a:r>
            <a:r>
              <a:rPr lang="pl-PL" sz="900" spc="-60" dirty="0">
                <a:solidFill>
                  <a:srgbClr val="CCCCCC"/>
                </a:solidFill>
                <a:latin typeface="Consolas" panose="020B0609020204030204" pitchFamily="49" charset="0"/>
              </a:rPr>
              <a:t>(</a:t>
            </a:r>
            <a:r>
              <a:rPr lang="pl-PL" sz="900" spc="-60" dirty="0" err="1">
                <a:solidFill>
                  <a:srgbClr val="CCCCCC"/>
                </a:solidFill>
                <a:latin typeface="Consolas" panose="020B0609020204030204" pitchFamily="49" charset="0"/>
              </a:rPr>
              <a:t>dyaw</a:t>
            </a:r>
            <a:r>
              <a:rPr lang="pl-PL" sz="900" spc="-60" dirty="0">
                <a:solidFill>
                  <a:srgbClr val="CCCCCC"/>
                </a:solidFill>
                <a:latin typeface="Consolas" panose="020B0609020204030204" pitchFamily="49" charset="0"/>
              </a:rPr>
              <a:t>),</a:t>
            </a:r>
          </a:p>
          <a:p>
            <a:pPr>
              <a:lnSpc>
                <a:spcPts val="900"/>
              </a:lnSpc>
            </a:pP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delta_z</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dz</a:t>
            </a:r>
            <a:endParaRPr lang="pl-PL" sz="900" dirty="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t>
            </a:r>
          </a:p>
          <a:p>
            <a:pPr>
              <a:lnSpc>
                <a:spcPts val="900"/>
              </a:lnSpc>
            </a:pPr>
            <a:r>
              <a:rPr lang="pl-PL" sz="900" dirty="0">
                <a:solidFill>
                  <a:srgbClr val="CCCCCC"/>
                </a:solidFill>
                <a:latin typeface="Consolas" panose="020B0609020204030204" pitchFamily="49" charset="0"/>
              </a:rPr>
              <a:t>    </a:t>
            </a:r>
            <a:endParaRPr lang="pl-PL" sz="900" dirty="0" smtClean="0">
              <a:solidFill>
                <a:srgbClr val="CCCCCC"/>
              </a:solidFill>
              <a:latin typeface="Consolas" panose="020B0609020204030204" pitchFamily="49" charset="0"/>
            </a:endParaRPr>
          </a:p>
          <a:p>
            <a:pPr>
              <a:lnSpc>
                <a:spcPts val="900"/>
              </a:lnSpc>
            </a:pPr>
            <a:r>
              <a:rPr lang="pl-PL" sz="900" dirty="0">
                <a:solidFill>
                  <a:srgbClr val="CCCCCC"/>
                </a:solidFill>
                <a:latin typeface="Consolas" panose="020B0609020204030204" pitchFamily="49" charset="0"/>
              </a:rPr>
              <a:t> </a:t>
            </a:r>
            <a:r>
              <a:rPr lang="pl-PL" sz="900" dirty="0" smtClean="0">
                <a:solidFill>
                  <a:srgbClr val="CCCCCC"/>
                </a:solidFill>
                <a:latin typeface="Consolas" panose="020B0609020204030204" pitchFamily="49" charset="0"/>
              </a:rPr>
              <a:t>   </a:t>
            </a:r>
            <a:r>
              <a:rPr lang="pl-PL" sz="900" dirty="0" smtClean="0">
                <a:solidFill>
                  <a:srgbClr val="C586C0"/>
                </a:solidFill>
                <a:latin typeface="Consolas" panose="020B0609020204030204" pitchFamily="49" charset="0"/>
              </a:rPr>
              <a:t>return</a:t>
            </a:r>
            <a:r>
              <a:rPr lang="pl-PL" sz="900" dirty="0" smtClean="0">
                <a:solidFill>
                  <a:srgbClr val="CCCCCC"/>
                </a:solidFill>
                <a:latin typeface="Consolas" panose="020B0609020204030204" pitchFamily="49" charset="0"/>
              </a:rPr>
              <a:t> </a:t>
            </a:r>
            <a:r>
              <a:rPr lang="pl-PL" sz="900" dirty="0">
                <a:solidFill>
                  <a:srgbClr val="CCCCCC"/>
                </a:solidFill>
                <a:latin typeface="Consolas" panose="020B0609020204030204" pitchFamily="49" charset="0"/>
              </a:rPr>
              <a:t>{</a:t>
            </a:r>
            <a:r>
              <a:rPr lang="pl-PL" sz="900" dirty="0">
                <a:solidFill>
                  <a:srgbClr val="CE9178"/>
                </a:solidFill>
                <a:latin typeface="Consolas" panose="020B0609020204030204" pitchFamily="49" charset="0"/>
              </a:rPr>
              <a:t>'ok'</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all_ok</a:t>
            </a: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reason</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reason</a:t>
            </a:r>
            <a:r>
              <a:rPr lang="pl-PL" sz="900" dirty="0">
                <a:solidFill>
                  <a:srgbClr val="CCCCCC"/>
                </a:solidFill>
                <a:latin typeface="Consolas" panose="020B0609020204030204" pitchFamily="49" charset="0"/>
              </a:rPr>
              <a:t>, </a:t>
            </a:r>
            <a:r>
              <a:rPr lang="pl-PL" sz="900" dirty="0">
                <a:solidFill>
                  <a:srgbClr val="CE9178"/>
                </a:solidFill>
                <a:latin typeface="Consolas" panose="020B0609020204030204" pitchFamily="49" charset="0"/>
              </a:rPr>
              <a:t>'</a:t>
            </a:r>
            <a:r>
              <a:rPr lang="pl-PL" sz="900" dirty="0" err="1">
                <a:solidFill>
                  <a:srgbClr val="CE9178"/>
                </a:solidFill>
                <a:latin typeface="Consolas" panose="020B0609020204030204" pitchFamily="49" charset="0"/>
              </a:rPr>
              <a:t>metrics</a:t>
            </a:r>
            <a:r>
              <a:rPr lang="pl-PL" sz="900" dirty="0">
                <a:solidFill>
                  <a:srgbClr val="CE9178"/>
                </a:solidFill>
                <a:latin typeface="Consolas" panose="020B0609020204030204" pitchFamily="49" charset="0"/>
              </a:rPr>
              <a:t>'</a:t>
            </a:r>
            <a:r>
              <a:rPr lang="pl-PL" sz="900" dirty="0">
                <a:solidFill>
                  <a:srgbClr val="CCCCCC"/>
                </a:solidFill>
                <a:latin typeface="Consolas" panose="020B0609020204030204" pitchFamily="49" charset="0"/>
              </a:rPr>
              <a:t>: </a:t>
            </a:r>
            <a:r>
              <a:rPr lang="pl-PL" sz="900" dirty="0" err="1">
                <a:solidFill>
                  <a:srgbClr val="CCCCCC"/>
                </a:solidFill>
                <a:latin typeface="Consolas" panose="020B0609020204030204" pitchFamily="49" charset="0"/>
              </a:rPr>
              <a:t>metrics</a:t>
            </a:r>
            <a:r>
              <a:rPr lang="pl-PL" sz="900" dirty="0" smtClean="0">
                <a:solidFill>
                  <a:srgbClr val="CCCCCC"/>
                </a:solidFill>
                <a:latin typeface="Consolas" panose="020B0609020204030204" pitchFamily="49" charset="0"/>
              </a:rPr>
              <a:t>}</a:t>
            </a:r>
            <a:endParaRPr lang="pl-PL" sz="900" dirty="0">
              <a:solidFill>
                <a:srgbClr val="CCCCCC"/>
              </a:solidFill>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p:sp>
        <p:nvSpPr>
          <p:cNvPr id="12" name="Text 10"/>
          <p:cNvSpPr/>
          <p:nvPr/>
        </p:nvSpPr>
        <p:spPr>
          <a:xfrm>
            <a:off x="363071" y="4453054"/>
            <a:ext cx="8415169" cy="484706"/>
          </a:xfrm>
          <a:prstGeom prst="rect">
            <a:avLst/>
          </a:prstGeom>
          <a:noFill/>
          <a:ln/>
        </p:spPr>
        <p:txBody>
          <a:bodyPr wrap="square" lIns="0" tIns="0" rIns="127000" bIns="0" rtlCol="0" anchor="ctr"/>
          <a:lstStyle/>
          <a:p>
            <a:pPr algn="ctr"/>
            <a:r>
              <a:rPr lang="pl-PL" sz="1600" dirty="0" smtClean="0">
                <a:solidFill>
                  <a:schemeClr val="bg1"/>
                </a:solidFill>
                <a:latin typeface="Calibri" pitchFamily="34" charset="0"/>
                <a:ea typeface="Calibri" pitchFamily="34" charset="-122"/>
                <a:cs typeface="Calibri" pitchFamily="34" charset="-120"/>
              </a:rPr>
              <a:t>Wywołuj </a:t>
            </a:r>
            <a:r>
              <a:rPr lang="pl-PL" sz="1600" b="1" dirty="0" err="1">
                <a:solidFill>
                  <a:schemeClr val="bg1"/>
                </a:solidFill>
                <a:latin typeface="Calibri" pitchFamily="34" charset="0"/>
                <a:ea typeface="Calibri" pitchFamily="34" charset="-122"/>
                <a:cs typeface="Calibri" pitchFamily="34" charset="-120"/>
              </a:rPr>
              <a:t>verify_footstep</a:t>
            </a:r>
            <a:r>
              <a:rPr lang="pl-PL" sz="1600" b="1" dirty="0">
                <a:solidFill>
                  <a:schemeClr val="bg1"/>
                </a:solidFill>
                <a:latin typeface="Calibri" pitchFamily="34" charset="0"/>
                <a:ea typeface="Calibri" pitchFamily="34" charset="-122"/>
                <a:cs typeface="Calibri" pitchFamily="34" charset="-120"/>
              </a:rPr>
              <a:t>() </a:t>
            </a:r>
            <a:r>
              <a:rPr lang="pl-PL" sz="1600" dirty="0">
                <a:solidFill>
                  <a:schemeClr val="bg1"/>
                </a:solidFill>
                <a:latin typeface="Calibri" pitchFamily="34" charset="0"/>
                <a:ea typeface="Calibri" pitchFamily="34" charset="-122"/>
                <a:cs typeface="Calibri" pitchFamily="34" charset="-120"/>
              </a:rPr>
              <a:t>przed </a:t>
            </a:r>
            <a:r>
              <a:rPr lang="pl-PL" sz="1600" dirty="0" smtClean="0">
                <a:solidFill>
                  <a:schemeClr val="bg1"/>
                </a:solidFill>
                <a:latin typeface="Calibri" pitchFamily="34" charset="0"/>
                <a:ea typeface="Calibri" pitchFamily="34" charset="-122"/>
                <a:cs typeface="Calibri" pitchFamily="34" charset="-120"/>
              </a:rPr>
              <a:t>każdym </a:t>
            </a:r>
            <a:r>
              <a:rPr lang="pl-PL" sz="1600" dirty="0">
                <a:solidFill>
                  <a:schemeClr val="bg1"/>
                </a:solidFill>
                <a:latin typeface="Calibri" pitchFamily="34" charset="0"/>
                <a:ea typeface="Calibri" pitchFamily="34" charset="-122"/>
                <a:cs typeface="Calibri" pitchFamily="34" charset="-120"/>
              </a:rPr>
              <a:t>krokiem; </a:t>
            </a:r>
            <a:r>
              <a:rPr lang="pl-PL" sz="1600" dirty="0" smtClean="0">
                <a:solidFill>
                  <a:schemeClr val="bg1"/>
                </a:solidFill>
                <a:latin typeface="Calibri" pitchFamily="34" charset="0"/>
                <a:ea typeface="Calibri" pitchFamily="34" charset="-122"/>
                <a:cs typeface="Calibri" pitchFamily="34" charset="-120"/>
              </a:rPr>
              <a:t>odrzuć </a:t>
            </a:r>
            <a:r>
              <a:rPr lang="pl-PL" sz="1600" dirty="0">
                <a:solidFill>
                  <a:schemeClr val="bg1"/>
                </a:solidFill>
                <a:latin typeface="Calibri" pitchFamily="34" charset="0"/>
                <a:ea typeface="Calibri" pitchFamily="34" charset="-122"/>
                <a:cs typeface="Calibri" pitchFamily="34" charset="-120"/>
              </a:rPr>
              <a:t>krok </a:t>
            </a:r>
            <a:r>
              <a:rPr lang="pl-PL" sz="1600" dirty="0" smtClean="0">
                <a:solidFill>
                  <a:schemeClr val="bg1"/>
                </a:solidFill>
                <a:latin typeface="Calibri" pitchFamily="34" charset="0"/>
                <a:ea typeface="Calibri" pitchFamily="34" charset="-122"/>
                <a:cs typeface="Calibri" pitchFamily="34" charset="-120"/>
              </a:rPr>
              <a:t>jeśli </a:t>
            </a:r>
            <a:r>
              <a:rPr lang="pl-PL" sz="1600" b="1" dirty="0">
                <a:solidFill>
                  <a:schemeClr val="bg1"/>
                </a:solidFill>
                <a:latin typeface="Calibri" pitchFamily="34" charset="0"/>
                <a:ea typeface="Calibri" pitchFamily="34" charset="-122"/>
                <a:cs typeface="Calibri" pitchFamily="34" charset="-120"/>
              </a:rPr>
              <a:t>ok=</a:t>
            </a:r>
            <a:r>
              <a:rPr lang="pl-PL" sz="1600" b="1" dirty="0" err="1">
                <a:solidFill>
                  <a:schemeClr val="bg1"/>
                </a:solidFill>
                <a:latin typeface="Calibri" pitchFamily="34" charset="0"/>
                <a:ea typeface="Calibri" pitchFamily="34" charset="-122"/>
                <a:cs typeface="Calibri" pitchFamily="34" charset="-120"/>
              </a:rPr>
              <a:t>False</a:t>
            </a:r>
            <a:r>
              <a:rPr lang="pl-PL" sz="1600" dirty="0">
                <a:solidFill>
                  <a:schemeClr val="bg1"/>
                </a:solidFill>
                <a:latin typeface="Calibri" pitchFamily="34" charset="0"/>
                <a:ea typeface="Calibri" pitchFamily="34" charset="-122"/>
                <a:cs typeface="Calibri" pitchFamily="34" charset="-120"/>
              </a:rPr>
              <a:t> i </a:t>
            </a:r>
            <a:r>
              <a:rPr lang="pl-PL" sz="1600" dirty="0" smtClean="0">
                <a:solidFill>
                  <a:schemeClr val="bg1"/>
                </a:solidFill>
                <a:latin typeface="Calibri" pitchFamily="34" charset="0"/>
                <a:ea typeface="Calibri" pitchFamily="34" charset="-122"/>
                <a:cs typeface="Calibri" pitchFamily="34" charset="-120"/>
              </a:rPr>
              <a:t>zaplanuj alternatywę.</a:t>
            </a:r>
            <a:endParaRPr lang="pl-PL" sz="1600" dirty="0">
              <a:solidFill>
                <a:schemeClr val="bg1"/>
              </a:solidFill>
              <a:latin typeface="Calibri" pitchFamily="34" charset="0"/>
              <a:ea typeface="Calibri" pitchFamily="34" charset="-122"/>
              <a:cs typeface="Calibri" pitchFamily="34" charset="-120"/>
            </a:endParaRPr>
          </a:p>
        </p:txBody>
      </p:sp>
      <p:sp>
        <p:nvSpPr>
          <p:cNvPr id="7" name="Prostokąt 6"/>
          <p:cNvSpPr/>
          <p:nvPr/>
        </p:nvSpPr>
        <p:spPr>
          <a:xfrm>
            <a:off x="166202" y="631420"/>
            <a:ext cx="5141976" cy="276999"/>
          </a:xfrm>
          <a:prstGeom prst="rect">
            <a:avLst/>
          </a:prstGeom>
        </p:spPr>
        <p:txBody>
          <a:bodyPr wrap="square">
            <a:spAutoFit/>
          </a:bodyPr>
          <a:lstStyle/>
          <a:p>
            <a:r>
              <a:rPr lang="pl-PL" sz="1200" i="1" dirty="0">
                <a:solidFill>
                  <a:srgbClr val="90C8D8"/>
                </a:solidFill>
              </a:rPr>
              <a:t>Zasięg nogi, zakres stawów, delta kąta, margines ZMP, strefa kontaktu</a:t>
            </a:r>
          </a:p>
        </p:txBody>
      </p:sp>
    </p:spTree>
    <p:extLst>
      <p:ext uri="{BB962C8B-B14F-4D97-AF65-F5344CB8AC3E}">
        <p14:creationId xmlns:p14="http://schemas.microsoft.com/office/powerpoint/2010/main" val="8666712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22C55E"/>
          </a:solidFill>
          <a:ln w="12700">
            <a:solidFill>
              <a:srgbClr val="22C55E"/>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22C55E"/>
                </a:solidFill>
                <a:latin typeface="Trebuchet MS" pitchFamily="34" charset="0"/>
                <a:ea typeface="Trebuchet MS" pitchFamily="34" charset="-122"/>
                <a:cs typeface="Trebuchet MS" pitchFamily="34" charset="-120"/>
              </a:rPr>
              <a:t>SEKCJA 3 | PARAMETRY KROKÓW</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r>
              <a:rPr lang="pl-PL" sz="2400" b="1" dirty="0" smtClean="0">
                <a:solidFill>
                  <a:srgbClr val="FFFFFF"/>
                </a:solidFill>
                <a:latin typeface="Trebuchet MS" pitchFamily="34" charset="0"/>
                <a:ea typeface="Trebuchet MS" pitchFamily="34" charset="-122"/>
                <a:cs typeface="Trebuchet MS" pitchFamily="34" charset="-120"/>
              </a:rPr>
              <a:t>Parametry i ograniczenia planowania kroków</a:t>
            </a:r>
            <a:endParaRPr lang="en-US" sz="2400" dirty="0"/>
          </a:p>
        </p:txBody>
      </p:sp>
      <p:sp>
        <p:nvSpPr>
          <p:cNvPr id="6" name="Shape 4"/>
          <p:cNvSpPr/>
          <p:nvPr/>
        </p:nvSpPr>
        <p:spPr>
          <a:xfrm>
            <a:off x="274320" y="1097280"/>
            <a:ext cx="8595360" cy="272387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396688" y="1188720"/>
            <a:ext cx="8290112" cy="2575508"/>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Długość kroku</a:t>
            </a:r>
            <a:r>
              <a:rPr lang="en-US" sz="1500" dirty="0">
                <a:solidFill>
                  <a:srgbClr val="0D1B2A"/>
                </a:solidFill>
                <a:latin typeface="Calibri" pitchFamily="34" charset="0"/>
                <a:ea typeface="Calibri" pitchFamily="34" charset="-122"/>
                <a:cs typeface="Calibri" pitchFamily="34" charset="-120"/>
              </a:rPr>
              <a:t>: typowo 0,2–0,5 m; zależy od prędkości i stabilności (przy niskiej prędkości krócej)</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Szerokość kroku</a:t>
            </a:r>
            <a:r>
              <a:rPr lang="en-US" sz="1500" dirty="0">
                <a:solidFill>
                  <a:srgbClr val="0D1B2A"/>
                </a:solidFill>
                <a:latin typeface="Calibri" pitchFamily="34" charset="0"/>
                <a:ea typeface="Calibri" pitchFamily="34" charset="-122"/>
                <a:cs typeface="Calibri" pitchFamily="34" charset="-120"/>
              </a:rPr>
              <a:t>: 0,1–0,25 m; za mała = utrata stabilności, za duża = kolizja nóg</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Orientacja stopy</a:t>
            </a:r>
            <a:r>
              <a:rPr lang="en-US" sz="1500" dirty="0">
                <a:solidFill>
                  <a:srgbClr val="0D1B2A"/>
                </a:solidFill>
                <a:latin typeface="Calibri" pitchFamily="34" charset="0"/>
                <a:ea typeface="Calibri" pitchFamily="34" charset="-122"/>
                <a:cs typeface="Calibri" pitchFamily="34" charset="-120"/>
              </a:rPr>
              <a:t>: dostosowana do krzywizny ścieżki i pochylenia terenu (normal surface)</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Strefy dozwolonego kontaktu </a:t>
            </a:r>
            <a:r>
              <a:rPr lang="en-US" sz="1500" dirty="0">
                <a:solidFill>
                  <a:srgbClr val="0D1B2A"/>
                </a:solidFill>
                <a:latin typeface="Calibri" pitchFamily="34" charset="0"/>
                <a:ea typeface="Calibri" pitchFamily="34" charset="-122"/>
                <a:cs typeface="Calibri" pitchFamily="34" charset="-120"/>
              </a:rPr>
              <a:t>(foothold regions): płaskie, niegrzybowe obszary ≥ stopa robota</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Kolejność kroków</a:t>
            </a:r>
            <a:r>
              <a:rPr lang="en-US" sz="1500" dirty="0">
                <a:solidFill>
                  <a:srgbClr val="0D1B2A"/>
                </a:solidFill>
                <a:latin typeface="Calibri" pitchFamily="34" charset="0"/>
                <a:ea typeface="Calibri" pitchFamily="34" charset="-122"/>
                <a:cs typeface="Calibri" pitchFamily="34" charset="-120"/>
              </a:rPr>
              <a:t>: lewa–prawa naprzemiennie; podwójne podparcie ≥ 20% cyklu</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Wykluczenie</a:t>
            </a:r>
            <a:r>
              <a:rPr lang="en-US" sz="1500" dirty="0">
                <a:solidFill>
                  <a:srgbClr val="0D1B2A"/>
                </a:solidFill>
                <a:latin typeface="Calibri" pitchFamily="34" charset="0"/>
                <a:ea typeface="Calibri" pitchFamily="34" charset="-122"/>
                <a:cs typeface="Calibri" pitchFamily="34" charset="-120"/>
              </a:rPr>
              <a:t>: krawędzie, śliskie powierzchnie, zbyt strome pochylenie (&gt;20°), wąskie progi</a:t>
            </a:r>
            <a:endParaRPr lang="en-US" sz="1500" dirty="0"/>
          </a:p>
          <a:p>
            <a:pPr marL="144000" indent="-144000">
              <a:spcAft>
                <a:spcPts val="1200"/>
              </a:spcAft>
              <a:buSzPct val="100000"/>
              <a:buChar char="•"/>
            </a:pPr>
            <a:r>
              <a:rPr lang="en-US" sz="1500" b="1" dirty="0">
                <a:solidFill>
                  <a:srgbClr val="0D1B2A"/>
                </a:solidFill>
                <a:latin typeface="Calibri" pitchFamily="34" charset="0"/>
                <a:ea typeface="Calibri" pitchFamily="34" charset="-122"/>
                <a:cs typeface="Calibri" pitchFamily="34" charset="-120"/>
              </a:rPr>
              <a:t>Planowanie w 3D</a:t>
            </a:r>
            <a:r>
              <a:rPr lang="en-US" sz="1500" dirty="0">
                <a:solidFill>
                  <a:srgbClr val="0D1B2A"/>
                </a:solidFill>
                <a:latin typeface="Calibri" pitchFamily="34" charset="0"/>
                <a:ea typeface="Calibri" pitchFamily="34" charset="-122"/>
                <a:cs typeface="Calibri" pitchFamily="34" charset="-120"/>
              </a:rPr>
              <a:t>: wymagane gdy teren ma zmienną wysokość (schody, kamienie, nierówności)</a:t>
            </a:r>
            <a:endParaRPr lang="en-US" sz="1500" dirty="0"/>
          </a:p>
        </p:txBody>
      </p:sp>
      <p:sp>
        <p:nvSpPr>
          <p:cNvPr id="8" name="Prostokąt 7"/>
          <p:cNvSpPr/>
          <p:nvPr/>
        </p:nvSpPr>
        <p:spPr>
          <a:xfrm>
            <a:off x="274320" y="3979859"/>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Parametry kroków decydują o tym, czy chód będzie szybki, stabilny i wykonalny. Dłuższy krok zwiększa prędkość, </a:t>
            </a:r>
            <a:r>
              <a:rPr lang="pl-PL" sz="1400" dirty="0" smtClean="0">
                <a:solidFill>
                  <a:schemeClr val="bg1"/>
                </a:solidFill>
              </a:rPr>
              <a:t/>
            </a:r>
            <a:br>
              <a:rPr lang="pl-PL" sz="1400" dirty="0" smtClean="0">
                <a:solidFill>
                  <a:schemeClr val="bg1"/>
                </a:solidFill>
              </a:rPr>
            </a:br>
            <a:r>
              <a:rPr lang="pl-PL" sz="1400" dirty="0" smtClean="0">
                <a:solidFill>
                  <a:schemeClr val="bg1"/>
                </a:solidFill>
              </a:rPr>
              <a:t>ale </a:t>
            </a:r>
            <a:r>
              <a:rPr lang="pl-PL" sz="1400" dirty="0">
                <a:solidFill>
                  <a:schemeClr val="bg1"/>
                </a:solidFill>
              </a:rPr>
              <a:t>zmniejsza margines stabilności i może przekroczyć zasięg nogi. Zbyt mała szerokość kroku grozi utratą równowagi, a zbyt duża może powodować nienaturalny chód lub kolizję nóg. Orientacja stopy powinna wynikać z kierunku ścieżki oraz geometrii terenu. Na nierównym podłożu szczególnie ważne jest wyznaczanie bezpiecznych obszarów kontaktu, czyli takich, które są płaskie, wystarczająco duże i oddalone od krawędzi.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bg>
      <p:bgPr>
        <a:solidFill>
          <a:srgbClr val="0F2335"/>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686800" cy="54864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Generacja sekwencji kroków </a:t>
            </a:r>
            <a:r>
              <a:rPr lang="en-US" sz="2400" dirty="0">
                <a:solidFill>
                  <a:srgbClr val="FFFFFF"/>
                </a:solidFill>
                <a:latin typeface="Trebuchet MS" pitchFamily="34" charset="0"/>
                <a:ea typeface="Trebuchet MS" pitchFamily="34" charset="-122"/>
                <a:cs typeface="Trebuchet MS" pitchFamily="34" charset="-120"/>
              </a:rPr>
              <a:t>(footstep planner)</a:t>
            </a:r>
            <a:endParaRPr lang="en-US" sz="2400" dirty="0"/>
          </a:p>
        </p:txBody>
      </p:sp>
      <p:sp>
        <p:nvSpPr>
          <p:cNvPr id="6" name="Shape 4"/>
          <p:cNvSpPr/>
          <p:nvPr/>
        </p:nvSpPr>
        <p:spPr>
          <a:xfrm>
            <a:off x="274320" y="1005839"/>
            <a:ext cx="8595360" cy="3402609"/>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7" name="Shape 5"/>
          <p:cNvSpPr/>
          <p:nvPr/>
        </p:nvSpPr>
        <p:spPr>
          <a:xfrm>
            <a:off x="8093183" y="1156716"/>
            <a:ext cx="146304" cy="146304"/>
          </a:xfrm>
          <a:prstGeom prst="ellipse">
            <a:avLst/>
          </a:prstGeom>
          <a:solidFill>
            <a:srgbClr val="F72585"/>
          </a:solidFill>
          <a:ln w="12700">
            <a:solidFill>
              <a:srgbClr val="F72585"/>
            </a:solidFill>
            <a:prstDash val="solid"/>
          </a:ln>
        </p:spPr>
      </p:sp>
      <p:sp>
        <p:nvSpPr>
          <p:cNvPr id="8" name="Shape 6"/>
          <p:cNvSpPr/>
          <p:nvPr/>
        </p:nvSpPr>
        <p:spPr>
          <a:xfrm>
            <a:off x="8349215" y="1156716"/>
            <a:ext cx="146304" cy="146304"/>
          </a:xfrm>
          <a:prstGeom prst="ellipse">
            <a:avLst/>
          </a:prstGeom>
          <a:solidFill>
            <a:srgbClr val="FFD60A"/>
          </a:solidFill>
          <a:ln w="12700">
            <a:solidFill>
              <a:srgbClr val="FFD60A"/>
            </a:solidFill>
            <a:prstDash val="solid"/>
          </a:ln>
        </p:spPr>
      </p:sp>
      <p:sp>
        <p:nvSpPr>
          <p:cNvPr id="9" name="Shape 7"/>
          <p:cNvSpPr/>
          <p:nvPr/>
        </p:nvSpPr>
        <p:spPr>
          <a:xfrm>
            <a:off x="8605247" y="1156716"/>
            <a:ext cx="146304" cy="146304"/>
          </a:xfrm>
          <a:prstGeom prst="ellipse">
            <a:avLst/>
          </a:prstGeom>
          <a:solidFill>
            <a:srgbClr val="C3F584"/>
          </a:solidFill>
          <a:ln w="12700">
            <a:solidFill>
              <a:srgbClr val="C3F584"/>
            </a:solidFill>
            <a:prstDash val="solid"/>
          </a:ln>
        </p:spPr>
      </p:sp>
      <p:sp>
        <p:nvSpPr>
          <p:cNvPr id="10" name="Text 8"/>
          <p:cNvSpPr/>
          <p:nvPr/>
        </p:nvSpPr>
        <p:spPr>
          <a:xfrm>
            <a:off x="357359" y="1065312"/>
            <a:ext cx="8321040" cy="3295774"/>
          </a:xfrm>
          <a:prstGeom prst="rect">
            <a:avLst/>
          </a:prstGeom>
          <a:noFill/>
          <a:ln/>
        </p:spPr>
        <p:txBody>
          <a:bodyPr wrap="square" lIns="108000" tIns="0" rIns="127000" bIns="63500" rtlCol="0" anchor="t">
            <a:spAutoFit/>
          </a:bodyPr>
          <a:lstStyle/>
          <a:p>
            <a:r>
              <a:rPr lang="pl-PL" sz="1000" dirty="0">
                <a:solidFill>
                  <a:srgbClr val="C586C0"/>
                </a:solidFill>
                <a:latin typeface="Consolas" panose="020B0609020204030204" pitchFamily="49" charset="0"/>
              </a:rPr>
              <a:t>import</a:t>
            </a:r>
            <a:r>
              <a:rPr lang="pl-PL" sz="1000" dirty="0">
                <a:solidFill>
                  <a:srgbClr val="CCCCCC"/>
                </a:solidFill>
                <a:latin typeface="Consolas" panose="020B0609020204030204" pitchFamily="49" charset="0"/>
              </a:rPr>
              <a:t> </a:t>
            </a:r>
            <a:r>
              <a:rPr lang="pl-PL" sz="1000" dirty="0" err="1">
                <a:solidFill>
                  <a:srgbClr val="4EC9B0"/>
                </a:solidFill>
                <a:latin typeface="Consolas" panose="020B0609020204030204" pitchFamily="49" charset="0"/>
              </a:rPr>
              <a:t>numpy</a:t>
            </a:r>
            <a:r>
              <a:rPr lang="pl-PL" sz="1000" dirty="0">
                <a:solidFill>
                  <a:srgbClr val="CCCCCC"/>
                </a:solidFill>
                <a:latin typeface="Consolas" panose="020B0609020204030204" pitchFamily="49" charset="0"/>
              </a:rPr>
              <a:t> </a:t>
            </a:r>
            <a:r>
              <a:rPr lang="pl-PL" sz="1000" dirty="0">
                <a:solidFill>
                  <a:srgbClr val="C586C0"/>
                </a:solidFill>
                <a:latin typeface="Consolas" panose="020B0609020204030204" pitchFamily="49" charset="0"/>
              </a:rPr>
              <a:t>as</a:t>
            </a:r>
            <a:r>
              <a:rPr lang="pl-PL" sz="1000" dirty="0">
                <a:solidFill>
                  <a:srgbClr val="CCCCCC"/>
                </a:solidFill>
                <a:latin typeface="Consolas" panose="020B0609020204030204" pitchFamily="49" charset="0"/>
              </a:rPr>
              <a:t> </a:t>
            </a:r>
            <a:r>
              <a:rPr lang="pl-PL" sz="1000" dirty="0" err="1">
                <a:solidFill>
                  <a:srgbClr val="4EC9B0"/>
                </a:solidFill>
                <a:latin typeface="Consolas" panose="020B0609020204030204" pitchFamily="49" charset="0"/>
              </a:rPr>
              <a:t>np</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r>
            <a:br>
              <a:rPr lang="pl-PL" sz="1000" dirty="0">
                <a:solidFill>
                  <a:srgbClr val="CCCCCC"/>
                </a:solidFill>
                <a:latin typeface="Consolas" panose="020B0609020204030204" pitchFamily="49" charset="0"/>
              </a:rPr>
            </a:br>
            <a:r>
              <a:rPr lang="pl-PL" sz="1000" dirty="0">
                <a:solidFill>
                  <a:srgbClr val="569CD6"/>
                </a:solidFill>
                <a:latin typeface="Consolas" panose="020B0609020204030204" pitchFamily="49" charset="0"/>
              </a:rPr>
              <a:t>def</a:t>
            </a:r>
            <a:r>
              <a:rPr lang="pl-PL" sz="1000" dirty="0">
                <a:solidFill>
                  <a:srgbClr val="CCCCCC"/>
                </a:solidFill>
                <a:latin typeface="Consolas" panose="020B0609020204030204" pitchFamily="49" charset="0"/>
              </a:rPr>
              <a:t> </a:t>
            </a:r>
            <a:r>
              <a:rPr lang="pl-PL" sz="1000" dirty="0" err="1">
                <a:solidFill>
                  <a:srgbClr val="DCDCAA"/>
                </a:solidFill>
                <a:latin typeface="Consolas" panose="020B0609020204030204" pitchFamily="49" charset="0"/>
              </a:rPr>
              <a:t>generate_footsteps</a:t>
            </a:r>
            <a:r>
              <a:rPr lang="pl-PL" sz="1000" dirty="0">
                <a:solidFill>
                  <a:srgbClr val="CCCCCC"/>
                </a:solidFill>
                <a:latin typeface="Consolas" panose="020B0609020204030204" pitchFamily="49" charset="0"/>
              </a:rPr>
              <a:t>(</a:t>
            </a:r>
            <a:r>
              <a:rPr lang="pl-PL" sz="1000" dirty="0" err="1">
                <a:solidFill>
                  <a:srgbClr val="9CDCFE"/>
                </a:solidFill>
                <a:latin typeface="Consolas" panose="020B0609020204030204" pitchFamily="49" charset="0"/>
              </a:rPr>
              <a:t>path_xy</a:t>
            </a:r>
            <a:r>
              <a:rPr lang="pl-PL" sz="1000" dirty="0">
                <a:solidFill>
                  <a:srgbClr val="CCCCCC"/>
                </a:solidFill>
                <a:latin typeface="Consolas" panose="020B0609020204030204" pitchFamily="49" charset="0"/>
              </a:rPr>
              <a:t>, </a:t>
            </a:r>
            <a:r>
              <a:rPr lang="pl-PL" sz="1000" dirty="0" err="1">
                <a:solidFill>
                  <a:srgbClr val="9CDCFE"/>
                </a:solidFill>
                <a:latin typeface="Consolas" panose="020B0609020204030204" pitchFamily="49" charset="0"/>
              </a:rPr>
              <a:t>step_length</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0.35</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err="1">
                <a:solidFill>
                  <a:srgbClr val="9CDCFE"/>
                </a:solidFill>
                <a:latin typeface="Consolas" panose="020B0609020204030204" pitchFamily="49" charset="0"/>
              </a:rPr>
              <a:t>step_width</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0.18</a:t>
            </a:r>
            <a:r>
              <a:rPr lang="pl-PL" sz="1000" dirty="0">
                <a:solidFill>
                  <a:srgbClr val="CCCCCC"/>
                </a:solidFill>
                <a:latin typeface="Consolas" panose="020B0609020204030204" pitchFamily="49" charset="0"/>
              </a:rPr>
              <a:t>) -&gt; </a:t>
            </a:r>
            <a:r>
              <a:rPr lang="pl-PL" sz="1000" dirty="0">
                <a:solidFill>
                  <a:srgbClr val="4EC9B0"/>
                </a:solidFill>
                <a:latin typeface="Consolas" panose="020B0609020204030204" pitchFamily="49" charset="0"/>
              </a:rPr>
              <a:t>list</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a:solidFill>
                  <a:srgbClr val="CE9178"/>
                </a:solidFill>
                <a:latin typeface="Consolas" panose="020B0609020204030204" pitchFamily="49" charset="0"/>
              </a:rPr>
              <a:t>"""Generuje naprzemienne kroki L/P </a:t>
            </a:r>
            <a:r>
              <a:rPr lang="pl-PL" sz="1000" dirty="0" smtClean="0">
                <a:solidFill>
                  <a:srgbClr val="CE9178"/>
                </a:solidFill>
                <a:latin typeface="Consolas" panose="020B0609020204030204" pitchFamily="49" charset="0"/>
              </a:rPr>
              <a:t>wzdłuż ścieżki"""</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footsteps</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left_foot</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a:solidFill>
                  <a:srgbClr val="569CD6"/>
                </a:solidFill>
                <a:latin typeface="Consolas" panose="020B0609020204030204" pitchFamily="49" charset="0"/>
              </a:rPr>
              <a:t>True</a:t>
            </a:r>
            <a:r>
              <a:rPr lang="pl-PL" sz="1000" dirty="0">
                <a:solidFill>
                  <a:srgbClr val="CCCCCC"/>
                </a:solidFill>
                <a:latin typeface="Consolas" panose="020B0609020204030204" pitchFamily="49" charset="0"/>
              </a:rPr>
              <a:t>  </a:t>
            </a:r>
            <a:r>
              <a:rPr lang="pl-PL" sz="1000" dirty="0">
                <a:solidFill>
                  <a:srgbClr val="6A9955"/>
                </a:solidFill>
                <a:latin typeface="Consolas" panose="020B0609020204030204" pitchFamily="49" charset="0"/>
              </a:rPr>
              <a:t># zaczyna lewa noga</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dist_accum</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a:solidFill>
                  <a:srgbClr val="B5CEA8"/>
                </a:solidFill>
                <a:latin typeface="Consolas" panose="020B0609020204030204" pitchFamily="49" charset="0"/>
              </a:rPr>
              <a:t>0.0</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a:solidFill>
                  <a:srgbClr val="C586C0"/>
                </a:solidFill>
                <a:latin typeface="Consolas" panose="020B0609020204030204" pitchFamily="49" charset="0"/>
              </a:rPr>
              <a:t>for</a:t>
            </a:r>
            <a:r>
              <a:rPr lang="pl-PL" sz="1000" dirty="0">
                <a:solidFill>
                  <a:srgbClr val="CCCCCC"/>
                </a:solidFill>
                <a:latin typeface="Consolas" panose="020B0609020204030204" pitchFamily="49" charset="0"/>
              </a:rPr>
              <a:t> i </a:t>
            </a:r>
            <a:r>
              <a:rPr lang="pl-PL" sz="1000" dirty="0">
                <a:solidFill>
                  <a:srgbClr val="C586C0"/>
                </a:solidFill>
                <a:latin typeface="Consolas" panose="020B0609020204030204" pitchFamily="49" charset="0"/>
              </a:rPr>
              <a:t>in</a:t>
            </a:r>
            <a:r>
              <a:rPr lang="pl-PL" sz="1000" dirty="0">
                <a:solidFill>
                  <a:srgbClr val="CCCCCC"/>
                </a:solidFill>
                <a:latin typeface="Consolas" panose="020B0609020204030204" pitchFamily="49" charset="0"/>
              </a:rPr>
              <a:t> </a:t>
            </a:r>
            <a:r>
              <a:rPr lang="pl-PL" sz="1000" dirty="0" err="1">
                <a:solidFill>
                  <a:srgbClr val="DCDCAA"/>
                </a:solidFill>
                <a:latin typeface="Consolas" panose="020B0609020204030204" pitchFamily="49" charset="0"/>
              </a:rPr>
              <a:t>range</a:t>
            </a:r>
            <a:r>
              <a:rPr lang="pl-PL" sz="1000" dirty="0">
                <a:solidFill>
                  <a:srgbClr val="CCCCCC"/>
                </a:solidFill>
                <a:latin typeface="Consolas" panose="020B0609020204030204" pitchFamily="49" charset="0"/>
              </a:rPr>
              <a:t>(</a:t>
            </a:r>
            <a:r>
              <a:rPr lang="pl-PL" sz="1000" dirty="0">
                <a:solidFill>
                  <a:srgbClr val="B5CEA8"/>
                </a:solidFill>
                <a:latin typeface="Consolas" panose="020B0609020204030204" pitchFamily="49" charset="0"/>
              </a:rPr>
              <a:t>1</a:t>
            </a:r>
            <a:r>
              <a:rPr lang="pl-PL" sz="1000" dirty="0">
                <a:solidFill>
                  <a:srgbClr val="CCCCCC"/>
                </a:solidFill>
                <a:latin typeface="Consolas" panose="020B0609020204030204" pitchFamily="49" charset="0"/>
              </a:rPr>
              <a:t>, </a:t>
            </a:r>
            <a:r>
              <a:rPr lang="pl-PL" sz="1000" dirty="0">
                <a:solidFill>
                  <a:srgbClr val="DCDCAA"/>
                </a:solidFill>
                <a:latin typeface="Consolas" panose="020B0609020204030204" pitchFamily="49" charset="0"/>
              </a:rPr>
              <a:t>len</a:t>
            </a:r>
            <a:r>
              <a:rPr lang="pl-PL" sz="1000" dirty="0">
                <a:solidFill>
                  <a:srgbClr val="CCCCCC"/>
                </a:solidFill>
                <a:latin typeface="Consolas" panose="020B0609020204030204" pitchFamily="49" charset="0"/>
              </a:rPr>
              <a:t>(</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dx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[i][</a:t>
            </a:r>
            <a:r>
              <a:rPr lang="pl-PL" sz="1000" dirty="0">
                <a:solidFill>
                  <a:srgbClr val="B5CEA8"/>
                </a:solidFill>
                <a:latin typeface="Consolas" panose="020B0609020204030204" pitchFamily="49" charset="0"/>
              </a:rPr>
              <a:t>0</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[i</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1</a:t>
            </a:r>
            <a:r>
              <a:rPr lang="pl-PL" sz="1000" dirty="0">
                <a:solidFill>
                  <a:srgbClr val="CCCCCC"/>
                </a:solidFill>
                <a:latin typeface="Consolas" panose="020B0609020204030204" pitchFamily="49" charset="0"/>
              </a:rPr>
              <a:t>][</a:t>
            </a:r>
            <a:r>
              <a:rPr lang="pl-PL" sz="1000" dirty="0">
                <a:solidFill>
                  <a:srgbClr val="B5CEA8"/>
                </a:solidFill>
                <a:latin typeface="Consolas" panose="020B0609020204030204" pitchFamily="49" charset="0"/>
              </a:rPr>
              <a:t>0</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dy</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[i][</a:t>
            </a:r>
            <a:r>
              <a:rPr lang="pl-PL" sz="1000" dirty="0">
                <a:solidFill>
                  <a:srgbClr val="B5CEA8"/>
                </a:solidFill>
                <a:latin typeface="Consolas" panose="020B0609020204030204" pitchFamily="49" charset="0"/>
              </a:rPr>
              <a:t>1</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[i</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1</a:t>
            </a:r>
            <a:r>
              <a:rPr lang="pl-PL" sz="1000" dirty="0">
                <a:solidFill>
                  <a:srgbClr val="CCCCCC"/>
                </a:solidFill>
                <a:latin typeface="Consolas" panose="020B0609020204030204" pitchFamily="49" charset="0"/>
              </a:rPr>
              <a:t>][</a:t>
            </a:r>
            <a:r>
              <a:rPr lang="pl-PL" sz="1000" dirty="0">
                <a:solidFill>
                  <a:srgbClr val="B5CEA8"/>
                </a:solidFill>
                <a:latin typeface="Consolas" panose="020B0609020204030204" pitchFamily="49" charset="0"/>
              </a:rPr>
              <a:t>1</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dist_accum</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np.hypot</a:t>
            </a:r>
            <a:r>
              <a:rPr lang="pl-PL" sz="1000" dirty="0">
                <a:solidFill>
                  <a:srgbClr val="CCCCCC"/>
                </a:solidFill>
                <a:latin typeface="Consolas" panose="020B0609020204030204" pitchFamily="49" charset="0"/>
              </a:rPr>
              <a:t>(dx, </a:t>
            </a:r>
            <a:r>
              <a:rPr lang="pl-PL" sz="1000" dirty="0" err="1">
                <a:solidFill>
                  <a:srgbClr val="CCCCCC"/>
                </a:solidFill>
                <a:latin typeface="Consolas" panose="020B0609020204030204" pitchFamily="49" charset="0"/>
              </a:rPr>
              <a:t>dy</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err="1">
                <a:solidFill>
                  <a:srgbClr val="C586C0"/>
                </a:solidFill>
                <a:latin typeface="Consolas" panose="020B0609020204030204" pitchFamily="49" charset="0"/>
              </a:rPr>
              <a:t>if</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dist_accum</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&gt;=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step_length</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yaw</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np.arctan2(</a:t>
            </a:r>
            <a:r>
              <a:rPr lang="pl-PL" sz="1000" dirty="0" err="1">
                <a:solidFill>
                  <a:srgbClr val="CCCCCC"/>
                </a:solidFill>
                <a:latin typeface="Consolas" panose="020B0609020204030204" pitchFamily="49" charset="0"/>
              </a:rPr>
              <a:t>dy</a:t>
            </a:r>
            <a:r>
              <a:rPr lang="pl-PL" sz="1000" dirty="0">
                <a:solidFill>
                  <a:srgbClr val="CCCCCC"/>
                </a:solidFill>
                <a:latin typeface="Consolas" panose="020B0609020204030204" pitchFamily="49" charset="0"/>
              </a:rPr>
              <a:t>, dx)</a:t>
            </a: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sign</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a:solidFill>
                  <a:srgbClr val="B5CEA8"/>
                </a:solidFill>
                <a:latin typeface="Consolas" panose="020B0609020204030204" pitchFamily="49" charset="0"/>
              </a:rPr>
              <a:t>1.0</a:t>
            </a:r>
            <a:r>
              <a:rPr lang="pl-PL" sz="1000" dirty="0">
                <a:solidFill>
                  <a:srgbClr val="CCCCCC"/>
                </a:solidFill>
                <a:latin typeface="Consolas" panose="020B0609020204030204" pitchFamily="49" charset="0"/>
              </a:rPr>
              <a:t> </a:t>
            </a:r>
            <a:r>
              <a:rPr lang="pl-PL" sz="1000" dirty="0" err="1">
                <a:solidFill>
                  <a:srgbClr val="C586C0"/>
                </a:solidFill>
                <a:latin typeface="Consolas" panose="020B0609020204030204" pitchFamily="49" charset="0"/>
              </a:rPr>
              <a:t>if</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left_foot</a:t>
            </a:r>
            <a:r>
              <a:rPr lang="pl-PL" sz="1000" dirty="0">
                <a:solidFill>
                  <a:srgbClr val="CCCCCC"/>
                </a:solidFill>
                <a:latin typeface="Consolas" panose="020B0609020204030204" pitchFamily="49" charset="0"/>
              </a:rPr>
              <a:t> </a:t>
            </a:r>
            <a:r>
              <a:rPr lang="pl-PL" sz="1000" dirty="0" err="1">
                <a:solidFill>
                  <a:srgbClr val="C586C0"/>
                </a:solidFill>
                <a:latin typeface="Consolas" panose="020B0609020204030204" pitchFamily="49" charset="0"/>
              </a:rPr>
              <a:t>else</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1.0</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foot_x</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[i][</a:t>
            </a:r>
            <a:r>
              <a:rPr lang="pl-PL" sz="1000" dirty="0">
                <a:solidFill>
                  <a:srgbClr val="B5CEA8"/>
                </a:solidFill>
                <a:latin typeface="Consolas" panose="020B0609020204030204" pitchFamily="49" charset="0"/>
              </a:rPr>
              <a:t>0</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np.sin</a:t>
            </a:r>
            <a:r>
              <a:rPr lang="pl-PL" sz="1000" dirty="0">
                <a:solidFill>
                  <a:srgbClr val="CCCCCC"/>
                </a:solidFill>
                <a:latin typeface="Consolas" panose="020B0609020204030204" pitchFamily="49" charset="0"/>
              </a:rPr>
              <a:t>(</a:t>
            </a:r>
            <a:r>
              <a:rPr lang="pl-PL" sz="1000" dirty="0" err="1">
                <a:solidFill>
                  <a:srgbClr val="CCCCCC"/>
                </a:solidFill>
                <a:latin typeface="Consolas" panose="020B0609020204030204" pitchFamily="49" charset="0"/>
              </a:rPr>
              <a:t>yaw</a:t>
            </a:r>
            <a:r>
              <a:rPr lang="pl-PL" sz="1000" dirty="0">
                <a:solidFill>
                  <a:srgbClr val="CCCCCC"/>
                </a:solidFill>
                <a:latin typeface="Consolas" panose="020B0609020204030204" pitchFamily="49" charset="0"/>
              </a:rPr>
              <a:t>)</a:t>
            </a:r>
            <a:r>
              <a:rPr lang="pl-PL" sz="1000" dirty="0">
                <a:solidFill>
                  <a:srgbClr val="D4D4D4"/>
                </a:solidFill>
                <a:latin typeface="Consolas" panose="020B0609020204030204" pitchFamily="49" charset="0"/>
              </a:rPr>
              <a:t>*</a:t>
            </a:r>
            <a:r>
              <a:rPr lang="pl-PL" sz="1000" dirty="0" err="1">
                <a:solidFill>
                  <a:srgbClr val="CCCCCC"/>
                </a:solidFill>
                <a:latin typeface="Consolas" panose="020B0609020204030204" pitchFamily="49" charset="0"/>
              </a:rPr>
              <a:t>sign</a:t>
            </a:r>
            <a:r>
              <a:rPr lang="pl-PL" sz="1000" dirty="0">
                <a:solidFill>
                  <a:srgbClr val="D4D4D4"/>
                </a:solidFill>
                <a:latin typeface="Consolas" panose="020B0609020204030204" pitchFamily="49" charset="0"/>
              </a:rPr>
              <a:t>*</a:t>
            </a:r>
            <a:r>
              <a:rPr lang="pl-PL" sz="1000" dirty="0" err="1">
                <a:solidFill>
                  <a:srgbClr val="CCCCCC"/>
                </a:solidFill>
                <a:latin typeface="Consolas" panose="020B0609020204030204" pitchFamily="49" charset="0"/>
              </a:rPr>
              <a:t>step_width</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2</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foot_y</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path_xy</a:t>
            </a:r>
            <a:r>
              <a:rPr lang="pl-PL" sz="1000" dirty="0">
                <a:solidFill>
                  <a:srgbClr val="CCCCCC"/>
                </a:solidFill>
                <a:latin typeface="Consolas" panose="020B0609020204030204" pitchFamily="49" charset="0"/>
              </a:rPr>
              <a:t>[i][</a:t>
            </a:r>
            <a:r>
              <a:rPr lang="pl-PL" sz="1000" dirty="0">
                <a:solidFill>
                  <a:srgbClr val="B5CEA8"/>
                </a:solidFill>
                <a:latin typeface="Consolas" panose="020B0609020204030204" pitchFamily="49" charset="0"/>
              </a:rPr>
              <a:t>1</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np.cos</a:t>
            </a:r>
            <a:r>
              <a:rPr lang="pl-PL" sz="1000" dirty="0">
                <a:solidFill>
                  <a:srgbClr val="CCCCCC"/>
                </a:solidFill>
                <a:latin typeface="Consolas" panose="020B0609020204030204" pitchFamily="49" charset="0"/>
              </a:rPr>
              <a:t>(</a:t>
            </a:r>
            <a:r>
              <a:rPr lang="pl-PL" sz="1000" dirty="0" err="1">
                <a:solidFill>
                  <a:srgbClr val="CCCCCC"/>
                </a:solidFill>
                <a:latin typeface="Consolas" panose="020B0609020204030204" pitchFamily="49" charset="0"/>
              </a:rPr>
              <a:t>yaw</a:t>
            </a:r>
            <a:r>
              <a:rPr lang="pl-PL" sz="1000" dirty="0">
                <a:solidFill>
                  <a:srgbClr val="CCCCCC"/>
                </a:solidFill>
                <a:latin typeface="Consolas" panose="020B0609020204030204" pitchFamily="49" charset="0"/>
              </a:rPr>
              <a:t>)</a:t>
            </a:r>
            <a:r>
              <a:rPr lang="pl-PL" sz="1000" dirty="0">
                <a:solidFill>
                  <a:srgbClr val="D4D4D4"/>
                </a:solidFill>
                <a:latin typeface="Consolas" panose="020B0609020204030204" pitchFamily="49" charset="0"/>
              </a:rPr>
              <a:t>*</a:t>
            </a:r>
            <a:r>
              <a:rPr lang="pl-PL" sz="1000" dirty="0" err="1">
                <a:solidFill>
                  <a:srgbClr val="CCCCCC"/>
                </a:solidFill>
                <a:latin typeface="Consolas" panose="020B0609020204030204" pitchFamily="49" charset="0"/>
              </a:rPr>
              <a:t>sign</a:t>
            </a:r>
            <a:r>
              <a:rPr lang="pl-PL" sz="1000" dirty="0">
                <a:solidFill>
                  <a:srgbClr val="D4D4D4"/>
                </a:solidFill>
                <a:latin typeface="Consolas" panose="020B0609020204030204" pitchFamily="49" charset="0"/>
              </a:rPr>
              <a:t>*</a:t>
            </a:r>
            <a:r>
              <a:rPr lang="pl-PL" sz="1000" dirty="0" err="1">
                <a:solidFill>
                  <a:srgbClr val="CCCCCC"/>
                </a:solidFill>
                <a:latin typeface="Consolas" panose="020B0609020204030204" pitchFamily="49" charset="0"/>
              </a:rPr>
              <a:t>step_width</a:t>
            </a:r>
            <a:r>
              <a:rPr lang="pl-PL" sz="1000" dirty="0">
                <a:solidFill>
                  <a:srgbClr val="D4D4D4"/>
                </a:solidFill>
                <a:latin typeface="Consolas" panose="020B0609020204030204" pitchFamily="49" charset="0"/>
              </a:rPr>
              <a:t>/</a:t>
            </a:r>
            <a:r>
              <a:rPr lang="pl-PL" sz="1000" dirty="0">
                <a:solidFill>
                  <a:srgbClr val="B5CEA8"/>
                </a:solidFill>
                <a:latin typeface="Consolas" panose="020B0609020204030204" pitchFamily="49" charset="0"/>
              </a:rPr>
              <a:t>2</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footsteps.append</a:t>
            </a:r>
            <a:r>
              <a:rPr lang="pl-PL" sz="1000" dirty="0">
                <a:solidFill>
                  <a:srgbClr val="CCCCCC"/>
                </a:solidFill>
                <a:latin typeface="Consolas" panose="020B0609020204030204" pitchFamily="49" charset="0"/>
              </a:rPr>
              <a:t>({</a:t>
            </a:r>
            <a:r>
              <a:rPr lang="pl-PL" sz="1000" dirty="0">
                <a:solidFill>
                  <a:srgbClr val="CE9178"/>
                </a:solidFill>
                <a:latin typeface="Consolas" panose="020B0609020204030204" pitchFamily="49" charset="0"/>
              </a:rPr>
              <a:t>'x'</a:t>
            </a:r>
            <a:r>
              <a:rPr lang="pl-PL" sz="1000" dirty="0">
                <a:solidFill>
                  <a:srgbClr val="CCCCCC"/>
                </a:solidFill>
                <a:latin typeface="Consolas" panose="020B0609020204030204" pitchFamily="49" charset="0"/>
              </a:rPr>
              <a:t>:foot_x,</a:t>
            </a:r>
            <a:r>
              <a:rPr lang="pl-PL" sz="1000" dirty="0">
                <a:solidFill>
                  <a:srgbClr val="CE9178"/>
                </a:solidFill>
                <a:latin typeface="Consolas" panose="020B0609020204030204" pitchFamily="49" charset="0"/>
              </a:rPr>
              <a:t>'y'</a:t>
            </a:r>
            <a:r>
              <a:rPr lang="pl-PL" sz="1000" dirty="0">
                <a:solidFill>
                  <a:srgbClr val="CCCCCC"/>
                </a:solidFill>
                <a:latin typeface="Consolas" panose="020B0609020204030204" pitchFamily="49" charset="0"/>
              </a:rPr>
              <a:t>:foot_y,</a:t>
            </a:r>
            <a:r>
              <a:rPr lang="pl-PL" sz="1000" dirty="0">
                <a:solidFill>
                  <a:srgbClr val="CE9178"/>
                </a:solidFill>
                <a:latin typeface="Consolas" panose="020B0609020204030204" pitchFamily="49" charset="0"/>
              </a:rPr>
              <a:t>'</a:t>
            </a:r>
            <a:r>
              <a:rPr lang="pl-PL" sz="1000" dirty="0" err="1">
                <a:solidFill>
                  <a:srgbClr val="CE9178"/>
                </a:solidFill>
                <a:latin typeface="Consolas" panose="020B0609020204030204" pitchFamily="49" charset="0"/>
              </a:rPr>
              <a:t>yaw</a:t>
            </a:r>
            <a:r>
              <a:rPr lang="pl-PL" sz="1000" dirty="0">
                <a:solidFill>
                  <a:srgbClr val="CE9178"/>
                </a:solidFill>
                <a:latin typeface="Consolas" panose="020B0609020204030204" pitchFamily="49" charset="0"/>
              </a:rPr>
              <a:t>'</a:t>
            </a:r>
            <a:r>
              <a:rPr lang="pl-PL" sz="1000" dirty="0">
                <a:solidFill>
                  <a:srgbClr val="CCCCCC"/>
                </a:solidFill>
                <a:latin typeface="Consolas" panose="020B0609020204030204" pitchFamily="49" charset="0"/>
              </a:rPr>
              <a:t>:</a:t>
            </a:r>
            <a:r>
              <a:rPr lang="pl-PL" sz="1000" dirty="0" err="1">
                <a:solidFill>
                  <a:srgbClr val="CCCCCC"/>
                </a:solidFill>
                <a:latin typeface="Consolas" panose="020B0609020204030204" pitchFamily="49" charset="0"/>
              </a:rPr>
              <a:t>yaw</a:t>
            </a:r>
            <a:r>
              <a:rPr lang="pl-PL" sz="1000" dirty="0">
                <a:solidFill>
                  <a:srgbClr val="CCCCCC"/>
                </a:solidFill>
                <a:latin typeface="Consolas" panose="020B0609020204030204" pitchFamily="49" charset="0"/>
              </a:rPr>
              <a:t>,</a:t>
            </a:r>
            <a:r>
              <a:rPr lang="pl-PL" sz="1000" dirty="0">
                <a:solidFill>
                  <a:srgbClr val="CE9178"/>
                </a:solidFill>
                <a:latin typeface="Consolas" panose="020B0609020204030204" pitchFamily="49" charset="0"/>
              </a:rPr>
              <a:t>'</a:t>
            </a:r>
            <a:r>
              <a:rPr lang="pl-PL" sz="1000" dirty="0" err="1">
                <a:solidFill>
                  <a:srgbClr val="CE9178"/>
                </a:solidFill>
                <a:latin typeface="Consolas" panose="020B0609020204030204" pitchFamily="49" charset="0"/>
              </a:rPr>
              <a:t>left</a:t>
            </a:r>
            <a:r>
              <a:rPr lang="pl-PL" sz="1000" dirty="0">
                <a:solidFill>
                  <a:srgbClr val="CE9178"/>
                </a:solidFill>
                <a:latin typeface="Consolas" panose="020B0609020204030204" pitchFamily="49" charset="0"/>
              </a:rPr>
              <a:t>'</a:t>
            </a:r>
            <a:r>
              <a:rPr lang="pl-PL" sz="1000" dirty="0">
                <a:solidFill>
                  <a:srgbClr val="CCCCCC"/>
                </a:solidFill>
                <a:latin typeface="Consolas" panose="020B0609020204030204" pitchFamily="49" charset="0"/>
              </a:rPr>
              <a:t>:</a:t>
            </a:r>
            <a:r>
              <a:rPr lang="pl-PL" sz="1000" dirty="0" err="1">
                <a:solidFill>
                  <a:srgbClr val="CCCCCC"/>
                </a:solidFill>
                <a:latin typeface="Consolas" panose="020B0609020204030204" pitchFamily="49" charset="0"/>
              </a:rPr>
              <a:t>left_foot</a:t>
            </a:r>
            <a:r>
              <a:rPr lang="pl-PL" sz="1000" dirty="0">
                <a:solidFill>
                  <a:srgbClr val="CCCCCC"/>
                </a:solidFill>
                <a:latin typeface="Consolas" panose="020B0609020204030204" pitchFamily="49" charset="0"/>
              </a:rPr>
              <a:t>})</a:t>
            </a: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left_foot</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a:solidFill>
                  <a:srgbClr val="569CD6"/>
                </a:solidFill>
                <a:latin typeface="Consolas" panose="020B0609020204030204" pitchFamily="49" charset="0"/>
              </a:rPr>
              <a:t>not</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left_foot</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dist_accum</a:t>
            </a:r>
            <a:r>
              <a:rPr lang="pl-PL" sz="1000" dirty="0">
                <a:solidFill>
                  <a:srgbClr val="CCCCCC"/>
                </a:solidFill>
                <a:latin typeface="Consolas" panose="020B0609020204030204" pitchFamily="49" charset="0"/>
              </a:rPr>
              <a:t> </a:t>
            </a:r>
            <a:r>
              <a:rPr lang="pl-PL" sz="1000" dirty="0">
                <a:solidFill>
                  <a:srgbClr val="D4D4D4"/>
                </a:solidFill>
                <a:latin typeface="Consolas" panose="020B0609020204030204" pitchFamily="49" charset="0"/>
              </a:rPr>
              <a:t>=</a:t>
            </a:r>
            <a:r>
              <a:rPr lang="pl-PL" sz="1000" dirty="0">
                <a:solidFill>
                  <a:srgbClr val="CCCCCC"/>
                </a:solidFill>
                <a:latin typeface="Consolas" panose="020B0609020204030204" pitchFamily="49" charset="0"/>
              </a:rPr>
              <a:t> </a:t>
            </a:r>
            <a:r>
              <a:rPr lang="pl-PL" sz="1000" dirty="0">
                <a:solidFill>
                  <a:srgbClr val="B5CEA8"/>
                </a:solidFill>
                <a:latin typeface="Consolas" panose="020B0609020204030204" pitchFamily="49" charset="0"/>
              </a:rPr>
              <a:t>0.0</a:t>
            </a:r>
            <a:endParaRPr lang="pl-PL" sz="1000" dirty="0">
              <a:solidFill>
                <a:srgbClr val="CCCCCC"/>
              </a:solidFill>
              <a:latin typeface="Consolas" panose="020B0609020204030204" pitchFamily="49" charset="0"/>
            </a:endParaRPr>
          </a:p>
          <a:p>
            <a:r>
              <a:rPr lang="pl-PL" sz="1000" dirty="0">
                <a:solidFill>
                  <a:srgbClr val="CCCCCC"/>
                </a:solidFill>
                <a:latin typeface="Consolas" panose="020B0609020204030204" pitchFamily="49" charset="0"/>
              </a:rPr>
              <a:t>    </a:t>
            </a:r>
            <a:r>
              <a:rPr lang="pl-PL" sz="1000" dirty="0">
                <a:solidFill>
                  <a:srgbClr val="C586C0"/>
                </a:solidFill>
                <a:latin typeface="Consolas" panose="020B0609020204030204" pitchFamily="49" charset="0"/>
              </a:rPr>
              <a:t>return</a:t>
            </a:r>
            <a:r>
              <a:rPr lang="pl-PL" sz="1000" dirty="0">
                <a:solidFill>
                  <a:srgbClr val="CCCCCC"/>
                </a:solidFill>
                <a:latin typeface="Consolas" panose="020B0609020204030204" pitchFamily="49" charset="0"/>
              </a:rPr>
              <a:t> </a:t>
            </a:r>
            <a:r>
              <a:rPr lang="pl-PL" sz="1000" dirty="0" err="1">
                <a:solidFill>
                  <a:srgbClr val="CCCCCC"/>
                </a:solidFill>
                <a:latin typeface="Consolas" panose="020B0609020204030204" pitchFamily="49" charset="0"/>
              </a:rPr>
              <a:t>footsteps</a:t>
            </a:r>
            <a:endParaRPr lang="pl-PL" sz="1000" b="0" dirty="0">
              <a:solidFill>
                <a:srgbClr val="CCCCCC"/>
              </a:solidFill>
              <a:effectLst/>
              <a:latin typeface="Consolas" panose="020B0609020204030204" pitchFamily="49" charset="0"/>
            </a:endParaRPr>
          </a:p>
        </p:txBody>
      </p:sp>
      <p:sp>
        <p:nvSpPr>
          <p:cNvPr id="11" name="Shape 9"/>
          <p:cNvSpPr/>
          <p:nvPr/>
        </p:nvSpPr>
        <p:spPr>
          <a:xfrm>
            <a:off x="274320" y="4580730"/>
            <a:ext cx="8595360" cy="357030"/>
          </a:xfrm>
          <a:prstGeom prst="rect">
            <a:avLst/>
          </a:prstGeom>
          <a:solidFill>
            <a:srgbClr val="1A3550"/>
          </a:solidFill>
          <a:ln w="12700">
            <a:solidFill>
              <a:srgbClr val="0077A8"/>
            </a:solidFill>
            <a:prstDash val="solid"/>
          </a:ln>
        </p:spPr>
      </p:sp>
      <p:sp>
        <p:nvSpPr>
          <p:cNvPr id="12" name="Text 10"/>
          <p:cNvSpPr/>
          <p:nvPr/>
        </p:nvSpPr>
        <p:spPr>
          <a:xfrm>
            <a:off x="357359" y="4548798"/>
            <a:ext cx="8420881" cy="388962"/>
          </a:xfrm>
          <a:prstGeom prst="rect">
            <a:avLst/>
          </a:prstGeom>
          <a:noFill/>
          <a:ln/>
        </p:spPr>
        <p:txBody>
          <a:bodyPr wrap="square" lIns="0" tIns="0" rIns="127000" bIns="0"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Opis: </a:t>
            </a:r>
            <a:r>
              <a:rPr lang="en-US" sz="1600" dirty="0">
                <a:solidFill>
                  <a:srgbClr val="E2EBF3"/>
                </a:solidFill>
                <a:latin typeface="Calibri" pitchFamily="34" charset="0"/>
                <a:ea typeface="Calibri" pitchFamily="34" charset="-122"/>
                <a:cs typeface="Calibri" pitchFamily="34" charset="-120"/>
              </a:rPr>
              <a:t>Offset ±step_width/2 prostopadle do kierunku ruchu; 'left' flaga </a:t>
            </a:r>
            <a:r>
              <a:rPr lang="en-US" sz="1600" dirty="0" err="1">
                <a:solidFill>
                  <a:srgbClr val="E2EBF3"/>
                </a:solidFill>
                <a:latin typeface="Calibri" pitchFamily="34" charset="0"/>
                <a:ea typeface="Calibri" pitchFamily="34" charset="-122"/>
                <a:cs typeface="Calibri" pitchFamily="34" charset="-120"/>
              </a:rPr>
              <a:t>steruje</a:t>
            </a:r>
            <a:r>
              <a:rPr lang="en-US" sz="1600" dirty="0">
                <a:solidFill>
                  <a:srgbClr val="E2EBF3"/>
                </a:solidFill>
                <a:latin typeface="Calibri" pitchFamily="34" charset="0"/>
                <a:ea typeface="Calibri" pitchFamily="34" charset="-122"/>
                <a:cs typeface="Calibri" pitchFamily="34" charset="-120"/>
              </a:rPr>
              <a:t> </a:t>
            </a:r>
            <a:r>
              <a:rPr lang="pl-PL" sz="1600" dirty="0" smtClean="0">
                <a:solidFill>
                  <a:srgbClr val="E2EBF3"/>
                </a:solidFill>
                <a:latin typeface="Calibri" pitchFamily="34" charset="0"/>
                <a:ea typeface="Calibri" pitchFamily="34" charset="-122"/>
                <a:cs typeface="Calibri" pitchFamily="34" charset="-120"/>
              </a:rPr>
              <a:t>naprzemiennością</a:t>
            </a:r>
            <a:r>
              <a:rPr lang="en-US" sz="1600" dirty="0" smtClean="0">
                <a:solidFill>
                  <a:srgbClr val="E2EBF3"/>
                </a:solidFill>
                <a:latin typeface="Calibri" pitchFamily="34" charset="0"/>
                <a:ea typeface="Calibri" pitchFamily="34" charset="-122"/>
                <a:cs typeface="Calibri" pitchFamily="34" charset="-120"/>
              </a:rPr>
              <a:t> </a:t>
            </a:r>
            <a:r>
              <a:rPr lang="en-US" sz="1600" dirty="0" smtClean="0">
                <a:solidFill>
                  <a:srgbClr val="E2EBF3"/>
                </a:solidFill>
                <a:latin typeface="Calibri" pitchFamily="34" charset="0"/>
                <a:ea typeface="Calibri" pitchFamily="34" charset="-122"/>
                <a:cs typeface="Calibri" pitchFamily="34" charset="-120"/>
              </a:rPr>
              <a:t>L/P</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794376" cy="361676"/>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Generacja trajektorii </a:t>
            </a:r>
            <a:r>
              <a:rPr lang="pl-PL" sz="2400" b="1" dirty="0" err="1">
                <a:solidFill>
                  <a:srgbClr val="FFFFFF"/>
                </a:solidFill>
                <a:latin typeface="Trebuchet MS" pitchFamily="34" charset="0"/>
                <a:ea typeface="Trebuchet MS" pitchFamily="34" charset="-122"/>
                <a:cs typeface="Trebuchet MS" pitchFamily="34" charset="-120"/>
              </a:rPr>
              <a:t>CoM</a:t>
            </a:r>
            <a:r>
              <a:rPr lang="pl-PL" sz="2400" b="1" dirty="0">
                <a:solidFill>
                  <a:srgbClr val="FFFFFF"/>
                </a:solidFill>
                <a:latin typeface="Trebuchet MS" pitchFamily="34" charset="0"/>
                <a:ea typeface="Trebuchet MS" pitchFamily="34" charset="-122"/>
                <a:cs typeface="Trebuchet MS" pitchFamily="34" charset="-120"/>
              </a:rPr>
              <a:t> z sekwencji kroków </a:t>
            </a:r>
            <a:r>
              <a:rPr lang="pl-PL" sz="2400" dirty="0">
                <a:solidFill>
                  <a:srgbClr val="FFFFFF"/>
                </a:solidFill>
                <a:latin typeface="Trebuchet MS" pitchFamily="34" charset="0"/>
                <a:ea typeface="Trebuchet MS" pitchFamily="34" charset="-122"/>
                <a:cs typeface="Trebuchet MS" pitchFamily="34" charset="-120"/>
              </a:rPr>
              <a:t>(model LIPM)</a:t>
            </a:r>
          </a:p>
        </p:txBody>
      </p:sp>
      <p:sp>
        <p:nvSpPr>
          <p:cNvPr id="6" name="Shape 4"/>
          <p:cNvSpPr/>
          <p:nvPr/>
        </p:nvSpPr>
        <p:spPr>
          <a:xfrm>
            <a:off x="274320" y="1005840"/>
            <a:ext cx="8595360" cy="3231764"/>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3" y="1082931"/>
            <a:ext cx="8199235" cy="3009517"/>
          </a:xfrm>
          <a:prstGeom prst="rect">
            <a:avLst/>
          </a:prstGeom>
          <a:noFill/>
          <a:ln/>
        </p:spPr>
        <p:txBody>
          <a:bodyPr wrap="square" lIns="108000" tIns="0" rIns="36000" bIns="0" numCol="2" rtlCol="0" anchor="t">
            <a:normAutofit fontScale="77500" lnSpcReduction="20000"/>
          </a:bodyPr>
          <a:lstStyle/>
          <a:p>
            <a:r>
              <a:rPr lang="pl-PL" sz="1050" dirty="0">
                <a:solidFill>
                  <a:srgbClr val="C586C0"/>
                </a:solidFill>
                <a:latin typeface="Consolas" panose="020B0609020204030204" pitchFamily="49" charset="0"/>
              </a:rPr>
              <a:t>import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numpy</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as</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569CD6"/>
                </a:solidFill>
                <a:latin typeface="Consolas" panose="020B0609020204030204" pitchFamily="49" charset="0"/>
              </a:rPr>
              <a:t>def</a:t>
            </a:r>
            <a:r>
              <a:rPr lang="pl-PL" sz="1050" dirty="0">
                <a:solidFill>
                  <a:srgbClr val="CCCCCC"/>
                </a:solidFill>
                <a:latin typeface="Consolas" panose="020B0609020204030204" pitchFamily="49" charset="0"/>
              </a:rPr>
              <a:t> </a:t>
            </a:r>
            <a:r>
              <a:rPr lang="pl-PL" sz="1050" dirty="0" err="1">
                <a:solidFill>
                  <a:srgbClr val="DCDCAA"/>
                </a:solidFill>
                <a:latin typeface="Consolas" panose="020B0609020204030204" pitchFamily="49" charset="0"/>
              </a:rPr>
              <a:t>generate_com_trajectory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footsteps</a:t>
            </a:r>
            <a:r>
              <a:rPr lang="pl-PL" sz="1050" dirty="0">
                <a:solidFill>
                  <a:srgbClr val="CCCCCC"/>
                </a:solidFill>
                <a:latin typeface="Consolas" panose="020B0609020204030204" pitchFamily="49" charset="0"/>
              </a:rPr>
              <a:t>: </a:t>
            </a:r>
            <a:r>
              <a:rPr lang="pl-PL" sz="1050" dirty="0">
                <a:solidFill>
                  <a:srgbClr val="4EC9B0"/>
                </a:solidFill>
                <a:latin typeface="Consolas" panose="020B0609020204030204" pitchFamily="49" charset="0"/>
              </a:rPr>
              <a:t>list</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com_height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0.85</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g</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9.81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T_step</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0.6</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T_dsp</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0.12</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float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0.005</a:t>
            </a:r>
            <a:r>
              <a:rPr lang="pl-PL" sz="1050" dirty="0">
                <a:solidFill>
                  <a:srgbClr val="CCCCCC"/>
                </a:solidFill>
                <a:latin typeface="Consolas" panose="020B0609020204030204" pitchFamily="49" charset="0"/>
              </a:rPr>
              <a:t>) -&gt;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4EC9B0"/>
                </a:solidFill>
                <a:latin typeface="Consolas" panose="020B0609020204030204" pitchFamily="49" charset="0"/>
              </a:rPr>
              <a:t>ndarray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Uproszczona generacja trajektorii </a:t>
            </a:r>
            <a:r>
              <a:rPr lang="pl-PL" sz="1050" dirty="0" err="1">
                <a:solidFill>
                  <a:srgbClr val="CE9178"/>
                </a:solidFill>
                <a:latin typeface="Consolas" panose="020B0609020204030204" pitchFamily="49" charset="0"/>
              </a:rPr>
              <a:t>CoM</a:t>
            </a:r>
            <a:r>
              <a:rPr lang="pl-PL" sz="1050" dirty="0">
                <a:solidFill>
                  <a:srgbClr val="CE9178"/>
                </a:solidFill>
                <a:latin typeface="Consolas" panose="020B0609020204030204" pitchFamily="49" charset="0"/>
              </a:rPr>
              <a:t> na podstawie sekwencji kroków.</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Uzywa</a:t>
            </a:r>
            <a:r>
              <a:rPr lang="pl-PL" sz="1050" dirty="0">
                <a:solidFill>
                  <a:srgbClr val="CE9178"/>
                </a:solidFill>
                <a:latin typeface="Consolas" panose="020B0609020204030204" pitchFamily="49" charset="0"/>
              </a:rPr>
              <a:t> modelu LIPM: </a:t>
            </a:r>
            <a:r>
              <a:rPr lang="pl-PL" sz="1050" dirty="0" err="1">
                <a:solidFill>
                  <a:srgbClr val="CE9178"/>
                </a:solidFill>
                <a:latin typeface="Consolas" panose="020B0609020204030204" pitchFamily="49" charset="0"/>
              </a:rPr>
              <a:t>x_ddot</a:t>
            </a:r>
            <a:r>
              <a:rPr lang="pl-PL" sz="1050" dirty="0">
                <a:solidFill>
                  <a:srgbClr val="CE9178"/>
                </a:solidFill>
                <a:latin typeface="Consolas" panose="020B0609020204030204" pitchFamily="49" charset="0"/>
              </a:rPr>
              <a:t> = omega^2 * (x - </a:t>
            </a:r>
            <a:r>
              <a:rPr lang="pl-PL" sz="1050" dirty="0" err="1">
                <a:solidFill>
                  <a:srgbClr val="CE9178"/>
                </a:solidFill>
                <a:latin typeface="Consolas" panose="020B0609020204030204" pitchFamily="49" charset="0"/>
              </a:rPr>
              <a:t>x_zmp</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r>
              <a:rPr lang="pl-PL" sz="1050" dirty="0" err="1">
                <a:solidFill>
                  <a:srgbClr val="CE9178"/>
                </a:solidFill>
                <a:latin typeface="Consolas" panose="020B0609020204030204" pitchFamily="49" charset="0"/>
              </a:rPr>
              <a:t>footsteps</a:t>
            </a:r>
            <a:r>
              <a:rPr lang="pl-PL" sz="1050" dirty="0">
                <a:solidFill>
                  <a:srgbClr val="CE9178"/>
                </a:solidFill>
                <a:latin typeface="Consolas" panose="020B0609020204030204" pitchFamily="49" charset="0"/>
              </a:rPr>
              <a:t>: lista {'x','y','</a:t>
            </a:r>
            <a:r>
              <a:rPr lang="pl-PL" sz="1050" dirty="0" err="1">
                <a:solidFill>
                  <a:srgbClr val="CE9178"/>
                </a:solidFill>
                <a:latin typeface="Consolas" panose="020B0609020204030204" pitchFamily="49" charset="0"/>
              </a:rPr>
              <a:t>yaw</a:t>
            </a:r>
            <a:r>
              <a:rPr lang="pl-PL" sz="1050" dirty="0">
                <a:solidFill>
                  <a:srgbClr val="CE9178"/>
                </a:solidFill>
                <a:latin typeface="Consolas" panose="020B0609020204030204" pitchFamily="49" charset="0"/>
              </a:rPr>
              <a:t>','</a:t>
            </a:r>
            <a:r>
              <a:rPr lang="pl-PL" sz="1050" dirty="0" err="1">
                <a:solidFill>
                  <a:srgbClr val="CE9178"/>
                </a:solidFill>
                <a:latin typeface="Consolas" panose="020B0609020204030204" pitchFamily="49" charset="0"/>
              </a:rPr>
              <a:t>left</a:t>
            </a:r>
            <a:r>
              <a:rPr lang="pl-PL" sz="1050" dirty="0">
                <a:solidFill>
                  <a:srgbClr val="CE9178"/>
                </a:solidFill>
                <a:latin typeface="Consolas" panose="020B0609020204030204" pitchFamily="49" charset="0"/>
              </a:rPr>
              <a:t>'}</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Zwraca </a:t>
            </a:r>
            <a:r>
              <a:rPr lang="pl-PL" sz="1050" dirty="0" err="1">
                <a:solidFill>
                  <a:srgbClr val="CE9178"/>
                </a:solidFill>
                <a:latin typeface="Consolas" panose="020B0609020204030204" pitchFamily="49" charset="0"/>
              </a:rPr>
              <a:t>ndarray</a:t>
            </a:r>
            <a:r>
              <a:rPr lang="pl-PL" sz="1050" dirty="0">
                <a:solidFill>
                  <a:srgbClr val="CE9178"/>
                </a:solidFill>
                <a:latin typeface="Consolas" panose="020B0609020204030204" pitchFamily="49" charset="0"/>
              </a:rPr>
              <a:t> (N, 4): [t, x, y, </a:t>
            </a:r>
            <a:r>
              <a:rPr lang="pl-PL" sz="1050" dirty="0" err="1">
                <a:solidFill>
                  <a:srgbClr val="CE9178"/>
                </a:solidFill>
                <a:latin typeface="Consolas" panose="020B0609020204030204" pitchFamily="49" charset="0"/>
              </a:rPr>
              <a:t>vx_vy</a:t>
            </a:r>
            <a:r>
              <a:rPr lang="pl-PL" sz="1050" dirty="0">
                <a:solidFill>
                  <a:srgbClr val="CE9178"/>
                </a:solidFill>
                <a:latin typeface="Consolas" panose="020B0609020204030204" pitchFamily="49" charset="0"/>
              </a:rPr>
              <a:t>...] pary </a:t>
            </a:r>
            <a:r>
              <a:rPr lang="pl-PL" sz="1050" dirty="0" err="1">
                <a:solidFill>
                  <a:srgbClr val="CE9178"/>
                </a:solidFill>
                <a:latin typeface="Consolas" panose="020B0609020204030204" pitchFamily="49" charset="0"/>
              </a:rPr>
              <a:t>CoM</a:t>
            </a:r>
            <a:endParaRPr lang="pl-PL" sz="1050" dirty="0">
              <a:solidFill>
                <a:srgbClr val="CCCCCC"/>
              </a:solidFill>
              <a:latin typeface="Consolas" panose="020B0609020204030204" pitchFamily="49" charset="0"/>
            </a:endParaRPr>
          </a:p>
          <a:p>
            <a:r>
              <a:rPr lang="pl-PL" sz="1050" dirty="0">
                <a:solidFill>
                  <a:srgbClr val="CE9178"/>
                </a:solidFill>
                <a:latin typeface="Consolas" panose="020B0609020204030204" pitchFamily="49" charset="0"/>
              </a:rPr>
              <a:t>    """</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sqrt</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g</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com_height</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~3.4 rad/s przy h=0.85 m</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traj</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Inicjalizacja </a:t>
            </a:r>
            <a:r>
              <a:rPr lang="pl-PL" sz="1050" dirty="0" err="1">
                <a:solidFill>
                  <a:srgbClr val="6A9955"/>
                </a:solidFill>
                <a:latin typeface="Consolas" panose="020B0609020204030204" pitchFamily="49" charset="0"/>
              </a:rPr>
              <a:t>CoM</a:t>
            </a:r>
            <a:r>
              <a:rPr lang="pl-PL" sz="1050" dirty="0">
                <a:solidFill>
                  <a:srgbClr val="6A9955"/>
                </a:solidFill>
                <a:latin typeface="Consolas" panose="020B0609020204030204" pitchFamily="49" charset="0"/>
              </a:rPr>
              <a:t> nad </a:t>
            </a:r>
            <a:r>
              <a:rPr lang="pl-PL" sz="1050" dirty="0" err="1">
                <a:solidFill>
                  <a:srgbClr val="6A9955"/>
                </a:solidFill>
                <a:latin typeface="Consolas" panose="020B0609020204030204" pitchFamily="49" charset="0"/>
              </a:rPr>
              <a:t>srodkiem</a:t>
            </a:r>
            <a:r>
              <a:rPr lang="pl-PL" sz="1050" dirty="0">
                <a:solidFill>
                  <a:srgbClr val="6A9955"/>
                </a:solidFill>
                <a:latin typeface="Consolas" panose="020B0609020204030204" pitchFamily="49" charset="0"/>
              </a:rPr>
              <a:t> obu stop (</a:t>
            </a:r>
            <a:r>
              <a:rPr lang="pl-PL" sz="1050" dirty="0" err="1">
                <a:solidFill>
                  <a:srgbClr val="6A9955"/>
                </a:solidFill>
                <a:latin typeface="Consolas" panose="020B0609020204030204" pitchFamily="49" charset="0"/>
              </a:rPr>
              <a:t>zakladamy</a:t>
            </a:r>
            <a:r>
              <a:rPr lang="pl-PL" sz="1050" dirty="0">
                <a:solidFill>
                  <a:srgbClr val="6A9955"/>
                </a:solidFill>
                <a:latin typeface="Consolas" panose="020B0609020204030204" pitchFamily="49" charset="0"/>
              </a:rPr>
              <a:t> </a:t>
            </a:r>
            <a:r>
              <a:rPr lang="pl-PL" sz="1050" dirty="0" err="1">
                <a:solidFill>
                  <a:srgbClr val="6A9955"/>
                </a:solidFill>
                <a:latin typeface="Consolas" panose="020B0609020204030204" pitchFamily="49" charset="0"/>
              </a:rPr>
              <a:t>stojacy</a:t>
            </a:r>
            <a:r>
              <a:rPr lang="pl-PL" sz="1050" dirty="0">
                <a:solidFill>
                  <a:srgbClr val="6A9955"/>
                </a:solidFill>
                <a:latin typeface="Consolas" panose="020B0609020204030204" pitchFamily="49" charset="0"/>
              </a:rPr>
              <a:t> start)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footsteps</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footsteps</a:t>
            </a:r>
            <a:r>
              <a:rPr lang="pl-PL" sz="1050" dirty="0">
                <a:solidFill>
                  <a:srgbClr val="CCCCCC"/>
                </a:solidFill>
                <a:latin typeface="Consolas" panose="020B0609020204030204" pitchFamily="49" charset="0"/>
              </a:rPr>
              <a:t>[</a:t>
            </a:r>
            <a:r>
              <a:rPr lang="pl-PL" sz="1050" dirty="0">
                <a:solidFill>
                  <a:srgbClr val="B5CEA8"/>
                </a:solidFill>
                <a:latin typeface="Consolas" panose="020B0609020204030204" pitchFamily="49" charset="0"/>
              </a:rPr>
              <a:t>0</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0.0</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for</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in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range</a:t>
            </a:r>
            <a:r>
              <a:rPr lang="pl-PL" sz="1050" dirty="0">
                <a:solidFill>
                  <a:srgbClr val="CCCCCC"/>
                </a:solidFill>
                <a:latin typeface="Consolas" panose="020B0609020204030204" pitchFamily="49" charset="0"/>
              </a:rPr>
              <a:t>(</a:t>
            </a:r>
            <a:r>
              <a:rPr lang="pl-PL" sz="1050" dirty="0">
                <a:solidFill>
                  <a:srgbClr val="DCDCAA"/>
                </a:solidFill>
                <a:latin typeface="Consolas" panose="020B0609020204030204" pitchFamily="49" charset="0"/>
              </a:rPr>
              <a:t>len</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footsteps</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fs_curr</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footsteps</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fs_next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footsteps</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i</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ZMP w fazie podporu jednostronnego: środek bieżącej stopy</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fs_curr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fs_curr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Czas pojedynczego kroku</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t_end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T_step</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while</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t_end</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a:t>
            </a:r>
            <a:r>
              <a:rPr lang="pl-PL" sz="1050" dirty="0" err="1">
                <a:solidFill>
                  <a:srgbClr val="6A9955"/>
                </a:solidFill>
                <a:latin typeface="Consolas" panose="020B0609020204030204" pitchFamily="49" charset="0"/>
              </a:rPr>
              <a:t>Rownanie</a:t>
            </a:r>
            <a:r>
              <a:rPr lang="pl-PL" sz="1050" dirty="0">
                <a:solidFill>
                  <a:srgbClr val="6A9955"/>
                </a:solidFill>
                <a:latin typeface="Consolas" panose="020B0609020204030204" pitchFamily="49" charset="0"/>
              </a:rPr>
              <a:t> LIPM: </a:t>
            </a:r>
            <a:r>
              <a:rPr lang="pl-PL" sz="1050" dirty="0" err="1">
                <a:solidFill>
                  <a:srgbClr val="6A9955"/>
                </a:solidFill>
                <a:latin typeface="Consolas" panose="020B0609020204030204" pitchFamily="49" charset="0"/>
              </a:rPr>
              <a:t>calkowanie</a:t>
            </a:r>
            <a:r>
              <a:rPr lang="pl-PL" sz="1050" dirty="0">
                <a:solidFill>
                  <a:srgbClr val="6A9955"/>
                </a:solidFill>
                <a:latin typeface="Consolas" panose="020B0609020204030204" pitchFamily="49" charset="0"/>
              </a:rPr>
              <a:t> Eulera</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traj</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append</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Faza podwójnego podporu: ZMP przesuwa się do następnej stopy</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t_dsp_end</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T_dsp</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C586C0"/>
                </a:solidFill>
                <a:latin typeface="Consolas" panose="020B0609020204030204" pitchFamily="49" charset="0"/>
              </a:rPr>
              <a:t>while</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&lt;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t_dsp_end</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alpha</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a:t>
            </a:r>
            <a:r>
              <a:rPr lang="pl-PL" sz="1050" dirty="0" err="1">
                <a:solidFill>
                  <a:srgbClr val="9CDCFE"/>
                </a:solidFill>
                <a:latin typeface="Consolas" panose="020B0609020204030204" pitchFamily="49" charset="0"/>
              </a:rPr>
              <a:t>t_end</a:t>
            </a:r>
            <a:r>
              <a:rPr lang="pl-PL" sz="1050" dirty="0">
                <a:solidFill>
                  <a:srgbClr val="9CDCFE"/>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T_dsp</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r>
              <a:rPr lang="pl-PL" sz="1050" dirty="0">
                <a:solidFill>
                  <a:srgbClr val="D4D4D4"/>
                </a:solidFill>
                <a:latin typeface="Consolas" panose="020B0609020204030204" pitchFamily="49" charset="0"/>
              </a:rPr>
              <a:t>-</a:t>
            </a:r>
            <a:r>
              <a:rPr lang="pl-PL" sz="1050" dirty="0">
                <a:solidFill>
                  <a:srgbClr val="9CDCFE"/>
                </a:solidFill>
                <a:latin typeface="Consolas" panose="020B0609020204030204" pitchFamily="49" charset="0"/>
              </a:rPr>
              <a:t>alpha</a:t>
            </a:r>
            <a:r>
              <a:rPr lang="pl-PL" sz="1050" dirty="0">
                <a:solidFill>
                  <a:srgbClr val="CCCCCC"/>
                </a:solidFill>
                <a:latin typeface="Consolas" panose="020B0609020204030204" pitchFamily="49" charset="0"/>
              </a:rPr>
              <a:t>)</a:t>
            </a:r>
            <a:r>
              <a:rPr lang="pl-PL" sz="1050" dirty="0">
                <a:solidFill>
                  <a:srgbClr val="D4D4D4"/>
                </a:solidFill>
                <a:latin typeface="Consolas" panose="020B0609020204030204" pitchFamily="49" charset="0"/>
              </a:rPr>
              <a:t>*</a:t>
            </a:r>
            <a:r>
              <a:rPr lang="pl-PL" sz="1050" dirty="0" err="1">
                <a:solidFill>
                  <a:srgbClr val="9CDCFE"/>
                </a:solidFill>
                <a:latin typeface="Consolas" panose="020B0609020204030204" pitchFamily="49" charset="0"/>
              </a:rPr>
              <a:t>fs_curr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alpha</a:t>
            </a:r>
            <a:r>
              <a:rPr lang="pl-PL" sz="1050" dirty="0">
                <a:solidFill>
                  <a:srgbClr val="D4D4D4"/>
                </a:solidFill>
                <a:latin typeface="Consolas" panose="020B0609020204030204" pitchFamily="49" charset="0"/>
              </a:rPr>
              <a:t>*</a:t>
            </a:r>
            <a:r>
              <a:rPr lang="pl-PL" sz="1050" dirty="0" err="1">
                <a:solidFill>
                  <a:srgbClr val="9CDCFE"/>
                </a:solidFill>
                <a:latin typeface="Consolas" panose="020B0609020204030204" pitchFamily="49" charset="0"/>
              </a:rPr>
              <a:t>fs_next</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B5CEA8"/>
                </a:solidFill>
                <a:latin typeface="Consolas" panose="020B0609020204030204" pitchFamily="49" charset="0"/>
              </a:rPr>
              <a:t>1</a:t>
            </a:r>
            <a:r>
              <a:rPr lang="pl-PL" sz="1050" dirty="0">
                <a:solidFill>
                  <a:srgbClr val="D4D4D4"/>
                </a:solidFill>
                <a:latin typeface="Consolas" panose="020B0609020204030204" pitchFamily="49" charset="0"/>
              </a:rPr>
              <a:t>-</a:t>
            </a:r>
            <a:r>
              <a:rPr lang="pl-PL" sz="1050" dirty="0">
                <a:solidFill>
                  <a:srgbClr val="9CDCFE"/>
                </a:solidFill>
                <a:latin typeface="Consolas" panose="020B0609020204030204" pitchFamily="49" charset="0"/>
              </a:rPr>
              <a:t>alpha</a:t>
            </a:r>
            <a:r>
              <a:rPr lang="pl-PL" sz="1050" dirty="0">
                <a:solidFill>
                  <a:srgbClr val="CCCCCC"/>
                </a:solidFill>
                <a:latin typeface="Consolas" panose="020B0609020204030204" pitchFamily="49" charset="0"/>
              </a:rPr>
              <a:t>)</a:t>
            </a:r>
            <a:r>
              <a:rPr lang="pl-PL" sz="1050" dirty="0">
                <a:solidFill>
                  <a:srgbClr val="D4D4D4"/>
                </a:solidFill>
                <a:latin typeface="Consolas" panose="020B0609020204030204" pitchFamily="49" charset="0"/>
              </a:rPr>
              <a:t>*</a:t>
            </a:r>
            <a:r>
              <a:rPr lang="pl-PL" sz="1050" dirty="0" err="1">
                <a:solidFill>
                  <a:srgbClr val="9CDCFE"/>
                </a:solidFill>
                <a:latin typeface="Consolas" panose="020B0609020204030204" pitchFamily="49" charset="0"/>
              </a:rPr>
              <a:t>fs_curr</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alpha</a:t>
            </a:r>
            <a:r>
              <a:rPr lang="pl-PL" sz="1050" dirty="0">
                <a:solidFill>
                  <a:srgbClr val="D4D4D4"/>
                </a:solidFill>
                <a:latin typeface="Consolas" panose="020B0609020204030204" pitchFamily="49" charset="0"/>
              </a:rPr>
              <a:t>*</a:t>
            </a:r>
            <a:r>
              <a:rPr lang="pl-PL" sz="1050" dirty="0" err="1">
                <a:solidFill>
                  <a:srgbClr val="9CDCFE"/>
                </a:solidFill>
                <a:latin typeface="Consolas" panose="020B0609020204030204" pitchFamily="49" charset="0"/>
              </a:rPr>
              <a:t>fs_next</a:t>
            </a:r>
            <a:r>
              <a:rPr lang="pl-PL" sz="1050" dirty="0">
                <a:solidFill>
                  <a:srgbClr val="CCCCCC"/>
                </a:solidFill>
                <a:latin typeface="Consolas" panose="020B0609020204030204" pitchFamily="49" charset="0"/>
              </a:rPr>
              <a:t>[</a:t>
            </a:r>
            <a:r>
              <a:rPr lang="pl-PL" sz="1050" dirty="0">
                <a:solidFill>
                  <a:srgbClr val="CE9178"/>
                </a:solidFill>
                <a:latin typeface="Consolas" panose="020B0609020204030204" pitchFamily="49" charset="0"/>
              </a:rPr>
              <a:t>'y'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zmp_x</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omega</a:t>
            </a:r>
            <a:r>
              <a:rPr lang="pl-PL" sz="1050" dirty="0">
                <a:solidFill>
                  <a:srgbClr val="D4D4D4"/>
                </a:solidFill>
                <a:latin typeface="Consolas" panose="020B0609020204030204" pitchFamily="49" charset="0"/>
              </a:rPr>
              <a:t>**</a:t>
            </a:r>
            <a:r>
              <a:rPr lang="pl-PL" sz="1050" dirty="0">
                <a:solidFill>
                  <a:srgbClr val="B5CEA8"/>
                </a:solidFill>
                <a:latin typeface="Consolas" panose="020B0609020204030204" pitchFamily="49" charset="0"/>
              </a:rPr>
              <a:t>2</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zmp_y</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ax</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ay</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traj</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append</a:t>
            </a:r>
            <a:r>
              <a:rPr lang="pl-PL" sz="1050" dirty="0">
                <a:solidFill>
                  <a:srgbClr val="CCCCCC"/>
                </a:solidFill>
                <a:latin typeface="Consolas" panose="020B0609020204030204" pitchFamily="49" charset="0"/>
              </a:rPr>
              <a:t>([</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x_com</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y_com</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vx_com</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vy_com</a:t>
            </a:r>
            <a:r>
              <a:rPr lang="pl-PL" sz="1050" dirty="0">
                <a:solidFill>
                  <a:srgbClr val="CCCCCC"/>
                </a:solidFill>
                <a:latin typeface="Consolas" panose="020B0609020204030204" pitchFamily="49" charset="0"/>
              </a:rPr>
              <a:t>])</a:t>
            </a:r>
          </a:p>
          <a:p>
            <a:r>
              <a:rPr lang="pl-PL" sz="1050" dirty="0">
                <a:solidFill>
                  <a:srgbClr val="CCCCCC"/>
                </a:solidFill>
                <a:latin typeface="Consolas" panose="020B0609020204030204" pitchFamily="49" charset="0"/>
              </a:rPr>
              <a:t>            </a:t>
            </a:r>
            <a:r>
              <a:rPr lang="pl-PL" sz="1050" dirty="0">
                <a:solidFill>
                  <a:srgbClr val="9CDCFE"/>
                </a:solidFill>
                <a:latin typeface="Consolas" panose="020B0609020204030204" pitchFamily="49" charset="0"/>
              </a:rPr>
              <a:t>t</a:t>
            </a:r>
            <a:r>
              <a:rPr lang="pl-PL" sz="1050" dirty="0">
                <a:solidFill>
                  <a:srgbClr val="CCCCCC"/>
                </a:solidFill>
                <a:latin typeface="Consolas" panose="020B0609020204030204" pitchFamily="49" charset="0"/>
              </a:rPr>
              <a:t> </a:t>
            </a:r>
            <a:r>
              <a:rPr lang="pl-PL" sz="1050" dirty="0">
                <a:solidFill>
                  <a:srgbClr val="D4D4D4"/>
                </a:solidFill>
                <a:latin typeface="Consolas" panose="020B0609020204030204" pitchFamily="49" charset="0"/>
              </a:rPr>
              <a:t>+=</a:t>
            </a:r>
            <a:r>
              <a:rPr lang="pl-PL" sz="1050" dirty="0">
                <a:solidFill>
                  <a:srgbClr val="CCCCCC"/>
                </a:solidFill>
                <a:latin typeface="Consolas" panose="020B0609020204030204" pitchFamily="49" charset="0"/>
              </a:rPr>
              <a:t> </a:t>
            </a:r>
            <a:r>
              <a:rPr lang="pl-PL" sz="1050" dirty="0" err="1">
                <a:solidFill>
                  <a:srgbClr val="9CDCFE"/>
                </a:solidFill>
                <a:latin typeface="Consolas" panose="020B0609020204030204" pitchFamily="49" charset="0"/>
              </a:rPr>
              <a:t>dt</a:t>
            </a:r>
            <a:endParaRPr lang="pl-PL" sz="1050" dirty="0">
              <a:solidFill>
                <a:srgbClr val="CCCCCC"/>
              </a:solidFill>
              <a:latin typeface="Consolas" panose="020B0609020204030204" pitchFamily="49" charset="0"/>
            </a:endParaRPr>
          </a:p>
          <a:p>
            <a:r>
              <a:rPr lang="pl-PL" sz="1050" dirty="0">
                <a:solidFill>
                  <a:srgbClr val="CCCCCC"/>
                </a:solidFill>
                <a:latin typeface="Consolas" panose="020B0609020204030204" pitchFamily="49" charset="0"/>
              </a:rPr>
              <a:t/>
            </a:r>
            <a:br>
              <a:rPr lang="pl-PL" sz="1050" dirty="0">
                <a:solidFill>
                  <a:srgbClr val="CCCCCC"/>
                </a:solidFill>
                <a:latin typeface="Consolas" panose="020B0609020204030204" pitchFamily="49" charset="0"/>
              </a:rPr>
            </a:br>
            <a:r>
              <a:rPr lang="pl-PL" sz="1050" dirty="0">
                <a:solidFill>
                  <a:srgbClr val="CCCCCC"/>
                </a:solidFill>
                <a:latin typeface="Consolas" panose="020B0609020204030204" pitchFamily="49" charset="0"/>
              </a:rPr>
              <a:t>    </a:t>
            </a:r>
            <a:r>
              <a:rPr lang="pl-PL" sz="1050" dirty="0">
                <a:solidFill>
                  <a:srgbClr val="C586C0"/>
                </a:solidFill>
                <a:latin typeface="Consolas" panose="020B0609020204030204" pitchFamily="49" charset="0"/>
              </a:rPr>
              <a:t>return</a:t>
            </a:r>
            <a:r>
              <a:rPr lang="pl-PL" sz="1050" dirty="0">
                <a:solidFill>
                  <a:srgbClr val="CCCCCC"/>
                </a:solidFill>
                <a:latin typeface="Consolas" panose="020B0609020204030204" pitchFamily="49" charset="0"/>
              </a:rPr>
              <a:t> </a:t>
            </a:r>
            <a:r>
              <a:rPr lang="pl-PL" sz="1050" dirty="0" err="1">
                <a:solidFill>
                  <a:srgbClr val="4EC9B0"/>
                </a:solidFill>
                <a:latin typeface="Consolas" panose="020B0609020204030204" pitchFamily="49" charset="0"/>
              </a:rPr>
              <a:t>np</a:t>
            </a:r>
            <a:r>
              <a:rPr lang="pl-PL" sz="1050" dirty="0" err="1">
                <a:solidFill>
                  <a:srgbClr val="CCCCCC"/>
                </a:solidFill>
                <a:latin typeface="Consolas" panose="020B0609020204030204" pitchFamily="49" charset="0"/>
              </a:rPr>
              <a:t>.</a:t>
            </a:r>
            <a:r>
              <a:rPr lang="pl-PL" sz="1050" dirty="0" err="1">
                <a:solidFill>
                  <a:srgbClr val="DCDCAA"/>
                </a:solidFill>
                <a:latin typeface="Consolas" panose="020B0609020204030204" pitchFamily="49" charset="0"/>
              </a:rPr>
              <a:t>array</a:t>
            </a:r>
            <a:r>
              <a:rPr lang="pl-PL" sz="1050" dirty="0">
                <a:solidFill>
                  <a:srgbClr val="CCCCCC"/>
                </a:solidFill>
                <a:latin typeface="Consolas" panose="020B0609020204030204" pitchFamily="49" charset="0"/>
              </a:rPr>
              <a:t>(</a:t>
            </a:r>
            <a:r>
              <a:rPr lang="pl-PL" sz="1050" dirty="0" err="1">
                <a:solidFill>
                  <a:srgbClr val="9CDCFE"/>
                </a:solidFill>
                <a:latin typeface="Consolas" panose="020B0609020204030204" pitchFamily="49" charset="0"/>
              </a:rPr>
              <a:t>traj</a:t>
            </a:r>
            <a:r>
              <a:rPr lang="pl-PL" sz="1050" dirty="0">
                <a:solidFill>
                  <a:srgbClr val="CCCCCC"/>
                </a:solidFill>
                <a:latin typeface="Consolas" panose="020B0609020204030204" pitchFamily="49" charset="0"/>
              </a:rPr>
              <a:t>)   </a:t>
            </a:r>
            <a:r>
              <a:rPr lang="pl-PL" sz="1050" dirty="0">
                <a:solidFill>
                  <a:srgbClr val="6A9955"/>
                </a:solidFill>
                <a:latin typeface="Consolas" panose="020B0609020204030204" pitchFamily="49" charset="0"/>
              </a:rPr>
              <a:t># (N, 5): [t, x, y, </a:t>
            </a:r>
            <a:r>
              <a:rPr lang="pl-PL" sz="1050" dirty="0" err="1">
                <a:solidFill>
                  <a:srgbClr val="6A9955"/>
                </a:solidFill>
                <a:latin typeface="Consolas" panose="020B0609020204030204" pitchFamily="49" charset="0"/>
              </a:rPr>
              <a:t>vx</a:t>
            </a:r>
            <a:r>
              <a:rPr lang="pl-PL" sz="1050" dirty="0">
                <a:solidFill>
                  <a:srgbClr val="6A9955"/>
                </a:solidFill>
                <a:latin typeface="Consolas" panose="020B0609020204030204" pitchFamily="49" charset="0"/>
              </a:rPr>
              <a:t>, </a:t>
            </a:r>
            <a:r>
              <a:rPr lang="pl-PL" sz="1050" dirty="0" err="1">
                <a:solidFill>
                  <a:srgbClr val="6A9955"/>
                </a:solidFill>
                <a:latin typeface="Consolas" panose="020B0609020204030204" pitchFamily="49" charset="0"/>
              </a:rPr>
              <a:t>vy</a:t>
            </a:r>
            <a:r>
              <a:rPr lang="pl-PL" sz="1050" dirty="0">
                <a:solidFill>
                  <a:srgbClr val="6A9955"/>
                </a:solidFill>
                <a:latin typeface="Consolas" panose="020B0609020204030204" pitchFamily="49" charset="0"/>
              </a:rPr>
              <a:t>]</a:t>
            </a:r>
            <a:endParaRPr lang="pl-PL" sz="1050" b="0" dirty="0">
              <a:solidFill>
                <a:srgbClr val="CCCCCC"/>
              </a:solidFill>
              <a:effectLst/>
              <a:latin typeface="Consolas" panose="020B0609020204030204" pitchFamily="49" charset="0"/>
            </a:endParaRPr>
          </a:p>
        </p:txBody>
      </p:sp>
      <p:sp>
        <p:nvSpPr>
          <p:cNvPr id="11" name="Shape 9"/>
          <p:cNvSpPr/>
          <p:nvPr/>
        </p:nvSpPr>
        <p:spPr>
          <a:xfrm>
            <a:off x="274320" y="4453054"/>
            <a:ext cx="8595360" cy="484706"/>
          </a:xfrm>
          <a:prstGeom prst="rect">
            <a:avLst/>
          </a:prstGeom>
          <a:solidFill>
            <a:srgbClr val="1A3550"/>
          </a:solidFill>
          <a:ln w="12700">
            <a:solidFill>
              <a:srgbClr val="0077A8"/>
            </a:solidFill>
            <a:prstDash val="solid"/>
          </a:ln>
        </p:spPr>
      </p:sp>
      <mc:AlternateContent xmlns:mc="http://schemas.openxmlformats.org/markup-compatibility/2006" xmlns:a14="http://schemas.microsoft.com/office/drawing/2010/main">
        <mc:Choice Requires="a14">
          <p:sp>
            <p:nvSpPr>
              <p:cNvPr id="12" name="Text 10"/>
              <p:cNvSpPr/>
              <p:nvPr/>
            </p:nvSpPr>
            <p:spPr>
              <a:xfrm>
                <a:off x="274320" y="4453054"/>
                <a:ext cx="8595361" cy="484706"/>
              </a:xfrm>
              <a:prstGeom prst="rect">
                <a:avLst/>
              </a:prstGeom>
              <a:noFill/>
              <a:ln/>
            </p:spPr>
            <p:txBody>
              <a:bodyPr wrap="square" lIns="0" tIns="0" rIns="127000" bIns="0" rtlCol="0" anchor="ctr"/>
              <a:lstStyle/>
              <a:p>
                <a:pPr algn="ctr"/>
                <a14:m>
                  <m:oMath xmlns:m="http://schemas.openxmlformats.org/officeDocument/2006/math">
                    <m:sSub>
                      <m:sSubPr>
                        <m:ctrlPr>
                          <a:rPr lang="pl-PL" sz="1600" b="1" i="1" spc="-40" dirty="0" smtClean="0">
                            <a:solidFill>
                              <a:schemeClr val="accent4"/>
                            </a:solidFill>
                            <a:latin typeface="Cambria Math" panose="02040503050406030204" pitchFamily="18" charset="0"/>
                            <a:ea typeface="Calibri" pitchFamily="34" charset="-122"/>
                            <a:cs typeface="Calibri" pitchFamily="34" charset="-120"/>
                          </a:rPr>
                        </m:ctrlPr>
                      </m:sSubPr>
                      <m:e>
                        <m:r>
                          <a:rPr lang="pl-PL" sz="1600" b="1" i="1" spc="-40" dirty="0" smtClean="0">
                            <a:solidFill>
                              <a:schemeClr val="accent4"/>
                            </a:solidFill>
                            <a:latin typeface="Cambria Math" panose="02040503050406030204" pitchFamily="18" charset="0"/>
                            <a:ea typeface="Calibri" pitchFamily="34" charset="-122"/>
                            <a:cs typeface="Calibri" pitchFamily="34" charset="-120"/>
                          </a:rPr>
                          <m:t>𝑻</m:t>
                        </m:r>
                      </m:e>
                      <m:sub>
                        <m:r>
                          <a:rPr lang="pl-PL" sz="1600" b="1" i="1" spc="-40" dirty="0" smtClean="0">
                            <a:solidFill>
                              <a:schemeClr val="accent4"/>
                            </a:solidFill>
                            <a:latin typeface="Cambria Math" panose="02040503050406030204" pitchFamily="18" charset="0"/>
                            <a:ea typeface="Calibri" pitchFamily="34" charset="-122"/>
                            <a:cs typeface="Calibri" pitchFamily="34" charset="-120"/>
                          </a:rPr>
                          <m:t>𝒔𝒕𝒆𝒑</m:t>
                        </m:r>
                      </m:sub>
                    </m:sSub>
                    <m:r>
                      <a:rPr lang="pl-PL" sz="1600" b="1" i="1" spc="-40" dirty="0" smtClean="0">
                        <a:solidFill>
                          <a:schemeClr val="accent4"/>
                        </a:solidFill>
                        <a:latin typeface="Cambria Math" panose="02040503050406030204" pitchFamily="18" charset="0"/>
                        <a:ea typeface="Calibri" pitchFamily="34" charset="-122"/>
                        <a:cs typeface="Calibri" pitchFamily="34" charset="-120"/>
                      </a:rPr>
                      <m:t>=</m:t>
                    </m:r>
                    <m:r>
                      <a:rPr lang="pl-PL" sz="1600" b="1" i="1" spc="-40" dirty="0" smtClean="0">
                        <a:solidFill>
                          <a:schemeClr val="accent4"/>
                        </a:solidFill>
                        <a:latin typeface="Cambria Math" panose="02040503050406030204" pitchFamily="18" charset="0"/>
                        <a:ea typeface="Calibri" pitchFamily="34" charset="-122"/>
                        <a:cs typeface="Calibri" pitchFamily="34" charset="-120"/>
                      </a:rPr>
                      <m:t>𝟎</m:t>
                    </m:r>
                    <m:r>
                      <a:rPr lang="pl-PL" sz="1600" b="1" i="1" spc="-40" dirty="0" smtClean="0">
                        <a:solidFill>
                          <a:schemeClr val="accent4"/>
                        </a:solidFill>
                        <a:latin typeface="Cambria Math" panose="02040503050406030204" pitchFamily="18" charset="0"/>
                        <a:ea typeface="Calibri" pitchFamily="34" charset="-122"/>
                        <a:cs typeface="Calibri" pitchFamily="34" charset="-120"/>
                      </a:rPr>
                      <m:t>,</m:t>
                    </m:r>
                    <m:r>
                      <a:rPr lang="pl-PL" sz="1600" b="1" i="1" spc="-40" dirty="0" smtClean="0">
                        <a:solidFill>
                          <a:schemeClr val="accent4"/>
                        </a:solidFill>
                        <a:latin typeface="Cambria Math" panose="02040503050406030204" pitchFamily="18" charset="0"/>
                        <a:ea typeface="Calibri" pitchFamily="34" charset="-122"/>
                        <a:cs typeface="Calibri" pitchFamily="34" charset="-120"/>
                      </a:rPr>
                      <m:t>𝟔</m:t>
                    </m:r>
                    <m:r>
                      <a:rPr lang="pl-PL" sz="1600" b="1" i="1" spc="-40" dirty="0" smtClean="0">
                        <a:solidFill>
                          <a:schemeClr val="accent4"/>
                        </a:solidFill>
                        <a:latin typeface="Cambria Math" panose="02040503050406030204" pitchFamily="18" charset="0"/>
                        <a:ea typeface="Calibri" pitchFamily="34" charset="-122"/>
                        <a:cs typeface="Calibri" pitchFamily="34" charset="-120"/>
                      </a:rPr>
                      <m:t> </m:t>
                    </m:r>
                    <m:r>
                      <a:rPr lang="pl-PL" sz="1600" b="1" i="1" spc="-40" dirty="0">
                        <a:solidFill>
                          <a:schemeClr val="accent4"/>
                        </a:solidFill>
                        <a:latin typeface="Cambria Math" panose="02040503050406030204" pitchFamily="18" charset="0"/>
                        <a:ea typeface="Calibri" pitchFamily="34" charset="-122"/>
                        <a:cs typeface="Calibri" pitchFamily="34" charset="-120"/>
                      </a:rPr>
                      <m:t>𝒔</m:t>
                    </m:r>
                    <m:r>
                      <a:rPr lang="pl-PL" sz="1600" i="1" spc="-40" dirty="0">
                        <a:solidFill>
                          <a:schemeClr val="bg1"/>
                        </a:solidFill>
                        <a:latin typeface="Cambria Math" panose="02040503050406030204" pitchFamily="18" charset="0"/>
                        <a:ea typeface="Calibri" pitchFamily="34" charset="-122"/>
                        <a:cs typeface="Calibri" pitchFamily="34" charset="-120"/>
                      </a:rPr>
                      <m:t>, </m:t>
                    </m:r>
                    <m:sSub>
                      <m:sSubPr>
                        <m:ctrlPr>
                          <a:rPr lang="pl-PL" sz="1600" b="1" i="1" spc="-40" dirty="0" err="1">
                            <a:solidFill>
                              <a:schemeClr val="accent2"/>
                            </a:solidFill>
                            <a:latin typeface="Cambria Math" panose="02040503050406030204" pitchFamily="18" charset="0"/>
                            <a:ea typeface="Calibri" pitchFamily="34" charset="-122"/>
                            <a:cs typeface="Calibri" pitchFamily="34" charset="-120"/>
                          </a:rPr>
                        </m:ctrlPr>
                      </m:sSubPr>
                      <m:e>
                        <m:r>
                          <a:rPr lang="pl-PL" sz="1600" b="1" i="1" spc="-40" dirty="0" err="1">
                            <a:solidFill>
                              <a:schemeClr val="accent2"/>
                            </a:solidFill>
                            <a:latin typeface="Cambria Math" panose="02040503050406030204" pitchFamily="18" charset="0"/>
                            <a:ea typeface="Calibri" pitchFamily="34" charset="-122"/>
                            <a:cs typeface="Calibri" pitchFamily="34" charset="-120"/>
                          </a:rPr>
                          <m:t>𝑻</m:t>
                        </m:r>
                      </m:e>
                      <m:sub>
                        <m:r>
                          <a:rPr lang="pl-PL" sz="1600" b="1" i="1" spc="-40" dirty="0" err="1">
                            <a:solidFill>
                              <a:schemeClr val="accent2"/>
                            </a:solidFill>
                            <a:latin typeface="Cambria Math" panose="02040503050406030204" pitchFamily="18" charset="0"/>
                            <a:ea typeface="Calibri" pitchFamily="34" charset="-122"/>
                            <a:cs typeface="Calibri" pitchFamily="34" charset="-120"/>
                          </a:rPr>
                          <m:t>𝒅𝒔𝒑</m:t>
                        </m:r>
                      </m:sub>
                    </m:sSub>
                    <m:r>
                      <a:rPr lang="pl-PL" sz="1600" b="1" i="1" spc="-40" dirty="0">
                        <a:solidFill>
                          <a:schemeClr val="accent2"/>
                        </a:solidFill>
                        <a:latin typeface="Cambria Math" panose="02040503050406030204" pitchFamily="18" charset="0"/>
                        <a:ea typeface="Calibri" pitchFamily="34" charset="-122"/>
                        <a:cs typeface="Calibri" pitchFamily="34" charset="-120"/>
                      </a:rPr>
                      <m:t>=</m:t>
                    </m:r>
                    <m:r>
                      <a:rPr lang="pl-PL" sz="1600" b="1" i="1" spc="-40" dirty="0">
                        <a:solidFill>
                          <a:schemeClr val="accent2"/>
                        </a:solidFill>
                        <a:latin typeface="Cambria Math" panose="02040503050406030204" pitchFamily="18" charset="0"/>
                        <a:ea typeface="Calibri" pitchFamily="34" charset="-122"/>
                        <a:cs typeface="Calibri" pitchFamily="34" charset="-120"/>
                      </a:rPr>
                      <m:t>𝟎</m:t>
                    </m:r>
                    <m:r>
                      <a:rPr lang="pl-PL" sz="1600" b="1" i="1" spc="-40" dirty="0" smtClean="0">
                        <a:solidFill>
                          <a:schemeClr val="accent2"/>
                        </a:solidFill>
                        <a:latin typeface="Cambria Math" panose="02040503050406030204" pitchFamily="18" charset="0"/>
                        <a:ea typeface="Calibri" pitchFamily="34" charset="-122"/>
                        <a:cs typeface="Calibri" pitchFamily="34" charset="-120"/>
                      </a:rPr>
                      <m:t>,</m:t>
                    </m:r>
                    <m:r>
                      <a:rPr lang="pl-PL" sz="1600" b="1" i="1" spc="-40" dirty="0">
                        <a:solidFill>
                          <a:schemeClr val="accent2"/>
                        </a:solidFill>
                        <a:latin typeface="Cambria Math" panose="02040503050406030204" pitchFamily="18" charset="0"/>
                        <a:ea typeface="Calibri" pitchFamily="34" charset="-122"/>
                        <a:cs typeface="Calibri" pitchFamily="34" charset="-120"/>
                      </a:rPr>
                      <m:t>𝟏𝟐</m:t>
                    </m:r>
                    <m:r>
                      <a:rPr lang="pl-PL" sz="1600" b="1" i="1" spc="-40" dirty="0">
                        <a:solidFill>
                          <a:schemeClr val="accent2"/>
                        </a:solidFill>
                        <a:latin typeface="Cambria Math" panose="02040503050406030204" pitchFamily="18" charset="0"/>
                        <a:ea typeface="Calibri" pitchFamily="34" charset="-122"/>
                        <a:cs typeface="Calibri" pitchFamily="34" charset="-120"/>
                      </a:rPr>
                      <m:t> </m:t>
                    </m:r>
                    <m:r>
                      <a:rPr lang="pl-PL" sz="1600" b="1" i="1" spc="-40" dirty="0">
                        <a:solidFill>
                          <a:schemeClr val="accent2"/>
                        </a:solidFill>
                        <a:latin typeface="Cambria Math" panose="02040503050406030204" pitchFamily="18" charset="0"/>
                        <a:ea typeface="Calibri" pitchFamily="34" charset="-122"/>
                        <a:cs typeface="Calibri" pitchFamily="34" charset="-120"/>
                      </a:rPr>
                      <m:t>𝒔</m:t>
                    </m:r>
                  </m:oMath>
                </a14:m>
                <a:r>
                  <a:rPr lang="pl-PL" sz="1600" spc="-40" dirty="0">
                    <a:solidFill>
                      <a:schemeClr val="bg1"/>
                    </a:solidFill>
                    <a:latin typeface="Calibri" pitchFamily="34" charset="0"/>
                    <a:ea typeface="Calibri" pitchFamily="34" charset="-122"/>
                    <a:cs typeface="Calibri" pitchFamily="34" charset="-120"/>
                  </a:rPr>
                  <a:t>: typowe dla chodu </a:t>
                </a:r>
                <a14:m>
                  <m:oMath xmlns:m="http://schemas.openxmlformats.org/officeDocument/2006/math">
                    <m:r>
                      <a:rPr lang="pl-PL" sz="1600" b="1" i="1" spc="-40" dirty="0" smtClean="0">
                        <a:solidFill>
                          <a:schemeClr val="accent4"/>
                        </a:solidFill>
                        <a:latin typeface="Cambria Math" panose="02040503050406030204" pitchFamily="18" charset="0"/>
                        <a:ea typeface="Calibri" pitchFamily="34" charset="-122"/>
                        <a:cs typeface="Calibri" pitchFamily="34" charset="-120"/>
                      </a:rPr>
                      <m:t>𝟏</m:t>
                    </m:r>
                    <m:r>
                      <a:rPr lang="pl-PL" sz="1600" b="1" i="1" spc="-40" dirty="0" smtClean="0">
                        <a:solidFill>
                          <a:schemeClr val="accent4"/>
                        </a:solidFill>
                        <a:latin typeface="Cambria Math" panose="02040503050406030204" pitchFamily="18" charset="0"/>
                        <a:ea typeface="Calibri" pitchFamily="34" charset="-122"/>
                        <a:cs typeface="Calibri" pitchFamily="34" charset="-120"/>
                      </a:rPr>
                      <m:t>,</m:t>
                    </m:r>
                    <m:r>
                      <a:rPr lang="pl-PL" sz="1600" b="1" i="1" spc="-40" dirty="0" smtClean="0">
                        <a:solidFill>
                          <a:schemeClr val="accent4"/>
                        </a:solidFill>
                        <a:latin typeface="Cambria Math" panose="02040503050406030204" pitchFamily="18" charset="0"/>
                        <a:ea typeface="Calibri" pitchFamily="34" charset="-122"/>
                        <a:cs typeface="Calibri" pitchFamily="34" charset="-120"/>
                      </a:rPr>
                      <m:t>𝟎</m:t>
                    </m:r>
                    <m:r>
                      <a:rPr lang="pl-PL" sz="1600" b="1" i="1" spc="-40" dirty="0" smtClean="0">
                        <a:solidFill>
                          <a:schemeClr val="accent4"/>
                        </a:solidFill>
                        <a:latin typeface="Cambria Math" panose="02040503050406030204" pitchFamily="18" charset="0"/>
                        <a:ea typeface="Calibri" pitchFamily="34" charset="-122"/>
                        <a:cs typeface="Calibri" pitchFamily="34" charset="-120"/>
                      </a:rPr>
                      <m:t> </m:t>
                    </m:r>
                    <m:r>
                      <a:rPr lang="pl-PL" sz="1600" b="1" i="1" spc="-40" dirty="0" smtClean="0">
                        <a:solidFill>
                          <a:schemeClr val="accent4"/>
                        </a:solidFill>
                        <a:latin typeface="Cambria Math" panose="02040503050406030204" pitchFamily="18" charset="0"/>
                        <a:ea typeface="Calibri" pitchFamily="34" charset="-122"/>
                        <a:cs typeface="Calibri" pitchFamily="34" charset="-120"/>
                      </a:rPr>
                      <m:t>𝒎</m:t>
                    </m:r>
                    <m:r>
                      <a:rPr lang="pl-PL" sz="1600" b="1" i="1" spc="-40" dirty="0" smtClean="0">
                        <a:solidFill>
                          <a:schemeClr val="accent4"/>
                        </a:solidFill>
                        <a:latin typeface="Cambria Math" panose="02040503050406030204" pitchFamily="18" charset="0"/>
                        <a:ea typeface="Calibri" pitchFamily="34" charset="-122"/>
                        <a:cs typeface="Calibri" pitchFamily="34" charset="-120"/>
                      </a:rPr>
                      <m:t>/</m:t>
                    </m:r>
                    <m:r>
                      <a:rPr lang="pl-PL" sz="1600" b="1" i="1" spc="-40" dirty="0" smtClean="0">
                        <a:solidFill>
                          <a:schemeClr val="accent4"/>
                        </a:solidFill>
                        <a:latin typeface="Cambria Math" panose="02040503050406030204" pitchFamily="18" charset="0"/>
                        <a:ea typeface="Calibri" pitchFamily="34" charset="-122"/>
                        <a:cs typeface="Calibri" pitchFamily="34" charset="-120"/>
                      </a:rPr>
                      <m:t>𝒔</m:t>
                    </m:r>
                  </m:oMath>
                </a14:m>
                <a:r>
                  <a:rPr lang="pl-PL" sz="1600" spc="-40" dirty="0">
                    <a:solidFill>
                      <a:schemeClr val="bg1"/>
                    </a:solidFill>
                    <a:latin typeface="Calibri" pitchFamily="34" charset="0"/>
                    <a:ea typeface="Calibri" pitchFamily="34" charset="-122"/>
                    <a:cs typeface="Calibri" pitchFamily="34" charset="-120"/>
                  </a:rPr>
                  <a:t>; weryfikuj </a:t>
                </a:r>
                <a:r>
                  <a:rPr lang="pl-PL" sz="1600" b="1" spc="-40" dirty="0">
                    <a:solidFill>
                      <a:schemeClr val="accent2"/>
                    </a:solidFill>
                    <a:latin typeface="Calibri" pitchFamily="34" charset="0"/>
                    <a:ea typeface="Calibri" pitchFamily="34" charset="-122"/>
                    <a:cs typeface="Calibri" pitchFamily="34" charset="-120"/>
                  </a:rPr>
                  <a:t>ZMP(t)</a:t>
                </a:r>
                <a:r>
                  <a:rPr lang="pl-PL" sz="1600" spc="-40" dirty="0">
                    <a:solidFill>
                      <a:schemeClr val="accent2"/>
                    </a:solidFill>
                    <a:latin typeface="Calibri" pitchFamily="34" charset="0"/>
                    <a:ea typeface="Calibri" pitchFamily="34" charset="-122"/>
                    <a:cs typeface="Calibri" pitchFamily="34" charset="-120"/>
                  </a:rPr>
                  <a:t> </a:t>
                </a:r>
                <a:r>
                  <a:rPr lang="pl-PL" sz="1600" spc="-40" dirty="0">
                    <a:solidFill>
                      <a:schemeClr val="bg1"/>
                    </a:solidFill>
                    <a:latin typeface="Calibri" pitchFamily="34" charset="0"/>
                    <a:ea typeface="Calibri" pitchFamily="34" charset="-122"/>
                    <a:cs typeface="Calibri" pitchFamily="34" charset="-120"/>
                  </a:rPr>
                  <a:t>w </a:t>
                </a:r>
                <a:r>
                  <a:rPr lang="pl-PL" sz="1600" spc="-40" dirty="0" smtClean="0">
                    <a:solidFill>
                      <a:schemeClr val="bg1"/>
                    </a:solidFill>
                    <a:latin typeface="Calibri" pitchFamily="34" charset="0"/>
                    <a:ea typeface="Calibri" pitchFamily="34" charset="-122"/>
                    <a:cs typeface="Calibri" pitchFamily="34" charset="-120"/>
                  </a:rPr>
                  <a:t>każdej </a:t>
                </a:r>
                <a:r>
                  <a:rPr lang="pl-PL" sz="1600" spc="-40" dirty="0">
                    <a:solidFill>
                      <a:schemeClr val="bg1"/>
                    </a:solidFill>
                    <a:latin typeface="Calibri" pitchFamily="34" charset="0"/>
                    <a:ea typeface="Calibri" pitchFamily="34" charset="-122"/>
                    <a:cs typeface="Calibri" pitchFamily="34" charset="-120"/>
                  </a:rPr>
                  <a:t>klatce po </a:t>
                </a:r>
                <a:r>
                  <a:rPr lang="pl-PL" sz="1600" spc="-40" dirty="0" smtClean="0">
                    <a:solidFill>
                      <a:schemeClr val="bg1"/>
                    </a:solidFill>
                    <a:latin typeface="Calibri" pitchFamily="34" charset="0"/>
                    <a:ea typeface="Calibri" pitchFamily="34" charset="-122"/>
                    <a:cs typeface="Calibri" pitchFamily="34" charset="-120"/>
                  </a:rPr>
                  <a:t>generacji</a:t>
                </a:r>
                <a:endParaRPr lang="pl-PL" sz="1600" spc="-40" dirty="0">
                  <a:solidFill>
                    <a:schemeClr val="bg1"/>
                  </a:solidFill>
                  <a:latin typeface="Calibri" pitchFamily="34" charset="0"/>
                  <a:ea typeface="Calibri" pitchFamily="34" charset="-122"/>
                  <a:cs typeface="Calibri" pitchFamily="34" charset="-120"/>
                </a:endParaRPr>
              </a:p>
            </p:txBody>
          </p:sp>
        </mc:Choice>
        <mc:Fallback xmlns="">
          <p:sp>
            <p:nvSpPr>
              <p:cNvPr id="12" name="Text 10"/>
              <p:cNvSpPr>
                <a:spLocks noRot="1" noChangeAspect="1" noMove="1" noResize="1" noEditPoints="1" noAdjustHandles="1" noChangeArrowheads="1" noChangeShapeType="1" noTextEdit="1"/>
              </p:cNvSpPr>
              <p:nvPr/>
            </p:nvSpPr>
            <p:spPr>
              <a:xfrm>
                <a:off x="274320" y="4453054"/>
                <a:ext cx="8595361" cy="484706"/>
              </a:xfrm>
              <a:prstGeom prst="rect">
                <a:avLst/>
              </a:prstGeom>
              <a:blipFill>
                <a:blip r:embed="rId3"/>
                <a:stretch>
                  <a:fillRect/>
                </a:stretch>
              </a:blipFill>
              <a:ln/>
            </p:spPr>
            <p:txBody>
              <a:bodyPr/>
              <a:lstStyle/>
              <a:p>
                <a:r>
                  <a:rPr lang="pl-PL">
                    <a:noFill/>
                  </a:rPr>
                  <a:t> </a:t>
                </a:r>
              </a:p>
            </p:txBody>
          </p:sp>
        </mc:Fallback>
      </mc:AlternateContent>
      <p:sp>
        <p:nvSpPr>
          <p:cNvPr id="7" name="Prostokąt 6"/>
          <p:cNvSpPr/>
          <p:nvPr/>
        </p:nvSpPr>
        <p:spPr>
          <a:xfrm>
            <a:off x="166201" y="631420"/>
            <a:ext cx="6483369" cy="276999"/>
          </a:xfrm>
          <a:prstGeom prst="rect">
            <a:avLst/>
          </a:prstGeom>
        </p:spPr>
        <p:txBody>
          <a:bodyPr wrap="square">
            <a:spAutoFit/>
          </a:bodyPr>
          <a:lstStyle/>
          <a:p>
            <a:r>
              <a:rPr lang="pl-PL" sz="1200" i="1" dirty="0">
                <a:solidFill>
                  <a:srgbClr val="90C8D8"/>
                </a:solidFill>
              </a:rPr>
              <a:t>Simple ZMP </a:t>
            </a:r>
            <a:r>
              <a:rPr lang="pl-PL" sz="1200" i="1" dirty="0" err="1">
                <a:solidFill>
                  <a:srgbClr val="90C8D8"/>
                </a:solidFill>
              </a:rPr>
              <a:t>preview</a:t>
            </a:r>
            <a:r>
              <a:rPr lang="pl-PL" sz="1200" i="1" dirty="0">
                <a:solidFill>
                  <a:srgbClr val="90C8D8"/>
                </a:solidFill>
              </a:rPr>
              <a:t>: środek masy podąża za sekwencją ZMP wyznaczoną z </a:t>
            </a:r>
            <a:r>
              <a:rPr lang="pl-PL" sz="1200" i="1" dirty="0" err="1">
                <a:solidFill>
                  <a:srgbClr val="90C8D8"/>
                </a:solidFill>
              </a:rPr>
              <a:t>footstepów</a:t>
            </a:r>
            <a:endParaRPr lang="pl-PL" sz="1200" i="1" dirty="0">
              <a:solidFill>
                <a:srgbClr val="90C8D8"/>
              </a:solidFill>
            </a:endParaRPr>
          </a:p>
        </p:txBody>
      </p:sp>
    </p:spTree>
    <p:extLst>
      <p:ext uri="{BB962C8B-B14F-4D97-AF65-F5344CB8AC3E}">
        <p14:creationId xmlns:p14="http://schemas.microsoft.com/office/powerpoint/2010/main" val="423282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22C55E"/>
          </a:solidFill>
          <a:ln w="12700">
            <a:solidFill>
              <a:srgbClr val="22C55E"/>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22C55E"/>
                </a:solidFill>
                <a:latin typeface="Trebuchet MS" pitchFamily="34" charset="0"/>
                <a:ea typeface="Trebuchet MS" pitchFamily="34" charset="-122"/>
                <a:cs typeface="Trebuchet MS" pitchFamily="34" charset="-120"/>
              </a:rPr>
              <a:t>SEKCJA 3 | OGRANICZENIA</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Ograniczenia kinematyczne i stabilnościowe</a:t>
            </a:r>
            <a:endParaRPr lang="en-US" sz="2400" dirty="0"/>
          </a:p>
        </p:txBody>
      </p:sp>
      <p:sp>
        <p:nvSpPr>
          <p:cNvPr id="6" name="Shape 4"/>
          <p:cNvSpPr/>
          <p:nvPr/>
        </p:nvSpPr>
        <p:spPr>
          <a:xfrm>
            <a:off x="281754" y="1097281"/>
            <a:ext cx="4160520" cy="241240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4709160" y="1097281"/>
            <a:ext cx="4160520" cy="2412401"/>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8" name="Shape 6"/>
          <p:cNvSpPr/>
          <p:nvPr/>
        </p:nvSpPr>
        <p:spPr>
          <a:xfrm>
            <a:off x="274320" y="1097280"/>
            <a:ext cx="4160520" cy="384048"/>
          </a:xfrm>
          <a:prstGeom prst="rect">
            <a:avLst/>
          </a:prstGeom>
          <a:solidFill>
            <a:srgbClr val="0077A8"/>
          </a:solidFill>
          <a:ln w="12700">
            <a:solidFill>
              <a:srgbClr val="0077A8"/>
            </a:solidFill>
            <a:prstDash val="solid"/>
          </a:ln>
        </p:spPr>
      </p:sp>
      <p:sp>
        <p:nvSpPr>
          <p:cNvPr id="9" name="Text 7"/>
          <p:cNvSpPr/>
          <p:nvPr/>
        </p:nvSpPr>
        <p:spPr>
          <a:xfrm>
            <a:off x="45720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Ograniczenia kinematyczne</a:t>
            </a:r>
            <a:endParaRPr lang="en-US" sz="1600" dirty="0"/>
          </a:p>
        </p:txBody>
      </p:sp>
      <p:sp>
        <p:nvSpPr>
          <p:cNvPr id="10" name="Shape 8"/>
          <p:cNvSpPr/>
          <p:nvPr/>
        </p:nvSpPr>
        <p:spPr>
          <a:xfrm>
            <a:off x="4709160" y="1097280"/>
            <a:ext cx="4160520" cy="384048"/>
          </a:xfrm>
          <a:prstGeom prst="rect">
            <a:avLst/>
          </a:prstGeom>
          <a:solidFill>
            <a:srgbClr val="1A3550"/>
          </a:solidFill>
          <a:ln w="12700">
            <a:solidFill>
              <a:srgbClr val="1A3550"/>
            </a:solidFill>
            <a:prstDash val="solid"/>
          </a:ln>
        </p:spPr>
      </p:sp>
      <p:sp>
        <p:nvSpPr>
          <p:cNvPr id="11" name="Text 9"/>
          <p:cNvSpPr/>
          <p:nvPr/>
        </p:nvSpPr>
        <p:spPr>
          <a:xfrm>
            <a:off x="4892040" y="1115568"/>
            <a:ext cx="3794760" cy="347472"/>
          </a:xfrm>
          <a:prstGeom prst="rect">
            <a:avLst/>
          </a:prstGeom>
          <a:noFill/>
          <a:ln/>
        </p:spPr>
        <p:txBody>
          <a:bodyPr wrap="square" lIns="0" tIns="0" rIns="0" bIns="0" rtlCol="0" anchor="ctr"/>
          <a:lstStyle/>
          <a:p>
            <a:pPr marL="0" indent="0">
              <a:buNone/>
            </a:pPr>
            <a:r>
              <a:rPr lang="en-US" sz="1600" b="1" dirty="0">
                <a:solidFill>
                  <a:srgbClr val="FFFFFF"/>
                </a:solidFill>
                <a:latin typeface="Trebuchet MS" pitchFamily="34" charset="0"/>
                <a:ea typeface="Trebuchet MS" pitchFamily="34" charset="-122"/>
                <a:cs typeface="Trebuchet MS" pitchFamily="34" charset="-120"/>
              </a:rPr>
              <a:t>Ograniczenia stabilnościowe</a:t>
            </a:r>
            <a:endParaRPr lang="en-US" sz="1600" dirty="0"/>
          </a:p>
        </p:txBody>
      </p:sp>
      <mc:AlternateContent xmlns:mc="http://schemas.openxmlformats.org/markup-compatibility/2006" xmlns:a14="http://schemas.microsoft.com/office/drawing/2010/main">
        <mc:Choice Requires="a14">
          <p:sp>
            <p:nvSpPr>
              <p:cNvPr id="12" name="Text 10"/>
              <p:cNvSpPr/>
              <p:nvPr/>
            </p:nvSpPr>
            <p:spPr>
              <a:xfrm>
                <a:off x="345689" y="1600200"/>
                <a:ext cx="4033023" cy="1729123"/>
              </a:xfrm>
              <a:prstGeom prst="rect">
                <a:avLst/>
              </a:prstGeom>
              <a:noFill/>
              <a:ln/>
            </p:spPr>
            <p:txBody>
              <a:bodyPr wrap="square" lIns="63500" tIns="36000" rIns="63500" bIns="0" rtlCol="0" anchor="t">
                <a:spAutoFit/>
              </a:bodyPr>
              <a:lstStyle/>
              <a:p>
                <a:pPr marL="144000" indent="-144000">
                  <a:spcAft>
                    <a:spcPts val="1200"/>
                  </a:spcAft>
                  <a:buSzPct val="100000"/>
                  <a:buChar char="•"/>
                </a:pPr>
                <a:r>
                  <a:rPr lang="en-US" sz="1400" b="1" spc="-60" dirty="0" smtClean="0">
                    <a:solidFill>
                      <a:srgbClr val="0D1B2A"/>
                    </a:solidFill>
                    <a:latin typeface="Calibri" pitchFamily="34" charset="0"/>
                    <a:ea typeface="Calibri" pitchFamily="34" charset="-122"/>
                    <a:cs typeface="Calibri" pitchFamily="34" charset="-120"/>
                  </a:rPr>
                  <a:t>Zasięg nogi</a:t>
                </a:r>
                <a:r>
                  <a:rPr lang="en-US" sz="1400" spc="-60" dirty="0">
                    <a:solidFill>
                      <a:srgbClr val="0D1B2A"/>
                    </a:solidFill>
                    <a:latin typeface="Calibri" pitchFamily="34" charset="0"/>
                    <a:ea typeface="Calibri" pitchFamily="34" charset="-122"/>
                    <a:cs typeface="Calibri" pitchFamily="34" charset="-120"/>
                  </a:rPr>
                  <a:t>: </a:t>
                </a:r>
                <a:r>
                  <a:rPr lang="en-US" sz="1400" spc="-60" dirty="0" smtClean="0">
                    <a:solidFill>
                      <a:srgbClr val="0D1B2A"/>
                    </a:solidFill>
                    <a:latin typeface="Calibri" pitchFamily="34" charset="0"/>
                    <a:ea typeface="Calibri" pitchFamily="34" charset="-122"/>
                    <a:cs typeface="Calibri" pitchFamily="34" charset="-120"/>
                  </a:rPr>
                  <a:t>max</a:t>
                </a:r>
                <a:r>
                  <a:rPr lang="pl-PL" sz="1400" spc="-60" dirty="0" smtClean="0">
                    <a:solidFill>
                      <a:srgbClr val="0D1B2A"/>
                    </a:solidFill>
                    <a:latin typeface="Calibri" pitchFamily="34" charset="0"/>
                    <a:ea typeface="Calibri" pitchFamily="34" charset="-122"/>
                    <a:cs typeface="Calibri" pitchFamily="34" charset="-120"/>
                  </a:rPr>
                  <a:t>.</a:t>
                </a:r>
                <a:r>
                  <a:rPr lang="en-US" sz="1400" spc="-60" dirty="0" smtClean="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400" i="1" spc="-60" dirty="0" smtClean="0">
                        <a:solidFill>
                          <a:schemeClr val="accent1"/>
                        </a:solidFill>
                        <a:latin typeface="Cambria Math" panose="02040503050406030204" pitchFamily="18" charset="0"/>
                        <a:ea typeface="Calibri" pitchFamily="34" charset="-122"/>
                        <a:cs typeface="Calibri" pitchFamily="34" charset="-120"/>
                      </a:rPr>
                      <m:t>𝑜𝑑𝑙𝑒𝑔</m:t>
                    </m:r>
                    <m:r>
                      <a:rPr lang="en-US" sz="1400" i="1" spc="-60" dirty="0" smtClean="0">
                        <a:solidFill>
                          <a:schemeClr val="accent1"/>
                        </a:solidFill>
                        <a:latin typeface="Cambria Math" panose="02040503050406030204" pitchFamily="18" charset="0"/>
                        <a:ea typeface="Calibri" pitchFamily="34" charset="-122"/>
                        <a:cs typeface="Calibri" pitchFamily="34" charset="-120"/>
                      </a:rPr>
                      <m:t>ł</m:t>
                    </m:r>
                    <m:r>
                      <a:rPr lang="en-US" sz="1400" i="1" spc="-60" dirty="0" smtClean="0">
                        <a:solidFill>
                          <a:schemeClr val="accent1"/>
                        </a:solidFill>
                        <a:latin typeface="Cambria Math" panose="02040503050406030204" pitchFamily="18" charset="0"/>
                        <a:ea typeface="Calibri" pitchFamily="34" charset="-122"/>
                        <a:cs typeface="Calibri" pitchFamily="34" charset="-120"/>
                      </a:rPr>
                      <m:t>𝑜</m:t>
                    </m:r>
                    <m:r>
                      <a:rPr lang="en-US" sz="1400" i="1" spc="-60" dirty="0" smtClean="0">
                        <a:solidFill>
                          <a:schemeClr val="accent1"/>
                        </a:solidFill>
                        <a:latin typeface="Cambria Math" panose="02040503050406030204" pitchFamily="18" charset="0"/>
                        <a:ea typeface="Calibri" pitchFamily="34" charset="-122"/>
                        <a:cs typeface="Calibri" pitchFamily="34" charset="-120"/>
                      </a:rPr>
                      <m:t>ść </m:t>
                    </m:r>
                    <m:r>
                      <a:rPr lang="en-US" sz="1400" i="1" spc="-60" dirty="0">
                        <a:solidFill>
                          <a:schemeClr val="accent1"/>
                        </a:solidFill>
                        <a:latin typeface="Cambria Math" panose="02040503050406030204" pitchFamily="18" charset="0"/>
                        <a:ea typeface="Calibri" pitchFamily="34" charset="-122"/>
                        <a:cs typeface="Calibri" pitchFamily="34" charset="-120"/>
                      </a:rPr>
                      <m:t>𝑠𝑡𝑜𝑝𝑎</m:t>
                    </m:r>
                    <m:r>
                      <a:rPr lang="en-US" sz="1400" i="1" spc="-60" dirty="0">
                        <a:solidFill>
                          <a:schemeClr val="accent1"/>
                        </a:solidFill>
                        <a:latin typeface="Cambria Math" panose="02040503050406030204" pitchFamily="18" charset="0"/>
                        <a:ea typeface="Calibri" pitchFamily="34" charset="-122"/>
                        <a:cs typeface="Calibri" pitchFamily="34" charset="-120"/>
                      </a:rPr>
                      <m:t>–</m:t>
                    </m:r>
                    <m:r>
                      <a:rPr lang="en-US" sz="1400" i="1" spc="-60" dirty="0">
                        <a:solidFill>
                          <a:schemeClr val="accent1"/>
                        </a:solidFill>
                        <a:latin typeface="Cambria Math" panose="02040503050406030204" pitchFamily="18" charset="0"/>
                        <a:ea typeface="Calibri" pitchFamily="34" charset="-122"/>
                        <a:cs typeface="Calibri" pitchFamily="34" charset="-120"/>
                      </a:rPr>
                      <m:t>𝑏𝑖𝑜𝑑𝑟𝑜</m:t>
                    </m:r>
                    <m:r>
                      <a:rPr lang="en-US" sz="1400" i="1" spc="-60" dirty="0">
                        <a:solidFill>
                          <a:schemeClr val="accent1"/>
                        </a:solidFill>
                        <a:latin typeface="Cambria Math" panose="02040503050406030204" pitchFamily="18" charset="0"/>
                        <a:ea typeface="Calibri" pitchFamily="34" charset="-122"/>
                        <a:cs typeface="Calibri" pitchFamily="34" charset="-120"/>
                      </a:rPr>
                      <m:t> ≤ </m:t>
                    </m:r>
                    <m:sSub>
                      <m:sSubPr>
                        <m:ctrlPr>
                          <a:rPr lang="en-US" sz="1400" i="1" spc="-60" dirty="0">
                            <a:solidFill>
                              <a:schemeClr val="accent1"/>
                            </a:solidFill>
                            <a:latin typeface="Cambria Math" panose="02040503050406030204" pitchFamily="18" charset="0"/>
                            <a:ea typeface="Calibri" pitchFamily="34" charset="-122"/>
                            <a:cs typeface="Calibri" pitchFamily="34" charset="-120"/>
                          </a:rPr>
                        </m:ctrlPr>
                      </m:sSubPr>
                      <m:e>
                        <m:r>
                          <a:rPr lang="en-US" sz="1400" i="1" spc="-60" dirty="0">
                            <a:solidFill>
                              <a:schemeClr val="accent1"/>
                            </a:solidFill>
                            <a:latin typeface="Cambria Math" panose="02040503050406030204" pitchFamily="18" charset="0"/>
                            <a:ea typeface="Calibri" pitchFamily="34" charset="-122"/>
                            <a:cs typeface="Calibri" pitchFamily="34" charset="-120"/>
                          </a:rPr>
                          <m:t>𝑙</m:t>
                        </m:r>
                      </m:e>
                      <m:sub>
                        <m:r>
                          <m:rPr>
                            <m:sty m:val="p"/>
                          </m:rPr>
                          <a:rPr lang="en-US" sz="1400" i="1" spc="-60" dirty="0">
                            <a:solidFill>
                              <a:schemeClr val="accent1"/>
                            </a:solidFill>
                            <a:latin typeface="Cambria Math" panose="02040503050406030204" pitchFamily="18" charset="0"/>
                            <a:ea typeface="Calibri" pitchFamily="34" charset="-122"/>
                            <a:cs typeface="Calibri" pitchFamily="34" charset="-120"/>
                          </a:rPr>
                          <m:t>max</m:t>
                        </m:r>
                      </m:sub>
                    </m:sSub>
                  </m:oMath>
                </a14:m>
                <a:endParaRPr lang="en-US" sz="1400" spc="-60" dirty="0">
                  <a:solidFill>
                    <a:schemeClr val="accent1"/>
                  </a:solidFill>
                </a:endParaRPr>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Min. odstęp</a:t>
                </a:r>
                <a:r>
                  <a:rPr lang="en-US" sz="1400" spc="-60" dirty="0">
                    <a:solidFill>
                      <a:srgbClr val="0D1B2A"/>
                    </a:solidFill>
                    <a:latin typeface="Calibri" pitchFamily="34" charset="0"/>
                    <a:ea typeface="Calibri" pitchFamily="34" charset="-122"/>
                    <a:cs typeface="Calibri" pitchFamily="34" charset="-120"/>
                  </a:rPr>
                  <a:t>: stopy nie mogą nachodzić na siebie</a:t>
                </a:r>
                <a:endParaRPr lang="en-US" sz="1400" spc="-60" dirty="0"/>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Zakres stawów</a:t>
                </a:r>
                <a:r>
                  <a:rPr lang="en-US" sz="1400" spc="-60" dirty="0">
                    <a:solidFill>
                      <a:srgbClr val="0D1B2A"/>
                    </a:solidFill>
                    <a:latin typeface="Calibri" pitchFamily="34" charset="0"/>
                    <a:ea typeface="Calibri" pitchFamily="34" charset="-122"/>
                    <a:cs typeface="Calibri" pitchFamily="34" charset="-120"/>
                  </a:rPr>
                  <a:t>: każdy staw w przedziale </a:t>
                </a:r>
                <a14:m>
                  <m:oMath xmlns:m="http://schemas.openxmlformats.org/officeDocument/2006/math">
                    <m:d>
                      <m:dPr>
                        <m:begChr m:val="["/>
                        <m:endChr m:val="]"/>
                        <m:ctrlPr>
                          <a:rPr lang="en-US" sz="1400" i="1" spc="-60" dirty="0" smtClean="0">
                            <a:solidFill>
                              <a:schemeClr val="accent1"/>
                            </a:solidFill>
                            <a:latin typeface="Cambria Math" panose="02040503050406030204" pitchFamily="18" charset="0"/>
                            <a:ea typeface="Calibri" pitchFamily="34" charset="-122"/>
                            <a:cs typeface="Calibri" pitchFamily="34" charset="-120"/>
                          </a:rPr>
                        </m:ctrlPr>
                      </m:dPr>
                      <m:e>
                        <m:r>
                          <a:rPr lang="en-US" sz="1400" i="1" spc="-60" dirty="0" err="1" smtClean="0">
                            <a:solidFill>
                              <a:schemeClr val="accent1"/>
                            </a:solidFill>
                            <a:latin typeface="Cambria Math" panose="02040503050406030204" pitchFamily="18" charset="0"/>
                            <a:ea typeface="Calibri" pitchFamily="34" charset="-122"/>
                            <a:cs typeface="Calibri" pitchFamily="34" charset="-120"/>
                          </a:rPr>
                          <m:t>𝑞</m:t>
                        </m:r>
                        <m:r>
                          <a:rPr lang="en-US" sz="1400" i="1" spc="-60" baseline="-25000" dirty="0" err="1" smtClean="0">
                            <a:solidFill>
                              <a:schemeClr val="accent1"/>
                            </a:solidFill>
                            <a:latin typeface="Cambria Math" panose="02040503050406030204" pitchFamily="18" charset="0"/>
                            <a:ea typeface="Calibri" pitchFamily="34" charset="-122"/>
                            <a:cs typeface="Calibri" pitchFamily="34" charset="-120"/>
                          </a:rPr>
                          <m:t>𝑚𝑖𝑛</m:t>
                        </m:r>
                        <m:r>
                          <a:rPr lang="en-US" sz="1400" i="1" spc="-60" dirty="0">
                            <a:solidFill>
                              <a:schemeClr val="accent1"/>
                            </a:solidFill>
                            <a:latin typeface="Cambria Math" panose="02040503050406030204" pitchFamily="18" charset="0"/>
                            <a:ea typeface="Calibri" pitchFamily="34" charset="-122"/>
                            <a:cs typeface="Calibri" pitchFamily="34" charset="-120"/>
                          </a:rPr>
                          <m:t>, </m:t>
                        </m:r>
                        <m:r>
                          <a:rPr lang="en-US" sz="1400" i="1" spc="-60" dirty="0" err="1" smtClean="0">
                            <a:solidFill>
                              <a:schemeClr val="accent1"/>
                            </a:solidFill>
                            <a:latin typeface="Cambria Math" panose="02040503050406030204" pitchFamily="18" charset="0"/>
                            <a:ea typeface="Calibri" pitchFamily="34" charset="-122"/>
                            <a:cs typeface="Calibri" pitchFamily="34" charset="-120"/>
                          </a:rPr>
                          <m:t>𝑞</m:t>
                        </m:r>
                        <m:r>
                          <a:rPr lang="en-US" sz="1400" i="1" spc="-60" baseline="-25000" dirty="0" err="1" smtClean="0">
                            <a:solidFill>
                              <a:schemeClr val="accent1"/>
                            </a:solidFill>
                            <a:latin typeface="Cambria Math" panose="02040503050406030204" pitchFamily="18" charset="0"/>
                            <a:ea typeface="Calibri" pitchFamily="34" charset="-122"/>
                            <a:cs typeface="Calibri" pitchFamily="34" charset="-120"/>
                          </a:rPr>
                          <m:t>𝑚𝑎𝑥</m:t>
                        </m:r>
                      </m:e>
                    </m:d>
                  </m:oMath>
                </a14:m>
                <a:endParaRPr lang="en-US" sz="1400" i="1" spc="-60" dirty="0">
                  <a:solidFill>
                    <a:schemeClr val="accent1"/>
                  </a:solidFill>
                </a:endParaRPr>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Prędkość stawów</a:t>
                </a:r>
                <a:r>
                  <a:rPr lang="en-US" sz="1400" spc="-60" dirty="0">
                    <a:solidFill>
                      <a:srgbClr val="0D1B2A"/>
                    </a:solidFill>
                    <a:latin typeface="Calibri" pitchFamily="34" charset="0"/>
                    <a:ea typeface="Calibri" pitchFamily="34" charset="-122"/>
                    <a:cs typeface="Calibri" pitchFamily="34" charset="-120"/>
                  </a:rPr>
                  <a:t>: </a:t>
                </a:r>
                <a:r>
                  <a:rPr lang="en-US" sz="1400" spc="-60" dirty="0" err="1" smtClean="0">
                    <a:solidFill>
                      <a:schemeClr val="accent1"/>
                    </a:solidFill>
                    <a:latin typeface="Calibri" pitchFamily="34" charset="0"/>
                    <a:ea typeface="Calibri" pitchFamily="34" charset="-122"/>
                    <a:cs typeface="Calibri" pitchFamily="34" charset="-120"/>
                  </a:rPr>
                  <a:t>ω</a:t>
                </a:r>
                <a:r>
                  <a:rPr lang="en-US" sz="1400" spc="-60" baseline="-25000" dirty="0" err="1" smtClean="0">
                    <a:solidFill>
                      <a:schemeClr val="accent1"/>
                    </a:solidFill>
                    <a:latin typeface="Calibri" pitchFamily="34" charset="0"/>
                    <a:ea typeface="Calibri" pitchFamily="34" charset="-122"/>
                    <a:cs typeface="Calibri" pitchFamily="34" charset="-120"/>
                  </a:rPr>
                  <a:t>joint</a:t>
                </a:r>
                <a:r>
                  <a:rPr lang="en-US" sz="1400" spc="-60" dirty="0" smtClean="0">
                    <a:solidFill>
                      <a:schemeClr val="accent1"/>
                    </a:solidFill>
                    <a:latin typeface="Calibri" pitchFamily="34" charset="0"/>
                    <a:ea typeface="Calibri" pitchFamily="34" charset="-122"/>
                    <a:cs typeface="Calibri" pitchFamily="34" charset="-120"/>
                  </a:rPr>
                  <a:t> </a:t>
                </a:r>
                <a:r>
                  <a:rPr lang="en-US" sz="1400" spc="-60" dirty="0">
                    <a:solidFill>
                      <a:schemeClr val="accent1"/>
                    </a:solidFill>
                    <a:latin typeface="Calibri" pitchFamily="34" charset="0"/>
                    <a:ea typeface="Calibri" pitchFamily="34" charset="-122"/>
                    <a:cs typeface="Calibri" pitchFamily="34" charset="-120"/>
                  </a:rPr>
                  <a:t>≤ </a:t>
                </a:r>
                <a:r>
                  <a:rPr lang="en-US" sz="1400" spc="-60" dirty="0" err="1" smtClean="0">
                    <a:solidFill>
                      <a:schemeClr val="accent1"/>
                    </a:solidFill>
                    <a:latin typeface="Calibri" pitchFamily="34" charset="0"/>
                    <a:ea typeface="Calibri" pitchFamily="34" charset="-122"/>
                    <a:cs typeface="Calibri" pitchFamily="34" charset="-120"/>
                  </a:rPr>
                  <a:t>ω</a:t>
                </a:r>
                <a:r>
                  <a:rPr lang="en-US" sz="1400" spc="-60" baseline="-25000" dirty="0" err="1" smtClean="0">
                    <a:solidFill>
                      <a:schemeClr val="accent1"/>
                    </a:solidFill>
                    <a:latin typeface="Calibri" pitchFamily="34" charset="0"/>
                    <a:ea typeface="Calibri" pitchFamily="34" charset="-122"/>
                    <a:cs typeface="Calibri" pitchFamily="34" charset="-120"/>
                  </a:rPr>
                  <a:t>max</a:t>
                </a:r>
                <a:r>
                  <a:rPr lang="en-US" sz="1400" spc="-60" dirty="0" smtClean="0">
                    <a:solidFill>
                      <a:schemeClr val="accent1"/>
                    </a:solidFill>
                    <a:latin typeface="Calibri" pitchFamily="34" charset="0"/>
                    <a:ea typeface="Calibri" pitchFamily="34" charset="-122"/>
                    <a:cs typeface="Calibri" pitchFamily="34" charset="-120"/>
                  </a:rPr>
                  <a:t> </a:t>
                </a:r>
                <a:r>
                  <a:rPr lang="en-US" sz="1400" i="1" spc="-80" dirty="0">
                    <a:solidFill>
                      <a:srgbClr val="0D1B2A"/>
                    </a:solidFill>
                    <a:latin typeface="Calibri" pitchFamily="34" charset="0"/>
                    <a:ea typeface="Calibri" pitchFamily="34" charset="-122"/>
                    <a:cs typeface="Calibri" pitchFamily="34" charset="-120"/>
                  </a:rPr>
                  <a:t>(przepustowość aktuatora)</a:t>
                </a:r>
                <a:endParaRPr lang="en-US" sz="1400" i="1" spc="-80" dirty="0"/>
              </a:p>
              <a:p>
                <a:pPr marL="144000" indent="-144000">
                  <a:spcAft>
                    <a:spcPts val="1200"/>
                  </a:spcAft>
                  <a:buSzPct val="100000"/>
                  <a:buChar char="•"/>
                </a:pPr>
                <a:r>
                  <a:rPr lang="en-US" sz="1400" b="1" spc="-80" dirty="0">
                    <a:solidFill>
                      <a:srgbClr val="0D1B2A"/>
                    </a:solidFill>
                    <a:latin typeface="Calibri" pitchFamily="34" charset="0"/>
                    <a:ea typeface="Calibri" pitchFamily="34" charset="-122"/>
                    <a:cs typeface="Calibri" pitchFamily="34" charset="-120"/>
                  </a:rPr>
                  <a:t>Konfiguracja singularna</a:t>
                </a:r>
                <a:r>
                  <a:rPr lang="en-US" sz="1400" spc="-80" dirty="0">
                    <a:solidFill>
                      <a:srgbClr val="0D1B2A"/>
                    </a:solidFill>
                    <a:latin typeface="Calibri" pitchFamily="34" charset="0"/>
                    <a:ea typeface="Calibri" pitchFamily="34" charset="-122"/>
                    <a:cs typeface="Calibri" pitchFamily="34" charset="-120"/>
                  </a:rPr>
                  <a:t>: unikanie pełnego wyprostu kolana</a:t>
                </a:r>
                <a:endParaRPr lang="en-US" sz="1400" spc="-80" dirty="0"/>
              </a:p>
            </p:txBody>
          </p:sp>
        </mc:Choice>
        <mc:Fallback xmlns="">
          <p:sp>
            <p:nvSpPr>
              <p:cNvPr id="12" name="Text 10"/>
              <p:cNvSpPr>
                <a:spLocks noRot="1" noChangeAspect="1" noMove="1" noResize="1" noEditPoints="1" noAdjustHandles="1" noChangeArrowheads="1" noChangeShapeType="1" noTextEdit="1"/>
              </p:cNvSpPr>
              <p:nvPr/>
            </p:nvSpPr>
            <p:spPr>
              <a:xfrm>
                <a:off x="345689" y="1600200"/>
                <a:ext cx="4033023" cy="1729123"/>
              </a:xfrm>
              <a:prstGeom prst="rect">
                <a:avLst/>
              </a:prstGeom>
              <a:blipFill>
                <a:blip r:embed="rId3"/>
                <a:stretch>
                  <a:fillRect l="-1210" t="-1767" b="-5654"/>
                </a:stretch>
              </a:blipFill>
              <a:ln/>
            </p:spPr>
            <p:txBody>
              <a:bodyPr/>
              <a:lstStyle/>
              <a:p>
                <a:r>
                  <a:rPr lang="pl-PL">
                    <a:noFill/>
                  </a:rPr>
                  <a:t> </a:t>
                </a:r>
              </a:p>
            </p:txBody>
          </p:sp>
        </mc:Fallback>
      </mc:AlternateContent>
      <p:sp>
        <p:nvSpPr>
          <p:cNvPr id="13" name="Text 11"/>
          <p:cNvSpPr/>
          <p:nvPr/>
        </p:nvSpPr>
        <p:spPr>
          <a:xfrm>
            <a:off x="4892040" y="1600200"/>
            <a:ext cx="3794760" cy="1729123"/>
          </a:xfrm>
          <a:prstGeom prst="rect">
            <a:avLst/>
          </a:prstGeom>
          <a:noFill/>
          <a:ln/>
        </p:spPr>
        <p:txBody>
          <a:bodyPr wrap="square" lIns="63500" tIns="36000" rIns="63500" bIns="0" rtlCol="0" anchor="t">
            <a:spAutoFit/>
          </a:bodyPr>
          <a:lstStyle/>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ZMP</a:t>
            </a:r>
            <a:r>
              <a:rPr lang="en-US" sz="1400" spc="-60" dirty="0">
                <a:solidFill>
                  <a:srgbClr val="0D1B2A"/>
                </a:solidFill>
                <a:latin typeface="Calibri" pitchFamily="34" charset="0"/>
                <a:ea typeface="Calibri" pitchFamily="34" charset="-122"/>
                <a:cs typeface="Calibri" pitchFamily="34" charset="-120"/>
              </a:rPr>
              <a:t> </a:t>
            </a:r>
            <a:r>
              <a:rPr lang="pl-PL" sz="1400" spc="-60" dirty="0" smtClean="0">
                <a:solidFill>
                  <a:srgbClr val="0D1B2A"/>
                </a:solidFill>
                <a:latin typeface="Calibri" pitchFamily="34" charset="0"/>
                <a:ea typeface="Calibri" pitchFamily="34" charset="-122"/>
                <a:cs typeface="Calibri" pitchFamily="34" charset="-120"/>
              </a:rPr>
              <a:t>wewnątrz</a:t>
            </a:r>
            <a:r>
              <a:rPr lang="en-US" sz="1400" spc="-60" dirty="0" smtClean="0">
                <a:solidFill>
                  <a:srgbClr val="0D1B2A"/>
                </a:solidFill>
                <a:latin typeface="Calibri" pitchFamily="34" charset="0"/>
                <a:ea typeface="Calibri" pitchFamily="34" charset="-122"/>
                <a:cs typeface="Calibri" pitchFamily="34" charset="-120"/>
              </a:rPr>
              <a:t> </a:t>
            </a:r>
            <a:r>
              <a:rPr lang="pl-PL" sz="1400" spc="-60" dirty="0" smtClean="0">
                <a:solidFill>
                  <a:srgbClr val="0D1B2A"/>
                </a:solidFill>
                <a:latin typeface="Calibri" pitchFamily="34" charset="0"/>
                <a:ea typeface="Calibri" pitchFamily="34" charset="-122"/>
                <a:cs typeface="Calibri" pitchFamily="34" charset="-120"/>
              </a:rPr>
              <a:t>wieloboku</a:t>
            </a:r>
            <a:r>
              <a:rPr lang="en-US" sz="1400" spc="-60" dirty="0" smtClean="0">
                <a:solidFill>
                  <a:srgbClr val="0D1B2A"/>
                </a:solidFill>
                <a:latin typeface="Calibri" pitchFamily="34" charset="0"/>
                <a:ea typeface="Calibri" pitchFamily="34" charset="-122"/>
                <a:cs typeface="Calibri" pitchFamily="34" charset="-120"/>
              </a:rPr>
              <a:t> </a:t>
            </a:r>
            <a:r>
              <a:rPr lang="pl-PL" sz="1400" spc="-60" dirty="0" smtClean="0">
                <a:solidFill>
                  <a:srgbClr val="0D1B2A"/>
                </a:solidFill>
                <a:latin typeface="Calibri" pitchFamily="34" charset="0"/>
                <a:ea typeface="Calibri" pitchFamily="34" charset="-122"/>
                <a:cs typeface="Calibri" pitchFamily="34" charset="-120"/>
              </a:rPr>
              <a:t>podparcia </a:t>
            </a:r>
            <a:r>
              <a:rPr lang="en-US" sz="1400" spc="-60" dirty="0" smtClean="0">
                <a:solidFill>
                  <a:srgbClr val="0D1B2A"/>
                </a:solidFill>
                <a:latin typeface="Calibri" pitchFamily="34" charset="0"/>
                <a:ea typeface="Calibri" pitchFamily="34" charset="-122"/>
                <a:cs typeface="Calibri" pitchFamily="34" charset="-120"/>
              </a:rPr>
              <a:t>z </a:t>
            </a:r>
            <a:r>
              <a:rPr lang="en-US" sz="1400" spc="-60" dirty="0">
                <a:solidFill>
                  <a:srgbClr val="0D1B2A"/>
                </a:solidFill>
                <a:latin typeface="Calibri" pitchFamily="34" charset="0"/>
                <a:ea typeface="Calibri" pitchFamily="34" charset="-122"/>
                <a:cs typeface="Calibri" pitchFamily="34" charset="-120"/>
              </a:rPr>
              <a:t>marginesem</a:t>
            </a:r>
            <a:endParaRPr lang="en-US" sz="1400" spc="-60" dirty="0"/>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Capture Point </a:t>
            </a:r>
            <a:r>
              <a:rPr lang="en-US" sz="1400" spc="-60" dirty="0">
                <a:solidFill>
                  <a:srgbClr val="0D1B2A"/>
                </a:solidFill>
                <a:latin typeface="Calibri" pitchFamily="34" charset="0"/>
                <a:ea typeface="Calibri" pitchFamily="34" charset="-122"/>
                <a:cs typeface="Calibri" pitchFamily="34" charset="-120"/>
              </a:rPr>
              <a:t>w dopuszczalnej strefie landing</a:t>
            </a:r>
            <a:endParaRPr lang="en-US" sz="1400" spc="-60" dirty="0"/>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Odchylenie tułowia </a:t>
            </a:r>
            <a:r>
              <a:rPr lang="en-US" sz="1400" spc="-60" dirty="0">
                <a:solidFill>
                  <a:schemeClr val="accent1"/>
                </a:solidFill>
                <a:latin typeface="Calibri" pitchFamily="34" charset="0"/>
                <a:ea typeface="Calibri" pitchFamily="34" charset="-122"/>
                <a:cs typeface="Calibri" pitchFamily="34" charset="-120"/>
              </a:rPr>
              <a:t>≤ ±15° </a:t>
            </a:r>
            <a:r>
              <a:rPr lang="en-US" sz="1400" spc="-60" dirty="0">
                <a:solidFill>
                  <a:srgbClr val="0D1B2A"/>
                </a:solidFill>
                <a:latin typeface="Calibri" pitchFamily="34" charset="0"/>
                <a:ea typeface="Calibri" pitchFamily="34" charset="-122"/>
                <a:cs typeface="Calibri" pitchFamily="34" charset="-120"/>
              </a:rPr>
              <a:t>od pionu</a:t>
            </a:r>
            <a:endParaRPr lang="en-US" sz="1400" spc="-60" dirty="0"/>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Prędkość CoM </a:t>
            </a:r>
            <a:r>
              <a:rPr lang="en-US" sz="1400" spc="-60" dirty="0">
                <a:solidFill>
                  <a:srgbClr val="0D1B2A"/>
                </a:solidFill>
                <a:latin typeface="Calibri" pitchFamily="34" charset="0"/>
                <a:ea typeface="Calibri" pitchFamily="34" charset="-122"/>
                <a:cs typeface="Calibri" pitchFamily="34" charset="-120"/>
              </a:rPr>
              <a:t>ograniczona przez marginesy LIPM</a:t>
            </a:r>
            <a:endParaRPr lang="en-US" sz="1400" spc="-60" dirty="0"/>
          </a:p>
          <a:p>
            <a:pPr marL="144000" indent="-144000">
              <a:spcAft>
                <a:spcPts val="1200"/>
              </a:spcAft>
              <a:buSzPct val="100000"/>
              <a:buChar char="•"/>
            </a:pPr>
            <a:r>
              <a:rPr lang="en-US" sz="1400" b="1" spc="-60" dirty="0">
                <a:solidFill>
                  <a:srgbClr val="0D1B2A"/>
                </a:solidFill>
                <a:latin typeface="Calibri" pitchFamily="34" charset="0"/>
                <a:ea typeface="Calibri" pitchFamily="34" charset="-122"/>
                <a:cs typeface="Calibri" pitchFamily="34" charset="-120"/>
              </a:rPr>
              <a:t>Przy schodach</a:t>
            </a:r>
            <a:r>
              <a:rPr lang="en-US" sz="1400" spc="-60" dirty="0">
                <a:solidFill>
                  <a:srgbClr val="0D1B2A"/>
                </a:solidFill>
                <a:latin typeface="Calibri" pitchFamily="34" charset="0"/>
                <a:ea typeface="Calibri" pitchFamily="34" charset="-122"/>
                <a:cs typeface="Calibri" pitchFamily="34" charset="-120"/>
              </a:rPr>
              <a:t>: dodatkowy margines boczny +3 cm</a:t>
            </a:r>
            <a:endParaRPr lang="en-US" sz="1400" spc="-60" dirty="0"/>
          </a:p>
        </p:txBody>
      </p:sp>
      <p:sp>
        <p:nvSpPr>
          <p:cNvPr id="14" name="Prostokąt 13"/>
          <p:cNvSpPr/>
          <p:nvPr/>
        </p:nvSpPr>
        <p:spPr>
          <a:xfrm>
            <a:off x="274320" y="3666254"/>
            <a:ext cx="8595360" cy="1188774"/>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Planowanie kroków musi respektować zarówno ograniczenia kinematyczne, jak i </a:t>
            </a:r>
            <a:r>
              <a:rPr lang="pl-PL" sz="1400" dirty="0" err="1">
                <a:solidFill>
                  <a:schemeClr val="bg1"/>
                </a:solidFill>
              </a:rPr>
              <a:t>stabilnościowe</a:t>
            </a:r>
            <a:r>
              <a:rPr lang="pl-PL" sz="1400" dirty="0">
                <a:solidFill>
                  <a:schemeClr val="bg1"/>
                </a:solidFill>
              </a:rPr>
              <a:t>. Ograniczenia kinematyczne wynikają z budowy robota: długości kończyn, zakresów stawów, maksymalnych prędkości </a:t>
            </a:r>
            <a:r>
              <a:rPr lang="pl-PL" sz="1400" dirty="0" err="1">
                <a:solidFill>
                  <a:schemeClr val="bg1"/>
                </a:solidFill>
              </a:rPr>
              <a:t>aktuatorów</a:t>
            </a:r>
            <a:r>
              <a:rPr lang="pl-PL" sz="1400" dirty="0">
                <a:solidFill>
                  <a:schemeClr val="bg1"/>
                </a:solidFill>
              </a:rPr>
              <a:t> </a:t>
            </a:r>
            <a:r>
              <a:rPr lang="pl-PL" sz="1400" dirty="0" smtClean="0">
                <a:solidFill>
                  <a:schemeClr val="bg1"/>
                </a:solidFill>
              </a:rPr>
              <a:t/>
            </a:r>
            <a:br>
              <a:rPr lang="pl-PL" sz="1400" dirty="0" smtClean="0">
                <a:solidFill>
                  <a:schemeClr val="bg1"/>
                </a:solidFill>
              </a:rPr>
            </a:br>
            <a:r>
              <a:rPr lang="pl-PL" sz="1400" dirty="0" smtClean="0">
                <a:solidFill>
                  <a:schemeClr val="bg1"/>
                </a:solidFill>
              </a:rPr>
              <a:t>i </a:t>
            </a:r>
            <a:r>
              <a:rPr lang="pl-PL" sz="1400" dirty="0">
                <a:solidFill>
                  <a:schemeClr val="bg1"/>
                </a:solidFill>
              </a:rPr>
              <a:t>unikania konfiguracji singularnych. Ograniczenia </a:t>
            </a:r>
            <a:r>
              <a:rPr lang="pl-PL" sz="1400" dirty="0" err="1">
                <a:solidFill>
                  <a:schemeClr val="bg1"/>
                </a:solidFill>
              </a:rPr>
              <a:t>stabilnościowe</a:t>
            </a:r>
            <a:r>
              <a:rPr lang="pl-PL" sz="1400" dirty="0">
                <a:solidFill>
                  <a:schemeClr val="bg1"/>
                </a:solidFill>
              </a:rPr>
              <a:t> określają, czy robot może utrzymać równowagę podczas wykonywania kroku. Najważniejsze jest utrzymanie ZMP w wieloboku podparcia z odpowiednim marginesem. Przy trudnym terenie, schodach i pochyłościach marginesy powinny być większe niż podczas ruchu po płaskiej powierzchni.</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22C55E"/>
          </a:solidFill>
          <a:ln w="12700">
            <a:solidFill>
              <a:srgbClr val="22C55E"/>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22C55E"/>
                </a:solidFill>
                <a:latin typeface="Trebuchet MS" pitchFamily="34" charset="0"/>
                <a:ea typeface="Trebuchet MS" pitchFamily="34" charset="-122"/>
                <a:cs typeface="Trebuchet MS" pitchFamily="34" charset="-120"/>
              </a:rPr>
              <a:t>SEKCJA 3 | SCHODY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Planowanie na schodach i nierównościach</a:t>
            </a:r>
            <a:endParaRPr lang="en-US" sz="2400" dirty="0"/>
          </a:p>
        </p:txBody>
      </p:sp>
      <p:sp>
        <p:nvSpPr>
          <p:cNvPr id="6" name="Shape 4"/>
          <p:cNvSpPr/>
          <p:nvPr/>
        </p:nvSpPr>
        <p:spPr>
          <a:xfrm>
            <a:off x="274320" y="1097280"/>
            <a:ext cx="8595360" cy="2716437"/>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mc:AlternateContent xmlns:mc="http://schemas.openxmlformats.org/markup-compatibility/2006">
        <mc:Choice xmlns:a14="http://schemas.microsoft.com/office/drawing/2010/main" Requires="a14">
          <p:sp>
            <p:nvSpPr>
              <p:cNvPr id="7" name="Text 5"/>
              <p:cNvSpPr/>
              <p:nvPr/>
            </p:nvSpPr>
            <p:spPr>
              <a:xfrm>
                <a:off x="457200" y="1188720"/>
                <a:ext cx="8229600" cy="2501001"/>
              </a:xfrm>
              <a:prstGeom prst="rect">
                <a:avLst/>
              </a:prstGeom>
              <a:noFill/>
              <a:ln/>
            </p:spPr>
            <p:txBody>
              <a:bodyPr wrap="square" lIns="127000" tIns="36000" rIns="127000" bIns="0" rtlCol="0" anchor="t">
                <a:spAutoFit/>
              </a:bodyPr>
              <a:lstStyle/>
              <a:p>
                <a:pPr marL="144000" indent="-144000">
                  <a:spcAft>
                    <a:spcPts val="1200"/>
                  </a:spcAft>
                  <a:buSzPct val="100000"/>
                  <a:buChar char="•"/>
                </a:pPr>
                <a:r>
                  <a:rPr lang="en-US" sz="1400" b="1" dirty="0" smtClean="0">
                    <a:solidFill>
                      <a:srgbClr val="0D1B2A"/>
                    </a:solidFill>
                    <a:latin typeface="Calibri" pitchFamily="34" charset="0"/>
                    <a:ea typeface="Calibri" pitchFamily="34" charset="-122"/>
                    <a:cs typeface="Calibri" pitchFamily="34" charset="-120"/>
                  </a:rPr>
                  <a:t>Detekcja schodów</a:t>
                </a:r>
                <a:r>
                  <a:rPr lang="en-US" sz="1400" dirty="0">
                    <a:solidFill>
                      <a:srgbClr val="0D1B2A"/>
                    </a:solidFill>
                    <a:latin typeface="Calibri" pitchFamily="34" charset="0"/>
                    <a:ea typeface="Calibri" pitchFamily="34" charset="-122"/>
                    <a:cs typeface="Calibri" pitchFamily="34" charset="-120"/>
                  </a:rPr>
                  <a:t>: segmentacja chmury punktów; klasyfikacja płaskich poziomych płaszczyzn</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Wysokość stopnia</a:t>
                </a:r>
                <a:r>
                  <a:rPr lang="en-US" sz="1400" dirty="0">
                    <a:solidFill>
                      <a:srgbClr val="0D1B2A"/>
                    </a:solidFill>
                    <a:latin typeface="Calibri" pitchFamily="34" charset="0"/>
                    <a:ea typeface="Calibri" pitchFamily="34" charset="-122"/>
                    <a:cs typeface="Calibri" pitchFamily="34" charset="-120"/>
                  </a:rPr>
                  <a:t>: robot musi unieść stopę o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h</m:t>
                        </m:r>
                      </m:e>
                      <m:sub>
                        <m:r>
                          <a:rPr lang="en-US" sz="1400" i="1" dirty="0" smtClean="0">
                            <a:solidFill>
                              <a:schemeClr val="accent1"/>
                            </a:solidFill>
                            <a:latin typeface="Cambria Math" panose="02040503050406030204" pitchFamily="18" charset="0"/>
                            <a:ea typeface="Calibri" pitchFamily="34" charset="-122"/>
                            <a:cs typeface="Calibri" pitchFamily="34" charset="-120"/>
                          </a:rPr>
                          <m:t>𝑠𝑡𝑒𝑝</m:t>
                        </m:r>
                      </m:sub>
                    </m:sSub>
                    <m:r>
                      <a:rPr lang="en-US" sz="1400" i="1" dirty="0" smtClean="0">
                        <a:solidFill>
                          <a:schemeClr val="accent1"/>
                        </a:solidFill>
                        <a:latin typeface="Cambria Math" panose="02040503050406030204" pitchFamily="18" charset="0"/>
                        <a:ea typeface="Calibri" pitchFamily="34" charset="-122"/>
                        <a:cs typeface="Calibri" pitchFamily="34" charset="-120"/>
                      </a:rPr>
                      <m:t> + </m:t>
                    </m:r>
                    <m:r>
                      <a:rPr lang="en-US" sz="1400" i="1" dirty="0" smtClean="0">
                        <a:solidFill>
                          <a:schemeClr val="accent1"/>
                        </a:solidFill>
                        <a:latin typeface="Cambria Math" panose="02040503050406030204" pitchFamily="18" charset="0"/>
                        <a:ea typeface="Calibri" pitchFamily="34" charset="-122"/>
                        <a:cs typeface="Calibri" pitchFamily="34" charset="-120"/>
                      </a:rPr>
                      <m:t>𝑐𝑙𝑒𝑎𝑟𝑎𝑛𝑐𝑒</m:t>
                    </m:r>
                  </m:oMath>
                </a14:m>
                <a:r>
                  <a:rPr lang="en-US" sz="1400" dirty="0">
                    <a:solidFill>
                      <a:srgbClr val="0D1B2A"/>
                    </a:solidFill>
                    <a:latin typeface="Calibri" pitchFamily="34" charset="0"/>
                    <a:ea typeface="Calibri" pitchFamily="34" charset="-122"/>
                    <a:cs typeface="Calibri" pitchFamily="34" charset="-120"/>
                  </a:rPr>
                  <a:t>) ponad krawędź</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Miejsca kontaktu</a:t>
                </a:r>
                <a:r>
                  <a:rPr lang="en-US" sz="1400" dirty="0">
                    <a:solidFill>
                      <a:srgbClr val="0D1B2A"/>
                    </a:solidFill>
                    <a:latin typeface="Calibri" pitchFamily="34" charset="0"/>
                    <a:ea typeface="Calibri" pitchFamily="34" charset="-122"/>
                    <a:cs typeface="Calibri" pitchFamily="34" charset="-120"/>
                  </a:rPr>
                  <a:t>: wyznaczane na środku głębokości stopnia z marginesem ≥ 2 cm od krawędzi</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Kolejność działań</a:t>
                </a:r>
                <a:r>
                  <a:rPr lang="en-US" sz="1400" dirty="0">
                    <a:solidFill>
                      <a:srgbClr val="0D1B2A"/>
                    </a:solidFill>
                    <a:latin typeface="Calibri" pitchFamily="34" charset="0"/>
                    <a:ea typeface="Calibri" pitchFamily="34" charset="-122"/>
                    <a:cs typeface="Calibri" pitchFamily="34" charset="-120"/>
                  </a:rPr>
                  <a:t>: wejście przodem – lewa noga wyżej → prawa noga dołącza, </a:t>
                </a:r>
                <a:r>
                  <a:rPr lang="pl-PL" sz="1400" dirty="0" smtClean="0">
                    <a:solidFill>
                      <a:srgbClr val="0D1B2A"/>
                    </a:solidFill>
                    <a:latin typeface="Calibri" pitchFamily="34" charset="0"/>
                    <a:ea typeface="Calibri" pitchFamily="34" charset="-122"/>
                    <a:cs typeface="Calibri" pitchFamily="34" charset="-120"/>
                  </a:rPr>
                  <a:t>powtórz;</a:t>
                </a:r>
                <a:endParaRPr lang="en-US" sz="1400" dirty="0"/>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Trajektoria stopy w powietrzu</a:t>
                </a:r>
                <a:r>
                  <a:rPr lang="en-US" sz="1400" dirty="0">
                    <a:solidFill>
                      <a:srgbClr val="0D1B2A"/>
                    </a:solidFill>
                    <a:latin typeface="Calibri" pitchFamily="34" charset="0"/>
                    <a:ea typeface="Calibri" pitchFamily="34" charset="-122"/>
                    <a:cs typeface="Calibri" pitchFamily="34" charset="-120"/>
                  </a:rPr>
                  <a:t>: krzywa beziera nad stopniem; </a:t>
                </a:r>
                <a:r>
                  <a:rPr lang="en-US" sz="1400" dirty="0" smtClean="0">
                    <a:solidFill>
                      <a:srgbClr val="0D1B2A"/>
                    </a:solidFill>
                    <a:latin typeface="Calibri" pitchFamily="34" charset="0"/>
                    <a:ea typeface="Calibri" pitchFamily="34" charset="-122"/>
                    <a:cs typeface="Calibri" pitchFamily="34" charset="-120"/>
                  </a:rPr>
                  <a:t>max</a:t>
                </a:r>
                <a:r>
                  <a:rPr lang="pl-PL" sz="1400" dirty="0" smtClean="0">
                    <a:solidFill>
                      <a:srgbClr val="0D1B2A"/>
                    </a:solidFill>
                    <a:latin typeface="Calibri" pitchFamily="34" charset="0"/>
                    <a:ea typeface="Calibri" pitchFamily="34" charset="-122"/>
                    <a:cs typeface="Calibri" pitchFamily="34" charset="-120"/>
                  </a:rPr>
                  <a:t>.</a:t>
                </a:r>
                <a:r>
                  <a:rPr lang="en-US" sz="1400" dirty="0" smtClean="0">
                    <a:solidFill>
                      <a:srgbClr val="0D1B2A"/>
                    </a:solidFill>
                    <a:latin typeface="Calibri" pitchFamily="34" charset="0"/>
                    <a:ea typeface="Calibri" pitchFamily="34" charset="-122"/>
                    <a:cs typeface="Calibri" pitchFamily="34" charset="-120"/>
                  </a:rPr>
                  <a:t> </a:t>
                </a:r>
                <a14:m>
                  <m:oMath xmlns:m="http://schemas.openxmlformats.org/officeDocument/2006/math">
                    <m:r>
                      <a:rPr lang="en-US" sz="1400" i="1" dirty="0" smtClean="0">
                        <a:solidFill>
                          <a:schemeClr val="accent1"/>
                        </a:solidFill>
                        <a:latin typeface="Cambria Math" panose="02040503050406030204" pitchFamily="18" charset="0"/>
                        <a:ea typeface="Calibri" pitchFamily="34" charset="-122"/>
                        <a:cs typeface="Calibri" pitchFamily="34" charset="-120"/>
                      </a:rPr>
                      <m:t>𝑤𝑦𝑠𝑜𝑘𝑜</m:t>
                    </m:r>
                    <m:r>
                      <a:rPr lang="en-US" sz="1400" i="1" dirty="0" smtClean="0">
                        <a:solidFill>
                          <a:schemeClr val="accent1"/>
                        </a:solidFill>
                        <a:latin typeface="Cambria Math" panose="02040503050406030204" pitchFamily="18" charset="0"/>
                        <a:ea typeface="Calibri" pitchFamily="34" charset="-122"/>
                        <a:cs typeface="Calibri" pitchFamily="34" charset="-120"/>
                      </a:rPr>
                      <m:t>ść = </m:t>
                    </m:r>
                    <m:sSub>
                      <m:sSubPr>
                        <m:ctrlPr>
                          <a:rPr lang="en-US" sz="1400" i="1" dirty="0" smtClean="0">
                            <a:solidFill>
                              <a:schemeClr val="accent1"/>
                            </a:solidFill>
                            <a:latin typeface="Cambria Math" panose="02040503050406030204" pitchFamily="18" charset="0"/>
                            <a:ea typeface="Calibri" pitchFamily="34" charset="-122"/>
                            <a:cs typeface="Calibri" pitchFamily="34" charset="-120"/>
                          </a:rPr>
                        </m:ctrlPr>
                      </m:sSubPr>
                      <m:e>
                        <m:r>
                          <a:rPr lang="en-US" sz="1400" i="1" dirty="0" smtClean="0">
                            <a:solidFill>
                              <a:schemeClr val="accent1"/>
                            </a:solidFill>
                            <a:latin typeface="Cambria Math" panose="02040503050406030204" pitchFamily="18" charset="0"/>
                            <a:ea typeface="Calibri" pitchFamily="34" charset="-122"/>
                            <a:cs typeface="Calibri" pitchFamily="34" charset="-120"/>
                          </a:rPr>
                          <m:t>h</m:t>
                        </m:r>
                      </m:e>
                      <m:sub>
                        <m:r>
                          <a:rPr lang="en-US" sz="1400" i="1" dirty="0" smtClean="0">
                            <a:solidFill>
                              <a:schemeClr val="accent1"/>
                            </a:solidFill>
                            <a:latin typeface="Cambria Math" panose="02040503050406030204" pitchFamily="18" charset="0"/>
                            <a:ea typeface="Calibri" pitchFamily="34" charset="-122"/>
                            <a:cs typeface="Calibri" pitchFamily="34" charset="-120"/>
                          </a:rPr>
                          <m:t>𝑠𝑡𝑒𝑝</m:t>
                        </m:r>
                      </m:sub>
                    </m:sSub>
                    <m:r>
                      <a:rPr lang="en-US" sz="1400" i="1" dirty="0" smtClean="0">
                        <a:solidFill>
                          <a:schemeClr val="accent1"/>
                        </a:solidFill>
                        <a:latin typeface="Cambria Math" panose="02040503050406030204" pitchFamily="18" charset="0"/>
                        <a:ea typeface="Calibri" pitchFamily="34" charset="-122"/>
                        <a:cs typeface="Calibri" pitchFamily="34" charset="-120"/>
                      </a:rPr>
                      <m:t>+ 5 </m:t>
                    </m:r>
                    <m:r>
                      <a:rPr lang="en-US" sz="1400" i="1" dirty="0" smtClean="0">
                        <a:solidFill>
                          <a:schemeClr val="accent1"/>
                        </a:solidFill>
                        <a:latin typeface="Cambria Math" panose="02040503050406030204" pitchFamily="18" charset="0"/>
                        <a:ea typeface="Calibri" pitchFamily="34" charset="-122"/>
                        <a:cs typeface="Calibri" pitchFamily="34" charset="-120"/>
                      </a:rPr>
                      <m:t>𝑐𝑚</m:t>
                    </m:r>
                  </m:oMath>
                </a14:m>
                <a:endParaRPr lang="en-US" sz="1400" dirty="0">
                  <a:solidFill>
                    <a:schemeClr val="accent1"/>
                  </a:solidFill>
                </a:endParaRPr>
              </a:p>
              <a:p>
                <a:pPr marL="144000" indent="-144000">
                  <a:spcAft>
                    <a:spcPts val="1200"/>
                  </a:spcAft>
                  <a:buSzPct val="100000"/>
                  <a:buChar char="•"/>
                </a:pPr>
                <a:r>
                  <a:rPr lang="en-US" sz="1400" b="1" dirty="0">
                    <a:solidFill>
                      <a:srgbClr val="0D1B2A"/>
                    </a:solidFill>
                    <a:latin typeface="Calibri" pitchFamily="34" charset="0"/>
                    <a:ea typeface="Calibri" pitchFamily="34" charset="-122"/>
                    <a:cs typeface="Calibri" pitchFamily="34" charset="-120"/>
                  </a:rPr>
                  <a:t>Kontrola ciała</a:t>
                </a:r>
                <a:r>
                  <a:rPr lang="en-US" sz="1400" dirty="0">
                    <a:solidFill>
                      <a:srgbClr val="0D1B2A"/>
                    </a:solidFill>
                    <a:latin typeface="Calibri" pitchFamily="34" charset="0"/>
                    <a:ea typeface="Calibri" pitchFamily="34" charset="-122"/>
                    <a:cs typeface="Calibri" pitchFamily="34" charset="-120"/>
                  </a:rPr>
                  <a:t>: tułów pochyla się nieznacznie do przodu przy wchodzeniu, do tyłu przy schodzeniu</a:t>
                </a:r>
                <a:endParaRPr lang="en-US" sz="1400" dirty="0"/>
              </a:p>
              <a:p>
                <a:pPr marL="144000" indent="-144000">
                  <a:spcAft>
                    <a:spcPts val="1200"/>
                  </a:spcAft>
                  <a:buSzPct val="100000"/>
                  <a:buChar char="•"/>
                </a:pPr>
                <a:r>
                  <a:rPr lang="pl-PL" sz="1400" b="1" dirty="0" smtClean="0">
                    <a:solidFill>
                      <a:srgbClr val="0D1B2A"/>
                    </a:solidFill>
                    <a:latin typeface="Calibri" pitchFamily="34" charset="0"/>
                    <a:ea typeface="Calibri" pitchFamily="34" charset="-122"/>
                    <a:cs typeface="Calibri" pitchFamily="34" charset="-120"/>
                  </a:rPr>
                  <a:t>Zabezpieczenie</a:t>
                </a:r>
                <a:r>
                  <a:rPr lang="pl-PL" sz="1400" dirty="0" smtClean="0">
                    <a:solidFill>
                      <a:srgbClr val="0D1B2A"/>
                    </a:solidFill>
                    <a:latin typeface="Calibri" pitchFamily="34" charset="0"/>
                    <a:ea typeface="Calibri" pitchFamily="34" charset="-122"/>
                    <a:cs typeface="Calibri" pitchFamily="34" charset="-120"/>
                  </a:rPr>
                  <a:t>: jeśli wysokość stopnia &gt; 25 cm lub brak</a:t>
                </a:r>
                <a:r>
                  <a:rPr lang="en-US" sz="1400" dirty="0" smtClean="0">
                    <a:solidFill>
                      <a:srgbClr val="0D1B2A"/>
                    </a:solidFill>
                    <a:latin typeface="Calibri" pitchFamily="34" charset="0"/>
                    <a:ea typeface="Calibri" pitchFamily="34" charset="-122"/>
                    <a:cs typeface="Calibri" pitchFamily="34" charset="-120"/>
                  </a:rPr>
                  <a:t> </a:t>
                </a:r>
                <a:r>
                  <a:rPr lang="pl-PL" sz="1400" dirty="0" smtClean="0">
                    <a:solidFill>
                      <a:srgbClr val="0D1B2A"/>
                    </a:solidFill>
                    <a:latin typeface="Calibri" pitchFamily="34" charset="0"/>
                    <a:ea typeface="Calibri" pitchFamily="34" charset="-122"/>
                    <a:cs typeface="Calibri" pitchFamily="34" charset="-120"/>
                  </a:rPr>
                  <a:t>miejsca kontaktu =</a:t>
                </a:r>
                <a:r>
                  <a:rPr lang="en-US" sz="1400" dirty="0" smtClean="0">
                    <a:solidFill>
                      <a:srgbClr val="0D1B2A"/>
                    </a:solidFill>
                    <a:latin typeface="Calibri" pitchFamily="34" charset="0"/>
                    <a:ea typeface="Calibri" pitchFamily="34" charset="-122"/>
                    <a:cs typeface="Calibri" pitchFamily="34" charset="-120"/>
                  </a:rPr>
                  <a:t> </a:t>
                </a:r>
                <a:r>
                  <a:rPr lang="en-US" sz="1400" dirty="0">
                    <a:solidFill>
                      <a:srgbClr val="0D1B2A"/>
                    </a:solidFill>
                    <a:latin typeface="Calibri" pitchFamily="34" charset="0"/>
                    <a:ea typeface="Calibri" pitchFamily="34" charset="-122"/>
                    <a:cs typeface="Calibri" pitchFamily="34" charset="-120"/>
                  </a:rPr>
                  <a:t>zatrzymaj misję</a:t>
                </a:r>
                <a:endParaRPr lang="en-US" sz="1400" dirty="0"/>
              </a:p>
            </p:txBody>
          </p:sp>
        </mc:Choice>
        <mc:Fallback>
          <p:sp>
            <p:nvSpPr>
              <p:cNvPr id="7" name="Text 5"/>
              <p:cNvSpPr>
                <a:spLocks noRot="1" noChangeAspect="1" noMove="1" noResize="1" noEditPoints="1" noAdjustHandles="1" noChangeArrowheads="1" noChangeShapeType="1" noTextEdit="1"/>
              </p:cNvSpPr>
              <p:nvPr/>
            </p:nvSpPr>
            <p:spPr>
              <a:xfrm>
                <a:off x="457200" y="1188720"/>
                <a:ext cx="8229600" cy="2501001"/>
              </a:xfrm>
              <a:prstGeom prst="rect">
                <a:avLst/>
              </a:prstGeom>
              <a:blipFill>
                <a:blip r:embed="rId3"/>
                <a:stretch>
                  <a:fillRect t="-1220" b="-3659"/>
                </a:stretch>
              </a:blipFill>
              <a:ln/>
            </p:spPr>
            <p:txBody>
              <a:bodyPr/>
              <a:lstStyle/>
              <a:p>
                <a:r>
                  <a:rPr lang="pl-PL">
                    <a:noFill/>
                  </a:rPr>
                  <a:t> </a:t>
                </a:r>
              </a:p>
            </p:txBody>
          </p:sp>
        </mc:Fallback>
      </mc:AlternateContent>
      <p:sp>
        <p:nvSpPr>
          <p:cNvPr id="8" name="Prostokąt 7"/>
          <p:cNvSpPr/>
          <p:nvPr/>
        </p:nvSpPr>
        <p:spPr>
          <a:xfrm>
            <a:off x="274320" y="3913184"/>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Schody wymagają planowania w przestrzeni 3D, ponieważ oprócz pozycji x i y trzeba uwzględnić wysokość kontaktu stopy. Robot musi wykryć poziome płaszczyzny stopni, oszacować ich wysokość i głębokość oraz wybrać bezpieczne punkty kontaktu. Stopa powinna lądować z marginesem od krawędzi, a trajektoria swing </a:t>
            </a:r>
            <a:r>
              <a:rPr lang="pl-PL" sz="1400" dirty="0" err="1">
                <a:solidFill>
                  <a:schemeClr val="bg1"/>
                </a:solidFill>
              </a:rPr>
              <a:t>foot</a:t>
            </a:r>
            <a:r>
              <a:rPr lang="pl-PL" sz="1400" dirty="0">
                <a:solidFill>
                  <a:schemeClr val="bg1"/>
                </a:solidFill>
              </a:rPr>
              <a:t> musi zapewnić odpowiedni </a:t>
            </a:r>
            <a:r>
              <a:rPr lang="pl-PL" sz="1400" dirty="0" err="1">
                <a:solidFill>
                  <a:schemeClr val="bg1"/>
                </a:solidFill>
              </a:rPr>
              <a:t>clearance</a:t>
            </a:r>
            <a:r>
              <a:rPr lang="pl-PL" sz="1400" dirty="0">
                <a:solidFill>
                  <a:schemeClr val="bg1"/>
                </a:solidFill>
              </a:rPr>
              <a:t> nad stopniem. Przy zbyt wysokim stopniu lub braku stabilnego miejsca kontaktu robot powinien zatrzymać misję zamiast próbować wykonać ryzykowny krok.</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794376" cy="361676"/>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Weryfikacja ZMP względem wieloboku podparcia</a:t>
            </a:r>
          </a:p>
        </p:txBody>
      </p:sp>
      <p:sp>
        <p:nvSpPr>
          <p:cNvPr id="6" name="Shape 4"/>
          <p:cNvSpPr/>
          <p:nvPr/>
        </p:nvSpPr>
        <p:spPr>
          <a:xfrm>
            <a:off x="274320" y="1005840"/>
            <a:ext cx="8661250" cy="3330836"/>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12753" y="1082931"/>
            <a:ext cx="8192511" cy="3025145"/>
          </a:xfrm>
          <a:prstGeom prst="rect">
            <a:avLst/>
          </a:prstGeom>
          <a:noFill/>
          <a:ln/>
        </p:spPr>
        <p:txBody>
          <a:bodyPr wrap="square" lIns="108000" tIns="0" rIns="36000" bIns="0" numCol="2" spcCol="72000" rtlCol="0" anchor="t">
            <a:noAutofit/>
          </a:bodyPr>
          <a:lstStyle/>
          <a:p>
            <a:pPr>
              <a:lnSpc>
                <a:spcPts val="800"/>
              </a:lnSpc>
            </a:pPr>
            <a:r>
              <a:rPr lang="pl-PL" sz="800" dirty="0">
                <a:solidFill>
                  <a:srgbClr val="C586C0"/>
                </a:solidFill>
                <a:latin typeface="Consolas" panose="020B0609020204030204" pitchFamily="49" charset="0"/>
              </a:rPr>
              <a:t>import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numpy</a:t>
            </a: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as</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endParaRPr lang="pl-PL" sz="800" dirty="0">
              <a:solidFill>
                <a:srgbClr val="CCCCCC"/>
              </a:solidFill>
              <a:latin typeface="Consolas" panose="020B0609020204030204" pitchFamily="49" charset="0"/>
            </a:endParaRPr>
          </a:p>
          <a:p>
            <a:pPr>
              <a:lnSpc>
                <a:spcPts val="800"/>
              </a:lnSpc>
            </a:pPr>
            <a:r>
              <a:rPr lang="pl-PL" sz="800" dirty="0">
                <a:solidFill>
                  <a:srgbClr val="C586C0"/>
                </a:solidFill>
                <a:latin typeface="Consolas" panose="020B0609020204030204" pitchFamily="49" charset="0"/>
              </a:rPr>
              <a:t>from</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scipy</a:t>
            </a:r>
            <a:r>
              <a:rPr lang="pl-PL" sz="800" dirty="0" err="1">
                <a:solidFill>
                  <a:srgbClr val="CCCCCC"/>
                </a:solidFill>
                <a:latin typeface="Consolas" panose="020B0609020204030204" pitchFamily="49" charset="0"/>
              </a:rPr>
              <a:t>.</a:t>
            </a:r>
            <a:r>
              <a:rPr lang="pl-PL" sz="800" dirty="0" err="1">
                <a:solidFill>
                  <a:srgbClr val="4EC9B0"/>
                </a:solidFill>
                <a:latin typeface="Consolas" panose="020B0609020204030204" pitchFamily="49" charset="0"/>
              </a:rPr>
              <a:t>spatial</a:t>
            </a: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import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ConvexHull</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r>
            <a:br>
              <a:rPr lang="pl-PL" sz="800" dirty="0">
                <a:solidFill>
                  <a:srgbClr val="CCCCCC"/>
                </a:solidFill>
                <a:latin typeface="Consolas" panose="020B0609020204030204" pitchFamily="49" charset="0"/>
              </a:rPr>
            </a:br>
            <a:r>
              <a:rPr lang="pl-PL" sz="800" dirty="0">
                <a:solidFill>
                  <a:srgbClr val="569CD6"/>
                </a:solidFill>
                <a:latin typeface="Consolas" panose="020B0609020204030204" pitchFamily="49" charset="0"/>
              </a:rPr>
              <a:t>def</a:t>
            </a:r>
            <a:r>
              <a:rPr lang="pl-PL" sz="800" dirty="0">
                <a:solidFill>
                  <a:srgbClr val="CCCCCC"/>
                </a:solidFill>
                <a:latin typeface="Consolas" panose="020B0609020204030204" pitchFamily="49" charset="0"/>
              </a:rPr>
              <a:t> </a:t>
            </a:r>
            <a:r>
              <a:rPr lang="pl-PL" sz="800" dirty="0" err="1">
                <a:solidFill>
                  <a:srgbClr val="DCDCAA"/>
                </a:solidFill>
                <a:latin typeface="Consolas" panose="020B0609020204030204" pitchFamily="49" charset="0"/>
              </a:rPr>
              <a:t>build_support_polygon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active_feet</a:t>
            </a:r>
            <a:r>
              <a:rPr lang="pl-PL" sz="800" dirty="0">
                <a:solidFill>
                  <a:srgbClr val="CCCCCC"/>
                </a:solidFill>
                <a:latin typeface="Consolas" panose="020B0609020204030204" pitchFamily="49" charset="0"/>
              </a:rPr>
              <a:t>: </a:t>
            </a:r>
            <a:r>
              <a:rPr lang="pl-PL" sz="800" dirty="0">
                <a:solidFill>
                  <a:srgbClr val="4EC9B0"/>
                </a:solidFill>
                <a:latin typeface="Consolas" panose="020B0609020204030204" pitchFamily="49" charset="0"/>
              </a:rPr>
              <a:t>list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foot_len</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0.24</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foot_width</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0.10</a:t>
            </a:r>
            <a:r>
              <a:rPr lang="pl-PL" sz="800" dirty="0">
                <a:solidFill>
                  <a:srgbClr val="CCCCCC"/>
                </a:solidFill>
                <a:latin typeface="Consolas" panose="020B0609020204030204" pitchFamily="49" charset="0"/>
              </a:rPr>
              <a:t>) -&gt;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4EC9B0"/>
                </a:solidFill>
                <a:latin typeface="Consolas" panose="020B0609020204030204" pitchFamily="49" charset="0"/>
              </a:rPr>
              <a:t>ndarray</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Buduje wielobok podparcia jako wypukła obwiednie stóp.</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a:t>
            </a:r>
            <a:r>
              <a:rPr lang="pl-PL" sz="800" dirty="0" err="1">
                <a:solidFill>
                  <a:srgbClr val="CE9178"/>
                </a:solidFill>
                <a:latin typeface="Consolas" panose="020B0609020204030204" pitchFamily="49" charset="0"/>
              </a:rPr>
              <a:t>active_feet</a:t>
            </a:r>
            <a:r>
              <a:rPr lang="pl-PL" sz="800" dirty="0">
                <a:solidFill>
                  <a:srgbClr val="CE9178"/>
                </a:solidFill>
                <a:latin typeface="Consolas" panose="020B0609020204030204" pitchFamily="49" charset="0"/>
              </a:rPr>
              <a:t>: lista {'x','y','</a:t>
            </a:r>
            <a:r>
              <a:rPr lang="pl-PL" sz="800" dirty="0" err="1">
                <a:solidFill>
                  <a:srgbClr val="CE9178"/>
                </a:solidFill>
                <a:latin typeface="Consolas" panose="020B0609020204030204" pitchFamily="49" charset="0"/>
              </a:rPr>
              <a:t>yaw</a:t>
            </a:r>
            <a:r>
              <a:rPr lang="pl-PL" sz="800" dirty="0">
                <a:solidFill>
                  <a:srgbClr val="CE9178"/>
                </a:solidFill>
                <a:latin typeface="Consolas" panose="020B0609020204030204" pitchFamily="49" charset="0"/>
              </a:rPr>
              <a:t>'} - aktualnie oparte stopy</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Zwraca </a:t>
            </a:r>
            <a:r>
              <a:rPr lang="pl-PL" sz="800" dirty="0" err="1">
                <a:solidFill>
                  <a:srgbClr val="CE9178"/>
                </a:solidFill>
                <a:latin typeface="Consolas" panose="020B0609020204030204" pitchFamily="49" charset="0"/>
              </a:rPr>
              <a:t>ndarray</a:t>
            </a:r>
            <a:r>
              <a:rPr lang="pl-PL" sz="800" dirty="0">
                <a:solidFill>
                  <a:srgbClr val="CE9178"/>
                </a:solidFill>
                <a:latin typeface="Consolas" panose="020B0609020204030204" pitchFamily="49" charset="0"/>
              </a:rPr>
              <a:t> (N, 2) wierzchołków wieloboku.</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corners</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for</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f</a:t>
            </a: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in</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active_feet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cx</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cy</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yaw</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f</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'x'</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f</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'y'</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f</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yaw</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6A9955"/>
                </a:solidFill>
                <a:latin typeface="Consolas" panose="020B0609020204030204" pitchFamily="49" charset="0"/>
              </a:rPr>
              <a:t># 4 </a:t>
            </a:r>
            <a:r>
              <a:rPr lang="pl-PL" sz="800" dirty="0" err="1">
                <a:solidFill>
                  <a:srgbClr val="6A9955"/>
                </a:solidFill>
                <a:latin typeface="Consolas" panose="020B0609020204030204" pitchFamily="49" charset="0"/>
              </a:rPr>
              <a:t>naroza</a:t>
            </a:r>
            <a:r>
              <a:rPr lang="pl-PL" sz="800" dirty="0">
                <a:solidFill>
                  <a:srgbClr val="6A9955"/>
                </a:solidFill>
                <a:latin typeface="Consolas" panose="020B0609020204030204" pitchFamily="49" charset="0"/>
              </a:rPr>
              <a:t> </a:t>
            </a:r>
            <a:r>
              <a:rPr lang="pl-PL" sz="800" dirty="0" err="1">
                <a:solidFill>
                  <a:srgbClr val="6A9955"/>
                </a:solidFill>
                <a:latin typeface="Consolas" panose="020B0609020204030204" pitchFamily="49" charset="0"/>
              </a:rPr>
              <a:t>kazdej</a:t>
            </a:r>
            <a:r>
              <a:rPr lang="pl-PL" sz="800" dirty="0">
                <a:solidFill>
                  <a:srgbClr val="6A9955"/>
                </a:solidFill>
                <a:latin typeface="Consolas" panose="020B0609020204030204" pitchFamily="49" charset="0"/>
              </a:rPr>
              <a:t> stopy (prostokąt obrócony o </a:t>
            </a:r>
            <a:r>
              <a:rPr lang="pl-PL" sz="800" dirty="0" err="1">
                <a:solidFill>
                  <a:srgbClr val="6A9955"/>
                </a:solidFill>
                <a:latin typeface="Consolas" panose="020B0609020204030204" pitchFamily="49" charset="0"/>
              </a:rPr>
              <a:t>yaw</a:t>
            </a:r>
            <a:r>
              <a:rPr lang="pl-PL" sz="800" dirty="0">
                <a:solidFill>
                  <a:srgbClr val="6A9955"/>
                </a:solidFill>
                <a:latin typeface="Consolas" panose="020B0609020204030204" pitchFamily="49" charset="0"/>
              </a:rPr>
              <a:t>)</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for</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dx</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dy</a:t>
            </a: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in</a:t>
            </a:r>
            <a:r>
              <a:rPr lang="pl-PL" sz="800" dirty="0">
                <a:solidFill>
                  <a:srgbClr val="CCCCCC"/>
                </a:solidFill>
                <a:latin typeface="Consolas" panose="020B0609020204030204" pitchFamily="49" charset="0"/>
              </a:rPr>
              <a:t> [( </a:t>
            </a:r>
            <a:r>
              <a:rPr lang="pl-PL" sz="800" dirty="0" err="1">
                <a:solidFill>
                  <a:srgbClr val="9CDCFE"/>
                </a:solidFill>
                <a:latin typeface="Consolas" panose="020B0609020204030204" pitchFamily="49" charset="0"/>
              </a:rPr>
              <a:t>foot_len</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foot_width</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 </a:t>
            </a:r>
            <a:r>
              <a:rPr lang="pl-PL" sz="800" dirty="0" err="1">
                <a:solidFill>
                  <a:srgbClr val="9CDCFE"/>
                </a:solidFill>
                <a:latin typeface="Consolas" panose="020B0609020204030204" pitchFamily="49" charset="0"/>
              </a:rPr>
              <a:t>foot_len</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err="1">
                <a:solidFill>
                  <a:srgbClr val="9CDCFE"/>
                </a:solidFill>
                <a:latin typeface="Consolas" panose="020B0609020204030204" pitchFamily="49" charset="0"/>
              </a:rPr>
              <a:t>foot_width</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err="1">
                <a:solidFill>
                  <a:srgbClr val="9CDCFE"/>
                </a:solidFill>
                <a:latin typeface="Consolas" panose="020B0609020204030204" pitchFamily="49" charset="0"/>
              </a:rPr>
              <a:t>foot_len</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foot_width</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err="1">
                <a:solidFill>
                  <a:srgbClr val="9CDCFE"/>
                </a:solidFill>
                <a:latin typeface="Consolas" panose="020B0609020204030204" pitchFamily="49" charset="0"/>
              </a:rPr>
              <a:t>foot_len</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err="1">
                <a:solidFill>
                  <a:srgbClr val="9CDCFE"/>
                </a:solidFill>
                <a:latin typeface="Consolas" panose="020B0609020204030204" pitchFamily="49" charset="0"/>
              </a:rPr>
              <a:t>foot_width</a:t>
            </a:r>
            <a:r>
              <a:rPr lang="pl-PL" sz="800" dirty="0">
                <a:solidFill>
                  <a:srgbClr val="D4D4D4"/>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rx</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cx</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dx</a:t>
            </a:r>
            <a:r>
              <a:rPr lang="pl-PL" sz="800" dirty="0">
                <a:solidFill>
                  <a:srgbClr val="D4D4D4"/>
                </a:solidFill>
                <a:latin typeface="Consolas" panose="020B0609020204030204" pitchFamily="49" charset="0"/>
              </a:rPr>
              <a:t>*</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cos</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yaw</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dy</a:t>
            </a:r>
            <a:r>
              <a:rPr lang="pl-PL" sz="800" dirty="0">
                <a:solidFill>
                  <a:srgbClr val="D4D4D4"/>
                </a:solidFill>
                <a:latin typeface="Consolas" panose="020B0609020204030204" pitchFamily="49" charset="0"/>
              </a:rPr>
              <a:t>*</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sin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yaw</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ry</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cy</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dx</a:t>
            </a:r>
            <a:r>
              <a:rPr lang="pl-PL" sz="800" dirty="0">
                <a:solidFill>
                  <a:srgbClr val="D4D4D4"/>
                </a:solidFill>
                <a:latin typeface="Consolas" panose="020B0609020204030204" pitchFamily="49" charset="0"/>
              </a:rPr>
              <a:t>*</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sin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yaw</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dy</a:t>
            </a:r>
            <a:r>
              <a:rPr lang="pl-PL" sz="800" dirty="0">
                <a:solidFill>
                  <a:srgbClr val="D4D4D4"/>
                </a:solidFill>
                <a:latin typeface="Consolas" panose="020B0609020204030204" pitchFamily="49" charset="0"/>
              </a:rPr>
              <a:t>*</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cos</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yaw</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corners</a:t>
            </a:r>
            <a:r>
              <a:rPr lang="pl-PL" sz="800" dirty="0" err="1">
                <a:solidFill>
                  <a:srgbClr val="CCCCCC"/>
                </a:solidFill>
                <a:latin typeface="Consolas" panose="020B0609020204030204" pitchFamily="49" charset="0"/>
              </a:rPr>
              <a:t>.</a:t>
            </a:r>
            <a:r>
              <a:rPr lang="pl-PL" sz="800" dirty="0" err="1">
                <a:solidFill>
                  <a:srgbClr val="DCDCAA"/>
                </a:solidFill>
                <a:latin typeface="Consolas" panose="020B0609020204030204" pitchFamily="49" charset="0"/>
              </a:rPr>
              <a:t>append</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rx</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ry</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pts</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DCDCAA"/>
                </a:solidFill>
                <a:latin typeface="Consolas" panose="020B0609020204030204" pitchFamily="49" charset="0"/>
              </a:rPr>
              <a:t>array</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corners</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hull</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ConvexHull</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pts</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return</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pts</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hull</a:t>
            </a:r>
            <a:r>
              <a:rPr lang="pl-PL" sz="800" dirty="0" err="1">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vertices</a:t>
            </a:r>
            <a:r>
              <a:rPr lang="pl-PL" sz="800" dirty="0">
                <a:solidFill>
                  <a:srgbClr val="CCCCCC"/>
                </a:solidFill>
                <a:latin typeface="Consolas" panose="020B0609020204030204" pitchFamily="49" charset="0"/>
              </a:rPr>
              <a:t>]   </a:t>
            </a:r>
            <a:r>
              <a:rPr lang="pl-PL" sz="800" dirty="0">
                <a:solidFill>
                  <a:srgbClr val="6A9955"/>
                </a:solidFill>
                <a:latin typeface="Consolas" panose="020B0609020204030204" pitchFamily="49" charset="0"/>
              </a:rPr>
              <a:t># </a:t>
            </a:r>
            <a:r>
              <a:rPr lang="pl-PL" sz="800" dirty="0" err="1">
                <a:solidFill>
                  <a:srgbClr val="6A9955"/>
                </a:solidFill>
                <a:latin typeface="Consolas" panose="020B0609020204030204" pitchFamily="49" charset="0"/>
              </a:rPr>
              <a:t>wierzcholki</a:t>
            </a:r>
            <a:r>
              <a:rPr lang="pl-PL" sz="800" dirty="0">
                <a:solidFill>
                  <a:srgbClr val="6A9955"/>
                </a:solidFill>
                <a:latin typeface="Consolas" panose="020B0609020204030204" pitchFamily="49" charset="0"/>
              </a:rPr>
              <a:t> wieloboku</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r>
            <a:br>
              <a:rPr lang="pl-PL" sz="800" dirty="0">
                <a:solidFill>
                  <a:srgbClr val="CCCCCC"/>
                </a:solidFill>
                <a:latin typeface="Consolas" panose="020B0609020204030204" pitchFamily="49" charset="0"/>
              </a:rPr>
            </a:br>
            <a:r>
              <a:rPr lang="pl-PL" sz="800" dirty="0">
                <a:solidFill>
                  <a:srgbClr val="569CD6"/>
                </a:solidFill>
                <a:latin typeface="Consolas" panose="020B0609020204030204" pitchFamily="49" charset="0"/>
              </a:rPr>
              <a:t>def</a:t>
            </a:r>
            <a:r>
              <a:rPr lang="pl-PL" sz="800" dirty="0">
                <a:solidFill>
                  <a:srgbClr val="CCCCCC"/>
                </a:solidFill>
                <a:latin typeface="Consolas" panose="020B0609020204030204" pitchFamily="49" charset="0"/>
              </a:rPr>
              <a:t> </a:t>
            </a:r>
            <a:r>
              <a:rPr lang="pl-PL" sz="800" dirty="0" err="1">
                <a:solidFill>
                  <a:srgbClr val="DCDCAA"/>
                </a:solidFill>
                <a:latin typeface="Consolas" panose="020B0609020204030204" pitchFamily="49" charset="0"/>
              </a:rPr>
              <a:t>zmp_margin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zmp</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4EC9B0"/>
                </a:solidFill>
                <a:latin typeface="Consolas" panose="020B0609020204030204" pitchFamily="49" charset="0"/>
              </a:rPr>
              <a:t>ndarray</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support_polygon</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4EC9B0"/>
                </a:solidFill>
                <a:latin typeface="Consolas" panose="020B0609020204030204" pitchFamily="49" charset="0"/>
              </a:rPr>
              <a:t>ndarray</a:t>
            </a:r>
            <a:r>
              <a:rPr lang="pl-PL" sz="800" dirty="0">
                <a:solidFill>
                  <a:srgbClr val="CCCCCC"/>
                </a:solidFill>
                <a:latin typeface="Consolas" panose="020B0609020204030204" pitchFamily="49" charset="0"/>
              </a:rPr>
              <a:t>) -&gt;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Oblicza minimalna odległość ZMP od krawędzi wieloboku [m].</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Wartość ujemna = ZMP poza wielobokiem (utrata równowagi!).</a:t>
            </a:r>
            <a:endParaRPr lang="pl-PL" sz="800" dirty="0">
              <a:solidFill>
                <a:srgbClr val="CCCCCC"/>
              </a:solidFill>
              <a:latin typeface="Consolas" panose="020B0609020204030204" pitchFamily="49" charset="0"/>
            </a:endParaRPr>
          </a:p>
          <a:p>
            <a:pPr>
              <a:lnSpc>
                <a:spcPts val="800"/>
              </a:lnSpc>
            </a:pPr>
            <a:r>
              <a:rPr lang="pl-PL" sz="800" dirty="0">
                <a:solidFill>
                  <a:srgbClr val="CE9178"/>
                </a:solidFill>
                <a:latin typeface="Consolas" panose="020B0609020204030204" pitchFamily="49" charset="0"/>
              </a:rPr>
              <a:t>    """</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n</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len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support_polygon</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min_dist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inf</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for</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i</a:t>
            </a: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in</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range</a:t>
            </a:r>
            <a:r>
              <a:rPr lang="pl-PL" sz="800" dirty="0">
                <a:solidFill>
                  <a:srgbClr val="CCCCCC"/>
                </a:solidFill>
                <a:latin typeface="Consolas" panose="020B0609020204030204" pitchFamily="49" charset="0"/>
              </a:rPr>
              <a:t>(</a:t>
            </a:r>
            <a:r>
              <a:rPr lang="pl-PL" sz="800" dirty="0">
                <a:solidFill>
                  <a:srgbClr val="9CDCFE"/>
                </a:solidFill>
                <a:latin typeface="Consolas" panose="020B0609020204030204" pitchFamily="49" charset="0"/>
              </a:rPr>
              <a:t>n</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p1</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support_polygon</a:t>
            </a:r>
            <a:r>
              <a:rPr lang="pl-PL" sz="800" dirty="0">
                <a:solidFill>
                  <a:srgbClr val="CCCCCC"/>
                </a:solidFill>
                <a:latin typeface="Consolas" panose="020B0609020204030204" pitchFamily="49" charset="0"/>
              </a:rPr>
              <a:t>[</a:t>
            </a:r>
            <a:r>
              <a:rPr lang="pl-PL" sz="800" dirty="0">
                <a:solidFill>
                  <a:srgbClr val="9CDCFE"/>
                </a:solidFill>
                <a:latin typeface="Consolas" panose="020B0609020204030204" pitchFamily="49" charset="0"/>
              </a:rPr>
              <a:t>i</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p2</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support_polygon</a:t>
            </a:r>
            <a:r>
              <a:rPr lang="pl-PL" sz="800" dirty="0">
                <a:solidFill>
                  <a:srgbClr val="CCCCCC"/>
                </a:solidFill>
                <a:latin typeface="Consolas" panose="020B0609020204030204" pitchFamily="49" charset="0"/>
              </a:rPr>
              <a:t>[(</a:t>
            </a:r>
            <a:r>
              <a:rPr lang="pl-PL" sz="800" dirty="0">
                <a:solidFill>
                  <a:srgbClr val="9CDCFE"/>
                </a:solidFill>
                <a:latin typeface="Consolas" panose="020B0609020204030204" pitchFamily="49" charset="0"/>
              </a:rPr>
              <a:t>i</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1</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n</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edge</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p2</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p1</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normal</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DCDCAA"/>
                </a:solidFill>
                <a:latin typeface="Consolas" panose="020B0609020204030204" pitchFamily="49" charset="0"/>
              </a:rPr>
              <a:t>array</a:t>
            </a:r>
            <a:r>
              <a:rPr lang="pl-PL" sz="800" dirty="0">
                <a:solidFill>
                  <a:srgbClr val="CCCCCC"/>
                </a:solidFill>
                <a:latin typeface="Consolas" panose="020B0609020204030204" pitchFamily="49" charset="0"/>
              </a:rPr>
              <a:t>([</a:t>
            </a:r>
            <a:r>
              <a:rPr lang="pl-PL" sz="800" dirty="0">
                <a:solidFill>
                  <a:srgbClr val="D4D4D4"/>
                </a:solidFill>
                <a:latin typeface="Consolas" panose="020B0609020204030204" pitchFamily="49" charset="0"/>
              </a:rPr>
              <a:t>-</a:t>
            </a:r>
            <a:r>
              <a:rPr lang="pl-PL" sz="800" dirty="0" err="1">
                <a:solidFill>
                  <a:srgbClr val="9CDCFE"/>
                </a:solidFill>
                <a:latin typeface="Consolas" panose="020B0609020204030204" pitchFamily="49" charset="0"/>
              </a:rPr>
              <a:t>edge</a:t>
            </a:r>
            <a:r>
              <a:rPr lang="pl-PL" sz="800" dirty="0">
                <a:solidFill>
                  <a:srgbClr val="CCCCCC"/>
                </a:solidFill>
                <a:latin typeface="Consolas" panose="020B0609020204030204" pitchFamily="49" charset="0"/>
              </a:rPr>
              <a:t>[</a:t>
            </a:r>
            <a:r>
              <a:rPr lang="pl-PL" sz="800" dirty="0">
                <a:solidFill>
                  <a:srgbClr val="B5CEA8"/>
                </a:solidFill>
                <a:latin typeface="Consolas" panose="020B0609020204030204" pitchFamily="49" charset="0"/>
              </a:rPr>
              <a:t>1</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edge</a:t>
            </a:r>
            <a:r>
              <a:rPr lang="pl-PL" sz="800" dirty="0">
                <a:solidFill>
                  <a:srgbClr val="CCCCCC"/>
                </a:solidFill>
                <a:latin typeface="Consolas" panose="020B0609020204030204" pitchFamily="49" charset="0"/>
              </a:rPr>
              <a:t>[</a:t>
            </a:r>
            <a:r>
              <a:rPr lang="pl-PL" sz="800" dirty="0">
                <a:solidFill>
                  <a:srgbClr val="B5CEA8"/>
                </a:solidFill>
                <a:latin typeface="Consolas" panose="020B0609020204030204" pitchFamily="49" charset="0"/>
              </a:rPr>
              <a:t>0</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normal</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4EC9B0"/>
                </a:solidFill>
                <a:latin typeface="Consolas" panose="020B0609020204030204" pitchFamily="49" charset="0"/>
              </a:rPr>
              <a:t>linalg</a:t>
            </a:r>
            <a:r>
              <a:rPr lang="pl-PL" sz="800" dirty="0" err="1">
                <a:solidFill>
                  <a:srgbClr val="CCCCCC"/>
                </a:solidFill>
                <a:latin typeface="Consolas" panose="020B0609020204030204" pitchFamily="49" charset="0"/>
              </a:rPr>
              <a:t>.</a:t>
            </a:r>
            <a:r>
              <a:rPr lang="pl-PL" sz="800" dirty="0" err="1">
                <a:solidFill>
                  <a:srgbClr val="DCDCAA"/>
                </a:solidFill>
                <a:latin typeface="Consolas" panose="020B0609020204030204" pitchFamily="49" charset="0"/>
              </a:rPr>
              <a:t>norm</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normal</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1e-9</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d</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4EC9B0"/>
                </a:solidFill>
                <a:latin typeface="Consolas" panose="020B0609020204030204" pitchFamily="49" charset="0"/>
              </a:rPr>
              <a:t>np</a:t>
            </a:r>
            <a:r>
              <a:rPr lang="pl-PL" sz="800" dirty="0">
                <a:solidFill>
                  <a:srgbClr val="CCCCCC"/>
                </a:solidFill>
                <a:latin typeface="Consolas" panose="020B0609020204030204" pitchFamily="49" charset="0"/>
              </a:rPr>
              <a:t>.</a:t>
            </a:r>
            <a:r>
              <a:rPr lang="pl-PL" sz="800" dirty="0">
                <a:solidFill>
                  <a:srgbClr val="DCDCAA"/>
                </a:solidFill>
                <a:latin typeface="Consolas" panose="020B0609020204030204" pitchFamily="49" charset="0"/>
              </a:rPr>
              <a:t>dot</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zmp</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p1</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normal</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min_dist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min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min_dist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d</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return</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min_dist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r>
            <a:br>
              <a:rPr lang="pl-PL" sz="800" dirty="0">
                <a:solidFill>
                  <a:srgbClr val="CCCCCC"/>
                </a:solidFill>
                <a:latin typeface="Consolas" panose="020B0609020204030204" pitchFamily="49" charset="0"/>
              </a:rPr>
            </a:br>
            <a:r>
              <a:rPr lang="pl-PL" sz="800" dirty="0">
                <a:solidFill>
                  <a:srgbClr val="569CD6"/>
                </a:solidFill>
                <a:latin typeface="Consolas" panose="020B0609020204030204" pitchFamily="49" charset="0"/>
              </a:rPr>
              <a:t>def</a:t>
            </a:r>
            <a:r>
              <a:rPr lang="pl-PL" sz="800" dirty="0">
                <a:solidFill>
                  <a:srgbClr val="CCCCCC"/>
                </a:solidFill>
                <a:latin typeface="Consolas" panose="020B0609020204030204" pitchFamily="49" charset="0"/>
              </a:rPr>
              <a:t> </a:t>
            </a:r>
            <a:r>
              <a:rPr lang="pl-PL" sz="800" dirty="0" err="1">
                <a:solidFill>
                  <a:srgbClr val="DCDCAA"/>
                </a:solidFill>
                <a:latin typeface="Consolas" panose="020B0609020204030204" pitchFamily="49" charset="0"/>
              </a:rPr>
              <a:t>verify_com_trajectory</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traj</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4EC9B0"/>
                </a:solidFill>
                <a:latin typeface="Consolas" panose="020B0609020204030204" pitchFamily="49" charset="0"/>
              </a:rPr>
              <a:t>ndarray</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footsteps</a:t>
            </a:r>
            <a:r>
              <a:rPr lang="pl-PL" sz="800" dirty="0">
                <a:solidFill>
                  <a:srgbClr val="CCCCCC"/>
                </a:solidFill>
                <a:latin typeface="Consolas" panose="020B0609020204030204" pitchFamily="49" charset="0"/>
              </a:rPr>
              <a:t>: </a:t>
            </a:r>
            <a:r>
              <a:rPr lang="pl-PL" sz="800" dirty="0">
                <a:solidFill>
                  <a:srgbClr val="4EC9B0"/>
                </a:solidFill>
                <a:latin typeface="Consolas" panose="020B0609020204030204" pitchFamily="49" charset="0"/>
              </a:rPr>
              <a:t>list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com_height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0.85</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g</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9.81</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margin_req</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0.02</a:t>
            </a:r>
            <a:r>
              <a:rPr lang="pl-PL" sz="800" dirty="0">
                <a:solidFill>
                  <a:srgbClr val="CCCCCC"/>
                </a:solidFill>
                <a:latin typeface="Consolas" panose="020B0609020204030204" pitchFamily="49" charset="0"/>
              </a:rPr>
              <a:t>) -&gt; </a:t>
            </a:r>
            <a:r>
              <a:rPr lang="pl-PL" sz="800" dirty="0" err="1">
                <a:solidFill>
                  <a:srgbClr val="4EC9B0"/>
                </a:solidFill>
                <a:latin typeface="Consolas" panose="020B0609020204030204" pitchFamily="49" charset="0"/>
              </a:rPr>
              <a:t>dict</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"""Weryfikuje trajektorie </a:t>
            </a:r>
            <a:r>
              <a:rPr lang="pl-PL" sz="800" dirty="0" err="1">
                <a:solidFill>
                  <a:srgbClr val="CE9178"/>
                </a:solidFill>
                <a:latin typeface="Consolas" panose="020B0609020204030204" pitchFamily="49" charset="0"/>
              </a:rPr>
              <a:t>CoM</a:t>
            </a:r>
            <a:r>
              <a:rPr lang="pl-PL" sz="800" dirty="0">
                <a:solidFill>
                  <a:srgbClr val="CE9178"/>
                </a:solidFill>
                <a:latin typeface="Consolas" panose="020B0609020204030204" pitchFamily="49" charset="0"/>
              </a:rPr>
              <a:t>: oblicza ZMP i sprawdza margines."""</a:t>
            </a:r>
            <a:r>
              <a:rPr lang="pl-PL" sz="800" dirty="0">
                <a:solidFill>
                  <a:srgbClr val="CCCCCC"/>
                </a:solidFill>
                <a:latin typeface="Consolas" panose="020B0609020204030204" pitchFamily="49" charset="0"/>
              </a:rPr>
              <a:t>    </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results</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'ok'</a:t>
            </a:r>
            <a:r>
              <a:rPr lang="pl-PL" sz="800" dirty="0">
                <a:solidFill>
                  <a:srgbClr val="CCCCCC"/>
                </a:solidFill>
                <a:latin typeface="Consolas" panose="020B0609020204030204" pitchFamily="49" charset="0"/>
              </a:rPr>
              <a:t>: </a:t>
            </a:r>
            <a:r>
              <a:rPr lang="pl-PL" sz="800" dirty="0">
                <a:solidFill>
                  <a:srgbClr val="4FC1FF"/>
                </a:solidFill>
                <a:latin typeface="Consolas" panose="020B0609020204030204" pitchFamily="49" charset="0"/>
              </a:rPr>
              <a:t>True</a:t>
            </a: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min_margin</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float</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inf</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violations</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 []}</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active</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footsteps</a:t>
            </a:r>
            <a:r>
              <a:rPr lang="pl-PL" sz="800" dirty="0">
                <a:solidFill>
                  <a:srgbClr val="CCCCCC"/>
                </a:solidFill>
                <a:latin typeface="Consolas" panose="020B0609020204030204" pitchFamily="49" charset="0"/>
              </a:rPr>
              <a:t>[:</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 </a:t>
            </a:r>
            <a:r>
              <a:rPr lang="pl-PL" sz="800" dirty="0" err="1">
                <a:solidFill>
                  <a:srgbClr val="C586C0"/>
                </a:solidFill>
                <a:latin typeface="Consolas" panose="020B0609020204030204" pitchFamily="49" charset="0"/>
              </a:rPr>
              <a:t>if</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len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footsteps</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&gt;=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2</a:t>
            </a:r>
            <a:r>
              <a:rPr lang="pl-PL" sz="800" dirty="0">
                <a:solidFill>
                  <a:srgbClr val="CCCCCC"/>
                </a:solidFill>
                <a:latin typeface="Consolas" panose="020B0609020204030204" pitchFamily="49" charset="0"/>
              </a:rPr>
              <a:t> </a:t>
            </a:r>
            <a:r>
              <a:rPr lang="pl-PL" sz="800" dirty="0" err="1">
                <a:solidFill>
                  <a:srgbClr val="C586C0"/>
                </a:solidFill>
                <a:latin typeface="Consolas" panose="020B0609020204030204" pitchFamily="49" charset="0"/>
              </a:rPr>
              <a:t>else</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footsteps</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polygon</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DCDCAA"/>
                </a:solidFill>
                <a:latin typeface="Consolas" panose="020B0609020204030204" pitchFamily="49" charset="0"/>
              </a:rPr>
              <a:t>build_support_polygon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active</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for</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row</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in</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traj</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x</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y</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vx</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vy</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row</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ax</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DCDCAA"/>
                </a:solidFill>
                <a:latin typeface="Consolas" panose="020B0609020204030204" pitchFamily="49" charset="0"/>
              </a:rPr>
              <a:t>gradient</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vx</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t</a:t>
            </a:r>
            <a:r>
              <a:rPr lang="pl-PL" sz="800" dirty="0">
                <a:solidFill>
                  <a:srgbClr val="CCCCCC"/>
                </a:solidFill>
                <a:latin typeface="Consolas" panose="020B0609020204030204" pitchFamily="49" charset="0"/>
              </a:rPr>
              <a:t>])[</a:t>
            </a:r>
            <a:r>
              <a:rPr lang="pl-PL" sz="800" dirty="0">
                <a:solidFill>
                  <a:srgbClr val="B5CEA8"/>
                </a:solidFill>
                <a:latin typeface="Consolas" panose="020B0609020204030204" pitchFamily="49" charset="0"/>
              </a:rPr>
              <a:t>0</a:t>
            </a:r>
            <a:r>
              <a:rPr lang="pl-PL" sz="800" dirty="0">
                <a:solidFill>
                  <a:srgbClr val="CCCCCC"/>
                </a:solidFill>
                <a:latin typeface="Consolas" panose="020B0609020204030204" pitchFamily="49" charset="0"/>
              </a:rPr>
              <a:t>] </a:t>
            </a:r>
            <a:r>
              <a:rPr lang="pl-PL" sz="800" dirty="0" err="1">
                <a:solidFill>
                  <a:srgbClr val="C586C0"/>
                </a:solidFill>
                <a:latin typeface="Consolas" panose="020B0609020204030204" pitchFamily="49" charset="0"/>
              </a:rPr>
              <a:t>if</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len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traj</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&gt;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1</a:t>
            </a:r>
            <a:r>
              <a:rPr lang="pl-PL" sz="800" dirty="0">
                <a:solidFill>
                  <a:srgbClr val="CCCCCC"/>
                </a:solidFill>
                <a:latin typeface="Consolas" panose="020B0609020204030204" pitchFamily="49" charset="0"/>
              </a:rPr>
              <a:t> </a:t>
            </a:r>
            <a:r>
              <a:rPr lang="pl-PL" sz="800" dirty="0" err="1">
                <a:solidFill>
                  <a:srgbClr val="C586C0"/>
                </a:solidFill>
                <a:latin typeface="Consolas" panose="020B0609020204030204" pitchFamily="49" charset="0"/>
              </a:rPr>
              <a:t>else</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0.0</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ay</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B5CEA8"/>
                </a:solidFill>
                <a:latin typeface="Consolas" panose="020B0609020204030204" pitchFamily="49" charset="0"/>
              </a:rPr>
              <a:t>0.0</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zmp_x</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x</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com_height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g</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ax</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zmp</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EC9B0"/>
                </a:solidFill>
                <a:latin typeface="Consolas" panose="020B0609020204030204" pitchFamily="49" charset="0"/>
              </a:rPr>
              <a:t>np</a:t>
            </a:r>
            <a:r>
              <a:rPr lang="pl-PL" sz="800" dirty="0" err="1">
                <a:solidFill>
                  <a:srgbClr val="CCCCCC"/>
                </a:solidFill>
                <a:latin typeface="Consolas" panose="020B0609020204030204" pitchFamily="49" charset="0"/>
              </a:rPr>
              <a:t>.</a:t>
            </a:r>
            <a:r>
              <a:rPr lang="pl-PL" sz="800" dirty="0" err="1">
                <a:solidFill>
                  <a:srgbClr val="DCDCAA"/>
                </a:solidFill>
                <a:latin typeface="Consolas" panose="020B0609020204030204" pitchFamily="49" charset="0"/>
              </a:rPr>
              <a:t>array</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zmp_x</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y</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m</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DCDCAA"/>
                </a:solidFill>
                <a:latin typeface="Consolas" panose="020B0609020204030204" pitchFamily="49" charset="0"/>
              </a:rPr>
              <a:t>zmp_margin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zmp</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polygon</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results</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min_margin</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DCDCAA"/>
                </a:solidFill>
                <a:latin typeface="Consolas" panose="020B0609020204030204" pitchFamily="49" charset="0"/>
              </a:rPr>
              <a:t>min</a:t>
            </a:r>
            <a:r>
              <a:rPr lang="pl-PL" sz="800" dirty="0">
                <a:solidFill>
                  <a:srgbClr val="CCCCCC"/>
                </a:solidFill>
                <a:latin typeface="Consolas" panose="020B0609020204030204" pitchFamily="49" charset="0"/>
              </a:rPr>
              <a:t>(</a:t>
            </a:r>
            <a:r>
              <a:rPr lang="pl-PL" sz="800" dirty="0" err="1">
                <a:solidFill>
                  <a:srgbClr val="9CDCFE"/>
                </a:solidFill>
                <a:latin typeface="Consolas" panose="020B0609020204030204" pitchFamily="49" charset="0"/>
              </a:rPr>
              <a:t>results</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min_margin</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m</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C586C0"/>
                </a:solidFill>
                <a:latin typeface="Consolas" panose="020B0609020204030204" pitchFamily="49" charset="0"/>
              </a:rPr>
              <a:t>if</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m</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&lt;</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margin_req</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results</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'ok'</a:t>
            </a:r>
            <a:r>
              <a:rPr lang="pl-PL" sz="800" dirty="0">
                <a:solidFill>
                  <a:srgbClr val="CCCCCC"/>
                </a:solidFill>
                <a:latin typeface="Consolas" panose="020B0609020204030204" pitchFamily="49" charset="0"/>
              </a:rPr>
              <a:t>] </a:t>
            </a:r>
            <a:r>
              <a:rPr lang="pl-PL" sz="800" dirty="0">
                <a:solidFill>
                  <a:srgbClr val="D4D4D4"/>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err="1">
                <a:solidFill>
                  <a:srgbClr val="4FC1FF"/>
                </a:solidFill>
                <a:latin typeface="Consolas" panose="020B0609020204030204" pitchFamily="49" charset="0"/>
              </a:rPr>
              <a:t>False</a:t>
            </a:r>
            <a:endParaRPr lang="pl-PL" sz="800" dirty="0">
              <a:solidFill>
                <a:srgbClr val="CCCCCC"/>
              </a:solidFill>
              <a:latin typeface="Consolas" panose="020B0609020204030204" pitchFamily="49" charset="0"/>
            </a:endParaRPr>
          </a:p>
          <a:p>
            <a:pPr>
              <a:lnSpc>
                <a:spcPts val="800"/>
              </a:lnSpc>
            </a:pP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results</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violations</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a:t>
            </a:r>
            <a:r>
              <a:rPr lang="pl-PL" sz="800" dirty="0" err="1">
                <a:solidFill>
                  <a:srgbClr val="CCCCCC"/>
                </a:solidFill>
                <a:latin typeface="Consolas" panose="020B0609020204030204" pitchFamily="49" charset="0"/>
              </a:rPr>
              <a:t>append</a:t>
            </a:r>
            <a:r>
              <a:rPr lang="pl-PL" sz="800" dirty="0">
                <a:solidFill>
                  <a:srgbClr val="CCCCCC"/>
                </a:solidFill>
                <a:latin typeface="Consolas" panose="020B0609020204030204" pitchFamily="49" charset="0"/>
              </a:rPr>
              <a:t>({</a:t>
            </a:r>
            <a:r>
              <a:rPr lang="pl-PL" sz="800" dirty="0">
                <a:solidFill>
                  <a:srgbClr val="CE9178"/>
                </a:solidFill>
                <a:latin typeface="Consolas" panose="020B0609020204030204" pitchFamily="49" charset="0"/>
              </a:rPr>
              <a:t>'t'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t</a:t>
            </a:r>
            <a:r>
              <a:rPr lang="pl-PL" sz="800" dirty="0">
                <a:solidFill>
                  <a:srgbClr val="CCCCCC"/>
                </a:solidFill>
                <a:latin typeface="Consolas" panose="020B0609020204030204" pitchFamily="49" charset="0"/>
              </a:rPr>
              <a:t>, </a:t>
            </a:r>
            <a:r>
              <a:rPr lang="pl-PL" sz="800" dirty="0">
                <a:solidFill>
                  <a:srgbClr val="CE9178"/>
                </a:solidFill>
                <a:latin typeface="Consolas" panose="020B0609020204030204" pitchFamily="49" charset="0"/>
              </a:rPr>
              <a:t>'</a:t>
            </a:r>
            <a:r>
              <a:rPr lang="pl-PL" sz="800" dirty="0" err="1">
                <a:solidFill>
                  <a:srgbClr val="CE9178"/>
                </a:solidFill>
                <a:latin typeface="Consolas" panose="020B0609020204030204" pitchFamily="49" charset="0"/>
              </a:rPr>
              <a:t>margin</a:t>
            </a:r>
            <a:r>
              <a:rPr lang="pl-PL" sz="800" dirty="0">
                <a:solidFill>
                  <a:srgbClr val="CE9178"/>
                </a:solidFill>
                <a:latin typeface="Consolas" panose="020B0609020204030204" pitchFamily="49" charset="0"/>
              </a:rPr>
              <a:t>'</a:t>
            </a:r>
            <a:r>
              <a:rPr lang="pl-PL" sz="800" dirty="0">
                <a:solidFill>
                  <a:srgbClr val="CCCCCC"/>
                </a:solidFill>
                <a:latin typeface="Consolas" panose="020B0609020204030204" pitchFamily="49" charset="0"/>
              </a:rPr>
              <a:t>: </a:t>
            </a:r>
            <a:r>
              <a:rPr lang="pl-PL" sz="800" dirty="0">
                <a:solidFill>
                  <a:srgbClr val="9CDCFE"/>
                </a:solidFill>
                <a:latin typeface="Consolas" panose="020B0609020204030204" pitchFamily="49" charset="0"/>
              </a:rPr>
              <a:t>m</a:t>
            </a:r>
            <a:r>
              <a:rPr lang="pl-PL" sz="800" dirty="0">
                <a:solidFill>
                  <a:srgbClr val="CCCCCC"/>
                </a:solidFill>
                <a:latin typeface="Consolas" panose="020B0609020204030204" pitchFamily="49" charset="0"/>
              </a:rPr>
              <a:t>})</a:t>
            </a:r>
          </a:p>
          <a:p>
            <a:pPr>
              <a:lnSpc>
                <a:spcPts val="800"/>
              </a:lnSpc>
            </a:pPr>
            <a:r>
              <a:rPr lang="pl-PL" sz="800" dirty="0">
                <a:solidFill>
                  <a:srgbClr val="CCCCCC"/>
                </a:solidFill>
                <a:latin typeface="Consolas" panose="020B0609020204030204" pitchFamily="49" charset="0"/>
              </a:rPr>
              <a:t>    </a:t>
            </a:r>
            <a:r>
              <a:rPr lang="pl-PL" sz="800" dirty="0">
                <a:solidFill>
                  <a:srgbClr val="C586C0"/>
                </a:solidFill>
                <a:latin typeface="Consolas" panose="020B0609020204030204" pitchFamily="49" charset="0"/>
              </a:rPr>
              <a:t>return</a:t>
            </a:r>
            <a:r>
              <a:rPr lang="pl-PL" sz="800" dirty="0">
                <a:solidFill>
                  <a:srgbClr val="CCCCCC"/>
                </a:solidFill>
                <a:latin typeface="Consolas" panose="020B0609020204030204" pitchFamily="49" charset="0"/>
              </a:rPr>
              <a:t> </a:t>
            </a:r>
            <a:r>
              <a:rPr lang="pl-PL" sz="800" dirty="0" err="1">
                <a:solidFill>
                  <a:srgbClr val="9CDCFE"/>
                </a:solidFill>
                <a:latin typeface="Consolas" panose="020B0609020204030204" pitchFamily="49" charset="0"/>
              </a:rPr>
              <a:t>results</a:t>
            </a:r>
            <a:endParaRPr lang="pl-PL" sz="800" b="0" dirty="0">
              <a:solidFill>
                <a:srgbClr val="CCCCCC"/>
              </a:solidFill>
              <a:effectLst/>
              <a:latin typeface="Consolas" panose="020B0609020204030204" pitchFamily="49" charset="0"/>
            </a:endParaRPr>
          </a:p>
        </p:txBody>
      </p:sp>
      <p:sp>
        <p:nvSpPr>
          <p:cNvPr id="11" name="Shape 9"/>
          <p:cNvSpPr/>
          <p:nvPr/>
        </p:nvSpPr>
        <p:spPr>
          <a:xfrm>
            <a:off x="274319" y="4453054"/>
            <a:ext cx="8661251" cy="484706"/>
          </a:xfrm>
          <a:prstGeom prst="rect">
            <a:avLst/>
          </a:prstGeom>
          <a:solidFill>
            <a:srgbClr val="1A3550"/>
          </a:solidFill>
          <a:ln w="12700">
            <a:solidFill>
              <a:srgbClr val="0077A8"/>
            </a:solidFill>
            <a:prstDash val="solid"/>
          </a:ln>
        </p:spPr>
      </p:sp>
      <mc:AlternateContent xmlns:mc="http://schemas.openxmlformats.org/markup-compatibility/2006" xmlns:a14="http://schemas.microsoft.com/office/drawing/2010/main">
        <mc:Choice Requires="a14">
          <p:sp>
            <p:nvSpPr>
              <p:cNvPr id="12" name="Text 10"/>
              <p:cNvSpPr/>
              <p:nvPr/>
            </p:nvSpPr>
            <p:spPr>
              <a:xfrm>
                <a:off x="274320" y="4453054"/>
                <a:ext cx="8595361" cy="484706"/>
              </a:xfrm>
              <a:prstGeom prst="rect">
                <a:avLst/>
              </a:prstGeom>
              <a:noFill/>
              <a:ln/>
            </p:spPr>
            <p:txBody>
              <a:bodyPr wrap="square" lIns="0" tIns="0" rIns="127000" bIns="0" rtlCol="0" anchor="ctr"/>
              <a:lstStyle/>
              <a:p>
                <a:pPr algn="ctr"/>
                <a14:m>
                  <m:oMath xmlns:m="http://schemas.openxmlformats.org/officeDocument/2006/math">
                    <m:r>
                      <a:rPr lang="pl-PL" sz="1500" b="0" i="1" spc="-140" dirty="0" smtClean="0">
                        <a:solidFill>
                          <a:schemeClr val="accent2"/>
                        </a:solidFill>
                        <a:latin typeface="Cambria Math" panose="02040503050406030204" pitchFamily="18" charset="0"/>
                        <a:ea typeface="Calibri" pitchFamily="34" charset="-122"/>
                        <a:cs typeface="Calibri" pitchFamily="34" charset="-120"/>
                      </a:rPr>
                      <m:t>𝑧𝑚</m:t>
                    </m:r>
                    <m:sSub>
                      <m:sSubPr>
                        <m:ctrlPr>
                          <a:rPr lang="pl-PL" sz="1500" b="0" i="1" spc="-140" dirty="0" smtClean="0">
                            <a:solidFill>
                              <a:schemeClr val="accent2"/>
                            </a:solidFill>
                            <a:latin typeface="Cambria Math" panose="02040503050406030204" pitchFamily="18" charset="0"/>
                            <a:ea typeface="Calibri" pitchFamily="34" charset="-122"/>
                            <a:cs typeface="Calibri" pitchFamily="34" charset="-120"/>
                          </a:rPr>
                        </m:ctrlPr>
                      </m:sSubPr>
                      <m:e>
                        <m:r>
                          <a:rPr lang="pl-PL" sz="1500" b="0" i="1" spc="-140" dirty="0" smtClean="0">
                            <a:solidFill>
                              <a:schemeClr val="accent2"/>
                            </a:solidFill>
                            <a:latin typeface="Cambria Math" panose="02040503050406030204" pitchFamily="18" charset="0"/>
                            <a:ea typeface="Calibri" pitchFamily="34" charset="-122"/>
                            <a:cs typeface="Calibri" pitchFamily="34" charset="-120"/>
                          </a:rPr>
                          <m:t>𝑝</m:t>
                        </m:r>
                      </m:e>
                      <m:sub>
                        <m:r>
                          <a:rPr lang="pl-PL" sz="1500" b="0" i="1" spc="-140" dirty="0" smtClean="0">
                            <a:solidFill>
                              <a:schemeClr val="accent2"/>
                            </a:solidFill>
                            <a:latin typeface="Cambria Math" panose="02040503050406030204" pitchFamily="18" charset="0"/>
                            <a:ea typeface="Calibri" pitchFamily="34" charset="-122"/>
                            <a:cs typeface="Calibri" pitchFamily="34" charset="-120"/>
                          </a:rPr>
                          <m:t>𝑚𝑎𝑟𝑔𝑖𝑛</m:t>
                        </m:r>
                      </m:sub>
                    </m:sSub>
                    <m:r>
                      <a:rPr lang="pl-PL" sz="1500" b="0" i="1" spc="-300" dirty="0" smtClean="0">
                        <a:solidFill>
                          <a:schemeClr val="accent2"/>
                        </a:solidFill>
                        <a:latin typeface="Cambria Math" panose="02040503050406030204" pitchFamily="18" charset="0"/>
                        <a:ea typeface="Calibri" pitchFamily="34" charset="-122"/>
                        <a:cs typeface="Calibri" pitchFamily="34" charset="-120"/>
                      </a:rPr>
                      <m:t>( )&gt;0=</m:t>
                    </m:r>
                    <m:r>
                      <a:rPr lang="pl-PL" sz="1500" b="0" i="1" spc="-140" dirty="0" smtClean="0">
                        <a:solidFill>
                          <a:schemeClr val="accent2"/>
                        </a:solidFill>
                        <a:latin typeface="Cambria Math" panose="02040503050406030204" pitchFamily="18" charset="0"/>
                        <a:ea typeface="Calibri" pitchFamily="34" charset="-122"/>
                        <a:cs typeface="Calibri" pitchFamily="34" charset="-120"/>
                      </a:rPr>
                      <m:t>𝑍𝑀𝑃</m:t>
                    </m:r>
                    <m:r>
                      <a:rPr lang="pl-PL" sz="1500" b="0" i="1" spc="-140" dirty="0" smtClean="0">
                        <a:solidFill>
                          <a:schemeClr val="accent2"/>
                        </a:solidFill>
                        <a:latin typeface="Cambria Math" panose="02040503050406030204" pitchFamily="18" charset="0"/>
                        <a:ea typeface="Calibri" pitchFamily="34" charset="-122"/>
                        <a:cs typeface="Calibri" pitchFamily="34" charset="-120"/>
                      </a:rPr>
                      <m:t> </m:t>
                    </m:r>
                  </m:oMath>
                </a14:m>
                <a:r>
                  <a:rPr lang="pl-PL" sz="1500" b="0" i="0" spc="-100" dirty="0" smtClean="0">
                    <a:solidFill>
                      <a:schemeClr val="accent2"/>
                    </a:solidFill>
                    <a:latin typeface="+mj-lt"/>
                    <a:ea typeface="Calibri" pitchFamily="34" charset="-122"/>
                    <a:cs typeface="Calibri" pitchFamily="34" charset="-120"/>
                  </a:rPr>
                  <a:t>wewnątrz</a:t>
                </a:r>
                <a:r>
                  <a:rPr lang="pl-PL" sz="1500" b="0" i="0" spc="-60" dirty="0" smtClean="0">
                    <a:solidFill>
                      <a:schemeClr val="accent2"/>
                    </a:solidFill>
                    <a:latin typeface="+mj-lt"/>
                    <a:ea typeface="Calibri" pitchFamily="34" charset="-122"/>
                    <a:cs typeface="Calibri" pitchFamily="34" charset="-120"/>
                  </a:rPr>
                  <a:t>;</a:t>
                </a:r>
                <a:r>
                  <a:rPr lang="pl-PL" sz="1500" b="0" i="0" spc="-60" dirty="0" smtClean="0">
                    <a:solidFill>
                      <a:schemeClr val="bg1"/>
                    </a:solidFill>
                    <a:latin typeface="+mj-lt"/>
                    <a:ea typeface="Calibri" pitchFamily="34" charset="-122"/>
                    <a:cs typeface="Calibri" pitchFamily="34" charset="-120"/>
                  </a:rPr>
                  <a:t> </a:t>
                </a:r>
                <a:r>
                  <a:rPr lang="pl-PL" sz="1500" b="0" i="0" spc="-120" dirty="0" smtClean="0">
                    <a:solidFill>
                      <a:schemeClr val="accent2"/>
                    </a:solidFill>
                    <a:latin typeface="+mj-lt"/>
                    <a:ea typeface="Calibri" pitchFamily="34" charset="-122"/>
                    <a:cs typeface="Calibri" pitchFamily="34" charset="-120"/>
                  </a:rPr>
                  <a:t>&lt; 0 = </a:t>
                </a:r>
                <a:r>
                  <a:rPr lang="pl-PL" sz="1500" b="0" i="0" spc="-80" dirty="0" smtClean="0">
                    <a:solidFill>
                      <a:schemeClr val="accent2"/>
                    </a:solidFill>
                    <a:latin typeface="+mj-lt"/>
                    <a:ea typeface="Calibri" pitchFamily="34" charset="-122"/>
                    <a:cs typeface="Calibri" pitchFamily="34" charset="-120"/>
                  </a:rPr>
                  <a:t>utrata równowagi</a:t>
                </a:r>
                <a:r>
                  <a:rPr lang="pl-PL" sz="1500" b="0" i="0" spc="-60" dirty="0" smtClean="0">
                    <a:solidFill>
                      <a:schemeClr val="bg1"/>
                    </a:solidFill>
                    <a:latin typeface="+mj-lt"/>
                    <a:ea typeface="Calibri" pitchFamily="34" charset="-122"/>
                    <a:cs typeface="Calibri" pitchFamily="34" charset="-120"/>
                  </a:rPr>
                  <a:t>;</a:t>
                </a:r>
                <a14:m>
                  <m:oMath xmlns:m="http://schemas.openxmlformats.org/officeDocument/2006/math">
                    <m:r>
                      <a:rPr lang="pl-PL" sz="1500" b="0" i="0" spc="-60" dirty="0" smtClean="0">
                        <a:solidFill>
                          <a:schemeClr val="accent4"/>
                        </a:solidFill>
                        <a:latin typeface="Cambria Math" panose="02040503050406030204" pitchFamily="18" charset="0"/>
                        <a:ea typeface="Calibri" pitchFamily="34" charset="-122"/>
                        <a:cs typeface="Calibri" pitchFamily="34" charset="-120"/>
                      </a:rPr>
                      <m:t> </m:t>
                    </m:r>
                    <m:r>
                      <a:rPr lang="pl-PL" sz="1500" b="0" i="1" spc="-100" dirty="0" smtClean="0">
                        <a:solidFill>
                          <a:schemeClr val="accent4"/>
                        </a:solidFill>
                        <a:latin typeface="Cambria Math" panose="02040503050406030204" pitchFamily="18" charset="0"/>
                        <a:ea typeface="Calibri" pitchFamily="34" charset="-122"/>
                        <a:cs typeface="Calibri" pitchFamily="34" charset="-120"/>
                      </a:rPr>
                      <m:t>𝑚𝑎𝑟𝑔𝑖</m:t>
                    </m:r>
                    <m:sSub>
                      <m:sSubPr>
                        <m:ctrlPr>
                          <a:rPr lang="pl-PL" sz="1500" b="0" i="1" spc="-100" dirty="0" smtClean="0">
                            <a:solidFill>
                              <a:schemeClr val="accent4"/>
                            </a:solidFill>
                            <a:latin typeface="Cambria Math" panose="02040503050406030204" pitchFamily="18" charset="0"/>
                            <a:ea typeface="Calibri" pitchFamily="34" charset="-122"/>
                            <a:cs typeface="Calibri" pitchFamily="34" charset="-120"/>
                          </a:rPr>
                        </m:ctrlPr>
                      </m:sSubPr>
                      <m:e>
                        <m:r>
                          <a:rPr lang="pl-PL" sz="1500" b="0" i="1" spc="-100" dirty="0" smtClean="0">
                            <a:solidFill>
                              <a:schemeClr val="accent4"/>
                            </a:solidFill>
                            <a:latin typeface="Cambria Math" panose="02040503050406030204" pitchFamily="18" charset="0"/>
                            <a:ea typeface="Calibri" pitchFamily="34" charset="-122"/>
                            <a:cs typeface="Calibri" pitchFamily="34" charset="-120"/>
                          </a:rPr>
                          <m:t>𝑛</m:t>
                        </m:r>
                      </m:e>
                      <m:sub>
                        <m:r>
                          <a:rPr lang="pl-PL" sz="1500" b="0" i="1" spc="-100" dirty="0" smtClean="0">
                            <a:solidFill>
                              <a:schemeClr val="accent4"/>
                            </a:solidFill>
                            <a:latin typeface="Cambria Math" panose="02040503050406030204" pitchFamily="18" charset="0"/>
                            <a:ea typeface="Calibri" pitchFamily="34" charset="-122"/>
                            <a:cs typeface="Calibri" pitchFamily="34" charset="-120"/>
                          </a:rPr>
                          <m:t>𝑟𝑒𝑞</m:t>
                        </m:r>
                      </m:sub>
                    </m:sSub>
                    <m:r>
                      <a:rPr lang="pl-PL" sz="1500" b="0" i="1" spc="-120" dirty="0" smtClean="0">
                        <a:solidFill>
                          <a:schemeClr val="accent4"/>
                        </a:solidFill>
                        <a:latin typeface="Cambria Math" panose="02040503050406030204" pitchFamily="18" charset="0"/>
                        <a:ea typeface="Calibri" pitchFamily="34" charset="-122"/>
                        <a:cs typeface="Calibri" pitchFamily="34" charset="-120"/>
                      </a:rPr>
                      <m:t>=0,02 </m:t>
                    </m:r>
                    <m:r>
                      <a:rPr lang="pl-PL" sz="1500" b="0" i="1" spc="-60" dirty="0" smtClean="0">
                        <a:solidFill>
                          <a:schemeClr val="accent4"/>
                        </a:solidFill>
                        <a:latin typeface="Cambria Math" panose="02040503050406030204" pitchFamily="18" charset="0"/>
                        <a:ea typeface="Calibri" pitchFamily="34" charset="-122"/>
                        <a:cs typeface="Calibri" pitchFamily="34" charset="-120"/>
                      </a:rPr>
                      <m:t>𝑚</m:t>
                    </m:r>
                  </m:oMath>
                </a14:m>
                <a:r>
                  <a:rPr lang="pl-PL" sz="1500" b="0" i="0" spc="-60" dirty="0" smtClean="0">
                    <a:solidFill>
                      <a:schemeClr val="bg1"/>
                    </a:solidFill>
                    <a:latin typeface="+mj-lt"/>
                    <a:ea typeface="Calibri" pitchFamily="34" charset="-122"/>
                    <a:cs typeface="Calibri" pitchFamily="34" charset="-120"/>
                  </a:rPr>
                  <a:t> </a:t>
                </a:r>
                <a:r>
                  <a:rPr lang="pl-PL" sz="1500" b="0" i="0" spc="-80" dirty="0" smtClean="0">
                    <a:solidFill>
                      <a:schemeClr val="bg1"/>
                    </a:solidFill>
                    <a:latin typeface="+mj-lt"/>
                    <a:ea typeface="Calibri" pitchFamily="34" charset="-122"/>
                    <a:cs typeface="Calibri" pitchFamily="34" charset="-120"/>
                  </a:rPr>
                  <a:t>(2 cm) to min. dla płaskiej nawierzchni</a:t>
                </a:r>
              </a:p>
            </p:txBody>
          </p:sp>
        </mc:Choice>
        <mc:Fallback xmlns="">
          <p:sp>
            <p:nvSpPr>
              <p:cNvPr id="12" name="Text 10"/>
              <p:cNvSpPr>
                <a:spLocks noRot="1" noChangeAspect="1" noMove="1" noResize="1" noEditPoints="1" noAdjustHandles="1" noChangeArrowheads="1" noChangeShapeType="1" noTextEdit="1"/>
              </p:cNvSpPr>
              <p:nvPr/>
            </p:nvSpPr>
            <p:spPr>
              <a:xfrm>
                <a:off x="274320" y="4453054"/>
                <a:ext cx="8595361" cy="484706"/>
              </a:xfrm>
              <a:prstGeom prst="rect">
                <a:avLst/>
              </a:prstGeom>
              <a:blipFill>
                <a:blip r:embed="rId3"/>
                <a:stretch>
                  <a:fillRect/>
                </a:stretch>
              </a:blipFill>
              <a:ln/>
            </p:spPr>
            <p:txBody>
              <a:bodyPr/>
              <a:lstStyle/>
              <a:p>
                <a:r>
                  <a:rPr lang="pl-PL">
                    <a:noFill/>
                  </a:rPr>
                  <a:t> </a:t>
                </a:r>
              </a:p>
            </p:txBody>
          </p:sp>
        </mc:Fallback>
      </mc:AlternateContent>
      <p:sp>
        <p:nvSpPr>
          <p:cNvPr id="7" name="Prostokąt 6"/>
          <p:cNvSpPr/>
          <p:nvPr/>
        </p:nvSpPr>
        <p:spPr>
          <a:xfrm>
            <a:off x="166201" y="631420"/>
            <a:ext cx="6483369" cy="276999"/>
          </a:xfrm>
          <a:prstGeom prst="rect">
            <a:avLst/>
          </a:prstGeom>
        </p:spPr>
        <p:txBody>
          <a:bodyPr wrap="square">
            <a:spAutoFit/>
          </a:bodyPr>
          <a:lstStyle/>
          <a:p>
            <a:r>
              <a:rPr lang="pl-PL" sz="1200" i="1" dirty="0">
                <a:solidFill>
                  <a:srgbClr val="90C8D8"/>
                </a:solidFill>
              </a:rPr>
              <a:t>Sprawdzenie czy trajektoria </a:t>
            </a:r>
            <a:r>
              <a:rPr lang="pl-PL" sz="1200" i="1" dirty="0" err="1">
                <a:solidFill>
                  <a:srgbClr val="90C8D8"/>
                </a:solidFill>
              </a:rPr>
              <a:t>CoM</a:t>
            </a:r>
            <a:r>
              <a:rPr lang="pl-PL" sz="1200" i="1" dirty="0">
                <a:solidFill>
                  <a:srgbClr val="90C8D8"/>
                </a:solidFill>
              </a:rPr>
              <a:t> zachowuje margines stabilności w każdym kroku</a:t>
            </a:r>
          </a:p>
        </p:txBody>
      </p:sp>
    </p:spTree>
    <p:extLst>
      <p:ext uri="{BB962C8B-B14F-4D97-AF65-F5344CB8AC3E}">
        <p14:creationId xmlns:p14="http://schemas.microsoft.com/office/powerpoint/2010/main" val="13121244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F72585"/>
          </a:solidFill>
          <a:ln w="12700">
            <a:solidFill>
              <a:srgbClr val="F72585"/>
            </a:solidFill>
            <a:prstDash val="solid"/>
          </a:ln>
        </p:spPr>
      </p:sp>
      <p:sp>
        <p:nvSpPr>
          <p:cNvPr id="3" name="Shape 1"/>
          <p:cNvSpPr/>
          <p:nvPr/>
        </p:nvSpPr>
        <p:spPr>
          <a:xfrm>
            <a:off x="64008" y="0"/>
            <a:ext cx="9079992" cy="914400"/>
          </a:xfrm>
          <a:prstGeom prst="rect">
            <a:avLst/>
          </a:prstGeom>
          <a:solidFill>
            <a:srgbClr val="0D1B2A"/>
          </a:solidFill>
          <a:ln w="12700">
            <a:solidFill>
              <a:srgbClr val="0D1B2A"/>
            </a:solidFill>
            <a:prstDash val="solid"/>
          </a:ln>
        </p:spPr>
      </p:sp>
      <p:sp>
        <p:nvSpPr>
          <p:cNvPr id="4" name="Text 2"/>
          <p:cNvSpPr/>
          <p:nvPr/>
        </p:nvSpPr>
        <p:spPr>
          <a:xfrm>
            <a:off x="228600" y="73152"/>
            <a:ext cx="3657600" cy="256032"/>
          </a:xfrm>
          <a:prstGeom prst="rect">
            <a:avLst/>
          </a:prstGeom>
          <a:noFill/>
          <a:ln/>
        </p:spPr>
        <p:txBody>
          <a:bodyPr wrap="square" lIns="0" tIns="0" rIns="0" bIns="0" rtlCol="0" anchor="ctr"/>
          <a:lstStyle/>
          <a:p>
            <a:pPr marL="0" indent="0">
              <a:buNone/>
            </a:pPr>
            <a:r>
              <a:rPr lang="en-US" sz="900" b="1" kern="0" spc="200" dirty="0">
                <a:solidFill>
                  <a:srgbClr val="F72585"/>
                </a:solidFill>
                <a:latin typeface="Trebuchet MS" pitchFamily="34" charset="0"/>
                <a:ea typeface="Trebuchet MS" pitchFamily="34" charset="-122"/>
                <a:cs typeface="Trebuchet MS" pitchFamily="34" charset="-120"/>
              </a:rPr>
              <a:t>KOD PYTHON</a:t>
            </a:r>
            <a:endParaRPr lang="en-US" sz="900" dirty="0"/>
          </a:p>
        </p:txBody>
      </p:sp>
      <p:sp>
        <p:nvSpPr>
          <p:cNvPr id="5" name="Text 3"/>
          <p:cNvSpPr/>
          <p:nvPr/>
        </p:nvSpPr>
        <p:spPr>
          <a:xfrm>
            <a:off x="228600" y="292608"/>
            <a:ext cx="8794376" cy="361676"/>
          </a:xfrm>
          <a:prstGeom prst="rect">
            <a:avLst/>
          </a:prstGeom>
          <a:noFill/>
          <a:ln/>
        </p:spPr>
        <p:txBody>
          <a:bodyPr wrap="square" lIns="0" tIns="0" rIns="0" bIns="0" rtlCol="0" anchor="ctr"/>
          <a:lstStyle/>
          <a:p>
            <a:r>
              <a:rPr lang="pl-PL" sz="2400" b="1" dirty="0">
                <a:solidFill>
                  <a:srgbClr val="FFFFFF"/>
                </a:solidFill>
                <a:latin typeface="Trebuchet MS" pitchFamily="34" charset="0"/>
                <a:ea typeface="Trebuchet MS" pitchFamily="34" charset="-122"/>
                <a:cs typeface="Trebuchet MS" pitchFamily="34" charset="-120"/>
              </a:rPr>
              <a:t>Detekcja schodów z chmury punktów i plan kroków 3D</a:t>
            </a:r>
          </a:p>
        </p:txBody>
      </p:sp>
      <p:sp>
        <p:nvSpPr>
          <p:cNvPr id="6" name="Shape 4"/>
          <p:cNvSpPr/>
          <p:nvPr/>
        </p:nvSpPr>
        <p:spPr>
          <a:xfrm>
            <a:off x="274320" y="1005840"/>
            <a:ext cx="8661250" cy="3310666"/>
          </a:xfrm>
          <a:prstGeom prst="rect">
            <a:avLst/>
          </a:prstGeom>
          <a:solidFill>
            <a:srgbClr val="071520"/>
          </a:solidFill>
          <a:ln w="12700">
            <a:solidFill>
              <a:srgbClr val="0077A8"/>
            </a:solidFill>
            <a:prstDash val="solid"/>
          </a:ln>
          <a:effectLst>
            <a:outerShdw blurRad="101600" dist="38100" dir="8100000" algn="bl" rotWithShape="0">
              <a:srgbClr val="000000">
                <a:alpha val="18000"/>
              </a:srgbClr>
            </a:outerShdw>
          </a:effectLst>
        </p:spPr>
      </p:sp>
      <p:sp>
        <p:nvSpPr>
          <p:cNvPr id="10" name="Text 8"/>
          <p:cNvSpPr/>
          <p:nvPr/>
        </p:nvSpPr>
        <p:spPr>
          <a:xfrm>
            <a:off x="306029" y="1008967"/>
            <a:ext cx="8407665" cy="3179787"/>
          </a:xfrm>
          <a:prstGeom prst="rect">
            <a:avLst/>
          </a:prstGeom>
          <a:noFill/>
          <a:ln/>
        </p:spPr>
        <p:txBody>
          <a:bodyPr wrap="square" lIns="108000" tIns="0" rIns="36000" bIns="0" numCol="2" rtlCol="0" anchor="t">
            <a:noAutofit/>
          </a:bodyPr>
          <a:lstStyle/>
          <a:p>
            <a:pPr>
              <a:lnSpc>
                <a:spcPts val="900"/>
              </a:lnSpc>
            </a:pPr>
            <a:r>
              <a:rPr lang="pl-PL" sz="800" spc="-60" dirty="0">
                <a:solidFill>
                  <a:srgbClr val="C586C0"/>
                </a:solidFill>
                <a:latin typeface="Consolas" panose="020B0609020204030204" pitchFamily="49" charset="0"/>
              </a:rPr>
              <a:t>import</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numpy</a:t>
            </a: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as</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np</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r>
            <a:br>
              <a:rPr lang="pl-PL" sz="800" spc="-60" dirty="0">
                <a:solidFill>
                  <a:srgbClr val="CCCCCC"/>
                </a:solidFill>
                <a:latin typeface="Consolas" panose="020B0609020204030204" pitchFamily="49" charset="0"/>
              </a:rPr>
            </a:br>
            <a:r>
              <a:rPr lang="pl-PL" sz="800" spc="-60" dirty="0">
                <a:solidFill>
                  <a:srgbClr val="569CD6"/>
                </a:solidFill>
                <a:latin typeface="Consolas" panose="020B0609020204030204" pitchFamily="49" charset="0"/>
              </a:rPr>
              <a:t>def</a:t>
            </a:r>
            <a:r>
              <a:rPr lang="pl-PL" sz="800" spc="-60" dirty="0">
                <a:solidFill>
                  <a:srgbClr val="CCCCCC"/>
                </a:solidFill>
                <a:latin typeface="Consolas" panose="020B0609020204030204" pitchFamily="49" charset="0"/>
              </a:rPr>
              <a:t> </a:t>
            </a:r>
            <a:r>
              <a:rPr lang="pl-PL" sz="800" spc="-60" dirty="0" err="1">
                <a:solidFill>
                  <a:srgbClr val="DCDCAA"/>
                </a:solidFill>
                <a:latin typeface="Consolas" panose="020B0609020204030204" pitchFamily="49" charset="0"/>
              </a:rPr>
              <a:t>detect_stairs</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point_cloud</a:t>
            </a:r>
            <a:r>
              <a:rPr lang="pl-PL" sz="800" spc="-60" dirty="0">
                <a:solidFill>
                  <a:srgbClr val="CCCCCC"/>
                </a:solidFill>
                <a:latin typeface="Consolas" panose="020B0609020204030204" pitchFamily="49" charset="0"/>
              </a:rPr>
              <a:t>: </a:t>
            </a:r>
            <a:r>
              <a:rPr lang="pl-PL" sz="800" spc="-60" dirty="0" err="1" smtClean="0">
                <a:solidFill>
                  <a:srgbClr val="4EC9B0"/>
                </a:solidFill>
                <a:latin typeface="Consolas" panose="020B0609020204030204" pitchFamily="49" charset="0"/>
              </a:rPr>
              <a:t>np</a:t>
            </a:r>
            <a:r>
              <a:rPr lang="pl-PL" sz="800" spc="-60" dirty="0" err="1" smtClean="0">
                <a:solidFill>
                  <a:srgbClr val="CCCCCC"/>
                </a:solidFill>
                <a:latin typeface="Consolas" panose="020B0609020204030204" pitchFamily="49" charset="0"/>
              </a:rPr>
              <a:t>.</a:t>
            </a:r>
            <a:r>
              <a:rPr lang="pl-PL" sz="800" spc="-60" dirty="0" err="1" smtClean="0">
                <a:solidFill>
                  <a:srgbClr val="4EC9B0"/>
                </a:solidFill>
                <a:latin typeface="Consolas" panose="020B0609020204030204" pitchFamily="49" charset="0"/>
              </a:rPr>
              <a:t>ndarray</a:t>
            </a:r>
            <a:r>
              <a:rPr lang="pl-PL" sz="800" spc="-60" dirty="0" smtClean="0">
                <a:solidFill>
                  <a:srgbClr val="CCCCCC"/>
                </a:solidFill>
                <a:latin typeface="Consolas" panose="020B0609020204030204" pitchFamily="49" charset="0"/>
              </a:rPr>
              <a:t>, </a:t>
            </a:r>
            <a:r>
              <a:rPr lang="pl-PL" sz="800" spc="-60" dirty="0" err="1" smtClean="0">
                <a:solidFill>
                  <a:srgbClr val="9CDCFE"/>
                </a:solidFill>
                <a:latin typeface="Consolas" panose="020B0609020204030204" pitchFamily="49" charset="0"/>
              </a:rPr>
              <a:t>z_min</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smtClean="0">
                <a:solidFill>
                  <a:srgbClr val="B5CEA8"/>
                </a:solidFill>
                <a:latin typeface="Consolas" panose="020B0609020204030204" pitchFamily="49" charset="0"/>
              </a:rPr>
              <a:t>0.03</a:t>
            </a:r>
            <a:r>
              <a:rPr lang="pl-PL" sz="800" spc="-60" dirty="0" smtClean="0">
                <a:solidFill>
                  <a:srgbClr val="CCCCCC"/>
                </a:solidFill>
                <a:latin typeface="Consolas" panose="020B0609020204030204" pitchFamily="49" charset="0"/>
              </a:rPr>
              <a:t>, </a:t>
            </a:r>
            <a:r>
              <a:rPr lang="pl-PL" sz="800" spc="-60" dirty="0" err="1" smtClean="0">
                <a:solidFill>
                  <a:srgbClr val="9CDCFE"/>
                </a:solidFill>
                <a:latin typeface="Consolas" panose="020B0609020204030204" pitchFamily="49" charset="0"/>
              </a:rPr>
              <a:t>z_max</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0.30</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plane_tol</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smtClean="0">
                <a:solidFill>
                  <a:srgbClr val="B5CEA8"/>
                </a:solidFill>
                <a:latin typeface="Consolas" panose="020B0609020204030204" pitchFamily="49" charset="0"/>
              </a:rPr>
              <a:t>0.03</a:t>
            </a:r>
            <a:r>
              <a:rPr lang="pl-PL" sz="800" spc="-60" dirty="0" smtClean="0">
                <a:solidFill>
                  <a:srgbClr val="CCCCCC"/>
                </a:solidFill>
                <a:latin typeface="Consolas" panose="020B0609020204030204" pitchFamily="49" charset="0"/>
              </a:rPr>
              <a:t>, </a:t>
            </a:r>
            <a:r>
              <a:rPr lang="pl-PL" sz="800" spc="-60" dirty="0" err="1" smtClean="0">
                <a:solidFill>
                  <a:srgbClr val="9CDCFE"/>
                </a:solidFill>
                <a:latin typeface="Consolas" panose="020B0609020204030204" pitchFamily="49" charset="0"/>
              </a:rPr>
              <a:t>min_pts</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int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50</a:t>
            </a:r>
            <a:r>
              <a:rPr lang="pl-PL" sz="800" spc="-60" dirty="0">
                <a:solidFill>
                  <a:srgbClr val="CCCCCC"/>
                </a:solidFill>
                <a:latin typeface="Consolas" panose="020B0609020204030204" pitchFamily="49" charset="0"/>
              </a:rPr>
              <a:t>) -&gt; </a:t>
            </a:r>
            <a:r>
              <a:rPr lang="pl-PL" sz="800" spc="-60" dirty="0">
                <a:solidFill>
                  <a:srgbClr val="4EC9B0"/>
                </a:solidFill>
                <a:latin typeface="Consolas" panose="020B0609020204030204" pitchFamily="49" charset="0"/>
              </a:rPr>
              <a:t>list</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Detekcja stopni schodów z chmury punktów (uproszczona).</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a:t>
            </a:r>
            <a:r>
              <a:rPr lang="pl-PL" sz="800" spc="-60" dirty="0" err="1">
                <a:solidFill>
                  <a:srgbClr val="CE9178"/>
                </a:solidFill>
                <a:latin typeface="Consolas" panose="020B0609020204030204" pitchFamily="49" charset="0"/>
              </a:rPr>
              <a:t>point_cloud</a:t>
            </a:r>
            <a:r>
              <a:rPr lang="pl-PL" sz="800" spc="-60" dirty="0">
                <a:solidFill>
                  <a:srgbClr val="CE9178"/>
                </a:solidFill>
                <a:latin typeface="Consolas" panose="020B0609020204030204" pitchFamily="49" charset="0"/>
              </a:rPr>
              <a:t>: (N, 3) – punkty [x, y, z] w ramce </a:t>
            </a:r>
            <a:r>
              <a:rPr lang="pl-PL" sz="800" spc="-60" dirty="0" err="1">
                <a:solidFill>
                  <a:srgbClr val="CE9178"/>
                </a:solidFill>
                <a:latin typeface="Consolas" panose="020B0609020204030204" pitchFamily="49" charset="0"/>
              </a:rPr>
              <a:t>base_link</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Zwraca listę stopni: [{'</a:t>
            </a:r>
            <a:r>
              <a:rPr lang="pl-PL" sz="800" spc="-60" dirty="0" err="1">
                <a:solidFill>
                  <a:srgbClr val="CE9178"/>
                </a:solidFill>
                <a:latin typeface="Consolas" panose="020B0609020204030204" pitchFamily="49" charset="0"/>
              </a:rPr>
              <a:t>z_height</a:t>
            </a:r>
            <a:r>
              <a:rPr lang="pl-PL" sz="800" spc="-60" dirty="0">
                <a:solidFill>
                  <a:srgbClr val="CE9178"/>
                </a:solidFill>
                <a:latin typeface="Consolas" panose="020B0609020204030204" pitchFamily="49" charset="0"/>
              </a:rPr>
              <a:t>', '</a:t>
            </a:r>
            <a:r>
              <a:rPr lang="pl-PL" sz="800" spc="-60" dirty="0" err="1">
                <a:solidFill>
                  <a:srgbClr val="CE9178"/>
                </a:solidFill>
                <a:latin typeface="Consolas" panose="020B0609020204030204" pitchFamily="49" charset="0"/>
              </a:rPr>
              <a:t>x_center</a:t>
            </a:r>
            <a:r>
              <a:rPr lang="pl-PL" sz="800" spc="-60" dirty="0">
                <a:solidFill>
                  <a:srgbClr val="CE9178"/>
                </a:solidFill>
                <a:latin typeface="Consolas" panose="020B0609020204030204" pitchFamily="49" charset="0"/>
              </a:rPr>
              <a:t>', '</a:t>
            </a:r>
            <a:r>
              <a:rPr lang="pl-PL" sz="800" spc="-60" dirty="0" err="1">
                <a:solidFill>
                  <a:srgbClr val="CE9178"/>
                </a:solidFill>
                <a:latin typeface="Consolas" panose="020B0609020204030204" pitchFamily="49" charset="0"/>
              </a:rPr>
              <a:t>y_center</a:t>
            </a:r>
            <a:r>
              <a:rPr lang="pl-PL" sz="800" spc="-60" dirty="0">
                <a:solidFill>
                  <a:srgbClr val="CE9178"/>
                </a:solidFill>
                <a:latin typeface="Consolas" panose="020B0609020204030204" pitchFamily="49" charset="0"/>
              </a:rPr>
              <a:t>', '</a:t>
            </a:r>
            <a:r>
              <a:rPr lang="pl-PL" sz="800" spc="-60" dirty="0" err="1">
                <a:solidFill>
                  <a:srgbClr val="CE9178"/>
                </a:solidFill>
                <a:latin typeface="Consolas" panose="020B0609020204030204" pitchFamily="49" charset="0"/>
              </a:rPr>
              <a:t>depth</a:t>
            </a:r>
            <a:r>
              <a:rPr lang="pl-PL" sz="800" spc="-60" dirty="0">
                <a:solidFill>
                  <a:srgbClr val="CE9178"/>
                </a:solidFill>
                <a:latin typeface="Consolas" panose="020B0609020204030204" pitchFamily="49" charset="0"/>
              </a:rPr>
              <a:t>'}]</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a:solidFill>
                  <a:srgbClr val="6A9955"/>
                </a:solidFill>
                <a:latin typeface="Consolas" panose="020B0609020204030204" pitchFamily="49" charset="0"/>
              </a:rPr>
              <a:t># Filtruj punkty w zakresie wysokości schody</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mask</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point_cloud</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2</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&gt;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z_min</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&amp;</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point_cloud</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2</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&lt;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z_max</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pts</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point_cloud</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mask</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C586C0"/>
                </a:solidFill>
                <a:latin typeface="Consolas" panose="020B0609020204030204" pitchFamily="49" charset="0"/>
              </a:rPr>
              <a:t>if</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len</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pts</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&lt;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min_pts</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return</a:t>
            </a:r>
            <a:r>
              <a:rPr lang="pl-PL" sz="800" spc="-60" dirty="0">
                <a:solidFill>
                  <a:srgbClr val="CCCCCC"/>
                </a:solidFill>
                <a:latin typeface="Consolas" panose="020B0609020204030204" pitchFamily="49" charset="0"/>
              </a:rPr>
              <a:t> []</a:t>
            </a:r>
          </a:p>
          <a:p>
            <a:pPr>
              <a:lnSpc>
                <a:spcPts val="900"/>
              </a:lnSpc>
            </a:pPr>
            <a:r>
              <a:rPr lang="pl-PL" sz="800" spc="-60" dirty="0">
                <a:solidFill>
                  <a:srgbClr val="CCCCCC"/>
                </a:solidFill>
                <a:latin typeface="Consolas" panose="020B0609020204030204" pitchFamily="49" charset="0"/>
              </a:rPr>
              <a:t/>
            </a:r>
            <a:br>
              <a:rPr lang="pl-PL" sz="800" spc="-60" dirty="0">
                <a:solidFill>
                  <a:srgbClr val="CCCCCC"/>
                </a:solidFill>
                <a:latin typeface="Consolas" panose="020B0609020204030204" pitchFamily="49" charset="0"/>
              </a:rPr>
            </a:br>
            <a:r>
              <a:rPr lang="pl-PL" sz="800" spc="-60" dirty="0">
                <a:solidFill>
                  <a:srgbClr val="CCCCCC"/>
                </a:solidFill>
                <a:latin typeface="Consolas" panose="020B0609020204030204" pitchFamily="49" charset="0"/>
              </a:rPr>
              <a:t>    </a:t>
            </a:r>
            <a:r>
              <a:rPr lang="pl-PL" sz="800" spc="-60" dirty="0">
                <a:solidFill>
                  <a:srgbClr val="6A9955"/>
                </a:solidFill>
                <a:latin typeface="Consolas" panose="020B0609020204030204" pitchFamily="49" charset="0"/>
              </a:rPr>
              <a:t># Grupuj punkty według wysokości z (bin 3 cm)</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z_vals</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pts</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2</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z_bins</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np</a:t>
            </a:r>
            <a:r>
              <a:rPr lang="pl-PL" sz="800" spc="-60" dirty="0" err="1">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arange</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z_min</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z_max</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plane_tol</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stairs</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p>
          <a:p>
            <a:pPr>
              <a:lnSpc>
                <a:spcPts val="900"/>
              </a:lnSpc>
            </a:pPr>
            <a:r>
              <a:rPr lang="pl-PL" sz="800" spc="-60" dirty="0">
                <a:solidFill>
                  <a:srgbClr val="CCCCCC"/>
                </a:solidFill>
                <a:latin typeface="Consolas" panose="020B0609020204030204" pitchFamily="49" charset="0"/>
              </a:rPr>
              <a:t/>
            </a:r>
            <a:br>
              <a:rPr lang="pl-PL" sz="800" spc="-60" dirty="0">
                <a:solidFill>
                  <a:srgbClr val="CCCCCC"/>
                </a:solidFill>
                <a:latin typeface="Consolas" panose="020B0609020204030204" pitchFamily="49" charset="0"/>
              </a:rPr>
            </a:b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for</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z_lo</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z_hi</a:t>
            </a: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in</a:t>
            </a:r>
            <a:r>
              <a:rPr lang="pl-PL" sz="800" spc="-60" dirty="0">
                <a:solidFill>
                  <a:srgbClr val="CCCCCC"/>
                </a:solidFill>
                <a:latin typeface="Consolas" panose="020B0609020204030204" pitchFamily="49" charset="0"/>
              </a:rPr>
              <a:t> </a:t>
            </a:r>
            <a:r>
              <a:rPr lang="pl-PL" sz="800" spc="-60" dirty="0">
                <a:solidFill>
                  <a:srgbClr val="4EC9B0"/>
                </a:solidFill>
                <a:latin typeface="Consolas" panose="020B0609020204030204" pitchFamily="49" charset="0"/>
              </a:rPr>
              <a:t>zip</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z_bins</a:t>
            </a:r>
            <a:r>
              <a:rPr lang="pl-PL" sz="800" spc="-60" dirty="0">
                <a:solidFill>
                  <a:srgbClr val="CCCCCC"/>
                </a:solidFill>
                <a:latin typeface="Consolas" panose="020B0609020204030204" pitchFamily="49" charset="0"/>
              </a:rPr>
              <a:t>[:</a:t>
            </a:r>
            <a:r>
              <a:rPr lang="pl-PL" sz="800" spc="-60" dirty="0">
                <a:solidFill>
                  <a:srgbClr val="D4D4D4"/>
                </a:solidFill>
                <a:latin typeface="Consolas" panose="020B0609020204030204" pitchFamily="49" charset="0"/>
              </a:rPr>
              <a:t>-</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z_bins</a:t>
            </a:r>
            <a:r>
              <a:rPr lang="pl-PL" sz="800" spc="-60" dirty="0">
                <a:solidFill>
                  <a:srgbClr val="CCCCCC"/>
                </a:solidFill>
                <a:latin typeface="Consolas" panose="020B0609020204030204" pitchFamily="49" charset="0"/>
              </a:rPr>
              <a:t>[</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pts</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z_vals</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&gt;=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z_lo</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&amp;</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z_vals</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&lt;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z_hi</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C586C0"/>
                </a:solidFill>
                <a:latin typeface="Consolas" panose="020B0609020204030204" pitchFamily="49" charset="0"/>
              </a:rPr>
              <a:t>if</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len</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&lt;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min_pts</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C586C0"/>
                </a:solidFill>
                <a:latin typeface="Consolas" panose="020B0609020204030204" pitchFamily="49" charset="0"/>
              </a:rPr>
              <a:t>continue</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a:solidFill>
                  <a:srgbClr val="6A9955"/>
                </a:solidFill>
                <a:latin typeface="Consolas" panose="020B0609020204030204" pitchFamily="49" charset="0"/>
              </a:rPr>
              <a:t># </a:t>
            </a:r>
            <a:r>
              <a:rPr lang="pl-PL" sz="800" spc="-60" dirty="0" smtClean="0">
                <a:solidFill>
                  <a:srgbClr val="6A9955"/>
                </a:solidFill>
                <a:latin typeface="Consolas" panose="020B0609020204030204" pitchFamily="49" charset="0"/>
              </a:rPr>
              <a:t>Sprawdź, </a:t>
            </a:r>
            <a:r>
              <a:rPr lang="pl-PL" sz="800" spc="-60" dirty="0">
                <a:solidFill>
                  <a:srgbClr val="6A9955"/>
                </a:solidFill>
                <a:latin typeface="Consolas" panose="020B0609020204030204" pitchFamily="49" charset="0"/>
              </a:rPr>
              <a:t>czy warstwa jest pozioma (plaska </a:t>
            </a:r>
            <a:r>
              <a:rPr lang="pl-PL" sz="800" spc="-60" dirty="0" smtClean="0">
                <a:solidFill>
                  <a:srgbClr val="6A9955"/>
                </a:solidFill>
                <a:latin typeface="Consolas" panose="020B0609020204030204" pitchFamily="49" charset="0"/>
              </a:rPr>
              <a:t>płaszczyzna)</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z_std</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2</a:t>
            </a:r>
            <a:r>
              <a:rPr lang="pl-PL" sz="800" spc="-60" dirty="0">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std</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C586C0"/>
                </a:solidFill>
                <a:latin typeface="Consolas" panose="020B0609020204030204" pitchFamily="49" charset="0"/>
              </a:rPr>
              <a:t>if</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z_std</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&lt;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plane_tol</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0.5</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stairs</a:t>
            </a:r>
            <a:r>
              <a:rPr lang="pl-PL" sz="800" spc="-60" dirty="0" err="1">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append</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'z'</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2</a:t>
            </a:r>
            <a:r>
              <a:rPr lang="pl-PL" sz="800" spc="-60" dirty="0">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mean</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'x'</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a:t>
            </a:r>
            <a:r>
              <a:rPr lang="pl-PL" sz="800" spc="-60" dirty="0">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mean</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'y'</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mean</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r>
              <a:rPr lang="pl-PL" sz="800" spc="-60" dirty="0" err="1">
                <a:solidFill>
                  <a:srgbClr val="CE9178"/>
                </a:solidFill>
                <a:latin typeface="Consolas" panose="020B0609020204030204" pitchFamily="49" charset="0"/>
              </a:rPr>
              <a:t>depth</a:t>
            </a:r>
            <a:r>
              <a:rPr lang="pl-PL" sz="800" spc="-60" dirty="0">
                <a:solidFill>
                  <a:srgbClr val="CE9178"/>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a:t>
            </a:r>
            <a:r>
              <a:rPr lang="pl-PL" sz="800" spc="-60" dirty="0">
                <a:solidFill>
                  <a:srgbClr val="CCCCCC"/>
                </a:solidFill>
                <a:latin typeface="Consolas" panose="020B0609020204030204" pitchFamily="49" charset="0"/>
              </a:rPr>
              <a:t>].</a:t>
            </a:r>
            <a:r>
              <a:rPr lang="pl-PL" sz="800" spc="-60" dirty="0">
                <a:solidFill>
                  <a:srgbClr val="DCDCAA"/>
                </a:solidFill>
                <a:latin typeface="Consolas" panose="020B0609020204030204" pitchFamily="49" charset="0"/>
              </a:rPr>
              <a:t>max</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a:t>
            </a:r>
            <a:r>
              <a:rPr lang="pl-PL" sz="800" spc="-60" dirty="0">
                <a:solidFill>
                  <a:srgbClr val="CCCCCC"/>
                </a:solidFill>
                <a:latin typeface="Consolas" panose="020B0609020204030204" pitchFamily="49" charset="0"/>
              </a:rPr>
              <a:t>].</a:t>
            </a:r>
            <a:r>
              <a:rPr lang="pl-PL" sz="800" spc="-60" dirty="0">
                <a:solidFill>
                  <a:srgbClr val="DCDCAA"/>
                </a:solidFill>
                <a:latin typeface="Consolas" panose="020B0609020204030204" pitchFamily="49" charset="0"/>
              </a:rPr>
              <a:t>min</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r>
              <a:rPr lang="pl-PL" sz="800" spc="-60" dirty="0" err="1">
                <a:solidFill>
                  <a:srgbClr val="CE9178"/>
                </a:solidFill>
                <a:latin typeface="Consolas" panose="020B0609020204030204" pitchFamily="49" charset="0"/>
              </a:rPr>
              <a:t>width</a:t>
            </a:r>
            <a:r>
              <a:rPr lang="pl-PL" sz="800" spc="-60" dirty="0">
                <a:solidFill>
                  <a:srgbClr val="CE9178"/>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a:t>
            </a:r>
            <a:r>
              <a:rPr lang="pl-PL" sz="800" spc="-60" dirty="0">
                <a:solidFill>
                  <a:srgbClr val="DCDCAA"/>
                </a:solidFill>
                <a:latin typeface="Consolas" panose="020B0609020204030204" pitchFamily="49" charset="0"/>
              </a:rPr>
              <a:t>max</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a:t>
            </a:r>
            <a:r>
              <a:rPr lang="pl-PL" sz="800" spc="-60" dirty="0">
                <a:solidFill>
                  <a:srgbClr val="DCDCAA"/>
                </a:solidFill>
                <a:latin typeface="Consolas" panose="020B0609020204030204" pitchFamily="49" charset="0"/>
              </a:rPr>
              <a:t>min</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r>
              <a:rPr lang="pl-PL" sz="800" spc="-60" dirty="0" err="1">
                <a:solidFill>
                  <a:srgbClr val="CE9178"/>
                </a:solidFill>
                <a:latin typeface="Consolas" panose="020B0609020204030204" pitchFamily="49" charset="0"/>
              </a:rPr>
              <a:t>n_pts</a:t>
            </a:r>
            <a:r>
              <a:rPr lang="pl-PL" sz="800" spc="-60" dirty="0">
                <a:solidFill>
                  <a:srgbClr val="CE9178"/>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DCDCAA"/>
                </a:solidFill>
                <a:latin typeface="Consolas" panose="020B0609020204030204" pitchFamily="49" charset="0"/>
              </a:rPr>
              <a:t>len</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layer</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p>
          <a:p>
            <a:pPr>
              <a:lnSpc>
                <a:spcPts val="900"/>
              </a:lnSpc>
            </a:pP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return</a:t>
            </a:r>
            <a:r>
              <a:rPr lang="pl-PL" sz="800" spc="-60" dirty="0">
                <a:solidFill>
                  <a:srgbClr val="CCCCCC"/>
                </a:solidFill>
                <a:latin typeface="Consolas" panose="020B0609020204030204" pitchFamily="49" charset="0"/>
              </a:rPr>
              <a:t> </a:t>
            </a:r>
            <a:r>
              <a:rPr lang="pl-PL" sz="800" spc="-60" dirty="0" err="1">
                <a:solidFill>
                  <a:srgbClr val="DCDCAA"/>
                </a:solidFill>
                <a:latin typeface="Consolas" panose="020B0609020204030204" pitchFamily="49" charset="0"/>
              </a:rPr>
              <a:t>sorted</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stairs</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key</a:t>
            </a:r>
            <a:r>
              <a:rPr lang="pl-PL" sz="800" spc="-60" dirty="0">
                <a:solidFill>
                  <a:srgbClr val="D4D4D4"/>
                </a:solidFill>
                <a:latin typeface="Consolas" panose="020B0609020204030204" pitchFamily="49" charset="0"/>
              </a:rPr>
              <a:t>=</a:t>
            </a:r>
            <a:r>
              <a:rPr lang="pl-PL" sz="800" spc="-60" dirty="0">
                <a:solidFill>
                  <a:srgbClr val="569CD6"/>
                </a:solidFill>
                <a:latin typeface="Consolas" panose="020B0609020204030204" pitchFamily="49" charset="0"/>
              </a:rPr>
              <a:t>lambda</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a:t>
            </a:r>
            <a:r>
              <a:rPr lang="pl-PL" sz="800" spc="-60" dirty="0">
                <a:solidFill>
                  <a:srgbClr val="CCCCCC"/>
                </a:solidFill>
                <a:latin typeface="Consolas" panose="020B0609020204030204" pitchFamily="49" charset="0"/>
              </a:rPr>
              <a:t>[</a:t>
            </a:r>
            <a:r>
              <a:rPr lang="pl-PL" sz="800" spc="-60" dirty="0">
                <a:solidFill>
                  <a:srgbClr val="CE9178"/>
                </a:solidFill>
                <a:latin typeface="Consolas" panose="020B0609020204030204" pitchFamily="49" charset="0"/>
              </a:rPr>
              <a:t>'z'</a:t>
            </a:r>
            <a:r>
              <a:rPr lang="pl-PL" sz="800" spc="-60" dirty="0">
                <a:solidFill>
                  <a:srgbClr val="CCCCCC"/>
                </a:solidFill>
                <a:latin typeface="Consolas" panose="020B0609020204030204" pitchFamily="49" charset="0"/>
              </a:rPr>
              <a:t>]) </a:t>
            </a:r>
            <a:r>
              <a:rPr lang="pl-PL" sz="800" spc="-60" dirty="0" smtClean="0">
                <a:solidFill>
                  <a:srgbClr val="6A9955"/>
                </a:solidFill>
                <a:latin typeface="Consolas" panose="020B0609020204030204" pitchFamily="49" charset="0"/>
              </a:rPr>
              <a:t># </a:t>
            </a:r>
            <a:r>
              <a:rPr lang="pl-PL" sz="800" spc="-60" dirty="0">
                <a:solidFill>
                  <a:srgbClr val="6A9955"/>
                </a:solidFill>
                <a:latin typeface="Consolas" panose="020B0609020204030204" pitchFamily="49" charset="0"/>
              </a:rPr>
              <a:t>rosnąco wg wysokości</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r>
            <a:br>
              <a:rPr lang="pl-PL" sz="800" spc="-60" dirty="0">
                <a:solidFill>
                  <a:srgbClr val="CCCCCC"/>
                </a:solidFill>
                <a:latin typeface="Consolas" panose="020B0609020204030204" pitchFamily="49" charset="0"/>
              </a:rPr>
            </a:br>
            <a:r>
              <a:rPr lang="pl-PL" sz="800" spc="-60" dirty="0">
                <a:solidFill>
                  <a:srgbClr val="CCCCCC"/>
                </a:solidFill>
                <a:latin typeface="Consolas" panose="020B0609020204030204" pitchFamily="49" charset="0"/>
              </a:rPr>
              <a:t/>
            </a:r>
            <a:br>
              <a:rPr lang="pl-PL" sz="800" spc="-60" dirty="0">
                <a:solidFill>
                  <a:srgbClr val="CCCCCC"/>
                </a:solidFill>
                <a:latin typeface="Consolas" panose="020B0609020204030204" pitchFamily="49" charset="0"/>
              </a:rPr>
            </a:br>
            <a:r>
              <a:rPr lang="pl-PL" sz="800" spc="-60" dirty="0">
                <a:solidFill>
                  <a:srgbClr val="569CD6"/>
                </a:solidFill>
                <a:latin typeface="Consolas" panose="020B0609020204030204" pitchFamily="49" charset="0"/>
              </a:rPr>
              <a:t>def</a:t>
            </a:r>
            <a:r>
              <a:rPr lang="pl-PL" sz="800" spc="-60" dirty="0">
                <a:solidFill>
                  <a:srgbClr val="CCCCCC"/>
                </a:solidFill>
                <a:latin typeface="Consolas" panose="020B0609020204030204" pitchFamily="49" charset="0"/>
              </a:rPr>
              <a:t> </a:t>
            </a:r>
            <a:r>
              <a:rPr lang="pl-PL" sz="800" spc="-60" dirty="0" err="1">
                <a:solidFill>
                  <a:srgbClr val="DCDCAA"/>
                </a:solidFill>
                <a:latin typeface="Consolas" panose="020B0609020204030204" pitchFamily="49" charset="0"/>
              </a:rPr>
              <a:t>plan_stair_footsteps</a:t>
            </a:r>
            <a:r>
              <a:rPr lang="pl-PL" sz="800" spc="-60" dirty="0">
                <a:solidFill>
                  <a:srgbClr val="CCCCCC"/>
                </a:solidFill>
                <a:latin typeface="Consolas" panose="020B0609020204030204" pitchFamily="49" charset="0"/>
              </a:rPr>
              <a:t>(</a:t>
            </a:r>
            <a:r>
              <a:rPr lang="pl-PL" sz="800" spc="-60" dirty="0" err="1">
                <a:solidFill>
                  <a:srgbClr val="9CDCFE"/>
                </a:solidFill>
                <a:latin typeface="Consolas" panose="020B0609020204030204" pitchFamily="49" charset="0"/>
              </a:rPr>
              <a:t>stairs</a:t>
            </a:r>
            <a:r>
              <a:rPr lang="pl-PL" sz="800" spc="-60" dirty="0">
                <a:solidFill>
                  <a:srgbClr val="CCCCCC"/>
                </a:solidFill>
                <a:latin typeface="Consolas" panose="020B0609020204030204" pitchFamily="49" charset="0"/>
              </a:rPr>
              <a:t>: </a:t>
            </a:r>
            <a:r>
              <a:rPr lang="pl-PL" sz="800" spc="-60" dirty="0" smtClean="0">
                <a:solidFill>
                  <a:srgbClr val="4EC9B0"/>
                </a:solidFill>
                <a:latin typeface="Consolas" panose="020B0609020204030204" pitchFamily="49" charset="0"/>
              </a:rPr>
              <a:t>list</a:t>
            </a:r>
            <a:r>
              <a:rPr lang="pl-PL" sz="800" spc="-60" dirty="0" smtClean="0">
                <a:solidFill>
                  <a:srgbClr val="CCCCCC"/>
                </a:solidFill>
                <a:latin typeface="Consolas" panose="020B0609020204030204" pitchFamily="49" charset="0"/>
              </a:rPr>
              <a:t>, </a:t>
            </a:r>
            <a:r>
              <a:rPr lang="pl-PL" sz="800" spc="-60" dirty="0" err="1" smtClean="0">
                <a:solidFill>
                  <a:srgbClr val="9CDCFE"/>
                </a:solidFill>
                <a:latin typeface="Consolas" panose="020B0609020204030204" pitchFamily="49" charset="0"/>
              </a:rPr>
              <a:t>step_width</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0.18</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margin</a:t>
            </a:r>
            <a:r>
              <a:rPr lang="pl-PL" sz="800" spc="-60" dirty="0">
                <a:solidFill>
                  <a:srgbClr val="CCCCCC"/>
                </a:solidFill>
                <a:latin typeface="Consolas" panose="020B0609020204030204" pitchFamily="49" charset="0"/>
              </a:rPr>
              <a:t>: </a:t>
            </a:r>
            <a:r>
              <a:rPr lang="pl-PL" sz="800" spc="-60" dirty="0" err="1">
                <a:solidFill>
                  <a:srgbClr val="4EC9B0"/>
                </a:solidFill>
                <a:latin typeface="Consolas" panose="020B0609020204030204" pitchFamily="49" charset="0"/>
              </a:rPr>
              <a:t>float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0.03</a:t>
            </a:r>
            <a:r>
              <a:rPr lang="pl-PL" sz="800" spc="-60" dirty="0">
                <a:solidFill>
                  <a:srgbClr val="CCCCCC"/>
                </a:solidFill>
                <a:latin typeface="Consolas" panose="020B0609020204030204" pitchFamily="49" charset="0"/>
              </a:rPr>
              <a:t>) -&gt; </a:t>
            </a:r>
            <a:r>
              <a:rPr lang="pl-PL" sz="800" spc="-60" dirty="0">
                <a:solidFill>
                  <a:srgbClr val="4EC9B0"/>
                </a:solidFill>
                <a:latin typeface="Consolas" panose="020B0609020204030204" pitchFamily="49" charset="0"/>
              </a:rPr>
              <a:t>list</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Generuje naprzemienne L/P cele stóp dla wykrytych stopni.</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a:t>
            </a:r>
            <a:r>
              <a:rPr lang="pl-PL" sz="800" spc="-60" dirty="0" err="1">
                <a:solidFill>
                  <a:srgbClr val="CE9178"/>
                </a:solidFill>
                <a:latin typeface="Consolas" panose="020B0609020204030204" pitchFamily="49" charset="0"/>
              </a:rPr>
              <a:t>margin</a:t>
            </a:r>
            <a:r>
              <a:rPr lang="pl-PL" sz="800" spc="-60" dirty="0">
                <a:solidFill>
                  <a:srgbClr val="CE9178"/>
                </a:solidFill>
                <a:latin typeface="Consolas" panose="020B0609020204030204" pitchFamily="49" charset="0"/>
              </a:rPr>
              <a:t>: [m] odległość od krawędzi stopnia</a:t>
            </a:r>
            <a:endParaRPr lang="pl-PL" sz="800" spc="-60" dirty="0">
              <a:solidFill>
                <a:srgbClr val="CCCCCC"/>
              </a:solidFill>
              <a:latin typeface="Consolas" panose="020B0609020204030204" pitchFamily="49" charset="0"/>
            </a:endParaRPr>
          </a:p>
          <a:p>
            <a:pPr>
              <a:lnSpc>
                <a:spcPts val="900"/>
              </a:lnSpc>
            </a:pPr>
            <a:r>
              <a:rPr lang="pl-PL" sz="800" spc="-60" dirty="0">
                <a:solidFill>
                  <a:srgbClr val="CE9178"/>
                </a:solidFill>
                <a:latin typeface="Consolas" panose="020B0609020204030204" pitchFamily="49" charset="0"/>
              </a:rPr>
              <a:t>    """</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footsteps</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left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4FC1FF"/>
                </a:solidFill>
                <a:latin typeface="Consolas" panose="020B0609020204030204" pitchFamily="49" charset="0"/>
              </a:rPr>
              <a:t>True</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for</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step</a:t>
            </a: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in</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stairs</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foot_x</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step</a:t>
            </a:r>
            <a:r>
              <a:rPr lang="pl-PL" sz="800" spc="-60" dirty="0">
                <a:solidFill>
                  <a:srgbClr val="CCCCCC"/>
                </a:solidFill>
                <a:latin typeface="Consolas" panose="020B0609020204030204" pitchFamily="49" charset="0"/>
              </a:rPr>
              <a:t>[</a:t>
            </a:r>
            <a:r>
              <a:rPr lang="pl-PL" sz="800" spc="-60" dirty="0">
                <a:solidFill>
                  <a:srgbClr val="CE9178"/>
                </a:solidFill>
                <a:latin typeface="Consolas" panose="020B0609020204030204" pitchFamily="49" charset="0"/>
              </a:rPr>
              <a:t>'x'</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margin</a:t>
            </a:r>
            <a:r>
              <a:rPr lang="pl-PL" sz="800" spc="-60" dirty="0">
                <a:solidFill>
                  <a:srgbClr val="CCCCCC"/>
                </a:solidFill>
                <a:latin typeface="Consolas" panose="020B0609020204030204" pitchFamily="49" charset="0"/>
              </a:rPr>
              <a:t>    </a:t>
            </a:r>
            <a:r>
              <a:rPr lang="pl-PL" sz="800" spc="-60" dirty="0">
                <a:solidFill>
                  <a:srgbClr val="6A9955"/>
                </a:solidFill>
                <a:latin typeface="Consolas" panose="020B0609020204030204" pitchFamily="49" charset="0"/>
              </a:rPr>
              <a:t># cofnij od krawędzi przedniej</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foot_y</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step</a:t>
            </a:r>
            <a:r>
              <a:rPr lang="pl-PL" sz="800" spc="-60" dirty="0">
                <a:solidFill>
                  <a:srgbClr val="CCCCCC"/>
                </a:solidFill>
                <a:latin typeface="Consolas" panose="020B0609020204030204" pitchFamily="49" charset="0"/>
              </a:rPr>
              <a:t>[</a:t>
            </a:r>
            <a:r>
              <a:rPr lang="pl-PL" sz="800" spc="-60" dirty="0">
                <a:solidFill>
                  <a:srgbClr val="CE9178"/>
                </a:solidFill>
                <a:latin typeface="Consolas" panose="020B0609020204030204" pitchFamily="49" charset="0"/>
              </a:rPr>
              <a:t>'y'</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step_width</a:t>
            </a:r>
            <a:r>
              <a:rPr lang="pl-PL" sz="800" spc="-60" dirty="0">
                <a:solidFill>
                  <a:srgbClr val="D4D4D4"/>
                </a:solidFill>
                <a:latin typeface="Consolas" panose="020B0609020204030204" pitchFamily="49" charset="0"/>
              </a:rPr>
              <a:t>/</a:t>
            </a:r>
            <a:r>
              <a:rPr lang="pl-PL" sz="800" spc="-60" dirty="0">
                <a:solidFill>
                  <a:srgbClr val="B5CEA8"/>
                </a:solidFill>
                <a:latin typeface="Consolas" panose="020B0609020204030204" pitchFamily="49" charset="0"/>
              </a:rPr>
              <a:t>2</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 </a:t>
            </a:r>
            <a:r>
              <a:rPr lang="pl-PL" sz="800" spc="-60" dirty="0" err="1">
                <a:solidFill>
                  <a:srgbClr val="C586C0"/>
                </a:solidFill>
                <a:latin typeface="Consolas" panose="020B0609020204030204" pitchFamily="49" charset="0"/>
              </a:rPr>
              <a:t>if</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left</a:t>
            </a:r>
            <a:r>
              <a:rPr lang="pl-PL" sz="800" spc="-60" dirty="0">
                <a:solidFill>
                  <a:srgbClr val="CCCCCC"/>
                </a:solidFill>
                <a:latin typeface="Consolas" panose="020B0609020204030204" pitchFamily="49" charset="0"/>
              </a:rPr>
              <a:t> </a:t>
            </a:r>
            <a:r>
              <a:rPr lang="pl-PL" sz="800" spc="-60" dirty="0" err="1">
                <a:solidFill>
                  <a:srgbClr val="C586C0"/>
                </a:solidFill>
                <a:latin typeface="Consolas" panose="020B0609020204030204" pitchFamily="49" charset="0"/>
              </a:rPr>
              <a:t>else</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B5CEA8"/>
                </a:solidFill>
                <a:latin typeface="Consolas" panose="020B0609020204030204" pitchFamily="49" charset="0"/>
              </a:rPr>
              <a:t>1</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footsteps</a:t>
            </a:r>
            <a:r>
              <a:rPr lang="pl-PL" sz="800" spc="-60" dirty="0" err="1">
                <a:solidFill>
                  <a:srgbClr val="CCCCCC"/>
                </a:solidFill>
                <a:latin typeface="Consolas" panose="020B0609020204030204" pitchFamily="49" charset="0"/>
              </a:rPr>
              <a:t>.</a:t>
            </a:r>
            <a:r>
              <a:rPr lang="pl-PL" sz="800" spc="-60" dirty="0" err="1">
                <a:solidFill>
                  <a:srgbClr val="DCDCAA"/>
                </a:solidFill>
                <a:latin typeface="Consolas" panose="020B0609020204030204" pitchFamily="49" charset="0"/>
              </a:rPr>
              <a:t>append</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'x'</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foot_x</a:t>
            </a: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'y'</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foot_y</a:t>
            </a: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'z'</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step</a:t>
            </a:r>
            <a:r>
              <a:rPr lang="pl-PL" sz="800" spc="-60" dirty="0">
                <a:solidFill>
                  <a:srgbClr val="CCCCCC"/>
                </a:solidFill>
                <a:latin typeface="Consolas" panose="020B0609020204030204" pitchFamily="49" charset="0"/>
              </a:rPr>
              <a:t>[</a:t>
            </a:r>
            <a:r>
              <a:rPr lang="pl-PL" sz="800" spc="-60" dirty="0">
                <a:solidFill>
                  <a:srgbClr val="CE9178"/>
                </a:solidFill>
                <a:latin typeface="Consolas" panose="020B0609020204030204" pitchFamily="49" charset="0"/>
              </a:rPr>
              <a:t>'z'</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r>
              <a:rPr lang="pl-PL" sz="800" spc="-60" dirty="0" err="1">
                <a:solidFill>
                  <a:srgbClr val="CE9178"/>
                </a:solidFill>
                <a:latin typeface="Consolas" panose="020B0609020204030204" pitchFamily="49" charset="0"/>
              </a:rPr>
              <a:t>yaw</a:t>
            </a:r>
            <a:r>
              <a:rPr lang="pl-PL" sz="800" spc="-60" dirty="0">
                <a:solidFill>
                  <a:srgbClr val="CE9178"/>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0.0</a:t>
            </a: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r>
              <a:rPr lang="pl-PL" sz="800" spc="-60" dirty="0" err="1">
                <a:solidFill>
                  <a:srgbClr val="CE9178"/>
                </a:solidFill>
                <a:latin typeface="Consolas" panose="020B0609020204030204" pitchFamily="49" charset="0"/>
              </a:rPr>
              <a:t>left</a:t>
            </a:r>
            <a:r>
              <a:rPr lang="pl-PL" sz="800" spc="-60" dirty="0">
                <a:solidFill>
                  <a:srgbClr val="CE9178"/>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left</a:t>
            </a:r>
            <a:r>
              <a:rPr lang="pl-PL" sz="800" spc="-60" dirty="0">
                <a:solidFill>
                  <a:srgbClr val="CCCCCC"/>
                </a:solidFill>
                <a:latin typeface="Consolas" panose="020B0609020204030204" pitchFamily="49" charset="0"/>
              </a:rPr>
              <a:t>,</a:t>
            </a:r>
          </a:p>
          <a:p>
            <a:pPr>
              <a:lnSpc>
                <a:spcPts val="900"/>
              </a:lnSpc>
            </a:pPr>
            <a:r>
              <a:rPr lang="pl-PL" sz="800" spc="-60" dirty="0">
                <a:solidFill>
                  <a:srgbClr val="CCCCCC"/>
                </a:solidFill>
                <a:latin typeface="Consolas" panose="020B0609020204030204" pitchFamily="49" charset="0"/>
              </a:rPr>
              <a:t>            </a:t>
            </a:r>
            <a:r>
              <a:rPr lang="pl-PL" sz="800" spc="-60" dirty="0">
                <a:solidFill>
                  <a:srgbClr val="CE9178"/>
                </a:solidFill>
                <a:latin typeface="Consolas" panose="020B0609020204030204" pitchFamily="49" charset="0"/>
              </a:rPr>
              <a:t>'</a:t>
            </a:r>
            <a:r>
              <a:rPr lang="pl-PL" sz="800" spc="-60" dirty="0" err="1">
                <a:solidFill>
                  <a:srgbClr val="CE9178"/>
                </a:solidFill>
                <a:latin typeface="Consolas" panose="020B0609020204030204" pitchFamily="49" charset="0"/>
              </a:rPr>
              <a:t>clearance</a:t>
            </a:r>
            <a:r>
              <a:rPr lang="pl-PL" sz="800" spc="-60" dirty="0">
                <a:solidFill>
                  <a:srgbClr val="CE9178"/>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9CDCFE"/>
                </a:solidFill>
                <a:latin typeface="Consolas" panose="020B0609020204030204" pitchFamily="49" charset="0"/>
              </a:rPr>
              <a:t>step</a:t>
            </a:r>
            <a:r>
              <a:rPr lang="pl-PL" sz="800" spc="-60" dirty="0">
                <a:solidFill>
                  <a:srgbClr val="CCCCCC"/>
                </a:solidFill>
                <a:latin typeface="Consolas" panose="020B0609020204030204" pitchFamily="49" charset="0"/>
              </a:rPr>
              <a:t>[</a:t>
            </a:r>
            <a:r>
              <a:rPr lang="pl-PL" sz="800" spc="-60" dirty="0">
                <a:solidFill>
                  <a:srgbClr val="CE9178"/>
                </a:solidFill>
                <a:latin typeface="Consolas" panose="020B0609020204030204" pitchFamily="49" charset="0"/>
              </a:rPr>
              <a:t>'z'</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B5CEA8"/>
                </a:solidFill>
                <a:latin typeface="Consolas" panose="020B0609020204030204" pitchFamily="49" charset="0"/>
              </a:rPr>
              <a:t>0.05</a:t>
            </a:r>
            <a:r>
              <a:rPr lang="pl-PL" sz="800" spc="-60" dirty="0">
                <a:solidFill>
                  <a:srgbClr val="CCCCCC"/>
                </a:solidFill>
                <a:latin typeface="Consolas" panose="020B0609020204030204" pitchFamily="49" charset="0"/>
              </a:rPr>
              <a:t> </a:t>
            </a:r>
            <a:r>
              <a:rPr lang="pl-PL" sz="800" spc="-100" dirty="0" smtClean="0">
                <a:solidFill>
                  <a:srgbClr val="6A9955"/>
                </a:solidFill>
                <a:latin typeface="Consolas" panose="020B0609020204030204" pitchFamily="49" charset="0"/>
              </a:rPr>
              <a:t># unieś stopę </a:t>
            </a:r>
            <a:r>
              <a:rPr lang="pl-PL" sz="800" spc="-100" dirty="0">
                <a:solidFill>
                  <a:srgbClr val="6A9955"/>
                </a:solidFill>
                <a:latin typeface="Consolas" panose="020B0609020204030204" pitchFamily="49" charset="0"/>
              </a:rPr>
              <a:t>o 5 cm nad stopień</a:t>
            </a:r>
            <a:endParaRPr lang="pl-PL" sz="800" spc="-10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p>
          <a:p>
            <a:pPr>
              <a:lnSpc>
                <a:spcPts val="900"/>
              </a:lnSpc>
            </a:pP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left</a:t>
            </a:r>
            <a:r>
              <a:rPr lang="pl-PL" sz="800" spc="-60" dirty="0">
                <a:solidFill>
                  <a:srgbClr val="CCCCCC"/>
                </a:solidFill>
                <a:latin typeface="Consolas" panose="020B0609020204030204" pitchFamily="49" charset="0"/>
              </a:rPr>
              <a:t> </a:t>
            </a:r>
            <a:r>
              <a:rPr lang="pl-PL" sz="800" spc="-60" dirty="0">
                <a:solidFill>
                  <a:srgbClr val="D4D4D4"/>
                </a:solidFill>
                <a:latin typeface="Consolas" panose="020B0609020204030204" pitchFamily="49" charset="0"/>
              </a:rPr>
              <a:t>=</a:t>
            </a:r>
            <a:r>
              <a:rPr lang="pl-PL" sz="800" spc="-60" dirty="0">
                <a:solidFill>
                  <a:srgbClr val="CCCCCC"/>
                </a:solidFill>
                <a:latin typeface="Consolas" panose="020B0609020204030204" pitchFamily="49" charset="0"/>
              </a:rPr>
              <a:t> </a:t>
            </a:r>
            <a:r>
              <a:rPr lang="pl-PL" sz="800" spc="-60" dirty="0">
                <a:solidFill>
                  <a:srgbClr val="569CD6"/>
                </a:solidFill>
                <a:latin typeface="Consolas" panose="020B0609020204030204" pitchFamily="49" charset="0"/>
              </a:rPr>
              <a:t>not</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left</a:t>
            </a:r>
            <a:endParaRPr lang="pl-PL" sz="800" spc="-60" dirty="0">
              <a:solidFill>
                <a:srgbClr val="CCCCCC"/>
              </a:solidFill>
              <a:latin typeface="Consolas" panose="020B0609020204030204" pitchFamily="49" charset="0"/>
            </a:endParaRPr>
          </a:p>
          <a:p>
            <a:pPr>
              <a:lnSpc>
                <a:spcPts val="900"/>
              </a:lnSpc>
            </a:pPr>
            <a:r>
              <a:rPr lang="pl-PL" sz="800" spc="-60" dirty="0">
                <a:solidFill>
                  <a:srgbClr val="CCCCCC"/>
                </a:solidFill>
                <a:latin typeface="Consolas" panose="020B0609020204030204" pitchFamily="49" charset="0"/>
              </a:rPr>
              <a:t>    </a:t>
            </a:r>
            <a:r>
              <a:rPr lang="pl-PL" sz="800" spc="-60" dirty="0">
                <a:solidFill>
                  <a:srgbClr val="C586C0"/>
                </a:solidFill>
                <a:latin typeface="Consolas" panose="020B0609020204030204" pitchFamily="49" charset="0"/>
              </a:rPr>
              <a:t>return</a:t>
            </a:r>
            <a:r>
              <a:rPr lang="pl-PL" sz="800" spc="-60" dirty="0">
                <a:solidFill>
                  <a:srgbClr val="CCCCCC"/>
                </a:solidFill>
                <a:latin typeface="Consolas" panose="020B0609020204030204" pitchFamily="49" charset="0"/>
              </a:rPr>
              <a:t> </a:t>
            </a:r>
            <a:r>
              <a:rPr lang="pl-PL" sz="800" spc="-60" dirty="0" err="1">
                <a:solidFill>
                  <a:srgbClr val="9CDCFE"/>
                </a:solidFill>
                <a:latin typeface="Consolas" panose="020B0609020204030204" pitchFamily="49" charset="0"/>
              </a:rPr>
              <a:t>footsteps</a:t>
            </a:r>
            <a:endParaRPr lang="pl-PL" sz="800" b="0" spc="-60" dirty="0">
              <a:solidFill>
                <a:srgbClr val="CCCCCC"/>
              </a:solidFill>
              <a:effectLst/>
              <a:latin typeface="Consolas" panose="020B0609020204030204" pitchFamily="49" charset="0"/>
            </a:endParaRPr>
          </a:p>
        </p:txBody>
      </p:sp>
      <p:sp>
        <p:nvSpPr>
          <p:cNvPr id="11" name="Shape 9"/>
          <p:cNvSpPr/>
          <p:nvPr/>
        </p:nvSpPr>
        <p:spPr>
          <a:xfrm>
            <a:off x="274319" y="4453054"/>
            <a:ext cx="8661251" cy="484706"/>
          </a:xfrm>
          <a:prstGeom prst="rect">
            <a:avLst/>
          </a:prstGeom>
          <a:solidFill>
            <a:srgbClr val="1A3550"/>
          </a:solidFill>
          <a:ln w="12700">
            <a:solidFill>
              <a:srgbClr val="0077A8"/>
            </a:solidFill>
            <a:prstDash val="solid"/>
          </a:ln>
        </p:spPr>
      </p:sp>
      <mc:AlternateContent xmlns:mc="http://schemas.openxmlformats.org/markup-compatibility/2006" xmlns:a14="http://schemas.microsoft.com/office/drawing/2010/main">
        <mc:Choice Requires="a14">
          <p:sp>
            <p:nvSpPr>
              <p:cNvPr id="12" name="Text 10"/>
              <p:cNvSpPr/>
              <p:nvPr/>
            </p:nvSpPr>
            <p:spPr>
              <a:xfrm>
                <a:off x="274320" y="4453054"/>
                <a:ext cx="8595361" cy="484706"/>
              </a:xfrm>
              <a:prstGeom prst="rect">
                <a:avLst/>
              </a:prstGeom>
              <a:noFill/>
              <a:ln/>
            </p:spPr>
            <p:txBody>
              <a:bodyPr wrap="square" lIns="0" tIns="0" rIns="127000" bIns="0" rtlCol="0" anchor="ctr"/>
              <a:lstStyle/>
              <a:p>
                <a:pPr algn="ctr"/>
                <a:r>
                  <a:rPr lang="pl-PL" sz="1600" spc="-60" dirty="0" err="1" smtClean="0">
                    <a:solidFill>
                      <a:schemeClr val="bg1"/>
                    </a:solidFill>
                  </a:rPr>
                  <a:t>Binowanie</a:t>
                </a:r>
                <a:r>
                  <a:rPr lang="pl-PL" sz="1600" spc="-60" dirty="0" smtClean="0">
                    <a:solidFill>
                      <a:schemeClr val="bg1"/>
                    </a:solidFill>
                  </a:rPr>
                  <a:t> po z co 3 cm; STD &lt; 1.5 cm = plaska płaszczyzna; </a:t>
                </a:r>
                <a:r>
                  <a:rPr lang="pl-PL" sz="1600" spc="-60" dirty="0" err="1" smtClean="0">
                    <a:solidFill>
                      <a:schemeClr val="bg1"/>
                    </a:solidFill>
                  </a:rPr>
                  <a:t>margin</a:t>
                </a:r>
                <a:r>
                  <a:rPr lang="pl-PL" sz="1600" spc="-60" dirty="0" smtClean="0">
                    <a:solidFill>
                      <a:schemeClr val="bg1"/>
                    </a:solidFill>
                  </a:rPr>
                  <a:t>=3 cm od krawędzi stopnia (bezpieczeństwo)</a:t>
                </a:r>
              </a:p>
            </p:txBody>
          </p:sp>
        </mc:Choice>
        <mc:Fallback xmlns="">
          <p:sp>
            <p:nvSpPr>
              <p:cNvPr id="12" name="Text 10"/>
              <p:cNvSpPr>
                <a:spLocks noRot="1" noChangeAspect="1" noMove="1" noResize="1" noEditPoints="1" noAdjustHandles="1" noChangeArrowheads="1" noChangeShapeType="1" noTextEdit="1"/>
              </p:cNvSpPr>
              <p:nvPr/>
            </p:nvSpPr>
            <p:spPr>
              <a:xfrm>
                <a:off x="274320" y="4453054"/>
                <a:ext cx="8595361" cy="484706"/>
              </a:xfrm>
              <a:prstGeom prst="rect">
                <a:avLst/>
              </a:prstGeom>
              <a:blipFill>
                <a:blip r:embed="rId3"/>
                <a:stretch>
                  <a:fillRect l="-638" b="-1250"/>
                </a:stretch>
              </a:blipFill>
              <a:ln/>
            </p:spPr>
            <p:txBody>
              <a:bodyPr/>
              <a:lstStyle/>
              <a:p>
                <a:r>
                  <a:rPr lang="pl-PL">
                    <a:noFill/>
                  </a:rPr>
                  <a:t> </a:t>
                </a:r>
              </a:p>
            </p:txBody>
          </p:sp>
        </mc:Fallback>
      </mc:AlternateContent>
      <p:sp>
        <p:nvSpPr>
          <p:cNvPr id="7" name="Prostokąt 6"/>
          <p:cNvSpPr/>
          <p:nvPr/>
        </p:nvSpPr>
        <p:spPr>
          <a:xfrm>
            <a:off x="166201" y="631420"/>
            <a:ext cx="6483369" cy="276999"/>
          </a:xfrm>
          <a:prstGeom prst="rect">
            <a:avLst/>
          </a:prstGeom>
        </p:spPr>
        <p:txBody>
          <a:bodyPr wrap="square">
            <a:spAutoFit/>
          </a:bodyPr>
          <a:lstStyle/>
          <a:p>
            <a:r>
              <a:rPr lang="pl-PL" sz="1200" i="1" dirty="0">
                <a:solidFill>
                  <a:srgbClr val="90C8D8"/>
                </a:solidFill>
              </a:rPr>
              <a:t>Segmentacja poziomych </a:t>
            </a:r>
            <a:r>
              <a:rPr lang="pl-PL" sz="1200" i="1" dirty="0" smtClean="0">
                <a:solidFill>
                  <a:srgbClr val="90C8D8"/>
                </a:solidFill>
              </a:rPr>
              <a:t>płaszczyzn </a:t>
            </a:r>
            <a:r>
              <a:rPr lang="pl-PL" sz="1200" i="1" dirty="0">
                <a:solidFill>
                  <a:srgbClr val="90C8D8"/>
                </a:solidFill>
              </a:rPr>
              <a:t>z </a:t>
            </a:r>
            <a:r>
              <a:rPr lang="pl-PL" sz="1200" i="1" dirty="0" err="1">
                <a:solidFill>
                  <a:srgbClr val="90C8D8"/>
                </a:solidFill>
              </a:rPr>
              <a:t>LiDAR</a:t>
            </a:r>
            <a:r>
              <a:rPr lang="pl-PL" sz="1200" i="1" dirty="0">
                <a:solidFill>
                  <a:srgbClr val="90C8D8"/>
                </a:solidFill>
              </a:rPr>
              <a:t>, generacja celów stóp na stopniach</a:t>
            </a:r>
          </a:p>
        </p:txBody>
      </p:sp>
    </p:spTree>
    <p:extLst>
      <p:ext uri="{BB962C8B-B14F-4D97-AF65-F5344CB8AC3E}">
        <p14:creationId xmlns:p14="http://schemas.microsoft.com/office/powerpoint/2010/main" val="13362013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22C55E"/>
          </a:solidFill>
          <a:ln w="12700">
            <a:solidFill>
              <a:srgbClr val="22C55E"/>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22C55E"/>
                </a:solidFill>
                <a:latin typeface="Trebuchet MS" pitchFamily="34" charset="0"/>
                <a:ea typeface="Trebuchet MS" pitchFamily="34" charset="-122"/>
                <a:cs typeface="Trebuchet MS" pitchFamily="34" charset="-120"/>
              </a:rPr>
              <a:t>SEKCJA 3 | CoM VS FOOTSTEPS</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pl-PL" sz="2400" b="1" dirty="0" smtClean="0">
                <a:solidFill>
                  <a:srgbClr val="FFFFFF"/>
                </a:solidFill>
                <a:latin typeface="Trebuchet MS" pitchFamily="34" charset="0"/>
                <a:ea typeface="Trebuchet MS" pitchFamily="34" charset="-122"/>
                <a:cs typeface="Trebuchet MS" pitchFamily="34" charset="-120"/>
              </a:rPr>
              <a:t>Trajektoria środka masy,</a:t>
            </a:r>
            <a:r>
              <a:rPr lang="en-US" sz="2400" b="1" dirty="0" smtClean="0">
                <a:solidFill>
                  <a:srgbClr val="FFFFFF"/>
                </a:solidFill>
                <a:latin typeface="Trebuchet MS" pitchFamily="34" charset="0"/>
                <a:ea typeface="Trebuchet MS" pitchFamily="34" charset="-122"/>
                <a:cs typeface="Trebuchet MS" pitchFamily="34" charset="-120"/>
              </a:rPr>
              <a:t> </a:t>
            </a:r>
            <a:r>
              <a:rPr lang="en-US" sz="2400" b="1" dirty="0">
                <a:solidFill>
                  <a:srgbClr val="FFFFFF"/>
                </a:solidFill>
                <a:latin typeface="Trebuchet MS" pitchFamily="34" charset="0"/>
                <a:ea typeface="Trebuchet MS" pitchFamily="34" charset="-122"/>
                <a:cs typeface="Trebuchet MS" pitchFamily="34" charset="-120"/>
              </a:rPr>
              <a:t>a sekwencja kroków</a:t>
            </a:r>
            <a:endParaRPr lang="en-US" sz="2400" dirty="0"/>
          </a:p>
        </p:txBody>
      </p:sp>
      <p:sp>
        <p:nvSpPr>
          <p:cNvPr id="6" name="Shape 4"/>
          <p:cNvSpPr/>
          <p:nvPr/>
        </p:nvSpPr>
        <p:spPr>
          <a:xfrm>
            <a:off x="274320" y="1097280"/>
            <a:ext cx="8595360" cy="2530583"/>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2290815"/>
          </a:xfrm>
          <a:prstGeom prst="rect">
            <a:avLst/>
          </a:prstGeom>
          <a:noFill/>
          <a:ln/>
        </p:spPr>
        <p:txBody>
          <a:bodyPr wrap="square" lIns="127000" tIns="36000" rIns="127000" bIns="0" rtlCol="0" anchor="t">
            <a:spAutoFit/>
          </a:bodyPr>
          <a:lstStyle/>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CoM</a:t>
            </a:r>
            <a:r>
              <a:rPr lang="en-US" sz="1450" dirty="0">
                <a:solidFill>
                  <a:srgbClr val="0D1B2A"/>
                </a:solidFill>
                <a:latin typeface="Calibri" pitchFamily="34" charset="0"/>
                <a:ea typeface="Calibri" pitchFamily="34" charset="-122"/>
                <a:cs typeface="Calibri" pitchFamily="34" charset="-120"/>
              </a:rPr>
              <a:t> (Centre of Mass) musi śledzić zaplanowane kroki przez model LIPM (Linear Inverted Pendulum)</a:t>
            </a:r>
            <a:endParaRPr lang="en-US" sz="1450" dirty="0"/>
          </a:p>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Przy podwójnym podparciu</a:t>
            </a:r>
            <a:r>
              <a:rPr lang="en-US" sz="1450" dirty="0">
                <a:solidFill>
                  <a:srgbClr val="0D1B2A"/>
                </a:solidFill>
                <a:latin typeface="Calibri" pitchFamily="34" charset="0"/>
                <a:ea typeface="Calibri" pitchFamily="34" charset="-122"/>
                <a:cs typeface="Calibri" pitchFamily="34" charset="-120"/>
              </a:rPr>
              <a:t>: CoM przesuwa się od poprzedniej stopy do następnej</a:t>
            </a:r>
            <a:endParaRPr lang="en-US" sz="1450" dirty="0"/>
          </a:p>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Przy pojedynczym podparciu </a:t>
            </a:r>
            <a:r>
              <a:rPr lang="en-US" sz="1450" dirty="0">
                <a:solidFill>
                  <a:srgbClr val="0D1B2A"/>
                </a:solidFill>
                <a:latin typeface="Calibri" pitchFamily="34" charset="0"/>
                <a:ea typeface="Calibri" pitchFamily="34" charset="-122"/>
                <a:cs typeface="Calibri" pitchFamily="34" charset="-120"/>
              </a:rPr>
              <a:t>(faza swing): CoM podąża parabolą wyznaczoną przez ZMP</a:t>
            </a:r>
            <a:endParaRPr lang="en-US" sz="1450" dirty="0"/>
          </a:p>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Sprzężenie</a:t>
            </a:r>
            <a:r>
              <a:rPr lang="en-US" sz="1450" dirty="0">
                <a:solidFill>
                  <a:srgbClr val="0D1B2A"/>
                </a:solidFill>
                <a:latin typeface="Calibri" pitchFamily="34" charset="0"/>
                <a:ea typeface="Calibri" pitchFamily="34" charset="-122"/>
                <a:cs typeface="Calibri" pitchFamily="34" charset="-120"/>
              </a:rPr>
              <a:t>: sekwencja kroków → trajektoria ZMP → trajektoria CoM (generator QP)</a:t>
            </a:r>
            <a:endParaRPr lang="en-US" sz="1450" dirty="0"/>
          </a:p>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Weryfikacja online</a:t>
            </a:r>
            <a:r>
              <a:rPr lang="en-US" sz="1450" dirty="0">
                <a:solidFill>
                  <a:srgbClr val="0D1B2A"/>
                </a:solidFill>
                <a:latin typeface="Calibri" pitchFamily="34" charset="0"/>
                <a:ea typeface="Calibri" pitchFamily="34" charset="-122"/>
                <a:cs typeface="Calibri" pitchFamily="34" charset="-120"/>
              </a:rPr>
              <a:t>: ZMP(t) ∈ convex hull(stopa_oparta) przez cały cykl kroku</a:t>
            </a:r>
            <a:endParaRPr lang="en-US" sz="1450" dirty="0"/>
          </a:p>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Narzędzie</a:t>
            </a:r>
            <a:r>
              <a:rPr lang="en-US" sz="1450" dirty="0">
                <a:solidFill>
                  <a:srgbClr val="0D1B2A"/>
                </a:solidFill>
                <a:latin typeface="Calibri" pitchFamily="34" charset="0"/>
                <a:ea typeface="Calibri" pitchFamily="34" charset="-122"/>
                <a:cs typeface="Calibri" pitchFamily="34" charset="-120"/>
              </a:rPr>
              <a:t>: biblioteki Choreonoid, OpenHRP, ROS2 Whole Body Controller</a:t>
            </a:r>
            <a:endParaRPr lang="en-US" sz="1450" dirty="0"/>
          </a:p>
          <a:p>
            <a:pPr marL="342900" indent="-342900">
              <a:spcAft>
                <a:spcPts val="900"/>
              </a:spcAft>
              <a:buSzPct val="100000"/>
              <a:buChar char="•"/>
            </a:pPr>
            <a:r>
              <a:rPr lang="en-US" sz="1450" b="1" dirty="0">
                <a:solidFill>
                  <a:srgbClr val="0D1B2A"/>
                </a:solidFill>
                <a:latin typeface="Calibri" pitchFamily="34" charset="0"/>
                <a:ea typeface="Calibri" pitchFamily="34" charset="-122"/>
                <a:cs typeface="Calibri" pitchFamily="34" charset="-120"/>
              </a:rPr>
              <a:t>Kompromis</a:t>
            </a:r>
            <a:r>
              <a:rPr lang="en-US" sz="1450" dirty="0">
                <a:solidFill>
                  <a:srgbClr val="0D1B2A"/>
                </a:solidFill>
                <a:latin typeface="Calibri" pitchFamily="34" charset="0"/>
                <a:ea typeface="Calibri" pitchFamily="34" charset="-122"/>
                <a:cs typeface="Calibri" pitchFamily="34" charset="-120"/>
              </a:rPr>
              <a:t>: krótsze, częstsze kroki = lepsza stabilność CoM kosztem prędkości ruchu</a:t>
            </a:r>
            <a:endParaRPr lang="en-US" sz="1450" dirty="0"/>
          </a:p>
        </p:txBody>
      </p:sp>
      <p:sp>
        <p:nvSpPr>
          <p:cNvPr id="8" name="Prostokąt 7"/>
          <p:cNvSpPr/>
          <p:nvPr/>
        </p:nvSpPr>
        <p:spPr>
          <a:xfrm>
            <a:off x="274320" y="3786575"/>
            <a:ext cx="8595360"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dirty="0">
                <a:solidFill>
                  <a:schemeClr val="bg1"/>
                </a:solidFill>
              </a:rPr>
              <a:t>Sekwencja kroków określa, gdzie mają znaleźć się stopy, ale stabilny chód wymaga również zaplanowania trajektorii środka masy. Model LIPM pozwala uprościć dynamikę humanoida i powiązać ruch </a:t>
            </a:r>
            <a:r>
              <a:rPr lang="pl-PL" sz="1400" dirty="0" err="1">
                <a:solidFill>
                  <a:schemeClr val="bg1"/>
                </a:solidFill>
              </a:rPr>
              <a:t>CoM</a:t>
            </a:r>
            <a:r>
              <a:rPr lang="pl-PL" sz="1400" dirty="0">
                <a:solidFill>
                  <a:schemeClr val="bg1"/>
                </a:solidFill>
              </a:rPr>
              <a:t> z położeniem ZMP. W fazie pojedynczego podparcia środek masy przemieszcza się względem jednej stopy podporowej, a w fazie podwójnego podparcia ZMP przechodzi między stopami. Im krótsze i częstsze kroki, tym łatwiej utrzymać stabilność, ale kosztem prędkości i efektywności ruchu.</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2">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16727"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SEKCJA 3 | DOBÓR PLANISTY</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400" b="1" dirty="0">
                <a:solidFill>
                  <a:srgbClr val="FFFFFF"/>
                </a:solidFill>
                <a:latin typeface="Trebuchet MS" pitchFamily="34" charset="0"/>
                <a:ea typeface="Trebuchet MS" pitchFamily="34" charset="-122"/>
                <a:cs typeface="Trebuchet MS" pitchFamily="34" charset="-120"/>
              </a:rPr>
              <a:t>Dobór planisty do konkretnej aplikacji</a:t>
            </a:r>
            <a:endParaRPr lang="en-US" sz="2400" dirty="0"/>
          </a:p>
        </p:txBody>
      </p:sp>
      <p:sp>
        <p:nvSpPr>
          <p:cNvPr id="6" name="Shape 4"/>
          <p:cNvSpPr/>
          <p:nvPr/>
        </p:nvSpPr>
        <p:spPr>
          <a:xfrm>
            <a:off x="274319" y="1143000"/>
            <a:ext cx="2741980" cy="124266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Shape 5"/>
          <p:cNvSpPr/>
          <p:nvPr/>
        </p:nvSpPr>
        <p:spPr>
          <a:xfrm>
            <a:off x="274319" y="1143000"/>
            <a:ext cx="2741980" cy="48716"/>
          </a:xfrm>
          <a:prstGeom prst="rect">
            <a:avLst/>
          </a:prstGeom>
          <a:solidFill>
            <a:srgbClr val="00B4D8"/>
          </a:solidFill>
          <a:ln w="12700">
            <a:solidFill>
              <a:srgbClr val="00B4D8"/>
            </a:solidFill>
            <a:prstDash val="solid"/>
          </a:ln>
        </p:spPr>
      </p:sp>
      <p:sp>
        <p:nvSpPr>
          <p:cNvPr id="8" name="Text 6"/>
          <p:cNvSpPr/>
          <p:nvPr/>
        </p:nvSpPr>
        <p:spPr>
          <a:xfrm>
            <a:off x="387780" y="1224195"/>
            <a:ext cx="2515057" cy="336033"/>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Laboratorium badawcze</a:t>
            </a:r>
            <a:endParaRPr lang="en-US" sz="1600" dirty="0"/>
          </a:p>
        </p:txBody>
      </p:sp>
      <p:sp>
        <p:nvSpPr>
          <p:cNvPr id="9" name="Text 7"/>
          <p:cNvSpPr/>
          <p:nvPr/>
        </p:nvSpPr>
        <p:spPr>
          <a:xfrm>
            <a:off x="349346" y="1773877"/>
            <a:ext cx="2553492" cy="486364"/>
          </a:xfrm>
          <a:prstGeom prst="rect">
            <a:avLst/>
          </a:prstGeom>
          <a:noFill/>
          <a:ln/>
        </p:spPr>
        <p:txBody>
          <a:bodyPr wrap="square" lIns="0" tIns="0" rIns="0" bIns="0" rtlCol="0" anchor="ctr"/>
          <a:lstStyle/>
          <a:p>
            <a:pPr marL="0" indent="0" algn="ctr">
              <a:buNone/>
            </a:pPr>
            <a:r>
              <a:rPr lang="en-US" sz="1100" spc="-30" dirty="0">
                <a:solidFill>
                  <a:srgbClr val="475569"/>
                </a:solidFill>
                <a:latin typeface="Calibri" pitchFamily="34" charset="0"/>
                <a:ea typeface="Calibri" pitchFamily="34" charset="-122"/>
                <a:cs typeface="Calibri" pitchFamily="34" charset="-120"/>
              </a:rPr>
              <a:t>A* + DWA; prosta cost map; footstep planer 2D; iteracyjna weryfikacja ZMP; MuJoCo do testów</a:t>
            </a:r>
            <a:endParaRPr lang="en-US" sz="1100" spc="-30" dirty="0"/>
          </a:p>
        </p:txBody>
      </p:sp>
      <p:sp>
        <p:nvSpPr>
          <p:cNvPr id="10" name="Shape 8"/>
          <p:cNvSpPr/>
          <p:nvPr/>
        </p:nvSpPr>
        <p:spPr>
          <a:xfrm>
            <a:off x="3252677" y="1143000"/>
            <a:ext cx="2741980" cy="124266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1" name="Shape 9"/>
          <p:cNvSpPr/>
          <p:nvPr/>
        </p:nvSpPr>
        <p:spPr>
          <a:xfrm>
            <a:off x="3252677" y="1143000"/>
            <a:ext cx="2741980" cy="48716"/>
          </a:xfrm>
          <a:prstGeom prst="rect">
            <a:avLst/>
          </a:prstGeom>
          <a:solidFill>
            <a:srgbClr val="0077A8"/>
          </a:solidFill>
          <a:ln w="12700">
            <a:solidFill>
              <a:srgbClr val="0077A8"/>
            </a:solidFill>
            <a:prstDash val="solid"/>
          </a:ln>
        </p:spPr>
      </p:sp>
      <p:sp>
        <p:nvSpPr>
          <p:cNvPr id="12" name="Text 10"/>
          <p:cNvSpPr/>
          <p:nvPr/>
        </p:nvSpPr>
        <p:spPr>
          <a:xfrm>
            <a:off x="3366138" y="1224195"/>
            <a:ext cx="2515057" cy="336033"/>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Robot usługowy (biuro)</a:t>
            </a:r>
            <a:endParaRPr lang="en-US" sz="1600" dirty="0"/>
          </a:p>
        </p:txBody>
      </p:sp>
      <p:sp>
        <p:nvSpPr>
          <p:cNvPr id="13" name="Text 11"/>
          <p:cNvSpPr/>
          <p:nvPr/>
        </p:nvSpPr>
        <p:spPr>
          <a:xfrm>
            <a:off x="3305401" y="1773877"/>
            <a:ext cx="2575794" cy="486364"/>
          </a:xfrm>
          <a:prstGeom prst="rect">
            <a:avLst/>
          </a:prstGeom>
          <a:noFill/>
          <a:ln/>
        </p:spPr>
        <p:txBody>
          <a:bodyPr wrap="square" lIns="0" tIns="0" rIns="0" bIns="0" rtlCol="0" anchor="ctr"/>
          <a:lstStyle/>
          <a:p>
            <a:pPr marL="0" indent="0" algn="ctr">
              <a:buNone/>
            </a:pPr>
            <a:r>
              <a:rPr lang="en-US" sz="1100" spc="-50" dirty="0">
                <a:solidFill>
                  <a:srgbClr val="475569"/>
                </a:solidFill>
                <a:latin typeface="Calibri" pitchFamily="34" charset="0"/>
                <a:ea typeface="Calibri" pitchFamily="34" charset="-122"/>
                <a:cs typeface="Calibri" pitchFamily="34" charset="-120"/>
              </a:rPr>
              <a:t>A* z cost map + Social DWA; detekcja YOLO; adaptacyjne kroki; zatrzymanie przy ludziach &lt; 1 m</a:t>
            </a:r>
            <a:endParaRPr lang="en-US" sz="1100" spc="-50" dirty="0"/>
          </a:p>
        </p:txBody>
      </p:sp>
      <p:sp>
        <p:nvSpPr>
          <p:cNvPr id="14" name="Shape 12"/>
          <p:cNvSpPr/>
          <p:nvPr/>
        </p:nvSpPr>
        <p:spPr>
          <a:xfrm>
            <a:off x="6231034" y="1143000"/>
            <a:ext cx="2741980" cy="124266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5" name="Shape 13"/>
          <p:cNvSpPr/>
          <p:nvPr/>
        </p:nvSpPr>
        <p:spPr>
          <a:xfrm>
            <a:off x="6231034" y="1143000"/>
            <a:ext cx="2741980" cy="48716"/>
          </a:xfrm>
          <a:prstGeom prst="rect">
            <a:avLst/>
          </a:prstGeom>
          <a:solidFill>
            <a:srgbClr val="F72585"/>
          </a:solidFill>
          <a:ln w="12700">
            <a:solidFill>
              <a:srgbClr val="F72585"/>
            </a:solidFill>
            <a:prstDash val="solid"/>
          </a:ln>
        </p:spPr>
      </p:sp>
      <p:sp>
        <p:nvSpPr>
          <p:cNvPr id="16" name="Text 14"/>
          <p:cNvSpPr/>
          <p:nvPr/>
        </p:nvSpPr>
        <p:spPr>
          <a:xfrm>
            <a:off x="6344495" y="1224195"/>
            <a:ext cx="2515057" cy="336033"/>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Ratownictwo (gruz)</a:t>
            </a:r>
            <a:endParaRPr lang="en-US" sz="1600" dirty="0"/>
          </a:p>
        </p:txBody>
      </p:sp>
      <p:sp>
        <p:nvSpPr>
          <p:cNvPr id="17" name="Text 15"/>
          <p:cNvSpPr/>
          <p:nvPr/>
        </p:nvSpPr>
        <p:spPr>
          <a:xfrm>
            <a:off x="6306061" y="1773877"/>
            <a:ext cx="2553492" cy="486364"/>
          </a:xfrm>
          <a:prstGeom prst="rect">
            <a:avLst/>
          </a:prstGeom>
          <a:noFill/>
          <a:ln/>
        </p:spPr>
        <p:txBody>
          <a:bodyPr wrap="square" lIns="0" tIns="0" rIns="0" bIns="0" rtlCol="0" anchor="ctr"/>
          <a:lstStyle/>
          <a:p>
            <a:pPr marL="0" indent="0" algn="ctr">
              <a:buNone/>
            </a:pPr>
            <a:r>
              <a:rPr lang="en-US" sz="1100" spc="-30" dirty="0">
                <a:solidFill>
                  <a:srgbClr val="475569"/>
                </a:solidFill>
                <a:latin typeface="Calibri" pitchFamily="34" charset="0"/>
                <a:ea typeface="Calibri" pitchFamily="34" charset="-122"/>
                <a:cs typeface="Calibri" pitchFamily="34" charset="-120"/>
              </a:rPr>
              <a:t>3D A* lub RRT*; footstep w 3D z height map; MPC lokalny; konserwatywne marginesy ZMP</a:t>
            </a:r>
            <a:endParaRPr lang="en-US" sz="1100" spc="-30" dirty="0"/>
          </a:p>
        </p:txBody>
      </p:sp>
      <p:sp>
        <p:nvSpPr>
          <p:cNvPr id="18" name="Shape 16"/>
          <p:cNvSpPr/>
          <p:nvPr/>
        </p:nvSpPr>
        <p:spPr>
          <a:xfrm>
            <a:off x="274319" y="2529238"/>
            <a:ext cx="2741980" cy="124266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19" name="Shape 17"/>
          <p:cNvSpPr/>
          <p:nvPr/>
        </p:nvSpPr>
        <p:spPr>
          <a:xfrm>
            <a:off x="274319" y="2529238"/>
            <a:ext cx="2741980" cy="48716"/>
          </a:xfrm>
          <a:prstGeom prst="rect">
            <a:avLst/>
          </a:prstGeom>
          <a:solidFill>
            <a:srgbClr val="1A3550"/>
          </a:solidFill>
          <a:ln w="12700">
            <a:solidFill>
              <a:srgbClr val="1A3550"/>
            </a:solidFill>
            <a:prstDash val="solid"/>
          </a:ln>
        </p:spPr>
      </p:sp>
      <p:sp>
        <p:nvSpPr>
          <p:cNvPr id="20" name="Text 18"/>
          <p:cNvSpPr/>
          <p:nvPr/>
        </p:nvSpPr>
        <p:spPr>
          <a:xfrm>
            <a:off x="387780" y="2610433"/>
            <a:ext cx="2515057" cy="336033"/>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Środowisko zatłoczone</a:t>
            </a:r>
            <a:endParaRPr lang="en-US" sz="1600" dirty="0"/>
          </a:p>
        </p:txBody>
      </p:sp>
      <p:sp>
        <p:nvSpPr>
          <p:cNvPr id="21" name="Text 19"/>
          <p:cNvSpPr/>
          <p:nvPr/>
        </p:nvSpPr>
        <p:spPr>
          <a:xfrm>
            <a:off x="327043" y="3113907"/>
            <a:ext cx="2689255" cy="486364"/>
          </a:xfrm>
          <a:prstGeom prst="rect">
            <a:avLst/>
          </a:prstGeom>
          <a:noFill/>
          <a:ln/>
        </p:spPr>
        <p:txBody>
          <a:bodyPr wrap="square" lIns="0" tIns="0" rIns="0" bIns="0" rtlCol="0" anchor="ctr"/>
          <a:lstStyle/>
          <a:p>
            <a:pPr marL="0" indent="0" algn="ctr">
              <a:buNone/>
            </a:pPr>
            <a:r>
              <a:rPr lang="en-US" sz="1100" spc="-40" dirty="0">
                <a:solidFill>
                  <a:srgbClr val="475569"/>
                </a:solidFill>
                <a:latin typeface="Calibri" pitchFamily="34" charset="0"/>
                <a:ea typeface="Calibri" pitchFamily="34" charset="-122"/>
                <a:cs typeface="Calibri" pitchFamily="34" charset="-120"/>
              </a:rPr>
              <a:t>ORCA lub S-MPC; krótki horyzont predykcji (0,5 s); priority queue stref bezpiecznych; niskie prędkości</a:t>
            </a:r>
            <a:endParaRPr lang="en-US" sz="1100" spc="-40" dirty="0"/>
          </a:p>
        </p:txBody>
      </p:sp>
      <p:sp>
        <p:nvSpPr>
          <p:cNvPr id="22" name="Shape 20"/>
          <p:cNvSpPr/>
          <p:nvPr/>
        </p:nvSpPr>
        <p:spPr>
          <a:xfrm>
            <a:off x="3252677" y="2529238"/>
            <a:ext cx="2741980" cy="124266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3" name="Shape 21"/>
          <p:cNvSpPr/>
          <p:nvPr/>
        </p:nvSpPr>
        <p:spPr>
          <a:xfrm>
            <a:off x="3252677" y="2529238"/>
            <a:ext cx="2741980" cy="48716"/>
          </a:xfrm>
          <a:prstGeom prst="rect">
            <a:avLst/>
          </a:prstGeom>
          <a:solidFill>
            <a:srgbClr val="006490"/>
          </a:solidFill>
          <a:ln w="12700">
            <a:solidFill>
              <a:srgbClr val="006490"/>
            </a:solidFill>
            <a:prstDash val="solid"/>
          </a:ln>
        </p:spPr>
      </p:sp>
      <p:sp>
        <p:nvSpPr>
          <p:cNvPr id="24" name="Text 22"/>
          <p:cNvSpPr/>
          <p:nvPr/>
        </p:nvSpPr>
        <p:spPr>
          <a:xfrm>
            <a:off x="3366138" y="2610433"/>
            <a:ext cx="2515057" cy="336033"/>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Schody i poziomy</a:t>
            </a:r>
            <a:endParaRPr lang="en-US" sz="1600" dirty="0"/>
          </a:p>
        </p:txBody>
      </p:sp>
      <p:sp>
        <p:nvSpPr>
          <p:cNvPr id="25" name="Text 23"/>
          <p:cNvSpPr/>
          <p:nvPr/>
        </p:nvSpPr>
        <p:spPr>
          <a:xfrm>
            <a:off x="3305401" y="3113907"/>
            <a:ext cx="2634482" cy="486364"/>
          </a:xfrm>
          <a:prstGeom prst="rect">
            <a:avLst/>
          </a:prstGeom>
          <a:noFill/>
          <a:ln/>
        </p:spPr>
        <p:txBody>
          <a:bodyPr wrap="square" lIns="0" tIns="0" rIns="0" bIns="0" rtlCol="0" anchor="ctr"/>
          <a:lstStyle/>
          <a:p>
            <a:pPr marL="0" indent="0" algn="ctr">
              <a:buNone/>
            </a:pPr>
            <a:r>
              <a:rPr lang="en-US" sz="1100" spc="-30" dirty="0">
                <a:solidFill>
                  <a:srgbClr val="475569"/>
                </a:solidFill>
                <a:latin typeface="Calibri" pitchFamily="34" charset="0"/>
                <a:ea typeface="Calibri" pitchFamily="34" charset="-122"/>
                <a:cs typeface="Calibri" pitchFamily="34" charset="-120"/>
              </a:rPr>
              <a:t>Hierarchiczny planer: globalny graf pięter + lokalny 3D footstep; detekcja stopni z point cloud</a:t>
            </a:r>
            <a:endParaRPr lang="en-US" sz="1100" spc="-30" dirty="0"/>
          </a:p>
        </p:txBody>
      </p:sp>
      <p:sp>
        <p:nvSpPr>
          <p:cNvPr id="26" name="Shape 24"/>
          <p:cNvSpPr/>
          <p:nvPr/>
        </p:nvSpPr>
        <p:spPr>
          <a:xfrm>
            <a:off x="6231034" y="2529238"/>
            <a:ext cx="2741980" cy="1242662"/>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27" name="Shape 25"/>
          <p:cNvSpPr/>
          <p:nvPr/>
        </p:nvSpPr>
        <p:spPr>
          <a:xfrm>
            <a:off x="6231034" y="2529238"/>
            <a:ext cx="2741980" cy="48716"/>
          </a:xfrm>
          <a:prstGeom prst="rect">
            <a:avLst/>
          </a:prstGeom>
          <a:solidFill>
            <a:srgbClr val="FB923C"/>
          </a:solidFill>
          <a:ln w="12700">
            <a:solidFill>
              <a:srgbClr val="FB923C"/>
            </a:solidFill>
            <a:prstDash val="solid"/>
          </a:ln>
        </p:spPr>
      </p:sp>
      <p:sp>
        <p:nvSpPr>
          <p:cNvPr id="28" name="Text 26"/>
          <p:cNvSpPr/>
          <p:nvPr/>
        </p:nvSpPr>
        <p:spPr>
          <a:xfrm>
            <a:off x="6344495" y="2610433"/>
            <a:ext cx="2515057" cy="336033"/>
          </a:xfrm>
          <a:prstGeom prst="rect">
            <a:avLst/>
          </a:prstGeom>
          <a:noFill/>
          <a:ln/>
        </p:spPr>
        <p:txBody>
          <a:bodyPr wrap="square" lIns="0" tIns="0" rIns="0" bIns="0" rtlCol="0" anchor="ctr"/>
          <a:lstStyle/>
          <a:p>
            <a:pPr marL="0" indent="0" algn="ctr">
              <a:buNone/>
            </a:pPr>
            <a:r>
              <a:rPr lang="en-US" sz="1600" b="1" dirty="0">
                <a:solidFill>
                  <a:srgbClr val="0D1B2A"/>
                </a:solidFill>
                <a:latin typeface="Trebuchet MS" pitchFamily="34" charset="0"/>
                <a:ea typeface="Trebuchet MS" pitchFamily="34" charset="-122"/>
                <a:cs typeface="Trebuchet MS" pitchFamily="34" charset="-120"/>
              </a:rPr>
              <a:t>Sport/zawody</a:t>
            </a:r>
            <a:endParaRPr lang="en-US" sz="1600" dirty="0"/>
          </a:p>
        </p:txBody>
      </p:sp>
      <p:sp>
        <p:nvSpPr>
          <p:cNvPr id="29" name="Text 27"/>
          <p:cNvSpPr/>
          <p:nvPr/>
        </p:nvSpPr>
        <p:spPr>
          <a:xfrm>
            <a:off x="6306061" y="3160114"/>
            <a:ext cx="2553492" cy="486364"/>
          </a:xfrm>
          <a:prstGeom prst="rect">
            <a:avLst/>
          </a:prstGeom>
          <a:noFill/>
          <a:ln/>
        </p:spPr>
        <p:txBody>
          <a:bodyPr wrap="square" lIns="0" tIns="0" rIns="0" bIns="0" rtlCol="0" anchor="ctr"/>
          <a:lstStyle/>
          <a:p>
            <a:pPr marL="0" indent="0" algn="ctr">
              <a:buNone/>
            </a:pPr>
            <a:r>
              <a:rPr lang="en-US" sz="1100" spc="-30" dirty="0">
                <a:solidFill>
                  <a:srgbClr val="475569"/>
                </a:solidFill>
                <a:latin typeface="Calibri" pitchFamily="34" charset="0"/>
                <a:ea typeface="Calibri" pitchFamily="34" charset="-122"/>
                <a:cs typeface="Calibri" pitchFamily="34" charset="-120"/>
              </a:rPr>
              <a:t>MPC z agresywnym horyzontem; dynamiczny chód biegowy; uproszczony footstep dla szybkości kosztem marginesu ZMP</a:t>
            </a:r>
            <a:endParaRPr lang="en-US" sz="1100" spc="-30" dirty="0"/>
          </a:p>
        </p:txBody>
      </p:sp>
      <p:sp>
        <p:nvSpPr>
          <p:cNvPr id="30" name="Prostokąt 29"/>
          <p:cNvSpPr/>
          <p:nvPr/>
        </p:nvSpPr>
        <p:spPr>
          <a:xfrm>
            <a:off x="274320" y="3942689"/>
            <a:ext cx="8698694" cy="1009238"/>
          </a:xfrm>
          <a:prstGeom prst="rect">
            <a:avLst/>
          </a:prstGeom>
          <a:solidFill>
            <a:schemeClr val="tx1">
              <a:lumMod val="85000"/>
              <a:lumOff val="15000"/>
            </a:schemeClr>
          </a:solidFill>
          <a:ln w="19050">
            <a:solidFill>
              <a:schemeClr val="tx1"/>
            </a:solidFill>
          </a:ln>
          <a:effectLst>
            <a:outerShdw blurRad="25400" dist="12700" dir="2700000" algn="tl" rotWithShape="0">
              <a:prstClr val="black">
                <a:alpha val="40000"/>
              </a:prstClr>
            </a:outerShdw>
          </a:effectLst>
        </p:spPr>
        <p:txBody>
          <a:bodyPr wrap="square" tIns="72000" bIns="3600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ts val="1400"/>
              </a:lnSpc>
            </a:pPr>
            <a:r>
              <a:rPr lang="pl-PL" sz="1400" spc="-20" dirty="0">
                <a:solidFill>
                  <a:schemeClr val="bg1"/>
                </a:solidFill>
              </a:rPr>
              <a:t>Nie istnieje jeden uniwersalny planista najlepszy dla wszystkich zastosowań. W laboratorium można użyć prostszej kombinacji A*, DWA i podstawowej weryfikacji ZMP. W robocie usługowym ważniejsze są reakcje na ludzi, dlatego potrzebna jest detekcja pieszych, </a:t>
            </a:r>
            <a:r>
              <a:rPr lang="pl-PL" sz="1400" spc="-20" dirty="0" err="1">
                <a:solidFill>
                  <a:schemeClr val="bg1"/>
                </a:solidFill>
              </a:rPr>
              <a:t>social</a:t>
            </a:r>
            <a:r>
              <a:rPr lang="pl-PL" sz="1400" spc="-20" dirty="0">
                <a:solidFill>
                  <a:schemeClr val="bg1"/>
                </a:solidFill>
              </a:rPr>
              <a:t> </a:t>
            </a:r>
            <a:r>
              <a:rPr lang="pl-PL" sz="1400" spc="-20" dirty="0" err="1">
                <a:solidFill>
                  <a:schemeClr val="bg1"/>
                </a:solidFill>
              </a:rPr>
              <a:t>navigation</a:t>
            </a:r>
            <a:r>
              <a:rPr lang="pl-PL" sz="1400" spc="-20" dirty="0">
                <a:solidFill>
                  <a:schemeClr val="bg1"/>
                </a:solidFill>
              </a:rPr>
              <a:t> i bezpieczne zatrzymanie. W ratownictwie lub na gruzowisku konieczne jest planowanie 3D, </a:t>
            </a:r>
            <a:r>
              <a:rPr lang="pl-PL" sz="1400" spc="-20" dirty="0" err="1">
                <a:solidFill>
                  <a:schemeClr val="bg1"/>
                </a:solidFill>
              </a:rPr>
              <a:t>height</a:t>
            </a:r>
            <a:r>
              <a:rPr lang="pl-PL" sz="1400" spc="-20" dirty="0">
                <a:solidFill>
                  <a:schemeClr val="bg1"/>
                </a:solidFill>
              </a:rPr>
              <a:t> mapy i konserwatywne marginesy stabilności. Dobór algorytmu powinien wynikać z charakteru środowiska, dostępnych sensorów, mocy obliczeniowej oraz poziomu ryzyka akceptowanego w danej aplikacji.</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54864"/>
          </a:xfrm>
          <a:prstGeom prst="rect">
            <a:avLst/>
          </a:prstGeom>
          <a:solidFill>
            <a:srgbClr val="00B4D8"/>
          </a:solidFill>
          <a:ln w="12700">
            <a:solidFill>
              <a:srgbClr val="00B4D8"/>
            </a:solidFill>
            <a:prstDash val="solid"/>
          </a:ln>
        </p:spPr>
      </p:sp>
      <p:sp>
        <p:nvSpPr>
          <p:cNvPr id="4" name="Text 2"/>
          <p:cNvSpPr/>
          <p:nvPr/>
        </p:nvSpPr>
        <p:spPr>
          <a:xfrm>
            <a:off x="320040" y="356343"/>
            <a:ext cx="8503920" cy="502920"/>
          </a:xfrm>
          <a:prstGeom prst="rect">
            <a:avLst/>
          </a:prstGeom>
          <a:noFill/>
          <a:ln/>
        </p:spPr>
        <p:txBody>
          <a:bodyPr wrap="square" lIns="0" tIns="0" rIns="0" bIns="0" rtlCol="0" anchor="ctr"/>
          <a:lstStyle/>
          <a:p>
            <a:pPr marL="0" indent="0" algn="ctr">
              <a:buNone/>
            </a:pPr>
            <a:r>
              <a:rPr lang="en-US" sz="2800" b="1" dirty="0" smtClean="0">
                <a:solidFill>
                  <a:srgbClr val="FFFFFF"/>
                </a:solidFill>
                <a:latin typeface="Trebuchet MS" pitchFamily="34" charset="0"/>
                <a:ea typeface="Trebuchet MS" pitchFamily="34" charset="-122"/>
                <a:cs typeface="Trebuchet MS" pitchFamily="34" charset="-120"/>
              </a:rPr>
              <a:t>PODSUMOWANIE</a:t>
            </a:r>
            <a:endParaRPr lang="en-US" sz="2800" dirty="0"/>
          </a:p>
        </p:txBody>
      </p:sp>
      <p:sp>
        <p:nvSpPr>
          <p:cNvPr id="5" name="Shape 3"/>
          <p:cNvSpPr/>
          <p:nvPr/>
        </p:nvSpPr>
        <p:spPr>
          <a:xfrm>
            <a:off x="2743200" y="904983"/>
            <a:ext cx="3657600" cy="36576"/>
          </a:xfrm>
          <a:prstGeom prst="rect">
            <a:avLst/>
          </a:prstGeom>
          <a:solidFill>
            <a:srgbClr val="00B4D8"/>
          </a:solidFill>
          <a:ln w="12700">
            <a:solidFill>
              <a:srgbClr val="00B4D8"/>
            </a:solidFill>
            <a:prstDash val="solid"/>
          </a:ln>
        </p:spPr>
      </p:sp>
      <p:sp>
        <p:nvSpPr>
          <p:cNvPr id="6" name="Shape 4"/>
          <p:cNvSpPr/>
          <p:nvPr/>
        </p:nvSpPr>
        <p:spPr>
          <a:xfrm>
            <a:off x="365760" y="1188720"/>
            <a:ext cx="502920" cy="502920"/>
          </a:xfrm>
          <a:prstGeom prst="ellipse">
            <a:avLst/>
          </a:prstGeom>
          <a:solidFill>
            <a:srgbClr val="00B4D8"/>
          </a:solidFill>
          <a:ln w="12700">
            <a:solidFill>
              <a:srgbClr val="00B4D8"/>
            </a:solidFill>
            <a:prstDash val="solid"/>
          </a:ln>
        </p:spPr>
      </p:sp>
      <p:sp>
        <p:nvSpPr>
          <p:cNvPr id="7" name="Text 5"/>
          <p:cNvSpPr/>
          <p:nvPr/>
        </p:nvSpPr>
        <p:spPr>
          <a:xfrm>
            <a:off x="365760" y="1188720"/>
            <a:ext cx="502920" cy="502920"/>
          </a:xfrm>
          <a:prstGeom prst="rect">
            <a:avLst/>
          </a:prstGeom>
          <a:noFill/>
          <a:ln/>
        </p:spPr>
        <p:txBody>
          <a:bodyPr wrap="square" lIns="0" tIns="0" rIns="0" bIns="0" rtlCol="0" anchor="ctr"/>
          <a:lstStyle/>
          <a:p>
            <a:pPr marL="0" indent="0" algn="ctr">
              <a:buNone/>
            </a:pPr>
            <a:r>
              <a:rPr lang="en-US" sz="1300" b="1" dirty="0">
                <a:solidFill>
                  <a:srgbClr val="0D1B2A"/>
                </a:solidFill>
                <a:latin typeface="Trebuchet MS" pitchFamily="34" charset="0"/>
                <a:ea typeface="Trebuchet MS" pitchFamily="34" charset="-122"/>
                <a:cs typeface="Trebuchet MS" pitchFamily="34" charset="-120"/>
              </a:rPr>
              <a:t>01</a:t>
            </a:r>
            <a:endParaRPr lang="en-US" sz="1300" dirty="0"/>
          </a:p>
        </p:txBody>
      </p:sp>
      <p:sp>
        <p:nvSpPr>
          <p:cNvPr id="8" name="Text 6"/>
          <p:cNvSpPr/>
          <p:nvPr/>
        </p:nvSpPr>
        <p:spPr>
          <a:xfrm>
            <a:off x="1005840" y="1152666"/>
            <a:ext cx="7863840" cy="502920"/>
          </a:xfrm>
          <a:prstGeom prst="rect">
            <a:avLst/>
          </a:prstGeom>
          <a:noFill/>
          <a:ln/>
        </p:spPr>
        <p:txBody>
          <a:bodyPr wrap="square" lIns="0" tIns="0" rIns="0" bIns="0" rtlCol="0" anchor="ctr"/>
          <a:lstStyle/>
          <a:p>
            <a:pPr marL="0" indent="0">
              <a:buNone/>
            </a:pPr>
            <a:r>
              <a:rPr lang="en-US" sz="1400" b="1" dirty="0">
                <a:solidFill>
                  <a:srgbClr val="E2EBF3"/>
                </a:solidFill>
                <a:latin typeface="Calibri" pitchFamily="34" charset="0"/>
                <a:ea typeface="Calibri" pitchFamily="34" charset="-122"/>
                <a:cs typeface="Calibri" pitchFamily="34" charset="-120"/>
              </a:rPr>
              <a:t>Planowanie globalne </a:t>
            </a:r>
            <a:r>
              <a:rPr lang="en-US" sz="1400" dirty="0">
                <a:solidFill>
                  <a:srgbClr val="E2EBF3"/>
                </a:solidFill>
                <a:latin typeface="Calibri" pitchFamily="34" charset="0"/>
                <a:ea typeface="Calibri" pitchFamily="34" charset="-122"/>
                <a:cs typeface="Calibri" pitchFamily="34" charset="-120"/>
              </a:rPr>
              <a:t>(A*, Dijkstra) wyznacza optymalną trasę; </a:t>
            </a:r>
            <a:r>
              <a:rPr lang="pl-PL" sz="1400" dirty="0" smtClean="0">
                <a:solidFill>
                  <a:srgbClr val="E2EBF3"/>
                </a:solidFill>
                <a:latin typeface="Calibri" pitchFamily="34" charset="0"/>
                <a:ea typeface="Calibri" pitchFamily="34" charset="-122"/>
                <a:cs typeface="Calibri" pitchFamily="34" charset="-120"/>
              </a:rPr>
              <a:t>heurystyki i </a:t>
            </a:r>
            <a:r>
              <a:rPr lang="pl-PL" sz="1400" dirty="0" err="1" smtClean="0">
                <a:solidFill>
                  <a:srgbClr val="E2EBF3"/>
                </a:solidFill>
                <a:latin typeface="Calibri" pitchFamily="34" charset="0"/>
                <a:ea typeface="Calibri" pitchFamily="34" charset="-122"/>
                <a:cs typeface="Calibri" pitchFamily="34" charset="-120"/>
              </a:rPr>
              <a:t>cost</a:t>
            </a:r>
            <a:r>
              <a:rPr lang="pl-PL" sz="1400" dirty="0" smtClean="0">
                <a:solidFill>
                  <a:srgbClr val="E2EBF3"/>
                </a:solidFill>
                <a:latin typeface="Calibri" pitchFamily="34" charset="0"/>
                <a:ea typeface="Calibri" pitchFamily="34" charset="-122"/>
                <a:cs typeface="Calibri" pitchFamily="34" charset="-120"/>
              </a:rPr>
              <a:t> map sterują wyborem ścieżki</a:t>
            </a:r>
            <a:endParaRPr lang="pl-PL" sz="1400" dirty="0"/>
          </a:p>
        </p:txBody>
      </p:sp>
      <p:sp>
        <p:nvSpPr>
          <p:cNvPr id="9" name="Shape 7"/>
          <p:cNvSpPr/>
          <p:nvPr/>
        </p:nvSpPr>
        <p:spPr>
          <a:xfrm>
            <a:off x="365760" y="1947672"/>
            <a:ext cx="502920" cy="502920"/>
          </a:xfrm>
          <a:prstGeom prst="ellipse">
            <a:avLst/>
          </a:prstGeom>
          <a:solidFill>
            <a:srgbClr val="00B4D8"/>
          </a:solidFill>
          <a:ln w="12700">
            <a:solidFill>
              <a:srgbClr val="00B4D8"/>
            </a:solidFill>
            <a:prstDash val="solid"/>
          </a:ln>
        </p:spPr>
      </p:sp>
      <p:sp>
        <p:nvSpPr>
          <p:cNvPr id="10" name="Text 8"/>
          <p:cNvSpPr/>
          <p:nvPr/>
        </p:nvSpPr>
        <p:spPr>
          <a:xfrm>
            <a:off x="365760" y="1947672"/>
            <a:ext cx="502920" cy="502920"/>
          </a:xfrm>
          <a:prstGeom prst="rect">
            <a:avLst/>
          </a:prstGeom>
          <a:noFill/>
          <a:ln/>
        </p:spPr>
        <p:txBody>
          <a:bodyPr wrap="square" lIns="0" tIns="0" rIns="0" bIns="0" rtlCol="0" anchor="ctr"/>
          <a:lstStyle/>
          <a:p>
            <a:pPr marL="0" indent="0" algn="ctr">
              <a:buNone/>
            </a:pPr>
            <a:r>
              <a:rPr lang="en-US" sz="1300" b="1" dirty="0">
                <a:solidFill>
                  <a:srgbClr val="0D1B2A"/>
                </a:solidFill>
                <a:latin typeface="Trebuchet MS" pitchFamily="34" charset="0"/>
                <a:ea typeface="Trebuchet MS" pitchFamily="34" charset="-122"/>
                <a:cs typeface="Trebuchet MS" pitchFamily="34" charset="-120"/>
              </a:rPr>
              <a:t>02</a:t>
            </a:r>
            <a:endParaRPr lang="en-US" sz="1300" dirty="0"/>
          </a:p>
        </p:txBody>
      </p:sp>
      <p:sp>
        <p:nvSpPr>
          <p:cNvPr id="11" name="Text 9"/>
          <p:cNvSpPr/>
          <p:nvPr/>
        </p:nvSpPr>
        <p:spPr>
          <a:xfrm>
            <a:off x="1005840" y="1911618"/>
            <a:ext cx="7863840" cy="502920"/>
          </a:xfrm>
          <a:prstGeom prst="rect">
            <a:avLst/>
          </a:prstGeom>
          <a:noFill/>
          <a:ln/>
        </p:spPr>
        <p:txBody>
          <a:bodyPr wrap="square" lIns="0" tIns="0" rIns="0" bIns="0" rtlCol="0" anchor="ctr"/>
          <a:lstStyle/>
          <a:p>
            <a:pPr marL="0" indent="0">
              <a:buNone/>
            </a:pPr>
            <a:r>
              <a:rPr lang="pl-PL" sz="1400" b="1" dirty="0" smtClean="0">
                <a:solidFill>
                  <a:srgbClr val="E2EBF3"/>
                </a:solidFill>
                <a:latin typeface="Calibri" pitchFamily="34" charset="0"/>
                <a:ea typeface="Calibri" pitchFamily="34" charset="-122"/>
                <a:cs typeface="Calibri" pitchFamily="34" charset="-120"/>
              </a:rPr>
              <a:t>Planista lokalny </a:t>
            </a:r>
            <a:r>
              <a:rPr lang="pl-PL" sz="1400" dirty="0" smtClean="0">
                <a:solidFill>
                  <a:srgbClr val="E2EBF3"/>
                </a:solidFill>
                <a:latin typeface="Calibri" pitchFamily="34" charset="0"/>
                <a:ea typeface="Calibri" pitchFamily="34" charset="-122"/>
                <a:cs typeface="Calibri" pitchFamily="34" charset="-120"/>
              </a:rPr>
              <a:t>(DWA, MPC, </a:t>
            </a:r>
            <a:r>
              <a:rPr lang="pl-PL" sz="1400" dirty="0" err="1" smtClean="0">
                <a:solidFill>
                  <a:srgbClr val="E2EBF3"/>
                </a:solidFill>
                <a:latin typeface="Calibri" pitchFamily="34" charset="0"/>
                <a:ea typeface="Calibri" pitchFamily="34" charset="-122"/>
                <a:cs typeface="Calibri" pitchFamily="34" charset="-120"/>
              </a:rPr>
              <a:t>potential</a:t>
            </a:r>
            <a:r>
              <a:rPr lang="pl-PL" sz="1400" dirty="0" smtClean="0">
                <a:solidFill>
                  <a:srgbClr val="E2EBF3"/>
                </a:solidFill>
                <a:latin typeface="Calibri" pitchFamily="34" charset="0"/>
                <a:ea typeface="Calibri" pitchFamily="34" charset="-122"/>
                <a:cs typeface="Calibri" pitchFamily="34" charset="-120"/>
              </a:rPr>
              <a:t> </a:t>
            </a:r>
            <a:r>
              <a:rPr lang="pl-PL" sz="1400" dirty="0" err="1" smtClean="0">
                <a:solidFill>
                  <a:srgbClr val="E2EBF3"/>
                </a:solidFill>
                <a:latin typeface="Calibri" pitchFamily="34" charset="0"/>
                <a:ea typeface="Calibri" pitchFamily="34" charset="-122"/>
                <a:cs typeface="Calibri" pitchFamily="34" charset="-120"/>
              </a:rPr>
              <a:t>fields</a:t>
            </a:r>
            <a:r>
              <a:rPr lang="pl-PL" sz="1400" dirty="0" smtClean="0">
                <a:solidFill>
                  <a:srgbClr val="E2EBF3"/>
                </a:solidFill>
                <a:latin typeface="Calibri" pitchFamily="34" charset="0"/>
                <a:ea typeface="Calibri" pitchFamily="34" charset="-122"/>
                <a:cs typeface="Calibri" pitchFamily="34" charset="-120"/>
              </a:rPr>
              <a:t>) reaguje na zmiany środowiska i przeszkody dynamiczne</a:t>
            </a:r>
            <a:endParaRPr lang="pl-PL" sz="1400" dirty="0"/>
          </a:p>
        </p:txBody>
      </p:sp>
      <p:sp>
        <p:nvSpPr>
          <p:cNvPr id="12" name="Shape 10"/>
          <p:cNvSpPr/>
          <p:nvPr/>
        </p:nvSpPr>
        <p:spPr>
          <a:xfrm>
            <a:off x="365760" y="2706624"/>
            <a:ext cx="502920" cy="502920"/>
          </a:xfrm>
          <a:prstGeom prst="ellipse">
            <a:avLst/>
          </a:prstGeom>
          <a:solidFill>
            <a:srgbClr val="00B4D8"/>
          </a:solidFill>
          <a:ln w="12700">
            <a:solidFill>
              <a:srgbClr val="00B4D8"/>
            </a:solidFill>
            <a:prstDash val="solid"/>
          </a:ln>
        </p:spPr>
      </p:sp>
      <p:sp>
        <p:nvSpPr>
          <p:cNvPr id="13" name="Text 11"/>
          <p:cNvSpPr/>
          <p:nvPr/>
        </p:nvSpPr>
        <p:spPr>
          <a:xfrm>
            <a:off x="365760" y="2706624"/>
            <a:ext cx="502920" cy="502920"/>
          </a:xfrm>
          <a:prstGeom prst="rect">
            <a:avLst/>
          </a:prstGeom>
          <a:noFill/>
          <a:ln/>
        </p:spPr>
        <p:txBody>
          <a:bodyPr wrap="square" lIns="0" tIns="0" rIns="0" bIns="0" rtlCol="0" anchor="ctr"/>
          <a:lstStyle/>
          <a:p>
            <a:pPr marL="0" indent="0" algn="ctr">
              <a:buNone/>
            </a:pPr>
            <a:r>
              <a:rPr lang="en-US" sz="1300" b="1" dirty="0">
                <a:solidFill>
                  <a:srgbClr val="0D1B2A"/>
                </a:solidFill>
                <a:latin typeface="Trebuchet MS" pitchFamily="34" charset="0"/>
                <a:ea typeface="Trebuchet MS" pitchFamily="34" charset="-122"/>
                <a:cs typeface="Trebuchet MS" pitchFamily="34" charset="-120"/>
              </a:rPr>
              <a:t>03</a:t>
            </a:r>
            <a:endParaRPr lang="en-US" sz="1300" dirty="0"/>
          </a:p>
        </p:txBody>
      </p:sp>
      <p:sp>
        <p:nvSpPr>
          <p:cNvPr id="14" name="Text 12"/>
          <p:cNvSpPr/>
          <p:nvPr/>
        </p:nvSpPr>
        <p:spPr>
          <a:xfrm>
            <a:off x="1005840" y="2670570"/>
            <a:ext cx="7863840" cy="502920"/>
          </a:xfrm>
          <a:prstGeom prst="rect">
            <a:avLst/>
          </a:prstGeom>
          <a:noFill/>
          <a:ln/>
        </p:spPr>
        <p:txBody>
          <a:bodyPr wrap="square" lIns="0" tIns="0" rIns="0" bIns="0" rtlCol="0" anchor="ctr"/>
          <a:lstStyle/>
          <a:p>
            <a:pPr marL="0" indent="0">
              <a:buNone/>
            </a:pPr>
            <a:r>
              <a:rPr lang="en-US" sz="1400" b="1" dirty="0">
                <a:solidFill>
                  <a:srgbClr val="E2EBF3"/>
                </a:solidFill>
                <a:latin typeface="Calibri" pitchFamily="34" charset="0"/>
                <a:ea typeface="Calibri" pitchFamily="34" charset="-122"/>
                <a:cs typeface="Calibri" pitchFamily="34" charset="-120"/>
              </a:rPr>
              <a:t>Stabilność</a:t>
            </a:r>
            <a:r>
              <a:rPr lang="en-US" sz="1400" dirty="0">
                <a:solidFill>
                  <a:srgbClr val="E2EBF3"/>
                </a:solidFill>
                <a:latin typeface="Calibri" pitchFamily="34" charset="0"/>
                <a:ea typeface="Calibri" pitchFamily="34" charset="-122"/>
                <a:cs typeface="Calibri" pitchFamily="34" charset="-120"/>
              </a:rPr>
              <a:t> ma wyższy priorytet niż optymalność trasy – </a:t>
            </a:r>
            <a:r>
              <a:rPr lang="pl-PL" sz="1400" dirty="0" smtClean="0">
                <a:solidFill>
                  <a:srgbClr val="E2EBF3"/>
                </a:solidFill>
                <a:latin typeface="Calibri" pitchFamily="34" charset="0"/>
                <a:ea typeface="Calibri" pitchFamily="34" charset="-122"/>
                <a:cs typeface="Calibri" pitchFamily="34" charset="-120"/>
              </a:rPr>
              <a:t>planista musi uwzględniać margines równowagi</a:t>
            </a:r>
            <a:endParaRPr lang="pl-PL" sz="1400" dirty="0"/>
          </a:p>
        </p:txBody>
      </p:sp>
      <p:sp>
        <p:nvSpPr>
          <p:cNvPr id="15" name="Shape 13"/>
          <p:cNvSpPr/>
          <p:nvPr/>
        </p:nvSpPr>
        <p:spPr>
          <a:xfrm>
            <a:off x="365760" y="3465576"/>
            <a:ext cx="502920" cy="502920"/>
          </a:xfrm>
          <a:prstGeom prst="ellipse">
            <a:avLst/>
          </a:prstGeom>
          <a:solidFill>
            <a:srgbClr val="00B4D8"/>
          </a:solidFill>
          <a:ln w="12700">
            <a:solidFill>
              <a:srgbClr val="00B4D8"/>
            </a:solidFill>
            <a:prstDash val="solid"/>
          </a:ln>
        </p:spPr>
      </p:sp>
      <p:sp>
        <p:nvSpPr>
          <p:cNvPr id="16" name="Text 14"/>
          <p:cNvSpPr/>
          <p:nvPr/>
        </p:nvSpPr>
        <p:spPr>
          <a:xfrm>
            <a:off x="365760" y="3465576"/>
            <a:ext cx="502920" cy="502920"/>
          </a:xfrm>
          <a:prstGeom prst="rect">
            <a:avLst/>
          </a:prstGeom>
          <a:noFill/>
          <a:ln/>
        </p:spPr>
        <p:txBody>
          <a:bodyPr wrap="square" lIns="0" tIns="0" rIns="0" bIns="0" rtlCol="0" anchor="ctr"/>
          <a:lstStyle/>
          <a:p>
            <a:pPr marL="0" indent="0" algn="ctr">
              <a:buNone/>
            </a:pPr>
            <a:r>
              <a:rPr lang="en-US" sz="1300" b="1" dirty="0">
                <a:solidFill>
                  <a:srgbClr val="0D1B2A"/>
                </a:solidFill>
                <a:latin typeface="Trebuchet MS" pitchFamily="34" charset="0"/>
                <a:ea typeface="Trebuchet MS" pitchFamily="34" charset="-122"/>
                <a:cs typeface="Trebuchet MS" pitchFamily="34" charset="-120"/>
              </a:rPr>
              <a:t>04</a:t>
            </a:r>
            <a:endParaRPr lang="en-US" sz="1300" dirty="0"/>
          </a:p>
        </p:txBody>
      </p:sp>
      <p:sp>
        <p:nvSpPr>
          <p:cNvPr id="17" name="Text 15"/>
          <p:cNvSpPr/>
          <p:nvPr/>
        </p:nvSpPr>
        <p:spPr>
          <a:xfrm>
            <a:off x="1005840" y="3429522"/>
            <a:ext cx="7863840" cy="502920"/>
          </a:xfrm>
          <a:prstGeom prst="rect">
            <a:avLst/>
          </a:prstGeom>
          <a:noFill/>
          <a:ln/>
        </p:spPr>
        <p:txBody>
          <a:bodyPr wrap="square" lIns="0" tIns="0" rIns="0" bIns="0" rtlCol="0" anchor="ctr"/>
          <a:lstStyle/>
          <a:p>
            <a:pPr marL="0" indent="0">
              <a:buNone/>
            </a:pPr>
            <a:r>
              <a:rPr lang="en-US" sz="1400" b="1" dirty="0">
                <a:solidFill>
                  <a:srgbClr val="E2EBF3"/>
                </a:solidFill>
                <a:latin typeface="Calibri" pitchFamily="34" charset="0"/>
                <a:ea typeface="Calibri" pitchFamily="34" charset="-122"/>
                <a:cs typeface="Calibri" pitchFamily="34" charset="-120"/>
              </a:rPr>
              <a:t>Footstep planning </a:t>
            </a:r>
            <a:r>
              <a:rPr lang="pl-PL" sz="1400" dirty="0" smtClean="0">
                <a:solidFill>
                  <a:srgbClr val="E2EBF3"/>
                </a:solidFill>
                <a:latin typeface="Calibri" pitchFamily="34" charset="0"/>
                <a:ea typeface="Calibri" pitchFamily="34" charset="-122"/>
                <a:cs typeface="Calibri" pitchFamily="34" charset="-120"/>
              </a:rPr>
              <a:t>tłumaczy geometryczną ścieżkę na fizyczną sekwencję kroków z weryfikacją kinematyczną</a:t>
            </a:r>
            <a:endParaRPr lang="pl-PL" sz="1400" dirty="0"/>
          </a:p>
        </p:txBody>
      </p:sp>
      <p:sp>
        <p:nvSpPr>
          <p:cNvPr id="18" name="Shape 16"/>
          <p:cNvSpPr/>
          <p:nvPr/>
        </p:nvSpPr>
        <p:spPr>
          <a:xfrm>
            <a:off x="365760" y="4224528"/>
            <a:ext cx="502920" cy="502920"/>
          </a:xfrm>
          <a:prstGeom prst="ellipse">
            <a:avLst/>
          </a:prstGeom>
          <a:solidFill>
            <a:srgbClr val="00B4D8"/>
          </a:solidFill>
          <a:ln w="12700">
            <a:solidFill>
              <a:srgbClr val="00B4D8"/>
            </a:solidFill>
            <a:prstDash val="solid"/>
          </a:ln>
        </p:spPr>
      </p:sp>
      <p:sp>
        <p:nvSpPr>
          <p:cNvPr id="19" name="Text 17"/>
          <p:cNvSpPr/>
          <p:nvPr/>
        </p:nvSpPr>
        <p:spPr>
          <a:xfrm>
            <a:off x="365760" y="4224528"/>
            <a:ext cx="502920" cy="502920"/>
          </a:xfrm>
          <a:prstGeom prst="rect">
            <a:avLst/>
          </a:prstGeom>
          <a:noFill/>
          <a:ln/>
        </p:spPr>
        <p:txBody>
          <a:bodyPr wrap="square" lIns="0" tIns="0" rIns="0" bIns="0" rtlCol="0" anchor="ctr"/>
          <a:lstStyle/>
          <a:p>
            <a:pPr marL="0" indent="0" algn="ctr">
              <a:buNone/>
            </a:pPr>
            <a:r>
              <a:rPr lang="en-US" sz="1300" b="1" dirty="0">
                <a:solidFill>
                  <a:srgbClr val="0D1B2A"/>
                </a:solidFill>
                <a:latin typeface="Trebuchet MS" pitchFamily="34" charset="0"/>
                <a:ea typeface="Trebuchet MS" pitchFamily="34" charset="-122"/>
                <a:cs typeface="Trebuchet MS" pitchFamily="34" charset="-120"/>
              </a:rPr>
              <a:t>05</a:t>
            </a:r>
            <a:endParaRPr lang="en-US" sz="1300" dirty="0"/>
          </a:p>
        </p:txBody>
      </p:sp>
      <p:sp>
        <p:nvSpPr>
          <p:cNvPr id="20" name="Text 18"/>
          <p:cNvSpPr/>
          <p:nvPr/>
        </p:nvSpPr>
        <p:spPr>
          <a:xfrm>
            <a:off x="1005840" y="4188474"/>
            <a:ext cx="7863840" cy="502920"/>
          </a:xfrm>
          <a:prstGeom prst="rect">
            <a:avLst/>
          </a:prstGeom>
          <a:noFill/>
          <a:ln/>
        </p:spPr>
        <p:txBody>
          <a:bodyPr wrap="square" lIns="0" tIns="0" rIns="0" bIns="0" rtlCol="0" anchor="ctr"/>
          <a:lstStyle/>
          <a:p>
            <a:pPr marL="0" indent="0">
              <a:buNone/>
            </a:pPr>
            <a:r>
              <a:rPr lang="pl-PL" sz="1400" b="1" dirty="0" smtClean="0">
                <a:solidFill>
                  <a:srgbClr val="E2EBF3"/>
                </a:solidFill>
                <a:latin typeface="Calibri" pitchFamily="34" charset="0"/>
                <a:ea typeface="Calibri" pitchFamily="34" charset="-122"/>
                <a:cs typeface="Calibri" pitchFamily="34" charset="-120"/>
              </a:rPr>
              <a:t>Trzy poziomy decyzji </a:t>
            </a:r>
            <a:r>
              <a:rPr lang="pl-PL" sz="1400" dirty="0" smtClean="0">
                <a:solidFill>
                  <a:srgbClr val="E2EBF3"/>
                </a:solidFill>
                <a:latin typeface="Calibri" pitchFamily="34" charset="0"/>
                <a:ea typeface="Calibri" pitchFamily="34" charset="-122"/>
                <a:cs typeface="Calibri" pitchFamily="34" charset="-120"/>
              </a:rPr>
              <a:t>– globalny, lokalny,</a:t>
            </a:r>
            <a:r>
              <a:rPr lang="en-US" sz="1400" dirty="0" smtClean="0">
                <a:solidFill>
                  <a:srgbClr val="E2EBF3"/>
                </a:solidFill>
                <a:latin typeface="Calibri" pitchFamily="34" charset="0"/>
                <a:ea typeface="Calibri" pitchFamily="34" charset="-122"/>
                <a:cs typeface="Calibri" pitchFamily="34" charset="-120"/>
              </a:rPr>
              <a:t> </a:t>
            </a:r>
            <a:r>
              <a:rPr lang="en-US" sz="1400" dirty="0">
                <a:solidFill>
                  <a:srgbClr val="E2EBF3"/>
                </a:solidFill>
                <a:latin typeface="Calibri" pitchFamily="34" charset="0"/>
                <a:ea typeface="Calibri" pitchFamily="34" charset="-122"/>
                <a:cs typeface="Calibri" pitchFamily="34" charset="-120"/>
              </a:rPr>
              <a:t>footstep – </a:t>
            </a:r>
            <a:r>
              <a:rPr lang="pl-PL" sz="1400" dirty="0" smtClean="0">
                <a:solidFill>
                  <a:srgbClr val="E2EBF3"/>
                </a:solidFill>
                <a:latin typeface="Calibri" pitchFamily="34" charset="0"/>
                <a:ea typeface="Calibri" pitchFamily="34" charset="-122"/>
                <a:cs typeface="Calibri" pitchFamily="34" charset="-120"/>
              </a:rPr>
              <a:t>są</a:t>
            </a:r>
            <a:r>
              <a:rPr lang="en-US" sz="1400" dirty="0" smtClean="0">
                <a:solidFill>
                  <a:srgbClr val="E2EBF3"/>
                </a:solidFill>
                <a:latin typeface="Calibri" pitchFamily="34" charset="0"/>
                <a:ea typeface="Calibri" pitchFamily="34" charset="-122"/>
                <a:cs typeface="Calibri" pitchFamily="34" charset="-120"/>
              </a:rPr>
              <a:t> </a:t>
            </a:r>
            <a:r>
              <a:rPr lang="pl-PL" sz="1400" dirty="0" smtClean="0">
                <a:solidFill>
                  <a:srgbClr val="E2EBF3"/>
                </a:solidFill>
                <a:latin typeface="Calibri" pitchFamily="34" charset="0"/>
                <a:ea typeface="Calibri" pitchFamily="34" charset="-122"/>
                <a:cs typeface="Calibri" pitchFamily="34" charset="-120"/>
              </a:rPr>
              <a:t>sprzężone i muszą działać w spójnej pętli</a:t>
            </a:r>
            <a:endParaRPr lang="pl-PL"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0B4D8"/>
          </a:solidFill>
          <a:ln w="12700">
            <a:solidFill>
              <a:srgbClr val="00B4D8"/>
            </a:solidFill>
            <a:prstDash val="solid"/>
          </a:ln>
        </p:spPr>
      </p:sp>
      <p:sp>
        <p:nvSpPr>
          <p:cNvPr id="3" name="Shape 1"/>
          <p:cNvSpPr/>
          <p:nvPr/>
        </p:nvSpPr>
        <p:spPr>
          <a:xfrm>
            <a:off x="64008" y="0"/>
            <a:ext cx="9079992" cy="960120"/>
          </a:xfrm>
          <a:prstGeom prst="rect">
            <a:avLst/>
          </a:prstGeom>
          <a:solidFill>
            <a:srgbClr val="0D1B2A"/>
          </a:solidFill>
          <a:ln w="12700">
            <a:solidFill>
              <a:srgbClr val="0D1B2A"/>
            </a:solidFill>
            <a:prstDash val="solid"/>
          </a:ln>
        </p:spPr>
      </p:sp>
      <p:sp>
        <p:nvSpPr>
          <p:cNvPr id="4" name="Text 2"/>
          <p:cNvSpPr/>
          <p:nvPr/>
        </p:nvSpPr>
        <p:spPr>
          <a:xfrm>
            <a:off x="228600" y="73152"/>
            <a:ext cx="5486400" cy="274320"/>
          </a:xfrm>
          <a:prstGeom prst="rect">
            <a:avLst/>
          </a:prstGeom>
          <a:noFill/>
          <a:ln/>
        </p:spPr>
        <p:txBody>
          <a:bodyPr wrap="square" lIns="0" tIns="0" rIns="0" bIns="0" rtlCol="0" anchor="ctr"/>
          <a:lstStyle/>
          <a:p>
            <a:pPr marL="0" indent="0">
              <a:buNone/>
            </a:pPr>
            <a:r>
              <a:rPr lang="en-US" sz="900" b="1" kern="0" spc="200" dirty="0">
                <a:solidFill>
                  <a:srgbClr val="00B4D8"/>
                </a:solidFill>
                <a:latin typeface="Trebuchet MS" pitchFamily="34" charset="0"/>
                <a:ea typeface="Trebuchet MS" pitchFamily="34" charset="-122"/>
                <a:cs typeface="Trebuchet MS" pitchFamily="34" charset="-120"/>
              </a:rPr>
              <a:t>ZADANIE PROJEKTOWE</a:t>
            </a:r>
            <a:endParaRPr lang="en-US" sz="900" dirty="0"/>
          </a:p>
        </p:txBody>
      </p:sp>
      <p:sp>
        <p:nvSpPr>
          <p:cNvPr id="5" name="Text 3"/>
          <p:cNvSpPr/>
          <p:nvPr/>
        </p:nvSpPr>
        <p:spPr>
          <a:xfrm>
            <a:off x="228600" y="274320"/>
            <a:ext cx="8686800" cy="594360"/>
          </a:xfrm>
          <a:prstGeom prst="rect">
            <a:avLst/>
          </a:prstGeom>
          <a:noFill/>
          <a:ln/>
        </p:spPr>
        <p:txBody>
          <a:bodyPr wrap="square" lIns="0" tIns="0" rIns="0" bIns="0" rtlCol="0" anchor="ctr"/>
          <a:lstStyle/>
          <a:p>
            <a:pPr marL="0" indent="0">
              <a:buNone/>
            </a:pPr>
            <a:r>
              <a:rPr lang="en-US" sz="2800" b="1" dirty="0">
                <a:solidFill>
                  <a:srgbClr val="FFFFFF"/>
                </a:solidFill>
                <a:latin typeface="Trebuchet MS" pitchFamily="34" charset="0"/>
                <a:ea typeface="Trebuchet MS" pitchFamily="34" charset="-122"/>
                <a:cs typeface="Trebuchet MS" pitchFamily="34" charset="-120"/>
              </a:rPr>
              <a:t>Zadanie projektowe i pytania problemowe</a:t>
            </a:r>
            <a:endParaRPr lang="en-US" sz="2800" dirty="0"/>
          </a:p>
        </p:txBody>
      </p:sp>
      <p:sp>
        <p:nvSpPr>
          <p:cNvPr id="6" name="Shape 4"/>
          <p:cNvSpPr/>
          <p:nvPr/>
        </p:nvSpPr>
        <p:spPr>
          <a:xfrm>
            <a:off x="274320" y="1097280"/>
            <a:ext cx="8595360" cy="3749040"/>
          </a:xfrm>
          <a:prstGeom prst="rect">
            <a:avLst/>
          </a:prstGeom>
          <a:solidFill>
            <a:srgbClr val="FFFFFF"/>
          </a:solidFill>
          <a:ln w="12700">
            <a:solidFill>
              <a:srgbClr val="E2EBF3"/>
            </a:solidFill>
            <a:prstDash val="solid"/>
          </a:ln>
          <a:effectLst>
            <a:outerShdw blurRad="76200" dist="25400" dir="8100000" algn="bl" rotWithShape="0">
              <a:srgbClr val="000000">
                <a:alpha val="12000"/>
              </a:srgbClr>
            </a:outerShdw>
          </a:effectLst>
        </p:spPr>
      </p:sp>
      <p:sp>
        <p:nvSpPr>
          <p:cNvPr id="7" name="Text 5"/>
          <p:cNvSpPr/>
          <p:nvPr/>
        </p:nvSpPr>
        <p:spPr>
          <a:xfrm>
            <a:off x="457200" y="1188720"/>
            <a:ext cx="8229600" cy="3520440"/>
          </a:xfrm>
          <a:prstGeom prst="rect">
            <a:avLst/>
          </a:prstGeom>
          <a:noFill/>
          <a:ln/>
        </p:spPr>
        <p:txBody>
          <a:bodyPr wrap="square" lIns="127000" tIns="127000" rIns="127000" bIns="127000" rtlCol="0" anchor="t"/>
          <a:lstStyle/>
          <a:p>
            <a:pPr marL="342900" indent="-342900">
              <a:spcAft>
                <a:spcPts val="900"/>
              </a:spcAft>
              <a:buSzPct val="100000"/>
              <a:buFont typeface="+mj-lt"/>
              <a:buAutoNum type="arabicPeriod"/>
            </a:pPr>
            <a:r>
              <a:rPr lang="en-US" sz="1500" dirty="0">
                <a:solidFill>
                  <a:srgbClr val="0D1B2A"/>
                </a:solidFill>
                <a:latin typeface="Calibri" pitchFamily="34" charset="0"/>
                <a:ea typeface="Calibri" pitchFamily="34" charset="-122"/>
                <a:cs typeface="Calibri" pitchFamily="34" charset="-120"/>
              </a:rPr>
              <a:t>Dlaczego heurystyka Manhattan nie jest dopuszczalna dla siatek z ruchem 8-kierunkowym?</a:t>
            </a:r>
            <a:endParaRPr lang="en-US" sz="1500" dirty="0"/>
          </a:p>
          <a:p>
            <a:pPr marL="342900" indent="-342900">
              <a:spcAft>
                <a:spcPts val="900"/>
              </a:spcAft>
              <a:buSzPct val="100000"/>
              <a:buFont typeface="+mj-lt"/>
              <a:buAutoNum type="arabicPeriod"/>
            </a:pPr>
            <a:r>
              <a:rPr lang="en-US" sz="1500" dirty="0">
                <a:solidFill>
                  <a:srgbClr val="0D1B2A"/>
                </a:solidFill>
                <a:latin typeface="Calibri" pitchFamily="34" charset="0"/>
                <a:ea typeface="Calibri" pitchFamily="34" charset="-122"/>
                <a:cs typeface="Calibri" pitchFamily="34" charset="-120"/>
              </a:rPr>
              <a:t>Co się dzieje z polem potencjału, gdy robot wpadnie w lokalne minimum? Zaproponuj wyjście.</a:t>
            </a:r>
            <a:endParaRPr lang="en-US" sz="1500" dirty="0"/>
          </a:p>
          <a:p>
            <a:pPr marL="342900" indent="-342900">
              <a:spcAft>
                <a:spcPts val="900"/>
              </a:spcAft>
              <a:buSzPct val="100000"/>
              <a:buFont typeface="+mj-lt"/>
              <a:buAutoNum type="arabicPeriod"/>
            </a:pPr>
            <a:r>
              <a:rPr lang="en-US" sz="1500" dirty="0">
                <a:solidFill>
                  <a:srgbClr val="0D1B2A"/>
                </a:solidFill>
                <a:latin typeface="Calibri" pitchFamily="34" charset="0"/>
                <a:ea typeface="Calibri" pitchFamily="34" charset="-122"/>
                <a:cs typeface="Calibri" pitchFamily="34" charset="-120"/>
              </a:rPr>
              <a:t>Jaką wartość parametru α i β wybrałbyś dla DWA w zatłoczonym korytarzu? Uzasadnij.</a:t>
            </a:r>
            <a:endParaRPr lang="en-US" sz="1500" dirty="0"/>
          </a:p>
          <a:p>
            <a:pPr>
              <a:spcAft>
                <a:spcPts val="900"/>
              </a:spcAft>
              <a:buSzPct val="100000"/>
            </a:pPr>
            <a:endParaRPr lang="pl-PL" sz="1500" b="1" dirty="0" smtClean="0">
              <a:solidFill>
                <a:srgbClr val="0D1B2A"/>
              </a:solidFill>
              <a:latin typeface="Calibri" pitchFamily="34" charset="0"/>
              <a:ea typeface="Calibri" pitchFamily="34" charset="-122"/>
              <a:cs typeface="Calibri" pitchFamily="34" charset="-120"/>
            </a:endParaRPr>
          </a:p>
          <a:p>
            <a:pPr algn="just">
              <a:spcAft>
                <a:spcPts val="900"/>
              </a:spcAft>
              <a:buSzPct val="100000"/>
            </a:pPr>
            <a:r>
              <a:rPr lang="en-US" sz="1500" b="1" dirty="0" err="1" smtClean="0">
                <a:solidFill>
                  <a:srgbClr val="0D1B2A"/>
                </a:solidFill>
                <a:latin typeface="Calibri" pitchFamily="34" charset="0"/>
                <a:ea typeface="Calibri" pitchFamily="34" charset="-122"/>
                <a:cs typeface="Calibri" pitchFamily="34" charset="-120"/>
              </a:rPr>
              <a:t>Zadanie</a:t>
            </a:r>
            <a:r>
              <a:rPr lang="en-US" sz="1500" b="1" dirty="0" smtClean="0">
                <a:solidFill>
                  <a:srgbClr val="0D1B2A"/>
                </a:solidFill>
                <a:latin typeface="Calibri" pitchFamily="34" charset="0"/>
                <a:ea typeface="Calibri" pitchFamily="34" charset="-122"/>
                <a:cs typeface="Calibri" pitchFamily="34" charset="-120"/>
              </a:rPr>
              <a:t> </a:t>
            </a:r>
            <a:r>
              <a:rPr lang="en-US" sz="1500" b="1" dirty="0">
                <a:solidFill>
                  <a:srgbClr val="0D1B2A"/>
                </a:solidFill>
                <a:latin typeface="Calibri" pitchFamily="34" charset="0"/>
                <a:ea typeface="Calibri" pitchFamily="34" charset="-122"/>
                <a:cs typeface="Calibri" pitchFamily="34" charset="-120"/>
              </a:rPr>
              <a:t>projektowe</a:t>
            </a:r>
            <a:r>
              <a:rPr lang="en-US" sz="1500" dirty="0">
                <a:solidFill>
                  <a:srgbClr val="0D1B2A"/>
                </a:solidFill>
                <a:latin typeface="Calibri" pitchFamily="34" charset="0"/>
                <a:ea typeface="Calibri" pitchFamily="34" charset="-122"/>
                <a:cs typeface="Calibri" pitchFamily="34" charset="-120"/>
              </a:rPr>
              <a:t>: zaprojektuj planistę kroków dla humanoida poruszającego się w korytarzu 1,5 m szerokości z napotykanymi ludźmi. Opisz: jakie dane wejściowe są potrzebne, jak wyznaczasz miejsca kontaktu stóp, jak weryfikujesz każdy krok, jak reaguje planista gdy droga jest zablokowana przez &gt;3 s.</a:t>
            </a:r>
            <a:endParaRPr lang="en-US" sz="1500" dirty="0"/>
          </a:p>
          <a:p>
            <a:pPr algn="just">
              <a:spcAft>
                <a:spcPts val="900"/>
              </a:spcAft>
              <a:buSzPct val="100000"/>
            </a:pPr>
            <a:r>
              <a:rPr lang="en-US" sz="1500" b="1" dirty="0">
                <a:solidFill>
                  <a:srgbClr val="0D1B2A"/>
                </a:solidFill>
                <a:latin typeface="Calibri" pitchFamily="34" charset="0"/>
                <a:ea typeface="Calibri" pitchFamily="34" charset="-122"/>
                <a:cs typeface="Calibri" pitchFamily="34" charset="-120"/>
              </a:rPr>
              <a:t>Bonus</a:t>
            </a:r>
            <a:r>
              <a:rPr lang="en-US" sz="1500" dirty="0">
                <a:solidFill>
                  <a:srgbClr val="0D1B2A"/>
                </a:solidFill>
                <a:latin typeface="Calibri" pitchFamily="34" charset="0"/>
                <a:ea typeface="Calibri" pitchFamily="34" charset="-122"/>
                <a:cs typeface="Calibri" pitchFamily="34" charset="-120"/>
              </a:rPr>
              <a:t>: zaimplementuj wygładzanie B-spline dla ścieżki zwróconej przez A* i porównaj liczbę kroków koniecznych do pokonania tej samej trasy przed i po wygładzeniu.</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15443</Words>
  <Application>Microsoft Office PowerPoint</Application>
  <PresentationFormat>Pokaz na ekranie (16:9)</PresentationFormat>
  <Paragraphs>1123</Paragraphs>
  <Slides>44</Slides>
  <Notes>44</Notes>
  <HiddenSlides>0</HiddenSlides>
  <MMClips>0</MMClips>
  <ScaleCrop>false</ScaleCrop>
  <HeadingPairs>
    <vt:vector size="6" baseType="variant">
      <vt:variant>
        <vt:lpstr>Używane czcionki</vt:lpstr>
      </vt:variant>
      <vt:variant>
        <vt:i4>7</vt:i4>
      </vt:variant>
      <vt:variant>
        <vt:lpstr>Motyw</vt:lpstr>
      </vt:variant>
      <vt:variant>
        <vt:i4>1</vt:i4>
      </vt:variant>
      <vt:variant>
        <vt:lpstr>Tytuły slajdów</vt:lpstr>
      </vt:variant>
      <vt:variant>
        <vt:i4>44</vt:i4>
      </vt:variant>
    </vt:vector>
  </HeadingPairs>
  <TitlesOfParts>
    <vt:vector size="52" baseType="lpstr">
      <vt:lpstr>Arial</vt:lpstr>
      <vt:lpstr>Calibri</vt:lpstr>
      <vt:lpstr>Calibri Light</vt:lpstr>
      <vt:lpstr>Cambria Math</vt:lpstr>
      <vt:lpstr>Consolas</vt:lpstr>
      <vt:lpstr>Georgia Pro Cond</vt:lpstr>
      <vt:lpstr>Trebuchet MS</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Wykład 3 – Planowanie ruchu i unikanie przeszkód</dc:title>
  <dc:subject>PptxGenJS Presentation</dc:subject>
  <dc:creator>Politechnika – Katedra Robotyki</dc:creator>
  <cp:lastModifiedBy>Mateusz Pomianek</cp:lastModifiedBy>
  <cp:revision>182</cp:revision>
  <dcterms:created xsi:type="dcterms:W3CDTF">2026-04-13T21:51:59Z</dcterms:created>
  <dcterms:modified xsi:type="dcterms:W3CDTF">2026-04-30T08:37:44Z</dcterms:modified>
</cp:coreProperties>
</file>