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B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144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3990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" y="0"/>
            <a:ext cx="9070848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914400"/>
            <a:ext cx="2194560" cy="219456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B4D8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587" y="1327896"/>
            <a:ext cx="1262679" cy="12626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8229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NAWIGACJA ROBOTÓW HUMANOIDALNYCH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20040" y="12801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WYKŁAD 3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320040" y="19659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ruchu
i unikanie przeszkód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320040" y="3017520"/>
            <a:ext cx="57607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31546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1200" b="1" dirty="0" smtClean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inż. Mateusz Pomianek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globalne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41448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lokalne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62856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Footstep planning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solidFill>
            <a:srgbClr val="1A3550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84264" y="411480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0E0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Kody Python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WPROWADZENIE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wykładu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4160520" cy="4176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8652" y="1212603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28652" y="1683812"/>
            <a:ext cx="394106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globalne: przestrzeń stanów, Dijkstra, A*, heurystyki, cost map, wygładzanie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0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4160520" cy="4176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63492" y="1212603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63492" y="1683812"/>
            <a:ext cx="394106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lokalne: DWA, potential fields, MPC, przeszkody dynamiczne, replanowanie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" y="2535052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535052"/>
            <a:ext cx="4160520" cy="41762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8652" y="2604655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2932" y="3075864"/>
            <a:ext cx="398678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Footstep planning: sekwencja kroków, ograniczenia kinematyczne, schody, trajektoria CoM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09160" y="2535052"/>
            <a:ext cx="4160520" cy="1287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535052"/>
            <a:ext cx="4160520" cy="41762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63492" y="2604655"/>
            <a:ext cx="3941064" cy="489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Kody Python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63492" y="3075864"/>
            <a:ext cx="3941064" cy="7082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na grid map, A* z cost map, pole potencjału, ocena trajektorii, generacja kroków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00B4D8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00B4D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876" y="1732156"/>
            <a:ext cx="924808" cy="9248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globalne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2834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Reprezentacje środowiska, Dijkstra, A*, heurystyki i cost map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ARCHITEKTURA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Miejsce planowania w architekturze systemu</a:t>
            </a:r>
            <a:endParaRPr lang="en-US" sz="2400" dirty="0"/>
          </a:p>
        </p:txBody>
      </p:sp>
      <p:grpSp>
        <p:nvGrpSpPr>
          <p:cNvPr id="22" name="Grupa 21"/>
          <p:cNvGrpSpPr/>
          <p:nvPr/>
        </p:nvGrpSpPr>
        <p:grpSpPr>
          <a:xfrm>
            <a:off x="274320" y="1143000"/>
            <a:ext cx="8595360" cy="2796988"/>
            <a:chOff x="274320" y="1143000"/>
            <a:chExt cx="8595360" cy="3520440"/>
          </a:xfrm>
        </p:grpSpPr>
        <p:sp>
          <p:nvSpPr>
            <p:cNvPr id="6" name="Shape 4"/>
            <p:cNvSpPr/>
            <p:nvPr/>
          </p:nvSpPr>
          <p:spPr>
            <a:xfrm>
              <a:off x="274320" y="11430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7" name="Shape 5"/>
            <p:cNvSpPr/>
            <p:nvPr/>
          </p:nvSpPr>
          <p:spPr>
            <a:xfrm>
              <a:off x="274320" y="1143000"/>
              <a:ext cx="4160520" cy="54864"/>
            </a:xfrm>
            <a:prstGeom prst="rect">
              <a:avLst/>
            </a:prstGeom>
            <a:solidFill>
              <a:srgbClr val="00B4D8"/>
            </a:solidFill>
            <a:ln w="12700">
              <a:solidFill>
                <a:srgbClr val="00B4D8"/>
              </a:solidFill>
              <a:prstDash val="solid"/>
            </a:ln>
          </p:spPr>
        </p:sp>
        <p:sp>
          <p:nvSpPr>
            <p:cNvPr id="8" name="Text 6"/>
            <p:cNvSpPr/>
            <p:nvPr/>
          </p:nvSpPr>
          <p:spPr>
            <a:xfrm>
              <a:off x="384048" y="12344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Wejście: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mapa + lokalizacja</a:t>
              </a:r>
              <a:endParaRPr lang="en-US" sz="20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384048" y="18534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Planista dostaje mapę kosztów i bieżącą pozycję robota z estymatora stanu</a:t>
              </a:r>
              <a:endParaRPr lang="en-US" sz="16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4709160" y="11430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1" name="Shape 9"/>
            <p:cNvSpPr/>
            <p:nvPr/>
          </p:nvSpPr>
          <p:spPr>
            <a:xfrm>
              <a:off x="4709160" y="1143000"/>
              <a:ext cx="4160520" cy="54864"/>
            </a:xfrm>
            <a:prstGeom prst="rect">
              <a:avLst/>
            </a:prstGeom>
            <a:solidFill>
              <a:srgbClr val="0077A8"/>
            </a:solidFill>
            <a:ln w="12700">
              <a:solidFill>
                <a:srgbClr val="0077A8"/>
              </a:solidFill>
              <a:prstDash val="solid"/>
            </a:ln>
          </p:spPr>
        </p:sp>
        <p:sp>
          <p:nvSpPr>
            <p:cNvPr id="12" name="Text 10"/>
            <p:cNvSpPr/>
            <p:nvPr/>
          </p:nvSpPr>
          <p:spPr>
            <a:xfrm>
              <a:off x="4818888" y="12344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Wejście: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cel misji</a:t>
              </a:r>
              <a:endParaRPr lang="en-US" sz="20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818888" y="18534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Punkt docelowy lub sekwencja celów pośrednich z modułu zarządzania misją</a:t>
              </a:r>
              <a:endParaRPr lang="en-US" sz="16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274320" y="29718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5" name="Shape 13"/>
            <p:cNvSpPr/>
            <p:nvPr/>
          </p:nvSpPr>
          <p:spPr>
            <a:xfrm>
              <a:off x="274320" y="2971800"/>
              <a:ext cx="4160520" cy="54864"/>
            </a:xfrm>
            <a:prstGeom prst="rect">
              <a:avLst/>
            </a:prstGeom>
            <a:solidFill>
              <a:srgbClr val="0077A8"/>
            </a:solidFill>
            <a:ln w="12700">
              <a:solidFill>
                <a:srgbClr val="0077A8"/>
              </a:solidFill>
              <a:prstDash val="solid"/>
            </a:ln>
          </p:spPr>
        </p:sp>
        <p:sp>
          <p:nvSpPr>
            <p:cNvPr id="16" name="Text 14"/>
            <p:cNvSpPr/>
            <p:nvPr/>
          </p:nvSpPr>
          <p:spPr>
            <a:xfrm>
              <a:off x="384048" y="30632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Wyjście: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ścieżka globalna</a:t>
              </a:r>
              <a:endParaRPr lang="en-US" sz="20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384048" y="36822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Ciąg punktów w przestrzeni (x,y) lub (x,y,z) przekazywany do planisty lokalnego</a:t>
              </a:r>
              <a:endParaRPr lang="en-US" sz="16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709160" y="2971800"/>
              <a:ext cx="4160520" cy="16916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BF3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19" name="Shape 17"/>
            <p:cNvSpPr/>
            <p:nvPr/>
          </p:nvSpPr>
          <p:spPr>
            <a:xfrm>
              <a:off x="4709160" y="2971800"/>
              <a:ext cx="4160520" cy="54864"/>
            </a:xfrm>
            <a:prstGeom prst="rect">
              <a:avLst/>
            </a:prstGeom>
            <a:solidFill>
              <a:srgbClr val="1A3550"/>
            </a:solidFill>
            <a:ln w="12700">
              <a:solidFill>
                <a:srgbClr val="1A3550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18888" y="3063240"/>
              <a:ext cx="3941064" cy="64282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Wyjście: </a:t>
              </a:r>
              <a:r>
                <a:rPr lang="en-US" sz="2000" dirty="0">
                  <a:solidFill>
                    <a:srgbClr val="0D1B2A"/>
                  </a:solidFill>
                  <a:latin typeface="Trebuchet MS" pitchFamily="34" charset="0"/>
                  <a:ea typeface="Trebuchet MS" pitchFamily="34" charset="-122"/>
                  <a:cs typeface="Trebuchet MS" pitchFamily="34" charset="-120"/>
                </a:rPr>
                <a:t>cost map</a:t>
              </a:r>
              <a:endParaRPr lang="en-US" sz="20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818888" y="3682289"/>
              <a:ext cx="3941064" cy="9304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47556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Mapa kosztów przesyłana do lokalnego planisty jako mapa naviagacyjna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FORMALIZACJA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planowania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ścieżki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84737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58984"/>
            <a:ext cx="8229600" cy="2755933"/>
          </a:xfrm>
          <a:prstGeom prst="rect">
            <a:avLst/>
          </a:prstGeom>
          <a:noFill/>
          <a:ln/>
        </p:spPr>
        <p:txBody>
          <a:bodyPr wrap="square" lIns="127000" tIns="0" rIns="127000" bIns="3600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Przestrzeń stanów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zbiór wszystkich dopuszczalnych konfiguracji </a:t>
            </a:r>
            <a:r>
              <a:rPr lang="en-US" sz="160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robota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free</a:t>
            </a:r>
            <a:r>
              <a:rPr lang="en-US" sz="1600" b="1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⊆ C</a:t>
            </a:r>
            <a:endParaRPr lang="en-US" sz="1600" b="1" dirty="0">
              <a:latin typeface="Georgia Pro Cond" panose="02040506050405020303" pitchFamily="18" charset="0"/>
            </a:endParaRPr>
          </a:p>
          <a:p>
            <a:pPr marL="601200" lvl="1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</a:t>
            </a:r>
            <a:r>
              <a:rPr lang="en-US" sz="1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początkowy</a:t>
            </a: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start</a:t>
            </a:r>
            <a:r>
              <a:rPr lang="pl-PL" sz="1600" b="1" baseline="-25000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aktualna pozycja i orientacja robota w mapie</a:t>
            </a:r>
            <a:endParaRPr lang="en-US" sz="1600" dirty="0"/>
          </a:p>
          <a:p>
            <a:pPr marL="601200" lvl="1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 </a:t>
            </a:r>
            <a:r>
              <a:rPr lang="en-US" sz="160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docelowy</a:t>
            </a: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goal</a:t>
            </a:r>
            <a:r>
              <a:rPr lang="pl-PL" sz="1600" b="1" baseline="-25000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żądana pozycja końcowa misji</a:t>
            </a:r>
            <a:endParaRPr lang="en-US" sz="16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przeszkody, granice mapy, kinematyka, stabilność robota</a:t>
            </a:r>
            <a:endParaRPr lang="en-US" sz="16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kosztu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600" b="1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c(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start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goal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minimalizowana wzdłuż ścieżki (czas, energia, ryzyko)</a:t>
            </a:r>
            <a:endParaRPr lang="en-US" sz="16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Ścieżka optymalna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ciąg 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γ : [0,1] → 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free</a:t>
            </a:r>
            <a:r>
              <a:rPr lang="en-US" sz="1600" b="1" dirty="0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taki, że γ(0)=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start</a:t>
            </a:r>
            <a:r>
              <a:rPr lang="en-US" sz="1600" b="1" dirty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, γ(1)=</a:t>
            </a:r>
            <a:r>
              <a:rPr lang="en-US" sz="1600" b="1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600" b="1" baseline="-25000" dirty="0" err="1" smtClean="0">
                <a:solidFill>
                  <a:srgbClr val="0D1B2A"/>
                </a:solidFill>
                <a:latin typeface="Georgia Pro Cond" panose="02040506050405020303" pitchFamily="18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600" b="1" baseline="-25000" dirty="0">
              <a:latin typeface="Georgia Pro Cond" panose="02040506050405020303" pitchFamily="18" charset="0"/>
            </a:endParaRPr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Zupełność</a:t>
            </a:r>
            <a:r>
              <a:rPr lang="en-US" sz="16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algorytm znajdzie ścieżkę, jeśli istnieje; optymalność: znajdzie najlepszą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REPREZENTACJE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Reprezentacje grafowe środowiska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0"/>
            <a:ext cx="2651760" cy="2492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2651760" cy="4114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Siatka komórek (Grid)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17142" y="1627632"/>
            <a:ext cx="2579202" cy="1692771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Regularna siatka N×M komórek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Komórka: wolna / zajęta / koszt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Łatwa implementacja A*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Duże mapy = wysoka pamięć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Rozdzielczość ogranicza precyzję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154680" y="1143000"/>
            <a:ext cx="2757698" cy="2492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143000"/>
            <a:ext cx="2757698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Graf topologiczny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75200" y="1627632"/>
            <a:ext cx="2737178" cy="1815882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Węzły = charakterystyczne miejsca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Krawędzie = przejazdy między nimi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Szybkie planowanie wysokopoziomowe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Niska rozdzielczość geometryczna</a:t>
            </a:r>
            <a:endParaRPr lang="en-US" sz="1400" spc="-40" dirty="0"/>
          </a:p>
          <a:p>
            <a:pPr marL="144000" indent="-144000">
              <a:spcAft>
                <a:spcPts val="6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Wymaga mapowania semantycznego</a:t>
            </a:r>
            <a:endParaRPr lang="en-US" sz="1400" spc="-40" dirty="0"/>
          </a:p>
        </p:txBody>
      </p:sp>
      <p:sp>
        <p:nvSpPr>
          <p:cNvPr id="14" name="Shape 12"/>
          <p:cNvSpPr/>
          <p:nvPr/>
        </p:nvSpPr>
        <p:spPr>
          <a:xfrm>
            <a:off x="6101945" y="1143000"/>
            <a:ext cx="2813455" cy="2492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01945" y="1143000"/>
            <a:ext cx="2813455" cy="41148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1674" y="116128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Visibility/Roadmap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52202" y="1627632"/>
            <a:ext cx="2740896" cy="1692771"/>
          </a:xfrm>
          <a:prstGeom prst="rect">
            <a:avLst/>
          </a:prstGeom>
          <a:noFill/>
          <a:ln/>
        </p:spPr>
        <p:txBody>
          <a:bodyPr wrap="square" lIns="50800" tIns="0" rIns="508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widzialności krawędzi przeszkód</a:t>
            </a:r>
            <a:endParaRPr lang="en-US" sz="1400" spc="-5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Trasy wzdłuż wklęsłości przeszkód</a:t>
            </a:r>
            <a:endParaRPr lang="en-US" sz="140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Optymalne w 2D dla znanych map</a:t>
            </a:r>
            <a:endParaRPr lang="en-US" sz="140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Trudne do uogólnienia na 3D</a:t>
            </a:r>
            <a:endParaRPr lang="en-US" sz="1400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Rzadko stosowane dla humanoida</a:t>
            </a:r>
            <a:endParaRPr lang="en-US" sz="1400" spc="-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DIJKSTRA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Algorytm Dijkstry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5394960" cy="300628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39496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155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Pseudokod Dijkstry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5166360" cy="2567369"/>
          </a:xfrm>
          <a:prstGeom prst="rect">
            <a:avLst/>
          </a:prstGeom>
          <a:noFill/>
          <a:ln/>
        </p:spPr>
        <p:txBody>
          <a:bodyPr wrap="square" lIns="63500" tIns="36000" rIns="101600" bIns="36000" rtlCol="0" anchor="t">
            <a:spAutoFit/>
          </a:bodyPr>
          <a:lstStyle/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[start]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;  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∞ dla pozostałych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priority_queue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: (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vertex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.push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((</a:t>
            </a: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start))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nie jest pusta: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(d, u)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.pop_min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6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d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[u]: 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continue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w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sąsiedzi(u):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[u]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w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dist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poprzednik[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u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</a:t>
            </a:r>
            <a:r>
              <a:rPr lang="pl-PL" sz="1200" dirty="0" err="1">
                <a:solidFill>
                  <a:srgbClr val="0550AE"/>
                </a:solidFill>
                <a:latin typeface="Consolas" panose="020B0609020204030204" pitchFamily="49" charset="0"/>
              </a:rPr>
              <a:t>Q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.push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((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nowy_koszt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13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odtwórz ścieżkę przez poprzednik</a:t>
            </a:r>
            <a:r>
              <a:rPr lang="pl-PL" sz="1200" dirty="0" smtClean="0">
                <a:solidFill>
                  <a:srgbClr val="202020"/>
                </a:solidFill>
                <a:latin typeface="Consolas" panose="020B0609020204030204" pitchFamily="49" charset="0"/>
              </a:rPr>
              <a:t>[]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097280"/>
            <a:ext cx="2926080" cy="3006281"/>
          </a:xfrm>
          <a:prstGeom prst="rect">
            <a:avLst/>
          </a:prstGeom>
          <a:solidFill>
            <a:srgbClr val="0D1B2A"/>
          </a:solidFill>
          <a:ln w="12700">
            <a:solidFill>
              <a:srgbClr val="0077A8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1097280"/>
            <a:ext cx="292608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115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Właściwości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0760" y="1554480"/>
            <a:ext cx="2651760" cy="1972335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>
            <a:spAutoFit/>
          </a:bodyPr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Gwarantuje optymalność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heurystyki</a:t>
            </a:r>
            <a:r>
              <a:rPr lang="pl-PL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200" dirty="0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eksploruje we wszystkich kierunkach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Złożoność: O((V+E) log V)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Wolny dla dużych map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Dobry jako punkt odniesienia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Podstawa A* i Bellmana-Forda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A*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Algorytm A* – planowanie z heurystyką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5394960" cy="346728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39496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1556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Pseudokod A*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536192"/>
            <a:ext cx="5166360" cy="3028374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/>
          <a:lstStyle/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f(n)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g(n)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h(n)</a:t>
            </a:r>
          </a:p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  g(n) – koszt dotarcia od startu do n</a:t>
            </a:r>
          </a:p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  h(n) – heurystyka: szacunek do celu</a:t>
            </a:r>
          </a:p>
          <a:p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{start}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g[start]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;  f[start]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h(start)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nie jest pusta: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4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węzeł z </a:t>
            </a:r>
            <a:r>
              <a:rPr lang="pl-PL" sz="1200" dirty="0">
                <a:solidFill>
                  <a:srgbClr val="8250DF"/>
                </a:solidFill>
                <a:latin typeface="Consolas" panose="020B0609020204030204" pitchFamily="49" charset="0"/>
              </a:rPr>
              <a:t>min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f w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: odtwórz ścieżkę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6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open_set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8250DF"/>
                </a:solidFill>
                <a:latin typeface="Consolas" panose="020B0609020204030204" pitchFamily="49" charset="0"/>
              </a:rPr>
              <a:t>remove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7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</a:t>
            </a:r>
            <a:r>
              <a:rPr lang="pl-PL" sz="1200" dirty="0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FF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sąsiedzi(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tentative_g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cost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9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</a:t>
            </a:r>
            <a:r>
              <a:rPr lang="pl-PL" sz="12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tentative_g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]: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1F2328"/>
                </a:solidFill>
                <a:latin typeface="Consolas" panose="020B0609020204030204" pitchFamily="49" charset="0"/>
              </a:rPr>
              <a:t>tentative_g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11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f[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g[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h(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098658"/>
                </a:solidFill>
                <a:latin typeface="Consolas" panose="020B0609020204030204" pitchFamily="49" charset="0"/>
              </a:rPr>
              <a:t>12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.             </a:t>
            </a:r>
            <a:r>
              <a:rPr lang="pl-PL" sz="1200" dirty="0" err="1">
                <a:solidFill>
                  <a:srgbClr val="202020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1F2328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smtClean="0">
                <a:solidFill>
                  <a:srgbClr val="1F2328"/>
                </a:solidFill>
                <a:latin typeface="Consolas" panose="020B0609020204030204" pitchFamily="49" charset="0"/>
              </a:rPr>
              <a:t>u</a:t>
            </a:r>
            <a:endParaRPr lang="pl-PL" sz="1200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097280"/>
            <a:ext cx="2926080" cy="2374466"/>
          </a:xfrm>
          <a:prstGeom prst="rect">
            <a:avLst/>
          </a:prstGeom>
          <a:solidFill>
            <a:srgbClr val="0D1B2A"/>
          </a:solidFill>
          <a:ln w="12700">
            <a:solidFill>
              <a:srgbClr val="22C55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1097280"/>
            <a:ext cx="2926080" cy="3840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115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Właściwości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0760" y="1554480"/>
            <a:ext cx="2651760" cy="3200400"/>
          </a:xfrm>
          <a:prstGeom prst="rect">
            <a:avLst/>
          </a:prstGeom>
          <a:noFill/>
          <a:ln/>
        </p:spPr>
        <p:txBody>
          <a:bodyPr wrap="square" lIns="63500" tIns="101600" rIns="635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Optymalny gdy h admissible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Szybszy od Dijkstry dzięki h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euklidesowa: √(dx²+dy²)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Manhattan: |dx|+|dy|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lepsza h, tym mniej węzłów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Złożoność: O(b^d), b=branching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A* na mapie zajętości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(grid map)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420527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53070" y="1115568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09102" y="1115568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65134" y="1115568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46" y="1072256"/>
            <a:ext cx="8321040" cy="316753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astar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"""A* na siatce 2D.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[r][c]=0: wolne, 1: </a:t>
            </a:r>
            <a:r>
              <a:rPr lang="pl-PL" sz="1200" dirty="0" err="1">
                <a:solidFill>
                  <a:srgbClr val="CE9178"/>
                </a:solidFill>
                <a:latin typeface="Consolas" panose="020B0609020204030204" pitchFamily="49" charset="0"/>
              </a:rPr>
              <a:t>zajete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.shape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lambda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4FC1FF"/>
                </a:solidFill>
                <a:latin typeface="Consolas" panose="020B0609020204030204" pitchFamily="49" charset="0"/>
              </a:rPr>
              <a:t>None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heappop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[::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)]: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2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get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1e9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1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heappush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200" dirty="0" err="1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),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34828"/>
            <a:ext cx="8595360" cy="40293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34828"/>
            <a:ext cx="8321040" cy="402931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Manhattan h – dopuszczalna i spójna; 4-kierunkowa sąsiedztwo; zwraca listę </a:t>
            </a:r>
            <a:r>
              <a:rPr lang="en-US" sz="16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komórek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ścieżki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77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HEURYSTYKI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łaściwości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zastosowanie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Heurystyki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w A* 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969198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969198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Heurystyka Manhattan (L1)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Heurystyka euklidesowa (L2)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h(n) = |dx| + |dy|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Idealna dla siatek z ruchem 4-kierunkowym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Dopuszczalna: nigdy nie przeszacowuje kosztu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Bardzo szybka – prosta operacja arytmetyczna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 ruchu 8-kierunkowego: lekko nieprecyzyjna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600200"/>
            <a:ext cx="3794760" cy="3108960"/>
          </a:xfrm>
          <a:prstGeom prst="rect">
            <a:avLst/>
          </a:prstGeom>
          <a:noFill/>
          <a:ln/>
        </p:spPr>
        <p:txBody>
          <a:bodyPr wrap="square" lIns="63500" tIns="101600" rIns="101600" bIns="6350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h(n) = √(dx² + dy²)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Odpowiednia dla ciągłego ruchu w 2D/3D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Dopuszczalna dla humanoida (metryczny koszt)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Droższa obliczeniowo (sqrt), lecz precyzyjniejsza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Zalecana gdy ścieżka jest wygładzana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COST 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z uwzględnieniem kosztów terenu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1"/>
            <a:ext cx="8595360" cy="267926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1996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map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zastępuje binarną mapę wolne/zajęte gradientem kosztów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preferowanie bezpiecznych, szerokich przejść zamiast najkrótszej trasy geometrycznej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Warstwy kosztu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inflacja wokół przeszkód, nachylenie terenu, wskaźnik stabilności, gęstość ruchu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komórki siatki mają wartość c ∈ [0, 255]; A* używa cost(u,v) = 1 + c(v)/50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Efekt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trasa omija obrzeża mebli i wąskie przejścia nawet gdy są geometrycznie wolne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Dynamiczna aktualizacja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nowe obserwacje LiDAR/kamery zmieniają cost map online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Parametryzacja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wagi warstw dobierane eksperymentalnie lub przez uczenie maszynowe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A* z mapą kosztów terenu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481702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94076" y="1133856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50108" y="1133856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06140" y="1133856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818" y="1037880"/>
            <a:ext cx="8321040" cy="3449662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astar_cost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cost_map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"""A* z kosztem </a:t>
            </a:r>
            <a:r>
              <a:rPr lang="pl-PL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komorki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 z </a:t>
            </a:r>
            <a:r>
              <a:rPr lang="pl-PL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cost_map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 [0-100]."""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.shape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lambda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r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c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])  </a:t>
            </a:r>
            <a:r>
              <a:rPr lang="pl-PL" sz="1100" dirty="0">
                <a:solidFill>
                  <a:srgbClr val="6A9955"/>
                </a:solidFill>
                <a:latin typeface="Consolas" panose="020B0609020204030204" pitchFamily="49" charset="0"/>
              </a:rPr>
              <a:t># euklidesowa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{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 err="1">
                <a:solidFill>
                  <a:srgbClr val="4FC1FF"/>
                </a:solidFill>
                <a:latin typeface="Consolas" panose="020B0609020204030204" pitchFamily="49" charset="0"/>
              </a:rPr>
              <a:t>None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start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heappop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[],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while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);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node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[::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[(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)]: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rows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&lt;=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cols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and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grid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==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step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dr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dc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cost_map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50.0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:=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step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get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1e9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;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parent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u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heapq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heappush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pq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ng</a:t>
            </a:r>
            <a:r>
              <a:rPr lang="pl-PL" sz="1100" dirty="0" err="1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h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),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1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))</a:t>
            </a:r>
            <a:endParaRPr lang="pl-PL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86868"/>
            <a:ext cx="8595360" cy="35089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252" y="4586868"/>
            <a:ext cx="8419988" cy="350892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spc="-6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8-kierunkowe sąsiedztwo; koszt przejścia = odległość * (1 + wartość_kosztu/50); ruch po </a:t>
            </a:r>
            <a:r>
              <a:rPr lang="en-US" sz="1600" spc="-6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skosie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6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droższy</a:t>
            </a:r>
            <a:endParaRPr lang="en-US" sz="1600" spc="-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1 | WYGŁADZANIE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Wygładzanie ścieżki globalnej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55359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2892" y="1158984"/>
            <a:ext cx="8404419" cy="2290815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na siatce zwraca ścieżkę z ostrymi załamaniami przy każdej zmianie kierunku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Wygładzanie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konieczne przed przekazaniem ścieżki do generatora kroków lub MPC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spc="-4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pl-PL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interpolacja B-spline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krzywa przechodzi blisko punktów kontrolnych, zachowuje ciągłość krzywizny</a:t>
            </a:r>
            <a:endParaRPr lang="en-US" sz="1450" spc="-4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spc="-4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l-PL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50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skr</a:t>
            </a:r>
            <a:r>
              <a:rPr lang="pl-PL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acanie</a:t>
            </a:r>
            <a:r>
              <a:rPr lang="en-US" sz="1450" b="1" spc="-4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(shortcutting): </a:t>
            </a:r>
            <a:r>
              <a:rPr lang="en-US" sz="145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iteracyjne usuwanie pośrednich punktów, jeśli prosta jest wolna od przeszkód</a:t>
            </a:r>
            <a:endParaRPr lang="en-US" sz="1450" spc="-4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pl-PL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45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 Gaussa 1D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ważona średnia po sąsiednich punktach wzdłuż ścieżki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Metryka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kąt ugięcia &lt; 15° między kolejnymi odcinkami jako warunek akceptacji</a:t>
            </a:r>
            <a:endParaRPr lang="en-US" sz="1450" dirty="0"/>
          </a:p>
          <a:p>
            <a:pPr marL="180000" indent="-1800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Ważne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wygładzona ścieżka musi pozostawać w wolnej przestrzeni – weryfikacja kolizji po wygładzeniu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B923C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B923C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140" y="1702420"/>
            <a:ext cx="984280" cy="984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B9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lokalne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unikanie przeszkód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26080" y="28346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DWA, potential fields, MPC, przeszkody dynamiczne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B9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PLANISTA LOKALNY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 co potrzebny planista lokalny?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143001"/>
            <a:ext cx="4160520" cy="126285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143000"/>
            <a:ext cx="416052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1234440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Świat dynamiczny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84048" y="1764281"/>
            <a:ext cx="4050792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globalna nie uwzględnia ludzi, wózków, </a:t>
            </a:r>
            <a:r>
              <a:rPr lang="en-US" sz="1400" spc="-2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otwieranych</a:t>
            </a:r>
            <a:r>
              <a:rPr lang="en-US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2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drzwi</a:t>
            </a:r>
            <a:r>
              <a:rPr lang="pl-PL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400" spc="-2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spc="-2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lanista</a:t>
            </a:r>
            <a:r>
              <a:rPr lang="en-US" sz="1400" spc="-2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2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lokalny reaguje na bieżąco</a:t>
            </a:r>
            <a:endParaRPr lang="en-US" sz="1400" spc="-20" dirty="0"/>
          </a:p>
        </p:txBody>
      </p:sp>
      <p:sp>
        <p:nvSpPr>
          <p:cNvPr id="10" name="Shape 8"/>
          <p:cNvSpPr/>
          <p:nvPr/>
        </p:nvSpPr>
        <p:spPr>
          <a:xfrm>
            <a:off x="4709160" y="1143001"/>
            <a:ext cx="4160520" cy="126285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43000"/>
            <a:ext cx="416052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18888" y="1234440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Niedoskonała mapa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18888" y="1764281"/>
            <a:ext cx="3941064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Sensory mają szum, mapa jest zbudowana ze starego skanu – lokalna mapa jest zawsze świeższa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2614965"/>
            <a:ext cx="4160520" cy="13548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614965"/>
            <a:ext cx="416052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048" y="2706405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dynamiki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4048" y="3236246"/>
            <a:ext cx="3941064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nie może skręcić dowolnie ostro ani zatrzymać się natychmiast – kinematyka musi być uwzględniona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09160" y="2614965"/>
            <a:ext cx="4160520" cy="13548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2614965"/>
            <a:ext cx="416052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18888" y="2706405"/>
            <a:ext cx="3941064" cy="52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Horyzont predykcji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18888" y="3236246"/>
            <a:ext cx="3941064" cy="5997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Decyzje na 1–3 s do przodu wystarczają; pełny replan jest zbyt kosztowny w każdym cyklu (10–50 Hz)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A855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POTENTIAL FIELDS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Pola potencjału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(Potential Fields)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1"/>
            <a:ext cx="5394960" cy="2679266"/>
          </a:xfrm>
          <a:prstGeom prst="rect">
            <a:avLst/>
          </a:prstGeom>
          <a:solidFill>
            <a:srgbClr val="0D1B2A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97280"/>
            <a:ext cx="5394960" cy="298125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15568"/>
            <a:ext cx="5029200" cy="269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Wzory sił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1475677"/>
            <a:ext cx="5166360" cy="2190788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>
              <a:lnSpc>
                <a:spcPts val="1400"/>
              </a:lnSpc>
            </a:pP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U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attr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(q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½ · 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k</a:t>
            </a:r>
            <a:r>
              <a:rPr lang="pl-PL" sz="1200" b="1" baseline="-250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att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· d²(q,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q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goal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– 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attrakcja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do celu; rośnie z odległością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U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rep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(q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½ · </a:t>
            </a:r>
            <a:r>
              <a:rPr lang="pl-PL" sz="1200" b="1" dirty="0" err="1">
                <a:solidFill>
                  <a:srgbClr val="CCCCCC"/>
                </a:solidFill>
                <a:latin typeface="Consolas" panose="020B0609020204030204" pitchFamily="49" charset="0"/>
              </a:rPr>
              <a:t>k_rep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· (</a:t>
            </a:r>
            <a:r>
              <a:rPr lang="pl-PL" sz="1200" b="1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d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d₀)²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gdy 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d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&lt;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d₀, inaczej </a:t>
            </a:r>
            <a:r>
              <a:rPr lang="pl-PL" sz="1200" dirty="0" smtClean="0">
                <a:solidFill>
                  <a:srgbClr val="B5CEA8"/>
                </a:solidFill>
                <a:latin typeface="Consolas" panose="020B0609020204030204" pitchFamily="49" charset="0"/>
              </a:rPr>
              <a:t>0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– 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odpychanie od przeszkód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	     d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₀ – promień wpływu przeszkody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F(q)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–∇U(q)</a:t>
            </a:r>
          </a:p>
          <a:p>
            <a:pPr>
              <a:lnSpc>
                <a:spcPts val="1400"/>
              </a:lnSpc>
            </a:pP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     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F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attr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F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rep</a:t>
            </a:r>
            <a:endParaRPr lang="pl-PL" sz="1200" b="1" baseline="-25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Ruch: </a:t>
            </a:r>
            <a:r>
              <a:rPr lang="pl-PL" sz="1200" b="1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q</a:t>
            </a:r>
            <a:r>
              <a:rPr lang="pl-PL" sz="1200" b="1" baseline="-25000" dirty="0" err="1" smtClean="0">
                <a:solidFill>
                  <a:srgbClr val="CCCCCC"/>
                </a:solidFill>
                <a:latin typeface="Consolas" panose="020B0609020204030204" pitchFamily="49" charset="0"/>
              </a:rPr>
              <a:t>new</a:t>
            </a:r>
            <a:r>
              <a:rPr lang="pl-PL" sz="1200" b="1" dirty="0" smtClean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q </a:t>
            </a:r>
            <a:r>
              <a:rPr lang="pl-PL" sz="1200" b="1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el-GR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α · </a:t>
            </a:r>
            <a:r>
              <a:rPr lang="pl-PL" sz="1200" b="1" dirty="0">
                <a:solidFill>
                  <a:srgbClr val="CCCCCC"/>
                </a:solidFill>
                <a:latin typeface="Consolas" panose="020B0609020204030204" pitchFamily="49" charset="0"/>
              </a:rPr>
              <a:t>F(q)</a:t>
            </a:r>
          </a:p>
          <a:p>
            <a:pPr>
              <a:lnSpc>
                <a:spcPts val="1400"/>
              </a:lnSpc>
            </a:pP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</a:t>
            </a:r>
            <a:r>
              <a:rPr lang="el-GR" sz="1200" dirty="0">
                <a:solidFill>
                  <a:srgbClr val="CCCCCC"/>
                </a:solidFill>
                <a:latin typeface="Consolas" panose="020B0609020204030204" pitchFamily="49" charset="0"/>
              </a:rPr>
              <a:t>α </a:t>
            </a:r>
            <a:r>
              <a:rPr lang="el-GR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– 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krok </a:t>
            </a:r>
            <a:r>
              <a:rPr lang="pl-PL" sz="1200" dirty="0" smtClean="0">
                <a:solidFill>
                  <a:srgbClr val="CCCCCC"/>
                </a:solidFill>
                <a:latin typeface="Consolas" panose="020B0609020204030204" pitchFamily="49" charset="0"/>
              </a:rPr>
              <a:t>iteracji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943600" y="1097281"/>
            <a:ext cx="2926080" cy="2679266"/>
          </a:xfrm>
          <a:prstGeom prst="rect">
            <a:avLst/>
          </a:prstGeom>
          <a:solidFill>
            <a:srgbClr val="0D1B2A"/>
          </a:solidFill>
          <a:ln w="12700">
            <a:solidFill>
              <a:srgbClr val="A855F7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943600" y="1097280"/>
            <a:ext cx="2926080" cy="298125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1115568"/>
            <a:ext cx="2651760" cy="269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Właściwości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80760" y="1554480"/>
            <a:ext cx="2651760" cy="1841974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 implementacja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Działa w czasie rzeczywistym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minima lokalne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Oscylacje w wąskich przejściach</a:t>
            </a:r>
            <a:endParaRPr lang="en-US" sz="12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Trudna </a:t>
            </a:r>
            <a:r>
              <a:rPr lang="en-US" sz="1200" dirty="0" err="1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parametryzacja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200" baseline="-250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</a:t>
            </a: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200" baseline="-25000" dirty="0" err="1" smtClean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</a:t>
            </a:r>
            <a:endParaRPr lang="en-US" sz="1200" baseline="-25000" dirty="0"/>
          </a:p>
          <a:p>
            <a:pPr marL="180000" indent="-1800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0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Rozwiązanie: potencjały harmoniczne lub RRT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DWA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Idea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Window Approach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(DWA</a:t>
            </a:r>
            <a:r>
              <a:rPr lang="en-US" sz="2400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1"/>
            <a:ext cx="8595360" cy="27284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0132" y="1128204"/>
            <a:ext cx="8229600" cy="2604165"/>
          </a:xfrm>
          <a:prstGeom prst="rect">
            <a:avLst/>
          </a:prstGeom>
          <a:noFill/>
          <a:ln/>
        </p:spPr>
        <p:txBody>
          <a:bodyPr wrap="square" lIns="127000" tIns="36000" rIns="127000" bIns="36000" rtlCol="0" anchor="t">
            <a:spAutoFit/>
          </a:bodyPr>
          <a:lstStyle/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 każdym kroku czasowym szukaj najlepszej pary prędkości (v, ω) z okna osiągalnego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Okno dynamiczne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{(v, ω) | v ∈ [v-a_max·dt, v+a_max·dt], ω analogicznie}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Ocena trajektorii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dla każdego kandydata (v, ω) symuluj ruch przez T sekund (np. T=2 s)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celu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G(v,ω) = α·heading + β·clearance + γ·velocity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 wyrównanie kierunku ruchu z celem globalnym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odległość od najbliższej przeszkody wzdłuż trajektorii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nagroda za wyższą prędkość do przodu</a:t>
            </a:r>
            <a:endParaRPr lang="en-US" sz="1400" dirty="0"/>
          </a:p>
          <a:p>
            <a:pPr marL="144000" indent="-144000">
              <a:spcAft>
                <a:spcPts val="900"/>
              </a:spcAft>
              <a:buSzPct val="100000"/>
              <a:buChar char="•"/>
            </a:pPr>
            <a:r>
              <a:rPr lang="pl-PL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r>
              <a:rPr lang="en-US" sz="140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ybierz</a:t>
            </a:r>
            <a:r>
              <a:rPr lang="en-US" sz="140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(v*, ω*) = argmax G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wykonaj jeden krok, przelicz w kolejnym cyklu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MPC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Predictive 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czyli taka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„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intuicja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0900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55100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optymalizuje sekwencję sterowań u₀, u₁, …, u_{N-1} na horyzoncie N kroków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predykcji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x_{t+1} = f(x_t, u_t) – uproszczony model kinematyczny/dynamiczny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Funkcja celu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minimalizacja odchylenia od ścieżki + kosztu sterowania + penalizacja za przeszkody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Ograniczenia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|v| ≤ v_max, |ω| ≤ ω_max, brak kolizji, stabilność ZMP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Receding horizon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po wyznaczeniu sekwencji wykonuje się tylko u₀, a plan jest aktualizowany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Zalety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jawne ograniczenia dynamiczne, optymalne zarządzanie kolizjami w horyzoncie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Wada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wysoki koszt obliczeniowy (solver QP/NLP); wymaga dedykowanego CPU lub GPU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Pole potencjału – lokalny wektor ruchu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111108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8578" y="1115568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04610" y="1115568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60642" y="1115568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5906" y="1005840"/>
            <a:ext cx="8321040" cy="3111108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1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potential_field_move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robot_pos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    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k_att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k_rep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100.0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d0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1.5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"""Wyznacza wektor ruchu z </a:t>
            </a:r>
            <a:r>
              <a:rPr lang="pl-PL" sz="1100" dirty="0" err="1">
                <a:solidFill>
                  <a:srgbClr val="CE9178"/>
                </a:solidFill>
                <a:latin typeface="Consolas" panose="020B0609020204030204" pitchFamily="49" charset="0"/>
              </a:rPr>
              <a:t>pol</a:t>
            </a:r>
            <a:r>
              <a:rPr lang="pl-PL" sz="1100" dirty="0">
                <a:solidFill>
                  <a:srgbClr val="CE9178"/>
                </a:solidFill>
                <a:latin typeface="Consolas" panose="020B0609020204030204" pitchFamily="49" charset="0"/>
              </a:rPr>
              <a:t> potencjalnych."""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robot_pos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dtype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goal_pos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,  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dtype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float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6A9955"/>
                </a:solidFill>
                <a:latin typeface="Consolas" panose="020B0609020204030204" pitchFamily="49" charset="0"/>
              </a:rPr>
              <a:t># </a:t>
            </a:r>
            <a:r>
              <a:rPr lang="pl-PL" sz="1100" dirty="0" err="1">
                <a:solidFill>
                  <a:srgbClr val="6A9955"/>
                </a:solidFill>
                <a:latin typeface="Consolas" panose="020B0609020204030204" pitchFamily="49" charset="0"/>
              </a:rPr>
              <a:t>Sila</a:t>
            </a:r>
            <a:r>
              <a:rPr lang="pl-PL" sz="1100" dirty="0">
                <a:solidFill>
                  <a:srgbClr val="6A9955"/>
                </a:solidFill>
                <a:latin typeface="Consolas" panose="020B0609020204030204" pitchFamily="49" charset="0"/>
              </a:rPr>
              <a:t> atrakcji do celu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f_att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k_att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6A9955"/>
                </a:solidFill>
                <a:latin typeface="Consolas" panose="020B0609020204030204" pitchFamily="49" charset="0"/>
              </a:rPr>
              <a:t># Suma sil odpychania od </a:t>
            </a:r>
            <a:r>
              <a:rPr lang="pl-PL" sz="11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przeszkód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f_rep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zeros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diff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robot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array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   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linalg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norm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diff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1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&lt;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f_rep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+=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k_rep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-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d0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*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diff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/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9CDCFE"/>
                </a:solidFill>
                <a:latin typeface="Consolas" panose="020B0609020204030204" pitchFamily="49" charset="0"/>
              </a:rPr>
              <a:t>d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**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total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f_att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f_rep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1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total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/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(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4EC9B0"/>
                </a:solidFill>
                <a:latin typeface="Consolas" panose="020B0609020204030204" pitchFamily="49" charset="0"/>
              </a:rPr>
              <a:t>linalg</a:t>
            </a:r>
            <a:r>
              <a:rPr lang="pl-PL" sz="11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100" dirty="0" err="1">
                <a:solidFill>
                  <a:srgbClr val="DCDCAA"/>
                </a:solidFill>
                <a:latin typeface="Consolas" panose="020B0609020204030204" pitchFamily="49" charset="0"/>
              </a:rPr>
              <a:t>norm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100" dirty="0" err="1">
                <a:solidFill>
                  <a:srgbClr val="9CDCFE"/>
                </a:solidFill>
                <a:latin typeface="Consolas" panose="020B0609020204030204" pitchFamily="49" charset="0"/>
              </a:rPr>
              <a:t>total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100" dirty="0">
                <a:solidFill>
                  <a:srgbClr val="DCDCAA"/>
                </a:solidFill>
                <a:latin typeface="Consolas" panose="020B0609020204030204" pitchFamily="49" charset="0"/>
              </a:rPr>
              <a:t>+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100" dirty="0">
                <a:solidFill>
                  <a:srgbClr val="B5CEA8"/>
                </a:solidFill>
                <a:latin typeface="Consolas" panose="020B0609020204030204" pitchFamily="49" charset="0"/>
              </a:rPr>
              <a:t>1e-6</a:t>
            </a:r>
            <a:r>
              <a:rPr lang="pl-PL" sz="1100" dirty="0">
                <a:solidFill>
                  <a:srgbClr val="CCCCCC"/>
                </a:solidFill>
                <a:latin typeface="Consolas" panose="020B0609020204030204" pitchFamily="49" charset="0"/>
              </a:rPr>
              <a:t>)  </a:t>
            </a:r>
            <a:r>
              <a:rPr lang="pl-PL" sz="1100" dirty="0">
                <a:solidFill>
                  <a:srgbClr val="6A9955"/>
                </a:solidFill>
                <a:latin typeface="Consolas" panose="020B0609020204030204" pitchFamily="49" charset="0"/>
              </a:rPr>
              <a:t># wektor </a:t>
            </a:r>
            <a:r>
              <a:rPr lang="pl-PL" sz="1100" dirty="0" smtClean="0">
                <a:solidFill>
                  <a:srgbClr val="6A9955"/>
                </a:solidFill>
                <a:latin typeface="Consolas" panose="020B0609020204030204" pitchFamily="49" charset="0"/>
              </a:rPr>
              <a:t>jednostkowy</a:t>
            </a:r>
            <a:endParaRPr lang="pl-PL" sz="11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453054"/>
            <a:ext cx="8595360" cy="484706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4453054"/>
            <a:ext cx="8595360" cy="484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spc="-6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Zwraca znormalizowany wektor ruchu; mnożymy przez dt i prędkość robota, by </a:t>
            </a:r>
            <a:r>
              <a:rPr lang="en-US" sz="1600" spc="-6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uzyskać</a:t>
            </a:r>
            <a:r>
              <a:rPr lang="en-US" sz="1600" spc="-6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spc="-6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przemieszczenie</a:t>
            </a:r>
            <a:endParaRPr lang="en-US" sz="1600" spc="-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Ocena kandydatów trajektorii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(uproszczone DWA)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231764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2754" y="1034163"/>
            <a:ext cx="8321040" cy="3203441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2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score_trajectory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robot_state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2.0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alpha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0.4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beta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0.4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gamma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0.2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E9178"/>
                </a:solidFill>
                <a:latin typeface="Consolas" panose="020B0609020204030204" pitchFamily="49" charset="0"/>
              </a:rPr>
              <a:t>"""Ocenia trajektorie (v, omega) w horyzoncie T sekund."""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robot_state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1e9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_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int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cos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sin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omega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dt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obstacles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CDCAA"/>
                </a:solidFill>
                <a:latin typeface="Consolas" panose="020B0609020204030204" pitchFamily="49" charset="0"/>
              </a:rPr>
              <a:t>min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],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obs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]))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heading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 err="1">
                <a:solidFill>
                  <a:srgbClr val="DCDCAA"/>
                </a:solidFill>
                <a:latin typeface="Consolas" panose="020B0609020204030204" pitchFamily="49" charset="0"/>
              </a:rPr>
              <a:t>abs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arctan2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y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goal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2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x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min_clearance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2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alpha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heading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9CDCFE"/>
                </a:solidFill>
                <a:latin typeface="Consolas" panose="020B0609020204030204" pitchFamily="49" charset="0"/>
              </a:rPr>
              <a:t>beta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 err="1">
                <a:solidFill>
                  <a:srgbClr val="9CDCFE"/>
                </a:solidFill>
                <a:latin typeface="Consolas" panose="020B0609020204030204" pitchFamily="49" charset="0"/>
              </a:rPr>
              <a:t>clearance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2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2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gamma</a:t>
            </a:r>
            <a:r>
              <a:rPr lang="pl-PL" sz="1200" dirty="0" smtClean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200" dirty="0" smtClean="0">
                <a:solidFill>
                  <a:srgbClr val="9CDCFE"/>
                </a:solidFill>
                <a:latin typeface="Consolas" panose="020B0609020204030204" pitchFamily="49" charset="0"/>
              </a:rPr>
              <a:t>v</a:t>
            </a:r>
            <a:endParaRPr lang="pl-PL" sz="12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453054"/>
            <a:ext cx="8595360" cy="484706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453054"/>
            <a:ext cx="8321040" cy="484706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Wyższy score = lepsza trajektoria; wywoływane dla N par (v, ω), wybierana para z max </a:t>
            </a:r>
            <a:r>
              <a:rPr lang="en-US" sz="1600" dirty="0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048578" y="1115568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04610" y="1115568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560642" y="1115568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PRZESZKODY DYNAMICZNE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Unikanie ludzi i przeszkód dynamicznych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34473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34473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Detekcja i predykcja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38404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z uwzględnieniem ruchu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7991" y="1600200"/>
            <a:ext cx="3976895" cy="1765474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Detekcja ludzi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YOLO, PointNet na chmurze LiDAR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Śledzenie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(tracking): filtr Kalmana per obiekt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Predykcja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stałe velocity, Social Force Model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Horyzont predykcji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1–3 s wystarczy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Niepewność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elipsa kowariancji wokół ścieżki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80529" y="1540728"/>
            <a:ext cx="4006632" cy="1729123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Strefa bezpieczeństwa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okrąg lub elipsa wokół człowieka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przeszkody skaluje rozmiar strefy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(Optimal Reciprocal Collision Avoidance)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navigation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min. 1,2 m od człowieka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Zatrzymanie gdy człowiek zbliży się &lt; 0,5 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355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REPLANOWANIE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iedy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jak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pl-PL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przeplanowywać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online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4160520" cy="256032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0"/>
            <a:ext cx="4160520" cy="2560320"/>
          </a:xfrm>
          <a:prstGeom prst="rect">
            <a:avLst/>
          </a:prstGeom>
          <a:solidFill>
            <a:srgbClr val="FFF1F5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41148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 globalny 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(rzadki)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411480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Replan lokalny </a:t>
            </a:r>
            <a:r>
              <a:rPr lang="en-US" sz="1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(częsty)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7991" y="1615068"/>
            <a:ext cx="4006631" cy="1729123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cel misji zostaje zmieniony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mapa zasadniczo się zmienia </a:t>
            </a:r>
            <a:r>
              <a:rPr lang="en-US" sz="1400" i="1" spc="-4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(zamknięte przejście)</a:t>
            </a:r>
            <a:endParaRPr lang="en-US" sz="1400" i="1" spc="-4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5–30 sekund lub na żądanie operatora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Kosztowny obliczeniowo – całkowite A*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Alternatywa: D* Lite </a:t>
            </a:r>
            <a:r>
              <a:rPr lang="en-US" sz="1400" i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(przyrostowy A*)</a:t>
            </a:r>
            <a:endParaRPr lang="en-US" sz="1400" i="1" dirty="0"/>
          </a:p>
        </p:txBody>
      </p:sp>
      <p:sp>
        <p:nvSpPr>
          <p:cNvPr id="13" name="Text 11"/>
          <p:cNvSpPr/>
          <p:nvPr/>
        </p:nvSpPr>
        <p:spPr>
          <a:xfrm>
            <a:off x="4862304" y="1600200"/>
            <a:ext cx="3724136" cy="1765474"/>
          </a:xfrm>
          <a:prstGeom prst="rect">
            <a:avLst/>
          </a:prstGeom>
          <a:noFill/>
          <a:ln/>
        </p:spPr>
        <p:txBody>
          <a:bodyPr wrap="square" lIns="63500" tIns="36000" rIns="1016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50–100 ms w każdym cyklu planisty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Okno lokalne wokół bieżącej pozycji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Reaguje na nowe przeszkody dynamiczne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Możliwy na CPU embarked 1–2 ms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 zmiany ścieżki globalnej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2 | STABILNOŚĆ A PLAN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Konflikt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między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planem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stabilnością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4617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9444" y="1141652"/>
            <a:ext cx="8585956" cy="2575508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optymalny manewr unikania może wymagać szybkiego skrętu lub dużej prędkości bocznej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Konsekwencja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środek masy wychodzi poza wielobok podparcia → utrata równowagi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Reguła nadrzędna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stabilność &gt; unikanie kolizji &gt; optymalizacja trasy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Implementacja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każda kandydatka trajektoria lokalnej jest filtrowana przez weryfikator ZMP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Weryfikator ZMP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odrzuca trajektorie, gdzie przewidywany ZMP wychodzi poza margines bezpieczeństwa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Efekt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planista lokalny preferuje wolniejsze, bardziej konserwatywne manewry w trudnym terenie</a:t>
            </a:r>
            <a:endParaRPr lang="en-US" sz="15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</a:t>
            </a:r>
            <a:r>
              <a:rPr lang="en-US" sz="15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safety_margin_zmp = 2–4 cm; dla schodów i pochyłości zwiększony do 5–8 cm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35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2286000" cy="2286000"/>
          </a:xfrm>
          <a:prstGeom prst="rect">
            <a:avLst/>
          </a:prstGeom>
          <a:noFill/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22C55E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Shape 3"/>
          <p:cNvSpPr/>
          <p:nvPr/>
        </p:nvSpPr>
        <p:spPr>
          <a:xfrm>
            <a:off x="7132320" y="1371600"/>
            <a:ext cx="1645920" cy="1645920"/>
          </a:xfrm>
          <a:prstGeom prst="ellipse">
            <a:avLst/>
          </a:prstGeom>
          <a:solidFill>
            <a:schemeClr val="bg1"/>
          </a:solidFill>
          <a:ln w="57150">
            <a:solidFill>
              <a:srgbClr val="22C55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3140" y="1702420"/>
            <a:ext cx="984280" cy="984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260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926080" y="16002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kroków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trajektorii humanoida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2926080" y="2697480"/>
            <a:ext cx="3931920" cy="274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926080" y="2834640"/>
            <a:ext cx="4133626" cy="379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Footstep planning, ograniczenia, schody, trajektoria CoM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FOOTSTEP PIPELINE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Od ścieżki geometrycznej do sekwencji kroków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Ścieżka bazy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Globalna trasa (x,y) lub (x,y,z) wyznaczona przez A*; reprezentuje ruch CoM lub miednicy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2316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3639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3639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51460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Wzorzec chodu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1460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Parametry: długość kroku l, szerokość w, czas fazy T_step, T_swing; regularne lub adaptacyjne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8523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8523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6344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Wyznaczenie stóp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6344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 każdego punktu ścieżki wyznacz cele stopy: offset lewo/prawo ±w/2, orientacja = yaw trasy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720840" y="1097280"/>
            <a:ext cx="2011680" cy="25751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34072" y="1188720"/>
            <a:ext cx="585216" cy="585216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34072" y="118872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812280" y="1874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Weryfikacja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12280" y="2423160"/>
            <a:ext cx="1828800" cy="11154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Sprawdź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długość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 err="1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kroku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osiągalność kinematyczną, </a:t>
            </a:r>
            <a:r>
              <a:rPr lang="en-US" sz="14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kontakt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pl-PL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 smtClean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</a:t>
            </a: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terenem, margines ZMP i stabilność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PARAMETRY KROKÓW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arametry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planowania kroków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238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Długość kroku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typowo 0,2–0,5 m; zależy od prędkości i stabilności (przy niskiej prędkości krócej)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Szerokość kroku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0,1–0,25 m; za mała = utrata stabilności, za duża = kolizja nóg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Orientacja stopy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dostosowana do krzywizny ścieżki i pochylenia terenu (normal surface)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Strefy dozwolonego kontaktu 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(foothold regions): płaskie, niegrzybowe obszary ≥ stopa robota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Kolejność kroków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lewa–prawa naprzemiennie; podwójne podparcie ≥ 20% cyklu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Wykluczenie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krawędzie, śliskie powierzchnie, zbyt strome pochylenie (&gt;20°), wąskie progi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w 3D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wymagane gdy teren ma zmienną wysokość (schody, kamienie, nierówności)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OGRANICZENIA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kinematyczne i stabilnościowe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81754" y="1097281"/>
            <a:ext cx="4160520" cy="25454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709160" y="1097281"/>
            <a:ext cx="4160520" cy="25454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97280"/>
            <a:ext cx="4160520" cy="384048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kinematyczne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09160" y="1097280"/>
            <a:ext cx="4160520" cy="384048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15568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Ograniczenia stabilnościowe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5689" y="1600200"/>
            <a:ext cx="4033023" cy="1980918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Zasięg nogi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max odległość stopa–biodro ≤ l_max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Min. odstęp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stopy nie mogą nachodzić na siebie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Zakres stawów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każdy staw w przedziale </a:t>
            </a:r>
            <a:r>
              <a:rPr lang="en-US" sz="1400" i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</a:t>
            </a:r>
            <a:r>
              <a:rPr lang="en-US" sz="1400" i="1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400" i="1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</a:t>
            </a:r>
            <a:r>
              <a:rPr lang="en-US" sz="1400" i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i="1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400" i="1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n-US" sz="1400" i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]</a:t>
            </a:r>
            <a:endParaRPr lang="en-US" sz="1400" i="1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 stawów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</a:t>
            </a:r>
            <a:r>
              <a:rPr lang="en-US" sz="1400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</a:t>
            </a:r>
            <a:r>
              <a:rPr lang="en-US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</a:t>
            </a:r>
            <a:r>
              <a:rPr lang="en-US" sz="1400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</a:t>
            </a:r>
            <a:r>
              <a:rPr lang="en-US" sz="1400" spc="-60" baseline="-2500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r>
              <a:rPr lang="en-US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spc="-8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(przepustowość aktuatora)</a:t>
            </a:r>
            <a:endParaRPr lang="en-US" sz="1400" i="1" spc="-8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Konfiguracja singularna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unikanie pełnego wyprostu kolana</a:t>
            </a:r>
            <a:endParaRPr lang="en-US" sz="1400" spc="-60" dirty="0"/>
          </a:p>
        </p:txBody>
      </p:sp>
      <p:sp>
        <p:nvSpPr>
          <p:cNvPr id="13" name="Text 11"/>
          <p:cNvSpPr/>
          <p:nvPr/>
        </p:nvSpPr>
        <p:spPr>
          <a:xfrm>
            <a:off x="4892040" y="1600200"/>
            <a:ext cx="3794760" cy="1729123"/>
          </a:xfrm>
          <a:prstGeom prst="rect">
            <a:avLst/>
          </a:prstGeom>
          <a:noFill/>
          <a:ln/>
        </p:spPr>
        <p:txBody>
          <a:bodyPr wrap="square" lIns="63500" tIns="36000" rIns="635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ZMP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wewnątrz </a:t>
            </a:r>
            <a:r>
              <a:rPr lang="en-US" sz="1400" spc="-60" dirty="0" err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wieloboku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60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podparcia</a:t>
            </a:r>
            <a:r>
              <a:rPr lang="pl-PL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spc="-60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marginesem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Point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dopuszczalnej strefie landing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Odchylenie tułowia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±15° od pionu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Prędkość CoM 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ograniczona przez marginesy LIPM</a:t>
            </a:r>
            <a:endParaRPr lang="en-US" sz="1400" spc="-6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 schodach</a:t>
            </a:r>
            <a:r>
              <a:rPr lang="en-US" sz="1400" spc="-6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dodatkowy margines boczny +3 cm</a:t>
            </a:r>
            <a:endParaRPr lang="en-US" sz="1400" spc="-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SCHODY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Planowanie na schodach i nierównościach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71643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467786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Detekcja schodów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segmentacja chmury punktów; klasyfikacja płaskich poziomych płaszczyzn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Wysokość stopnia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robot musi unieść stopę o (h_step + clearance) ponad krawędź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Miejsca kontaktu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wyznaczane na środku głębokości stopnia z marginesem ≥ 2 cm od krawędzi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Kolejność działań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wejście przodem – lewa noga wyżej → prawa noga dołącza, powtórz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Trajektoria stopy w powietrzu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krzywa beziera nad stopniem; max wysokość = h_step + 5 cm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Kontrola ciała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tułów pochyla się nieznacznie do przodu przy wchodzeniu, do tyłu przy schodzeniu</a:t>
            </a:r>
            <a:endParaRPr lang="en-US" sz="1400" dirty="0"/>
          </a:p>
          <a:p>
            <a:pPr marL="144000" indent="-1440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Zabezpieczenie</a:t>
            </a:r>
            <a:r>
              <a:rPr lang="en-US" sz="14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jeśli wysokość stopnia &gt; 25 cm lub brak miejsca kontaktu – zatrzymaj misję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Generacja sekwencji kroków </a:t>
            </a:r>
            <a:r>
              <a:rPr lang="en-US" sz="2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(footstep planner)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39"/>
            <a:ext cx="8595360" cy="3402609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93183" y="1156716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49215" y="1156716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05247" y="1156716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359" y="1065312"/>
            <a:ext cx="8321040" cy="342401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generate_footsteps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0.35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  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0.18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list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"""Generuje naprzemienne kroki L/P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wzdluz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sciezki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True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zaczyna lewa noga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len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&gt;=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arctan2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cos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({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'x'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'y'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left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})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274320" y="4580730"/>
            <a:ext cx="8595360" cy="357030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7359" y="4548798"/>
            <a:ext cx="8420881" cy="388962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±step_width/2 prostopadle do kierunku ruchu; 'left' flaga steruje naprzemlennością L/P.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23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7258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KOD PYTHON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9260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Weryfikacja wykonalności kroku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8595360" cy="3365438"/>
          </a:xfrm>
          <a:prstGeom prst="rect">
            <a:avLst/>
          </a:prstGeom>
          <a:solidFill>
            <a:srgbClr val="071520"/>
          </a:solidFill>
          <a:ln w="12700">
            <a:solidFill>
              <a:srgbClr val="0077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4548798"/>
            <a:ext cx="8595360" cy="388962"/>
          </a:xfrm>
          <a:prstGeom prst="rect">
            <a:avLst/>
          </a:prstGeom>
          <a:solidFill>
            <a:srgbClr val="1A3550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610696"/>
            <a:ext cx="8321040" cy="246221"/>
          </a:xfrm>
          <a:prstGeom prst="rect">
            <a:avLst/>
          </a:prstGeom>
          <a:noFill/>
          <a:ln/>
        </p:spPr>
        <p:txBody>
          <a:bodyPr wrap="square" lIns="0" tIns="0" rIns="12700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Opis: </a:t>
            </a:r>
            <a:r>
              <a:rPr lang="en-US" sz="16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sprawdzenia: długość wzdłużna, odchylenie boczne i skręt; zwraca dict z </a:t>
            </a:r>
            <a:r>
              <a:rPr lang="en-US" sz="16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diagnostyką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093183" y="1156716"/>
            <a:ext cx="146304" cy="146304"/>
          </a:xfrm>
          <a:prstGeom prst="ellipse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4" name="Shape 6"/>
          <p:cNvSpPr/>
          <p:nvPr/>
        </p:nvSpPr>
        <p:spPr>
          <a:xfrm>
            <a:off x="8349215" y="1156716"/>
            <a:ext cx="146304" cy="146304"/>
          </a:xfrm>
          <a:prstGeom prst="ellipse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8605247" y="1156716"/>
            <a:ext cx="146304" cy="146304"/>
          </a:xfrm>
          <a:prstGeom prst="ellipse">
            <a:avLst/>
          </a:prstGeom>
          <a:solidFill>
            <a:srgbClr val="C3F584"/>
          </a:solidFill>
          <a:ln w="12700">
            <a:solidFill>
              <a:srgbClr val="C3F584"/>
            </a:solidFill>
            <a:prstDash val="solid"/>
          </a:ln>
        </p:spPr>
      </p:sp>
      <p:sp>
        <p:nvSpPr>
          <p:cNvPr id="17" name="Text 8"/>
          <p:cNvSpPr/>
          <p:nvPr/>
        </p:nvSpPr>
        <p:spPr>
          <a:xfrm>
            <a:off x="357359" y="1065312"/>
            <a:ext cx="8321040" cy="3424014"/>
          </a:xfrm>
          <a:prstGeom prst="rect">
            <a:avLst/>
          </a:prstGeom>
          <a:noFill/>
          <a:ln/>
        </p:spPr>
        <p:txBody>
          <a:bodyPr wrap="square" lIns="108000" tIns="0" rIns="127000" bIns="63500" rtlCol="0" anchor="t">
            <a:spAutoFit/>
          </a:bodyPr>
          <a:lstStyle/>
          <a:p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import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numpy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as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/>
            </a:r>
            <a:b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</a:b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def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generate_footsteps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0.35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           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0.18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 -&gt;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list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"""Generuje naprzemienne kroki L/P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wzdluz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sciezki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."""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[]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FC1FF"/>
                </a:solidFill>
                <a:latin typeface="Consolas" panose="020B0609020204030204" pitchFamily="49" charset="0"/>
              </a:rPr>
              <a:t>True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6A9955"/>
                </a:solidFill>
                <a:latin typeface="Consolas" panose="020B0609020204030204" pitchFamily="49" charset="0"/>
              </a:rPr>
              <a:t># zaczyna lewa noga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for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range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DCDCAA"/>
                </a:solidFill>
                <a:latin typeface="Consolas" panose="020B0609020204030204" pitchFamily="49" charset="0"/>
              </a:rPr>
              <a:t>len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)):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hypot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&gt;=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step_length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arctan2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 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dx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 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if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C586C0"/>
                </a:solidFill>
                <a:latin typeface="Consolas" panose="020B0609020204030204" pitchFamily="49" charset="0"/>
              </a:rPr>
              <a:t>else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-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path_xy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[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i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][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1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]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+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4EC9B0"/>
                </a:solidFill>
                <a:latin typeface="Consolas" panose="020B0609020204030204" pitchFamily="49" charset="0"/>
              </a:rPr>
              <a:t>np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cos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)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sign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*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step_width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/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2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r>
              <a:rPr lang="pl-PL" sz="1000" dirty="0" err="1">
                <a:solidFill>
                  <a:srgbClr val="CCCCCC"/>
                </a:solidFill>
                <a:latin typeface="Consolas" panose="020B0609020204030204" pitchFamily="49" charset="0"/>
              </a:rPr>
              <a:t>.</a:t>
            </a:r>
            <a:r>
              <a:rPr lang="pl-PL" sz="1000" dirty="0" err="1">
                <a:solidFill>
                  <a:srgbClr val="DCDCAA"/>
                </a:solidFill>
                <a:latin typeface="Consolas" panose="020B0609020204030204" pitchFamily="49" charset="0"/>
              </a:rPr>
              <a:t>append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({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'x'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foot_x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'y'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>
                <a:solidFill>
                  <a:srgbClr val="9CDCFE"/>
                </a:solidFill>
                <a:latin typeface="Consolas" panose="020B0609020204030204" pitchFamily="49" charset="0"/>
              </a:rPr>
              <a:t>foot_y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yaw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,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 err="1">
                <a:solidFill>
                  <a:srgbClr val="CE9178"/>
                </a:solidFill>
                <a:latin typeface="Consolas" panose="020B0609020204030204" pitchFamily="49" charset="0"/>
              </a:rPr>
              <a:t>left</a:t>
            </a:r>
            <a:r>
              <a:rPr lang="pl-PL" sz="1000" dirty="0">
                <a:solidFill>
                  <a:srgbClr val="CE9178"/>
                </a:solidFill>
                <a:latin typeface="Consolas" panose="020B0609020204030204" pitchFamily="49" charset="0"/>
              </a:rPr>
              <a:t>'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: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})</a:t>
            </a: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569CD6"/>
                </a:solidFill>
                <a:latin typeface="Consolas" panose="020B0609020204030204" pitchFamily="49" charset="0"/>
              </a:rPr>
              <a:t>not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left_foot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        </a:t>
            </a:r>
            <a:r>
              <a:rPr lang="pl-PL" sz="1000" dirty="0" err="1">
                <a:solidFill>
                  <a:srgbClr val="9CDCFE"/>
                </a:solidFill>
                <a:latin typeface="Consolas" panose="020B0609020204030204" pitchFamily="49" charset="0"/>
              </a:rPr>
              <a:t>dist_accum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D4D4D4"/>
                </a:solidFill>
                <a:latin typeface="Consolas" panose="020B0609020204030204" pitchFamily="49" charset="0"/>
              </a:rPr>
              <a:t>=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>
                <a:solidFill>
                  <a:srgbClr val="B5CEA8"/>
                </a:solidFill>
                <a:latin typeface="Consolas" panose="020B0609020204030204" pitchFamily="49" charset="0"/>
              </a:rPr>
              <a:t>0.0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    </a:t>
            </a:r>
            <a:r>
              <a:rPr lang="pl-PL" sz="1000" dirty="0">
                <a:solidFill>
                  <a:srgbClr val="C586C0"/>
                </a:solidFill>
                <a:latin typeface="Consolas" panose="020B0609020204030204" pitchFamily="49" charset="0"/>
              </a:rPr>
              <a:t>return</a:t>
            </a:r>
            <a:r>
              <a:rPr lang="pl-PL" sz="1000" dirty="0">
                <a:solidFill>
                  <a:srgbClr val="CCCCCC"/>
                </a:solidFill>
                <a:latin typeface="Consolas" panose="020B0609020204030204" pitchFamily="49" charset="0"/>
              </a:rPr>
              <a:t> </a:t>
            </a:r>
            <a:r>
              <a:rPr lang="pl-PL" sz="1000" dirty="0" err="1" smtClean="0">
                <a:solidFill>
                  <a:srgbClr val="9CDCFE"/>
                </a:solidFill>
                <a:latin typeface="Consolas" panose="020B0609020204030204" pitchFamily="49" charset="0"/>
              </a:rPr>
              <a:t>footsteps</a:t>
            </a:r>
            <a:endParaRPr lang="pl-PL" sz="100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CoM VS FOOTSTEPS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Trajektoria </a:t>
            </a:r>
            <a:r>
              <a:rPr lang="en-US" sz="24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środka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 err="1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masy</a:t>
            </a:r>
            <a:r>
              <a:rPr lang="pl-PL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</a:t>
            </a:r>
            <a:r>
              <a:rPr lang="en-US" sz="24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</a:t>
            </a: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sekwencja kroków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2530583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2290815"/>
          </a:xfrm>
          <a:prstGeom prst="rect">
            <a:avLst/>
          </a:prstGeom>
          <a:noFill/>
          <a:ln/>
        </p:spPr>
        <p:txBody>
          <a:bodyPr wrap="square" lIns="127000" tIns="36000" rIns="127000" bIns="0" rtlCol="0" anchor="t">
            <a:spAutoFit/>
          </a:bodyPr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(Centre of Mass) musi śledzić zaplanowane kroki przez model LIPM (Linear Inverted Pendulum)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 podwójnym podparciu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CoM przesuwa się od poprzedniej stopy do następnej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Przy pojedynczym podparciu 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(faza swing): CoM podąża parabolą wyznaczoną przez ZMP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Sprzężenie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sekwencja kroków → trajektoria ZMP → trajektoria CoM (generator QP)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Weryfikacja online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ZMP(t) ∈ convex hull(stopa_oparta) przez cały cykl kroku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Narzędzie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biblioteki Choreonoid, OpenHRP, ROS2 Whole Body Controller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Kompromis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krótsze, częstsze kroki = lepsza stabilność CoM kosztem prędkości ruchu</a:t>
            </a:r>
            <a:endParaRPr lang="en-US" sz="14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727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SEKCJA 3 | DOBÓR PLANISTY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Dobór planisty do konkretnej aplikacji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74319" y="1143000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19" y="1143000"/>
            <a:ext cx="274198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7780" y="1234441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Laboratorium badawcze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9346" y="1853489"/>
            <a:ext cx="255349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+ DWA; prosta cost map; footstep planer 2D; iteracyjna weryfikacja ZMP; MuJoCo do testów</a:t>
            </a:r>
            <a:endParaRPr lang="en-US" sz="1100" spc="-30" dirty="0"/>
          </a:p>
        </p:txBody>
      </p:sp>
      <p:sp>
        <p:nvSpPr>
          <p:cNvPr id="10" name="Shape 8"/>
          <p:cNvSpPr/>
          <p:nvPr/>
        </p:nvSpPr>
        <p:spPr>
          <a:xfrm>
            <a:off x="3252677" y="1143000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52677" y="1143000"/>
            <a:ext cx="2741980" cy="54864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6138" y="1234441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Robot usługowy (biuro)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05401" y="1853489"/>
            <a:ext cx="2575794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z cost map + Social DWA; detekcja YOLO; adaptacyjne kroki; zatrzymanie przy ludziach &lt; 1 m</a:t>
            </a:r>
            <a:endParaRPr lang="en-US" sz="1100" spc="-50" dirty="0"/>
          </a:p>
        </p:txBody>
      </p:sp>
      <p:sp>
        <p:nvSpPr>
          <p:cNvPr id="14" name="Shape 12"/>
          <p:cNvSpPr/>
          <p:nvPr/>
        </p:nvSpPr>
        <p:spPr>
          <a:xfrm>
            <a:off x="6231034" y="1143000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31034" y="1143000"/>
            <a:ext cx="2741980" cy="54864"/>
          </a:xfrm>
          <a:prstGeom prst="rect">
            <a:avLst/>
          </a:prstGeom>
          <a:solidFill>
            <a:srgbClr val="F72585"/>
          </a:solidFill>
          <a:ln w="12700">
            <a:solidFill>
              <a:srgbClr val="F725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4495" y="1234441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Ratownictwo (gruz)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6061" y="1853489"/>
            <a:ext cx="255349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A* lub RRT*; footstep w 3D z height map; MPC lokalny; konserwatywne marginesy ZMP</a:t>
            </a:r>
            <a:endParaRPr lang="en-US" sz="1100" spc="-30" dirty="0"/>
          </a:p>
        </p:txBody>
      </p:sp>
      <p:sp>
        <p:nvSpPr>
          <p:cNvPr id="18" name="Shape 16"/>
          <p:cNvSpPr/>
          <p:nvPr/>
        </p:nvSpPr>
        <p:spPr>
          <a:xfrm>
            <a:off x="274319" y="2704172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19" y="2704172"/>
            <a:ext cx="2741980" cy="54864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7780" y="2795613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Środowisko zatłoczone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7043" y="3362623"/>
            <a:ext cx="2689255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4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lub S-MPC; krótki horyzont predykcji (0,5 s); priority queue stref bezpiecznych; niskie prędkości</a:t>
            </a:r>
            <a:endParaRPr lang="en-US" sz="1100" spc="-40" dirty="0"/>
          </a:p>
        </p:txBody>
      </p:sp>
      <p:sp>
        <p:nvSpPr>
          <p:cNvPr id="22" name="Shape 20"/>
          <p:cNvSpPr/>
          <p:nvPr/>
        </p:nvSpPr>
        <p:spPr>
          <a:xfrm>
            <a:off x="3252677" y="2704172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52677" y="2704172"/>
            <a:ext cx="2741980" cy="54864"/>
          </a:xfrm>
          <a:prstGeom prst="rect">
            <a:avLst/>
          </a:prstGeom>
          <a:solidFill>
            <a:srgbClr val="006490"/>
          </a:solidFill>
          <a:ln w="12700">
            <a:solidFill>
              <a:srgbClr val="0064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66138" y="2795613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Schody i poziomy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305401" y="3362623"/>
            <a:ext cx="263448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Hierarchiczny planer: globalny graf pięter + lokalny 3D footstep; detekcja stopni z point cloud</a:t>
            </a:r>
            <a:endParaRPr lang="en-US" sz="1100" spc="-30" dirty="0"/>
          </a:p>
        </p:txBody>
      </p:sp>
      <p:sp>
        <p:nvSpPr>
          <p:cNvPr id="26" name="Shape 24"/>
          <p:cNvSpPr/>
          <p:nvPr/>
        </p:nvSpPr>
        <p:spPr>
          <a:xfrm>
            <a:off x="6231034" y="2704172"/>
            <a:ext cx="2741980" cy="139947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31034" y="2704172"/>
            <a:ext cx="2741980" cy="54864"/>
          </a:xfrm>
          <a:prstGeom prst="rect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44495" y="2795613"/>
            <a:ext cx="2515057" cy="378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Sport/zawody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06061" y="3414661"/>
            <a:ext cx="2553492" cy="54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spc="-3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MPC z agresywnym horyzontem; dynamiczny chód biegowy; uproszczony footstep dla szybkości kosztem marginesu ZMP</a:t>
            </a:r>
            <a:endParaRPr lang="en-US" sz="1100" spc="-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356343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PODSUMOWANIE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0" y="904983"/>
            <a:ext cx="3657600" cy="36576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188720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15266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Planowanie globalne (A*, Dijkstra) wyznacza optymalną trasę; heurystyki i cost map sterują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wyborem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ścieżki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1947672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91161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Planista lokalny (DWA, MPC, potential fields) reaguje na zmiany środowiska i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przeszkody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dynamiczne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7066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67057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Stabilność ma wyższy priorytet niż optymalność trasy – planista musi uwzględniać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margines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równowagi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465576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4655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42952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Footstep planning tłumaczy geometryczną ścieżkę na fizyczną sekwencję kroków z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weryfikacją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kinematyczną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4224528"/>
            <a:ext cx="502920" cy="50292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18847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Trzy poziomy decyzji – globalny, lokalny, footstep – są sprzężone i muszą działać w </a:t>
            </a:r>
            <a:r>
              <a:rPr lang="en-US" sz="1400" dirty="0" err="1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spójnej</a:t>
            </a:r>
            <a:r>
              <a:rPr lang="en-US" sz="1400" dirty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 smtClean="0">
                <a:solidFill>
                  <a:srgbClr val="E2EB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pętli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" y="0"/>
            <a:ext cx="9079992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731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ZADANIE PROJEKTOWE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28600" y="274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Zadanie projektowe i pytania problemowe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97280"/>
            <a:ext cx="859536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BF3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88720"/>
            <a:ext cx="8229600" cy="3520440"/>
          </a:xfrm>
          <a:prstGeom prst="rect">
            <a:avLst/>
          </a:prstGeom>
          <a:noFill/>
          <a:ln/>
        </p:spPr>
        <p:txBody>
          <a:bodyPr wrap="square" lIns="127000" tIns="127000" rIns="127000" bIns="12700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Dlaczego heurystyka Manhattan nie jest dopuszczalna dla siatek z ruchem 8-kierunkowym?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się dzieje z polem potencjału, gdy robot wpadnie w lokalne minimum? Zaproponuj wyjście.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Jaką wartość parametru α i β wybrałbyś dla DWA w zatłoczonym korytarzu? Uzasadnij.</a:t>
            </a:r>
            <a:endParaRPr lang="en-US" sz="1450" dirty="0"/>
          </a:p>
          <a:p>
            <a:pPr>
              <a:spcAft>
                <a:spcPts val="900"/>
              </a:spcAft>
              <a:buSzPct val="100000"/>
            </a:pPr>
            <a:endParaRPr lang="pl-PL" sz="1450" b="1" dirty="0" smtClean="0">
              <a:solidFill>
                <a:srgbClr val="0D1B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900"/>
              </a:spcAft>
              <a:buSzPct val="100000"/>
            </a:pPr>
            <a:r>
              <a:rPr lang="en-US" sz="1450" b="1" dirty="0" err="1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Zadanie</a:t>
            </a:r>
            <a:r>
              <a:rPr lang="en-US" sz="1450" b="1" dirty="0" smtClean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projektowe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zaprojektuj planistę kroków dla humanoida poruszającego się w korytarzu 1,5 m szerokości z napotykanymi ludźmi. Opisz: jakie dane wejściowe są potrzebne, jak wyznaczasz miejsca kontaktu stóp, jak weryfikujesz każdy krok, jak reaguje planista gdy droga jest zablokowana przez &gt;3 s.</a:t>
            </a:r>
            <a:endParaRPr lang="en-US" sz="1450" dirty="0"/>
          </a:p>
          <a:p>
            <a:pPr>
              <a:spcAft>
                <a:spcPts val="900"/>
              </a:spcAft>
              <a:buSzPct val="100000"/>
            </a:pPr>
            <a:r>
              <a:rPr lang="en-US" sz="14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r>
              <a:rPr lang="en-US" sz="14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zaimplementuj wygładzanie B-spline dla ścieżki zwróconej przez A* i porównaj liczbę kroków koniecznych do pokonania tej samej trasy przed i po wygładzeniu.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4780</Words>
  <Application>Microsoft Office PowerPoint</Application>
  <PresentationFormat>Pokaz na ekranie (16:9)</PresentationFormat>
  <Paragraphs>491</Paragraphs>
  <Slides>34</Slides>
  <Notes>34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34</vt:i4>
      </vt:variant>
    </vt:vector>
  </HeadingPairs>
  <TitlesOfParts>
    <vt:vector size="40" baseType="lpstr">
      <vt:lpstr>Arial</vt:lpstr>
      <vt:lpstr>Calibri</vt:lpstr>
      <vt:lpstr>Consolas</vt:lpstr>
      <vt:lpstr>Georgia Pro Cond</vt:lpstr>
      <vt:lpstr>Trebuchet MS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Wykład 3 – Planowanie ruchu i unikanie przeszkód</dc:title>
  <dc:subject>PptxGenJS Presentation</dc:subject>
  <dc:creator>Politechnika – Katedra Robotyki</dc:creator>
  <cp:lastModifiedBy>Mateusz Pomianek</cp:lastModifiedBy>
  <cp:revision>62</cp:revision>
  <dcterms:created xsi:type="dcterms:W3CDTF">2026-04-13T21:51:59Z</dcterms:created>
  <dcterms:modified xsi:type="dcterms:W3CDTF">2026-04-23T19:37:55Z</dcterms:modified>
</cp:coreProperties>
</file>