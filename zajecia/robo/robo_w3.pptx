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99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2194560" cy="2194560"/>
          </a:xfrm>
          <a:prstGeom prst="ellipse">
            <a:avLst/>
          </a:prstGeom>
          <a:solidFill>
            <a:srgbClr val="1A3550"/>
          </a:solidFill>
          <a:ln w="381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3444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2801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040" y="1965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ruchu
i unikanie przeszkód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" y="3017520"/>
            <a:ext cx="57607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globalne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41448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41448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lokalne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62856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62856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Footstep planning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84264" y="4114800"/>
            <a:ext cx="19659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84264" y="4114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globalne: przestrzeń stanów, Dijkstra, A*, heurystyki, cost map, wygładzanie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lokalne: DWA, potential fields, MPC, przeszkody dynamiczne, replanowanie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Footstep planning: sekwencja kroków, ograniczenia kinematyczne, schody, trajektoria CoM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na grid map, A* z cost map, pole potencjału, ocena trajektorii, generacja kroków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B4D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globalne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Reprezentacje środowiska, Dijkstra, A*, heurystyki i cost map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Miejsce planowania w architekturze systemu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Wejście: mapa + lokalizacja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Planista dostaje mapę kosztów i bieżącą pozycję robota z estymatora stanu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Wejście: cel misji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docelowy lub sekwencja celów pośrednich z modułu zarządzania misją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Wyjście: ścieżka globalna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Ciąg punktów w przestrzeni (x,y) lub (x,y,z) przekazywany do planisty lokalnego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Wyjście: cost map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kosztów przesyłana do lokalnego planisty jako mapa naviagacyjna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FORMALIZACJA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planowania ścieżki – formalizacja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Przestrzeń stanów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zbiór wszystkich dopuszczalnych konfiguracji robota C_free ⊆ C</a:t>
            </a:r>
            <a:endParaRPr lang="en-US" sz="1600" dirty="0"/>
          </a:p>
          <a:p>
            <a:pPr marL="601200" lvl="1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początkowy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q_start: aktualna pozycja i orientacja robota w mapie</a:t>
            </a:r>
            <a:endParaRPr lang="en-US" sz="1600" dirty="0"/>
          </a:p>
          <a:p>
            <a:pPr marL="601200" lvl="1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docelowy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q_goal: żądana pozycja końcowa misji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przeszkody, granice mapy, kinematyka, stabilność robota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kosztu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c(q_start, q_goal) minimalizowana wzdłuż ścieżki (czas, energia, ryzyko)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optymalna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ciąg γ : [0,1] → C_free taki, że γ(0)=q_start, γ(1)=q_goal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Zupełność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algorytm znajdzie ścieżkę, jeśli istnieje; optymalność: znajdzie najlepszą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REPREZENTACJE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Reprezentacje grafowe środowiska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Siatka komórek (Grid)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87168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Regularna siatka N×M komórek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Komórka: wolna / zajęta / koszt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Łatwa implementacja A*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Duże mapy = wysoka pamięć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Rozdzielczość ogranicza precyzję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 topologiczny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87168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Węzły = charakterystyczne miejsca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Krawędzie = przejazdy między nimi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planowanie wysokopoziomowe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Niska rozdzielczość geometryczna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mapowania semantycznego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Visibility/Roadmap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627632"/>
            <a:ext cx="2487168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widzialności krawędzi przeszkód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Trasy wzdłuż wklęsłości przeszkód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Optymalne w 2D dla znanych map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Trudne do uogólnienia na 3D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Rzadko stosowane dla humanoida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DIJKSTRA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Algorytm Dijkstry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39496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Pseudokod Dijkstry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5166360" cy="2826258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[start]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;  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∞ dla pozostałych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priority_queue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550AE"/>
                </a:solidFill>
                <a:latin typeface="Consolas" panose="020B0609020204030204" pitchFamily="49" charset="0"/>
              </a:rPr>
              <a:t>Q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: (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vertex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0550AE"/>
                </a:solidFill>
                <a:latin typeface="Consolas" panose="020B0609020204030204" pitchFamily="49" charset="0"/>
              </a:rPr>
              <a:t>Q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.push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((</a:t>
            </a:r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, start))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550AE"/>
                </a:solidFill>
                <a:latin typeface="Consolas" panose="020B0609020204030204" pitchFamily="49" charset="0"/>
              </a:rPr>
              <a:t>Q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nie jest pusta: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(d, u)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0550AE"/>
                </a:solidFill>
                <a:latin typeface="Consolas" panose="020B0609020204030204" pitchFamily="49" charset="0"/>
              </a:rPr>
              <a:t>Q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.pop_min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d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[u]: 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continue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w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sąsiedzi(u):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nowy_koszt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[u]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w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nowy_koszt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dist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nowy_koszt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poprzednik[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u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</a:t>
            </a:r>
            <a:r>
              <a:rPr lang="pl-PL" sz="1200" dirty="0" err="1">
                <a:solidFill>
                  <a:srgbClr val="0550AE"/>
                </a:solidFill>
                <a:latin typeface="Consolas" panose="020B0609020204030204" pitchFamily="49" charset="0"/>
              </a:rPr>
              <a:t>Q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.push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((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nowy_koszt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odtwórz ścieżkę przez poprzednik</a:t>
            </a:r>
            <a:r>
              <a:rPr lang="pl-PL" sz="1200" dirty="0" smtClean="0">
                <a:solidFill>
                  <a:srgbClr val="202020"/>
                </a:solidFill>
                <a:latin typeface="Consolas" panose="020B0609020204030204" pitchFamily="49" charset="0"/>
              </a:rPr>
              <a:t>[]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097280"/>
            <a:ext cx="29260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Właściwości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Gwarantuje optymalność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heurystyki – eksploruje we wszystkich kierunkach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Złożoność: O((V+E) log V)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Wolny dla dużych map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jako punkt odniesienia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Podstawa A* i Bellmana-Forda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A*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Algorytm A* – planowanie z heurystyką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3949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Pseudokod A*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5166360" cy="315468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f(n)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g(n)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h(n)</a:t>
            </a:r>
          </a:p>
          <a:p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  g(n) – koszt dotarcia od startu do n</a:t>
            </a:r>
          </a:p>
          <a:p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  h(n) – heurystyka: szacunek do celu</a:t>
            </a:r>
          </a:p>
          <a:p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open_set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{start}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g[start]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;  f[start]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h(start)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open_set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nie jest pusta: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węzeł z </a:t>
            </a:r>
            <a:r>
              <a:rPr lang="pl-PL" sz="1200" dirty="0">
                <a:solidFill>
                  <a:srgbClr val="8250DF"/>
                </a:solidFill>
                <a:latin typeface="Consolas" panose="020B0609020204030204" pitchFamily="49" charset="0"/>
              </a:rPr>
              <a:t>min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f w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open_set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: odtwórz ścieżkę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open_set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8250DF"/>
                </a:solidFill>
                <a:latin typeface="Consolas" panose="020B0609020204030204" pitchFamily="49" charset="0"/>
              </a:rPr>
              <a:t>remove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</a:t>
            </a:r>
            <a:r>
              <a:rPr lang="pl-PL" sz="12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sąsiedzi(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tentative_g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g[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cost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,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</a:t>
            </a:r>
            <a:r>
              <a:rPr lang="pl-PL" sz="12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tentative_g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g[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]: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g[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1F2328"/>
                </a:solidFill>
                <a:latin typeface="Consolas" panose="020B0609020204030204" pitchFamily="49" charset="0"/>
              </a:rPr>
              <a:t>tentative_g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f[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g[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h(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.             </a:t>
            </a:r>
            <a:r>
              <a:rPr lang="pl-PL" sz="1200" dirty="0" err="1">
                <a:solidFill>
                  <a:srgbClr val="202020"/>
                </a:solidFill>
                <a:latin typeface="Consolas" panose="020B0609020204030204" pitchFamily="49" charset="0"/>
              </a:rPr>
              <a:t>parent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1F2328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smtClean="0">
                <a:solidFill>
                  <a:srgbClr val="1F2328"/>
                </a:solidFill>
                <a:latin typeface="Consolas" panose="020B0609020204030204" pitchFamily="49" charset="0"/>
              </a:rPr>
              <a:t>u</a:t>
            </a:r>
            <a:endParaRPr lang="pl-PL" sz="1200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097280"/>
            <a:ext cx="29260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Właściwości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Optymalny gdy h admissible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Szybszy od Dijkstry dzięki 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euklidesowa: √(dx²+dy²)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Manhattan: |dx|+|dy|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lepsza h, tym mniej węzłów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Złożoność: O(b^d), b=branching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na mapie zajętości (grid map)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3420527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53070" y="1115568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9102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5134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46" y="1072256"/>
            <a:ext cx="8321040" cy="316753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astar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"""A* na siatce 2D.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grid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[r][c]=0: wolne, 1: </a:t>
            </a:r>
            <a:r>
              <a:rPr lang="pl-PL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zajete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.shape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lambda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4FC1FF"/>
                </a:solidFill>
                <a:latin typeface="Consolas" panose="020B0609020204030204" pitchFamily="49" charset="0"/>
              </a:rPr>
              <a:t>None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[(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heappop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[::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dr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dc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[(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)]: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dr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dc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rows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1e9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heappush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200" dirty="0" err="1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),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34828"/>
            <a:ext cx="8595360" cy="402932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34828"/>
            <a:ext cx="8321040" cy="402931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h – dopuszczalna i spójna; 4-kierunkowa sąsiedztwo; zwraca listę </a:t>
            </a:r>
            <a:r>
              <a:rPr lang="en-US" sz="160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komórek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HEURYSTYKI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Heurystyki w A* – właściwości i zastosowanie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1F5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Heurystyka Manhattan (L1)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Heurystyka euklidesowa (L2)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|dx| + |dy|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Idealna dla siatek z ruchem 4-kierunkowym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Dopuszczalna: nigdy nie przeszacowuje kosztu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Bardzo szybka – prosta operacja arytmetyczna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ruchu 8-kierunkowego: lekko nieprecyzyjna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√(dx² + dy²)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Odpowiednia dla ciągłego ruchu w 2D/3D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Dopuszczalna dla humanoida (metryczny koszt)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Droższa obliczeniowo (sqrt), lecz precyzyjniejsza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Zalecana gdy ścieżka jest wygładzana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COST 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z uwzględnieniem kosztów terenu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map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zastępuje binarną mapę wolne/zajęte gradientem kosztów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preferowanie bezpiecznych, szerokich przejść zamiast najkrótszej trasy geometrycznej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kosztu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inflacja wokół przeszkód, nachylenie terenu, wskaźnik stabilności, gęstość ruchu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komórki siatki mają wartość c ∈ [0, 255]; A* używa cost(u,v) = 1 + c(v)/50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trasa omija obrzeża mebli i wąskie przejścia nawet gdy są geometrycznie wolne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Dynamiczna aktualizacja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nowe obserwacje LiDAR/kamery zmieniają cost map online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Parametryzacja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wagi warstw dobierane eksperymentalnie lub przez uczenie maszynowe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z mapą kosztów terenu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81702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4076" y="113385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50108" y="113385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6140" y="113385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818" y="1037880"/>
            <a:ext cx="8321040" cy="3449662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1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astar_cost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cost_map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CE9178"/>
                </a:solidFill>
                <a:latin typeface="Consolas" panose="020B0609020204030204" pitchFamily="49" charset="0"/>
              </a:rPr>
              <a:t>"""A* z kosztem </a:t>
            </a:r>
            <a:r>
              <a:rPr lang="pl-PL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komorki</a:t>
            </a:r>
            <a:r>
              <a:rPr lang="pl-PL" sz="1100" dirty="0">
                <a:solidFill>
                  <a:srgbClr val="CE9178"/>
                </a:solidFill>
                <a:latin typeface="Consolas" panose="020B0609020204030204" pitchFamily="49" charset="0"/>
              </a:rPr>
              <a:t> z </a:t>
            </a:r>
            <a:r>
              <a:rPr lang="pl-PL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cost_map</a:t>
            </a:r>
            <a:r>
              <a:rPr lang="pl-PL" sz="1100" dirty="0">
                <a:solidFill>
                  <a:srgbClr val="CE9178"/>
                </a:solidFill>
                <a:latin typeface="Consolas" panose="020B0609020204030204" pitchFamily="49" charset="0"/>
              </a:rPr>
              <a:t> [0-100]."""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rows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cols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.shape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569CD6"/>
                </a:solidFill>
                <a:latin typeface="Consolas" panose="020B0609020204030204" pitchFamily="49" charset="0"/>
              </a:rPr>
              <a:t>lambda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hypot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])  </a:t>
            </a:r>
            <a:r>
              <a:rPr lang="pl-PL" sz="1100" dirty="0">
                <a:solidFill>
                  <a:srgbClr val="6A9955"/>
                </a:solidFill>
                <a:latin typeface="Consolas" panose="020B0609020204030204" pitchFamily="49" charset="0"/>
              </a:rPr>
              <a:t># euklidesowa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100" dirty="0" err="1">
                <a:solidFill>
                  <a:srgbClr val="4FC1FF"/>
                </a:solidFill>
                <a:latin typeface="Consolas" panose="020B0609020204030204" pitchFamily="49" charset="0"/>
              </a:rPr>
              <a:t>None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[(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heappop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node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[],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node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node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node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node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[::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dr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dc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[(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)]: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dr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dc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rows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cols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step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hypot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dr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dc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cost_map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50.0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:=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step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1e9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g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parent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u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</a:pP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heapq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heappush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pq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ng</a:t>
            </a:r>
            <a:r>
              <a:rPr lang="pl-PL" sz="1100" dirty="0" err="1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h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),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1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  <a:endParaRPr lang="pl-PL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86868"/>
            <a:ext cx="8595360" cy="350892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252" y="4586868"/>
            <a:ext cx="8419988" cy="35089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8-kierunkowe sąsiedztwo; koszt przejścia = odległość * (1 + wartość_kosztu/50); ruch po </a:t>
            </a:r>
            <a:r>
              <a:rPr lang="en-US" sz="1600" spc="-6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skosie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droższy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WYGŁADZANIE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Wygładzanie ścieżki globalnej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na siatce zwraca ścieżkę z ostrymi załamaniami przy każdej zmianie kierunku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Wygładzanie: konieczne przed przekazaniem ścieżki do generatora kroków lub MPC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1 – interpolacja B-spline: krzywa przechodzi blisko punktów kontrolnych, zachowuje ciągłość krzywizny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2 – skrótów (shortcutting): iteracyjne usuwanie pośrednich punktów, jeśli prosta jest wolna od przeszkód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3 – filtr Gaussa 1D: ważona średnia po sąsiednich punktach wzdłuż ścieżki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Metryka: kąt ugięcia &lt; 15° między kolejnymi odcinkami jako warunek akceptacji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Ważne: wygładzona ścieżka musi pozostawać w wolnej przestrzeni – weryfikacja kolizji po wygładzeniu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B923C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B92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lokalne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unikanie przeszkód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DWA, potential fields, MPC, przeszkody dynamiczne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PLANISTA LOKALNY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 co potrzebny planista lokalny?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Świat dynamiczny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globalna nie uwzględnia ludzi, wózków, otwieranych drzwi – planista lokalny reaguje na bieżąco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Niedoskonała mapa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mają szum, mapa jest zbudowana ze starego skanu – lokalna mapa jest zawsze świeższa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dynamiki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nie może skręcić dowolnie ostro ani zatrzymać się natychmiast – kinematyka musi być uwzględniona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Horyzont predykcji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Decyzje na 1–3 s do przodu wystarczają; pełny replan jest zbyt kosztowny w każdym cyklu (10–50 Hz)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POTENTIAL FIELDS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Pola potencjału (Potential Fields)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949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39496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Wzory sił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5166360" cy="2967479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>
            <a:spAutoFit/>
          </a:bodyPr>
          <a:lstStyle/>
          <a:p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U_attr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(q)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½ ·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k_att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· d²(q,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q_goal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–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attrakcja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do celu; rośnie z odległością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U_rep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(q)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½ ·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k_rep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· (</a:t>
            </a:r>
            <a:r>
              <a:rPr lang="pl-PL" sz="1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d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d₀)²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gdy d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d₀, inaczej </a:t>
            </a:r>
            <a:r>
              <a:rPr lang="pl-PL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endParaRPr lang="pl-PL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– odpychanie od przeszkód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d₀ – promień wpływu przeszkody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F(q)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–∇U(q)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F_attr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F_rep</a:t>
            </a:r>
            <a:endParaRPr lang="pl-PL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Ruch: </a:t>
            </a:r>
            <a:r>
              <a:rPr lang="pl-PL" sz="1400" dirty="0" err="1">
                <a:solidFill>
                  <a:srgbClr val="CCCCCC"/>
                </a:solidFill>
                <a:latin typeface="Consolas" panose="020B0609020204030204" pitchFamily="49" charset="0"/>
              </a:rPr>
              <a:t>q_new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q </a:t>
            </a:r>
            <a:r>
              <a:rPr lang="pl-PL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l-GR" sz="1400" dirty="0">
                <a:solidFill>
                  <a:srgbClr val="CCCCCC"/>
                </a:solidFill>
                <a:latin typeface="Consolas" panose="020B0609020204030204" pitchFamily="49" charset="0"/>
              </a:rPr>
              <a:t>α · 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F(q)</a:t>
            </a:r>
          </a:p>
          <a:p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l-GR" sz="1400" dirty="0">
                <a:solidFill>
                  <a:srgbClr val="CCCCCC"/>
                </a:solidFill>
                <a:latin typeface="Consolas" panose="020B0609020204030204" pitchFamily="49" charset="0"/>
              </a:rPr>
              <a:t>α – </a:t>
            </a:r>
            <a:r>
              <a:rPr lang="pl-PL" sz="1400" dirty="0">
                <a:solidFill>
                  <a:srgbClr val="CCCCCC"/>
                </a:solidFill>
                <a:latin typeface="Consolas" panose="020B0609020204030204" pitchFamily="49" charset="0"/>
              </a:rPr>
              <a:t>krok </a:t>
            </a:r>
            <a:r>
              <a:rPr lang="pl-PL" sz="14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iteracji</a:t>
            </a:r>
            <a:endParaRPr lang="pl-PL" sz="14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097280"/>
            <a:ext cx="2926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Właściwości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implementacja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w czasie rzeczywistym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minima lokalne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Oscylacje w wąskich przejściach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Trudna parametryzacja k_att, k_rep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potencjały harmoniczne lub RRT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DWA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Window Approach (DWA) – idea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 każdym kroku czasowym szukaj najlepszej pary prędkości (v, ω) z okna osiągalnego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Okno dynamiczne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{(v, ω) | v ∈ [v-a_max·dt, v+a_max·dt], ω analogicznie}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trajektorii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dla każdego kandydata (v, ω) symuluj ruch przez T sekund (np. T=2 s)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celu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G(v,ω) = α·heading + β·clearance + γ·velocity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wyrównanie kierunku ruchu z celem globalnym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odległość od najbliższej przeszkody wzdłuż trajektorii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nagroda za wyższą prędkość do przodu</a:t>
            </a:r>
            <a:endParaRPr lang="en-US" sz="14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(v*, ω*) = argmax G – wykonaj jeden krok, przelicz w kolejnym cyklu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MPC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Predictive Control – intuicja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optymalizuje sekwencję sterowań u₀, u₁, …, u_{N-1} na horyzoncie N kroków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predykcji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x_{t+1} = f(x_t, u_t) – uproszczony model kinematyczny/dynamiczny robota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celu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minimalizacja odchylenia od ścieżki + kosztu sterowania + penalizacja za przeszkody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|v| ≤ v_max, |ω| ≤ ω_max, brak kolizji, stabilność ZMP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 horizon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 wyznaczeniu sekwencji wykonuje się tylko u₀, a plan jest aktualizowany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jawne ograniczenia dynamiczne, optymalne zarządzanie kolizjami w horyzoncie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wysoki koszt obliczeniowy (solver QP/NLP); wymaga dedykowanego CPU lub GPU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Pole potencjału – lokalny wektor ruchu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11108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8578" y="1115568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4610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0642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906" y="1005840"/>
            <a:ext cx="8321040" cy="3111108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1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potential_field_move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obstacles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k_att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k_rep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d0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1.5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CE9178"/>
                </a:solidFill>
                <a:latin typeface="Consolas" panose="020B0609020204030204" pitchFamily="49" charset="0"/>
              </a:rPr>
              <a:t>"""Wyznacza wektor ruchu z </a:t>
            </a:r>
            <a:r>
              <a:rPr lang="pl-PL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pol</a:t>
            </a:r>
            <a:r>
              <a:rPr lang="pl-PL" sz="1100" dirty="0">
                <a:solidFill>
                  <a:srgbClr val="CE9178"/>
                </a:solidFill>
                <a:latin typeface="Consolas" panose="020B0609020204030204" pitchFamily="49" charset="0"/>
              </a:rPr>
              <a:t> potencjalnych."""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,  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100" dirty="0" err="1">
                <a:solidFill>
                  <a:srgbClr val="6A9955"/>
                </a:solidFill>
                <a:latin typeface="Consolas" panose="020B0609020204030204" pitchFamily="49" charset="0"/>
              </a:rPr>
              <a:t>Sila</a:t>
            </a:r>
            <a:r>
              <a:rPr lang="pl-PL" sz="1100" dirty="0">
                <a:solidFill>
                  <a:srgbClr val="6A9955"/>
                </a:solidFill>
                <a:latin typeface="Consolas" panose="020B0609020204030204" pitchFamily="49" charset="0"/>
              </a:rPr>
              <a:t> atrakcji do celu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f_att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k_att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6A9955"/>
                </a:solidFill>
                <a:latin typeface="Consolas" panose="020B0609020204030204" pitchFamily="49" charset="0"/>
              </a:rPr>
              <a:t># Suma sil odpychania od </a:t>
            </a:r>
            <a:r>
              <a:rPr lang="pl-PL" sz="1100" dirty="0" err="1">
                <a:solidFill>
                  <a:srgbClr val="6A9955"/>
                </a:solidFill>
                <a:latin typeface="Consolas" panose="020B0609020204030204" pitchFamily="49" charset="0"/>
              </a:rPr>
              <a:t>przeszkod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f_rep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obstacles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robot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1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&lt;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f_rep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+=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k_rep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d0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**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f_att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f_rep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1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1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1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100" dirty="0" err="1">
                <a:solidFill>
                  <a:srgbClr val="9CDCFE"/>
                </a:solidFill>
                <a:latin typeface="Consolas" panose="020B0609020204030204" pitchFamily="49" charset="0"/>
              </a:rPr>
              <a:t>total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1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1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1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100" dirty="0">
                <a:solidFill>
                  <a:srgbClr val="6A9955"/>
                </a:solidFill>
                <a:latin typeface="Consolas" panose="020B0609020204030204" pitchFamily="49" charset="0"/>
              </a:rPr>
              <a:t># wektor </a:t>
            </a:r>
            <a:r>
              <a:rPr lang="pl-PL" sz="11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jednostkowy</a:t>
            </a:r>
            <a:endParaRPr lang="pl-PL" sz="11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 znormalizowany wektor ruchu; mnożymy przez dt i prędkość robota, by </a:t>
            </a:r>
            <a:r>
              <a:rPr lang="en-US" sz="1600" spc="-6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uzyskać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przemieszczenie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Ocena kandydatów trajektorii (uproszczone DWA)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31764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2754" y="1034163"/>
            <a:ext cx="8321040" cy="3203441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score_trajectory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robot_state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obstacles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alpha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beta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gamma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0.2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E9178"/>
                </a:solidFill>
                <a:latin typeface="Consolas" panose="020B0609020204030204" pitchFamily="49" charset="0"/>
              </a:rPr>
              <a:t>"""Ocenia trajektorie (v, omega) w horyzoncie T sekund."""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robot_state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min_clearance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1e9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obstacles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min_clearance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CDCAA"/>
                </a:solidFill>
                <a:latin typeface="Consolas" panose="020B0609020204030204" pitchFamily="49" charset="0"/>
              </a:rPr>
              <a:t>min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min_clearance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hypot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]))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heading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arctan2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clearance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min_clearance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alpha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heading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9CDCFE"/>
                </a:solidFill>
                <a:latin typeface="Consolas" panose="020B0609020204030204" pitchFamily="49" charset="0"/>
              </a:rPr>
              <a:t>beta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clearance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2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gamma</a:t>
            </a:r>
            <a:r>
              <a:rPr lang="pl-PL" sz="12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2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endParaRPr lang="pl-PL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054"/>
            <a:ext cx="8321040" cy="484706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Wyższy score = lepsza trajektoria; wywoływane dla N par (v, ω), wybierana para z max 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048578" y="1115568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04610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60642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PRZESZKODY DYNAMICZNE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Unikanie ludzi i przeszkód dynamicznych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i predykcja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z uwzględnieniem ruchu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ludzi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YOLO, PointNet na chmurze LiDAR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Śledzenie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(tracking): filtr Kalmana per obiekt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stałe velocity, Social Force Model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 predykcji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1–3 s wystarczy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Niepewność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elipsa kowariancji wokół ścieżki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Strefa bezpieczeństwa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okrąg lub elipsa wokół człowieka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przeszkody skaluje rozmiar strefy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(Optimal Reciprocal Collision Avoidance)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navigation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min. 1,2 m od człowieka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Zatrzymanie gdy człowiek zbliży się &lt; 0,5 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REPLANOWANIE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Replanowanie online – kiedy i jak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1F5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Replan globalny (rzadki)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Replan lokalny (częsty)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cel misji zostaje zmieniony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mapa zasadniczo się zmienia </a:t>
            </a: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(zamknięte przejście)</a:t>
            </a:r>
            <a:endParaRPr lang="en-US" sz="1400" i="1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5–30 sekund lub na żądanie operatora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Kosztowny obliczeniowo – całkowite A*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Alternatywa: D* Lite </a:t>
            </a: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(przyrostowy A*)</a:t>
            </a:r>
            <a:endParaRPr lang="en-US" sz="1400" i="1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50–100 ms w każdym cyklu planisty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Okno lokalne wokół bieżącej pozycji robota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Reaguje na nowe przeszkody dynamiczne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Możliwy na CPU embarked 1–2 ms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zmiany ścieżki globalnej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STABILNOŚĆ A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Konflikt między planem a stabilnością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optymalny manewr unikania może wymagać szybkiego skrętu lub dużej prędkości bocznej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Konsekwencja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środek masy wychodzi poza wielobok podparcia → utrata równowagi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nadrzędna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stabilność &gt; unikanie kolizji &gt; optymalizacja trasy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każda kandydatka trajektoria lokalnej jest filtrowana przez weryfikator ZMP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Weryfikator ZMP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odrzuca trajektorie, gdzie przewidywany ZMP wychodzi poza margines bezpieczeństwa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planista lokalny preferuje wolniejsze, bardziej konserwatywne manewry w trudnym terenie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safety_margin_zmp = 2–4 cm; dla schodów i pochyłości zwiększony do 5–8 cm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22C55E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kroków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trajektorii humanoida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Footstep planning, ograniczenia, schody, trajektoria CoM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FOOTSTEP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ścieżki geometrycznej do sekwencji kroków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Ścieżka bazy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Globalna trasa (x,y) lub (x,y,z) wyznaczona przez A*; reprezentuje ruch CoM lub miednicy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Wzorzec chodu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Parametry: długość kroku l, szerokość w, czas fazy T_step, T_swing; regularne lub adaptacyjne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Wyznaczenie stóp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każdego punktu ścieżki wyznacz cele stopy: offset lewo/prawo ±w/2, orientacja = yaw trasy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Weryfikacja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długość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kroku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osiągalność kinematyczną,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terenem, margines ZMP i stabilność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PARAMETRY KROKÓW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Footstep planning – parametry i ograniczenia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Długość kroku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typowo 0,2–0,5 m; zależy od prędkości i stabilności (przy niskiej prędkości krócej)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Szerokość kroku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0,1–0,25 m; za mała = utrata stabilności, za duża = kolizja nóg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Orientacja stopy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dostosowana do krzywizny ścieżki i pochylenia terenu (normal surface)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Strefy dozwolonego kontaktu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(foothold regions): płaskie, niegrzybowe obszary ≥ stopa robota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 kroków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lewa–prawa naprzemiennie; podwójne podparcie ≥ 20% cyklu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Wykluczenie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krawędzie, śliskie powierzchnie, zbyt strome pochylenie (&gt;20°), wąskie progi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3D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wymagane gdy teren ma zmienną wysokość (schody, kamienie, nierówności)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kinematyczne i stabilnościowe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140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140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kinematyczne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stabilnościowe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2555488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nogi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max odległość stopa–biodro ≤ l_max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odstęp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stopy nie mogą nachodzić na siebie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stawów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każdy staw w przedziale </a:t>
            </a:r>
            <a:r>
              <a:rPr lang="en-US" sz="1400" i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[q_min, q_max]</a:t>
            </a:r>
            <a:endParaRPr lang="en-US" sz="1400" i="1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stawów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ω_joint ≤ ω_max </a:t>
            </a:r>
            <a:r>
              <a:rPr lang="en-US" sz="1400" i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(przepustowość aktuatora)</a:t>
            </a:r>
            <a:endParaRPr lang="en-US" sz="1400" i="1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singularna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unikanie pełnego wyprostu kolana</a:t>
            </a:r>
            <a:endParaRPr lang="en-US" sz="1400" spc="-6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2555488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wewnątrz </a:t>
            </a:r>
            <a:r>
              <a:rPr lang="en-US" sz="14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wieloboku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podparcia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marginesem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Point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dopuszczalnej strefie landing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Odchylenie tułowia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±15° od pionu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CoM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ograniczona przez marginesy LIPM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schodach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dodatkowy margines boczny +3 cm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SCHODY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na schodach i nierównościach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schodów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segmentacja chmury punktów; klasyfikacja płaskich poziomych płaszczyzn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Wysokość stopnia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musi unieść stopę o (h_step + clearance) ponad krawędź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Miejsca kontaktu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wyznaczane na środku głębokości stopnia z marginesem ≥ 2 cm od krawędzi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 działań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wejście przodem – lewa noga wyżej → prawa noga dołącza, powtórz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Trajektoria stopy w powietrzu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krzywa beziera nad stopniem; max wysokość = h_step + 5 cm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ciała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tułów pochyla się nieznacznie do przodu przy wchodzeniu, do tyłu przy schodzeniu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jeśli wysokość stopnia &gt; 25 cm lub brak miejsca kontaktu – zatrzymaj misję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Generacja sekwencji kroków (footstep planner)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3402609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3183" y="115671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49215" y="115671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5247" y="115671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359" y="1065312"/>
            <a:ext cx="8321040" cy="342401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generate_footsteps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step_length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0.18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"""Generuje naprzemienne kroki L/P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wzdluz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sciezki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zaczyna lewa noga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hypot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step_length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arctan2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foot_x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foot_y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foot_x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foot_y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left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80730"/>
            <a:ext cx="8595360" cy="357030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59" y="4548798"/>
            <a:ext cx="8420881" cy="38896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±step_width/2 prostopadle do kierunku ruchu; 'left' flaga steruje naprzemlennością L/P.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Weryfikacja wykonalności kroku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65438"/>
          </a:xfrm>
          <a:prstGeom prst="rect">
            <a:avLst/>
          </a:prstGeom>
          <a:solidFill>
            <a:srgbClr val="07152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4548798"/>
            <a:ext cx="8595360" cy="388962"/>
          </a:xfrm>
          <a:prstGeom prst="rect">
            <a:avLst/>
          </a:prstGeom>
          <a:solidFill>
            <a:srgbClr val="1A355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10696"/>
            <a:ext cx="8321040" cy="246221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sprawdzenia: długość wzdłużna, odchylenie boczne i skręt; zwraca dict z </a:t>
            </a:r>
            <a:r>
              <a:rPr lang="en-US" sz="160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diagnostyką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093183" y="115671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49215" y="115671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05247" y="115671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357359" y="1065312"/>
            <a:ext cx="8321040" cy="342401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generate_footsteps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step_length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0.18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"""Generuje naprzemienne kroki L/P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wzdluz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sciezki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zaczyna lewa noga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hypot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step_length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arctan2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foot_x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foot_y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path_xy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step_width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foot_x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foot_y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yaw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left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left_foot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dist_accum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footsteps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CoM VS FOOTSTEPS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Trajektoria środka masy a sekwencja kroków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(Centre of Mass) musi śledzić zaplanowane kroki przez model LIPM (Linear Inverted Pendulum)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podwójnym podparciu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 przesuwa się od poprzedniej stopy do następnej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pojedynczym podparciu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(faza swing): CoM podąża parabolą wyznaczoną przez ZMP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Sprzężenie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sekwencja kroków → trajektoria ZMP → trajektoria CoM (generator QP)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online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ZMP(t) ∈ convex hull(stopa_oparta) przez cały cykl kroku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biblioteki Choreonoid, OpenHRP, ROS2 Whole Body Controller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krótsze, częstsze kroki = lepsza stabilność CoM kosztem prędkości ruchu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DOBÓR PLANISTY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Dobór planisty do konkretnej aplikacji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Laboratorium badawcze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+ DWA; prosta cost map; footstep planer 2D; iteracyjna weryfikacja ZMP; MuJoCo do testów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 usługowy (biuro)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z cost map + Social DWA; detekcja YOLO; adaptacyjne kroki; zatrzymanie przy ludziach &lt; 1 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Ratownictwo (gruz)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A* lub RRT*; footstep w 3D z height map; MPC lokalny; konserwatywne marginesy ZMP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Środowisko zatłoczone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lub S-MPC; krótki horyzont predykcji (0,5 s); priority queue stref bezpiecznych; niskie prędkości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006490"/>
          </a:solidFill>
          <a:ln w="12700">
            <a:solidFill>
              <a:srgbClr val="006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Schody i poziomy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Hierarchiczny planer: globalny graf pięter + lokalny 3D footstep; detekcja stopni z point cloud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1"/>
            <a:ext cx="2432304" cy="37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Sport/zawody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54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z agresywnym horyzontem; dynamiczny chód biegowy; uproszczony footstep dla szybkości kosztem marginesu ZMP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globalne (A*, Dijkstra) wyznacza optymalną trasę; heurystyki i cost map sterują wyborem ścieżki.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Planista lokalny (DWA, MPC, potential fields) reaguje na zmiany środowiska i przeszkody dynamiczne.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Stabilność ma wyższy priorytet niż optymalność trasy – planista musi uwzględniać margines równowagi.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Footstep planning tłumaczy geometryczną ścieżkę na fizyczną sekwencję kroków z weryfikacją kinematyczną.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702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poziomy decyzji – globalny, lokalny, footstep – są sprzężone i muszą działać w spójnej pętli.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heurystyka Manhattan nie jest dopuszczalna dla siatek z ruchem 8-kierunkowym?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się dzieje z polem potencjału, gdy robot wpadnie w lokalne minimum? Zaproponuj wyjście.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Jaką wartość parametru α i β wybrałbyś dla DWA w zatłoczonym korytarzu? Uzasadnij.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projektowe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zaprojektuj planistę kroków dla humanoida poruszającego się w korytarzu 1,5 m szerokości z napotykanymi ludźmi. Opisz: jakie dane wejściowe są potrzebne, jak wyznaczasz miejsca kontaktu stóp, jak weryfikujesz każdy krok, jak reaguje planista gdy droga jest zablokowana przez &gt;3 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zaimplementuj wygładzanie B-spline dla ścieżki zwróconej przez A* i porównaj liczbę kroków koniecznych do pokonania tej samej trasy przed i po wygładzeniu.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4783</Words>
  <Application>Microsoft Office PowerPoint</Application>
  <PresentationFormat>Pokaz na ekranie (16:9)</PresentationFormat>
  <Paragraphs>491</Paragraphs>
  <Slides>34</Slides>
  <Notes>34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3 – Planowanie ruchu i unikanie przeszkód</dc:title>
  <dc:subject>PptxGenJS Presentation</dc:subject>
  <dc:creator>Politechnika – Katedra Robotyki</dc:creator>
  <cp:lastModifiedBy>Mateusz Pomianek</cp:lastModifiedBy>
  <cp:revision>22</cp:revision>
  <dcterms:created xsi:type="dcterms:W3CDTF">2026-04-13T21:51:59Z</dcterms:created>
  <dcterms:modified xsi:type="dcterms:W3CDTF">2026-04-13T22:14:17Z</dcterms:modified>
</cp:coreProperties>
</file>