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8954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914400"/>
            <a:ext cx="2194560" cy="2194560"/>
          </a:xfrm>
          <a:prstGeom prst="ellipse">
            <a:avLst/>
          </a:prstGeom>
          <a:solidFill>
            <a:schemeClr val="bg1"/>
          </a:solidFill>
          <a:ln w="7620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550" y="1327150"/>
            <a:ext cx="1369060" cy="1369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8229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 ROBOTÓW HUMANOIDALNYCH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12801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WYKŁAD 4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320040" y="19659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Chód, stabilność, kontrola
i integracja pełnego systemu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20040" y="3017520"/>
            <a:ext cx="57607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311658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inż. Mateusz Pomianek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Stabilność i lokomocja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Kontrola wykonania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ROS 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WPROWADZENIE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wykładu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4048" y="18534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Stabilność i lokomocja: ZMP, Capture Point, LIPM, chód statyczny i dynamiczny, zakłócenia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12344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18888" y="18534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Kontrola wykonania ruchu: warstwy sterowania, WBC, PID, śledzenie trajektorii, symulacja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71800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0632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4048" y="36822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 ROS 2, bezpieczeństwo, walidacja eksperymentalna, studium przypadku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09160" y="29718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971800"/>
            <a:ext cx="416052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30632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18888" y="36822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ZMP, LIPM, PID, saturacja sygnału, pętla symulacji, komunikacja ROS 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B4D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Stabilność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lokomocja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Chód, ZMP, Capture Point, LIPM i reakcja na zakłócenia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PIPELINE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Pełny pipeline: od percepcji do postawienia kroku</a:t>
            </a:r>
            <a:endParaRPr lang="en-US" sz="2800" dirty="0"/>
          </a:p>
        </p:txBody>
      </p:sp>
      <p:grpSp>
        <p:nvGrpSpPr>
          <p:cNvPr id="26" name="Grupa 25"/>
          <p:cNvGrpSpPr/>
          <p:nvPr/>
        </p:nvGrpSpPr>
        <p:grpSpPr>
          <a:xfrm>
            <a:off x="274320" y="1097280"/>
            <a:ext cx="8694420" cy="2842260"/>
            <a:chOff x="274320" y="1097280"/>
            <a:chExt cx="8458200" cy="2842260"/>
          </a:xfrm>
        </p:grpSpPr>
        <p:sp>
          <p:nvSpPr>
            <p:cNvPr id="6" name="Shape 4"/>
            <p:cNvSpPr/>
            <p:nvPr/>
          </p:nvSpPr>
          <p:spPr>
            <a:xfrm>
              <a:off x="274320" y="1097280"/>
              <a:ext cx="2011680" cy="28422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987552" y="1234440"/>
              <a:ext cx="585216" cy="585216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987552" y="123444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1</a:t>
              </a:r>
              <a:endParaRPr lang="en-US" sz="24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65760" y="19126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Percepcja</a:t>
              </a:r>
              <a:endParaRPr lang="en-US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65760" y="2423160"/>
              <a:ext cx="1828800" cy="1409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IMU, LiDAR, RGB-D, </a:t>
              </a:r>
              <a:r>
                <a:rPr lang="en-US" sz="1600" dirty="0" err="1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enkodery</a:t>
              </a:r>
              <a:r>
                <a:rPr lang="pl-PL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</a:t>
              </a:r>
              <a:r>
                <a:rPr lang="en-US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fuzja </a:t>
              </a:r>
              <a:r>
                <a:rPr lang="en-US" sz="16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sensoryczna</a:t>
              </a: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pl-PL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br>
                <a:rPr lang="pl-PL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600" dirty="0" err="1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</a:t>
              </a:r>
              <a:r>
                <a:rPr lang="en-US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estymacja stanu</a:t>
              </a:r>
              <a:endParaRPr lang="en-US" sz="16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423160" y="1097280"/>
              <a:ext cx="2011680" cy="28422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2" name="Shape 10"/>
            <p:cNvSpPr/>
            <p:nvPr/>
          </p:nvSpPr>
          <p:spPr>
            <a:xfrm>
              <a:off x="3136392" y="1234440"/>
              <a:ext cx="585216" cy="585216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136392" y="123444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2</a:t>
              </a:r>
              <a:endParaRPr lang="en-US" sz="24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2514600" y="19126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Planowanie</a:t>
              </a: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514600" y="2423160"/>
              <a:ext cx="1828800" cy="1409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A* + DWA: ścieżka globalna i lokalna przekazana do planisty footstep</a:t>
              </a:r>
              <a:endParaRPr lang="en-US" sz="16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72000" y="1097280"/>
              <a:ext cx="2011680" cy="28422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7" name="Shape 15"/>
            <p:cNvSpPr/>
            <p:nvPr/>
          </p:nvSpPr>
          <p:spPr>
            <a:xfrm>
              <a:off x="5285232" y="1234440"/>
              <a:ext cx="585216" cy="585216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285232" y="123444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3</a:t>
              </a:r>
              <a:endParaRPr lang="en-US" sz="2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63440" y="19126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Generacja kroków</a:t>
              </a:r>
              <a:endParaRPr lang="en-US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663440" y="2423160"/>
              <a:ext cx="1828800" cy="1409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Sekwencja stóp, trajektoria </a:t>
              </a:r>
              <a:r>
                <a:rPr lang="en-US" sz="16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</a:t>
              </a: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pl-PL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/>
              </a:r>
              <a:br>
                <a:rPr lang="pl-PL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6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z </a:t>
              </a: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modelu LIPM, weryfikacja ZMP</a:t>
              </a:r>
              <a:endParaRPr lang="en-US" sz="16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720840" y="1097280"/>
              <a:ext cx="2011680" cy="28422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22" name="Shape 20"/>
            <p:cNvSpPr/>
            <p:nvPr/>
          </p:nvSpPr>
          <p:spPr>
            <a:xfrm>
              <a:off x="7434072" y="1234440"/>
              <a:ext cx="585216" cy="585216"/>
            </a:xfrm>
            <a:prstGeom prst="ellipse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34072" y="123444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4</a:t>
              </a:r>
              <a:endParaRPr lang="en-US" sz="2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12280" y="19126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Wykonanie</a:t>
              </a:r>
              <a:endParaRPr lang="en-US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812280" y="2423160"/>
              <a:ext cx="1828800" cy="1409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spc="-2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WBC + PID: komendy momentów do aktuatorów, odczyt stanu i zamknięcie pętli</a:t>
              </a:r>
              <a:endParaRPr lang="en-US" sz="1600" spc="-2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CHÓD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statyczny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chód dynamiczny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50698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506980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 statyczny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 dynamiczny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794760" cy="1841974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zawsze nad wielobokiem podparcia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Możliwy przy bardzo niskich prędkościach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stabilności statycznej zawsze &gt;0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 implementacja – brak dynamiki LIPM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Zastosowanie: schody, nierówny teren, precyzja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Wada: wolny, nienaturalny, energochłonny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8220" y="1600200"/>
            <a:ext cx="4061460" cy="1841974"/>
          </a:xfrm>
          <a:prstGeom prst="rect">
            <a:avLst/>
          </a:prstGeom>
          <a:noFill/>
          <a:ln/>
        </p:spPr>
        <p:txBody>
          <a:bodyPr wrap="square" lIns="63500" tIns="36000" rIns="36000" bIns="0" rtlCol="0" anchor="t">
            <a:spAutoFit/>
          </a:bodyPr>
          <a:lstStyle/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może chwilowo wyjść za wielobok podparcia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Wymagana kontrola ZMP w czasie rzeczywistym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Naturalny, energooszczędny marsz człowieka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Modele: LIPM, 3D-LIPM, Spring-Mass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Zastosowanie: szybkie przemieszczanie, biuro</a:t>
            </a:r>
            <a:endParaRPr lang="en-US" sz="14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Wada: wymaga pełnego WBC i szybkiego planisty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CoM I WIELOBOK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Środek masy i wielobok podparcia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200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Wielobok podparcia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(support polygon): wypukłe otoczka punktów kontaktu stóp z podłożem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Stabilność statyczna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rzut CoM pionowo w dół musi leżeć wewnątrz wieloboku podparcia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Faza jednostronnego podparcia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wielobok = tylko jeden prostokąt stopy (~20×9 cm)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Faza podwójnego podparcia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wielobok = suma obu stóp + przestrzeń między nimi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stabilności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(stability margin): minimalna odległość rzutu CoM od krawędzi wieloboku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utrzymać margines ≥ d_safe = 2–3 cm przez cały cykl kroku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Monitorowanie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obliczane w każdym cyklu sterowania (1 kHz) na podstawie stanu stawów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ZMP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efinicja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znaczenie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Moment Point 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254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punkt na podłożu, w którym suma momentów sił kontaktu jest zerowa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Warunek stabilności dynamicznej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ZMP musi leżeć wewnątrz wieloboku podparcia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Obliczanie ZMP z trajektorii CoM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(LIPM): ZMP = x_CoM - (z_CoM/g) · ẍ_CoM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Praktyczna interpretacja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ZMP dąży do stopy podporowej podczas przenoszenia ciężaru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typowo 2–4 cm od krawędzi; w trudnym terenie 5–8 cm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oparte na 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wyznacz dozwolony ZMP → oblicz trajektorię CoM wstecznie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Choreonoid, OpenHRP3, DART – wbudowane generatory trajektorii ZMP/CoM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CP I LIPM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 Point i Linear Inverted Pendulum Model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636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290060" cy="2636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 Point (CP)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290060" cy="38404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LIPM – uproszczona dynamika chodu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3380" y="1546860"/>
            <a:ext cx="4061460" cy="1885576"/>
          </a:xfrm>
          <a:prstGeom prst="rect">
            <a:avLst/>
          </a:prstGeom>
          <a:noFill/>
          <a:ln/>
        </p:spPr>
        <p:txBody>
          <a:bodyPr wrap="square" lIns="36000" tIns="36000" rIns="0" bIns="0" rtlCol="0" anchor="t">
            <a:spAutoFit/>
          </a:bodyPr>
          <a:lstStyle/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= punkt na podłożu, na który należy postawić stopę, by zatrzymać upadek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= x_CoM + (1/ω₀) · ẋ_CoM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ω₀ = √(g / z_CoM) – częstość LIPM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Jeśli CP poza zasięgiem kroku → robot upadnie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Zastosowanie: reakcja na pchnięcia, korekty równowagi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Narzędzie: push-recovery reflex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77740" y="1531620"/>
            <a:ext cx="4137660" cy="2085631"/>
          </a:xfrm>
          <a:prstGeom prst="rect">
            <a:avLst/>
          </a:prstGeom>
          <a:noFill/>
          <a:ln/>
        </p:spPr>
        <p:txBody>
          <a:bodyPr wrap="square" lIns="36000" tIns="36000" rIns="0" bIns="0" rtlCol="0" anchor="t">
            <a:spAutoFit/>
          </a:bodyPr>
          <a:lstStyle/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Ciało traktowane jako punkt masowy (CoM) na sztywnym, bezmasowym wahadle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Ruch CoM w 2D: ẍ = ω₀² · (x - z_ZMP)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Rozwiązanie: x(t) = C₁·cosh(ω₀t) + C₂·sinh(ω₀t) + x_ZMP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Generowanie trajektorii CoM przez optymalizację QP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Podstawa większości komercyjnych humanoida (ASIMO, Atlas, NAO)</a:t>
            </a:r>
            <a:endParaRPr lang="en-US" sz="1300" dirty="0"/>
          </a:p>
          <a:p>
            <a:pPr marL="144000" indent="-1440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Ograniczenie: zakłada stałą wysokość CoM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Obliczanie ZMP z trajektorii CoM (model LIPM)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320833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586868"/>
            <a:ext cx="8595360" cy="35089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86868"/>
            <a:ext cx="8321040" cy="350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-4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ZMP [m] należy porównać z wielobokiem podparcia i sprawdzić </a:t>
            </a:r>
            <a:r>
              <a:rPr lang="en-US" sz="1600" spc="-4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4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bezpieczeństwa</a:t>
            </a:r>
            <a:endParaRPr lang="en-US" sz="1600" spc="-4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57805"/>
            <a:ext cx="8321040" cy="3203441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compute_zmp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9.81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"""Wyznacza ZMP z przyspieszenia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(model LIPM, 2D: x i y)."""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[m],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[m/s^2],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Przyklad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: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5 cm przed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srodkiem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stopy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0.3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 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przyspieszenie [m/s^2]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compute_zmp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f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'ZMP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=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  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np. [0.024, 0.0]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m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Prosty model LIPM – symulacja ruchu CoM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44007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601736"/>
            <a:ext cx="8595360" cy="336023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72395"/>
            <a:ext cx="832104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2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 = √(g/h) ≈ 3,4 rad/s dla h=0,85 m; numeryczne całkowanie Euler – wystarczające dla demonstracji.</a:t>
            </a:r>
            <a:endParaRPr lang="en-US" sz="120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57805"/>
            <a:ext cx="8321040" cy="3388107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4EC9B0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9.81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sqrt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częstotliwość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LIPM [rad/s]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pozycja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prędkość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[m/s]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step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tuple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"""Jeden krok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calkowania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rownania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LIPM: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x_ddot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= omega^2*(x-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zmp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)."""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**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4EC9B0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arange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step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ZMP 2 cm przed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stopą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ZAKŁÓCENIA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Reakcja na zakłócenia zewnętrzne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03860" y="1188720"/>
            <a:ext cx="8229600" cy="234467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Pchnięcie (push): 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nagła zmiana prędkości CoM → CP wychodzi z dozwolonej strefy → korekta kroku</a:t>
            </a:r>
            <a:endParaRPr lang="en-US" sz="15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Mechanizm ankle strategy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regulacja momentu w stawie skokowym (małe zakłócenia ≤ ~5 N·s)</a:t>
            </a:r>
            <a:endParaRPr lang="en-US" sz="15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Mechanizm hip strategy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ruch tułowia kompensuje przesunięcie CP (średnie zakłócenia)</a:t>
            </a:r>
            <a:endParaRPr lang="en-US" sz="15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Mechanizm stepping strategy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postawienie dodatkowego kroku w kierunku CP (duże zakłócenia)</a:t>
            </a:r>
            <a:endParaRPr lang="en-US" sz="15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Poślizg stopy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detekcja z czujnika F/T – nagły skok siły bocznej → reset estymatora i replan</a:t>
            </a:r>
            <a:endParaRPr lang="en-US" sz="15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Utrata kontaktu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siła normalna F_z &lt; 10 N → przejście do trybu push-recovery</a:t>
            </a:r>
            <a:endParaRPr lang="en-US" sz="15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Opóźniona detekcja przeszkody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aktywacja hamowania awaryjnego i replan lokalny (10 ms)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STABILNOŚĆ A PLANOWANIE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Stabilność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decyzje nawigacyjne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89560" y="1150620"/>
            <a:ext cx="8542020" cy="2213871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Reguła nadrzędna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decyzja o ruchu jest akceptowana tylko wtedy, gdy predykcja ZMP pozostaje w wieloboku</a:t>
            </a:r>
            <a:endParaRPr lang="en-US" sz="14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Sprzężenie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planista</a:t>
            </a:r>
            <a:r>
              <a:rPr lang="pl-PL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45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kontroler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planista kroków przekazuje cele, kontroler zgłasza aktualny margines</a:t>
            </a:r>
            <a:endParaRPr lang="en-US" sz="14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chodu</a:t>
            </a:r>
            <a:r>
              <a:rPr lang="pl-PL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stabilność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wyższa prędkość = mniejszy czas podwójnego podparcia = wyższe ryzyko</a:t>
            </a:r>
            <a:endParaRPr lang="en-US" sz="14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 pochyły lub śliski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kontroler redukuje prędkość i wydłuża fazę podwójnego podparcia</a:t>
            </a:r>
            <a:endParaRPr lang="en-US" sz="14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Sygnał margines stabilności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gdy SM &lt; threshold → planista obniża prędkość lub zatrzymuje robota</a:t>
            </a:r>
            <a:endParaRPr lang="en-US" sz="14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Priorytet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stabilność &gt; plan ruchu &gt; optymalizacja energii &gt; czas misji</a:t>
            </a:r>
            <a:endParaRPr lang="en-US" sz="14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stability monitor działa w pętli 1 kHz i może vetować komendy planisty lokalnego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6366F1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6366F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Kontrola wykonania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ruchu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Warstwy sterowania, WBC, PID, symulacja, aktuatory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WARSTWY STEROWANIA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Warstwy sterowania w humanoidzie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22021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Warstwa wysoka (High-level)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432304" cy="1472198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Planista globalny i lokalny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sekwencji kroków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Trajektoria CoM (LIPM / QP)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Częstość: 10–50 Hz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Wyjście: ref. trajektoria CoM, stóp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22021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4114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Warstwa środkowa (WBC)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64408" y="1627632"/>
            <a:ext cx="2432304" cy="1472198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Whole-Body Controller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Optymalizacja całego ciała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Przestrzeganie kontaktów i ZMP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Częstość: 200–500 Hz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Wyjście: ref. kąty stawów lub τ_ref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22021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4114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Warstwa niska (aktuator)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44768" y="1627632"/>
            <a:ext cx="2432304" cy="1472198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PID / impedancji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Pętle momentowe / prędkościowe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Enkodery i czujniki F/T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Częstość: 1000–5000 Hz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Wyjście: napięcie / prąd silnika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PRIORYTETY WBC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Priorytety zadań w sterowaniu (WBC)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566928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0020" y="1234440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P1  Stabilność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31336" y="1234440"/>
            <a:ext cx="4690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 w wieloboku podparcia; Capture Point w zasięgu; stabilność LIPM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05840" y="1920240"/>
            <a:ext cx="7132320" cy="566928"/>
          </a:xfrm>
          <a:prstGeom prst="rect">
            <a:avLst/>
          </a:prstGeom>
          <a:solidFill>
            <a:srgbClr val="D63284"/>
          </a:solidFill>
          <a:ln w="12700">
            <a:solidFill>
              <a:srgbClr val="D6328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68660" y="1920240"/>
            <a:ext cx="27102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P2  Kontakt stóp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0091" y="1920240"/>
            <a:ext cx="40654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Siły kontaktu ≥ 0; przyczepność (tarcie); poprawna orientacja stopy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554480" y="2606040"/>
            <a:ext cx="603504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17300" y="2606040"/>
            <a:ext cx="22933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P3  Realizacja ruchu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8846" y="2606040"/>
            <a:ext cx="34399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Śledzenie trajektorii CoM i stóp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zgodnie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planem footstep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03120" y="3291840"/>
            <a:ext cx="493776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65940" y="3291840"/>
            <a:ext cx="18763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P4  Pozycja tułowia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73962" y="3291840"/>
            <a:ext cx="27681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Orientacja tułowia do pionu; </a:t>
            </a:r>
            <a: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pozycja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głowy do percepcji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651760" y="3977640"/>
            <a:ext cx="3840480" cy="56692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14580" y="3977640"/>
            <a:ext cx="14593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P5  Minimalizacja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70961" y="3977640"/>
            <a:ext cx="21890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Minimalizacja zużycia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energii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momentów stawowych </a:t>
            </a: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(regularyzacja)</a:t>
            </a:r>
            <a:endParaRPr lang="en-US" sz="115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WBC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asada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działania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Whole-Body Control (WBC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8140" y="1188720"/>
            <a:ext cx="8229600" cy="2452398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wyznacza optymalny wektor momentów τ dla wszystkich stawów jednocześnie</a:t>
            </a:r>
            <a:endParaRPr lang="en-US" sz="16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Formułowane jako QP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(Quadratic Programming): min ½·τᵀQτ  s.t.  Aτ ≤ b</a:t>
            </a:r>
            <a:endParaRPr lang="en-US" sz="16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równania dynamiki, siły kontaktu, zasięgi stawów, ograniczenia ZMP</a:t>
            </a:r>
            <a:endParaRPr lang="en-US" sz="16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Hierarchia zadań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każde zadanie ma macierz wagową; zadania niższe nie zakłócają wyższych</a:t>
            </a:r>
            <a:endParaRPr lang="en-US" sz="16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Null-space projection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niższe priorytety realizowane w przestrzeni zerowej wyższych</a:t>
            </a:r>
            <a:endParaRPr lang="en-US" sz="16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 obliczeń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solver OSQP lub qpOASES wyznacza rozwiązanie w ~1 ms na CPU embedded</a:t>
            </a:r>
            <a:endParaRPr lang="en-US" sz="160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Integracja z LIPM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trajektoria CoM z modelu LIPM → WBC → momenty stawów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Regulator PID dla kierunku yaw robota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017520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460488"/>
            <a:ext cx="8595360" cy="47727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12" name="Text 10"/>
          <p:cNvSpPr/>
          <p:nvPr/>
        </p:nvSpPr>
        <p:spPr>
          <a:xfrm>
            <a:off x="411480" y="4574155"/>
            <a:ext cx="832104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600" b="1" dirty="0" err="1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</a:t>
            </a:r>
            <a:r>
              <a:rPr lang="en-US" sz="16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2,0; Ki ≈ 0,1;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0,05 –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typowe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wartości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regulacji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kierunku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humanoida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IMU 200 Hz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94975"/>
            <a:ext cx="8321040" cy="2811026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PIDController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output_limit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limit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output_limit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integral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prev_error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update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setpoint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measured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"""Krok regulatora PID; zwraca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sygnal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sterujacy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[rad/s]."""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setpoint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measured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Normalizacja </a:t>
            </a:r>
            <a:r>
              <a:rPr lang="pl-PL" sz="1050" dirty="0" err="1">
                <a:solidFill>
                  <a:srgbClr val="6A9955"/>
                </a:solidFill>
                <a:latin typeface="Consolas" panose="020B0609020204030204" pitchFamily="49" charset="0"/>
              </a:rPr>
              <a:t>bledu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 kata do [-pi, pi]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3.14159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%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3.14159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3.14159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integral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derivative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 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prev_error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prev_error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integral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derivative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limit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min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limit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))  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5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saturacja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ŚLEDZENIE TRAJEKTORII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Śledzenie trajektorii – regulator nadążny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89560" y="1135380"/>
            <a:ext cx="851916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robot ma podążać za zadaną trajektorią </a:t>
            </a:r>
            <a:r>
              <a:rPr lang="en-US" sz="1400" dirty="0">
                <a:solidFill>
                  <a:srgbClr val="0D1B2A"/>
                </a:solidFill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(</a:t>
            </a:r>
            <a:r>
              <a:rPr lang="en-US" sz="14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x</a:t>
            </a:r>
            <a:r>
              <a:rPr lang="en-US" sz="1400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ref</a:t>
            </a:r>
            <a:r>
              <a:rPr lang="en-US" sz="1400" dirty="0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(t</a:t>
            </a:r>
            <a:r>
              <a:rPr lang="en-US" sz="1400" dirty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), </a:t>
            </a:r>
            <a:r>
              <a:rPr lang="en-US" sz="14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y</a:t>
            </a:r>
            <a:r>
              <a:rPr lang="en-US" sz="1400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ref</a:t>
            </a:r>
            <a:r>
              <a:rPr lang="en-US" sz="1400" dirty="0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(t</a:t>
            </a:r>
            <a:r>
              <a:rPr lang="en-US" sz="1400" dirty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), </a:t>
            </a:r>
            <a:r>
              <a:rPr lang="en-US" sz="14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yaw</a:t>
            </a:r>
            <a:r>
              <a:rPr lang="en-US" sz="1400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ref</a:t>
            </a:r>
            <a:r>
              <a:rPr lang="en-US" sz="1400" dirty="0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(t</a:t>
            </a:r>
            <a:r>
              <a:rPr lang="en-US" sz="1400" dirty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)</a:t>
            </a:r>
            <a:r>
              <a:rPr lang="en-US" sz="1400" dirty="0">
                <a:solidFill>
                  <a:srgbClr val="0D1B2A"/>
                </a:solidFill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)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minimalnym błędem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boczny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(cross-track error): odległość prostopadła od aktualnej pozycji do trajektorii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podłużny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(along-track error): opóźnienie lub wyprzedzenie względem parametru </a:t>
            </a:r>
            <a:r>
              <a:rPr lang="en-US" sz="1400" dirty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t</a:t>
            </a:r>
            <a:endParaRPr lang="en-US" sz="1400" dirty="0">
              <a:latin typeface="JetBrains Mono NL ExtraBold" panose="02000009000000000000" pitchFamily="49" charset="0"/>
              <a:ea typeface="JetBrains Mono NL ExtraBold" panose="02000009000000000000" pitchFamily="49" charset="0"/>
              <a:cs typeface="JetBrains Mono NL ExtraBold" panose="02000009000000000000" pitchFamily="49" charset="0"/>
            </a:endParaRPr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Pure Pursuit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cel = punkt na trajektorii w odległości look-ahead </a:t>
            </a:r>
            <a:r>
              <a:rPr lang="en-US" sz="14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L</a:t>
            </a:r>
            <a:r>
              <a:rPr lang="en-US" sz="1400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d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Stanley Controller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spc="-2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kombinacja błędu bocznego i </a:t>
            </a:r>
            <a:r>
              <a:rPr lang="en-US" sz="1400" spc="-2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kąta</a:t>
            </a:r>
            <a:r>
              <a:rPr lang="en-US" sz="1400" spc="-2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2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nagłówka</a:t>
            </a:r>
            <a:r>
              <a:rPr lang="pl-PL" sz="1400" spc="-2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00" spc="-2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2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stosowana w autonomicznych pojazdach</a:t>
            </a:r>
            <a:endParaRPr lang="en-US" sz="1400" spc="-2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 humanoida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oddzielne regulatory dla CoM (translacja) i tułowia (orientacja yaw)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Anti-windup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ograniczenie całkowania w PID, gdy robot jest poza pętlą (np. stoi w miejscu)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AKTUATORY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aktuatorów i ich wpływ na planowanie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6746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1960" y="114300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</a:t>
            </a:r>
            <a:r>
              <a:rPr lang="en-US" sz="14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maksymalny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τ</a:t>
            </a:r>
            <a:r>
              <a:rPr lang="en-US" sz="1400" b="1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max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przekroczenie powoduje przegrzanie silnika lub uszkodzenie przekładni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</a:t>
            </a:r>
            <a:r>
              <a:rPr lang="en-US" sz="14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kątowa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spc="1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ω</a:t>
            </a:r>
            <a:r>
              <a:rPr lang="en-US" sz="1400" b="1" spc="100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ma</a:t>
            </a:r>
            <a:r>
              <a:rPr lang="en-US" sz="1400" b="1" spc="10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zbyt szybki ruch może wywołać efekt kinetyczny zaburzający stabilność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Saturacja sygnału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gdy komendy WBC przekraczają możliwości, planista musi zwolnić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Przegrzewanie termiczne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ciągła praca </a:t>
            </a:r>
            <a:r>
              <a:rPr lang="en-US" sz="14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τ</a:t>
            </a:r>
            <a:r>
              <a:rPr lang="en-US" sz="1400" spc="100" baseline="-25000" dirty="0" err="1" smtClean="0">
                <a:solidFill>
                  <a:srgbClr val="0D1B2A"/>
                </a:solidFill>
                <a:latin typeface="JetBrains Mono NL ExtraBold" panose="02000009000000000000" pitchFamily="49" charset="0"/>
                <a:ea typeface="JetBrains Mono NL ExtraBold" panose="02000009000000000000" pitchFamily="49" charset="0"/>
                <a:cs typeface="JetBrains Mono NL ExtraBold" panose="02000009000000000000" pitchFamily="49" charset="0"/>
              </a:rPr>
              <a:t>ma</a:t>
            </a:r>
            <a:r>
              <a:rPr lang="en-US" sz="1400" spc="10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skraca żywotność; monitoring temperatury uzwojeń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Pasmo przenoszenia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aktuator serwo działa poprawnie do ~50 Hz; powyżej – opóźnienie fazowe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Wpływ na planowanie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planista globalny może obniżyć prędkość tras o 20% przy dużym obciążeniu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Narzędzia diagnostyczne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logowanie momentów na osi czasu pozwala identyfikować przeciążone stawy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Saturacja i monitorowanie sygnału sterującego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017520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160520"/>
            <a:ext cx="859536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160520"/>
            <a:ext cx="8321040" cy="777240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2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clipuje momenty i generuje ostrzeżenia gdy staw &gt; 85% limitu – sygnał do zwolnienia planisty.</a:t>
            </a:r>
            <a:endParaRPr lang="en-US" sz="120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94975"/>
            <a:ext cx="8321040" cy="2811026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saturate_torques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tau_desired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tuple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"""Nasycenie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momentow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stawowych z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ostrzezeniem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o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przeciazeniu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tau_sat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clip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tau_desired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sat_ratio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abs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tau_desired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/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overloaded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where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sat_ratio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&gt;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)[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warnings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idx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in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overloaded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warnings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569CD6"/>
                </a:solidFill>
                <a:latin typeface="Consolas" panose="020B0609020204030204" pitchFamily="49" charset="0"/>
              </a:rPr>
              <a:t>f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'Staw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idx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sat_ratio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idx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:.1f}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%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tau_sat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warnings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tau_ref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120.0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85.0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200.0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])  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zadane momenty [</a:t>
            </a:r>
            <a:r>
              <a:rPr lang="pl-PL" sz="1050" dirty="0" err="1">
                <a:solidFill>
                  <a:srgbClr val="6A9955"/>
                </a:solidFill>
                <a:latin typeface="Consolas" panose="020B0609020204030204" pitchFamily="49" charset="0"/>
              </a:rPr>
              <a:t>Nm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]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tau_lim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 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])  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limity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tau_out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saturate_torques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tau_ref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tau_lim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SYMULACJA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Symulacja przed testami na robocie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682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5280" y="1165860"/>
            <a:ext cx="840486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Cyfrowy bliźniak (digital twin):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robota z dokładnymi parametrami inercji, tarcia i aktuatorów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(ROS 2):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popularny w akademii; silniki fizyki: ODE, Bullet, DART; integracja z ROS 2 control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lider w lokomocji RL; dokładna symulacja kontaktu; używany przez Boston Dynamics, DeepMind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szybki, pythonowy; prostszy w konfiguracji; stosowany w badaniach akademickich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Zasada bezpiecznego przejścia</a:t>
            </a: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algorytm działa poprawnie w symulacji → testy na robocie w ograniczonej przestrzeni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Metryki sym2real gap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różnica prędkości kroku, błędu ZMP, zużycia energii między symulacją a robotem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randomization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losowanie tarcia, masy i opóźnień w symulacji wzmacnia odporność kontrolera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Pętla sterowania w symulacji </a:t>
            </a:r>
            <a:r>
              <a:rPr lang="en-US" sz="24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(PyBullet / abstrakcja)</a:t>
            </a:r>
            <a:endParaRPr lang="en-US" sz="2400" i="1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372873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601736"/>
            <a:ext cx="8595360" cy="336023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4638908"/>
            <a:ext cx="8467344" cy="27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-6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Pętla odczyt→plan→kontrola→aktuacja w kroku dt=5 ms (200 Hz); kryterium stopu: odległość &lt; 5 </a:t>
            </a:r>
            <a:r>
              <a:rPr lang="en-US" sz="1600" spc="-6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</a:t>
            </a:r>
            <a:endParaRPr lang="en-US" sz="1600" spc="-6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50371"/>
            <a:ext cx="8321040" cy="3388107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SimulationLoop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interfejs do symulatora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planista (ścieżka +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footstep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WBC lub PID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run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max_steps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10_000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max_steps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.get_state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()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odczyt stanu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.plan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.compute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saturate_torques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.tau_max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.apply_torques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wyslij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komendy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.step_simulation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linalg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norm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pos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 smtClean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77A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77A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13380" y="1619250"/>
            <a:ext cx="4109720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systemowa,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 i walidacja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40906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2, fail-safe, monitoring jakości i studium przypadku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ROS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Integracja modułów w ROS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Topiki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(topics):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asynchroniczna wymiana danych; sensor_msgs/Imu, nav_msgs/Odometry, geometry_msgs/Twist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Serwisy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(services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synchroniczne wywołania; np. /set_goal, /reset_localization, /emergency_stop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Akcje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(actions):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długotrwałe zadania z feedbackiem; nav2 NavigateToPose – standard dla nawigacji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TF2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drzewo transformacji; każdy node publikuje tf; lookupTransform() z buforowaniem przez ~5 s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ros2_control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ustandaryzowany interfejs dla aktuatorów – hardware_interface + controller_manager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of Service):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dla danych krytycznych (stan robota), BEST_EFFORT dla sensorów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Modularność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każdy moduł (SLAM, planner, WBC) jako oddzielny node lub lifecycle node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PIPELINE ROS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Przykładowy pipeline uruchomieniowy (ROS 2)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13639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Sensory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4048" y="1777289"/>
            <a:ext cx="2432304" cy="653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lidar_driver, imu_driver, depth_camera_node –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odczyt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danych sensorycznych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13639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Lokalizacja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4408" y="1777289"/>
            <a:ext cx="2432304" cy="653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slam_toolbox lub Nav2 AMCL – estymacja pozycji w mapie; publikacja /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/map→base tf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13639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Mapa kosztów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44768" y="1777289"/>
            <a:ext cx="2432304" cy="653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costmap_2d –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global_costmap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local_costmap aktualizowane z LiDAR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05100"/>
            <a:ext cx="2651760" cy="13639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705100"/>
            <a:ext cx="2651760" cy="54864"/>
          </a:xfrm>
          <a:prstGeom prst="rect">
            <a:avLst/>
          </a:prstGeom>
          <a:solidFill>
            <a:srgbClr val="006490"/>
          </a:solidFill>
          <a:ln w="12700">
            <a:solidFill>
              <a:srgbClr val="006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7965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Planista globalny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84048" y="3339389"/>
            <a:ext cx="2432304" cy="653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NavFn lub Smac Planner – A* lub Hybrid-A* z cost map; ścieżka do /plan topic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2705100"/>
            <a:ext cx="2651760" cy="13639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705100"/>
            <a:ext cx="265176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27965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Planista lokalny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264408" y="3339389"/>
            <a:ext cx="2432304" cy="653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DWB Controller – DWA z krytykami trajektorii; komendy do /cmd_vel lub footstep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2705100"/>
            <a:ext cx="2651760" cy="13639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35040" y="2705100"/>
            <a:ext cx="265176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7965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WBC + wykonanie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44768" y="3339389"/>
            <a:ext cx="2432304" cy="653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ros2_control + whole_body_controller – śledzenie footstep, moment stawowy, ZMP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Publikacja celu i odbiór stanu w ROS 2 (Python)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37287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" y="1094975"/>
            <a:ext cx="8321040" cy="316753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rclpy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rclpy.node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Node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geometry_msgs.msg </a:t>
            </a: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PoseStamped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nav_msgs.msg </a:t>
            </a:r>
            <a:r>
              <a:rPr lang="pl-PL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Odometry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 err="1" smtClean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NavClient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Node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err="1" smtClean="0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50" dirty="0" smtClean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smtClean="0">
                <a:solidFill>
                  <a:srgbClr val="4EC9B0"/>
                </a:solidFill>
                <a:latin typeface="Consolas" panose="020B0609020204030204" pitchFamily="49" charset="0"/>
              </a:rPr>
              <a:t>super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().</a:t>
            </a:r>
            <a:r>
              <a:rPr lang="pl-PL" sz="1050" dirty="0" smtClean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err="1" smtClean="0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50" dirty="0" smtClean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 err="1" smtClean="0">
                <a:solidFill>
                  <a:srgbClr val="CE9178"/>
                </a:solidFill>
                <a:latin typeface="Consolas" panose="020B0609020204030204" pitchFamily="49" charset="0"/>
              </a:rPr>
              <a:t>nav_client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goal_pub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.create_publisher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PoseStamped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'/</a:t>
            </a:r>
            <a:r>
              <a:rPr lang="pl-PL" sz="1050" dirty="0" err="1" smtClean="0">
                <a:solidFill>
                  <a:srgbClr val="CE9178"/>
                </a:solidFill>
                <a:latin typeface="Consolas" panose="020B0609020204030204" pitchFamily="49" charset="0"/>
              </a:rPr>
              <a:t>goal_pose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odom_sub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.create_subscription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Odometry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'/odom'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 smtClean="0">
                <a:solidFill>
                  <a:srgbClr val="DCDCAA"/>
                </a:solidFill>
                <a:latin typeface="Consolas" panose="020B0609020204030204" pitchFamily="49" charset="0"/>
              </a:rPr>
              <a:t>odom_callback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DCDCAA"/>
                </a:solidFill>
                <a:latin typeface="Consolas" panose="020B0609020204030204" pitchFamily="49" charset="0"/>
              </a:rPr>
              <a:t>odom_callback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Odometry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.pose.pose.position.x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.pose.pose.position.y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.get_logger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().info(</a:t>
            </a:r>
            <a:r>
              <a:rPr lang="pl-PL" sz="1050" dirty="0" err="1" smtClean="0">
                <a:solidFill>
                  <a:srgbClr val="569CD6"/>
                </a:solidFill>
                <a:latin typeface="Consolas" panose="020B0609020204030204" pitchFamily="49" charset="0"/>
              </a:rPr>
              <a:t>f</a:t>
            </a:r>
            <a:r>
              <a:rPr lang="pl-PL" sz="1050" dirty="0" err="1" smtClean="0">
                <a:solidFill>
                  <a:srgbClr val="CE9178"/>
                </a:solidFill>
                <a:latin typeface="Consolas" panose="020B0609020204030204" pitchFamily="49" charset="0"/>
              </a:rPr>
              <a:t>'Pos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: (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:.2f}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:.2f}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)'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DCDCAA"/>
                </a:solidFill>
                <a:latin typeface="Consolas" panose="020B0609020204030204" pitchFamily="49" charset="0"/>
              </a:rPr>
              <a:t>send_goal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PoseStamped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.header.frame_id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'map'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.pose.position.x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;  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.pose.position.y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endParaRPr lang="pl-PL" sz="1050" dirty="0" smtClean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goal_pub</a:t>
            </a:r>
            <a:r>
              <a:rPr lang="pl-PL" sz="105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.publish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42262"/>
            <a:ext cx="8595360" cy="395498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542262"/>
            <a:ext cx="8485632" cy="395497"/>
          </a:xfrm>
          <a:prstGeom prst="rect">
            <a:avLst/>
          </a:prstGeom>
          <a:noFill/>
          <a:ln/>
        </p:spPr>
        <p:txBody>
          <a:bodyPr wrap="square" lIns="0" tIns="0" rIns="36000" bIns="0" rtlCol="0" anchor="ctr"/>
          <a:lstStyle/>
          <a:p>
            <a:pPr marL="0" indent="0" algn="ctr">
              <a:buNone/>
            </a:pPr>
            <a:r>
              <a:rPr lang="en-US" sz="1600" b="1" spc="-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Minimalna integracja ROS 2: subscriber /odom + publisher /goal_pose; Nav2 obsługuje resztę pipeline'u.</a:t>
            </a:r>
            <a:endParaRPr lang="en-US" sz="1600" spc="-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FAIL-SAFE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 i mechanizmy fail-safe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58318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583180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Detekcja sytuacji awaryjnych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Reakcje bezpieczne 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(fail-safe)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5280" y="1600200"/>
            <a:ext cx="4030980" cy="1703475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Detekcja upadku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akcelerometr |a| &gt; 3g lub roll/pitch &gt; 45°</a:t>
            </a:r>
            <a:endParaRPr lang="en-US" sz="125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kontaktu obu stóp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F_z_L + F_z_R &lt; 20 N przez &gt;200 ms</a:t>
            </a:r>
            <a:endParaRPr lang="en-US" sz="125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Przekroczenie</a:t>
            </a:r>
            <a:r>
              <a:rPr lang="en-US" sz="12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limitu</a:t>
            </a:r>
            <a:r>
              <a:rPr lang="en-US" sz="12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</a:t>
            </a:r>
            <a:r>
              <a:rPr lang="en-US" sz="12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&gt; 1,2 · </a:t>
            </a:r>
            <a:r>
              <a:rPr lang="en-US" sz="1250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r>
              <a:rPr lang="en-US" sz="1250" spc="-4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n-US" sz="12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przez &gt;50 ms</a:t>
            </a:r>
            <a:endParaRPr lang="en-US" sz="125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Utrata sensorów</a:t>
            </a:r>
            <a:r>
              <a:rPr lang="en-US" sz="125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brak wiadomości IMU przez &gt;50 ms → alarm</a:t>
            </a:r>
            <a:endParaRPr lang="en-US" sz="1250" spc="-6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Kolizja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siła na strukturze &gt; F_collision_thresh</a:t>
            </a:r>
            <a:endParaRPr lang="en-US" sz="125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lokalizacji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kowariancja P &gt; </a:t>
            </a:r>
            <a:r>
              <a:rPr lang="en-US" sz="1250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50" spc="-4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n-US" sz="12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stop i relokalizacja</a:t>
            </a:r>
            <a:endParaRPr lang="en-US" sz="1250" spc="-40" dirty="0"/>
          </a:p>
        </p:txBody>
      </p:sp>
      <p:sp>
        <p:nvSpPr>
          <p:cNvPr id="13" name="Text 11"/>
          <p:cNvSpPr/>
          <p:nvPr/>
        </p:nvSpPr>
        <p:spPr>
          <a:xfrm>
            <a:off x="4770120" y="1600200"/>
            <a:ext cx="4099560" cy="1895835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Zatrzymanie awaryjne</a:t>
            </a: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momenty → 0 w ciągu 50 ms</a:t>
            </a:r>
            <a:endParaRPr lang="en-US" sz="12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Bezpieczna postura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zejście do pozycji kucającej lub siadania</a:t>
            </a:r>
            <a:endParaRPr lang="en-US" sz="125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Tryb degradacji</a:t>
            </a: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nawigacja tylko na IMU + enkodery</a:t>
            </a:r>
            <a:endParaRPr lang="en-US" sz="12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Powiadomienie operatora</a:t>
            </a: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alert przez ROS 2 diagnostics</a:t>
            </a:r>
            <a:endParaRPr lang="en-US" sz="12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Automatyczny restart </a:t>
            </a: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relokalizacji (autorecovery)</a:t>
            </a:r>
            <a:endParaRPr lang="en-US" sz="125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e-stop</a:t>
            </a: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przycisk fizyczny odcina zasilanie aktuatorów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MONITORING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etryki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online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do m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onitorowani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jakości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831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290815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lokalizacji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bieżące RMSE pozycji względem trajektorii referencyjnej [m]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Liczba korekt kroku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ile razy planista footstep przeplanował z powodu zmiany otoczenia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min(distance(ZMP, edge)) w bieżącym cyklu [cm]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aktuatorów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topik /joint_temperatures; próg ostrzegawczy 70°C, krytyczny 85°C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Straty kontaktu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ile razy Fz &lt; próg podczas fazy podparcia – wskaźnik poślizgu lub złej nawierzchni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liczba sytuacji gdy ZMP &lt; 1 cm od krawędzi wieloboku w ostatnich 60 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ROS 2 diagnostics + rqt_runtime_monitor; zapis do MCAP/rosbag2 do późniejszej analizy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WALIDACJA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Walidacja eksperymentalna – scenariusze testowe</a:t>
            </a:r>
            <a:endParaRPr lang="en-US" sz="2800" dirty="0"/>
          </a:p>
        </p:txBody>
      </p:sp>
      <p:grpSp>
        <p:nvGrpSpPr>
          <p:cNvPr id="30" name="Grupa 29"/>
          <p:cNvGrpSpPr/>
          <p:nvPr/>
        </p:nvGrpSpPr>
        <p:grpSpPr>
          <a:xfrm>
            <a:off x="274320" y="1143000"/>
            <a:ext cx="8709660" cy="2720340"/>
            <a:chOff x="274320" y="1143000"/>
            <a:chExt cx="8412480" cy="3520440"/>
          </a:xfrm>
        </p:grpSpPr>
        <p:sp>
          <p:nvSpPr>
            <p:cNvPr id="6" name="Shape 4"/>
            <p:cNvSpPr/>
            <p:nvPr/>
          </p:nvSpPr>
          <p:spPr>
            <a:xfrm>
              <a:off x="274320" y="1143000"/>
              <a:ext cx="265176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274320" y="1143000"/>
              <a:ext cx="2651760" cy="54864"/>
            </a:xfrm>
            <a:prstGeom prst="rect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048" y="1234440"/>
              <a:ext cx="243230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Nawigacja prosta</a:t>
              </a:r>
              <a:endParaRPr lang="en-US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84048" y="1853489"/>
              <a:ext cx="243230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Przejście A→B 10 m po równej powierzchni; metryka: RMSE pozycji, czas, zużycie energii</a:t>
              </a:r>
              <a:endParaRPr lang="en-US" sz="12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154680" y="1143000"/>
              <a:ext cx="265176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1" name="Shape 9"/>
            <p:cNvSpPr/>
            <p:nvPr/>
          </p:nvSpPr>
          <p:spPr>
            <a:xfrm>
              <a:off x="3154680" y="1143000"/>
              <a:ext cx="2651760" cy="54864"/>
            </a:xfrm>
            <a:prstGeom prst="rect">
              <a:avLst/>
            </a:prstGeom>
            <a:solidFill>
              <a:srgbClr val="0077A8"/>
            </a:solidFill>
            <a:ln w="12700">
              <a:solidFill>
                <a:srgbClr val="0077A8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64408" y="1234440"/>
              <a:ext cx="243230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Omijanie przeszkód</a:t>
              </a:r>
              <a:endParaRPr lang="en-US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4408" y="1853489"/>
              <a:ext cx="243230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 statycznych + 2 dynamiczne przeszkody; metryka: liczba kolizji, liczba replanu</a:t>
              </a:r>
              <a:endParaRPr lang="en-US" sz="12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035040" y="1143000"/>
              <a:ext cx="265176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5" name="Shape 13"/>
            <p:cNvSpPr/>
            <p:nvPr/>
          </p:nvSpPr>
          <p:spPr>
            <a:xfrm>
              <a:off x="6035040" y="1143000"/>
              <a:ext cx="2651760" cy="54864"/>
            </a:xfrm>
            <a:prstGeom prst="rect">
              <a:avLst/>
            </a:prstGeom>
            <a:solidFill>
              <a:srgbClr val="0077A8"/>
            </a:solidFill>
            <a:ln w="12700">
              <a:solidFill>
                <a:srgbClr val="0077A8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44768" y="1234440"/>
              <a:ext cx="243230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Schody</a:t>
              </a: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144768" y="1853489"/>
              <a:ext cx="243230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 stopnie h=15 cm; metryka: powodzenie, czas, liczba korekt ZMP, szczyt momentów</a:t>
              </a:r>
              <a:endParaRPr lang="en-US" sz="12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274320" y="2971800"/>
              <a:ext cx="265176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9" name="Shape 17"/>
            <p:cNvSpPr/>
            <p:nvPr/>
          </p:nvSpPr>
          <p:spPr>
            <a:xfrm>
              <a:off x="274320" y="2971800"/>
              <a:ext cx="2651760" cy="54864"/>
            </a:xfrm>
            <a:prstGeom prst="rect">
              <a:avLst/>
            </a:prstGeom>
            <a:solidFill>
              <a:srgbClr val="F72585"/>
            </a:solidFill>
            <a:ln w="12700">
              <a:solidFill>
                <a:srgbClr val="F7258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84048" y="3063240"/>
              <a:ext cx="243230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Pchnięcie boczne</a:t>
              </a:r>
              <a:endParaRPr lang="en-US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84048" y="3682289"/>
              <a:ext cx="243230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Impuls 20 Ns; metryka: amplituda CP, czas odzyskania równowagi, krok korekcyjny</a:t>
              </a:r>
              <a:endParaRPr lang="en-US" sz="12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154680" y="2971800"/>
              <a:ext cx="265176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23" name="Shape 21"/>
            <p:cNvSpPr/>
            <p:nvPr/>
          </p:nvSpPr>
          <p:spPr>
            <a:xfrm>
              <a:off x="3154680" y="2971800"/>
              <a:ext cx="2651760" cy="54864"/>
            </a:xfrm>
            <a:prstGeom prst="rect">
              <a:avLst/>
            </a:prstGeom>
            <a:solidFill>
              <a:srgbClr val="1A3550"/>
            </a:solidFill>
            <a:ln w="12700">
              <a:solidFill>
                <a:srgbClr val="1A3550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3264408" y="3063240"/>
              <a:ext cx="243230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Drzwi i progi</a:t>
              </a:r>
              <a:endParaRPr lang="en-US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264408" y="3682289"/>
              <a:ext cx="243230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Otwieranie klamki, przekroczenie progu 3 cm; metryka: sukces, czas interakcji</a:t>
              </a:r>
              <a:endParaRPr lang="en-US" sz="12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035040" y="2971800"/>
              <a:ext cx="265176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27" name="Shape 25"/>
            <p:cNvSpPr/>
            <p:nvPr/>
          </p:nvSpPr>
          <p:spPr>
            <a:xfrm>
              <a:off x="6035040" y="2971800"/>
              <a:ext cx="2651760" cy="54864"/>
            </a:xfrm>
            <a:prstGeom prst="rect">
              <a:avLst/>
            </a:prstGeom>
            <a:solidFill>
              <a:srgbClr val="6366F1"/>
            </a:solidFill>
            <a:ln w="12700">
              <a:solidFill>
                <a:srgbClr val="6366F1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144768" y="3063240"/>
              <a:ext cx="243230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Długa misja</a:t>
              </a: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144768" y="3682289"/>
              <a:ext cx="243230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45 min patrol budynku; metryka: dryft SLAM, zużycie energii, liczba incydentów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BŁĘDY PROJEKTOWE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Najczęstsze błędy projektowe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4273" y="1188720"/>
            <a:ext cx="8393151" cy="2521647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Zbyt optymistyczny model dynamiki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symulator nie uwzględnia ugięcia struktury ani tarcia statycznego stawów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synchronizacji czasowej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IMU i kamera nie zsynchronizowane → duchy w mapie i błędne fusje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Ignorowanie opóźnień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kamera ma 33 ms opóźnienie; bez kompensacji EKF daje błędną pozycję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Niestabilność kontaktu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zbyt twarde regulatory powodują drgania w fazie kontaktu stopy z podłożem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anti-windup w PID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przy saturacji moment integrujący rośnie bez ograniczeń → overshooting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Monolityczna architektura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cały system w jednym procesie – awaria jednego modułu blokuje całość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Zbyt rzadkie testy na robocie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przeniesienie działającego symulatora na fizyczny robot bez etapów pośrednich</a:t>
            </a:r>
            <a:endParaRPr lang="en-US" sz="1450" spc="-4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STUDIUM PRZYPADKU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Studium przypadku: humanoid w zadaniu usługowym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9032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5132" y="1150620"/>
            <a:ext cx="8455968" cy="2683230"/>
          </a:xfrm>
          <a:prstGeom prst="rect">
            <a:avLst/>
          </a:prstGeom>
          <a:noFill/>
          <a:ln/>
        </p:spPr>
        <p:txBody>
          <a:bodyPr wrap="square" lIns="36000" tIns="36000" rIns="36000" bIns="0" rtlCol="0" anchor="t">
            <a:spAutoFit/>
          </a:bodyPr>
          <a:lstStyle/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Scenariusz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robot dostarcza dokument z recepcji (parter) do sali konferencyjnej (2. piętro)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1 – Inicjalizacja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wczytanie mapy budynku, lokalizacja AMCL, plan globalny z windą lub schodami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2 – Korytarz parter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DWA z detekcją YOLO, 3 osoby omijane, ORCA dla dynamicznych obiektów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3 – Windy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detekcja drzwi, wciśnięcie guzika (manipulacja), oczekiwanie na otwarcie, wejście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4 – Korytarz 2. piętro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reinicjalizacja AMCL po wyjściu z windy, dojście do celu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5 – Interakcja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podanie dokumentu, potwierdzenie odbioru, powrót trasy odwrotnej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7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Kluczowe wyzwania</a:t>
            </a:r>
            <a:r>
              <a:rPr lang="en-US" sz="1600" spc="-7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zachowanie w windzie (mała przestrzeń), interakcja z człowiekiem, niezawodność 45 min</a:t>
            </a:r>
            <a:endParaRPr lang="en-US" sz="1600" spc="-7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38608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2743200" y="934720"/>
            <a:ext cx="3657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047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 i Capture Point </a:t>
            </a: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fundamenty równowagi dynamicznej; planista CoM musi przestrzegać </a:t>
            </a:r>
            <a:r>
              <a:rPr lang="en-US" sz="1500" spc="-5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</a:t>
            </a: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ograniczeń</a:t>
            </a:r>
            <a:endParaRPr lang="en-US" sz="1500" spc="-50" dirty="0"/>
          </a:p>
        </p:txBody>
      </p:sp>
      <p:sp>
        <p:nvSpPr>
          <p:cNvPr id="9" name="Shape 7"/>
          <p:cNvSpPr/>
          <p:nvPr/>
        </p:nvSpPr>
        <p:spPr>
          <a:xfrm>
            <a:off x="365760" y="1947672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9636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Whole-body control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hierarchizuje zadania: stabilność &gt; kontakt stóp &gt; </a:t>
            </a:r>
            <a:r>
              <a:rPr lang="en-US" sz="1600" spc="-5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realizacja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trajektorii</a:t>
            </a:r>
            <a:endParaRPr lang="en-US" sz="1600" spc="-5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722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PID, śledzenie trajektorii i saturacja aktuatorów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warunki bezpiecznego </a:t>
            </a:r>
            <a:r>
              <a:rPr lang="en-US" sz="1600" spc="-5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wykonania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ruchu</a:t>
            </a:r>
            <a:endParaRPr lang="en-US" sz="1600" spc="-50" dirty="0"/>
          </a:p>
        </p:txBody>
      </p:sp>
      <p:sp>
        <p:nvSpPr>
          <p:cNvPr id="15" name="Shape 13"/>
          <p:cNvSpPr/>
          <p:nvPr/>
        </p:nvSpPr>
        <p:spPr>
          <a:xfrm>
            <a:off x="365760" y="3465576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4815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+ TF2 integruje wszystkie moduły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synchronizacja i modularność są </a:t>
            </a:r>
            <a:r>
              <a:rPr lang="en-US" sz="1600" spc="-5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warunkiem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niezawodności</a:t>
            </a:r>
            <a:endParaRPr lang="en-US" sz="1600" spc="-50" dirty="0"/>
          </a:p>
        </p:txBody>
      </p:sp>
      <p:sp>
        <p:nvSpPr>
          <p:cNvPr id="18" name="Shape 16"/>
          <p:cNvSpPr/>
          <p:nvPr/>
        </p:nvSpPr>
        <p:spPr>
          <a:xfrm>
            <a:off x="365760" y="422452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240512"/>
            <a:ext cx="79476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Walidacja w symulacji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(MuJoCo, Gazebo) poprzedza testy </a:t>
            </a:r>
            <a:r>
              <a:rPr lang="en-US" sz="1600" spc="-5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robocie</a:t>
            </a:r>
            <a:r>
              <a:rPr lang="pl-PL" sz="1600" spc="-5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yfrowy</a:t>
            </a:r>
            <a:r>
              <a:rPr lang="en-US" sz="1600" spc="-5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bliźniak </a:t>
            </a:r>
            <a:r>
              <a:rPr lang="en-US" sz="1600" spc="-5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oszczędza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sprzęt</a:t>
            </a:r>
            <a:endParaRPr lang="en-US" sz="1600" spc="-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200" dirty="0" smtClean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65836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Nawigacji</a:t>
            </a:r>
            <a:r>
              <a:rPr lang="pl-PL" sz="1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r>
              <a:rPr lang="en-US" sz="1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Robotów Humanoidalnych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1097280"/>
            <a:ext cx="4572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234440"/>
            <a:ext cx="1965960" cy="1828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993392"/>
            <a:ext cx="1965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Percepcja</a:t>
            </a: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mapowanie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468880" y="1234440"/>
            <a:ext cx="1965960" cy="18288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6888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W2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260604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42032" y="1993392"/>
            <a:ext cx="181406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Lokalizacja</a:t>
            </a: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fuzja sensoryczna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17720" y="1234440"/>
            <a:ext cx="1965960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1772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W3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75488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993392"/>
            <a:ext cx="1965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ruchu</a:t>
            </a: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unikanie przeszkód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766560" y="1234440"/>
            <a:ext cx="1965960" cy="18288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76656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W4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90372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993392"/>
            <a:ext cx="19659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Chód, stabilność</a:t>
            </a: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integracja systemu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20040" y="3200400"/>
            <a:ext cx="85039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2918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Pełna pętla nawigacyjna: Sensory → Estymacja stanu → Planowanie → Sterowanie → Aktuatory → Sensory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0040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Reinforcement learning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dla lokomocji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029968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29968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semantyczna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739896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39896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 navigation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HRI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49824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49824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Multimodalna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percepcja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159752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59752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Adaptacyjny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DALSZE BADANIA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Tematy dalszych badań i kierunki rozwoju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98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5689" y="1188720"/>
            <a:ext cx="8404301" cy="2755933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dla lokomocji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uczenie chodu end-to-end bez modelu (MuJoCo + PPO/SAC)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Nawigacja semantyczna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600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reprezentacje CLIP/ViLD; robot rozumie polecenia językowe i mapę semantyczną</a:t>
            </a:r>
            <a:endParaRPr lang="en-US" sz="1600" spc="-8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navigation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modele ruchu tłumu, normy kulturowe, personalizacja interakcji człowiek–robot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Multimodalna percepcja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fuzja kamery, LiDAR, taktylna + duże modele wizyjno-językowe (VLM)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Adaptacyjny chód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zmiana wzorca chodu w zależności od terenu bez ręcznego programowania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Whole-body manipulation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jednoczesna nawigacja </a:t>
            </a:r>
            <a:r>
              <a:rPr lang="en-US" sz="1600" spc="-6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manipulacja</a:t>
            </a:r>
            <a:r>
              <a:rPr lang="pl-PL" sz="1600" spc="-6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600" spc="-6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otwieranie drzwi w ruchu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robotics + edge AI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ciężkie obliczenia SLAM i planowania na serwerze edge z niskim opóźnieniem</a:t>
            </a:r>
            <a:endParaRPr lang="en-US" sz="1600" spc="-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4280</Words>
  <Application>Microsoft Office PowerPoint</Application>
  <PresentationFormat>Pokaz na ekranie (16:9)</PresentationFormat>
  <Paragraphs>458</Paragraphs>
  <Slides>34</Slides>
  <Notes>34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34</vt:i4>
      </vt:variant>
    </vt:vector>
  </HeadingPairs>
  <TitlesOfParts>
    <vt:vector size="40" baseType="lpstr">
      <vt:lpstr>Arial</vt:lpstr>
      <vt:lpstr>Calibri</vt:lpstr>
      <vt:lpstr>Consolas</vt:lpstr>
      <vt:lpstr>JetBrains Mono NL ExtraBold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Wykład 4 – Chód, stabilność, kontrola i integracja systemu</dc:title>
  <dc:subject>PptxGenJS Presentation</dc:subject>
  <dc:creator>Politechnika – Katedra Robotyki</dc:creator>
  <cp:lastModifiedBy>Mateusz Pomianek</cp:lastModifiedBy>
  <cp:revision>54</cp:revision>
  <dcterms:created xsi:type="dcterms:W3CDTF">2026-04-13T22:20:23Z</dcterms:created>
  <dcterms:modified xsi:type="dcterms:W3CDTF">2026-04-29T14:57:23Z</dcterms:modified>
</cp:coreProperties>
</file>