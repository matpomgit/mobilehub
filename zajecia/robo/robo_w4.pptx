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47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8954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" y="0"/>
            <a:ext cx="9070848" cy="5486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914400"/>
            <a:ext cx="2194560" cy="2194560"/>
          </a:xfrm>
          <a:prstGeom prst="ellipse">
            <a:avLst/>
          </a:prstGeom>
          <a:solidFill>
            <a:srgbClr val="1A3550"/>
          </a:solidFill>
          <a:ln w="38100">
            <a:solidFill>
              <a:srgbClr val="00B4D8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234440"/>
            <a:ext cx="1554480" cy="1554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" y="82296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NAWIGACJA ROBOTÓW HUMANOIDALNYCH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20040" y="128016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WYKŁAD 4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320040" y="196596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Chód, stabilność, kontrola
i integracja pełnego systemu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320040" y="3017520"/>
            <a:ext cx="5760720" cy="274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31546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1200" b="1" dirty="0" smtClean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inż. </a:t>
            </a:r>
            <a:r>
              <a:rPr lang="pl-PL" sz="1200" b="1" smtClean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Mateusz Pomianek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20040" y="4114800"/>
            <a:ext cx="1965960" cy="54864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" y="41148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Stabilność i lokomocja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441448" y="4114800"/>
            <a:ext cx="1965960" cy="54864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441448" y="41148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Kontrola wykonania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62856" y="4114800"/>
            <a:ext cx="1965960" cy="54864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62856" y="41148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Architektura ROS 2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684264" y="4114800"/>
            <a:ext cx="1965960" cy="54864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84264" y="41148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Bezpieczeństwo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WPROWADZENIE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wykładu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43000"/>
            <a:ext cx="416052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234440"/>
            <a:ext cx="394106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84048" y="1853489"/>
            <a:ext cx="3941064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Stabilność i lokomocja: ZMP, Capture Point, LIPM, chód statyczny i dynamiczny, zakłócenia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09160" y="114300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143000"/>
            <a:ext cx="416052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18888" y="1234440"/>
            <a:ext cx="394106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818888" y="1853489"/>
            <a:ext cx="3941064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Kontrola wykonania ruchu: warstwy sterowania, WBC, PID, śledzenie trajektorii, symulacja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" y="297180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971800"/>
            <a:ext cx="4160520" cy="5486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3063240"/>
            <a:ext cx="394106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84048" y="3682289"/>
            <a:ext cx="3941064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Architektura ROS 2, bezpieczeństwo, walidacja eksperymentalna, studium przypadku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09160" y="297180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2971800"/>
            <a:ext cx="4160520" cy="54864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18888" y="3063240"/>
            <a:ext cx="394106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Kody Python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818888" y="3682289"/>
            <a:ext cx="3941064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ZMP, LIPM, PID, saturacja sygnału, pętla symulacji, komunikacja ROS 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35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00B4D8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2000" dirty="0"/>
          </a:p>
        </p:txBody>
      </p:sp>
      <p:sp>
        <p:nvSpPr>
          <p:cNvPr id="5" name="Shape 3"/>
          <p:cNvSpPr/>
          <p:nvPr/>
        </p:nvSpPr>
        <p:spPr>
          <a:xfrm>
            <a:off x="7132320" y="1371600"/>
            <a:ext cx="1645920" cy="1645920"/>
          </a:xfrm>
          <a:prstGeom prst="ellipse">
            <a:avLst/>
          </a:prstGeom>
          <a:solidFill>
            <a:srgbClr val="0D1B2A"/>
          </a:solidFill>
          <a:ln w="25400">
            <a:solidFill>
              <a:srgbClr val="00B4D8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6459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260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926080" y="160020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Stabilność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lokomocja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2926080" y="2697480"/>
            <a:ext cx="3931920" cy="274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926080" y="28346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Chód, ZMP, Capture Point, LIPM i reakcja na zakłócenia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PIPELINE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Pełny pipeline: od percepcji do postawienia kroku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01168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87552" y="1188720"/>
            <a:ext cx="585216" cy="5852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1188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65760" y="1874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Percepcja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65760" y="2423160"/>
            <a:ext cx="18288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IMU, LiDAR, RGB-D, enkodery – fuzja sensoryczna i estymacja stanu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423160" y="1097280"/>
            <a:ext cx="201168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36392" y="1188720"/>
            <a:ext cx="585216" cy="5852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36392" y="1188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514600" y="1874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Planowanie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514600" y="2423160"/>
            <a:ext cx="18288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+ DWA: ścieżka globalna i lokalna przekazana do planisty footstep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0" y="1097280"/>
            <a:ext cx="201168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85232" y="1188720"/>
            <a:ext cx="585216" cy="5852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85232" y="1188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663440" y="1874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Generacja kroków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663440" y="2423160"/>
            <a:ext cx="18288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Sekwencja stóp, trajektoria CoM z modelu LIPM, weryfikacja ZMP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720840" y="1097280"/>
            <a:ext cx="201168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34072" y="1188720"/>
            <a:ext cx="585216" cy="5852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34072" y="1188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812280" y="1874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Wykonanie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812280" y="2423160"/>
            <a:ext cx="18288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 + PID: komendy momentów do aktuatorów, odczyt stanu i zamknięcie pętli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7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CHÓD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Chód statyczny a chód dynamiczny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60520" cy="374904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709160" y="1097280"/>
            <a:ext cx="4160520" cy="3749040"/>
          </a:xfrm>
          <a:prstGeom prst="rect">
            <a:avLst/>
          </a:prstGeom>
          <a:solidFill>
            <a:srgbClr val="FFF1F5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97280"/>
            <a:ext cx="4160520" cy="41148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1155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Chód statyczny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09160" y="1097280"/>
            <a:ext cx="4160520" cy="4114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1155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Chód dynamiczny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1600200"/>
            <a:ext cx="3794760" cy="3108960"/>
          </a:xfrm>
          <a:prstGeom prst="rect">
            <a:avLst/>
          </a:prstGeom>
          <a:noFill/>
          <a:ln/>
        </p:spPr>
        <p:txBody>
          <a:bodyPr wrap="square" lIns="63500" tIns="101600" rIns="101600" bIns="6350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zawsze nad wielobokiem podparcia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Możliwy przy bardzo niskich prędkościach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Margines stabilności statycznej zawsze &gt;0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 implementacja – brak dynamiki LIPM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Zastosowanie: schody, nierówny teren, precyzja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Wada: wolny, nienaturalny, energochłonny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600200"/>
            <a:ext cx="3794760" cy="3108960"/>
          </a:xfrm>
          <a:prstGeom prst="rect">
            <a:avLst/>
          </a:prstGeom>
          <a:noFill/>
          <a:ln/>
        </p:spPr>
        <p:txBody>
          <a:bodyPr wrap="square" lIns="63500" tIns="101600" rIns="101600" bIns="6350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może chwilowo wyjść za wielobok podparcia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Wymagana kontrola ZMP w czasie rzeczywistym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Naturalny, energooszczędny marsz człowieka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Modele: LIPM, 3D-LIPM, Spring-Mass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Zastosowanie: szybkie przemieszczanie, biuro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Wada: wymaga pełnego WBC i szybkiego planisty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CoM I WIELOBOK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Środek masy i wielobok podparcia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8229600" cy="352044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Wielobok podparcia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(support polygon): wypukłe otoczka punktów kontaktu stóp z podłożem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Stabilność statyczna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rzut CoM pionowo w dół musi leżeć wewnątrz wieloboku podparcia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Faza jednostronnego podparcia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wielobok = tylko jeden prostokąt stopy (~20×9 cm)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Faza podwójnego podparcia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wielobok = suma obu stóp + przestrzeń między nimi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Margines stabilności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(stability margin): minimalna odległość rzutu CoM od krawędzi wieloboku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utrzymać margines ≥ d_safe = 2–3 cm przez cały cykl kroku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Monitorowanie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obliczane w każdym cyklu sterowania (1 kHz) na podstawie stanu stawów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ZMP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 Moment Point – definicja i znaczenie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8229600" cy="352044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ZMP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punkt na podłożu, w którym suma momentów sił kontaktu jest zerowa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Warunek stabilności dynamicznej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ZMP musi leżeć wewnątrz wieloboku podparcia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Obliczanie ZMP z trajektorii CoM 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(LIPM): ZMP = x_CoM - (z_CoM/g) · ẍ_CoM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Praktyczna interpretacja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ZMP dąży do stopy podporowej podczas przenoszenia ciężaru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Margines ZMP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typowo 2–4 cm od krawędzi; w trudnym terenie 5–8 cm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Planowanie oparte na ZMP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wyznacz dozwolony ZMP → oblicz trajektorię CoM wstecznie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Biblioteki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Choreonoid, OpenHRP3, DART – wbudowane generatory trajektorii ZMP/CoM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CP I LIPM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Capture Point i Linear Inverted Pendulum Model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6052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709160" y="1097280"/>
            <a:ext cx="416052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97280"/>
            <a:ext cx="4160520" cy="38404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1155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Capture Point (CP)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09160" y="1097280"/>
            <a:ext cx="4160520" cy="384048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1155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LIPM – uproszczona dynamika chodu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1600200"/>
            <a:ext cx="3794760" cy="3108960"/>
          </a:xfrm>
          <a:prstGeom prst="rect">
            <a:avLst/>
          </a:prstGeom>
          <a:noFill/>
          <a:ln/>
        </p:spPr>
        <p:txBody>
          <a:bodyPr wrap="square" lIns="63500" tIns="101600" rIns="63500" bIns="6350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= punkt na podłożu, na który należy postawić stopę, by zatrzymać upadek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= x_CoM + (1/ω₀) · ẋ_CoM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ω₀ = √(g / z_CoM) – częstość LIPM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Jeśli CP poza zasięgiem kroku → robot upadnie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Zastosowanie: reakcja na pchnięcia, korekty równowagi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Narzędzie: push-recovery reflex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92040" y="1600200"/>
            <a:ext cx="3794760" cy="3108960"/>
          </a:xfrm>
          <a:prstGeom prst="rect">
            <a:avLst/>
          </a:prstGeom>
          <a:noFill/>
          <a:ln/>
        </p:spPr>
        <p:txBody>
          <a:bodyPr wrap="square" lIns="63500" tIns="101600" rIns="63500" bIns="6350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Ciało traktowane jako punkt masowy (CoM) na sztywnym, bezmasowym wahadle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Ruch CoM w 2D: ẍ = ω₀² · (x - z_ZMP)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Rozwiązanie: x(t) = C₁·cosh(ω₀t) + C₂·sinh(ω₀t) + x_ZMP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Generowanie trajektorii CoM przez optymalizację QP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Podstawa większości komercyjnych humanoida (ASIMO, Atlas, NAO)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Ograniczenie: zakłada stałą wysokość CoM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72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Obliczanie ZMP z trajektorii CoM (model LIPM)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05839"/>
            <a:ext cx="8595360" cy="3320833"/>
          </a:xfrm>
          <a:prstGeom prst="rect">
            <a:avLst/>
          </a:prstGeom>
          <a:solidFill>
            <a:srgbClr val="071520"/>
          </a:solidFill>
          <a:ln w="12700">
            <a:solidFill>
              <a:srgbClr val="0077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4586868"/>
            <a:ext cx="8595360" cy="350892"/>
          </a:xfrm>
          <a:prstGeom prst="rect">
            <a:avLst/>
          </a:prstGeom>
          <a:solidFill>
            <a:srgbClr val="1A3550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586868"/>
            <a:ext cx="8321040" cy="350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spc="-4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Opis: </a:t>
            </a:r>
            <a:r>
              <a:rPr lang="en-US" sz="1600" spc="-4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Wynik ZMP [m] należy porównać z wielobokiem podparcia i sprawdzić </a:t>
            </a:r>
            <a:r>
              <a:rPr lang="en-US" sz="1600" spc="-4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margines</a:t>
            </a:r>
            <a:r>
              <a:rPr lang="en-US" sz="1600" spc="-4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spc="-4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bezpieczeństwa</a:t>
            </a:r>
            <a:endParaRPr lang="en-US" sz="1600" spc="-40" dirty="0"/>
          </a:p>
        </p:txBody>
      </p:sp>
      <p:sp>
        <p:nvSpPr>
          <p:cNvPr id="13" name="Shape 5"/>
          <p:cNvSpPr/>
          <p:nvPr/>
        </p:nvSpPr>
        <p:spPr>
          <a:xfrm>
            <a:off x="8090136" y="1106424"/>
            <a:ext cx="146304" cy="146304"/>
          </a:xfrm>
          <a:prstGeom prst="ellipse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14" name="Shape 6"/>
          <p:cNvSpPr/>
          <p:nvPr/>
        </p:nvSpPr>
        <p:spPr>
          <a:xfrm>
            <a:off x="8346168" y="1106424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8602200" y="1106424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310896" y="1057805"/>
            <a:ext cx="8321040" cy="3203441"/>
          </a:xfrm>
          <a:prstGeom prst="rect">
            <a:avLst/>
          </a:prstGeom>
          <a:noFill/>
          <a:ln/>
        </p:spPr>
        <p:txBody>
          <a:bodyPr wrap="square" lIns="108000" tIns="0" rIns="127000" bIns="63500" rtlCol="0" anchor="t">
            <a:spAutoFit/>
          </a:bodyPr>
          <a:lstStyle/>
          <a:p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numpy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as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compute_zmp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com_pos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ndarray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com_acc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ndarray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com_height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g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9.81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-&gt;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ndarray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"""Wyznacza ZMP z przyspieszenia </a:t>
            </a:r>
            <a:r>
              <a:rPr lang="pl-PL" sz="1200" dirty="0" err="1">
                <a:solidFill>
                  <a:srgbClr val="CE9178"/>
                </a:solidFill>
                <a:latin typeface="Consolas" panose="020B0609020204030204" pitchFamily="49" charset="0"/>
              </a:rPr>
              <a:t>CoM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 (model LIPM, 2D: x i y)."""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</a:t>
            </a:r>
            <a:r>
              <a:rPr lang="pl-PL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com_pos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 [m], </a:t>
            </a:r>
            <a:r>
              <a:rPr lang="pl-PL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com_acc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 [m/s^2], </a:t>
            </a:r>
            <a:r>
              <a:rPr lang="pl-PL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com_height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 [m]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zmp_x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com_pos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com_height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g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com_acc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zmp_y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com_pos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com_height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g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com_acc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array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([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zmp_x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zmp_y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])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</a:t>
            </a:r>
            <a:r>
              <a:rPr lang="pl-PL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Przyklad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: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pos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array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0.05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])   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</a:t>
            </a:r>
            <a:r>
              <a:rPr lang="pl-PL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CoM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 5 cm przed </a:t>
            </a:r>
            <a:r>
              <a:rPr lang="pl-PL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srodkiem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 stopy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array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0.3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 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])   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przyspieszenie [m/s^2]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zmp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compute_zmp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pos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com_height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0.85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print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569CD6"/>
                </a:solidFill>
                <a:latin typeface="Consolas" panose="020B0609020204030204" pitchFamily="49" charset="0"/>
              </a:rPr>
              <a:t>f</a:t>
            </a:r>
            <a:r>
              <a:rPr lang="pl-PL" sz="1200" dirty="0" err="1">
                <a:solidFill>
                  <a:srgbClr val="CE9178"/>
                </a:solidFill>
                <a:latin typeface="Consolas" panose="020B0609020204030204" pitchFamily="49" charset="0"/>
              </a:rPr>
              <a:t>'ZMP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 = </a:t>
            </a: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{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zmp</a:t>
            </a: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}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        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np. [0.024, 0.0] </a:t>
            </a:r>
            <a:r>
              <a:rPr lang="pl-PL" sz="1200" dirty="0" smtClean="0">
                <a:solidFill>
                  <a:srgbClr val="6A9955"/>
                </a:solidFill>
                <a:latin typeface="Consolas" panose="020B0609020204030204" pitchFamily="49" charset="0"/>
              </a:rPr>
              <a:t>m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72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Prosty model LIPM – symulacja ruchu CoM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3440072"/>
          </a:xfrm>
          <a:prstGeom prst="rect">
            <a:avLst/>
          </a:prstGeom>
          <a:solidFill>
            <a:srgbClr val="071520"/>
          </a:solidFill>
          <a:ln w="12700">
            <a:solidFill>
              <a:srgbClr val="0077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4601736"/>
            <a:ext cx="8595360" cy="336023"/>
          </a:xfrm>
          <a:prstGeom prst="rect">
            <a:avLst/>
          </a:prstGeom>
          <a:solidFill>
            <a:srgbClr val="1A3550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672395"/>
            <a:ext cx="8321040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Opis: </a:t>
            </a:r>
            <a:r>
              <a:rPr lang="en-US" sz="12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omega = √(g/h) ≈ 3,4 rad/s dla h=0,85 m; numeryczne całkowanie Euler – wystarczające dla demonstracji.</a:t>
            </a:r>
            <a:endParaRPr lang="en-US" sz="1200" dirty="0"/>
          </a:p>
        </p:txBody>
      </p:sp>
      <p:sp>
        <p:nvSpPr>
          <p:cNvPr id="13" name="Shape 5"/>
          <p:cNvSpPr/>
          <p:nvPr/>
        </p:nvSpPr>
        <p:spPr>
          <a:xfrm>
            <a:off x="8090136" y="1106424"/>
            <a:ext cx="146304" cy="146304"/>
          </a:xfrm>
          <a:prstGeom prst="ellipse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14" name="Shape 6"/>
          <p:cNvSpPr/>
          <p:nvPr/>
        </p:nvSpPr>
        <p:spPr>
          <a:xfrm>
            <a:off x="8346168" y="1106424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8602200" y="1106424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310896" y="1057805"/>
            <a:ext cx="8321040" cy="3388107"/>
          </a:xfrm>
          <a:prstGeom prst="rect">
            <a:avLst/>
          </a:prstGeom>
          <a:noFill/>
          <a:ln/>
        </p:spPr>
        <p:txBody>
          <a:bodyPr wrap="square" lIns="108000" tIns="0" rIns="127000" bIns="63500" rtlCol="0" anchor="t">
            <a:spAutoFit/>
          </a:bodyPr>
          <a:lstStyle/>
          <a:p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numpy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as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4EC9B0"/>
                </a:solidFill>
                <a:latin typeface="Consolas" panose="020B0609020204030204" pitchFamily="49" charset="0"/>
              </a:rPr>
              <a:t>LIPM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init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com_height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0.85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g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9.81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omega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sqrt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g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com_height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  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</a:t>
            </a:r>
            <a:r>
              <a:rPr lang="pl-PL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czestotliwosc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 LIPM [rad/s]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pozycja </a:t>
            </a:r>
            <a:r>
              <a:rPr lang="pl-PL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CoM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 [m]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vx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</a:t>
            </a:r>
            <a:r>
              <a:rPr lang="pl-PL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predkosc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CoM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 [m/s]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step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zmp_x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-&gt;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tuple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"""Jeden krok </a:t>
            </a:r>
            <a:r>
              <a:rPr lang="pl-PL" sz="1200" dirty="0" err="1">
                <a:solidFill>
                  <a:srgbClr val="CE9178"/>
                </a:solidFill>
                <a:latin typeface="Consolas" panose="020B0609020204030204" pitchFamily="49" charset="0"/>
              </a:rPr>
              <a:t>calkowania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CE9178"/>
                </a:solidFill>
                <a:latin typeface="Consolas" panose="020B0609020204030204" pitchFamily="49" charset="0"/>
              </a:rPr>
              <a:t>rownania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 LIPM: </a:t>
            </a:r>
            <a:r>
              <a:rPr lang="pl-PL" sz="1200" dirty="0" err="1">
                <a:solidFill>
                  <a:srgbClr val="CE9178"/>
                </a:solidFill>
                <a:latin typeface="Consolas" panose="020B0609020204030204" pitchFamily="49" charset="0"/>
              </a:rPr>
              <a:t>x_ddot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 = omega^2*(x-</a:t>
            </a:r>
            <a:r>
              <a:rPr lang="pl-PL" sz="1200" dirty="0" err="1">
                <a:solidFill>
                  <a:srgbClr val="CE9178"/>
                </a:solidFill>
                <a:latin typeface="Consolas" panose="020B0609020204030204" pitchFamily="49" charset="0"/>
              </a:rPr>
              <a:t>zmp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)."""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omega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**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zmp_x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vx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+=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acc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+=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vx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vx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lipm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4EC9B0"/>
                </a:solidFill>
                <a:latin typeface="Consolas" panose="020B0609020204030204" pitchFamily="49" charset="0"/>
              </a:rPr>
              <a:t>LIPM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com_height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0.85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in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arange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1.0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0.005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vx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lipm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step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zmp_x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0.02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0.005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 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ZMP 2 cm przed </a:t>
            </a:r>
            <a:r>
              <a:rPr lang="pl-PL" sz="1200" dirty="0" smtClean="0">
                <a:solidFill>
                  <a:srgbClr val="6A9955"/>
                </a:solidFill>
                <a:latin typeface="Consolas" panose="020B0609020204030204" pitchFamily="49" charset="0"/>
              </a:rPr>
              <a:t>stopa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ZAKŁÓCENIA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Reakcja na zakłócenia zewnętrzne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8229600" cy="352044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Pchnięcie (push): nagła zmiana prędkości CoM → CP wychodzi z dozwolonej strefy → korekta kroku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Mechanizm ankle strategy: regulacja momentu w stawie skokowym (małe zakłócenia ≤ ~5 N·s)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Mechanizm hip strategy: ruch tułowia kompensuje przesunięcie CP (średnie zakłócenia)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Mechanizm stepping strategy: postawienie dodatkowego kroku w kierunku CP (duże zakłócenia)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Poślizg stopy: detekcja z czujnika F/T – nagły skok siły bocznej → reset estymatora i replan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Utrata kontaktu: siła normalna F_z &lt; 10 N → przejście do trybu push-recovery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Opóźniona detekcja przeszkody: aktywacja hamowania awaryjnego i replan lokalny (10 ms)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STABILNOŚĆ A PLANOWANIE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Stabilność</a:t>
            </a:r>
            <a:r>
              <a:rPr lang="pl-PL" sz="2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</a:t>
            </a:r>
            <a:r>
              <a:rPr lang="en-US" sz="2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decyzje nawigacyjne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8229600" cy="352044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Reguła nadrzędna: decyzja o ruchu jest akceptowana tylko wtedy, gdy predykcja ZMP pozostaje w wieloboku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Sprzężenie planista–kontroler: planista kroków przekazuje cele, kontroler zgłasza aktualny margines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Prędkość chodu a stabilność: wyższa prędkość = mniejszy czas podwójnego podparcia = wyższe ryzyko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Teren pochyły lub śliski: kontroler redukuje prędkość i wydłuża fazę podwójnego podparcia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Sygnał margines stabilności: gdy SM &lt; threshold → planista obniża prędkość lub zatrzymuje robota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Priorytet: stabilność &gt; plan ruchu &gt; optymalizacja energii &gt; czas misji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Architektura: stability monitor działa w pętli 1 kHz i może vetować komendy planisty lokalnego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35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6366F1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2000" dirty="0"/>
          </a:p>
        </p:txBody>
      </p:sp>
      <p:sp>
        <p:nvSpPr>
          <p:cNvPr id="5" name="Shape 3"/>
          <p:cNvSpPr/>
          <p:nvPr/>
        </p:nvSpPr>
        <p:spPr>
          <a:xfrm>
            <a:off x="7132320" y="1371600"/>
            <a:ext cx="1645920" cy="1645920"/>
          </a:xfrm>
          <a:prstGeom prst="ellipse">
            <a:avLst/>
          </a:prstGeom>
          <a:solidFill>
            <a:srgbClr val="0D1B2A"/>
          </a:solidFill>
          <a:ln w="25400">
            <a:solidFill>
              <a:srgbClr val="6366F1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6459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260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926080" y="160020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Kontrola wykonania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ruchu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2926080" y="2697480"/>
            <a:ext cx="3931920" cy="2743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926080" y="28346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Warstwy sterowania, WBC, PID, symulacja, aktuatory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WARSTWY STEROWANIA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Warstwy sterowania w humanoidzie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26517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43000"/>
            <a:ext cx="2651760" cy="41148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16128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Warstwa wysoka (High-level)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84048" y="1627632"/>
            <a:ext cx="2432304" cy="3154680"/>
          </a:xfrm>
          <a:prstGeom prst="rect">
            <a:avLst/>
          </a:prstGeom>
          <a:noFill/>
          <a:ln/>
        </p:spPr>
        <p:txBody>
          <a:bodyPr wrap="square" lIns="50800" tIns="76200" rIns="50800" bIns="5080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Planista globalny i lokalny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 sekwencji kroków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Trajektoria CoM (LIPM / QP)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Częstość: 10–50 Hz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Wyjście: ref. trajektoria CoM, stóp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54680" y="1143000"/>
            <a:ext cx="26517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143000"/>
            <a:ext cx="2651760" cy="4114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116128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Warstwa środkowa (WBC)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264408" y="1627632"/>
            <a:ext cx="2432304" cy="3154680"/>
          </a:xfrm>
          <a:prstGeom prst="rect">
            <a:avLst/>
          </a:prstGeom>
          <a:noFill/>
          <a:ln/>
        </p:spPr>
        <p:txBody>
          <a:bodyPr wrap="square" lIns="50800" tIns="76200" rIns="50800" bIns="5080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Whole-Body Controller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Optymalizacja całego ciała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Przestrzeganie kontaktów i ZMP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Częstość: 200–500 Hz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Wyjście: ref. kąty stawów lub τ_ref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35040" y="1143000"/>
            <a:ext cx="26517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143000"/>
            <a:ext cx="2651760" cy="411480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44768" y="116128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Warstwa niska (aktuator)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144768" y="1627632"/>
            <a:ext cx="2432304" cy="3154680"/>
          </a:xfrm>
          <a:prstGeom prst="rect">
            <a:avLst/>
          </a:prstGeom>
          <a:noFill/>
          <a:ln/>
        </p:spPr>
        <p:txBody>
          <a:bodyPr wrap="square" lIns="50800" tIns="76200" rIns="50800" bIns="5080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PID / impedancji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Pętle momentowe / prędkościowe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Enkodery i czujniki F/T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Częstość: 1000–5000 Hz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Wyjście: napięcie / prąd silnika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PRIORYTETY WBC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Priorytety zadań w sterowaniu (WBC)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566928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20020" y="1234440"/>
            <a:ext cx="3127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P1  Stabilność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831336" y="1234440"/>
            <a:ext cx="4690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ZMP w wieloboku podparcia; Capture Point w zasięgu; stabilność LIPM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005840" y="1920240"/>
            <a:ext cx="7132320" cy="566928"/>
          </a:xfrm>
          <a:prstGeom prst="rect">
            <a:avLst/>
          </a:prstGeom>
          <a:solidFill>
            <a:srgbClr val="D63284"/>
          </a:solidFill>
          <a:ln w="12700">
            <a:solidFill>
              <a:srgbClr val="D63284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68660" y="1920240"/>
            <a:ext cx="27102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P2  Kontakt stóp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930091" y="1920240"/>
            <a:ext cx="40654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Siły kontaktu ≥ 0; przyczepność (tarcie); poprawna orientacja stopy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554480" y="2606040"/>
            <a:ext cx="6035040" cy="56692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617300" y="2606040"/>
            <a:ext cx="22933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P3  Realizacja ruchu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028846" y="2606040"/>
            <a:ext cx="34399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Śledzenie trajektorii CoM i stóp </a:t>
            </a:r>
            <a:r>
              <a:rPr lang="en-US" sz="11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zgodnie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l-PL" sz="115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br>
              <a:rPr lang="pl-PL" sz="115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planem footstep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103120" y="3291840"/>
            <a:ext cx="4937760" cy="56692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165940" y="3291840"/>
            <a:ext cx="18763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P4  Pozycja tułowia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73962" y="3291840"/>
            <a:ext cx="27681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Orientacja tułowia do pionu; </a:t>
            </a:r>
            <a:r>
              <a:rPr lang="pl-PL" sz="115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br>
              <a:rPr lang="pl-PL" sz="115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pozycja</a:t>
            </a:r>
            <a:r>
              <a:rPr lang="en-US" sz="115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głowy do percepcji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651760" y="3977640"/>
            <a:ext cx="3840480" cy="566928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14580" y="3977640"/>
            <a:ext cx="14593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P5  Minimalizacja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270961" y="3977640"/>
            <a:ext cx="21890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Minimalizacja zużycia </a:t>
            </a:r>
            <a:r>
              <a:rPr lang="en-US" sz="11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energii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l-PL" sz="115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br>
              <a:rPr lang="pl-PL" sz="115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15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momentów stawowych </a:t>
            </a: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(regularyzacja)</a:t>
            </a:r>
            <a:endParaRPr lang="en-US" sz="1150" i="1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WBC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l-PL" sz="28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</a:t>
            </a:r>
            <a:r>
              <a:rPr lang="en-US" sz="28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asada</a:t>
            </a:r>
            <a:r>
              <a:rPr lang="en-US" sz="2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działania</a:t>
            </a: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Whole-Body Control (WBC</a:t>
            </a:r>
            <a:r>
              <a:rPr lang="en-US" sz="2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8229600" cy="352044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wyznacza optymalny wektor momentów τ dla wszystkich stawów jednocześnie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Formułowane jako QP 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(Quadratic Programming): min ½·τᵀQτ  s.t.  Aτ ≤ b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Ograniczenia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równania dynamiki, siły kontaktu, zasięgi stawów, ograniczenia ZMP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Hierarchia zadań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każde zadanie ma macierz wagową; zadania niższe nie zakłócają wyższych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Null-space projection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niższe priorytety realizowane w przestrzeni zerowej wyższych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Czas obliczeń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solver OSQP lub qpOASES wyznacza rozwiązanie w ~1 ms na CPU embedded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Integracja z LIPM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trajektoria CoM z modelu LIPM → WBC → momenty stawów</a:t>
            </a:r>
            <a:endParaRPr lang="en-US" sz="14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72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Regulator PID dla kierunku yaw robota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3017520"/>
          </a:xfrm>
          <a:prstGeom prst="rect">
            <a:avLst/>
          </a:prstGeom>
          <a:solidFill>
            <a:srgbClr val="071520"/>
          </a:solidFill>
          <a:ln w="12700">
            <a:solidFill>
              <a:srgbClr val="0077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4460488"/>
            <a:ext cx="8595360" cy="477272"/>
          </a:xfrm>
          <a:prstGeom prst="rect">
            <a:avLst/>
          </a:prstGeom>
          <a:solidFill>
            <a:srgbClr val="1A3550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pl-PL" dirty="0"/>
          </a:p>
        </p:txBody>
      </p:sp>
      <p:sp>
        <p:nvSpPr>
          <p:cNvPr id="12" name="Text 10"/>
          <p:cNvSpPr/>
          <p:nvPr/>
        </p:nvSpPr>
        <p:spPr>
          <a:xfrm>
            <a:off x="411480" y="4574155"/>
            <a:ext cx="8321040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600" b="1" dirty="0" err="1" smtClean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</a:t>
            </a:r>
            <a:r>
              <a:rPr lang="en-US" sz="1600" b="1" dirty="0" smtClean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6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</a:t>
            </a:r>
            <a:r>
              <a:rPr lang="en-US" sz="160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≈ 2,0; Ki ≈ 0,1; </a:t>
            </a:r>
            <a:r>
              <a:rPr lang="en-US" sz="16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</a:t>
            </a:r>
            <a:r>
              <a:rPr lang="en-US" sz="160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≈ 0,05 – </a:t>
            </a:r>
            <a:r>
              <a:rPr lang="en-US" sz="16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typowe</a:t>
            </a:r>
            <a:r>
              <a:rPr lang="en-US" sz="160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wartości</a:t>
            </a:r>
            <a:r>
              <a:rPr lang="en-US" sz="160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dla</a:t>
            </a:r>
            <a:r>
              <a:rPr lang="en-US" sz="160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regulacji</a:t>
            </a:r>
            <a:r>
              <a:rPr lang="en-US" sz="160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kierunku</a:t>
            </a:r>
            <a:r>
              <a:rPr lang="en-US" sz="160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humanoida</a:t>
            </a:r>
            <a:r>
              <a:rPr lang="en-US" sz="160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 IMU 200 Hz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8090136" y="1106424"/>
            <a:ext cx="146304" cy="146304"/>
          </a:xfrm>
          <a:prstGeom prst="ellipse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14" name="Shape 6"/>
          <p:cNvSpPr/>
          <p:nvPr/>
        </p:nvSpPr>
        <p:spPr>
          <a:xfrm>
            <a:off x="8346168" y="1106424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8602200" y="1106424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310896" y="1094975"/>
            <a:ext cx="8321040" cy="2811026"/>
          </a:xfrm>
          <a:prstGeom prst="rect">
            <a:avLst/>
          </a:prstGeom>
          <a:noFill/>
          <a:ln/>
        </p:spPr>
        <p:txBody>
          <a:bodyPr wrap="square" lIns="108000" tIns="0" rIns="127000" bIns="63500" rtlCol="0" anchor="t">
            <a:spAutoFit/>
          </a:bodyPr>
          <a:lstStyle/>
          <a:p>
            <a:r>
              <a:rPr lang="pl-PL" sz="1050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PIDController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5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050" dirty="0" err="1">
                <a:solidFill>
                  <a:srgbClr val="DCDCAA"/>
                </a:solidFill>
                <a:latin typeface="Consolas" panose="020B0609020204030204" pitchFamily="49" charset="0"/>
              </a:rPr>
              <a:t>init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kp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ki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kd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output_limit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1.0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kp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ki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kd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kp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ki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kd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limit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output_limit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integral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0.0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prev_error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0.0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5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update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setpoint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measured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 -&gt;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"""Krok regulatora PID; zwraca </a:t>
            </a:r>
            <a:r>
              <a:rPr lang="pl-PL" sz="1050" dirty="0" err="1">
                <a:solidFill>
                  <a:srgbClr val="CE9178"/>
                </a:solidFill>
                <a:latin typeface="Consolas" panose="020B0609020204030204" pitchFamily="49" charset="0"/>
              </a:rPr>
              <a:t>sygnal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CE9178"/>
                </a:solidFill>
                <a:latin typeface="Consolas" panose="020B0609020204030204" pitchFamily="49" charset="0"/>
              </a:rPr>
              <a:t>sterujacy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 [rad/s]."""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error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setpoint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measured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>
                <a:solidFill>
                  <a:srgbClr val="6A9955"/>
                </a:solidFill>
                <a:latin typeface="Consolas" panose="020B0609020204030204" pitchFamily="49" charset="0"/>
              </a:rPr>
              <a:t># Normalizacja </a:t>
            </a:r>
            <a:r>
              <a:rPr lang="pl-PL" sz="1050" dirty="0" err="1">
                <a:solidFill>
                  <a:srgbClr val="6A9955"/>
                </a:solidFill>
                <a:latin typeface="Consolas" panose="020B0609020204030204" pitchFamily="49" charset="0"/>
              </a:rPr>
              <a:t>bledu</a:t>
            </a:r>
            <a:r>
              <a:rPr lang="pl-PL" sz="1050" dirty="0">
                <a:solidFill>
                  <a:srgbClr val="6A9955"/>
                </a:solidFill>
                <a:latin typeface="Consolas" panose="020B0609020204030204" pitchFamily="49" charset="0"/>
              </a:rPr>
              <a:t> kata do [-pi, pi]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error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error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3.14159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%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3.14159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3.14159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integral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+=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error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derivative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     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error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prev_error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max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1e-6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prev_error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error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output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kp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error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ki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integral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kd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derivative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max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limit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min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limit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output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))  </a:t>
            </a:r>
            <a:r>
              <a:rPr lang="pl-PL" sz="1050" dirty="0">
                <a:solidFill>
                  <a:srgbClr val="6A9955"/>
                </a:solidFill>
                <a:latin typeface="Consolas" panose="020B0609020204030204" pitchFamily="49" charset="0"/>
              </a:rPr>
              <a:t># </a:t>
            </a:r>
            <a:r>
              <a:rPr lang="pl-PL" sz="1050" dirty="0" smtClean="0">
                <a:solidFill>
                  <a:srgbClr val="6A9955"/>
                </a:solidFill>
                <a:latin typeface="Consolas" panose="020B0609020204030204" pitchFamily="49" charset="0"/>
              </a:rPr>
              <a:t>saturacja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ŚLEDZENIE TRAJEKTORII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Śledzenie trajektorii – regulator nadążny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8229600" cy="2903359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robot ma podążać za zadaną trajektorią (x_ref(t), y_ref(t), yaw_ref(t)) z minimalnym błędem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Błąd boczny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(cross-track error): odległość prostopadła od aktualnej pozycji do trajektorii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Błąd podłużny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(along-track error): opóźnienie lub wyprzedzenie względem parametru t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Metoda Pure Pursuit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cel = punkt na trajektorii w odległości look-ahead L_d od robota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Metoda Stanley Controller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kombinacja błędu bocznego i kąta nagłówka – stosowana w autonomicznych pojazdach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Dla humanoida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oddzielne regulatory dla CoM (translacja) i tułowia (orientacja yaw)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Anti-windup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ograniczenie całkowania w PID, gdy robot jest poza pętlą (np. stoi w miejscu)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AKTUATORY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Ograniczenia aktuatorów i ich wpływ na planowanie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8229600" cy="2687915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 maksymalny τ_max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przekroczenie powoduje przegrzanie silnika lub uszkodzenie przekładni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Prędkość kątowa ω_max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zbyt szybki ruch może wywołać efekt kinetyczny zaburzający stabilność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Saturacja sygnału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gdy komendy WBC przekraczają możliwości, planista musi zwolnić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Przegrzewanie termiczne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ciągła praca przy τ_max skraca żywotność; monitoring temperatury uzwojeń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Pasmo przenoszenia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aktuator serwo działa poprawnie do ~50 Hz; powyżej – opóźnienie fazowe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Wpływ na planowanie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planista globalny może obniżyć prędkość tras o 20% przy dużym obciążeniu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Narzędzia diagnostyczne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logowanie momentów na osi czasu pozwala identyfikować przeciążone stawy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72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Saturacja i monitorowanie sygnału sterującego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3017520"/>
          </a:xfrm>
          <a:prstGeom prst="rect">
            <a:avLst/>
          </a:prstGeom>
          <a:solidFill>
            <a:srgbClr val="071520"/>
          </a:solidFill>
          <a:ln w="12700">
            <a:solidFill>
              <a:srgbClr val="0077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4160520"/>
            <a:ext cx="8595360" cy="777240"/>
          </a:xfrm>
          <a:prstGeom prst="rect">
            <a:avLst/>
          </a:prstGeom>
          <a:solidFill>
            <a:srgbClr val="1A3550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160520"/>
            <a:ext cx="8321040" cy="777240"/>
          </a:xfrm>
          <a:prstGeom prst="rect">
            <a:avLst/>
          </a:prstGeom>
          <a:noFill/>
          <a:ln/>
        </p:spPr>
        <p:txBody>
          <a:bodyPr wrap="square" lIns="0" tIns="127000" rIns="12700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Opis: </a:t>
            </a:r>
            <a:r>
              <a:rPr lang="en-US" sz="12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Funkcja clipuje momenty i generuje ostrzeżenia gdy staw &gt; 85% limitu – sygnał do zwolnienia planisty.</a:t>
            </a:r>
            <a:endParaRPr lang="en-US" sz="1200" dirty="0"/>
          </a:p>
        </p:txBody>
      </p:sp>
      <p:sp>
        <p:nvSpPr>
          <p:cNvPr id="13" name="Shape 5"/>
          <p:cNvSpPr/>
          <p:nvPr/>
        </p:nvSpPr>
        <p:spPr>
          <a:xfrm>
            <a:off x="8090136" y="1106424"/>
            <a:ext cx="146304" cy="146304"/>
          </a:xfrm>
          <a:prstGeom prst="ellipse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14" name="Shape 6"/>
          <p:cNvSpPr/>
          <p:nvPr/>
        </p:nvSpPr>
        <p:spPr>
          <a:xfrm>
            <a:off x="8346168" y="1106424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8602200" y="1106424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310896" y="1094975"/>
            <a:ext cx="8321040" cy="2811026"/>
          </a:xfrm>
          <a:prstGeom prst="rect">
            <a:avLst/>
          </a:prstGeom>
          <a:noFill/>
          <a:ln/>
        </p:spPr>
        <p:txBody>
          <a:bodyPr wrap="square" lIns="108000" tIns="0" rIns="127000" bIns="63500" rtlCol="0" anchor="t">
            <a:spAutoFit/>
          </a:bodyPr>
          <a:lstStyle/>
          <a:p>
            <a:r>
              <a:rPr lang="pl-PL" sz="105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numpy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C586C0"/>
                </a:solidFill>
                <a:latin typeface="Consolas" panose="020B0609020204030204" pitchFamily="49" charset="0"/>
              </a:rPr>
              <a:t>as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05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DCDCAA"/>
                </a:solidFill>
                <a:latin typeface="Consolas" panose="020B0609020204030204" pitchFamily="49" charset="0"/>
              </a:rPr>
              <a:t>saturate_torques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tau_desired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ndarray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     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tau_max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ndarray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     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warn_ratio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0.85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 -&gt;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tuple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"""Nasycenie </a:t>
            </a:r>
            <a:r>
              <a:rPr lang="pl-PL" sz="1050" dirty="0" err="1">
                <a:solidFill>
                  <a:srgbClr val="CE9178"/>
                </a:solidFill>
                <a:latin typeface="Consolas" panose="020B0609020204030204" pitchFamily="49" charset="0"/>
              </a:rPr>
              <a:t>momentow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 stawowych z </a:t>
            </a:r>
            <a:r>
              <a:rPr lang="pl-PL" sz="1050" dirty="0" err="1">
                <a:solidFill>
                  <a:srgbClr val="CE9178"/>
                </a:solidFill>
                <a:latin typeface="Consolas" panose="020B0609020204030204" pitchFamily="49" charset="0"/>
              </a:rPr>
              <a:t>ostrzezeniem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 o </a:t>
            </a:r>
            <a:r>
              <a:rPr lang="pl-PL" sz="1050" dirty="0" err="1">
                <a:solidFill>
                  <a:srgbClr val="CE9178"/>
                </a:solidFill>
                <a:latin typeface="Consolas" panose="020B0609020204030204" pitchFamily="49" charset="0"/>
              </a:rPr>
              <a:t>przeciazeniu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."""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tau_sat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   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DCDCAA"/>
                </a:solidFill>
                <a:latin typeface="Consolas" panose="020B0609020204030204" pitchFamily="49" charset="0"/>
              </a:rPr>
              <a:t>clip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tau_desired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-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tau_max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tau_max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sat_ratio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abs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tau_desired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/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tau_max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+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1e-6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overloaded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DCDCAA"/>
                </a:solidFill>
                <a:latin typeface="Consolas" panose="020B0609020204030204" pitchFamily="49" charset="0"/>
              </a:rPr>
              <a:t>where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sat_ratio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&gt;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warn_ratio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)[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warnings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   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[]</a:t>
            </a: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5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idx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in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overloaded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warnings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DCDCAA"/>
                </a:solidFill>
                <a:latin typeface="Consolas" panose="020B0609020204030204" pitchFamily="49" charset="0"/>
              </a:rPr>
              <a:t>append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>
                <a:solidFill>
                  <a:srgbClr val="569CD6"/>
                </a:solidFill>
                <a:latin typeface="Consolas" panose="020B0609020204030204" pitchFamily="49" charset="0"/>
              </a:rPr>
              <a:t>f</a:t>
            </a:r>
            <a:r>
              <a:rPr lang="pl-PL" sz="1050" dirty="0" err="1">
                <a:solidFill>
                  <a:srgbClr val="CE9178"/>
                </a:solidFill>
                <a:latin typeface="Consolas" panose="020B0609020204030204" pitchFamily="49" charset="0"/>
              </a:rPr>
              <a:t>'Staw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569CD6"/>
                </a:solidFill>
                <a:latin typeface="Consolas" panose="020B0609020204030204" pitchFamily="49" charset="0"/>
              </a:rPr>
              <a:t>{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idx</a:t>
            </a:r>
            <a:r>
              <a:rPr lang="pl-PL" sz="1050" dirty="0">
                <a:solidFill>
                  <a:srgbClr val="569CD6"/>
                </a:solidFill>
                <a:latin typeface="Consolas" panose="020B0609020204030204" pitchFamily="49" charset="0"/>
              </a:rPr>
              <a:t>}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: </a:t>
            </a:r>
            <a:r>
              <a:rPr lang="pl-PL" sz="1050" dirty="0">
                <a:solidFill>
                  <a:srgbClr val="569CD6"/>
                </a:solidFill>
                <a:latin typeface="Consolas" panose="020B0609020204030204" pitchFamily="49" charset="0"/>
              </a:rPr>
              <a:t>{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sat_ratio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idx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*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100</a:t>
            </a:r>
            <a:r>
              <a:rPr lang="pl-PL" sz="1050" dirty="0">
                <a:solidFill>
                  <a:srgbClr val="569CD6"/>
                </a:solidFill>
                <a:latin typeface="Consolas" panose="020B0609020204030204" pitchFamily="49" charset="0"/>
              </a:rPr>
              <a:t>:.1f}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% </a:t>
            </a:r>
            <a:r>
              <a:rPr lang="pl-PL" sz="1050" dirty="0" err="1">
                <a:solidFill>
                  <a:srgbClr val="CE9178"/>
                </a:solidFill>
                <a:latin typeface="Consolas" panose="020B0609020204030204" pitchFamily="49" charset="0"/>
              </a:rPr>
              <a:t>tau_max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5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tau_sat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warnings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tau_ref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DCDCAA"/>
                </a:solidFill>
                <a:latin typeface="Consolas" panose="020B0609020204030204" pitchFamily="49" charset="0"/>
              </a:rPr>
              <a:t>array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([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120.0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85.0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200.0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])  </a:t>
            </a:r>
            <a:r>
              <a:rPr lang="pl-PL" sz="1050" dirty="0">
                <a:solidFill>
                  <a:srgbClr val="6A9955"/>
                </a:solidFill>
                <a:latin typeface="Consolas" panose="020B0609020204030204" pitchFamily="49" charset="0"/>
              </a:rPr>
              <a:t># zadane momenty [</a:t>
            </a:r>
            <a:r>
              <a:rPr lang="pl-PL" sz="1050" dirty="0" err="1">
                <a:solidFill>
                  <a:srgbClr val="6A9955"/>
                </a:solidFill>
                <a:latin typeface="Consolas" panose="020B0609020204030204" pitchFamily="49" charset="0"/>
              </a:rPr>
              <a:t>Nm</a:t>
            </a:r>
            <a:r>
              <a:rPr lang="pl-PL" sz="1050" dirty="0">
                <a:solidFill>
                  <a:srgbClr val="6A9955"/>
                </a:solidFill>
                <a:latin typeface="Consolas" panose="020B0609020204030204" pitchFamily="49" charset="0"/>
              </a:rPr>
              <a:t>]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tau_lim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DCDCAA"/>
                </a:solidFill>
                <a:latin typeface="Consolas" panose="020B0609020204030204" pitchFamily="49" charset="0"/>
              </a:rPr>
              <a:t>array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([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100.0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 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100.0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100.0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])  </a:t>
            </a:r>
            <a:r>
              <a:rPr lang="pl-PL" sz="1050" dirty="0">
                <a:solidFill>
                  <a:srgbClr val="6A9955"/>
                </a:solidFill>
                <a:latin typeface="Consolas" panose="020B0609020204030204" pitchFamily="49" charset="0"/>
              </a:rPr>
              <a:t># limity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tau_out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warns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DCDCAA"/>
                </a:solidFill>
                <a:latin typeface="Consolas" panose="020B0609020204030204" pitchFamily="49" charset="0"/>
              </a:rPr>
              <a:t>saturate_torques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tau_ref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tau_lim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endParaRPr lang="pl-PL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SYMULACJA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Symulacja przed testami na robocie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8229600" cy="352044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Cyfrowy bliźniak (digital twin):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robota z dokładnymi parametrami inercji, tarcia i aktuatorów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 (ROS 2):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popularny w akademii; silniki fizyki: ODE, Bullet, DART; integracja z ROS 2 control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MuJoCo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lider w lokomocji RL; dokładna symulacja kontaktu; używany przez Boston Dynamics, DeepMind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PyBullet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szybki, pythonowy; prostszy w konfiguracji; stosowany w badaniach akademickich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Zasada bezpiecznego przejścia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algorytm działa poprawnie w symulacji → testy na robocie w ograniczonej przestrzeni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Metryki sym2real gap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różnica prędkości kroku, błędu ZMP, zużycia energii między symulacją a robotem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randomization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losowanie tarcia, masy i opóźnień w symulacji wzmacnia odporność kontrolera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72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Pętla sterowania w symulacji </a:t>
            </a:r>
            <a:r>
              <a:rPr lang="en-US" sz="2400" b="1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(PyBullet / abstrakcja)</a:t>
            </a:r>
            <a:endParaRPr lang="en-US" sz="2400" i="1" dirty="0"/>
          </a:p>
        </p:txBody>
      </p:sp>
      <p:sp>
        <p:nvSpPr>
          <p:cNvPr id="6" name="Shape 4"/>
          <p:cNvSpPr/>
          <p:nvPr/>
        </p:nvSpPr>
        <p:spPr>
          <a:xfrm>
            <a:off x="274320" y="1005839"/>
            <a:ext cx="8595360" cy="3372873"/>
          </a:xfrm>
          <a:prstGeom prst="rect">
            <a:avLst/>
          </a:prstGeom>
          <a:solidFill>
            <a:srgbClr val="071520"/>
          </a:solidFill>
          <a:ln w="12700">
            <a:solidFill>
              <a:srgbClr val="0077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4601736"/>
            <a:ext cx="8595360" cy="336023"/>
          </a:xfrm>
          <a:prstGeom prst="rect">
            <a:avLst/>
          </a:prstGeom>
          <a:solidFill>
            <a:srgbClr val="1A3550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" y="4638908"/>
            <a:ext cx="8467344" cy="276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spc="-6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Opis: </a:t>
            </a:r>
            <a:r>
              <a:rPr lang="en-US" sz="1600" spc="-6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Pętla odczyt→plan→kontrola→aktuacja w kroku dt=5 ms (200 Hz); kryterium stopu: odległość &lt; 5 </a:t>
            </a:r>
            <a:r>
              <a:rPr lang="en-US" sz="1600" spc="-6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</a:t>
            </a:r>
            <a:endParaRPr lang="en-US" sz="1600" spc="-60" dirty="0"/>
          </a:p>
        </p:txBody>
      </p:sp>
      <p:sp>
        <p:nvSpPr>
          <p:cNvPr id="13" name="Shape 5"/>
          <p:cNvSpPr/>
          <p:nvPr/>
        </p:nvSpPr>
        <p:spPr>
          <a:xfrm>
            <a:off x="8090136" y="1106424"/>
            <a:ext cx="146304" cy="146304"/>
          </a:xfrm>
          <a:prstGeom prst="ellipse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14" name="Shape 6"/>
          <p:cNvSpPr/>
          <p:nvPr/>
        </p:nvSpPr>
        <p:spPr>
          <a:xfrm>
            <a:off x="8346168" y="1106424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8602200" y="1106424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310896" y="1050371"/>
            <a:ext cx="8321040" cy="3388107"/>
          </a:xfrm>
          <a:prstGeom prst="rect">
            <a:avLst/>
          </a:prstGeom>
          <a:noFill/>
          <a:ln/>
        </p:spPr>
        <p:txBody>
          <a:bodyPr wrap="square" lIns="108000" tIns="0" rIns="127000" bIns="63500" rtlCol="0" anchor="t">
            <a:spAutoFit/>
          </a:bodyPr>
          <a:lstStyle/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numpy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as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SimulationLoop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init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robot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planner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controller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0.005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robot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    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robot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     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interfejs do symulatora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planner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  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planner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   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planista (ścieżka + </a:t>
            </a:r>
            <a:r>
              <a:rPr lang="pl-PL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footstep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)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controller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controller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WBC lub PID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      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run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goal_pos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max_steps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10_000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step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range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max_steps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state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  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robot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.get_state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()     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odczyt stanu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footsteps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planner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.plan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state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goal_pos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tau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    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controller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.compute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state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footsteps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tau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_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  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saturate_torques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tau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robot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.tau_max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robot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.apply_torques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tau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         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# </a:t>
            </a:r>
            <a:r>
              <a:rPr lang="pl-PL" sz="1200" dirty="0" err="1">
                <a:solidFill>
                  <a:srgbClr val="6A9955"/>
                </a:solidFill>
                <a:latin typeface="Consolas" panose="020B0609020204030204" pitchFamily="49" charset="0"/>
              </a:rPr>
              <a:t>wyslij</a:t>
            </a:r>
            <a:r>
              <a:rPr lang="pl-PL" sz="1200" dirty="0">
                <a:solidFill>
                  <a:srgbClr val="6A9955"/>
                </a:solidFill>
                <a:latin typeface="Consolas" panose="020B0609020204030204" pitchFamily="49" charset="0"/>
              </a:rPr>
              <a:t> komendy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robot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.step_simulation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 err="1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linalg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norm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state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200" dirty="0" err="1">
                <a:solidFill>
                  <a:srgbClr val="CE9178"/>
                </a:solidFill>
                <a:latin typeface="Consolas" panose="020B0609020204030204" pitchFamily="49" charset="0"/>
              </a:rPr>
              <a:t>pos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goal_pos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&lt;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0.05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200" dirty="0" err="1" smtClean="0">
                <a:solidFill>
                  <a:srgbClr val="C586C0"/>
                </a:solidFill>
                <a:latin typeface="Consolas" panose="020B0609020204030204" pitchFamily="49" charset="0"/>
              </a:rPr>
              <a:t>break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35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0077A8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2000" dirty="0"/>
          </a:p>
        </p:txBody>
      </p:sp>
      <p:sp>
        <p:nvSpPr>
          <p:cNvPr id="5" name="Shape 3"/>
          <p:cNvSpPr/>
          <p:nvPr/>
        </p:nvSpPr>
        <p:spPr>
          <a:xfrm>
            <a:off x="7132320" y="1371600"/>
            <a:ext cx="1645920" cy="1645920"/>
          </a:xfrm>
          <a:prstGeom prst="ellipse">
            <a:avLst/>
          </a:prstGeom>
          <a:solidFill>
            <a:srgbClr val="0D1B2A"/>
          </a:solidFill>
          <a:ln w="25400">
            <a:solidFill>
              <a:srgbClr val="0077A8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6459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260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7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926080" y="160020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Architektura systemowa,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bezpieczeństwo i walidacja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2926080" y="2697480"/>
            <a:ext cx="3931920" cy="27432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926080" y="28346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2, fail-safe, monitoring jakości i studium przypadku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ROS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Integracja modułów w ROS 2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8229600" cy="352044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Topiki </a:t>
            </a:r>
            <a:r>
              <a:rPr lang="en-US" sz="1400" b="1" i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(topics):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asynchroniczna wymiana danych; sensor_msgs/Imu, nav_msgs/Odometry, geometry_msgs/Twist</a:t>
            </a:r>
            <a:endParaRPr lang="en-US" sz="1400" dirty="0"/>
          </a:p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Serwisy </a:t>
            </a:r>
            <a:r>
              <a:rPr lang="en-US" sz="1400" b="1" i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(services</a:t>
            </a: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):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synchroniczne wywołania; np. /set_goal, /reset_localization, /emergency_stop</a:t>
            </a:r>
            <a:endParaRPr lang="en-US" sz="1400" dirty="0"/>
          </a:p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Akcje </a:t>
            </a:r>
            <a:r>
              <a:rPr lang="en-US" sz="1400" b="1" i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(actions):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długotrwałe zadania z feedbackiem; nav2 NavigateToPose – standard dla nawigacji</a:t>
            </a:r>
            <a:endParaRPr lang="en-US" sz="1400" dirty="0"/>
          </a:p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TF2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drzewo transformacji; każdy node publikuje tf; lookupTransform() z buforowaniem przez ~5 s</a:t>
            </a:r>
            <a:endParaRPr lang="en-US" sz="1400" dirty="0"/>
          </a:p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ros2_control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ustandaryzowany interfejs dla aktuatorów – hardware_interface + controller_manager</a:t>
            </a:r>
            <a:endParaRPr lang="en-US" sz="1400" dirty="0"/>
          </a:p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QoS </a:t>
            </a:r>
            <a:r>
              <a:rPr lang="en-US" sz="1400" b="1" i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(Quality of Service):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dla danych krytycznych (stan robota), BEST_EFFORT dla sensorów</a:t>
            </a:r>
            <a:endParaRPr lang="en-US" sz="1400" dirty="0"/>
          </a:p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Modularność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każdy moduł (SLAM, planner, WBC) jako oddzielny node lub lifecycle node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PIPELINE ROS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Przykładowy pipeline uruchomieniowy (ROS 2)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43000"/>
            <a:ext cx="265176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234440"/>
            <a:ext cx="243230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Sensory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84048" y="1853489"/>
            <a:ext cx="2432304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lidar_driver, imu_driver, depth_camera_node – </a:t>
            </a:r>
            <a:r>
              <a:rPr lang="en-US" sz="11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odczyt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l-PL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br>
              <a:rPr lang="pl-PL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dirty="0" err="1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danych sensorycznych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54680" y="114300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143000"/>
            <a:ext cx="2651760" cy="5486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1234440"/>
            <a:ext cx="243230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Lokalizacja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264408" y="1853489"/>
            <a:ext cx="2432304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slam_toolbox lub Nav2 AMCL – estymacja pozycji w mapie; publikacja /</a:t>
            </a:r>
            <a:r>
              <a:rPr lang="en-US" sz="11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odom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l-PL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br>
              <a:rPr lang="pl-PL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dirty="0" err="1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/map→base tf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14300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143000"/>
            <a:ext cx="2651760" cy="5486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44768" y="1234440"/>
            <a:ext cx="243230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Mapa kosztów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44768" y="1853489"/>
            <a:ext cx="2432304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Nav2 costmap_2d – </a:t>
            </a:r>
            <a:r>
              <a:rPr lang="en-US" sz="11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global_costmap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l-PL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br>
              <a:rPr lang="pl-PL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dirty="0" err="1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local_costmap aktualizowane z LiDAR </a:t>
            </a:r>
            <a:r>
              <a:rPr lang="pl-PL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br>
              <a:rPr lang="pl-PL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dirty="0" err="1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RGB-D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297180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971800"/>
            <a:ext cx="2651760" cy="54864"/>
          </a:xfrm>
          <a:prstGeom prst="rect">
            <a:avLst/>
          </a:prstGeom>
          <a:solidFill>
            <a:srgbClr val="006490"/>
          </a:solidFill>
          <a:ln w="12700">
            <a:solidFill>
              <a:srgbClr val="00649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" y="3063240"/>
            <a:ext cx="243230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Planista globalny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84048" y="3682289"/>
            <a:ext cx="2432304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Nav2 NavFn lub Smac Planner – A* lub Hybrid-A* z cost map; ścieżka do /plan topic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154680" y="297180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54680" y="2971800"/>
            <a:ext cx="2651760" cy="54864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64408" y="3063240"/>
            <a:ext cx="243230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Planista lokalny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264408" y="3682289"/>
            <a:ext cx="2432304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Nav2 DWB Controller – DWA z krytykami trajektorii; komendy do /cmd_vel lub footstep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035040" y="297180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035040" y="2971800"/>
            <a:ext cx="265176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44768" y="3063240"/>
            <a:ext cx="243230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 WBC + wykonanie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144768" y="3682289"/>
            <a:ext cx="2432304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ros2_control + whole_body_controller – śledzenie footstep, moment stawowy, ZMP monitoring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72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Publikacja celu i odbiór stanu w ROS 2 (Python)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3372872"/>
          </a:xfrm>
          <a:prstGeom prst="rect">
            <a:avLst/>
          </a:prstGeom>
          <a:solidFill>
            <a:srgbClr val="071520"/>
          </a:solidFill>
          <a:ln w="12700">
            <a:solidFill>
              <a:srgbClr val="0077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90136" y="1106424"/>
            <a:ext cx="146304" cy="146304"/>
          </a:xfrm>
          <a:prstGeom prst="ellipse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46168" y="1106424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02200" y="1106424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0896" y="1094975"/>
            <a:ext cx="8321040" cy="3167534"/>
          </a:xfrm>
          <a:prstGeom prst="rect">
            <a:avLst/>
          </a:prstGeom>
          <a:noFill/>
          <a:ln/>
        </p:spPr>
        <p:txBody>
          <a:bodyPr wrap="square" lIns="108000" tIns="0" rIns="127000" bIns="63500" rtlCol="0" anchor="t">
            <a:spAutoFit/>
          </a:bodyPr>
          <a:lstStyle/>
          <a:p>
            <a:pPr>
              <a:lnSpc>
                <a:spcPts val="1100"/>
              </a:lnSpc>
            </a:pPr>
            <a:r>
              <a:rPr lang="pl-PL" sz="105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rclpy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050" dirty="0">
                <a:solidFill>
                  <a:srgbClr val="C586C0"/>
                </a:solidFill>
                <a:latin typeface="Consolas" panose="020B0609020204030204" pitchFamily="49" charset="0"/>
              </a:rPr>
              <a:t>from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rclpy.node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Node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050" dirty="0">
                <a:solidFill>
                  <a:srgbClr val="C586C0"/>
                </a:solidFill>
                <a:latin typeface="Consolas" panose="020B0609020204030204" pitchFamily="49" charset="0"/>
              </a:rPr>
              <a:t>from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geometry_msgs.msg </a:t>
            </a:r>
            <a:r>
              <a:rPr lang="pl-PL" sz="105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PoseStamped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050" dirty="0">
                <a:solidFill>
                  <a:srgbClr val="C586C0"/>
                </a:solidFill>
                <a:latin typeface="Consolas" panose="020B0609020204030204" pitchFamily="49" charset="0"/>
              </a:rPr>
              <a:t>from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nav_msgs.msg </a:t>
            </a:r>
            <a:r>
              <a:rPr lang="pl-PL" sz="105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Odometry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050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NavClient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Node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100"/>
              </a:lnSpc>
            </a:pP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5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050" dirty="0" err="1">
                <a:solidFill>
                  <a:srgbClr val="DCDCAA"/>
                </a:solidFill>
                <a:latin typeface="Consolas" panose="020B0609020204030204" pitchFamily="49" charset="0"/>
              </a:rPr>
              <a:t>init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100"/>
              </a:lnSpc>
            </a:pP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>
                <a:solidFill>
                  <a:srgbClr val="4EC9B0"/>
                </a:solidFill>
                <a:latin typeface="Consolas" panose="020B0609020204030204" pitchFamily="49" charset="0"/>
              </a:rPr>
              <a:t>super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().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050" dirty="0" err="1">
                <a:solidFill>
                  <a:srgbClr val="DCDCAA"/>
                </a:solidFill>
                <a:latin typeface="Consolas" panose="020B0609020204030204" pitchFamily="49" charset="0"/>
              </a:rPr>
              <a:t>init</a:t>
            </a:r>
            <a:r>
              <a:rPr lang="pl-PL" sz="1050" dirty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50" dirty="0" err="1">
                <a:solidFill>
                  <a:srgbClr val="CE9178"/>
                </a:solidFill>
                <a:latin typeface="Consolas" panose="020B0609020204030204" pitchFamily="49" charset="0"/>
              </a:rPr>
              <a:t>nav_client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100"/>
              </a:lnSpc>
            </a:pP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goal_pub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.create_publisher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100"/>
              </a:lnSpc>
            </a:pP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PoseStamped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'/</a:t>
            </a:r>
            <a:r>
              <a:rPr lang="pl-PL" sz="1050" dirty="0" err="1">
                <a:solidFill>
                  <a:srgbClr val="CE9178"/>
                </a:solidFill>
                <a:latin typeface="Consolas" panose="020B0609020204030204" pitchFamily="49" charset="0"/>
              </a:rPr>
              <a:t>goal_pose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10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100"/>
              </a:lnSpc>
            </a:pP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odom_sub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.create_subscription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100"/>
              </a:lnSpc>
            </a:pP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Odometry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'/odom'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100"/>
              </a:lnSpc>
            </a:pP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DCDCAA"/>
                </a:solidFill>
                <a:latin typeface="Consolas" panose="020B0609020204030204" pitchFamily="49" charset="0"/>
              </a:rPr>
              <a:t>odom_callback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>
                <a:solidFill>
                  <a:srgbClr val="B5CEA8"/>
                </a:solidFill>
                <a:latin typeface="Consolas" panose="020B0609020204030204" pitchFamily="49" charset="0"/>
              </a:rPr>
              <a:t>10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100"/>
              </a:lnSpc>
            </a:pP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5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DCDCAA"/>
                </a:solidFill>
                <a:latin typeface="Consolas" panose="020B0609020204030204" pitchFamily="49" charset="0"/>
              </a:rPr>
              <a:t>odom_callback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msg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050" dirty="0" err="1">
                <a:solidFill>
                  <a:srgbClr val="4EC9B0"/>
                </a:solidFill>
                <a:latin typeface="Consolas" panose="020B0609020204030204" pitchFamily="49" charset="0"/>
              </a:rPr>
              <a:t>Odometry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100"/>
              </a:lnSpc>
            </a:pP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msg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.pose.pose.position.x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y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msg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.pose.pose.position.y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.get_logger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().info(</a:t>
            </a:r>
            <a:r>
              <a:rPr lang="pl-PL" sz="1050" dirty="0" err="1">
                <a:solidFill>
                  <a:srgbClr val="569CD6"/>
                </a:solidFill>
                <a:latin typeface="Consolas" panose="020B0609020204030204" pitchFamily="49" charset="0"/>
              </a:rPr>
              <a:t>f</a:t>
            </a:r>
            <a:r>
              <a:rPr lang="pl-PL" sz="1050" dirty="0" err="1">
                <a:solidFill>
                  <a:srgbClr val="CE9178"/>
                </a:solidFill>
                <a:latin typeface="Consolas" panose="020B0609020204030204" pitchFamily="49" charset="0"/>
              </a:rPr>
              <a:t>'Pos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: (</a:t>
            </a:r>
            <a:r>
              <a:rPr lang="pl-PL" sz="1050" dirty="0">
                <a:solidFill>
                  <a:srgbClr val="569CD6"/>
                </a:solidFill>
                <a:latin typeface="Consolas" panose="020B0609020204030204" pitchFamily="49" charset="0"/>
              </a:rPr>
              <a:t>{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pl-PL" sz="1050" dirty="0">
                <a:solidFill>
                  <a:srgbClr val="569CD6"/>
                </a:solidFill>
                <a:latin typeface="Consolas" panose="020B0609020204030204" pitchFamily="49" charset="0"/>
              </a:rPr>
              <a:t>:.2f}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>
                <a:solidFill>
                  <a:srgbClr val="569CD6"/>
                </a:solidFill>
                <a:latin typeface="Consolas" panose="020B0609020204030204" pitchFamily="49" charset="0"/>
              </a:rPr>
              <a:t>{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y</a:t>
            </a:r>
            <a:r>
              <a:rPr lang="pl-PL" sz="1050" dirty="0">
                <a:solidFill>
                  <a:srgbClr val="569CD6"/>
                </a:solidFill>
                <a:latin typeface="Consolas" panose="020B0609020204030204" pitchFamily="49" charset="0"/>
              </a:rPr>
              <a:t>:.2f}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)'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100"/>
              </a:lnSpc>
            </a:pP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5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DCDCAA"/>
                </a:solidFill>
                <a:latin typeface="Consolas" panose="020B0609020204030204" pitchFamily="49" charset="0"/>
              </a:rPr>
              <a:t>send_goal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y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100"/>
              </a:lnSpc>
            </a:pP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msg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PoseStamped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100"/>
              </a:lnSpc>
            </a:pP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msg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.header.frame_id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CE9178"/>
                </a:solidFill>
                <a:latin typeface="Consolas" panose="020B0609020204030204" pitchFamily="49" charset="0"/>
              </a:rPr>
              <a:t>'map'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msg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.pose.position.x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;  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msg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.pose.position.y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50" dirty="0">
                <a:solidFill>
                  <a:srgbClr val="9CDCFE"/>
                </a:solidFill>
                <a:latin typeface="Consolas" panose="020B0609020204030204" pitchFamily="49" charset="0"/>
              </a:rPr>
              <a:t>y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goal_pub</a:t>
            </a:r>
            <a:r>
              <a:rPr lang="pl-PL" sz="1050" dirty="0" err="1">
                <a:solidFill>
                  <a:srgbClr val="CCCCCC"/>
                </a:solidFill>
                <a:latin typeface="Consolas" panose="020B0609020204030204" pitchFamily="49" charset="0"/>
              </a:rPr>
              <a:t>.publish</a:t>
            </a:r>
            <a:r>
              <a:rPr lang="pl-PL" sz="105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50" dirty="0" err="1">
                <a:solidFill>
                  <a:srgbClr val="9CDCFE"/>
                </a:solidFill>
                <a:latin typeface="Consolas" panose="020B0609020204030204" pitchFamily="49" charset="0"/>
              </a:rPr>
              <a:t>msg</a:t>
            </a:r>
            <a:r>
              <a:rPr lang="pl-PL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endParaRPr lang="pl-PL" sz="10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74320" y="4542262"/>
            <a:ext cx="8595360" cy="395498"/>
          </a:xfrm>
          <a:prstGeom prst="rect">
            <a:avLst/>
          </a:prstGeom>
          <a:solidFill>
            <a:srgbClr val="1A3550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542262"/>
            <a:ext cx="8485632" cy="395497"/>
          </a:xfrm>
          <a:prstGeom prst="rect">
            <a:avLst/>
          </a:prstGeom>
          <a:noFill/>
          <a:ln/>
        </p:spPr>
        <p:txBody>
          <a:bodyPr wrap="square" lIns="0" tIns="0" rIns="36000" bIns="0" rtlCol="0" anchor="ctr"/>
          <a:lstStyle/>
          <a:p>
            <a:pPr marL="0" indent="0" algn="ctr">
              <a:buNone/>
            </a:pPr>
            <a:r>
              <a:rPr lang="en-US" sz="1600" b="1" spc="-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Opis: </a:t>
            </a:r>
            <a:r>
              <a:rPr lang="en-US" sz="1600" spc="-5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Minimalna integracja ROS 2: subscriber /odom + publisher /goal_pose; Nav2 obsługuje resztę pipeline'u.</a:t>
            </a:r>
            <a:endParaRPr lang="en-US" sz="1600" spc="-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7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FAIL-SAFE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Bezpieczeństwo i mechanizmy fail-safe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60520" cy="374904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709160" y="1097280"/>
            <a:ext cx="4160520" cy="3749040"/>
          </a:xfrm>
          <a:prstGeom prst="rect">
            <a:avLst/>
          </a:prstGeom>
          <a:solidFill>
            <a:srgbClr val="FFF1F5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97280"/>
            <a:ext cx="4160520" cy="41148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1155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Detekcja sytuacji awaryjnych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09160" y="1097280"/>
            <a:ext cx="4160520" cy="41148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1155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Reakcje bezpieczne (fail-safe)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1600200"/>
            <a:ext cx="3794760" cy="3108960"/>
          </a:xfrm>
          <a:prstGeom prst="rect">
            <a:avLst/>
          </a:prstGeom>
          <a:noFill/>
          <a:ln/>
        </p:spPr>
        <p:txBody>
          <a:bodyPr wrap="square" lIns="63500" tIns="101600" rIns="101600" bIns="6350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Detekcja upadku: akcelerometr |a| &gt; 3g lub roll/pitch &gt; 45°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kontaktu obu stóp: F_z_L + F_z_R &lt; 20 N przez &gt;200 ms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Przekroczenie limitu momentu: τ &gt; 1,2 · τ_max przez &gt;50 ms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Utrata sensorów: brak wiadomości IMU przez &gt;50 ms → alarm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Kolizja: siła na strukturze &gt; F_collision_thresh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Błąd lokalizacji: kowariancja P &gt; P_max → stop i relokalizacja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92040" y="1600200"/>
            <a:ext cx="3794760" cy="3108960"/>
          </a:xfrm>
          <a:prstGeom prst="rect">
            <a:avLst/>
          </a:prstGeom>
          <a:noFill/>
          <a:ln/>
        </p:spPr>
        <p:txBody>
          <a:bodyPr wrap="square" lIns="63500" tIns="101600" rIns="101600" bIns="6350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Zatrzymanie awaryjne: momenty → 0 w ciągu 50 ms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Bezpieczna postura: zejście do pozycji kucającej lub siadania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Tryb degradacji: nawigacja tylko na IMU + enkodery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Powiadomienie operatora: alert przez ROS 2 diagnostics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Automatyczny restart po relokalizacji (autorecovery)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e-stop: przycisk fizyczny odcina zasilanie aktuatorów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MONITORING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l-PL" sz="28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r>
              <a:rPr lang="en-US" sz="28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etryki</a:t>
            </a:r>
            <a:r>
              <a:rPr lang="en-US" sz="2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online</a:t>
            </a:r>
            <a:r>
              <a:rPr lang="pl-PL" sz="2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do m</a:t>
            </a:r>
            <a:r>
              <a:rPr lang="en-US" sz="28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onitorowani</a:t>
            </a:r>
            <a:r>
              <a:rPr lang="pl-PL" sz="2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r>
              <a:rPr lang="en-US" sz="2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jakości</a:t>
            </a: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nawigacji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8229600" cy="352044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Błąd lokalizacji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bieżące RMSE pozycji względem trajektorii referencyjnej [m]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Liczba korekt kroku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ile razy planista footstep przeplanował z powodu zmiany otoczenia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Margines ZMP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min(distance(ZMP, edge)) w bieżącym cyklu [cm]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Temperatura aktuatorów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topik /joint_temperatures; próg ostrzegawczy 70°C, krytyczny 85°C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Straty kontaktu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ile razy Fz &lt; próg podczas fazy podparcia – wskaźnik poślizgu lub złej nawierzchni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Near-miss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liczba sytuacji gdy ZMP &lt; 1 cm od krawędzi wieloboku w ostatnich 60 s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Narzędzie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ROS 2 diagnostics + rqt_runtime_monitor; zapis do MCAP/rosbag2 do późniejszej analizy</a:t>
            </a:r>
            <a:endParaRPr lang="en-US" sz="14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WALIDACJA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Walidacja eksperymentalna – scenariusze testowe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43000"/>
            <a:ext cx="265176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234440"/>
            <a:ext cx="243230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Nawigacja prosta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84048" y="1853489"/>
            <a:ext cx="2432304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Przejście A→B 10 m po równej powierzchni; metryka: RMSE pozycji, czas, zużycie energii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54680" y="114300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143000"/>
            <a:ext cx="2651760" cy="5486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1234440"/>
            <a:ext cx="243230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Omijanie przeszkód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264408" y="1853489"/>
            <a:ext cx="2432304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statycznych + 2 dynamiczne przeszkody; metryka: liczba kolizji, liczba replanu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114300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143000"/>
            <a:ext cx="2651760" cy="5486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44768" y="1234440"/>
            <a:ext cx="243230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Schody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44768" y="1853489"/>
            <a:ext cx="2432304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stopnie h=15 cm; metryka: powodzenie, czas, liczba korekt ZMP, szczyt momentów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97180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971800"/>
            <a:ext cx="2651760" cy="54864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" y="3063240"/>
            <a:ext cx="243230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Pchnięcie boczne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84048" y="3682289"/>
            <a:ext cx="2432304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Impuls 20 Ns; metryka: amplituda CP, czas odzyskania równowagi, krok korekcyjny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154680" y="297180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54680" y="2971800"/>
            <a:ext cx="2651760" cy="54864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64408" y="3063240"/>
            <a:ext cx="243230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Drzwi i progi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264408" y="3682289"/>
            <a:ext cx="2432304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Otwieranie klamki, przekroczenie progu 3 cm; metryka: sukces, czas interakcji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35040" y="297180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035040" y="2971800"/>
            <a:ext cx="265176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44768" y="3063240"/>
            <a:ext cx="243230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Długa misja</a:t>
            </a: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144768" y="3682289"/>
            <a:ext cx="2432304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 patrol budynku; metryka: dryft SLAM, zużycie energii, liczba incydentów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BŁĘDY PROJEKTOWE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Najczęstsze błędy projektowe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4273" y="1188720"/>
            <a:ext cx="8393151" cy="352044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Zbyt optymistyczny model dynamiki</a:t>
            </a:r>
            <a:r>
              <a:rPr lang="en-US" sz="14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symulator nie uwzględnia ugięcia struktury ani tarcia statycznego stawów</a:t>
            </a:r>
            <a:endParaRPr lang="en-US" sz="1450" spc="-4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synchronizacji czasowej</a:t>
            </a:r>
            <a:r>
              <a:rPr lang="en-US" sz="14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IMU i kamera nie zsynchronizowane → duchy w mapie i błędne fusje</a:t>
            </a:r>
            <a:endParaRPr lang="en-US" sz="1450" spc="-4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Ignorowanie opóźnień</a:t>
            </a:r>
            <a:r>
              <a:rPr lang="en-US" sz="14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kamera ma 33 ms opóźnienie; bez kompensacji EKF daje błędną pozycję</a:t>
            </a:r>
            <a:endParaRPr lang="en-US" sz="1450" spc="-4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Niestabilność kontaktu</a:t>
            </a:r>
            <a:r>
              <a:rPr lang="en-US" sz="14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zbyt twarde regulatory powodują drgania w fazie kontaktu stopy z podłożem</a:t>
            </a:r>
            <a:endParaRPr lang="en-US" sz="1450" spc="-4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anti-windup w PID</a:t>
            </a:r>
            <a:r>
              <a:rPr lang="en-US" sz="14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przy saturacji moment integrujący rośnie bez ograniczeń → overshooting</a:t>
            </a:r>
            <a:endParaRPr lang="en-US" sz="1450" spc="-4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Monolityczna architektura</a:t>
            </a:r>
            <a:r>
              <a:rPr lang="en-US" sz="14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cały system w jednym procesie – awaria jednego modułu blokuje całość</a:t>
            </a:r>
            <a:endParaRPr lang="en-US" sz="1450" spc="-4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Zbyt rzadkie testy na robocie</a:t>
            </a:r>
            <a:r>
              <a:rPr lang="en-US" sz="14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przeniesienie działającego symulatora na fizyczny robot bez etapów pośrednich</a:t>
            </a:r>
            <a:endParaRPr lang="en-US" sz="1450" spc="-4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STUDIUM PRZYPADKU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Studium przypadku: humanoid w zadaniu usługowym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7992" y="1188720"/>
            <a:ext cx="8374564" cy="352044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60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Scenariusz</a:t>
            </a:r>
            <a:r>
              <a:rPr lang="en-US" sz="16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robot dostarcza dokument z recepcji (parter) do sali konferencyjnej (2. piętro)</a:t>
            </a:r>
            <a:endParaRPr lang="en-US" sz="1600" spc="-40" dirty="0"/>
          </a:p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60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 1 – Inicjalizacja</a:t>
            </a:r>
            <a:r>
              <a:rPr lang="en-US" sz="16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wczytanie mapy budynku, lokalizacja AMCL, plan globalny z windą lub schodami</a:t>
            </a:r>
            <a:endParaRPr lang="en-US" sz="1600" spc="-40" dirty="0"/>
          </a:p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60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 2 – Korytarz parter</a:t>
            </a:r>
            <a:r>
              <a:rPr lang="en-US" sz="16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DWA z detekcją YOLO, 3 osoby omijane, ORCA dla dynamicznych obiektów</a:t>
            </a:r>
            <a:endParaRPr lang="en-US" sz="1600" spc="-40" dirty="0"/>
          </a:p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60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 3 – Windy</a:t>
            </a:r>
            <a:r>
              <a:rPr lang="en-US" sz="16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detekcja drzwi, wciśnięcie guzika (manipulacja), oczekiwanie na otwarcie, wejście</a:t>
            </a:r>
            <a:endParaRPr lang="en-US" sz="1600" spc="-40" dirty="0"/>
          </a:p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60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 4 – Korytarz 2. piętro</a:t>
            </a:r>
            <a:r>
              <a:rPr lang="en-US" sz="16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reinicjalizacja AMCL po wyjściu z windy, dojście do celu</a:t>
            </a:r>
            <a:endParaRPr lang="en-US" sz="1600" spc="-40" dirty="0"/>
          </a:p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60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 5 – Interakcja</a:t>
            </a:r>
            <a:r>
              <a:rPr lang="en-US" sz="16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podanie dokumentu, potwierdzenie odbioru, powrót trasy odwrotnej</a:t>
            </a:r>
            <a:endParaRPr lang="en-US" sz="1600" spc="-40" dirty="0"/>
          </a:p>
          <a:p>
            <a:pPr marL="216000" indent="-216000">
              <a:spcAft>
                <a:spcPts val="1200"/>
              </a:spcAft>
              <a:buSzPct val="100000"/>
              <a:buChar char="•"/>
            </a:pPr>
            <a:r>
              <a:rPr lang="en-US" sz="160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Kluczowe wyzwania</a:t>
            </a:r>
            <a:r>
              <a:rPr lang="en-US" sz="16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zachowanie w windzie (mała przestrzeń), interakcja z człowiekiem, niezawodność 45 min</a:t>
            </a:r>
            <a:endParaRPr lang="en-US" sz="1600" spc="-4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45720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PODSUMOWANIE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0" y="1005840"/>
            <a:ext cx="36576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188720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204704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spc="-5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ZMP i Capture Point to fundamenty równowagi dynamicznej; planista CoM musi przestrzegać ich ograniczeń.</a:t>
            </a:r>
            <a:endParaRPr lang="en-US" sz="1500" spc="-50" dirty="0"/>
          </a:p>
        </p:txBody>
      </p:sp>
      <p:sp>
        <p:nvSpPr>
          <p:cNvPr id="9" name="Shape 7"/>
          <p:cNvSpPr/>
          <p:nvPr/>
        </p:nvSpPr>
        <p:spPr>
          <a:xfrm>
            <a:off x="365760" y="1947672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947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196365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spc="-5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Whole-body control hierarchizuje zadania: stabilność &gt; kontakt stóp &gt; realizacja trajektorii.</a:t>
            </a:r>
            <a:endParaRPr lang="en-US" sz="1500" spc="-50" dirty="0"/>
          </a:p>
        </p:txBody>
      </p:sp>
      <p:sp>
        <p:nvSpPr>
          <p:cNvPr id="12" name="Shape 10"/>
          <p:cNvSpPr/>
          <p:nvPr/>
        </p:nvSpPr>
        <p:spPr>
          <a:xfrm>
            <a:off x="365760" y="2706624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7066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7226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spc="-5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PID, śledzenie trajektorii i saturacja aktuatorów to warunki bezpiecznego wykonania ruchu.</a:t>
            </a:r>
            <a:endParaRPr lang="en-US" sz="1500" spc="-50" dirty="0"/>
          </a:p>
        </p:txBody>
      </p:sp>
      <p:sp>
        <p:nvSpPr>
          <p:cNvPr id="15" name="Shape 13"/>
          <p:cNvSpPr/>
          <p:nvPr/>
        </p:nvSpPr>
        <p:spPr>
          <a:xfrm>
            <a:off x="365760" y="3465576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34655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34815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spc="-5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2 + TF2 integruje wszystkie moduły; synchronizacja i modularność są warunkiem niezawodności.</a:t>
            </a:r>
            <a:endParaRPr lang="en-US" sz="1500" spc="-50" dirty="0"/>
          </a:p>
        </p:txBody>
      </p:sp>
      <p:sp>
        <p:nvSpPr>
          <p:cNvPr id="18" name="Shape 16"/>
          <p:cNvSpPr/>
          <p:nvPr/>
        </p:nvSpPr>
        <p:spPr>
          <a:xfrm>
            <a:off x="365760" y="4224528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4224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424051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spc="-5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Walidacja w symulacji (MuJoCo, Gazebo) poprzedza testy na robocie – cyfrowy bliźniak oszczędza sprzęt.</a:t>
            </a:r>
            <a:endParaRPr lang="en-US" sz="1500" spc="-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22860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PODSUMOWANIE CAŁEGO CYKLU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65836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Wykładów z Nawigacji Robotów Humanoidalnych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6000" y="1097280"/>
            <a:ext cx="4572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1234440"/>
            <a:ext cx="1965960" cy="18288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0040" y="129844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W1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1801368"/>
            <a:ext cx="1691640" cy="274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87452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Percepcja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mapowanie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68880" y="1234440"/>
            <a:ext cx="1965960" cy="182880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468880" y="129844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W2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2606040" y="1801368"/>
            <a:ext cx="1691640" cy="274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8880" y="187452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Lokalizacja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fuzja sensoryczna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17720" y="1234440"/>
            <a:ext cx="1965960" cy="18288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617720" y="129844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W3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4754880" y="1801368"/>
            <a:ext cx="1691640" cy="274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17720" y="187452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Planowanie ruchu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unikanie przeszkód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66560" y="1234440"/>
            <a:ext cx="1965960" cy="18288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766560" y="129844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W4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903720" y="1801368"/>
            <a:ext cx="1691640" cy="274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0" y="187452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Chód, stabilność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integracja systemu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3200400"/>
            <a:ext cx="850392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32918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Pełna pętla nawigacyjna: Sensory → Estymacja stanu → Planowanie → Sterowanie → Aktuatory → Sensory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20040" y="3794760"/>
            <a:ext cx="1572768" cy="96012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794760"/>
            <a:ext cx="15727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Reinforcement learning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dla lokomocji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029968" y="3794760"/>
            <a:ext cx="1572768" cy="96012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29968" y="3794760"/>
            <a:ext cx="15727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Nawigacja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semantyczna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739896" y="3794760"/>
            <a:ext cx="1572768" cy="96012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39896" y="3794760"/>
            <a:ext cx="15727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Social navigation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HRI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49824" y="3794760"/>
            <a:ext cx="1572768" cy="96012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49824" y="3794760"/>
            <a:ext cx="15727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Multimodalna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percepcja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159752" y="3794760"/>
            <a:ext cx="1572768" cy="96012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59752" y="3794760"/>
            <a:ext cx="15727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Adaptacyjny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chód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DALSZE BADANIA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Tematy dalszych badań i kierunki rozwoju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5689" y="1188720"/>
            <a:ext cx="8404301" cy="352044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216000" indent="-2160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16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 dla lokomocji</a:t>
            </a:r>
            <a:r>
              <a:rPr lang="en-US" sz="16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uczenie chodu end-to-end bez modelu (MuJoCo + PPO/SAC)</a:t>
            </a:r>
            <a:endParaRPr lang="en-US" sz="1600" spc="-60" dirty="0"/>
          </a:p>
          <a:p>
            <a:pPr marL="216000" indent="-2160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16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Nawigacja semantyczna</a:t>
            </a:r>
            <a:r>
              <a:rPr lang="en-US" sz="16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600" spc="-8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reprezentacje CLIP/ViLD; robot rozumie polecenia językowe i mapę semantyczną</a:t>
            </a:r>
            <a:endParaRPr lang="en-US" sz="1600" spc="-80" dirty="0"/>
          </a:p>
          <a:p>
            <a:pPr marL="216000" indent="-2160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16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navigation</a:t>
            </a:r>
            <a:r>
              <a:rPr lang="en-US" sz="16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modele ruchu tłumu, normy kulturowe, personalizacja interakcji człowiek–robot</a:t>
            </a:r>
            <a:endParaRPr lang="en-US" sz="1600" spc="-60" dirty="0"/>
          </a:p>
          <a:p>
            <a:pPr marL="216000" indent="-2160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16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Multimodalna percepcja</a:t>
            </a:r>
            <a:r>
              <a:rPr lang="en-US" sz="16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fuzja kamery, LiDAR, taktylna + duże modele wizyjno-językowe (VLM)</a:t>
            </a:r>
            <a:endParaRPr lang="en-US" sz="1600" spc="-60" dirty="0"/>
          </a:p>
          <a:p>
            <a:pPr marL="216000" indent="-2160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16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Adaptacyjny chód</a:t>
            </a:r>
            <a:r>
              <a:rPr lang="en-US" sz="16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zmiana wzorca chodu w zależności od terenu bez ręcznego programowania</a:t>
            </a:r>
            <a:endParaRPr lang="en-US" sz="1600" spc="-60" dirty="0"/>
          </a:p>
          <a:p>
            <a:pPr marL="216000" indent="-2160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16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Whole-body manipulation</a:t>
            </a:r>
            <a:r>
              <a:rPr lang="en-US" sz="16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jednoczesna nawigacja i manipulacja – otwieranie drzwi w ruchu</a:t>
            </a:r>
            <a:endParaRPr lang="en-US" sz="1600" spc="-60" dirty="0"/>
          </a:p>
          <a:p>
            <a:pPr marL="216000" indent="-2160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16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robotics + edge AI</a:t>
            </a:r>
            <a:r>
              <a:rPr lang="en-US" sz="16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ciężkie obliczenia SLAM i planowania na serwerze edge z niskim opóźnieniem</a:t>
            </a:r>
            <a:endParaRPr lang="en-US" sz="1600" spc="-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4282</Words>
  <Application>Microsoft Office PowerPoint</Application>
  <PresentationFormat>Pokaz na ekranie (16:9)</PresentationFormat>
  <Paragraphs>458</Paragraphs>
  <Slides>34</Slides>
  <Notes>34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34</vt:i4>
      </vt:variant>
    </vt:vector>
  </HeadingPairs>
  <TitlesOfParts>
    <vt:vector size="39" baseType="lpstr">
      <vt:lpstr>Arial</vt:lpstr>
      <vt:lpstr>Calibri</vt:lpstr>
      <vt:lpstr>Consolas</vt:lpstr>
      <vt:lpstr>Trebuchet MS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Wykład 4 – Chód, stabilność, kontrola i integracja systemu</dc:title>
  <dc:subject>PptxGenJS Presentation</dc:subject>
  <dc:creator>Politechnika – Katedra Robotyki</dc:creator>
  <cp:lastModifiedBy>Mateusz Pomianek</cp:lastModifiedBy>
  <cp:revision>28</cp:revision>
  <dcterms:created xsi:type="dcterms:W3CDTF">2026-04-13T22:20:23Z</dcterms:created>
  <dcterms:modified xsi:type="dcterms:W3CDTF">2026-04-13T22:39:26Z</dcterms:modified>
</cp:coreProperties>
</file>