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95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14400"/>
            <a:ext cx="2194560" cy="219456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B4D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550" y="1327150"/>
            <a:ext cx="1369060" cy="1369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ROBOTÓW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801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WYKŁAD 4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19659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Chód, stabilność, kontrola
i integracja pełnego systemu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20040" y="3017520"/>
            <a:ext cx="57607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1165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Stabilność i lokomocja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41448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41448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Kontrola wykonania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62856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62856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ROS 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84264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84264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wykładu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Stabilność i lokomocja: ZMP, Capture Point, LIPM, chód statyczny i dynamiczny, zakłócenia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wykonania ruchu: warstwy sterowania, WBC, PID, śledzenie trajektorii, symulacja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ROS 2, bezpieczeństwo, walidacja eksperymentalna, studium przypadku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ZMP, LIPM, PID, saturacja sygnału, pętla symulacji, komunikacja ROS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B4D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B4D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Stabilność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lokomocja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Chód, ZMP, Capture Point, LIPM i reakcja na zakłócenia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Pełny pipeline: od percepcji do postawienia kroku</a:t>
            </a:r>
            <a:endParaRPr lang="en-US" sz="2800" dirty="0"/>
          </a:p>
        </p:txBody>
      </p:sp>
      <p:grpSp>
        <p:nvGrpSpPr>
          <p:cNvPr id="26" name="Grupa 25"/>
          <p:cNvGrpSpPr/>
          <p:nvPr/>
        </p:nvGrpSpPr>
        <p:grpSpPr>
          <a:xfrm>
            <a:off x="274320" y="1097280"/>
            <a:ext cx="8694420" cy="2842260"/>
            <a:chOff x="274320" y="1097280"/>
            <a:chExt cx="8458200" cy="2842260"/>
          </a:xfrm>
        </p:grpSpPr>
        <p:sp>
          <p:nvSpPr>
            <p:cNvPr id="6" name="Shape 4"/>
            <p:cNvSpPr/>
            <p:nvPr/>
          </p:nvSpPr>
          <p:spPr>
            <a:xfrm>
              <a:off x="274320" y="1097280"/>
              <a:ext cx="2011680" cy="2842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987552" y="1234440"/>
              <a:ext cx="585216" cy="585216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987552" y="1234440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2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65760" y="1912620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Percepcja</a:t>
              </a: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65760" y="2423160"/>
              <a:ext cx="1828800" cy="140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IMU, LiDAR, RGB-D, </a:t>
              </a:r>
              <a:r>
                <a:rPr lang="en-US" sz="1600" dirty="0" err="1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enkodery</a:t>
              </a:r>
              <a:r>
                <a:rPr lang="pl-PL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r>
                <a:rPr lang="en-US" sz="16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fuzja </a:t>
              </a:r>
              <a:r>
                <a:rPr lang="en-US" sz="16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sensoryczna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6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br>
                <a:rPr lang="pl-PL" sz="16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600" dirty="0" err="1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6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estymacja stanu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423160" y="1097280"/>
              <a:ext cx="2011680" cy="2842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3136392" y="1234440"/>
              <a:ext cx="585216" cy="585216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136392" y="1234440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514600" y="1912620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Planowanie</a:t>
              </a: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514600" y="2423160"/>
              <a:ext cx="1828800" cy="140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A* + DWA: ścieżka globalna i lokalna przekazana do planisty footstep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72000" y="1097280"/>
              <a:ext cx="2011680" cy="2842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5285232" y="1234440"/>
              <a:ext cx="585216" cy="585216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285232" y="1234440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663440" y="1912620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Generacja kroków</a:t>
              </a:r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663440" y="2423160"/>
              <a:ext cx="1828800" cy="140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Sekwencja stóp, trajektoria </a:t>
              </a:r>
              <a:r>
                <a:rPr lang="en-US" sz="16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6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br>
                <a:rPr lang="pl-PL" sz="16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6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 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modelu LIPM, weryfikacja ZMP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720840" y="1097280"/>
              <a:ext cx="2011680" cy="2842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7434072" y="1234440"/>
              <a:ext cx="585216" cy="585216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434072" y="1234440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2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812280" y="1912620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Wykonanie</a:t>
              </a:r>
              <a:endParaRPr lang="en-US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812280" y="2423160"/>
              <a:ext cx="1828800" cy="140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spc="-2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WBC + PID: komendy momentów do aktuatorów, odczyt stanu i zamknięcie pętli</a:t>
              </a:r>
              <a:endParaRPr lang="en-US" sz="1600" spc="-2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CHÓD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Chód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statyczny</a:t>
            </a:r>
            <a:r>
              <a:rPr lang="pl-PL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chód dynamiczny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25069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2506980"/>
          </a:xfrm>
          <a:prstGeom prst="rect">
            <a:avLst/>
          </a:prstGeom>
          <a:solidFill>
            <a:srgbClr val="FFF1F5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Chód statyczny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Chód dynamiczny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1841974"/>
          </a:xfrm>
          <a:prstGeom prst="rect">
            <a:avLst/>
          </a:prstGeom>
          <a:noFill/>
          <a:ln/>
        </p:spPr>
        <p:txBody>
          <a:bodyPr wrap="square" lIns="63500" tIns="36000" rIns="101600" bIns="0" rtlCol="0" anchor="t">
            <a:spAutoFit/>
          </a:bodyPr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zawsze nad wielobokiem podparcia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Możliwy przy bardzo niskich prędkościach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Margines stabilności statycznej zawsze &gt;0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 implementacja – brak dynamiki LIPM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Zastosowanie: schody, nierówny teren, precyzja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Wada: wolny, nienaturalny, energochłonny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8220" y="1600200"/>
            <a:ext cx="4061460" cy="1841974"/>
          </a:xfrm>
          <a:prstGeom prst="rect">
            <a:avLst/>
          </a:prstGeom>
          <a:noFill/>
          <a:ln/>
        </p:spPr>
        <p:txBody>
          <a:bodyPr wrap="square" lIns="63500" tIns="36000" rIns="36000" bIns="0" rtlCol="0" anchor="t">
            <a:spAutoFit/>
          </a:bodyPr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może chwilowo wyjść za wielobok podparcia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Wymagana kontrola ZMP w czasie rzeczywistym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Naturalny, energooszczędny marsz człowieka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Modele: LIPM, 3D-LIPM, Spring-Mass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Zastosowanie: szybkie przemieszczanie, biuro</a:t>
            </a:r>
            <a:endParaRPr lang="en-US" sz="140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Wada: wymaga pełnego WBC i szybkiego planisty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CoM I WIELOBOK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Środek masy i wielobok podparcia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20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Wielobok podparcia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(support polygon): wypukłe otoczka punktów kontaktu stóp z podłożem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Stabilność statyczna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rzut CoM pionowo w dół musi leżeć wewnątrz wieloboku podparcia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jednostronnego podparcia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wielobok = tylko jeden prostokąt stopy (~20×9 cm)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podwójnego podparcia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wielobok = suma obu stóp + przestrzeń między nimi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Margines stabilności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(stability margin): minimalna odległość rzutu CoM od krawędzi wieloboku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utrzymać margines ≥ d_safe = 2–3 cm przez cały cykl kroku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obliczane w każdym cyklu sterowania (1 kHz) na podstawie stanu stawów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ZMP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efinicja</a:t>
            </a: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znaczenie</a:t>
            </a:r>
            <a:r>
              <a:rPr lang="pl-PL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Moment Point 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8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25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punkt na podłożu, w którym suma momentów sił kontaktu jest zerowa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Warunek stabilności dynamicznej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ZMP musi leżeć wewnątrz wieloboku podparcia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Obliczanie ZMP z trajektorii CoM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(LIPM): ZMP = x_CoM - (z_CoM/g) · ẍ_CoM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Praktyczna interpretacja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ZMP dąży do stopy podporowej podczas przenoszenia ciężaru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Margines ZMP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typowo 2–4 cm od krawędzi; w trudnym terenie 5–8 cm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oparte na ZMP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wyznacz dozwolony ZMP → oblicz trajektorię CoM wstecznie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Biblioteki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Choreonoid, OpenHRP3, DART – wbudowane generatory trajektorii ZMP/CoM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CP I LIPM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Point i Linear Inverted Pendulum Model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263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290060" cy="263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Point (CP)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90060" cy="38404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LIPM – uproszczona dynamika chodu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380" y="1546860"/>
            <a:ext cx="4061460" cy="1885576"/>
          </a:xfrm>
          <a:prstGeom prst="rect">
            <a:avLst/>
          </a:prstGeom>
          <a:noFill/>
          <a:ln/>
        </p:spPr>
        <p:txBody>
          <a:bodyPr wrap="square" lIns="36000" tIns="36000" rIns="0" bIns="0" rtlCol="0" anchor="t">
            <a:spAutoFit/>
          </a:bodyPr>
          <a:lstStyle/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= punkt na podłożu, na który należy postawić stopę, by zatrzymać upadek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= x_CoM + (1/ω₀) · ẋ_CoM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ω₀ = √(g / z_CoM) – częstość LIPM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CP poza zasięgiem kroku → robot upadnie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Zastosowanie: reakcja na pchnięcia, korekty równowagi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Narzędzie: push-recovery reflex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7740" y="1531620"/>
            <a:ext cx="4137660" cy="2085631"/>
          </a:xfrm>
          <a:prstGeom prst="rect">
            <a:avLst/>
          </a:prstGeom>
          <a:noFill/>
          <a:ln/>
        </p:spPr>
        <p:txBody>
          <a:bodyPr wrap="square" lIns="36000" tIns="36000" rIns="0" bIns="0" rtlCol="0" anchor="t">
            <a:spAutoFit/>
          </a:bodyPr>
          <a:lstStyle/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Ciało traktowane jako punkt masowy (CoM) na sztywnym, bezmasowym wahadle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 CoM w 2D: ẍ = ω₀² · (x - z_ZMP)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x(t) = C₁·cosh(ω₀t) + C₂·sinh(ω₀t) + x_ZMP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trajektorii CoM przez optymalizację QP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Podstawa większości komercyjnych humanoida (ASIMO, Atlas, NAO)</a:t>
            </a:r>
            <a:endParaRPr lang="en-US" sz="1300" dirty="0"/>
          </a:p>
          <a:p>
            <a:pPr marL="144000" indent="-1440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Ograniczenie: zakłada stałą wysokość CoM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Obliczanie ZMP z trajektorii CoM (model LIPM)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39"/>
            <a:ext cx="8595360" cy="3320833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4586868"/>
            <a:ext cx="8595360" cy="350892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86868"/>
            <a:ext cx="8321040" cy="35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4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ZMP [m] należy porównać z wielobokiem podparcia i sprawdzić </a:t>
            </a:r>
            <a:r>
              <a:rPr lang="en-US" sz="1600" spc="-4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margines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bezpieczeństwa</a:t>
            </a:r>
            <a:endParaRPr lang="en-US" sz="1600" spc="-40" dirty="0"/>
          </a:p>
        </p:txBody>
      </p:sp>
      <p:sp>
        <p:nvSpPr>
          <p:cNvPr id="13" name="Shape 5"/>
          <p:cNvSpPr/>
          <p:nvPr/>
        </p:nvSpPr>
        <p:spPr>
          <a:xfrm>
            <a:off x="8090136" y="1106424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46168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02200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310896" y="1057805"/>
            <a:ext cx="8321040" cy="3203441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compute_zmp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com_acc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9.81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"""Wyznacza ZMP z przyspieszenia 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CoM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 (model LIPM, 2D: x i y)."""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com_pos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[m],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com_acc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[m/s^2],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[m]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com_acc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com_acc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Przyklad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: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])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CoM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5 cm przed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srodkiem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stopy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0.3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 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])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przyspieszenie [m/s^2]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compute_zmp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0.85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'ZMP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 =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     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np. [0.024, 0.0] </a:t>
            </a:r>
            <a:r>
              <a:rPr lang="pl-PL" sz="12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m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Prosty model LIPM – symulacja ruchu CoM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40072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4601736"/>
            <a:ext cx="8595360" cy="336023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72395"/>
            <a:ext cx="832104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= √(g/h) ≈ 3,4 rad/s dla h=0,85 m; numeryczne całkowanie Euler – wystarczające dla demonstracji.</a:t>
            </a:r>
            <a:endParaRPr lang="en-US" sz="1200" dirty="0"/>
          </a:p>
        </p:txBody>
      </p:sp>
      <p:sp>
        <p:nvSpPr>
          <p:cNvPr id="13" name="Shape 5"/>
          <p:cNvSpPr/>
          <p:nvPr/>
        </p:nvSpPr>
        <p:spPr>
          <a:xfrm>
            <a:off x="8090136" y="1106424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46168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02200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310896" y="1057805"/>
            <a:ext cx="8321040" cy="3388107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4EC9B0"/>
                </a:solidFill>
                <a:latin typeface="Consolas" panose="020B0609020204030204" pitchFamily="49" charset="0"/>
              </a:rPr>
              <a:t>LIPM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0.85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9.81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sqrt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czestotliwosc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LIPM [rad/s]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pozycja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CoM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[m]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predkosc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CoM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[m/s]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step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tuple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"""Jeden krok 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calkowania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rownania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 LIPM: 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x_ddot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 = omega^2*(x-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zmp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)."""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lipm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4EC9B0"/>
                </a:solidFill>
                <a:latin typeface="Consolas" panose="020B0609020204030204" pitchFamily="49" charset="0"/>
              </a:rPr>
              <a:t>LIPM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com_height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0.85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in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arange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0.005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lipm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step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zmp_x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0.02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0.005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ZMP 2 cm przed </a:t>
            </a:r>
            <a:r>
              <a:rPr lang="pl-PL" sz="12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stopa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ZAKŁÓCENIA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Reakcja na zakłócenia zewnętrzne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3860" y="1188720"/>
            <a:ext cx="8229600" cy="2344676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Pchnięcie (push): 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nagła zmiana prędkości CoM → CP wychodzi z dozwolonej strefy → korekta kroku</a:t>
            </a:r>
            <a:endParaRPr lang="en-US" sz="15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ankle strategy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regulacja momentu w stawie skokowym (małe zakłócenia ≤ ~5 N·s)</a:t>
            </a:r>
            <a:endParaRPr lang="en-US" sz="15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hip strategy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ruch tułowia kompensuje przesunięcie CP (średnie zakłócenia)</a:t>
            </a:r>
            <a:endParaRPr lang="en-US" sz="15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stepping strategy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postawienie dodatkowego kroku w kierunku CP (duże zakłócenia)</a:t>
            </a:r>
            <a:endParaRPr lang="en-US" sz="15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Poślizg stopy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detekcja z czujnika F/T – nagły skok siły bocznej → reset estymatora i replan</a:t>
            </a:r>
            <a:endParaRPr lang="en-US" sz="15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Utrata kontaktu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siła normalna F_z &lt; 10 N → przejście do trybu push-recovery</a:t>
            </a:r>
            <a:endParaRPr lang="en-US" sz="15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Opóźniona detekcja przeszkody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aktywacja hamowania awaryjnego i replan lokalny (10 ms)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STABILNOŚĆ A PLANOWANIE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Stabilność</a:t>
            </a:r>
            <a:r>
              <a:rPr lang="pl-PL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decyzje nawigacyjne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55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9560" y="1150620"/>
            <a:ext cx="8542020" cy="2213871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 nadrzędna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decyzja o ruchu jest akceptowana tylko wtedy, gdy predykcja ZMP pozostaje w wieloboku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Sprzężenie</a:t>
            </a: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planista</a:t>
            </a:r>
            <a:r>
              <a:rPr lang="pl-PL" sz="14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kontroler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planista kroków przekazuje cele, kontroler zgłasza aktualny margines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</a:t>
            </a: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chodu</a:t>
            </a:r>
            <a:r>
              <a:rPr lang="pl-PL" sz="14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stabilność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wyższa prędkość = mniejszy czas podwójnego podparcia = wyższe ryzyko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 pochyły lub śliski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kontroler redukuje prędkość i wydłuża fazę podwójnego podparcia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Sygnał margines stabilności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gdy SM &lt; threshold → planista obniża prędkość lub zatrzymuje robota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stabilność &gt; plan ruchu &gt; optymalizacja energii &gt; czas misji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stability monitor działa w pętli 1 kHz i może vetować komendy planisty lokalnego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6366F1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Kontrola wykonania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ruchu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sterowania, WBC, PID, symulacja, aktuatory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WARSTWY STEROWANIA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Warstwy sterowania w humanoidzie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2202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wysoka (High-level)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432304" cy="1472198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>
            <a:spAutoFit/>
          </a:bodyPr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Planista globalny i lokalny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sekwencji kroków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Trajektoria CoM (LIPM / QP)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Częstość: 10–50 Hz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ref. trajektoria CoM, stóp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2202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środkowa (WBC)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32304" cy="1472198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>
            <a:spAutoFit/>
          </a:bodyPr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Controller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całego ciała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Przestrzeganie kontaktów i ZMP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Częstość: 200–500 Hz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ref. kąty stawów lub τ_ref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2202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niska (aktuator)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1627632"/>
            <a:ext cx="2432304" cy="1472198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>
            <a:spAutoFit/>
          </a:bodyPr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PID / impedancji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 momentowe / prędkościowe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Enkodery i czujniki F/T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Częstość: 1000–5000 Hz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napięcie / prąd silnika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PRIORYTETY WBC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Priorytety zadań w sterowaniu (WBC)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0020" y="123444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  Stabilność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31336" y="1234440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 w wieloboku podparcia; Capture Point w zasięgu; stabilność LIPM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1920240"/>
            <a:ext cx="7132320" cy="566928"/>
          </a:xfrm>
          <a:prstGeom prst="rect">
            <a:avLst/>
          </a:prstGeom>
          <a:solidFill>
            <a:srgbClr val="D63284"/>
          </a:solidFill>
          <a:ln w="12700">
            <a:solidFill>
              <a:srgbClr val="D6328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8660" y="1920240"/>
            <a:ext cx="27102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  Kontakt stóp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0091" y="1920240"/>
            <a:ext cx="40654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Siły kontaktu ≥ 0; przyczepność (tarcie); poprawna orientacja stopy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54480" y="2606040"/>
            <a:ext cx="603504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17300" y="2606040"/>
            <a:ext cx="22933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  Realizacja ruchu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8846" y="2606040"/>
            <a:ext cx="34399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Śledzenie trajektorii CoM i stóp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zgodnie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planem footstep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03120" y="3291840"/>
            <a:ext cx="4937760" cy="56692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65940" y="3291840"/>
            <a:ext cx="18763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  Pozycja tułowia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73962" y="3291840"/>
            <a:ext cx="27681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Orientacja tułowia do pionu; </a:t>
            </a:r>
            <a:r>
              <a:rPr lang="pl-PL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pozycja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głowy do percepcji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51760" y="3977640"/>
            <a:ext cx="3840480" cy="56692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14580" y="3977640"/>
            <a:ext cx="1459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  Minimalizacja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70961" y="3977640"/>
            <a:ext cx="2189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Minimalizacja zużycia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energii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momentów stawowych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(regularyzacja)</a:t>
            </a:r>
            <a:endParaRPr lang="en-US" sz="1150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WBC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asada</a:t>
            </a: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działania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Whole-Body Control (WBC</a:t>
            </a: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8140" y="1188720"/>
            <a:ext cx="8229600" cy="2452398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wyznacza optymalny wektor momentów τ dla wszystkich stawów jednocześnie</a:t>
            </a:r>
            <a:endParaRPr lang="en-US" sz="16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Formułowane jako QP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(Quadratic Programming): min ½·τᵀQτ  s.t.  Aτ ≤ b</a:t>
            </a:r>
            <a:endParaRPr lang="en-US" sz="16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równania dynamiki, siły kontaktu, zasięgi stawów, ograniczenia ZMP</a:t>
            </a:r>
            <a:endParaRPr lang="en-US" sz="16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Hierarchia zadań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każde zadanie ma macierz wagową; zadania niższe nie zakłócają wyższych</a:t>
            </a:r>
            <a:endParaRPr lang="en-US" sz="16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Null-space projection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niższe priorytety realizowane w przestrzeni zerowej wyższych</a:t>
            </a:r>
            <a:endParaRPr lang="en-US" sz="16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obliczeń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solver OSQP lub qpOASES wyznacza rozwiązanie w ~1 ms na CPU embedded</a:t>
            </a:r>
            <a:endParaRPr lang="en-US" sz="160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LIPM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trajektoria CoM z modelu LIPM → WBC → momenty stawów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 PID dla kierunku yaw robota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4460488"/>
            <a:ext cx="8595360" cy="477272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12" name="Text 10"/>
          <p:cNvSpPr/>
          <p:nvPr/>
        </p:nvSpPr>
        <p:spPr>
          <a:xfrm>
            <a:off x="411480" y="4574155"/>
            <a:ext cx="832104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</a:t>
            </a:r>
            <a:r>
              <a:rPr lang="en-US" sz="16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2,0; Ki ≈ 0,1;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0,05 –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typowe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wartości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regulacji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kierunku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IMU 200 Hz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090136" y="1106424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46168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02200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310896" y="1094975"/>
            <a:ext cx="8321040" cy="2811026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PIDController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ki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output_limit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kp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ki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ki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kd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limit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output_limit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integral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prev_error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update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setpoint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measured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"""Krok regulatora PID; zwraca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sygnal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sterujacy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[rad/s]."""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setpoint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measured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Normalizacja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bledu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 kata do [-pi, pi]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3.14159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%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3.14159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3.14159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integral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derivative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prev_error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prev_error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error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output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kp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error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ki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integral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kd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derivative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limit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min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limit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output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5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saturacja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ŚLEDZENIE TRAJEKTORII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Śledzenie trajektorii – regulator nadążny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9560" y="1135380"/>
            <a:ext cx="8519160" cy="2467786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ma podążać za zadaną trajektorią </a:t>
            </a:r>
            <a:r>
              <a:rPr lang="en-US" sz="1400" dirty="0">
                <a:solidFill>
                  <a:srgbClr val="0D1B2A"/>
                </a:solidFill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(</a:t>
            </a:r>
            <a:r>
              <a:rPr lang="en-US" sz="14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x</a:t>
            </a:r>
            <a:r>
              <a:rPr lang="en-US" sz="1400" baseline="-250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ref</a:t>
            </a:r>
            <a:r>
              <a:rPr lang="en-US" sz="1400" dirty="0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(t</a:t>
            </a:r>
            <a:r>
              <a:rPr lang="en-US" sz="1400" dirty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), </a:t>
            </a:r>
            <a:r>
              <a:rPr lang="en-US" sz="14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y</a:t>
            </a:r>
            <a:r>
              <a:rPr lang="en-US" sz="1400" baseline="-250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ref</a:t>
            </a:r>
            <a:r>
              <a:rPr lang="en-US" sz="1400" dirty="0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(t</a:t>
            </a:r>
            <a:r>
              <a:rPr lang="en-US" sz="1400" dirty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), </a:t>
            </a:r>
            <a:r>
              <a:rPr lang="en-US" sz="14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yaw</a:t>
            </a:r>
            <a:r>
              <a:rPr lang="en-US" sz="1400" baseline="-250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ref</a:t>
            </a:r>
            <a:r>
              <a:rPr lang="en-US" sz="1400" dirty="0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(t</a:t>
            </a:r>
            <a:r>
              <a:rPr lang="en-US" sz="1400" dirty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)</a:t>
            </a:r>
            <a:r>
              <a:rPr lang="en-US" sz="1400" dirty="0">
                <a:solidFill>
                  <a:srgbClr val="0D1B2A"/>
                </a:solidFill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)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minimalnym błędem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boczny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(cross-track error): odległość prostopadła od aktualnej pozycji do trajektorii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podłużny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(along-track error): opóźnienie lub wyprzedzenie względem parametru </a:t>
            </a:r>
            <a:r>
              <a:rPr lang="en-US" sz="1400" dirty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t</a:t>
            </a:r>
            <a:endParaRPr lang="en-US" sz="1400" dirty="0">
              <a:latin typeface="JetBrains Mono NL ExtraBold" panose="02000009000000000000" pitchFamily="49" charset="0"/>
              <a:ea typeface="JetBrains Mono NL ExtraBold" panose="02000009000000000000" pitchFamily="49" charset="0"/>
              <a:cs typeface="JetBrains Mono NL ExtraBold" panose="02000009000000000000" pitchFamily="49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Pure Pursuit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cel = punkt na trajektorii w odległości look-ahead </a:t>
            </a:r>
            <a:r>
              <a:rPr lang="en-US" sz="14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L</a:t>
            </a:r>
            <a:r>
              <a:rPr lang="en-US" sz="1400" baseline="-250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d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robota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Stanley Controller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kombinacja błędu bocznego i </a:t>
            </a:r>
            <a:r>
              <a:rPr lang="en-US" sz="140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kąta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nagłówka</a:t>
            </a:r>
            <a:r>
              <a:rPr lang="pl-PL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stosowana w autonomicznych pojazdach</a:t>
            </a:r>
            <a:endParaRPr lang="en-US" sz="1400" spc="-2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humanoida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oddzielne regulatory dla CoM (translacja) i tułowia (orientacja yaw)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Anti-windup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ograniczenie całkowania w PID, gdy robot jest poza pętlą (np. stoi w miejscu)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AKTUATORY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aktuatorów i ich wpływ na planowanie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1960" y="1143000"/>
            <a:ext cx="8229600" cy="2467786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</a:t>
            </a:r>
            <a:r>
              <a:rPr lang="en-US" sz="14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maksymalny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τ</a:t>
            </a:r>
            <a:r>
              <a:rPr lang="en-US" sz="1400" b="1" baseline="-250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max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przekroczenie powoduje przegrzanie silnika lub uszkodzenie przekładni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</a:t>
            </a:r>
            <a:r>
              <a:rPr lang="en-US" sz="14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kątowa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spc="1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ω</a:t>
            </a:r>
            <a:r>
              <a:rPr lang="en-US" sz="1400" b="1" spc="100" baseline="-250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ma</a:t>
            </a:r>
            <a:r>
              <a:rPr lang="en-US" sz="1400" b="1" spc="100" baseline="-250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zbyt szybki ruch może wywołać efekt kinetyczny zaburzający stabilność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Saturacja sygnału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gdy komendy WBC przekraczają możliwości, planista musi zwolnić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Przegrzewanie termiczne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ciągła praca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τ</a:t>
            </a:r>
            <a:r>
              <a:rPr lang="en-US" sz="1400" spc="100" baseline="-25000" dirty="0" err="1" smtClean="0">
                <a:solidFill>
                  <a:srgbClr val="0D1B2A"/>
                </a:solidFill>
                <a:latin typeface="JetBrains Mono NL ExtraBold" panose="02000009000000000000" pitchFamily="49" charset="0"/>
                <a:ea typeface="JetBrains Mono NL ExtraBold" panose="02000009000000000000" pitchFamily="49" charset="0"/>
                <a:cs typeface="JetBrains Mono NL ExtraBold" panose="02000009000000000000" pitchFamily="49" charset="0"/>
              </a:rPr>
              <a:t>ma</a:t>
            </a:r>
            <a:r>
              <a:rPr lang="en-US" sz="1400" spc="100" baseline="-250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skraca żywotność; monitoring temperatury uzwojeń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Pasmo przenoszenia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aktuator serwo działa poprawnie do ~50 Hz; powyżej – opóźnienie fazowe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Wpływ na planowanie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planista globalny może obniżyć prędkość tras o 20% przy dużym obciążeniu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 diagnostyczne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logowanie momentów na osi czasu pozwala identyfikować przeciążone stawy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Saturacja i monitorowanie sygnału sterującego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clipuje momenty i generuje ostrzeżenia gdy staw &gt; 85% limitu – sygnał do zwolnienia planisty.</a:t>
            </a:r>
            <a:endParaRPr lang="en-US" sz="1200" dirty="0"/>
          </a:p>
        </p:txBody>
      </p:sp>
      <p:sp>
        <p:nvSpPr>
          <p:cNvPr id="13" name="Shape 5"/>
          <p:cNvSpPr/>
          <p:nvPr/>
        </p:nvSpPr>
        <p:spPr>
          <a:xfrm>
            <a:off x="8090136" y="1106424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46168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02200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310896" y="1094975"/>
            <a:ext cx="8321040" cy="2811026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saturate_torques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tau_desired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warn_ratio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0.85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tuple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"""Nasycenie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momentow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stawowych z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ostrzezeniem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o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przeciazeniu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tau_sat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clip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tau_desired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sat_ratio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abs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tau_desired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overloaded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where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sat_ratio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&gt;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warn_ratio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warnings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idx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in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overloaded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warnings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'Staw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idx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sat_ratio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idx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:.1f}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%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tau_max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tau_sat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warnings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tau_ref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120.0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85.0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200.0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zadane momenty [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Nm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]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tau_lim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100.0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 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100.0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100.0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limity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tau_out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warns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saturate_torques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tau_ref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tau_lim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l-PL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SYMULACJA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Symulacja przed testami na robocie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68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5280" y="1165860"/>
            <a:ext cx="8404860" cy="2467786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Cyfrowy bliźniak (digital twin):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robota z dokładnymi parametrami inercji, tarcia i aktuatorów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(ROS 2):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popularny w akademii; silniki fizyki: ODE, Bullet, DART; integracja z ROS 2 control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lider w lokomocji RL; dokładna symulacja kontaktu; używany przez Boston Dynamics, DeepMind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PyBullet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szybki, pythonowy; prostszy w konfiguracji; stosowany w badaniach akademickich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bezpiecznego przejścia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algorytm działa poprawnie w symulacji → testy na robocie w ograniczonej przestrzeni</a:t>
            </a:r>
            <a:endParaRPr lang="en-US" sz="14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sym2real gap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różnica prędkości kroku, błędu ZMP, zużycia energii między symulacją a robotem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randomization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losowanie tarcia, masy i opóźnień w symulacji wzmacnia odporność kontrolera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Pętla sterowania w symulacji </a:t>
            </a:r>
            <a:r>
              <a:rPr lang="en-US" sz="2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(PyBullet / abstrakcja)</a:t>
            </a:r>
            <a:endParaRPr lang="en-US" sz="2400" i="1" dirty="0"/>
          </a:p>
        </p:txBody>
      </p:sp>
      <p:sp>
        <p:nvSpPr>
          <p:cNvPr id="6" name="Shape 4"/>
          <p:cNvSpPr/>
          <p:nvPr/>
        </p:nvSpPr>
        <p:spPr>
          <a:xfrm>
            <a:off x="274320" y="1005839"/>
            <a:ext cx="8595360" cy="3372873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4601736"/>
            <a:ext cx="8595360" cy="336023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4638908"/>
            <a:ext cx="8467344" cy="27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odczyt→plan→kontrola→aktuacja w kroku dt=5 ms (200 Hz); kryterium stopu: odległość &lt; 5 </a:t>
            </a:r>
            <a:r>
              <a:rPr lang="en-US" sz="1600" spc="-6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600" spc="-60" dirty="0"/>
          </a:p>
        </p:txBody>
      </p:sp>
      <p:sp>
        <p:nvSpPr>
          <p:cNvPr id="13" name="Shape 5"/>
          <p:cNvSpPr/>
          <p:nvPr/>
        </p:nvSpPr>
        <p:spPr>
          <a:xfrm>
            <a:off x="8090136" y="1106424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46168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02200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310896" y="1050371"/>
            <a:ext cx="8321040" cy="3388107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SimulationLoop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planner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controller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0.005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  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interfejs do symulatora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planner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planner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planista (ścieżka +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footstep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controller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controller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WBC lub PID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run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max_steps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10_000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step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max_steps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.get_state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()     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odczyt stanu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planner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.plan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  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controller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.compute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saturate_torques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.tau_max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.apply_torques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         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200" dirty="0" err="1">
                <a:solidFill>
                  <a:srgbClr val="6A9955"/>
                </a:solidFill>
                <a:latin typeface="Consolas" panose="020B0609020204030204" pitchFamily="49" charset="0"/>
              </a:rPr>
              <a:t>wyslij</a:t>
            </a:r>
            <a:r>
              <a:rPr lang="pl-PL" sz="1200" dirty="0">
                <a:solidFill>
                  <a:srgbClr val="6A9955"/>
                </a:solidFill>
                <a:latin typeface="Consolas" panose="020B0609020204030204" pitchFamily="49" charset="0"/>
              </a:rPr>
              <a:t> komendy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.step_simulation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linalg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norm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pos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&lt;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0.05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 smtClean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77A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13380" y="1619250"/>
            <a:ext cx="4109720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systemowa,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bezpieczeństwo i walidacja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4090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2, fail-safe, monitoring jakości i studium przypadku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ROS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modułów w ROS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Topiki </a:t>
            </a: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(topics):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asynchroniczna wymiana danych; sensor_msgs/Imu, nav_msgs/Odometry, geometry_msgs/Twist</a:t>
            </a:r>
            <a:endParaRPr lang="en-US" sz="140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Serwisy </a:t>
            </a: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(services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synchroniczne wywołania; np. /set_goal, /reset_localization, /emergency_stop</a:t>
            </a:r>
            <a:endParaRPr lang="en-US" sz="140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Akcje </a:t>
            </a: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(actions):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długotrwałe zadania z feedbackiem; nav2 NavigateToPose – standard dla nawigacji</a:t>
            </a:r>
            <a:endParaRPr lang="en-US" sz="140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TF2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drzewo transformacji; każdy node publikuje tf; lookupTransform() z buforowaniem przez ~5 s</a:t>
            </a:r>
            <a:endParaRPr lang="en-US" sz="140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ros2_control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ustandaryzowany interfejs dla aktuatorów – hardware_interface + controller_manager</a:t>
            </a:r>
            <a:endParaRPr lang="en-US" sz="140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</a:t>
            </a: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 of Service):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dla danych krytycznych (stan robota), BEST_EFFORT dla sensorów</a:t>
            </a:r>
            <a:endParaRPr lang="en-US" sz="140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Modularność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każdy moduł (SLAM, planner, WBC) jako oddzielny node lub lifecycle node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PIPELINE ROS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Przykładowy pipeline uruchomieniowy (ROS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363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Sensory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777289"/>
            <a:ext cx="2432304" cy="653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lidar_driver, imu_driver, depth_camera_node –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danych sensorycznych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363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Lokalizacja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64408" y="1777289"/>
            <a:ext cx="2432304" cy="653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slam_toolbox lub Nav2 AMCL – estymacja pozycji w mapie; publikacja /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/map→base tf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363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Mapa kosztów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4768" y="1777289"/>
            <a:ext cx="2432304" cy="653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costmap_2d –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global_costmap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local_costmap aktualizowane z LiDAR 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05100"/>
            <a:ext cx="2651760" cy="1363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05100"/>
            <a:ext cx="2651760" cy="54864"/>
          </a:xfrm>
          <a:prstGeom prst="rect">
            <a:avLst/>
          </a:prstGeom>
          <a:solidFill>
            <a:srgbClr val="006490"/>
          </a:solidFill>
          <a:ln w="12700">
            <a:solidFill>
              <a:srgbClr val="006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965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Planista globalny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4048" y="3339389"/>
            <a:ext cx="2432304" cy="653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NavFn lub Smac Planner – A* lub Hybrid-A* z cost map; ścieżka do /plan topic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705100"/>
            <a:ext cx="2651760" cy="1363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705100"/>
            <a:ext cx="265176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27965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Planista lokalny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64408" y="3339389"/>
            <a:ext cx="2432304" cy="653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DWB Controller – DWA z krytykami trajektorii; komendy do /cmd_vel lub footstep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705100"/>
            <a:ext cx="2651760" cy="1363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7051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7965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WBC + wykonanie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44768" y="3339389"/>
            <a:ext cx="2432304" cy="653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ros2_control + whole_body_controller – śledzenie footstep, moment stawowy, ZMP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Publikacja celu i odbiór stanu w ROS 2 (Python)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72872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90136" y="1106424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46168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2200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94975"/>
            <a:ext cx="8321040" cy="3167534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rclpy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rclpy.node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Node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geometry_msgs.msg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PoseStamped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nav_msgs.msg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Odometry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NavClient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4EC9B0"/>
                </a:solidFill>
                <a:latin typeface="Consolas" panose="020B0609020204030204" pitchFamily="49" charset="0"/>
              </a:rPr>
              <a:t>super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nav_client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goal_pub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.create_publisher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PoseStamped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'/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goal_pose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odom_sub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.create_subscription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Odometry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'/odom'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odom_callback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odom_callback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Odometry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.pose.pose.position.x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.pose.pose.position.y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.get_logger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().info(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'Pos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 (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)'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send_goal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PoseStamped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.header.frame_id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'map'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.pose.position.x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;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.pose.position.y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goal_pub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.publish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pl-PL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42262"/>
            <a:ext cx="8595360" cy="395498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542262"/>
            <a:ext cx="8485632" cy="395497"/>
          </a:xfrm>
          <a:prstGeom prst="rect">
            <a:avLst/>
          </a:prstGeom>
          <a:noFill/>
          <a:ln/>
        </p:spPr>
        <p:txBody>
          <a:bodyPr wrap="square" lIns="0" tIns="0" rIns="36000" bIns="0" rtlCol="0" anchor="ctr"/>
          <a:lstStyle/>
          <a:p>
            <a:pPr marL="0" indent="0" algn="ctr">
              <a:buNone/>
            </a:pPr>
            <a:r>
              <a:rPr lang="en-US" sz="1600" b="1" spc="-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Minimalna integracja ROS 2: subscriber /odom + publisher /goal_pose; Nav2 obsługuje resztę pipeline'u.</a:t>
            </a:r>
            <a:endParaRPr lang="en-US" sz="1600" spc="-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FAIL-SAFE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Bezpieczeństwo i mechanizmy fail-safe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25831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2583180"/>
          </a:xfrm>
          <a:prstGeom prst="rect">
            <a:avLst/>
          </a:prstGeom>
          <a:solidFill>
            <a:srgbClr val="FFF1F5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Detekcja sytuacji awaryjnych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Reakcje bezpieczne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(fail-safe)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5280" y="1600200"/>
            <a:ext cx="4030980" cy="1703475"/>
          </a:xfrm>
          <a:prstGeom prst="rect">
            <a:avLst/>
          </a:prstGeom>
          <a:noFill/>
          <a:ln/>
        </p:spPr>
        <p:txBody>
          <a:bodyPr wrap="square" lIns="63500" tIns="36000" rIns="10160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upadku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akcelerometr |a| &gt; 3g lub roll/pitch &gt; 45°</a:t>
            </a:r>
            <a:endParaRPr lang="en-US" sz="12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kontaktu obu stóp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F_z_L + F_z_R &lt; 20 N przez &gt;200 ms</a:t>
            </a:r>
            <a:endParaRPr lang="en-US" sz="12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Przekroczenie</a:t>
            </a:r>
            <a:r>
              <a:rPr lang="en-US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limitu</a:t>
            </a:r>
            <a:r>
              <a:rPr lang="en-US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</a:t>
            </a:r>
            <a:r>
              <a:rPr lang="en-US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&gt; 1,2 · </a:t>
            </a:r>
            <a:r>
              <a:rPr lang="en-US" sz="12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1250" spc="-40" baseline="-250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 &gt;50 ms</a:t>
            </a:r>
            <a:endParaRPr lang="en-US" sz="12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Utrata sensorów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brak wiadomości IMU przez &gt;50 ms → alarm</a:t>
            </a:r>
            <a:endParaRPr lang="en-US" sz="12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Kolizja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siła na strukturze &gt; F_collision_thresh</a:t>
            </a:r>
            <a:endParaRPr lang="en-US" sz="12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lokalizacji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kowariancja P &gt; </a:t>
            </a:r>
            <a:r>
              <a:rPr lang="en-US" sz="12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50" spc="-40" baseline="-250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 i relokalizacja</a:t>
            </a:r>
            <a:endParaRPr lang="en-US" sz="1250" spc="-40" dirty="0"/>
          </a:p>
        </p:txBody>
      </p:sp>
      <p:sp>
        <p:nvSpPr>
          <p:cNvPr id="13" name="Text 11"/>
          <p:cNvSpPr/>
          <p:nvPr/>
        </p:nvSpPr>
        <p:spPr>
          <a:xfrm>
            <a:off x="4770120" y="1600200"/>
            <a:ext cx="4099560" cy="1895835"/>
          </a:xfrm>
          <a:prstGeom prst="rect">
            <a:avLst/>
          </a:prstGeom>
          <a:noFill/>
          <a:ln/>
        </p:spPr>
        <p:txBody>
          <a:bodyPr wrap="square" lIns="63500" tIns="36000" rIns="10160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Zatrzymanie awaryjne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momenty → 0 w ciągu 50 ms</a:t>
            </a:r>
            <a:endParaRPr lang="en-US" sz="12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Bezpieczna postura</a:t>
            </a:r>
            <a:r>
              <a:rPr lang="en-US" sz="12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zejście do pozycji kucającej lub siadania</a:t>
            </a:r>
            <a:endParaRPr lang="en-US" sz="12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degradacji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nawigacja tylko na IMU + enkodery</a:t>
            </a:r>
            <a:endParaRPr lang="en-US" sz="12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Powiadomienie operatora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alert przez ROS 2 diagnostics</a:t>
            </a:r>
            <a:endParaRPr lang="en-US" sz="12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restart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relokalizacji (autorecovery)</a:t>
            </a:r>
            <a:endParaRPr lang="en-US" sz="12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e-stop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przycisk fizyczny odcina zasilanie aktuatorów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MONITORING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etryki</a:t>
            </a: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online</a:t>
            </a:r>
            <a:r>
              <a:rPr lang="pl-PL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do m</a:t>
            </a: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onitorowani</a:t>
            </a:r>
            <a:r>
              <a:rPr lang="pl-PL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jakości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583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290815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lokalizacji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bieżące RMSE pozycji względem trajektorii referencyjnej [m]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korekt kroku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ile razy planista footstep przeplanował z powodu zmiany otoczenia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Margines ZMP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min(distance(ZMP, edge)) w bieżącym cyklu [cm]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aktuatorów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topik /joint_temperatures; próg ostrzegawczy 70°C, krytyczny 85°C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Straty kontaktu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ile razy Fz &lt; próg podczas fazy podparcia – wskaźnik poślizgu lub złej nawierzchni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liczba sytuacji gdy ZMP &lt; 1 cm od krawędzi wieloboku w ostatnich 60 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ROS 2 diagnostics + rqt_runtime_monitor; zapis do MCAP/rosbag2 do późniejszej analizy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WALIDACJA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Walidacja eksperymentalna – scenariusze testowe</a:t>
            </a:r>
            <a:endParaRPr lang="en-US" sz="2800" dirty="0"/>
          </a:p>
        </p:txBody>
      </p:sp>
      <p:grpSp>
        <p:nvGrpSpPr>
          <p:cNvPr id="30" name="Grupa 29"/>
          <p:cNvGrpSpPr/>
          <p:nvPr/>
        </p:nvGrpSpPr>
        <p:grpSpPr>
          <a:xfrm>
            <a:off x="274320" y="1143000"/>
            <a:ext cx="8709660" cy="2720340"/>
            <a:chOff x="274320" y="1143000"/>
            <a:chExt cx="8412480" cy="3520440"/>
          </a:xfrm>
        </p:grpSpPr>
        <p:sp>
          <p:nvSpPr>
            <p:cNvPr id="6" name="Shape 4"/>
            <p:cNvSpPr/>
            <p:nvPr/>
          </p:nvSpPr>
          <p:spPr>
            <a:xfrm>
              <a:off x="274320" y="1143000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74320" y="1143000"/>
              <a:ext cx="2651760" cy="54864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84048" y="1234440"/>
              <a:ext cx="2432304" cy="642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Nawigacja prosta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84048" y="1853489"/>
              <a:ext cx="2432304" cy="930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Przejście A→B 10 m po równej powierzchni; metryka: RMSE pozycji, czas, zużycie energii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154680" y="1143000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3154680" y="1143000"/>
              <a:ext cx="2651760" cy="54864"/>
            </a:xfrm>
            <a:prstGeom prst="rect">
              <a:avLst/>
            </a:prstGeom>
            <a:solidFill>
              <a:srgbClr val="0077A8"/>
            </a:solidFill>
            <a:ln w="12700">
              <a:solidFill>
                <a:srgbClr val="0077A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64408" y="1234440"/>
              <a:ext cx="2432304" cy="642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Omijanie przeszkód</a:t>
              </a:r>
              <a:endParaRPr 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264408" y="1853489"/>
              <a:ext cx="2432304" cy="930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statycznych + 2 dynamiczne przeszkody; metryka: liczba kolizji, liczba replanu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035040" y="1143000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6035040" y="1143000"/>
              <a:ext cx="2651760" cy="54864"/>
            </a:xfrm>
            <a:prstGeom prst="rect">
              <a:avLst/>
            </a:prstGeom>
            <a:solidFill>
              <a:srgbClr val="0077A8"/>
            </a:solidFill>
            <a:ln w="12700">
              <a:solidFill>
                <a:srgbClr val="0077A8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144768" y="1234440"/>
              <a:ext cx="2432304" cy="642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Schody</a:t>
              </a: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144768" y="1853489"/>
              <a:ext cx="2432304" cy="930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stopnie h=15 cm; metryka: powodzenie, czas, liczba korekt ZMP, szczyt momentów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2971800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274320" y="2971800"/>
              <a:ext cx="2651760" cy="54864"/>
            </a:xfrm>
            <a:prstGeom prst="rect">
              <a:avLst/>
            </a:prstGeom>
            <a:solidFill>
              <a:srgbClr val="F72585"/>
            </a:solidFill>
            <a:ln w="12700">
              <a:solidFill>
                <a:srgbClr val="F7258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84048" y="3063240"/>
              <a:ext cx="2432304" cy="642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Pchnięcie boczne</a:t>
              </a:r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84048" y="3682289"/>
              <a:ext cx="2432304" cy="930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Impuls 20 Ns; metryka: amplituda CP, czas odzyskania równowagi, krok korekcyjny</a:t>
              </a:r>
              <a:endParaRPr lang="en-US" sz="12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154680" y="2971800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3154680" y="2971800"/>
              <a:ext cx="2651760" cy="54864"/>
            </a:xfrm>
            <a:prstGeom prst="rect">
              <a:avLst/>
            </a:prstGeom>
            <a:solidFill>
              <a:srgbClr val="1A3550"/>
            </a:solidFill>
            <a:ln w="12700">
              <a:solidFill>
                <a:srgbClr val="1A355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3264408" y="3063240"/>
              <a:ext cx="2432304" cy="642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Drzwi i progi</a:t>
              </a:r>
              <a:endParaRPr lang="en-US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264408" y="3682289"/>
              <a:ext cx="2432304" cy="930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Otwieranie klamki, przekroczenie progu 3 cm; metryka: sukces, czas interakcji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035040" y="2971800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6035040" y="2971800"/>
              <a:ext cx="2651760" cy="54864"/>
            </a:xfrm>
            <a:prstGeom prst="rect">
              <a:avLst/>
            </a:prstGeom>
            <a:solidFill>
              <a:srgbClr val="6366F1"/>
            </a:solidFill>
            <a:ln w="12700">
              <a:solidFill>
                <a:srgbClr val="6366F1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144768" y="3063240"/>
              <a:ext cx="2432304" cy="642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Długa misja</a:t>
              </a:r>
              <a:endParaRPr lang="en-US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144768" y="3682289"/>
              <a:ext cx="2432304" cy="930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45 min patrol budynku; metryka: dryft SLAM, zużycie energii, liczba incydentów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BŁĘDY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Najczęstsze błędy projektowe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4273" y="1188720"/>
            <a:ext cx="8393151" cy="2521647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Zbyt optymistyczny model dynamiki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symulator nie uwzględnia ugięcia struktury ani tarcia statycznego stawów</a:t>
            </a:r>
            <a:endParaRPr lang="en-US" sz="1450" spc="-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synchronizacji czasowej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IMU i kamera nie zsynchronizowane → duchy w mapie i błędne fusje</a:t>
            </a:r>
            <a:endParaRPr lang="en-US" sz="1450" spc="-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Ignorowanie opóźnień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kamera ma 33 ms opóźnienie; bez kompensacji EKF daje błędną pozycję</a:t>
            </a:r>
            <a:endParaRPr lang="en-US" sz="1450" spc="-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Niestabilność kontaktu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zbyt twarde regulatory powodują drgania w fazie kontaktu stopy z podłożem</a:t>
            </a:r>
            <a:endParaRPr lang="en-US" sz="1450" spc="-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anti-windup w PID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przy saturacji moment integrujący rośnie bez ograniczeń → overshooting</a:t>
            </a:r>
            <a:endParaRPr lang="en-US" sz="1450" spc="-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Monolityczna architektura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cały system w jednym procesie – awaria jednego modułu blokuje całość</a:t>
            </a:r>
            <a:endParaRPr lang="en-US" sz="1450" spc="-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Zbyt rzadkie testy na robocie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przeniesienie działającego symulatora na fizyczny robot bez etapów pośrednich</a:t>
            </a:r>
            <a:endParaRPr lang="en-US" sz="1450" spc="-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STUDIUM PRZYPADKU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Studium przypadku: humanoid w zadaniu usługowym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9032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5132" y="1150620"/>
            <a:ext cx="8455968" cy="2683230"/>
          </a:xfrm>
          <a:prstGeom prst="rect">
            <a:avLst/>
          </a:prstGeom>
          <a:noFill/>
          <a:ln/>
        </p:spPr>
        <p:txBody>
          <a:bodyPr wrap="square" lIns="36000" tIns="36000" rIns="36000" bIns="0" rtlCol="0" anchor="t">
            <a:spAutoFit/>
          </a:bodyPr>
          <a:lstStyle/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dostarcza dokument z recepcji (parter) do sali konferencyjnej (2. piętro)</a:t>
            </a:r>
            <a:endParaRPr lang="en-US" sz="1600" spc="-4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1 – Inicjalizacja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wczytanie mapy budynku, lokalizacja AMCL, plan globalny z windą lub schodami</a:t>
            </a:r>
            <a:endParaRPr lang="en-US" sz="1600" spc="-4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2 – Korytarz parter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DWA z detekcją YOLO, 3 osoby omijane, ORCA dla dynamicznych obiektów</a:t>
            </a:r>
            <a:endParaRPr lang="en-US" sz="1600" spc="-4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3 – Windy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detekcja drzwi, wciśnięcie guzika (manipulacja), oczekiwanie na otwarcie, wejście</a:t>
            </a:r>
            <a:endParaRPr lang="en-US" sz="1600" spc="-4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4 – Korytarz 2. piętro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reinicjalizacja AMCL po wyjściu z windy, dojście do celu</a:t>
            </a:r>
            <a:endParaRPr lang="en-US" sz="1600" spc="-4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5 – Interakcja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podanie dokumentu, potwierdzenie odbioru, powrót trasy odwrotnej</a:t>
            </a:r>
            <a:endParaRPr lang="en-US" sz="1600" spc="-40" dirty="0"/>
          </a:p>
          <a:p>
            <a:pPr marL="216000" indent="-216000">
              <a:spcAft>
                <a:spcPts val="1200"/>
              </a:spcAft>
              <a:buSzPct val="100000"/>
              <a:buChar char="•"/>
            </a:pPr>
            <a:r>
              <a:rPr lang="en-US" sz="1600" b="1" spc="-7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wyzwania</a:t>
            </a:r>
            <a:r>
              <a:rPr lang="en-US" sz="1600" spc="-7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zachowanie w windzie (mała przestrzeń), interakcja z człowiekiem, niezawodność 45 min</a:t>
            </a:r>
            <a:endParaRPr lang="en-US" sz="1600" spc="-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860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0" y="93472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0470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 i Capture Point to fundamenty równowagi dynamicznej; planista CoM musi przestrzegać </a:t>
            </a:r>
            <a:r>
              <a:rPr lang="en-US" sz="1500" spc="-5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</a:t>
            </a:r>
            <a:r>
              <a:rPr lang="en-US" sz="15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spc="-5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ograniczeń</a:t>
            </a:r>
            <a:endParaRPr lang="en-US" sz="1500" spc="-5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6365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control hierarchizuje zadania: stabilność &gt; kontakt stóp &gt; </a:t>
            </a:r>
            <a:r>
              <a:rPr lang="en-US" sz="1600" spc="-5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realizacja</a:t>
            </a: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5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trajektorii</a:t>
            </a:r>
            <a:endParaRPr lang="en-US" sz="1600" spc="-5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226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śledzenie trajektorii i saturacja aktuatorów to warunki bezpiecznego </a:t>
            </a:r>
            <a:r>
              <a:rPr lang="en-US" sz="1600" spc="-5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wykonania</a:t>
            </a: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5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ruchu</a:t>
            </a:r>
            <a:endParaRPr lang="en-US" sz="1600" spc="-50" dirty="0"/>
          </a:p>
        </p:txBody>
      </p:sp>
      <p:sp>
        <p:nvSpPr>
          <p:cNvPr id="15" name="Shape 13"/>
          <p:cNvSpPr/>
          <p:nvPr/>
        </p:nvSpPr>
        <p:spPr>
          <a:xfrm>
            <a:off x="365760" y="346557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481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+ TF2 integruje wszystkie moduły; synchronizacja i modularność są </a:t>
            </a:r>
            <a:r>
              <a:rPr lang="en-US" sz="1600" spc="-5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warunkiem</a:t>
            </a: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5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niezawodności</a:t>
            </a:r>
            <a:endParaRPr lang="en-US" sz="1600" spc="-5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40512"/>
            <a:ext cx="7947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w symulacji (MuJoCo, Gazebo) poprzedza testy </a:t>
            </a:r>
            <a:r>
              <a:rPr lang="en-US" sz="1600" spc="-5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5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robocie</a:t>
            </a:r>
            <a:r>
              <a:rPr lang="pl-PL" sz="1600" spc="-5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</a:t>
            </a:r>
            <a:r>
              <a:rPr lang="en-US" sz="1600" spc="-5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yfrowy</a:t>
            </a:r>
            <a:r>
              <a:rPr lang="en-US" sz="1600" spc="-5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bliźniak </a:t>
            </a:r>
            <a:r>
              <a:rPr lang="en-US" sz="1600" spc="-5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oszczędza</a:t>
            </a:r>
            <a:r>
              <a:rPr lang="en-US" sz="1600" spc="-5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5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sprzęt</a:t>
            </a:r>
            <a:endParaRPr lang="en-US" sz="1600" spc="-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 CAŁEGO CYKLU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Nawigacji</a:t>
            </a:r>
            <a:r>
              <a:rPr lang="pl-PL" sz="1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1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Robotów Humanoidalnych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196596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Percepcja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mapowanie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1965960" cy="1828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606040" y="180136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874520"/>
            <a:ext cx="18140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fuzja sensoryczna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196596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54880" y="180136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8745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ruchu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unikanie przeszkód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965960" cy="1828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903720" y="180136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8745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Chód, stabilność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integracja systemu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0040" y="3200400"/>
            <a:ext cx="85039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91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pętla nawigacyjna: Sensory → Estymacja stanu → Planowanie → Sterowanie → Aktuatory → Sensory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794760"/>
            <a:ext cx="1572768" cy="96012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9476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 lokomocji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29968" y="3794760"/>
            <a:ext cx="1572768" cy="96012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379476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semantyczna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739896" y="3794760"/>
            <a:ext cx="1572768" cy="96012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9896" y="379476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navigation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HRI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49824" y="3794760"/>
            <a:ext cx="1572768" cy="96012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9824" y="379476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Multimodalna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percepcja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59752" y="3794760"/>
            <a:ext cx="1572768" cy="96012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9752" y="379476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Adaptacyjny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chód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DALSZE BADANIA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Tematy dalszych badań i kierunki rozwoju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98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5689" y="1188720"/>
            <a:ext cx="8404301" cy="2755933"/>
          </a:xfrm>
          <a:prstGeom prst="rect">
            <a:avLst/>
          </a:prstGeom>
          <a:noFill/>
          <a:ln/>
        </p:spPr>
        <p:txBody>
          <a:bodyPr wrap="square" lIns="127000" tIns="36000" rIns="127000" bIns="0" rtlCol="0" anchor="t">
            <a:spAutoFit/>
          </a:bodyPr>
          <a:lstStyle/>
          <a:p>
            <a:pPr marL="216000" indent="-2160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dla lokomocji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uczenie chodu end-to-end bez modelu (MuJoCo + PPO/SAC)</a:t>
            </a:r>
            <a:endParaRPr lang="en-US" sz="1600" spc="-60" dirty="0"/>
          </a:p>
          <a:p>
            <a:pPr marL="216000" indent="-2160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semantyczna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reprezentacje CLIP/ViLD; robot rozumie polecenia językowe i mapę semantyczną</a:t>
            </a:r>
            <a:endParaRPr lang="en-US" sz="1600" spc="-80" dirty="0"/>
          </a:p>
          <a:p>
            <a:pPr marL="216000" indent="-2160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navigation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modele ruchu tłumu, normy kulturowe, personalizacja interakcji człowiek–robot</a:t>
            </a:r>
            <a:endParaRPr lang="en-US" sz="1600" spc="-60" dirty="0"/>
          </a:p>
          <a:p>
            <a:pPr marL="216000" indent="-2160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Multimodalna percepcja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fuzja kamery, LiDAR, taktylna + duże modele wizyjno-językowe (VLM)</a:t>
            </a:r>
            <a:endParaRPr lang="en-US" sz="1600" spc="-60" dirty="0"/>
          </a:p>
          <a:p>
            <a:pPr marL="216000" indent="-2160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Adaptacyjny chód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zmiana wzorca chodu w zależności od terenu bez ręcznego programowania</a:t>
            </a:r>
            <a:endParaRPr lang="en-US" sz="1600" spc="-60" dirty="0"/>
          </a:p>
          <a:p>
            <a:pPr marL="216000" indent="-2160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manipulation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jednoczesna nawigacja i manipulacja – otwieranie drzwi w ruchu</a:t>
            </a:r>
            <a:endParaRPr lang="en-US" sz="1600" spc="-60" dirty="0"/>
          </a:p>
          <a:p>
            <a:pPr marL="216000" indent="-2160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robotics + edge AI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ciężkie obliczenia SLAM i planowania na serwerze edge z niskim opóźnieniem</a:t>
            </a:r>
            <a:endParaRPr lang="en-US" sz="1600" spc="-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4282</Words>
  <Application>Microsoft Office PowerPoint</Application>
  <PresentationFormat>Pokaz na ekranie (16:9)</PresentationFormat>
  <Paragraphs>458</Paragraphs>
  <Slides>34</Slides>
  <Notes>34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34</vt:i4>
      </vt:variant>
    </vt:vector>
  </HeadingPairs>
  <TitlesOfParts>
    <vt:vector size="40" baseType="lpstr">
      <vt:lpstr>Arial</vt:lpstr>
      <vt:lpstr>Calibri</vt:lpstr>
      <vt:lpstr>Consolas</vt:lpstr>
      <vt:lpstr>JetBrains Mono NL ExtraBold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Wykład 4 – Chód, stabilność, kontrola i integracja systemu</dc:title>
  <dc:subject>PptxGenJS Presentation</dc:subject>
  <dc:creator>Politechnika – Katedra Robotyki</dc:creator>
  <cp:lastModifiedBy>Mateusz Pomianek</cp:lastModifiedBy>
  <cp:revision>51</cp:revision>
  <dcterms:created xsi:type="dcterms:W3CDTF">2026-04-13T22:20:23Z</dcterms:created>
  <dcterms:modified xsi:type="dcterms:W3CDTF">2026-04-23T20:10:33Z</dcterms:modified>
</cp:coreProperties>
</file>