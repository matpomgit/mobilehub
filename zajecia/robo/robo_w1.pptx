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1B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64" autoAdjust="0"/>
    <p:restoredTop sz="82864" autoAdjust="0"/>
  </p:normalViewPr>
  <p:slideViewPr>
    <p:cSldViewPr snapToGrid="0" snapToObjects="1">
      <p:cViewPr varScale="1">
        <p:scale>
          <a:sx n="125" d="100"/>
          <a:sy n="125" d="100"/>
        </p:scale>
        <p:origin x="140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865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Dzień dobry Państwu. Rozpoczynamy pierwszy wykład z nawigacji robotów humanoidalnych. Dzisiaj zbudujemy fundament pod cały dalszy kurs, bo połączymy percepcję, mapowanie, sensory oraz architekturę systemu w jeden spójny obraz działania robota humanoidalnego.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Plan dzisiejszego spotkania jest prosty. Najpierw omówimy sam problem nawigacji </a:t>
            </a:r>
            <a:r>
              <a:rPr lang="pl-PL" dirty="0" err="1" smtClean="0"/>
              <a:t>humanoida</a:t>
            </a:r>
            <a:r>
              <a:rPr lang="pl-PL" dirty="0" smtClean="0"/>
              <a:t>, główne moduły systemu, układy odniesienia oraz miary jakości. Następnie przejdziemy do sensorów i percepcji, czyli IMU, </a:t>
            </a:r>
            <a:r>
              <a:rPr lang="pl-PL" dirty="0" err="1" smtClean="0"/>
              <a:t>LiDAR</a:t>
            </a:r>
            <a:r>
              <a:rPr lang="pl-PL" dirty="0" smtClean="0"/>
              <a:t>-u, kamer, filtracji i synchronizacji danych. W trzeciej części zajmiemy się reprezentacją środowiska: mapami zajętości, </a:t>
            </a:r>
            <a:r>
              <a:rPr lang="pl-PL" dirty="0" err="1" smtClean="0"/>
              <a:t>cost</a:t>
            </a:r>
            <a:r>
              <a:rPr lang="pl-PL" dirty="0" smtClean="0"/>
              <a:t> mapami oraz mapowaniem lokalnym i globalnym. Po drodze będziemy też analizować krótkie przykłady w </a:t>
            </a:r>
            <a:r>
              <a:rPr lang="pl-PL" dirty="0" err="1" smtClean="0"/>
              <a:t>Pythonie</a:t>
            </a:r>
            <a:r>
              <a:rPr lang="pl-PL" dirty="0" smtClean="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Zaczynamy od samego problemu nawigacji </a:t>
            </a:r>
            <a:r>
              <a:rPr lang="pl-PL" dirty="0" err="1" smtClean="0"/>
              <a:t>humanoida</a:t>
            </a:r>
            <a:r>
              <a:rPr lang="pl-PL" dirty="0" smtClean="0"/>
              <a:t>. Interesuje nas tutaj nie tylko ruch z punktu A do punktu B, ale również definicja zadania, architektura całego systemu i sposób oceny jakości nawigacji dwunożnej.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Proszę zwrócić uwagę, że </a:t>
            </a:r>
            <a:r>
              <a:rPr lang="pl-PL" dirty="0" err="1" smtClean="0"/>
              <a:t>humanoid</a:t>
            </a:r>
            <a:r>
              <a:rPr lang="pl-PL" dirty="0" smtClean="0"/>
              <a:t> nawigacyjnie bardzo różni się od platformy kołowej. Robot kołowy ma stabilną bazę, prostą kinematykę i zwykle porusza się po płaskiej posadzce, więc wiele klasycznych metod działa tam bardzo dobrze. Humanoid natomiast funkcjonuje w warunkach dynamicznej równowagi, ma złożoną kinematykę, ryzyko utraty stabilności przy każdym kroku i musi radzić sobie ze schodami, progami, nierównościami oraz drzwiami. Dlatego w jego przypadku sama trajektoria nie wystarcza — trzeba planować także kroki i trajektorię środka masy.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Typowy system nawigacji </a:t>
            </a:r>
            <a:r>
              <a:rPr lang="pl-PL" dirty="0" err="1" smtClean="0"/>
              <a:t>humanoida</a:t>
            </a:r>
            <a:r>
              <a:rPr lang="pl-PL" dirty="0" smtClean="0"/>
              <a:t> składa się z sześciu głównych modułów. Najpierw mamy percepcję, która zbiera dane z IMU, </a:t>
            </a:r>
            <a:r>
              <a:rPr lang="pl-PL" dirty="0" err="1" smtClean="0"/>
              <a:t>enkoderów</a:t>
            </a:r>
            <a:r>
              <a:rPr lang="pl-PL" dirty="0" smtClean="0"/>
              <a:t>, kamer, </a:t>
            </a:r>
            <a:r>
              <a:rPr lang="pl-PL" dirty="0" err="1" smtClean="0"/>
              <a:t>LiDAR</a:t>
            </a:r>
            <a:r>
              <a:rPr lang="pl-PL" dirty="0" smtClean="0"/>
              <a:t>-u i czujników sił. Potem lokalizacja, czyli estymacja stanu, fuzja sensoryczna i często SLAM. Dalej mapowanie, na przykład </a:t>
            </a:r>
            <a:r>
              <a:rPr lang="pl-PL" dirty="0" err="1" smtClean="0"/>
              <a:t>occupancy</a:t>
            </a:r>
            <a:r>
              <a:rPr lang="pl-PL" dirty="0" smtClean="0"/>
              <a:t> </a:t>
            </a:r>
            <a:r>
              <a:rPr lang="pl-PL" dirty="0" err="1" smtClean="0"/>
              <a:t>grid</a:t>
            </a:r>
            <a:r>
              <a:rPr lang="pl-PL" dirty="0" smtClean="0"/>
              <a:t>, </a:t>
            </a:r>
            <a:r>
              <a:rPr lang="pl-PL" dirty="0" err="1" smtClean="0"/>
              <a:t>height</a:t>
            </a:r>
            <a:r>
              <a:rPr lang="pl-PL" dirty="0" smtClean="0"/>
              <a:t> map albo mapa semantyczna. Na tej podstawie działa planowanie globalne, później planowanie lokalne, a na końcu sterowanie chodem, które zamienia decyzje planistyczne na rzeczywiste kroki, trajektorie </a:t>
            </a:r>
            <a:r>
              <a:rPr lang="pl-PL" dirty="0" err="1" smtClean="0"/>
              <a:t>CoM</a:t>
            </a:r>
            <a:r>
              <a:rPr lang="pl-PL" dirty="0" smtClean="0"/>
              <a:t> i komendy całego ciała.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Przepływ informacji w takim systemie jest sekwencyjny, ale zamknięty pętlą sprzężenia zwrotnego. Sensory dostarczają surowe dane do percepcji, percepcja przekazuje przefiltrowane obserwacje do estymacji stanu, a estymator podaje aktualną pozycję i mapę do planisty globalnego. Następnie planista globalny wyznacza ścieżkę, planista lokalny dopasowuje ją do bieżącej sytuacji, generator kroków tworzy sekwencję ustawień stóp, kontroler chodu zamienia to na trajektorie i momenty, a </a:t>
            </a:r>
            <a:r>
              <a:rPr lang="pl-PL" dirty="0" err="1" smtClean="0"/>
              <a:t>aktuatory</a:t>
            </a:r>
            <a:r>
              <a:rPr lang="pl-PL" dirty="0" smtClean="0"/>
              <a:t> wykonują ruch. Potem sensory znowu mierzą efekt tej akcji i pętla się zamyka.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 nawigacji musimy bardzo precyzyjnie rozróżniać układy współrzędnych. Ramka </a:t>
            </a:r>
            <a:r>
              <a:rPr lang="pl-PL" dirty="0" err="1" smtClean="0"/>
              <a:t>world</a:t>
            </a:r>
            <a:r>
              <a:rPr lang="pl-PL" dirty="0" smtClean="0"/>
              <a:t> jest inercjalna i stała w przestrzeni. Ramka map opisuje mapę globalną. Ramka odom jest ciągła, ale z czasem akumuluje dryft. Ramka </a:t>
            </a:r>
            <a:r>
              <a:rPr lang="pl-PL" dirty="0" err="1" smtClean="0"/>
              <a:t>base</a:t>
            </a:r>
            <a:r>
              <a:rPr lang="pl-PL" dirty="0" smtClean="0"/>
              <a:t> jest związana z miednicą albo środkiem ciężkości robota. Do tego dochodzą ramki stóp, kamery i </a:t>
            </a:r>
            <a:r>
              <a:rPr lang="pl-PL" dirty="0" err="1" smtClean="0"/>
              <a:t>LiDAR</a:t>
            </a:r>
            <a:r>
              <a:rPr lang="pl-PL" dirty="0" smtClean="0"/>
              <a:t>-u. Całość musi być spięta spójnym drzewem transformacji TF, bo bez tego nawet bardzo dobre algorytmy zaczną produkować błędne wyniki.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Warto odróżnić nawigację bazową od ruchu całego ciała. W nawigacji bazowej interesuje nas przede wszystkim trajektoria środka masy, pozycja miednicy, orientacja tułowia, globalny kierunek ruchu i prędkość przemieszczania. Natomiast ruch kończyn obejmuje sekwencję ustawień stóp, trajektorie rąk oraz ruchy kompensacyjne tułowia niezbędne do utrzymania równowagi. Innymi słowy: planista myśli o tym, dokąd robot ma iść, a kontroler całego ciała myśli o tym, jak dokładnie ma to wykonać.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Jakość nawigacji mierzymy wieloma wskaźnikami jednocześnie. Interesuje nas dokładność lokalizacji, czyli na przykład RMSE pozycji i błąd orientacji. Interesuje nas czas dotarcia do celu, zużycie energii, liczba korekt kroku, liczba kolizji oraz zapas stabilności, wyrażony choćby przez marginesy ZMP i </a:t>
            </a:r>
            <a:r>
              <a:rPr lang="pl-PL" dirty="0" err="1" smtClean="0"/>
              <a:t>Capture</a:t>
            </a:r>
            <a:r>
              <a:rPr lang="pl-PL" dirty="0" smtClean="0"/>
              <a:t> Point. Dobra nawigacja </a:t>
            </a:r>
            <a:r>
              <a:rPr lang="pl-PL" dirty="0" err="1" smtClean="0"/>
              <a:t>humanoida</a:t>
            </a:r>
            <a:r>
              <a:rPr lang="pl-PL" dirty="0" smtClean="0"/>
              <a:t> nie jest tylko szybka — ona musi być jednocześnie dokładna, bezpieczna i stabilna.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Humanoid pracuje w środowiskach znacznie trudniejszych niż klasyczny robot mobilny. W korytarzach biurowych ma wąskie przejścia i ludzi jako przeszkody dynamiczne. Na schodach i rampach musi uwzględniać wysokość terenu. Przy drzwiach i progach potrzebuje precyzji ruchu oraz często manipulacji. Na nierównym podłożu dochodzi problem kontaktu stopy z gruntem. W otoczeniu ludzkim pojawia się kwestia bezpieczeństwa i przewidywania ruchu człowieka, a w środowiskach dynamicznych mapa może się zmieniać praktycznie cały czas.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Rozważmy prosty przypadek: robot ma przejść od wejścia do sali konferencyjnej w trzypiętrowym biurze. Najpierw musi ustalić pozycję startową i zainicjalizować SLAM. Potem planuje globalną trasę z uwzględnieniem schodów albo windy. Następnie porusza się korytarzem, omijając ludzi i inne przeszkody dynamiczne. Gdy napotyka drzwi, musi wykryć klamkę, próg i zaplanować kroki. Na końcu weryfikuje osiągnięcie celu względem mapy semantycznej. Ten przykład pokazuje, że w praktyce nie ma jednego problemu nawigacji — jest cały łańcuch problemów połączonych w jeden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Ten fragment kodu pokazuje szkic architektury oprogramowania. Mamy menedżera sensorów, który przechowuje dane z IMU, </a:t>
            </a:r>
            <a:r>
              <a:rPr lang="pl-PL" dirty="0" err="1" smtClean="0"/>
              <a:t>LiDAR</a:t>
            </a:r>
            <a:r>
              <a:rPr lang="pl-PL" dirty="0" smtClean="0"/>
              <a:t>-u i kamery głębi. Mamy estymator stanu, który z tych danych buduje przybliżenie pozycji, orientacji i kontaktu stóp. Mamy planistę, który generuje listę kroków prowadzących do celu, oraz kontroler chodu, który zamienia kroki na komendy stawowe. To oczywiście minimalny szkielet, ale dobrze oddaje podstawowy podział odpowiedzialności w systemie.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teraz do drugiej części, czyli do sensorów i percepcji. Będziemy mówić o charakterystyce sensorów, </a:t>
            </a:r>
            <a:r>
              <a:rPr lang="pl-PL" dirty="0" err="1" smtClean="0"/>
              <a:t>propriocepcji</a:t>
            </a:r>
            <a:r>
              <a:rPr lang="pl-PL" dirty="0" smtClean="0"/>
              <a:t>, percepcji wizyjnej, </a:t>
            </a:r>
            <a:r>
              <a:rPr lang="pl-PL" dirty="0" err="1" smtClean="0"/>
              <a:t>LiDAR</a:t>
            </a:r>
            <a:r>
              <a:rPr lang="pl-PL" dirty="0" smtClean="0"/>
              <a:t>-ze oraz o filtracji danych.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Humanoid korzysta z kilku klas sensorów jednocześnie. IMU daje orientację i prędkość kątową przy bardzo dużej częstotliwości. </a:t>
            </a:r>
            <a:r>
              <a:rPr lang="pl-PL" dirty="0" err="1" smtClean="0"/>
              <a:t>Enkodery</a:t>
            </a:r>
            <a:r>
              <a:rPr lang="pl-PL" dirty="0" smtClean="0"/>
              <a:t> dostarczają kąty i prędkości stawów. Kamera RGB umożliwia detekcję obiektów i rozpoznawanie sceny. Kamera RGB-D dodaje do obrazu głębię, co jest bardzo użyteczne przy nawigacji w pomieszczeniach. </a:t>
            </a:r>
            <a:r>
              <a:rPr lang="pl-PL" dirty="0" err="1" smtClean="0"/>
              <a:t>LiDAR</a:t>
            </a:r>
            <a:r>
              <a:rPr lang="pl-PL" dirty="0" smtClean="0"/>
              <a:t> daje precyzyjną geometrię otoczenia, a czujniki sił w stopach pozwalają wykrywać kontakt i fazę chodu. Każdy z tych sensorów widzi inny fragment rzeczywistości, dlatego pojedynczy sensor prawie nigdy nie wystarcza.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Przy doborze sensorów patrzymy na kilka parametrów. Po pierwsze zasięg, bo kamera głębi pracuje na krótkich dystansach, a </a:t>
            </a:r>
            <a:r>
              <a:rPr lang="pl-PL" dirty="0" err="1" smtClean="0"/>
              <a:t>LiDAR</a:t>
            </a:r>
            <a:r>
              <a:rPr lang="pl-PL" dirty="0" smtClean="0"/>
              <a:t> może sięgać dziesiątek metrów. Po drugie częstotliwość, bo IMU pracuje dużo szybciej niż kamera czy </a:t>
            </a:r>
            <a:r>
              <a:rPr lang="pl-PL" dirty="0" err="1" smtClean="0"/>
              <a:t>LiDAR</a:t>
            </a:r>
            <a:r>
              <a:rPr lang="pl-PL" dirty="0" smtClean="0"/>
              <a:t>. Po trzecie szum i dryft, które są krytyczne dla estymacji. Dalej mamy latencję, koszt obliczeniowy, odporność na warunki środowiskowe i wreszcie kalibrację </a:t>
            </a:r>
            <a:r>
              <a:rPr lang="pl-PL" dirty="0" err="1" smtClean="0"/>
              <a:t>extrinsic</a:t>
            </a:r>
            <a:r>
              <a:rPr lang="pl-PL" dirty="0" smtClean="0"/>
              <a:t>, czyli dokładne położenie każdego sensora względem bazy robota. Sam zakup sensora nie rozwiązuje problemu — równie ważna jest jego poprawna integracja.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err="1" smtClean="0"/>
              <a:t>Propriocepcja</a:t>
            </a:r>
            <a:r>
              <a:rPr lang="pl-PL" dirty="0" smtClean="0"/>
              <a:t> to ta część percepcji, która mówi robotowi o nim samym. Żyroskop mierzy prędkość kątową, akcelerometr dostarcza informacji o grawitacji i przyspieszeniach, a </a:t>
            </a:r>
            <a:r>
              <a:rPr lang="pl-PL" dirty="0" err="1" smtClean="0"/>
              <a:t>enkodery</a:t>
            </a:r>
            <a:r>
              <a:rPr lang="pl-PL" dirty="0" smtClean="0"/>
              <a:t> stawowe dają konfigurację ciała w czasie. Czujniki sił w stopach pozwalają określić, czy stopa jest w kontakcie z podłożem. Te informacje są absolutnie kluczowe dla utrzymania równowagi i </a:t>
            </a:r>
            <a:r>
              <a:rPr lang="pl-PL" dirty="0" err="1" smtClean="0"/>
              <a:t>odometrii</a:t>
            </a:r>
            <a:r>
              <a:rPr lang="pl-PL" dirty="0" smtClean="0"/>
              <a:t> </a:t>
            </a:r>
            <a:r>
              <a:rPr lang="pl-PL" dirty="0" err="1" smtClean="0"/>
              <a:t>humanoida</a:t>
            </a:r>
            <a:r>
              <a:rPr lang="pl-PL" dirty="0" smtClean="0"/>
              <a:t>. Zwykle łączymy szybki, ale dryfujący żyroskop z wolniejszym, ale długoterminowo stabilnym akcelerometrem za pomocą filtru komplementarnego albo EKF.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 percepcji wizyjnej rozróżniamy podejście 2D i 3D. W obrazie RGB możemy wykrywać cechy, obiekty, klasy semantyczne i śledzić ruch w scenie. W percepcji 3D, na przykład z RGB-D albo stereo, dostajemy głębię, rekonstrukcję chmury punktów, detekcję przeszkód przestrzennych i możliwość estymacji nachylenia powierzchni. Dla </a:t>
            </a:r>
            <a:r>
              <a:rPr lang="pl-PL" dirty="0" err="1" smtClean="0"/>
              <a:t>humanoida</a:t>
            </a:r>
            <a:r>
              <a:rPr lang="pl-PL" dirty="0" smtClean="0"/>
              <a:t> to istotne, bo on nie pyta tylko, czy coś stoi przed nim, ale też czy na danym fragmencie terenu można bezpiecznie postawić stopę.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err="1" smtClean="0"/>
              <a:t>LiDAR</a:t>
            </a:r>
            <a:r>
              <a:rPr lang="pl-PL" dirty="0" smtClean="0"/>
              <a:t> jest jednym z najważniejszych sensorów geometrycznych. Działa na zasadzie pomiaru czasu przelotu albo przesunięcia fazowego impulsu laserowego. Może być 2D lub 3D, ma duży zasięg, pełne pole widzenia i dobrą dokładność geometryczną. Jego ogromną zaletą w pomieszczeniach jest niezależność od oświetlenia. Ograniczenia też są istotne: </a:t>
            </a:r>
            <a:r>
              <a:rPr lang="pl-PL" dirty="0" err="1" smtClean="0"/>
              <a:t>LiDAR</a:t>
            </a:r>
            <a:r>
              <a:rPr lang="pl-PL" dirty="0" smtClean="0"/>
              <a:t> nie daje koloru ani tekstury, ma problemy z lustrami i przezroczystymi powierzchniami, ale mimo to świetnie nadaje się do budowy map, lokalizacji, detekcji przeszkód i wyznaczania wolnej przestrzeni.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Musimy odróżniać przeszkody statyczne od dynamicznych. Ściany, meble czy kolumny są względnie stałe i nadają się do budowy mapy globalnej. Wystarczy często pojedynczy skan, aby je poprawnie sklasyfikować. Natomiast ludzie, wózki czy inne roboty poruszają się w czasie, więc potrzebujemy filtracji czasowej, śledzenia i często predykcji trajektorii. W przypadku obiektów dynamicznych strefa bezpieczeństwa powinna zależeć od ich prędkości i przewidywanego ruchu.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Surowe dane sensoryczne niemal nigdy nie nadają się do bezpośredniego użycia. Stosujemy więc filtr medianowy, średnią ruchomą, progowanie odległości, odrzucanie obserwacji odstających, RANSAC do dopasowania płaszczyzny podłogi oraz </a:t>
            </a:r>
            <a:r>
              <a:rPr lang="pl-PL" dirty="0" err="1" smtClean="0"/>
              <a:t>voxel</a:t>
            </a:r>
            <a:r>
              <a:rPr lang="pl-PL" dirty="0" smtClean="0"/>
              <a:t> </a:t>
            </a:r>
            <a:r>
              <a:rPr lang="pl-PL" dirty="0" err="1" smtClean="0"/>
              <a:t>grid</a:t>
            </a:r>
            <a:r>
              <a:rPr lang="pl-PL" dirty="0" smtClean="0"/>
              <a:t> </a:t>
            </a:r>
            <a:r>
              <a:rPr lang="pl-PL" dirty="0" err="1" smtClean="0"/>
              <a:t>downsampling</a:t>
            </a:r>
            <a:r>
              <a:rPr lang="pl-PL" dirty="0" smtClean="0"/>
              <a:t> do redukcji rozmiaru chmury punktów. Celem nie jest upiększenie danych, tylko uzyskanie takiego sygnału, na którym estymacja i planowanie będą działały stabilnie i przewidywalnie.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Tutaj widzą Państwo prosty przykład filtrowania skanu </a:t>
            </a:r>
            <a:r>
              <a:rPr lang="pl-PL" dirty="0" err="1" smtClean="0"/>
              <a:t>LiDAR</a:t>
            </a:r>
            <a:r>
              <a:rPr lang="pl-PL" dirty="0" smtClean="0"/>
              <a:t>-u. Najpierw odrzucamy pomiary poza fizycznym zakresem sensora, zamieniając je na wartości nieokreślone. Następnie dla poprawnych próbek stosujemy filtr medianowy na lokalnym sąsiedztwie. Taki zabieg dobrze usuwa pojedyncze błędne odbicia, na przykład od refleksów lustrzanych, a jednocześnie nie rozmywa krawędzi tak mocno jak zwykłe uśrednianie.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 tym przykładzie detekcja przeszkody opiera się na obrazie głębi. Wybieramy centralny obszar zainteresowania, ignorujemy błędne piksele bez pomiaru, a następnie szukamy minimalnej odległości w tym regionie. Jeżeli jest ona mniejsza od zadanego dystansu bezpieczeństwa, generujemy alarm kolizyjny. To bardzo prosty algorytm, ale dobrze pokazuje zasadę działania szybkiej percepcji reaktywnej.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Bardzo ważna jest synchronizacja czasowa sensorów. IMU może pracować z częstotliwością 200 herców, kamera z 30, a </a:t>
            </a:r>
            <a:r>
              <a:rPr lang="pl-PL" dirty="0" err="1" smtClean="0"/>
              <a:t>LiDAR</a:t>
            </a:r>
            <a:r>
              <a:rPr lang="pl-PL" dirty="0" smtClean="0"/>
              <a:t> z 10, więc jeśli nie będziemy pilnować znaczników czasu, to zaczniemy łączyć pomiary pochodzące z różnych chwil. W praktyce każdy sensor powinien publikować </a:t>
            </a:r>
            <a:r>
              <a:rPr lang="pl-PL" dirty="0" err="1" smtClean="0"/>
              <a:t>timestamp</a:t>
            </a:r>
            <a:r>
              <a:rPr lang="pl-PL" dirty="0" smtClean="0"/>
              <a:t> przy akwizycji, dane powinny być buforowane, a brakujące chwile odtwarzane przez interpolację albo synchronizację aproksymacyjną. Bez tego w fuzji pojawią się błędy, a w chmurach punktów mogą powstawać tak zwane duchy przeszkód.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do trzeciej części, czyli do reprezentacji środowiska i mapowania. Teraz interesują nas typy map, różnica między mapą 2D i 3D, koszt przejścia oraz relacja między mapowaniem lokalnym i globalnym.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Środowisko można reprezentować na różne sposoby. </a:t>
            </a:r>
            <a:r>
              <a:rPr lang="pl-PL" dirty="0" err="1" smtClean="0"/>
              <a:t>Occupancy</a:t>
            </a:r>
            <a:r>
              <a:rPr lang="pl-PL" dirty="0" smtClean="0"/>
              <a:t> </a:t>
            </a:r>
            <a:r>
              <a:rPr lang="pl-PL" dirty="0" err="1" smtClean="0"/>
              <a:t>grid</a:t>
            </a:r>
            <a:r>
              <a:rPr lang="pl-PL" dirty="0" smtClean="0"/>
              <a:t> to siatka komórek zajęte, wolne albo nieznane. </a:t>
            </a:r>
            <a:r>
              <a:rPr lang="pl-PL" dirty="0" err="1" smtClean="0"/>
              <a:t>Voxel</a:t>
            </a:r>
            <a:r>
              <a:rPr lang="pl-PL" dirty="0" smtClean="0"/>
              <a:t> map jest przestrzennym odpowiednikiem siatki 3D, często kompresowanym przez drzewo oktalne. Point </a:t>
            </a:r>
            <a:r>
              <a:rPr lang="pl-PL" dirty="0" err="1" smtClean="0"/>
              <a:t>cloud</a:t>
            </a:r>
            <a:r>
              <a:rPr lang="pl-PL" dirty="0" smtClean="0"/>
              <a:t> map daje wysoką wierność, ale jest </a:t>
            </a:r>
            <a:r>
              <a:rPr lang="pl-PL" dirty="0" err="1" smtClean="0"/>
              <a:t>pamięciożerna</a:t>
            </a:r>
            <a:r>
              <a:rPr lang="pl-PL" dirty="0" smtClean="0"/>
              <a:t>. </a:t>
            </a:r>
            <a:r>
              <a:rPr lang="pl-PL" dirty="0" err="1" smtClean="0"/>
              <a:t>Topological</a:t>
            </a:r>
            <a:r>
              <a:rPr lang="pl-PL" dirty="0" smtClean="0"/>
              <a:t> map upraszcza środowisko do grafu relacji, a </a:t>
            </a:r>
            <a:r>
              <a:rPr lang="pl-PL" dirty="0" err="1" smtClean="0"/>
              <a:t>semantic</a:t>
            </a:r>
            <a:r>
              <a:rPr lang="pl-PL" dirty="0" smtClean="0"/>
              <a:t> map dodaje etykiety znaczeniowe. Dla </a:t>
            </a:r>
            <a:r>
              <a:rPr lang="pl-PL" dirty="0" err="1" smtClean="0"/>
              <a:t>humanoida</a:t>
            </a:r>
            <a:r>
              <a:rPr lang="pl-PL" dirty="0" smtClean="0"/>
              <a:t> szczególnie ważna jest też </a:t>
            </a:r>
            <a:r>
              <a:rPr lang="pl-PL" dirty="0" err="1" smtClean="0"/>
              <a:t>height</a:t>
            </a:r>
            <a:r>
              <a:rPr lang="pl-PL" dirty="0" smtClean="0"/>
              <a:t> map, bo wysokość terenu bezpośrednio wpływa na planowanie kroków.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Mapa 2D wystarcza wtedy, gdy środowisko jest płaskie i interesuje nas głównie wyznaczenie ścieżki oraz omijanie dużych przeszkód. Jest szybka, oszczędna pamięciowo i zgodna z klasycznym stosem nawigacyjnym. Natomiast mapa 3D jest konieczna, gdy pojawiają się schody, rampy, progi, nierówności, nawisy albo przeszkody nad stopą. Humanoid porusza się w przestrzeni, w której wysokość naprawdę ma znaczenie, więc w wielu zastosowaniach 2D okazuje się niewystarczające.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Koszt przejścia nie może zależeć wyłącznie od długości trasy. Teren szeroki, płaski i daleki od przeszkód powinien mieć niski koszt. Teren wąski, pochyły albo śliski powinien mieć koszt wyższy lub wręcz być zablokowany. Dodatkowo stosujemy inflację wokół przeszkód, czyli gradient kosztu, który odpycha trajektorię od obiektów. W praktyce funkcja kosztu uwzględnia odległość od przeszkód, nachylenie terenu i karę za mały prześwit. Celem jest znalezienie trasy nie najkrótszej geometrycznie, lecz najbezpieczniejszej i najbardziej stabilnej.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Ten kod buduje prostą mapę zajętości z listy punktów przeszkód. Tworzymy siatkę o zadanym rozmiarze i rozdzielczości, ustawiamy początek układu w środku siatki, a następnie każdy punkt w metrach zamieniamy na współrzędne komórki. Jeżeli punkt wpada do zakresu mapy, komórka otrzymuje wartość zajęte. To elementarny, ale bardzo praktyczny mechanizm reprezentacji otoczenia dla planisty.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Na podstawie mapy zajętości możemy zbudować mapę kosztów z inflacją. Najpierw wyznaczamy dla każdej komórki odległość od najbliższej przeszkody. Następnie przekształcamy tę odległość w koszt, który maleje wraz z oddalaniem się od obiektu. Same przeszkody dostają koszt maksymalny. Dzięki temu planista preferuje ścieżki bezpieczne, a nie takie, które przechodzą tuż przy krawędziach mebli czy ścian.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 praktyce prawie zawsze rozdzielamy mapowanie lokalne i globalne. Mapa lokalna ma mały zasięg, jest bardzo aktualna, uwzględnia obiekty dynamiczne i służy planowaniu lokalnemu. Mapa globalna obejmuje całe piętro albo budynek, jest aktualizowana wolniej i stanowi podstawę planowania trasy długodystansowej. Często zawiera również informacje semantyczne. To rozdzielenie jest kompromisem między aktualnością a skalą środowiska.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Mapowanie w czasie rzeczywistym ma poważne ograniczenia. Duże mapy 3D zużywają setki megabajtów pamięci, a zwiększanie rozdzielczości poprawia dokładność kosztem czasu obliczeń. Do tego SLAM nie może być wolniejszy niż pętla sterowania, a środowisko dynamiczne nie może być na stałe zapisywane jako zajęte. W praktyce trzeba dobrać kompromis między zasięgiem, rozdzielczością i aktualnością mapy, często stosując wyższą rozdzielczość lokalnie i niższą globalnie.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Podsumowując tę część kursu, nawigacja </a:t>
            </a:r>
            <a:r>
              <a:rPr lang="pl-PL" dirty="0" err="1" smtClean="0"/>
              <a:t>humanoida</a:t>
            </a:r>
            <a:r>
              <a:rPr lang="pl-PL" dirty="0" smtClean="0"/>
              <a:t> wymaga ścisłej integracji percepcji, lokalizacji, planowania i sterowania chodem. Sensory dostarczają komplementarnych informacji o stanie robota i otoczeniu. Filtracja oraz synchronizacja danych są warunkiem niezawodnej percepcji. Sposób reprezentacji mapy wpływa bezpośrednio na skuteczność planowania, a funkcja kosztu musi uwzględniać nie tylko geometrię, ale też stabilność ruchu.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Na koniec zostawiam Państwu kilka pytań problemowych. Proszę zastanowić się, jakie sensory wybraliby Państwo dla </a:t>
            </a:r>
            <a:r>
              <a:rPr lang="pl-PL" dirty="0" err="1" smtClean="0"/>
              <a:t>humanoida</a:t>
            </a:r>
            <a:r>
              <a:rPr lang="pl-PL" dirty="0" smtClean="0"/>
              <a:t> patrolującego biuro nocą, dlaczego synchronizacja IMU z kamerą jest krytyczna dla </a:t>
            </a:r>
            <a:r>
              <a:rPr lang="pl-PL" dirty="0" err="1" smtClean="0"/>
              <a:t>odometrii</a:t>
            </a:r>
            <a:r>
              <a:rPr lang="pl-PL" dirty="0" smtClean="0"/>
              <a:t> wizyjno-inercyjnej, czym różni się </a:t>
            </a:r>
            <a:r>
              <a:rPr lang="pl-PL" dirty="0" err="1" smtClean="0"/>
              <a:t>occupancy</a:t>
            </a:r>
            <a:r>
              <a:rPr lang="pl-PL" dirty="0" smtClean="0"/>
              <a:t> </a:t>
            </a:r>
            <a:r>
              <a:rPr lang="pl-PL" dirty="0" err="1" smtClean="0"/>
              <a:t>grid</a:t>
            </a:r>
            <a:r>
              <a:rPr lang="pl-PL" dirty="0" smtClean="0"/>
              <a:t> od </a:t>
            </a:r>
            <a:r>
              <a:rPr lang="pl-PL" dirty="0" err="1" smtClean="0"/>
              <a:t>height</a:t>
            </a:r>
            <a:r>
              <a:rPr lang="pl-PL" dirty="0" smtClean="0"/>
              <a:t> map i jak zmodyfikować funkcję kosztu, by robot unikał zawilgoconej posadzki. Zadanie domowe polega na zaprojektowaniu struktury modułów nawigacji dla </a:t>
            </a:r>
            <a:r>
              <a:rPr lang="pl-PL" dirty="0" err="1" smtClean="0"/>
              <a:t>humanoida</a:t>
            </a:r>
            <a:r>
              <a:rPr lang="pl-PL" dirty="0" smtClean="0"/>
              <a:t> chodzącego po schodach, z uwzględnieniem tego, jakie sensory i jakie mapy są tam niezbędne.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B4D8"/>
          </a:solidFill>
          <a:ln w="12700">
            <a:solidFill>
              <a:srgbClr val="00B4D8"/>
            </a:solidFill>
            <a:prstDash val="solid"/>
          </a:ln>
        </p:spPr>
      </p:sp>
      <p:sp>
        <p:nvSpPr>
          <p:cNvPr id="3" name="Shape 1"/>
          <p:cNvSpPr/>
          <p:nvPr/>
        </p:nvSpPr>
        <p:spPr>
          <a:xfrm>
            <a:off x="73152" y="0"/>
            <a:ext cx="9070848" cy="54864"/>
          </a:xfrm>
          <a:prstGeom prst="rect">
            <a:avLst/>
          </a:prstGeom>
          <a:solidFill>
            <a:srgbClr val="0077A8"/>
          </a:solidFill>
          <a:ln w="12700">
            <a:solidFill>
              <a:srgbClr val="0077A8"/>
            </a:solidFill>
            <a:prstDash val="solid"/>
          </a:ln>
        </p:spPr>
      </p:sp>
      <p:sp>
        <p:nvSpPr>
          <p:cNvPr id="4" name="Shape 2"/>
          <p:cNvSpPr/>
          <p:nvPr/>
        </p:nvSpPr>
        <p:spPr>
          <a:xfrm>
            <a:off x="6400800" y="914400"/>
            <a:ext cx="2194560" cy="2194560"/>
          </a:xfrm>
          <a:prstGeom prst="ellipse">
            <a:avLst/>
          </a:prstGeom>
          <a:solidFill>
            <a:schemeClr val="bg1"/>
          </a:solidFill>
          <a:ln w="76200">
            <a:solidFill>
              <a:srgbClr val="00B4D8"/>
            </a:solidFill>
            <a:prstDash val="solid"/>
          </a:ln>
          <a:effectLst>
            <a:outerShdw blurRad="50800" dist="38100" dir="2700000" algn="tl" rotWithShape="0">
              <a:prstClr val="black">
                <a:alpha val="40000"/>
              </a:prstClr>
            </a:outerShdw>
          </a:effectLst>
        </p:spPr>
      </p:sp>
      <p:sp>
        <p:nvSpPr>
          <p:cNvPr id="6" name="Text 3"/>
          <p:cNvSpPr/>
          <p:nvPr/>
        </p:nvSpPr>
        <p:spPr>
          <a:xfrm>
            <a:off x="320040" y="913507"/>
            <a:ext cx="5760720" cy="184666"/>
          </a:xfrm>
          <a:prstGeom prst="rect">
            <a:avLst/>
          </a:prstGeom>
          <a:noFill/>
          <a:ln/>
        </p:spPr>
        <p:txBody>
          <a:bodyPr wrap="square" lIns="0" tIns="0" rIns="0" bIns="0" rtlCol="0" anchor="ctr">
            <a:spAutoFit/>
          </a:bodyPr>
          <a:lstStyle/>
          <a:p>
            <a:pPr marL="0" indent="0">
              <a:buNone/>
            </a:pPr>
            <a:r>
              <a:rPr lang="en-US" sz="1200" b="1" kern="0" spc="300" dirty="0">
                <a:solidFill>
                  <a:srgbClr val="00B4D8"/>
                </a:solidFill>
                <a:latin typeface="Trebuchet MS" pitchFamily="34" charset="0"/>
                <a:ea typeface="Trebuchet MS" pitchFamily="34" charset="-122"/>
                <a:cs typeface="Trebuchet MS" pitchFamily="34" charset="-120"/>
              </a:rPr>
              <a:t>NAWIGACJA ROBOTÓW HUMANOIDALNYCH</a:t>
            </a:r>
            <a:endParaRPr lang="en-US" sz="1200" dirty="0"/>
          </a:p>
        </p:txBody>
      </p:sp>
      <p:sp>
        <p:nvSpPr>
          <p:cNvPr id="7" name="Text 4"/>
          <p:cNvSpPr/>
          <p:nvPr/>
        </p:nvSpPr>
        <p:spPr>
          <a:xfrm>
            <a:off x="320040" y="1230869"/>
            <a:ext cx="5760720" cy="738664"/>
          </a:xfrm>
          <a:prstGeom prst="rect">
            <a:avLst/>
          </a:prstGeom>
          <a:noFill/>
          <a:ln/>
          <a:effectLst>
            <a:outerShdw blurRad="50800" dist="38100" dir="2700000" algn="tl" rotWithShape="0">
              <a:prstClr val="black">
                <a:alpha val="40000"/>
              </a:prstClr>
            </a:outerShdw>
          </a:effectLst>
        </p:spPr>
        <p:txBody>
          <a:bodyPr wrap="square" lIns="0" tIns="0" rIns="0" bIns="0" rtlCol="0" anchor="ctr">
            <a:spAutoFit/>
          </a:bodyPr>
          <a:lstStyle/>
          <a:p>
            <a:pPr marL="0" indent="0">
              <a:buNone/>
            </a:pPr>
            <a:r>
              <a:rPr lang="en-US" sz="4800" b="1" dirty="0">
                <a:solidFill>
                  <a:srgbClr val="FFFFFF"/>
                </a:solidFill>
                <a:latin typeface="Trebuchet MS" pitchFamily="34" charset="0"/>
                <a:ea typeface="Trebuchet MS" pitchFamily="34" charset="-122"/>
                <a:cs typeface="Trebuchet MS" pitchFamily="34" charset="-120"/>
              </a:rPr>
              <a:t>WYKŁAD 1</a:t>
            </a:r>
            <a:endParaRPr lang="en-US" sz="4800" dirty="0"/>
          </a:p>
        </p:txBody>
      </p:sp>
      <p:sp>
        <p:nvSpPr>
          <p:cNvPr id="8" name="Text 5"/>
          <p:cNvSpPr/>
          <p:nvPr/>
        </p:nvSpPr>
        <p:spPr>
          <a:xfrm>
            <a:off x="320040" y="2144541"/>
            <a:ext cx="5760720" cy="738664"/>
          </a:xfrm>
          <a:prstGeom prst="rect">
            <a:avLst/>
          </a:prstGeom>
          <a:noFill/>
          <a:ln/>
        </p:spPr>
        <p:txBody>
          <a:bodyPr wrap="square" lIns="0" tIns="0" rIns="0" bIns="0" rtlCol="0" anchor="ctr">
            <a:spAutoFit/>
          </a:bodyPr>
          <a:lstStyle/>
          <a:p>
            <a:r>
              <a:rPr lang="en-US" sz="2400" b="1" spc="-20" dirty="0">
                <a:solidFill>
                  <a:srgbClr val="90E0EF"/>
                </a:solidFill>
                <a:latin typeface="Trebuchet MS" pitchFamily="34" charset="0"/>
                <a:ea typeface="Trebuchet MS" pitchFamily="34" charset="-122"/>
                <a:cs typeface="Trebuchet MS" pitchFamily="34" charset="-120"/>
              </a:rPr>
              <a:t>Wprowadzenie do </a:t>
            </a:r>
            <a:r>
              <a:rPr lang="en-US" sz="2400" b="1" spc="-20" dirty="0" err="1" smtClean="0">
                <a:solidFill>
                  <a:srgbClr val="90E0EF"/>
                </a:solidFill>
                <a:latin typeface="Trebuchet MS" pitchFamily="34" charset="0"/>
                <a:ea typeface="Trebuchet MS" pitchFamily="34" charset="-122"/>
                <a:cs typeface="Trebuchet MS" pitchFamily="34" charset="-120"/>
              </a:rPr>
              <a:t>percepcji</a:t>
            </a:r>
            <a:r>
              <a:rPr lang="en-US" sz="2400" b="1" spc="-20" dirty="0" smtClean="0">
                <a:solidFill>
                  <a:srgbClr val="90E0EF"/>
                </a:solidFill>
                <a:latin typeface="Trebuchet MS" pitchFamily="34" charset="0"/>
                <a:ea typeface="Trebuchet MS" pitchFamily="34" charset="-122"/>
                <a:cs typeface="Trebuchet MS" pitchFamily="34" charset="-120"/>
              </a:rPr>
              <a:t> </a:t>
            </a:r>
            <a:r>
              <a:rPr lang="pl-PL" sz="2400" b="1" spc="-20" dirty="0" smtClean="0">
                <a:solidFill>
                  <a:srgbClr val="90E0EF"/>
                </a:solidFill>
                <a:latin typeface="Trebuchet MS" pitchFamily="34" charset="0"/>
                <a:ea typeface="Trebuchet MS" pitchFamily="34" charset="-122"/>
                <a:cs typeface="Trebuchet MS" pitchFamily="34" charset="-120"/>
              </a:rPr>
              <a:t/>
            </a:r>
            <a:br>
              <a:rPr lang="pl-PL" sz="2400" b="1" spc="-20" dirty="0" smtClean="0">
                <a:solidFill>
                  <a:srgbClr val="90E0EF"/>
                </a:solidFill>
                <a:latin typeface="Trebuchet MS" pitchFamily="34" charset="0"/>
                <a:ea typeface="Trebuchet MS" pitchFamily="34" charset="-122"/>
                <a:cs typeface="Trebuchet MS" pitchFamily="34" charset="-120"/>
              </a:rPr>
            </a:br>
            <a:r>
              <a:rPr lang="pl-PL" sz="2400" b="1" spc="-20" dirty="0" smtClean="0">
                <a:solidFill>
                  <a:srgbClr val="90E0EF"/>
                </a:solidFill>
                <a:latin typeface="Trebuchet MS" pitchFamily="34" charset="0"/>
                <a:ea typeface="Trebuchet MS" pitchFamily="34" charset="-122"/>
                <a:cs typeface="Trebuchet MS" pitchFamily="34" charset="-120"/>
              </a:rPr>
              <a:t>i </a:t>
            </a:r>
            <a:r>
              <a:rPr lang="en-US" sz="2400" b="1" spc="-20" dirty="0" err="1" smtClean="0">
                <a:solidFill>
                  <a:srgbClr val="90E0EF"/>
                </a:solidFill>
                <a:latin typeface="Trebuchet MS" pitchFamily="34" charset="0"/>
                <a:ea typeface="Trebuchet MS" pitchFamily="34" charset="-122"/>
                <a:cs typeface="Trebuchet MS" pitchFamily="34" charset="-120"/>
              </a:rPr>
              <a:t>nawigacji</a:t>
            </a:r>
            <a:r>
              <a:rPr lang="pl-PL" sz="2400" b="1" spc="-20" dirty="0" smtClean="0">
                <a:solidFill>
                  <a:srgbClr val="90E0EF"/>
                </a:solidFill>
                <a:latin typeface="Trebuchet MS" pitchFamily="34" charset="0"/>
                <a:ea typeface="Trebuchet MS" pitchFamily="34" charset="-122"/>
                <a:cs typeface="Trebuchet MS" pitchFamily="34" charset="-120"/>
              </a:rPr>
              <a:t> </a:t>
            </a:r>
            <a:r>
              <a:rPr lang="en-US" sz="2400" b="1" spc="-20" dirty="0" err="1" smtClean="0">
                <a:solidFill>
                  <a:srgbClr val="90E0EF"/>
                </a:solidFill>
                <a:latin typeface="Trebuchet MS" pitchFamily="34" charset="0"/>
                <a:ea typeface="Trebuchet MS" pitchFamily="34" charset="-122"/>
                <a:cs typeface="Trebuchet MS" pitchFamily="34" charset="-120"/>
              </a:rPr>
              <a:t>robota</a:t>
            </a:r>
            <a:r>
              <a:rPr lang="en-US" sz="2400" b="1" spc="-20" dirty="0" smtClean="0">
                <a:solidFill>
                  <a:srgbClr val="90E0EF"/>
                </a:solidFill>
                <a:latin typeface="Trebuchet MS" pitchFamily="34" charset="0"/>
                <a:ea typeface="Trebuchet MS" pitchFamily="34" charset="-122"/>
                <a:cs typeface="Trebuchet MS" pitchFamily="34" charset="-120"/>
              </a:rPr>
              <a:t> </a:t>
            </a:r>
            <a:r>
              <a:rPr lang="en-US" sz="2400" b="1" spc="-20" dirty="0" err="1" smtClean="0">
                <a:solidFill>
                  <a:srgbClr val="90E0EF"/>
                </a:solidFill>
                <a:latin typeface="Trebuchet MS" pitchFamily="34" charset="0"/>
                <a:ea typeface="Trebuchet MS" pitchFamily="34" charset="-122"/>
                <a:cs typeface="Trebuchet MS" pitchFamily="34" charset="-120"/>
              </a:rPr>
              <a:t>humanoidalnego</a:t>
            </a:r>
            <a:endParaRPr lang="en-US" sz="2400" spc="-20" dirty="0"/>
          </a:p>
        </p:txBody>
      </p:sp>
      <p:sp>
        <p:nvSpPr>
          <p:cNvPr id="9" name="Shape 6"/>
          <p:cNvSpPr/>
          <p:nvPr/>
        </p:nvSpPr>
        <p:spPr>
          <a:xfrm>
            <a:off x="320040" y="3063240"/>
            <a:ext cx="5760720" cy="27432"/>
          </a:xfrm>
          <a:prstGeom prst="rect">
            <a:avLst/>
          </a:prstGeom>
          <a:solidFill>
            <a:srgbClr val="00B4D8"/>
          </a:solidFill>
          <a:ln w="12700">
            <a:solidFill>
              <a:srgbClr val="00B4D8"/>
            </a:solidFill>
            <a:prstDash val="solid"/>
          </a:ln>
        </p:spPr>
      </p:sp>
      <p:sp>
        <p:nvSpPr>
          <p:cNvPr id="10" name="Text 7"/>
          <p:cNvSpPr/>
          <p:nvPr/>
        </p:nvSpPr>
        <p:spPr>
          <a:xfrm>
            <a:off x="320040" y="3191712"/>
            <a:ext cx="5760720" cy="184666"/>
          </a:xfrm>
          <a:prstGeom prst="rect">
            <a:avLst/>
          </a:prstGeom>
          <a:noFill/>
          <a:ln/>
        </p:spPr>
        <p:txBody>
          <a:bodyPr wrap="square" lIns="0" tIns="0" rIns="0" bIns="0" rtlCol="0" anchor="ctr">
            <a:spAutoFit/>
          </a:bodyPr>
          <a:lstStyle/>
          <a:p>
            <a:pPr marL="0" indent="0">
              <a:buNone/>
            </a:pPr>
            <a:r>
              <a:rPr lang="pl-PL" sz="1200" b="1" dirty="0" smtClean="0">
                <a:solidFill>
                  <a:srgbClr val="00B4D8"/>
                </a:solidFill>
                <a:latin typeface="Calibri" pitchFamily="34" charset="0"/>
                <a:ea typeface="Calibri" pitchFamily="34" charset="-122"/>
                <a:cs typeface="Calibri" pitchFamily="34" charset="-120"/>
              </a:rPr>
              <a:t>dr inż. Mateusz Pomianek</a:t>
            </a:r>
            <a:endParaRPr lang="en-US" sz="1200" dirty="0"/>
          </a:p>
        </p:txBody>
      </p:sp>
      <p:grpSp>
        <p:nvGrpSpPr>
          <p:cNvPr id="20" name="Grupa 19"/>
          <p:cNvGrpSpPr/>
          <p:nvPr/>
        </p:nvGrpSpPr>
        <p:grpSpPr>
          <a:xfrm>
            <a:off x="320040" y="4114800"/>
            <a:ext cx="8412480" cy="548640"/>
            <a:chOff x="320040" y="4114800"/>
            <a:chExt cx="5715000" cy="548640"/>
          </a:xfrm>
        </p:grpSpPr>
        <p:sp>
          <p:nvSpPr>
            <p:cNvPr id="11" name="Shape 8"/>
            <p:cNvSpPr/>
            <p:nvPr/>
          </p:nvSpPr>
          <p:spPr>
            <a:xfrm>
              <a:off x="320040" y="4114800"/>
              <a:ext cx="1325880" cy="548640"/>
            </a:xfrm>
            <a:prstGeom prst="rect">
              <a:avLst/>
            </a:prstGeom>
            <a:solidFill>
              <a:srgbClr val="1A3550"/>
            </a:solidFill>
            <a:ln w="12700">
              <a:solidFill>
                <a:srgbClr val="00B4D8"/>
              </a:solidFill>
              <a:prstDash val="solid"/>
            </a:ln>
            <a:effectLst>
              <a:outerShdw blurRad="76200" dist="25400" dir="8100000" algn="bl" rotWithShape="0">
                <a:srgbClr val="000000">
                  <a:alpha val="12000"/>
                </a:srgbClr>
              </a:outerShdw>
            </a:effectLst>
          </p:spPr>
        </p:sp>
        <p:sp>
          <p:nvSpPr>
            <p:cNvPr id="12" name="Text 9"/>
            <p:cNvSpPr/>
            <p:nvPr/>
          </p:nvSpPr>
          <p:spPr>
            <a:xfrm>
              <a:off x="320040" y="4114800"/>
              <a:ext cx="1325880" cy="548640"/>
            </a:xfrm>
            <a:prstGeom prst="rect">
              <a:avLst/>
            </a:prstGeom>
            <a:noFill/>
            <a:ln/>
          </p:spPr>
          <p:txBody>
            <a:bodyPr wrap="square" lIns="0" tIns="0" rIns="0" bIns="0" rtlCol="0" anchor="ctr"/>
            <a:lstStyle/>
            <a:p>
              <a:pPr marL="0" indent="0" algn="ctr">
                <a:buNone/>
              </a:pPr>
              <a:r>
                <a:rPr lang="en-US" sz="1600" b="1" dirty="0">
                  <a:solidFill>
                    <a:srgbClr val="90E0EF"/>
                  </a:solidFill>
                  <a:latin typeface="Trebuchet MS" pitchFamily="34" charset="0"/>
                  <a:ea typeface="Trebuchet MS" pitchFamily="34" charset="-122"/>
                  <a:cs typeface="Trebuchet MS" pitchFamily="34" charset="-120"/>
                </a:rPr>
                <a:t>Percepcja</a:t>
              </a:r>
              <a:endParaRPr lang="en-US" sz="1600" dirty="0"/>
            </a:p>
          </p:txBody>
        </p:sp>
        <p:sp>
          <p:nvSpPr>
            <p:cNvPr id="13" name="Shape 10"/>
            <p:cNvSpPr/>
            <p:nvPr/>
          </p:nvSpPr>
          <p:spPr>
            <a:xfrm>
              <a:off x="1783080" y="4114800"/>
              <a:ext cx="1325880" cy="548640"/>
            </a:xfrm>
            <a:prstGeom prst="rect">
              <a:avLst/>
            </a:prstGeom>
            <a:solidFill>
              <a:srgbClr val="1A3550"/>
            </a:solidFill>
            <a:ln w="12700">
              <a:solidFill>
                <a:srgbClr val="00B4D8"/>
              </a:solidFill>
              <a:prstDash val="solid"/>
            </a:ln>
            <a:effectLst>
              <a:outerShdw blurRad="76200" dist="25400" dir="8100000" algn="bl" rotWithShape="0">
                <a:srgbClr val="000000">
                  <a:alpha val="12000"/>
                </a:srgbClr>
              </a:outerShdw>
            </a:effectLst>
          </p:spPr>
        </p:sp>
        <p:sp>
          <p:nvSpPr>
            <p:cNvPr id="14" name="Text 11"/>
            <p:cNvSpPr/>
            <p:nvPr/>
          </p:nvSpPr>
          <p:spPr>
            <a:xfrm>
              <a:off x="1783080" y="4114800"/>
              <a:ext cx="1325880" cy="548640"/>
            </a:xfrm>
            <a:prstGeom prst="rect">
              <a:avLst/>
            </a:prstGeom>
            <a:noFill/>
            <a:ln/>
          </p:spPr>
          <p:txBody>
            <a:bodyPr wrap="square" lIns="0" tIns="0" rIns="0" bIns="0" rtlCol="0" anchor="ctr"/>
            <a:lstStyle/>
            <a:p>
              <a:pPr marL="0" indent="0" algn="ctr">
                <a:buNone/>
              </a:pPr>
              <a:r>
                <a:rPr lang="en-US" sz="1600" b="1" dirty="0">
                  <a:solidFill>
                    <a:srgbClr val="90E0EF"/>
                  </a:solidFill>
                  <a:latin typeface="Trebuchet MS" pitchFamily="34" charset="0"/>
                  <a:ea typeface="Trebuchet MS" pitchFamily="34" charset="-122"/>
                  <a:cs typeface="Trebuchet MS" pitchFamily="34" charset="-120"/>
                </a:rPr>
                <a:t>Mapowanie</a:t>
              </a:r>
              <a:endParaRPr lang="en-US" sz="1600" dirty="0"/>
            </a:p>
          </p:txBody>
        </p:sp>
        <p:sp>
          <p:nvSpPr>
            <p:cNvPr id="15" name="Shape 12"/>
            <p:cNvSpPr/>
            <p:nvPr/>
          </p:nvSpPr>
          <p:spPr>
            <a:xfrm>
              <a:off x="3246120" y="4114800"/>
              <a:ext cx="1325880" cy="548640"/>
            </a:xfrm>
            <a:prstGeom prst="rect">
              <a:avLst/>
            </a:prstGeom>
            <a:solidFill>
              <a:srgbClr val="1A3550"/>
            </a:solidFill>
            <a:ln w="12700">
              <a:solidFill>
                <a:srgbClr val="00B4D8"/>
              </a:solidFill>
              <a:prstDash val="solid"/>
            </a:ln>
            <a:effectLst>
              <a:outerShdw blurRad="76200" dist="25400" dir="8100000" algn="bl" rotWithShape="0">
                <a:srgbClr val="000000">
                  <a:alpha val="12000"/>
                </a:srgbClr>
              </a:outerShdw>
            </a:effectLst>
          </p:spPr>
        </p:sp>
        <p:sp>
          <p:nvSpPr>
            <p:cNvPr id="16" name="Text 13"/>
            <p:cNvSpPr/>
            <p:nvPr/>
          </p:nvSpPr>
          <p:spPr>
            <a:xfrm>
              <a:off x="3246120" y="4114800"/>
              <a:ext cx="1325880" cy="548640"/>
            </a:xfrm>
            <a:prstGeom prst="rect">
              <a:avLst/>
            </a:prstGeom>
            <a:noFill/>
            <a:ln/>
          </p:spPr>
          <p:txBody>
            <a:bodyPr wrap="square" lIns="0" tIns="0" rIns="0" bIns="0" rtlCol="0" anchor="ctr"/>
            <a:lstStyle/>
            <a:p>
              <a:pPr marL="0" indent="0" algn="ctr">
                <a:buNone/>
              </a:pPr>
              <a:r>
                <a:rPr lang="en-US" sz="1600" b="1" dirty="0">
                  <a:solidFill>
                    <a:srgbClr val="90E0EF"/>
                  </a:solidFill>
                  <a:latin typeface="Trebuchet MS" pitchFamily="34" charset="0"/>
                  <a:ea typeface="Trebuchet MS" pitchFamily="34" charset="-122"/>
                  <a:cs typeface="Trebuchet MS" pitchFamily="34" charset="-120"/>
                </a:rPr>
                <a:t>Sensory</a:t>
              </a:r>
              <a:endParaRPr lang="en-US" sz="1600" dirty="0"/>
            </a:p>
          </p:txBody>
        </p:sp>
        <p:sp>
          <p:nvSpPr>
            <p:cNvPr id="17" name="Shape 14"/>
            <p:cNvSpPr/>
            <p:nvPr/>
          </p:nvSpPr>
          <p:spPr>
            <a:xfrm>
              <a:off x="4709160" y="4114800"/>
              <a:ext cx="1325880" cy="548640"/>
            </a:xfrm>
            <a:prstGeom prst="rect">
              <a:avLst/>
            </a:prstGeom>
            <a:solidFill>
              <a:srgbClr val="1A3550"/>
            </a:solidFill>
            <a:ln w="12700">
              <a:solidFill>
                <a:srgbClr val="00B4D8"/>
              </a:solidFill>
              <a:prstDash val="solid"/>
            </a:ln>
            <a:effectLst>
              <a:outerShdw blurRad="76200" dist="25400" dir="8100000" algn="bl" rotWithShape="0">
                <a:srgbClr val="000000">
                  <a:alpha val="12000"/>
                </a:srgbClr>
              </a:outerShdw>
            </a:effectLst>
          </p:spPr>
        </p:sp>
        <p:sp>
          <p:nvSpPr>
            <p:cNvPr id="18" name="Text 15"/>
            <p:cNvSpPr/>
            <p:nvPr/>
          </p:nvSpPr>
          <p:spPr>
            <a:xfrm>
              <a:off x="4709160" y="4114800"/>
              <a:ext cx="1325880" cy="548640"/>
            </a:xfrm>
            <a:prstGeom prst="rect">
              <a:avLst/>
            </a:prstGeom>
            <a:noFill/>
            <a:ln/>
          </p:spPr>
          <p:txBody>
            <a:bodyPr wrap="square" lIns="0" tIns="0" rIns="0" bIns="0" rtlCol="0" anchor="ctr"/>
            <a:lstStyle/>
            <a:p>
              <a:pPr marL="0" indent="0" algn="ctr">
                <a:buNone/>
              </a:pPr>
              <a:r>
                <a:rPr lang="en-US" sz="1600" b="1" dirty="0">
                  <a:solidFill>
                    <a:srgbClr val="90E0EF"/>
                  </a:solidFill>
                  <a:latin typeface="Trebuchet MS" pitchFamily="34" charset="0"/>
                  <a:ea typeface="Trebuchet MS" pitchFamily="34" charset="-122"/>
                  <a:cs typeface="Trebuchet MS" pitchFamily="34" charset="-120"/>
                </a:rPr>
                <a:t>Architektura</a:t>
              </a:r>
              <a:endParaRPr lang="en-US" sz="1600" dirty="0"/>
            </a:p>
          </p:txBody>
        </p:sp>
      </p:grpSp>
      <p:sp>
        <p:nvSpPr>
          <p:cNvPr id="19" name="Text 7"/>
          <p:cNvSpPr/>
          <p:nvPr/>
        </p:nvSpPr>
        <p:spPr>
          <a:xfrm>
            <a:off x="129200" y="4963170"/>
            <a:ext cx="474050" cy="153888"/>
          </a:xfrm>
          <a:prstGeom prst="rect">
            <a:avLst/>
          </a:prstGeom>
          <a:noFill/>
          <a:ln/>
        </p:spPr>
        <p:txBody>
          <a:bodyPr wrap="square" lIns="0" tIns="0" rIns="0" bIns="0" rtlCol="0" anchor="ctr">
            <a:spAutoFit/>
          </a:bodyPr>
          <a:lstStyle/>
          <a:p>
            <a:pPr marL="0" indent="0">
              <a:buNone/>
            </a:pPr>
            <a:r>
              <a:rPr lang="pl-PL" sz="1000" i="1" dirty="0" smtClean="0">
                <a:solidFill>
                  <a:schemeClr val="accent1">
                    <a:lumMod val="50000"/>
                  </a:schemeClr>
                </a:solidFill>
                <a:latin typeface="Calibri" pitchFamily="34" charset="0"/>
                <a:ea typeface="Calibri" pitchFamily="34" charset="-122"/>
                <a:cs typeface="Calibri" pitchFamily="34" charset="-120"/>
              </a:rPr>
              <a:t>v1.0.2</a:t>
            </a:r>
            <a:endParaRPr lang="en-US" sz="1000" i="1" dirty="0">
              <a:solidFill>
                <a:schemeClr val="accent1">
                  <a:lumMod val="50000"/>
                </a:schemeClr>
              </a:solidFill>
            </a:endParaRPr>
          </a:p>
        </p:txBody>
      </p:sp>
      <p:pic>
        <p:nvPicPr>
          <p:cNvPr id="21" name="Image 0" descr="preencoded.png"/>
          <p:cNvPicPr>
            <a:picLocks noChangeAspect="1"/>
          </p:cNvPicPr>
          <p:nvPr/>
        </p:nvPicPr>
        <p:blipFill>
          <a:blip r:embed="rId3"/>
          <a:stretch>
            <a:fillRect/>
          </a:stretch>
        </p:blipFill>
        <p:spPr>
          <a:xfrm>
            <a:off x="6949440" y="1364932"/>
            <a:ext cx="1097280"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WPROWADZENIE</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Plan wykładu</a:t>
            </a:r>
            <a:endParaRPr lang="en-US" sz="2800" dirty="0"/>
          </a:p>
        </p:txBody>
      </p:sp>
      <p:sp>
        <p:nvSpPr>
          <p:cNvPr id="6" name="Shape 4"/>
          <p:cNvSpPr/>
          <p:nvPr/>
        </p:nvSpPr>
        <p:spPr>
          <a:xfrm>
            <a:off x="274320" y="1143000"/>
            <a:ext cx="4160520" cy="13487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4160520" cy="54864"/>
          </a:xfrm>
          <a:prstGeom prst="rect">
            <a:avLst/>
          </a:prstGeom>
          <a:solidFill>
            <a:srgbClr val="00B4D8"/>
          </a:solidFill>
          <a:ln w="12700">
            <a:solidFill>
              <a:srgbClr val="00B4D8"/>
            </a:solidFill>
            <a:prstDash val="solid"/>
          </a:ln>
        </p:spPr>
      </p:sp>
      <p:sp>
        <p:nvSpPr>
          <p:cNvPr id="8" name="Text 6"/>
          <p:cNvSpPr/>
          <p:nvPr/>
        </p:nvSpPr>
        <p:spPr>
          <a:xfrm>
            <a:off x="384048" y="1234440"/>
            <a:ext cx="2305812" cy="642823"/>
          </a:xfrm>
          <a:prstGeom prst="rect">
            <a:avLst/>
          </a:prstGeom>
          <a:noFill/>
          <a:ln/>
        </p:spPr>
        <p:txBody>
          <a:bodyPr wrap="square" lIns="0" tIns="0" rIns="0" bIns="0" rtlCol="0" anchor="ctr"/>
          <a:lstStyle/>
          <a:p>
            <a:pPr marL="0" indent="0">
              <a:buNone/>
            </a:pPr>
            <a:r>
              <a:rPr lang="en-US" sz="2400" b="1" dirty="0">
                <a:solidFill>
                  <a:srgbClr val="0D1B2A"/>
                </a:solidFill>
                <a:latin typeface="Trebuchet MS" pitchFamily="34" charset="0"/>
                <a:ea typeface="Trebuchet MS" pitchFamily="34" charset="-122"/>
                <a:cs typeface="Trebuchet MS" pitchFamily="34" charset="-120"/>
              </a:rPr>
              <a:t>Sekcja 1</a:t>
            </a:r>
            <a:endParaRPr lang="en-US" sz="2400" dirty="0"/>
          </a:p>
        </p:txBody>
      </p:sp>
      <p:sp>
        <p:nvSpPr>
          <p:cNvPr id="9" name="Text 7"/>
          <p:cNvSpPr/>
          <p:nvPr/>
        </p:nvSpPr>
        <p:spPr>
          <a:xfrm>
            <a:off x="384048" y="1819657"/>
            <a:ext cx="3941064" cy="489204"/>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Problem nawigacji humanoida, moduły systemu, ramy odniesienia, miary jakości</a:t>
            </a:r>
            <a:endParaRPr lang="en-US" sz="1600" dirty="0"/>
          </a:p>
        </p:txBody>
      </p:sp>
      <p:sp>
        <p:nvSpPr>
          <p:cNvPr id="10" name="Shape 8"/>
          <p:cNvSpPr/>
          <p:nvPr/>
        </p:nvSpPr>
        <p:spPr>
          <a:xfrm>
            <a:off x="4709160" y="1143000"/>
            <a:ext cx="4160520" cy="13487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4709160" y="1143000"/>
            <a:ext cx="4160520" cy="54864"/>
          </a:xfrm>
          <a:prstGeom prst="rect">
            <a:avLst/>
          </a:prstGeom>
          <a:solidFill>
            <a:srgbClr val="0077A8"/>
          </a:solidFill>
          <a:ln w="12700">
            <a:solidFill>
              <a:srgbClr val="0077A8"/>
            </a:solidFill>
            <a:prstDash val="solid"/>
          </a:ln>
        </p:spPr>
      </p:sp>
      <p:sp>
        <p:nvSpPr>
          <p:cNvPr id="12" name="Text 10"/>
          <p:cNvSpPr/>
          <p:nvPr/>
        </p:nvSpPr>
        <p:spPr>
          <a:xfrm>
            <a:off x="4818888" y="1234440"/>
            <a:ext cx="2305812" cy="642823"/>
          </a:xfrm>
          <a:prstGeom prst="rect">
            <a:avLst/>
          </a:prstGeom>
          <a:noFill/>
          <a:ln/>
        </p:spPr>
        <p:txBody>
          <a:bodyPr wrap="square" lIns="0" tIns="0" rIns="0" bIns="0" rtlCol="0" anchor="ctr"/>
          <a:lstStyle/>
          <a:p>
            <a:pPr marL="0" indent="0">
              <a:buNone/>
            </a:pPr>
            <a:r>
              <a:rPr lang="en-US" sz="2400" b="1" dirty="0">
                <a:solidFill>
                  <a:srgbClr val="0D1B2A"/>
                </a:solidFill>
                <a:latin typeface="Trebuchet MS" pitchFamily="34" charset="0"/>
                <a:ea typeface="Trebuchet MS" pitchFamily="34" charset="-122"/>
                <a:cs typeface="Trebuchet MS" pitchFamily="34" charset="-120"/>
              </a:rPr>
              <a:t>Sekcja 2</a:t>
            </a:r>
            <a:endParaRPr lang="en-US" sz="2400" dirty="0"/>
          </a:p>
        </p:txBody>
      </p:sp>
      <p:sp>
        <p:nvSpPr>
          <p:cNvPr id="13" name="Text 11"/>
          <p:cNvSpPr/>
          <p:nvPr/>
        </p:nvSpPr>
        <p:spPr>
          <a:xfrm>
            <a:off x="4818888" y="1819657"/>
            <a:ext cx="3941064" cy="489204"/>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Sensory i percepcja: IMU, LiDAR, kamery, filtracja i synchronizacja danych</a:t>
            </a:r>
            <a:endParaRPr lang="en-US" sz="1600" dirty="0"/>
          </a:p>
        </p:txBody>
      </p:sp>
      <p:sp>
        <p:nvSpPr>
          <p:cNvPr id="14" name="Shape 12"/>
          <p:cNvSpPr/>
          <p:nvPr/>
        </p:nvSpPr>
        <p:spPr>
          <a:xfrm>
            <a:off x="274320" y="2598420"/>
            <a:ext cx="4160520" cy="13487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274320" y="2598420"/>
            <a:ext cx="4160520" cy="54864"/>
          </a:xfrm>
          <a:prstGeom prst="rect">
            <a:avLst/>
          </a:prstGeom>
          <a:solidFill>
            <a:srgbClr val="0077A8"/>
          </a:solidFill>
          <a:ln w="12700">
            <a:solidFill>
              <a:srgbClr val="0077A8"/>
            </a:solidFill>
            <a:prstDash val="solid"/>
          </a:ln>
        </p:spPr>
      </p:sp>
      <p:sp>
        <p:nvSpPr>
          <p:cNvPr id="16" name="Text 14"/>
          <p:cNvSpPr/>
          <p:nvPr/>
        </p:nvSpPr>
        <p:spPr>
          <a:xfrm>
            <a:off x="384048" y="2689860"/>
            <a:ext cx="2305812" cy="642823"/>
          </a:xfrm>
          <a:prstGeom prst="rect">
            <a:avLst/>
          </a:prstGeom>
          <a:noFill/>
          <a:ln/>
        </p:spPr>
        <p:txBody>
          <a:bodyPr wrap="square" lIns="0" tIns="0" rIns="0" bIns="0" rtlCol="0" anchor="ctr"/>
          <a:lstStyle/>
          <a:p>
            <a:pPr marL="0" indent="0">
              <a:buNone/>
            </a:pPr>
            <a:r>
              <a:rPr lang="en-US" sz="2400" b="1" dirty="0">
                <a:solidFill>
                  <a:srgbClr val="0D1B2A"/>
                </a:solidFill>
                <a:latin typeface="Trebuchet MS" pitchFamily="34" charset="0"/>
                <a:ea typeface="Trebuchet MS" pitchFamily="34" charset="-122"/>
                <a:cs typeface="Trebuchet MS" pitchFamily="34" charset="-120"/>
              </a:rPr>
              <a:t>Sekcja 3</a:t>
            </a:r>
            <a:endParaRPr lang="en-US" sz="2400" dirty="0"/>
          </a:p>
        </p:txBody>
      </p:sp>
      <p:sp>
        <p:nvSpPr>
          <p:cNvPr id="17" name="Text 15"/>
          <p:cNvSpPr/>
          <p:nvPr/>
        </p:nvSpPr>
        <p:spPr>
          <a:xfrm>
            <a:off x="384048" y="3275077"/>
            <a:ext cx="3941064" cy="489204"/>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Reprezentacja środowiska: mapy zajętości, cost map, mapowanie lokalne/globalne</a:t>
            </a:r>
            <a:endParaRPr lang="en-US" sz="1600" dirty="0"/>
          </a:p>
        </p:txBody>
      </p:sp>
      <p:sp>
        <p:nvSpPr>
          <p:cNvPr id="18" name="Shape 16"/>
          <p:cNvSpPr/>
          <p:nvPr/>
        </p:nvSpPr>
        <p:spPr>
          <a:xfrm>
            <a:off x="4709160" y="2598420"/>
            <a:ext cx="4160520" cy="13487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4709160" y="2598420"/>
            <a:ext cx="4160520" cy="54864"/>
          </a:xfrm>
          <a:prstGeom prst="rect">
            <a:avLst/>
          </a:prstGeom>
          <a:solidFill>
            <a:srgbClr val="1A3550"/>
          </a:solidFill>
          <a:ln w="12700">
            <a:solidFill>
              <a:srgbClr val="1A3550"/>
            </a:solidFill>
            <a:prstDash val="solid"/>
          </a:ln>
        </p:spPr>
      </p:sp>
      <p:sp>
        <p:nvSpPr>
          <p:cNvPr id="20" name="Text 18"/>
          <p:cNvSpPr/>
          <p:nvPr/>
        </p:nvSpPr>
        <p:spPr>
          <a:xfrm>
            <a:off x="4818888" y="2689860"/>
            <a:ext cx="2305812" cy="642823"/>
          </a:xfrm>
          <a:prstGeom prst="rect">
            <a:avLst/>
          </a:prstGeom>
          <a:noFill/>
          <a:ln/>
        </p:spPr>
        <p:txBody>
          <a:bodyPr wrap="square" lIns="0" tIns="0" rIns="0" bIns="0" rtlCol="0" anchor="ctr"/>
          <a:lstStyle/>
          <a:p>
            <a:pPr marL="0" indent="0">
              <a:buNone/>
            </a:pPr>
            <a:r>
              <a:rPr lang="en-US" sz="2400" b="1" dirty="0">
                <a:solidFill>
                  <a:srgbClr val="0D1B2A"/>
                </a:solidFill>
                <a:latin typeface="Trebuchet MS" pitchFamily="34" charset="0"/>
                <a:ea typeface="Trebuchet MS" pitchFamily="34" charset="-122"/>
                <a:cs typeface="Trebuchet MS" pitchFamily="34" charset="-120"/>
              </a:rPr>
              <a:t>Kody Python</a:t>
            </a:r>
            <a:endParaRPr lang="en-US" sz="2400" dirty="0"/>
          </a:p>
        </p:txBody>
      </p:sp>
      <p:sp>
        <p:nvSpPr>
          <p:cNvPr id="21" name="Text 19"/>
          <p:cNvSpPr/>
          <p:nvPr/>
        </p:nvSpPr>
        <p:spPr>
          <a:xfrm>
            <a:off x="4818888" y="3275077"/>
            <a:ext cx="3941064" cy="489204"/>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Struktury modułów, filtracja LiDAR, detekcja przeszkód, budowa grid map</a:t>
            </a:r>
            <a:endParaRPr lang="en-US" sz="1600" dirty="0"/>
          </a:p>
        </p:txBody>
      </p:sp>
      <p:sp>
        <p:nvSpPr>
          <p:cNvPr id="23" name="Prostokąt 22"/>
          <p:cNvSpPr/>
          <p:nvPr/>
        </p:nvSpPr>
        <p:spPr>
          <a:xfrm>
            <a:off x="228600" y="4163211"/>
            <a:ext cx="8641080" cy="861774"/>
          </a:xfrm>
          <a:prstGeom prst="rect">
            <a:avLst/>
          </a:prstGeom>
          <a:solidFill>
            <a:srgbClr val="0D1B2A"/>
          </a:solidFill>
        </p:spPr>
        <p:txBody>
          <a:bodyPr wrap="square">
            <a:spAutoFit/>
          </a:bodyPr>
          <a:lstStyle/>
          <a:p>
            <a:pPr algn="just">
              <a:lnSpc>
                <a:spcPts val="1500"/>
              </a:lnSpc>
            </a:pPr>
            <a:r>
              <a:rPr lang="pl-PL" sz="1400" spc="-40" dirty="0" smtClean="0">
                <a:solidFill>
                  <a:schemeClr val="bg1"/>
                </a:solidFill>
              </a:rPr>
              <a:t>Najpierw </a:t>
            </a:r>
            <a:r>
              <a:rPr lang="pl-PL" sz="1400" spc="-40" dirty="0">
                <a:solidFill>
                  <a:schemeClr val="bg1"/>
                </a:solidFill>
              </a:rPr>
              <a:t>omówimy sam problem nawigacji humanoida, główne moduły systemu, układy odniesienia oraz miary </a:t>
            </a:r>
            <a:r>
              <a:rPr lang="pl-PL" sz="1400" spc="-40" dirty="0" smtClean="0">
                <a:solidFill>
                  <a:schemeClr val="bg1"/>
                </a:solidFill>
              </a:rPr>
              <a:t>jakości. Następnie </a:t>
            </a:r>
            <a:r>
              <a:rPr lang="pl-PL" sz="1400" spc="-40" dirty="0">
                <a:solidFill>
                  <a:schemeClr val="bg1"/>
                </a:solidFill>
              </a:rPr>
              <a:t>przejdziemy do sensorów i percepcji, czyli IMU, </a:t>
            </a:r>
            <a:r>
              <a:rPr lang="pl-PL" sz="1400" spc="-40" dirty="0" err="1">
                <a:solidFill>
                  <a:schemeClr val="bg1"/>
                </a:solidFill>
              </a:rPr>
              <a:t>LiDAR</a:t>
            </a:r>
            <a:r>
              <a:rPr lang="pl-PL" sz="1400" spc="-40" dirty="0">
                <a:solidFill>
                  <a:schemeClr val="bg1"/>
                </a:solidFill>
              </a:rPr>
              <a:t>-u, kamer, filtracji </a:t>
            </a:r>
            <a:r>
              <a:rPr lang="pl-PL" sz="1400" spc="-40" dirty="0" smtClean="0">
                <a:solidFill>
                  <a:schemeClr val="bg1"/>
                </a:solidFill>
              </a:rPr>
              <a:t>i </a:t>
            </a:r>
            <a:r>
              <a:rPr lang="pl-PL" sz="1400" spc="-40" dirty="0">
                <a:solidFill>
                  <a:schemeClr val="bg1"/>
                </a:solidFill>
              </a:rPr>
              <a:t>synchronizacji danych. W trzeciej części zajmiemy się reprezentacją środowiska: mapami zajętości, </a:t>
            </a:r>
            <a:r>
              <a:rPr lang="pl-PL" sz="1400" spc="-40" dirty="0" err="1">
                <a:solidFill>
                  <a:schemeClr val="bg1"/>
                </a:solidFill>
              </a:rPr>
              <a:t>cost</a:t>
            </a:r>
            <a:r>
              <a:rPr lang="pl-PL" sz="1400" spc="-40" dirty="0">
                <a:solidFill>
                  <a:schemeClr val="bg1"/>
                </a:solidFill>
              </a:rPr>
              <a:t> mapami oraz mapowaniem lokalnym i globalnym. Po drodze będziemy też analizować krótkie przykłady w </a:t>
            </a:r>
            <a:r>
              <a:rPr lang="pl-PL" sz="1400" spc="-40" dirty="0" err="1">
                <a:solidFill>
                  <a:schemeClr val="bg1"/>
                </a:solidFill>
              </a:rPr>
              <a:t>Pythonie</a:t>
            </a:r>
            <a:r>
              <a:rPr lang="pl-PL" sz="1400" spc="-40" dirty="0">
                <a:solidFill>
                  <a:schemeClr val="bg1"/>
                </a:solidFil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355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B4D8"/>
          </a:solidFill>
          <a:ln w="12700">
            <a:solidFill>
              <a:srgbClr val="00B4D8"/>
            </a:solidFill>
            <a:prstDash val="solid"/>
          </a:ln>
        </p:spPr>
      </p:sp>
      <p:sp>
        <p:nvSpPr>
          <p:cNvPr id="3" name="Shape 1"/>
          <p:cNvSpPr/>
          <p:nvPr/>
        </p:nvSpPr>
        <p:spPr>
          <a:xfrm>
            <a:off x="0" y="5052060"/>
            <a:ext cx="9144000" cy="91440"/>
          </a:xfrm>
          <a:prstGeom prst="rect">
            <a:avLst/>
          </a:prstGeom>
          <a:solidFill>
            <a:srgbClr val="0077A8"/>
          </a:solidFill>
          <a:ln w="12700">
            <a:solidFill>
              <a:srgbClr val="0077A8"/>
            </a:solidFill>
            <a:prstDash val="solid"/>
          </a:ln>
        </p:spPr>
      </p:sp>
      <p:sp>
        <p:nvSpPr>
          <p:cNvPr id="4" name="Text 2"/>
          <p:cNvSpPr/>
          <p:nvPr/>
        </p:nvSpPr>
        <p:spPr>
          <a:xfrm>
            <a:off x="457200" y="640080"/>
            <a:ext cx="2286000" cy="2286000"/>
          </a:xfrm>
          <a:prstGeom prst="rect">
            <a:avLst/>
          </a:prstGeom>
          <a:noFill/>
          <a:ln/>
          <a:effectLst>
            <a:outerShdw blurRad="50800" dist="38100" dir="2700000" algn="tl" rotWithShape="0">
              <a:prstClr val="black">
                <a:alpha val="40000"/>
              </a:prstClr>
            </a:outerShdw>
          </a:effectLst>
        </p:spPr>
        <p:txBody>
          <a:bodyPr wrap="square" lIns="0" tIns="0" rIns="0" bIns="0" rtlCol="0" anchor="ctr"/>
          <a:lstStyle/>
          <a:p>
            <a:pPr marL="0" indent="0" algn="ctr">
              <a:buNone/>
            </a:pPr>
            <a:r>
              <a:rPr lang="en-US" sz="12000" b="1" dirty="0">
                <a:solidFill>
                  <a:srgbClr val="00B4D8">
                    <a:alpha val="80000"/>
                  </a:srgbClr>
                </a:solidFill>
                <a:latin typeface="Trebuchet MS" pitchFamily="34" charset="0"/>
                <a:ea typeface="Trebuchet MS" pitchFamily="34" charset="-122"/>
                <a:cs typeface="Trebuchet MS" pitchFamily="34" charset="-120"/>
              </a:rPr>
              <a:t>01</a:t>
            </a:r>
            <a:endParaRPr lang="en-US" sz="12000" dirty="0"/>
          </a:p>
        </p:txBody>
      </p:sp>
      <p:sp>
        <p:nvSpPr>
          <p:cNvPr id="5" name="Shape 3"/>
          <p:cNvSpPr/>
          <p:nvPr/>
        </p:nvSpPr>
        <p:spPr>
          <a:xfrm>
            <a:off x="7132320" y="1371600"/>
            <a:ext cx="1645920" cy="1645920"/>
          </a:xfrm>
          <a:prstGeom prst="ellipse">
            <a:avLst/>
          </a:prstGeom>
          <a:solidFill>
            <a:schemeClr val="bg1"/>
          </a:solidFill>
          <a:ln w="57150">
            <a:solidFill>
              <a:srgbClr val="00B4D8"/>
            </a:solidFill>
            <a:prstDash val="solid"/>
          </a:ln>
          <a:effectLst>
            <a:outerShdw blurRad="50800" dist="38100" dir="2700000" algn="tl" rotWithShape="0">
              <a:prstClr val="black">
                <a:alpha val="40000"/>
              </a:prstClr>
            </a:outerShdw>
          </a:effectLst>
        </p:spPr>
      </p:sp>
      <p:pic>
        <p:nvPicPr>
          <p:cNvPr id="6" name="Image 0" descr="preencoded.png"/>
          <p:cNvPicPr>
            <a:picLocks noChangeAspect="1"/>
          </p:cNvPicPr>
          <p:nvPr/>
        </p:nvPicPr>
        <p:blipFill>
          <a:blip r:embed="rId3"/>
          <a:stretch>
            <a:fillRect/>
          </a:stretch>
        </p:blipFill>
        <p:spPr>
          <a:xfrm>
            <a:off x="7406640" y="1645920"/>
            <a:ext cx="1097280" cy="1097280"/>
          </a:xfrm>
          <a:prstGeom prst="rect">
            <a:avLst/>
          </a:prstGeom>
        </p:spPr>
      </p:pic>
      <p:sp>
        <p:nvSpPr>
          <p:cNvPr id="7" name="Text 4"/>
          <p:cNvSpPr/>
          <p:nvPr/>
        </p:nvSpPr>
        <p:spPr>
          <a:xfrm>
            <a:off x="2926080" y="1188720"/>
            <a:ext cx="3931920" cy="365760"/>
          </a:xfrm>
          <a:prstGeom prst="rect">
            <a:avLst/>
          </a:prstGeom>
          <a:noFill/>
          <a:ln/>
        </p:spPr>
        <p:txBody>
          <a:bodyPr wrap="square" lIns="0" tIns="0" rIns="0" bIns="0" rtlCol="0" anchor="ctr"/>
          <a:lstStyle/>
          <a:p>
            <a:pPr marL="0" indent="0">
              <a:buNone/>
            </a:pPr>
            <a:r>
              <a:rPr lang="en-US" sz="1200" b="1" kern="0" spc="400" dirty="0">
                <a:solidFill>
                  <a:srgbClr val="00B4D8"/>
                </a:solidFill>
                <a:latin typeface="Trebuchet MS" pitchFamily="34" charset="0"/>
                <a:ea typeface="Trebuchet MS" pitchFamily="34" charset="-122"/>
                <a:cs typeface="Trebuchet MS" pitchFamily="34" charset="-120"/>
              </a:rPr>
              <a:t>SEKCJA</a:t>
            </a:r>
            <a:endParaRPr lang="en-US" sz="1200" dirty="0"/>
          </a:p>
        </p:txBody>
      </p:sp>
      <p:sp>
        <p:nvSpPr>
          <p:cNvPr id="8" name="Text 5"/>
          <p:cNvSpPr/>
          <p:nvPr/>
        </p:nvSpPr>
        <p:spPr>
          <a:xfrm>
            <a:off x="2926080" y="1600200"/>
            <a:ext cx="3931920" cy="91440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Problem nawigacji</a:t>
            </a:r>
            <a:endParaRPr lang="en-US" sz="3200" dirty="0"/>
          </a:p>
          <a:p>
            <a:pPr marL="0" indent="0">
              <a:buNone/>
            </a:pPr>
            <a:r>
              <a:rPr lang="en-US" sz="3200" b="1" dirty="0">
                <a:solidFill>
                  <a:srgbClr val="FFFFFF"/>
                </a:solidFill>
                <a:latin typeface="Trebuchet MS" pitchFamily="34" charset="0"/>
                <a:ea typeface="Trebuchet MS" pitchFamily="34" charset="-122"/>
                <a:cs typeface="Trebuchet MS" pitchFamily="34" charset="-120"/>
              </a:rPr>
              <a:t>humanoida</a:t>
            </a:r>
            <a:endParaRPr lang="en-US" sz="3200" dirty="0"/>
          </a:p>
        </p:txBody>
      </p:sp>
      <p:sp>
        <p:nvSpPr>
          <p:cNvPr id="9" name="Shape 6"/>
          <p:cNvSpPr/>
          <p:nvPr/>
        </p:nvSpPr>
        <p:spPr>
          <a:xfrm>
            <a:off x="2926080" y="2606040"/>
            <a:ext cx="3931920" cy="27432"/>
          </a:xfrm>
          <a:prstGeom prst="rect">
            <a:avLst/>
          </a:prstGeom>
          <a:solidFill>
            <a:srgbClr val="00B4D8"/>
          </a:solidFill>
          <a:ln w="12700">
            <a:solidFill>
              <a:srgbClr val="00B4D8"/>
            </a:solidFill>
            <a:prstDash val="solid"/>
          </a:ln>
          <a:effectLst>
            <a:outerShdw blurRad="50800" dist="38100" dir="2700000" algn="tl" rotWithShape="0">
              <a:prstClr val="black">
                <a:alpha val="40000"/>
              </a:prstClr>
            </a:outerShdw>
          </a:effectLst>
        </p:spPr>
      </p:sp>
      <p:sp>
        <p:nvSpPr>
          <p:cNvPr id="10" name="Text 7"/>
          <p:cNvSpPr/>
          <p:nvPr/>
        </p:nvSpPr>
        <p:spPr>
          <a:xfrm>
            <a:off x="2926080" y="2743200"/>
            <a:ext cx="3931920" cy="464820"/>
          </a:xfrm>
          <a:prstGeom prst="rect">
            <a:avLst/>
          </a:prstGeom>
          <a:noFill/>
          <a:ln/>
        </p:spPr>
        <p:txBody>
          <a:bodyPr wrap="square" lIns="0" tIns="0" rIns="0" bIns="0" rtlCol="0" anchor="ctr"/>
          <a:lstStyle/>
          <a:p>
            <a:pPr marL="0" indent="0">
              <a:buNone/>
            </a:pPr>
            <a:r>
              <a:rPr lang="en-US" sz="1400" i="1" dirty="0">
                <a:solidFill>
                  <a:srgbClr val="E2EBF3"/>
                </a:solidFill>
                <a:latin typeface="Calibri" pitchFamily="34" charset="0"/>
                <a:ea typeface="Calibri" pitchFamily="34" charset="-122"/>
                <a:cs typeface="Calibri" pitchFamily="34" charset="-120"/>
              </a:rPr>
              <a:t>Definicja, architektura systemu i miary jakości nawigacji dwunożnej</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SEKCJA 1 | SPECYFIKA HUMANOIDA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Nawigacja humanoida a platforma kołowa</a:t>
            </a:r>
            <a:endParaRPr lang="en-US" sz="2800" dirty="0"/>
          </a:p>
        </p:txBody>
      </p:sp>
      <p:sp>
        <p:nvSpPr>
          <p:cNvPr id="6" name="Shape 4"/>
          <p:cNvSpPr/>
          <p:nvPr/>
        </p:nvSpPr>
        <p:spPr>
          <a:xfrm>
            <a:off x="274320" y="1097280"/>
            <a:ext cx="4160520" cy="2458269"/>
          </a:xfrm>
          <a:prstGeom prst="rect">
            <a:avLst/>
          </a:prstGeom>
          <a:solidFill>
            <a:srgbClr val="EFF6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097280"/>
            <a:ext cx="4160520" cy="411480"/>
          </a:xfrm>
          <a:prstGeom prst="rect">
            <a:avLst/>
          </a:prstGeom>
          <a:solidFill>
            <a:srgbClr val="0077A8"/>
          </a:solidFill>
          <a:ln w="12700">
            <a:solidFill>
              <a:srgbClr val="0077A8"/>
            </a:solidFill>
            <a:prstDash val="solid"/>
          </a:ln>
        </p:spPr>
      </p:sp>
      <p:sp>
        <p:nvSpPr>
          <p:cNvPr id="8" name="Text 6"/>
          <p:cNvSpPr/>
          <p:nvPr/>
        </p:nvSpPr>
        <p:spPr>
          <a:xfrm>
            <a:off x="457200" y="1159948"/>
            <a:ext cx="3794760" cy="276999"/>
          </a:xfrm>
          <a:prstGeom prst="rect">
            <a:avLst/>
          </a:prstGeom>
          <a:noFill/>
          <a:ln/>
        </p:spPr>
        <p:txBody>
          <a:bodyPr wrap="square" lIns="0" tIns="0" rIns="0" bIns="0" rtlCol="0" anchor="ctr">
            <a:spAutoFit/>
          </a:bodyPr>
          <a:lstStyle/>
          <a:p>
            <a:pPr marL="0" indent="0">
              <a:buNone/>
            </a:pPr>
            <a:r>
              <a:rPr lang="en-US" b="1" dirty="0">
                <a:solidFill>
                  <a:srgbClr val="FFFFFF"/>
                </a:solidFill>
                <a:latin typeface="Trebuchet MS" pitchFamily="34" charset="0"/>
                <a:ea typeface="Trebuchet MS" pitchFamily="34" charset="-122"/>
                <a:cs typeface="Trebuchet MS" pitchFamily="34" charset="-120"/>
              </a:rPr>
              <a:t>Robot kołowy (AGV / różnicowy)</a:t>
            </a:r>
            <a:endParaRPr lang="en-US" dirty="0"/>
          </a:p>
        </p:txBody>
      </p:sp>
      <p:sp>
        <p:nvSpPr>
          <p:cNvPr id="9" name="Shape 7"/>
          <p:cNvSpPr/>
          <p:nvPr/>
        </p:nvSpPr>
        <p:spPr>
          <a:xfrm>
            <a:off x="4709160" y="1097280"/>
            <a:ext cx="4160520" cy="2458269"/>
          </a:xfrm>
          <a:prstGeom prst="rect">
            <a:avLst/>
          </a:prstGeom>
          <a:solidFill>
            <a:srgbClr val="FFF1F5"/>
          </a:solidFill>
          <a:ln w="12700">
            <a:solidFill>
              <a:srgbClr val="E2EBF3"/>
            </a:solidFill>
            <a:prstDash val="solid"/>
          </a:ln>
          <a:effectLst>
            <a:outerShdw blurRad="76200" dist="25400" dir="8100000" algn="bl" rotWithShape="0">
              <a:srgbClr val="000000">
                <a:alpha val="12000"/>
              </a:srgbClr>
            </a:outerShdw>
          </a:effectLst>
        </p:spPr>
      </p:sp>
      <p:sp>
        <p:nvSpPr>
          <p:cNvPr id="10" name="Shape 8"/>
          <p:cNvSpPr/>
          <p:nvPr/>
        </p:nvSpPr>
        <p:spPr>
          <a:xfrm>
            <a:off x="4709160" y="1097280"/>
            <a:ext cx="4160520" cy="411480"/>
          </a:xfrm>
          <a:prstGeom prst="rect">
            <a:avLst/>
          </a:prstGeom>
          <a:solidFill>
            <a:srgbClr val="F72585"/>
          </a:solidFill>
          <a:ln w="12700">
            <a:solidFill>
              <a:srgbClr val="F72585"/>
            </a:solidFill>
            <a:prstDash val="solid"/>
          </a:ln>
        </p:spPr>
      </p:sp>
      <p:sp>
        <p:nvSpPr>
          <p:cNvPr id="11" name="Text 9"/>
          <p:cNvSpPr/>
          <p:nvPr/>
        </p:nvSpPr>
        <p:spPr>
          <a:xfrm>
            <a:off x="4892040" y="1159948"/>
            <a:ext cx="3794760" cy="276999"/>
          </a:xfrm>
          <a:prstGeom prst="rect">
            <a:avLst/>
          </a:prstGeom>
          <a:noFill/>
          <a:ln/>
        </p:spPr>
        <p:txBody>
          <a:bodyPr wrap="square" lIns="0" tIns="0" rIns="0" bIns="0" rtlCol="0" anchor="ctr">
            <a:spAutoFit/>
          </a:bodyPr>
          <a:lstStyle/>
          <a:p>
            <a:pPr marL="0" indent="0">
              <a:buNone/>
            </a:pPr>
            <a:r>
              <a:rPr lang="en-US" b="1" dirty="0">
                <a:solidFill>
                  <a:srgbClr val="FFFFFF"/>
                </a:solidFill>
                <a:latin typeface="Trebuchet MS" pitchFamily="34" charset="0"/>
                <a:ea typeface="Trebuchet MS" pitchFamily="34" charset="-122"/>
                <a:cs typeface="Trebuchet MS" pitchFamily="34" charset="-120"/>
              </a:rPr>
              <a:t>Robot humanoidalny</a:t>
            </a:r>
            <a:endParaRPr lang="en-US" dirty="0"/>
          </a:p>
        </p:txBody>
      </p:sp>
      <p:sp>
        <p:nvSpPr>
          <p:cNvPr id="12" name="Text 10"/>
          <p:cNvSpPr/>
          <p:nvPr/>
        </p:nvSpPr>
        <p:spPr>
          <a:xfrm>
            <a:off x="314960" y="1600200"/>
            <a:ext cx="4051300" cy="1808187"/>
          </a:xfrm>
          <a:prstGeom prst="rect">
            <a:avLst/>
          </a:prstGeom>
          <a:noFill/>
          <a:ln/>
        </p:spPr>
        <p:txBody>
          <a:bodyPr wrap="square" lIns="63500" tIns="101600" rIns="101600" bIns="63500" rtlCol="0" anchor="t">
            <a:spAutoFit/>
          </a:bodyPr>
          <a:lstStyle/>
          <a:p>
            <a:pPr marL="216000" indent="-216000">
              <a:spcAft>
                <a:spcPts val="800"/>
              </a:spcAft>
              <a:buSzPct val="100000"/>
              <a:buChar char="•"/>
            </a:pPr>
            <a:r>
              <a:rPr lang="en-US" sz="1600" spc="-40" dirty="0">
                <a:solidFill>
                  <a:srgbClr val="0D1B2A"/>
                </a:solidFill>
                <a:latin typeface="Calibri" pitchFamily="34" charset="0"/>
                <a:ea typeface="Calibri" pitchFamily="34" charset="-122"/>
                <a:cs typeface="Calibri" pitchFamily="34" charset="-120"/>
              </a:rPr>
              <a:t>Stabilna baza – zawsze min. 2 punkty kontaktu</a:t>
            </a:r>
            <a:endParaRPr lang="en-US" sz="1600" spc="-40" dirty="0"/>
          </a:p>
          <a:p>
            <a:pPr marL="216000" indent="-216000">
              <a:spcAft>
                <a:spcPts val="800"/>
              </a:spcAft>
              <a:buSzPct val="100000"/>
              <a:buChar char="•"/>
            </a:pPr>
            <a:r>
              <a:rPr lang="en-US" sz="1600" spc="-40" dirty="0">
                <a:solidFill>
                  <a:srgbClr val="0D1B2A"/>
                </a:solidFill>
                <a:latin typeface="Calibri" pitchFamily="34" charset="0"/>
                <a:ea typeface="Calibri" pitchFamily="34" charset="-122"/>
                <a:cs typeface="Calibri" pitchFamily="34" charset="-120"/>
              </a:rPr>
              <a:t>Prosta kinematyka – odometria kół wystarczy</a:t>
            </a:r>
            <a:endParaRPr lang="en-US" sz="1600" spc="-40" dirty="0"/>
          </a:p>
          <a:p>
            <a:pPr marL="216000" indent="-216000">
              <a:spcAft>
                <a:spcPts val="800"/>
              </a:spcAft>
              <a:buSzPct val="100000"/>
              <a:buChar char="•"/>
            </a:pPr>
            <a:r>
              <a:rPr lang="en-US" sz="1600" spc="-40" dirty="0">
                <a:solidFill>
                  <a:srgbClr val="0D1B2A"/>
                </a:solidFill>
                <a:latin typeface="Calibri" pitchFamily="34" charset="0"/>
                <a:ea typeface="Calibri" pitchFamily="34" charset="-122"/>
                <a:cs typeface="Calibri" pitchFamily="34" charset="-120"/>
              </a:rPr>
              <a:t>Brak ryzyka wywrotki przy ruchu do przodu</a:t>
            </a:r>
            <a:endParaRPr lang="en-US" sz="1600" spc="-40" dirty="0"/>
          </a:p>
          <a:p>
            <a:pPr marL="216000" indent="-216000">
              <a:spcAft>
                <a:spcPts val="800"/>
              </a:spcAft>
              <a:buSzPct val="100000"/>
              <a:buChar char="•"/>
            </a:pPr>
            <a:r>
              <a:rPr lang="en-US" sz="1600" spc="-40" dirty="0">
                <a:solidFill>
                  <a:srgbClr val="0D1B2A"/>
                </a:solidFill>
                <a:latin typeface="Calibri" pitchFamily="34" charset="0"/>
                <a:ea typeface="Calibri" pitchFamily="34" charset="-122"/>
                <a:cs typeface="Calibri" pitchFamily="34" charset="-120"/>
              </a:rPr>
              <a:t>Typowe środowisko: płaska posadzka</a:t>
            </a:r>
            <a:endParaRPr lang="en-US" sz="1600" spc="-40" dirty="0"/>
          </a:p>
          <a:p>
            <a:pPr marL="216000" indent="-216000">
              <a:spcAft>
                <a:spcPts val="800"/>
              </a:spcAft>
              <a:buSzPct val="100000"/>
              <a:buChar char="•"/>
            </a:pPr>
            <a:r>
              <a:rPr lang="en-US" sz="1600" spc="-40" dirty="0">
                <a:solidFill>
                  <a:srgbClr val="0D1B2A"/>
                </a:solidFill>
                <a:latin typeface="Calibri" pitchFamily="34" charset="0"/>
                <a:ea typeface="Calibri" pitchFamily="34" charset="-122"/>
                <a:cs typeface="Calibri" pitchFamily="34" charset="-120"/>
              </a:rPr>
              <a:t>Dojrzałe algorytmy SLAM i planowania</a:t>
            </a:r>
            <a:endParaRPr lang="en-US" sz="1600" spc="-40" dirty="0"/>
          </a:p>
        </p:txBody>
      </p:sp>
      <p:sp>
        <p:nvSpPr>
          <p:cNvPr id="13" name="Text 11"/>
          <p:cNvSpPr/>
          <p:nvPr/>
        </p:nvSpPr>
        <p:spPr>
          <a:xfrm>
            <a:off x="4754880" y="1485900"/>
            <a:ext cx="4091940" cy="2054409"/>
          </a:xfrm>
          <a:prstGeom prst="rect">
            <a:avLst/>
          </a:prstGeom>
          <a:noFill/>
          <a:ln/>
        </p:spPr>
        <p:txBody>
          <a:bodyPr wrap="square" lIns="63500" tIns="101600" rIns="101600" bIns="63500" rtlCol="0" anchor="t">
            <a:spAutoFit/>
          </a:bodyPr>
          <a:lstStyle/>
          <a:p>
            <a:pPr marL="216000" indent="-216000">
              <a:spcAft>
                <a:spcPts val="800"/>
              </a:spcAft>
              <a:buSzPct val="100000"/>
              <a:buChar char="•"/>
            </a:pPr>
            <a:r>
              <a:rPr lang="en-US" sz="1600" spc="-60" dirty="0" err="1">
                <a:solidFill>
                  <a:srgbClr val="0D1B2A"/>
                </a:solidFill>
                <a:latin typeface="Calibri" pitchFamily="34" charset="0"/>
                <a:ea typeface="Calibri" pitchFamily="34" charset="-122"/>
                <a:cs typeface="Calibri" pitchFamily="34" charset="-120"/>
              </a:rPr>
              <a:t>Dynamiczna</a:t>
            </a:r>
            <a:r>
              <a:rPr lang="en-US" sz="1600" spc="-60" dirty="0">
                <a:solidFill>
                  <a:srgbClr val="0D1B2A"/>
                </a:solidFill>
                <a:latin typeface="Calibri" pitchFamily="34" charset="0"/>
                <a:ea typeface="Calibri" pitchFamily="34" charset="-122"/>
                <a:cs typeface="Calibri" pitchFamily="34" charset="-120"/>
              </a:rPr>
              <a:t> </a:t>
            </a:r>
            <a:r>
              <a:rPr lang="en-US" sz="1600" spc="-60" dirty="0" err="1" smtClean="0">
                <a:solidFill>
                  <a:srgbClr val="0D1B2A"/>
                </a:solidFill>
                <a:latin typeface="Calibri" pitchFamily="34" charset="0"/>
                <a:ea typeface="Calibri" pitchFamily="34" charset="-122"/>
                <a:cs typeface="Calibri" pitchFamily="34" charset="-120"/>
              </a:rPr>
              <a:t>równowaga</a:t>
            </a:r>
            <a:r>
              <a:rPr lang="pl-PL" sz="1600" spc="-60" dirty="0">
                <a:solidFill>
                  <a:srgbClr val="0D1B2A"/>
                </a:solidFill>
                <a:latin typeface="Calibri" pitchFamily="34" charset="0"/>
                <a:ea typeface="Calibri" pitchFamily="34" charset="-122"/>
                <a:cs typeface="Calibri" pitchFamily="34" charset="-120"/>
              </a:rPr>
              <a:t>:</a:t>
            </a:r>
            <a:r>
              <a:rPr lang="en-US" sz="1600" spc="-60" dirty="0" smtClean="0">
                <a:solidFill>
                  <a:srgbClr val="0D1B2A"/>
                </a:solidFill>
                <a:latin typeface="Calibri" pitchFamily="34" charset="0"/>
                <a:ea typeface="Calibri" pitchFamily="34" charset="-122"/>
                <a:cs typeface="Calibri" pitchFamily="34" charset="-120"/>
              </a:rPr>
              <a:t> </a:t>
            </a:r>
            <a:r>
              <a:rPr lang="en-US" sz="1600" spc="-60" dirty="0">
                <a:solidFill>
                  <a:srgbClr val="0D1B2A"/>
                </a:solidFill>
                <a:latin typeface="Calibri" pitchFamily="34" charset="0"/>
                <a:ea typeface="Calibri" pitchFamily="34" charset="-122"/>
                <a:cs typeface="Calibri" pitchFamily="34" charset="-120"/>
              </a:rPr>
              <a:t>stopa </a:t>
            </a:r>
            <a:r>
              <a:rPr lang="en-US" sz="1600" spc="-60" dirty="0" err="1">
                <a:solidFill>
                  <a:srgbClr val="0D1B2A"/>
                </a:solidFill>
                <a:latin typeface="Calibri" pitchFamily="34" charset="0"/>
                <a:ea typeface="Calibri" pitchFamily="34" charset="-122"/>
                <a:cs typeface="Calibri" pitchFamily="34" charset="-120"/>
              </a:rPr>
              <a:t>uniesiona</a:t>
            </a:r>
            <a:r>
              <a:rPr lang="en-US" sz="1600" spc="-60" dirty="0">
                <a:solidFill>
                  <a:srgbClr val="0D1B2A"/>
                </a:solidFill>
                <a:latin typeface="Calibri" pitchFamily="34" charset="0"/>
                <a:ea typeface="Calibri" pitchFamily="34" charset="-122"/>
                <a:cs typeface="Calibri" pitchFamily="34" charset="-120"/>
              </a:rPr>
              <a:t> </a:t>
            </a:r>
            <a:r>
              <a:rPr lang="pl-PL" sz="1600" spc="-60" dirty="0" smtClean="0">
                <a:solidFill>
                  <a:srgbClr val="0D1B2A"/>
                </a:solidFill>
                <a:latin typeface="Calibri" pitchFamily="34" charset="0"/>
                <a:ea typeface="Calibri" pitchFamily="34" charset="-122"/>
                <a:cs typeface="Calibri" pitchFamily="34" charset="-120"/>
              </a:rPr>
              <a:t/>
            </a:r>
            <a:br>
              <a:rPr lang="pl-PL" sz="1600" spc="-60" dirty="0" smtClean="0">
                <a:solidFill>
                  <a:srgbClr val="0D1B2A"/>
                </a:solidFill>
                <a:latin typeface="Calibri" pitchFamily="34" charset="0"/>
                <a:ea typeface="Calibri" pitchFamily="34" charset="-122"/>
                <a:cs typeface="Calibri" pitchFamily="34" charset="-120"/>
              </a:rPr>
            </a:br>
            <a:r>
              <a:rPr lang="en-US" sz="1600" spc="-60" dirty="0" smtClean="0">
                <a:solidFill>
                  <a:srgbClr val="0D1B2A"/>
                </a:solidFill>
                <a:latin typeface="Calibri" pitchFamily="34" charset="0"/>
                <a:ea typeface="Calibri" pitchFamily="34" charset="-122"/>
                <a:cs typeface="Calibri" pitchFamily="34" charset="-120"/>
              </a:rPr>
              <a:t>w </a:t>
            </a:r>
            <a:r>
              <a:rPr lang="en-US" sz="1600" spc="-60" dirty="0">
                <a:solidFill>
                  <a:srgbClr val="0D1B2A"/>
                </a:solidFill>
                <a:latin typeface="Calibri" pitchFamily="34" charset="0"/>
                <a:ea typeface="Calibri" pitchFamily="34" charset="-122"/>
                <a:cs typeface="Calibri" pitchFamily="34" charset="-120"/>
              </a:rPr>
              <a:t>połowie cyklu</a:t>
            </a:r>
            <a:endParaRPr lang="en-US" sz="1600" spc="-60" dirty="0"/>
          </a:p>
          <a:p>
            <a:pPr marL="216000" indent="-216000">
              <a:spcAft>
                <a:spcPts val="800"/>
              </a:spcAft>
              <a:buSzPct val="100000"/>
              <a:buChar char="•"/>
            </a:pPr>
            <a:r>
              <a:rPr lang="en-US" sz="1600" spc="-60" dirty="0">
                <a:solidFill>
                  <a:srgbClr val="0D1B2A"/>
                </a:solidFill>
                <a:latin typeface="Calibri" pitchFamily="34" charset="0"/>
                <a:ea typeface="Calibri" pitchFamily="34" charset="-122"/>
                <a:cs typeface="Calibri" pitchFamily="34" charset="-120"/>
              </a:rPr>
              <a:t>Złożona kinematyka – 30+ stopni swobody</a:t>
            </a:r>
            <a:endParaRPr lang="en-US" sz="1600" spc="-60" dirty="0"/>
          </a:p>
          <a:p>
            <a:pPr marL="216000" indent="-216000">
              <a:spcAft>
                <a:spcPts val="800"/>
              </a:spcAft>
              <a:buSzPct val="100000"/>
              <a:buChar char="•"/>
            </a:pPr>
            <a:r>
              <a:rPr lang="en-US" sz="1600" spc="-60" dirty="0">
                <a:solidFill>
                  <a:srgbClr val="0D1B2A"/>
                </a:solidFill>
                <a:latin typeface="Calibri" pitchFamily="34" charset="0"/>
                <a:ea typeface="Calibri" pitchFamily="34" charset="-122"/>
                <a:cs typeface="Calibri" pitchFamily="34" charset="-120"/>
              </a:rPr>
              <a:t>Każdy krok to potencjalna utrata stabilności</a:t>
            </a:r>
            <a:endParaRPr lang="en-US" sz="1600" spc="-60" dirty="0"/>
          </a:p>
          <a:p>
            <a:pPr marL="216000" indent="-216000">
              <a:spcAft>
                <a:spcPts val="800"/>
              </a:spcAft>
              <a:buSzPct val="100000"/>
              <a:buChar char="•"/>
            </a:pPr>
            <a:r>
              <a:rPr lang="en-US" sz="1600" spc="-60" dirty="0">
                <a:solidFill>
                  <a:srgbClr val="0D1B2A"/>
                </a:solidFill>
                <a:latin typeface="Calibri" pitchFamily="34" charset="0"/>
                <a:ea typeface="Calibri" pitchFamily="34" charset="-122"/>
                <a:cs typeface="Calibri" pitchFamily="34" charset="-120"/>
              </a:rPr>
              <a:t>Środowisko: schody, progi, nierówności, drzwi</a:t>
            </a:r>
            <a:endParaRPr lang="en-US" sz="1600" spc="-60" dirty="0"/>
          </a:p>
          <a:p>
            <a:pPr marL="216000" indent="-216000">
              <a:spcAft>
                <a:spcPts val="800"/>
              </a:spcAft>
              <a:buSzPct val="100000"/>
              <a:buChar char="•"/>
            </a:pPr>
            <a:r>
              <a:rPr lang="en-US" sz="1600" spc="-60" dirty="0">
                <a:solidFill>
                  <a:srgbClr val="0D1B2A"/>
                </a:solidFill>
                <a:latin typeface="Calibri" pitchFamily="34" charset="0"/>
                <a:ea typeface="Calibri" pitchFamily="34" charset="-122"/>
                <a:cs typeface="Calibri" pitchFamily="34" charset="-120"/>
              </a:rPr>
              <a:t>Konieczność planowania kroków i trajektorii CoM</a:t>
            </a:r>
            <a:endParaRPr lang="en-US" sz="1600" spc="-60" dirty="0"/>
          </a:p>
        </p:txBody>
      </p:sp>
      <p:sp>
        <p:nvSpPr>
          <p:cNvPr id="14" name="Prostokąt 13"/>
          <p:cNvSpPr/>
          <p:nvPr/>
        </p:nvSpPr>
        <p:spPr>
          <a:xfrm>
            <a:off x="228600" y="3915156"/>
            <a:ext cx="8641080" cy="1054135"/>
          </a:xfrm>
          <a:prstGeom prst="rect">
            <a:avLst/>
          </a:prstGeom>
          <a:solidFill>
            <a:srgbClr val="0D1B2A"/>
          </a:solidFill>
        </p:spPr>
        <p:txBody>
          <a:bodyPr wrap="square">
            <a:spAutoFit/>
          </a:bodyPr>
          <a:lstStyle/>
          <a:p>
            <a:pPr algn="just">
              <a:lnSpc>
                <a:spcPts val="1500"/>
              </a:lnSpc>
            </a:pPr>
            <a:r>
              <a:rPr lang="pl-PL" sz="1400" spc="-40" dirty="0">
                <a:solidFill>
                  <a:schemeClr val="bg1"/>
                </a:solidFill>
              </a:rPr>
              <a:t>Proszę zwrócić uwagę, że </a:t>
            </a:r>
            <a:r>
              <a:rPr lang="pl-PL" sz="1400" spc="-40" dirty="0" err="1">
                <a:solidFill>
                  <a:schemeClr val="bg1"/>
                </a:solidFill>
              </a:rPr>
              <a:t>humanoid</a:t>
            </a:r>
            <a:r>
              <a:rPr lang="pl-PL" sz="1400" spc="-40" dirty="0">
                <a:solidFill>
                  <a:schemeClr val="bg1"/>
                </a:solidFill>
              </a:rPr>
              <a:t> nawigacyjnie bardzo różni się od platformy kołowej. Robot kołowy ma stabilną bazę, prostą kinematykę i zwykle porusza się po płaskiej posadzce, więc wiele klasycznych metod działa tam bardzo dobrze. Humanoid natomiast funkcjonuje w warunkach dynamicznej równowagi, ma złożoną kinematykę, ryzyko utraty stabilności przy każdym kroku i musi radzić sobie ze schodami, progami, nierównościami oraz drzwiami. Dlatego w jego przypadku sama trajektoria nie </a:t>
            </a:r>
            <a:r>
              <a:rPr lang="pl-PL" sz="1400" spc="-40" dirty="0" smtClean="0">
                <a:solidFill>
                  <a:schemeClr val="bg1"/>
                </a:solidFill>
              </a:rPr>
              <a:t>wystarcza, </a:t>
            </a:r>
            <a:r>
              <a:rPr lang="pl-PL" sz="1400" spc="-40" dirty="0">
                <a:solidFill>
                  <a:schemeClr val="bg1"/>
                </a:solidFill>
              </a:rPr>
              <a:t>trzeba planować także kroki i trajektorię środka masy.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ARCHITEKTURA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Główne moduły systemu nawigacji</a:t>
            </a:r>
            <a:endParaRPr lang="en-US" sz="2800" dirty="0"/>
          </a:p>
        </p:txBody>
      </p:sp>
      <p:sp>
        <p:nvSpPr>
          <p:cNvPr id="6" name="Shape 4"/>
          <p:cNvSpPr/>
          <p:nvPr/>
        </p:nvSpPr>
        <p:spPr>
          <a:xfrm>
            <a:off x="274320" y="1143000"/>
            <a:ext cx="2651760" cy="12115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2651760" cy="54864"/>
          </a:xfrm>
          <a:prstGeom prst="rect">
            <a:avLst/>
          </a:prstGeom>
          <a:solidFill>
            <a:srgbClr val="00B4D8"/>
          </a:solidFill>
          <a:ln w="12700">
            <a:solidFill>
              <a:srgbClr val="00B4D8"/>
            </a:solidFill>
            <a:prstDash val="solid"/>
          </a:ln>
        </p:spPr>
      </p:sp>
      <p:sp>
        <p:nvSpPr>
          <p:cNvPr id="8" name="Text 6"/>
          <p:cNvSpPr/>
          <p:nvPr/>
        </p:nvSpPr>
        <p:spPr>
          <a:xfrm>
            <a:off x="384048" y="1234441"/>
            <a:ext cx="2432304" cy="32613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Percepcja</a:t>
            </a:r>
            <a:endParaRPr lang="en-US" sz="2000" dirty="0"/>
          </a:p>
        </p:txBody>
      </p:sp>
      <p:sp>
        <p:nvSpPr>
          <p:cNvPr id="9" name="Text 7"/>
          <p:cNvSpPr/>
          <p:nvPr/>
        </p:nvSpPr>
        <p:spPr>
          <a:xfrm>
            <a:off x="384048" y="1667257"/>
            <a:ext cx="2432304" cy="48920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IMU, enkodery, kamery, LiDAR, czujniki sił</a:t>
            </a:r>
            <a:endParaRPr lang="en-US" sz="1600" dirty="0"/>
          </a:p>
        </p:txBody>
      </p:sp>
      <p:sp>
        <p:nvSpPr>
          <p:cNvPr id="10" name="Shape 8"/>
          <p:cNvSpPr/>
          <p:nvPr/>
        </p:nvSpPr>
        <p:spPr>
          <a:xfrm>
            <a:off x="3154680" y="1143000"/>
            <a:ext cx="2651760" cy="12115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3154680" y="1143000"/>
            <a:ext cx="2651760" cy="54864"/>
          </a:xfrm>
          <a:prstGeom prst="rect">
            <a:avLst/>
          </a:prstGeom>
          <a:solidFill>
            <a:srgbClr val="0077A8"/>
          </a:solidFill>
          <a:ln w="12700">
            <a:solidFill>
              <a:srgbClr val="0077A8"/>
            </a:solidFill>
            <a:prstDash val="solid"/>
          </a:ln>
        </p:spPr>
      </p:sp>
      <p:sp>
        <p:nvSpPr>
          <p:cNvPr id="12" name="Text 10"/>
          <p:cNvSpPr/>
          <p:nvPr/>
        </p:nvSpPr>
        <p:spPr>
          <a:xfrm>
            <a:off x="3264408" y="1234441"/>
            <a:ext cx="2432304" cy="32613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Lokalizacja</a:t>
            </a:r>
            <a:endParaRPr lang="en-US" sz="2000" dirty="0"/>
          </a:p>
        </p:txBody>
      </p:sp>
      <p:sp>
        <p:nvSpPr>
          <p:cNvPr id="13" name="Text 11"/>
          <p:cNvSpPr/>
          <p:nvPr/>
        </p:nvSpPr>
        <p:spPr>
          <a:xfrm>
            <a:off x="3264408" y="1667257"/>
            <a:ext cx="2432304" cy="48920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Estymacja stanu, fuzja sensoryczna, SLAM</a:t>
            </a:r>
            <a:endParaRPr lang="en-US" sz="1600" dirty="0"/>
          </a:p>
        </p:txBody>
      </p:sp>
      <p:sp>
        <p:nvSpPr>
          <p:cNvPr id="14" name="Shape 12"/>
          <p:cNvSpPr/>
          <p:nvPr/>
        </p:nvSpPr>
        <p:spPr>
          <a:xfrm>
            <a:off x="6035040" y="1143000"/>
            <a:ext cx="2651760" cy="12115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6035040" y="1143000"/>
            <a:ext cx="2651760" cy="54864"/>
          </a:xfrm>
          <a:prstGeom prst="rect">
            <a:avLst/>
          </a:prstGeom>
          <a:solidFill>
            <a:srgbClr val="0077A8"/>
          </a:solidFill>
          <a:ln w="12700">
            <a:solidFill>
              <a:srgbClr val="0077A8"/>
            </a:solidFill>
            <a:prstDash val="solid"/>
          </a:ln>
        </p:spPr>
      </p:sp>
      <p:sp>
        <p:nvSpPr>
          <p:cNvPr id="16" name="Text 14"/>
          <p:cNvSpPr/>
          <p:nvPr/>
        </p:nvSpPr>
        <p:spPr>
          <a:xfrm>
            <a:off x="6144768" y="1234441"/>
            <a:ext cx="2432304" cy="32613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Mapowanie</a:t>
            </a:r>
            <a:endParaRPr lang="en-US" sz="2000" dirty="0"/>
          </a:p>
        </p:txBody>
      </p:sp>
      <p:sp>
        <p:nvSpPr>
          <p:cNvPr id="17" name="Text 15"/>
          <p:cNvSpPr/>
          <p:nvPr/>
        </p:nvSpPr>
        <p:spPr>
          <a:xfrm>
            <a:off x="6144768" y="1667257"/>
            <a:ext cx="2432304" cy="48920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Occupancy grid, height map, mapa semantyczna</a:t>
            </a:r>
            <a:endParaRPr lang="en-US" sz="1600" dirty="0"/>
          </a:p>
        </p:txBody>
      </p:sp>
      <p:sp>
        <p:nvSpPr>
          <p:cNvPr id="18" name="Shape 16"/>
          <p:cNvSpPr/>
          <p:nvPr/>
        </p:nvSpPr>
        <p:spPr>
          <a:xfrm>
            <a:off x="274320" y="2522220"/>
            <a:ext cx="2651760" cy="12115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274320" y="2522220"/>
            <a:ext cx="2651760" cy="54864"/>
          </a:xfrm>
          <a:prstGeom prst="rect">
            <a:avLst/>
          </a:prstGeom>
          <a:solidFill>
            <a:srgbClr val="006490"/>
          </a:solidFill>
          <a:ln w="12700">
            <a:solidFill>
              <a:srgbClr val="006490"/>
            </a:solidFill>
            <a:prstDash val="solid"/>
          </a:ln>
        </p:spPr>
      </p:sp>
      <p:sp>
        <p:nvSpPr>
          <p:cNvPr id="20" name="Text 18"/>
          <p:cNvSpPr/>
          <p:nvPr/>
        </p:nvSpPr>
        <p:spPr>
          <a:xfrm>
            <a:off x="384048" y="2613661"/>
            <a:ext cx="2432304" cy="32613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Planowanie globalne</a:t>
            </a:r>
            <a:endParaRPr lang="en-US" sz="2000" dirty="0"/>
          </a:p>
        </p:txBody>
      </p:sp>
      <p:sp>
        <p:nvSpPr>
          <p:cNvPr id="21" name="Text 19"/>
          <p:cNvSpPr/>
          <p:nvPr/>
        </p:nvSpPr>
        <p:spPr>
          <a:xfrm>
            <a:off x="384048" y="3046477"/>
            <a:ext cx="2432304" cy="48920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Dijkstra, A*, graph-based path planning</a:t>
            </a:r>
            <a:endParaRPr lang="en-US" sz="1600" dirty="0"/>
          </a:p>
        </p:txBody>
      </p:sp>
      <p:sp>
        <p:nvSpPr>
          <p:cNvPr id="22" name="Shape 20"/>
          <p:cNvSpPr/>
          <p:nvPr/>
        </p:nvSpPr>
        <p:spPr>
          <a:xfrm>
            <a:off x="3154680" y="2522220"/>
            <a:ext cx="2651760" cy="12115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3" name="Shape 21"/>
          <p:cNvSpPr/>
          <p:nvPr/>
        </p:nvSpPr>
        <p:spPr>
          <a:xfrm>
            <a:off x="3154680" y="2522220"/>
            <a:ext cx="2651760" cy="54864"/>
          </a:xfrm>
          <a:prstGeom prst="rect">
            <a:avLst/>
          </a:prstGeom>
          <a:solidFill>
            <a:srgbClr val="1A3550"/>
          </a:solidFill>
          <a:ln w="12700">
            <a:solidFill>
              <a:srgbClr val="1A3550"/>
            </a:solidFill>
            <a:prstDash val="solid"/>
          </a:ln>
        </p:spPr>
      </p:sp>
      <p:sp>
        <p:nvSpPr>
          <p:cNvPr id="24" name="Text 22"/>
          <p:cNvSpPr/>
          <p:nvPr/>
        </p:nvSpPr>
        <p:spPr>
          <a:xfrm>
            <a:off x="3264408" y="2613661"/>
            <a:ext cx="2432304" cy="32613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Planowanie lokalne</a:t>
            </a:r>
            <a:endParaRPr lang="en-US" sz="2000" dirty="0"/>
          </a:p>
        </p:txBody>
      </p:sp>
      <p:sp>
        <p:nvSpPr>
          <p:cNvPr id="25" name="Text 23"/>
          <p:cNvSpPr/>
          <p:nvPr/>
        </p:nvSpPr>
        <p:spPr>
          <a:xfrm>
            <a:off x="3264408" y="3046477"/>
            <a:ext cx="2432304" cy="48920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DWA, potential fields, MPC</a:t>
            </a:r>
            <a:endParaRPr lang="en-US" sz="1600" dirty="0"/>
          </a:p>
        </p:txBody>
      </p:sp>
      <p:sp>
        <p:nvSpPr>
          <p:cNvPr id="26" name="Shape 24"/>
          <p:cNvSpPr/>
          <p:nvPr/>
        </p:nvSpPr>
        <p:spPr>
          <a:xfrm>
            <a:off x="6035040" y="2522220"/>
            <a:ext cx="2651760" cy="12115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7" name="Shape 25"/>
          <p:cNvSpPr/>
          <p:nvPr/>
        </p:nvSpPr>
        <p:spPr>
          <a:xfrm>
            <a:off x="6035040" y="2522220"/>
            <a:ext cx="2651760" cy="54864"/>
          </a:xfrm>
          <a:prstGeom prst="rect">
            <a:avLst/>
          </a:prstGeom>
          <a:solidFill>
            <a:srgbClr val="1A3550"/>
          </a:solidFill>
          <a:ln w="12700">
            <a:solidFill>
              <a:srgbClr val="1A3550"/>
            </a:solidFill>
            <a:prstDash val="solid"/>
          </a:ln>
        </p:spPr>
      </p:sp>
      <p:sp>
        <p:nvSpPr>
          <p:cNvPr id="28" name="Text 26"/>
          <p:cNvSpPr/>
          <p:nvPr/>
        </p:nvSpPr>
        <p:spPr>
          <a:xfrm>
            <a:off x="6144768" y="2613661"/>
            <a:ext cx="2432304" cy="32613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Sterowanie chodem</a:t>
            </a:r>
            <a:endParaRPr lang="en-US" sz="2000" dirty="0"/>
          </a:p>
        </p:txBody>
      </p:sp>
      <p:sp>
        <p:nvSpPr>
          <p:cNvPr id="29" name="Text 27"/>
          <p:cNvSpPr/>
          <p:nvPr/>
        </p:nvSpPr>
        <p:spPr>
          <a:xfrm>
            <a:off x="6144768" y="3046477"/>
            <a:ext cx="2432304" cy="48920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ZMP, LIPM, footstep planning, WBC</a:t>
            </a:r>
            <a:endParaRPr lang="en-US" sz="1600" dirty="0"/>
          </a:p>
        </p:txBody>
      </p:sp>
      <p:sp>
        <p:nvSpPr>
          <p:cNvPr id="30" name="Prostokąt 29"/>
          <p:cNvSpPr/>
          <p:nvPr/>
        </p:nvSpPr>
        <p:spPr>
          <a:xfrm>
            <a:off x="274320" y="4006596"/>
            <a:ext cx="8412480" cy="1054135"/>
          </a:xfrm>
          <a:prstGeom prst="rect">
            <a:avLst/>
          </a:prstGeom>
          <a:solidFill>
            <a:srgbClr val="0D1B2A"/>
          </a:solidFill>
        </p:spPr>
        <p:txBody>
          <a:bodyPr wrap="square">
            <a:spAutoFit/>
          </a:bodyPr>
          <a:lstStyle/>
          <a:p>
            <a:pPr algn="just">
              <a:lnSpc>
                <a:spcPts val="1500"/>
              </a:lnSpc>
            </a:pPr>
            <a:r>
              <a:rPr lang="pl-PL" sz="1400" spc="-40" dirty="0">
                <a:solidFill>
                  <a:schemeClr val="bg1"/>
                </a:solidFill>
              </a:rPr>
              <a:t>Typowy system nawigacji </a:t>
            </a:r>
            <a:r>
              <a:rPr lang="pl-PL" sz="1400" spc="-40" dirty="0" err="1">
                <a:solidFill>
                  <a:schemeClr val="bg1"/>
                </a:solidFill>
              </a:rPr>
              <a:t>humanoida</a:t>
            </a:r>
            <a:r>
              <a:rPr lang="pl-PL" sz="1400" spc="-40" dirty="0">
                <a:solidFill>
                  <a:schemeClr val="bg1"/>
                </a:solidFill>
              </a:rPr>
              <a:t> składa się z sześciu głównych modułów. Najpierw mamy percepcję, która zbiera dane </a:t>
            </a:r>
            <a:r>
              <a:rPr lang="pl-PL" sz="1400" spc="-40" dirty="0" smtClean="0">
                <a:solidFill>
                  <a:schemeClr val="bg1"/>
                </a:solidFill>
              </a:rPr>
              <a:t>z </a:t>
            </a:r>
            <a:r>
              <a:rPr lang="pl-PL" sz="1400" spc="-40" dirty="0">
                <a:solidFill>
                  <a:schemeClr val="bg1"/>
                </a:solidFill>
              </a:rPr>
              <a:t>IMU, </a:t>
            </a:r>
            <a:r>
              <a:rPr lang="pl-PL" sz="1400" spc="-40" dirty="0" err="1">
                <a:solidFill>
                  <a:schemeClr val="bg1"/>
                </a:solidFill>
              </a:rPr>
              <a:t>enkoderów</a:t>
            </a:r>
            <a:r>
              <a:rPr lang="pl-PL" sz="1400" spc="-40" dirty="0">
                <a:solidFill>
                  <a:schemeClr val="bg1"/>
                </a:solidFill>
              </a:rPr>
              <a:t>, kamer, </a:t>
            </a:r>
            <a:r>
              <a:rPr lang="pl-PL" sz="1400" spc="-40" dirty="0" err="1">
                <a:solidFill>
                  <a:schemeClr val="bg1"/>
                </a:solidFill>
              </a:rPr>
              <a:t>LiDAR</a:t>
            </a:r>
            <a:r>
              <a:rPr lang="pl-PL" sz="1400" spc="-40" dirty="0">
                <a:solidFill>
                  <a:schemeClr val="bg1"/>
                </a:solidFill>
              </a:rPr>
              <a:t>-u i czujników sił. Potem lokalizacja, czyli estymacja stanu, fuzja sensoryczna i często SLAM. Dalej mapowanie, na przykład </a:t>
            </a:r>
            <a:r>
              <a:rPr lang="pl-PL" sz="1400" spc="-40" dirty="0" err="1">
                <a:solidFill>
                  <a:schemeClr val="bg1"/>
                </a:solidFill>
              </a:rPr>
              <a:t>occupancy</a:t>
            </a:r>
            <a:r>
              <a:rPr lang="pl-PL" sz="1400" spc="-40" dirty="0">
                <a:solidFill>
                  <a:schemeClr val="bg1"/>
                </a:solidFill>
              </a:rPr>
              <a:t> </a:t>
            </a:r>
            <a:r>
              <a:rPr lang="pl-PL" sz="1400" spc="-40" dirty="0" err="1">
                <a:solidFill>
                  <a:schemeClr val="bg1"/>
                </a:solidFill>
              </a:rPr>
              <a:t>grid</a:t>
            </a:r>
            <a:r>
              <a:rPr lang="pl-PL" sz="1400" spc="-40" dirty="0">
                <a:solidFill>
                  <a:schemeClr val="bg1"/>
                </a:solidFill>
              </a:rPr>
              <a:t>, </a:t>
            </a:r>
            <a:r>
              <a:rPr lang="pl-PL" sz="1400" spc="-40" dirty="0" err="1">
                <a:solidFill>
                  <a:schemeClr val="bg1"/>
                </a:solidFill>
              </a:rPr>
              <a:t>height</a:t>
            </a:r>
            <a:r>
              <a:rPr lang="pl-PL" sz="1400" spc="-40" dirty="0">
                <a:solidFill>
                  <a:schemeClr val="bg1"/>
                </a:solidFill>
              </a:rPr>
              <a:t> map albo mapa semantyczna. Na tej podstawie działa planowanie globalne, później planowanie lokalne, a na końcu sterowanie chodem, które zamienia decyzje planistyczne na rzeczywiste kroki, trajektorie </a:t>
            </a:r>
            <a:r>
              <a:rPr lang="pl-PL" sz="1400" spc="-40" dirty="0" err="1">
                <a:solidFill>
                  <a:schemeClr val="bg1"/>
                </a:solidFill>
              </a:rPr>
              <a:t>CoM</a:t>
            </a:r>
            <a:r>
              <a:rPr lang="pl-PL" sz="1400" spc="-40" dirty="0">
                <a:solidFill>
                  <a:schemeClr val="bg1"/>
                </a:solidFill>
              </a:rPr>
              <a:t> i komendy całego ciała.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PRZEPŁYW DANYCH</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Przepływ informacji w systemie nawigacji</a:t>
            </a:r>
            <a:endParaRPr lang="en-US" sz="2800" dirty="0"/>
          </a:p>
        </p:txBody>
      </p:sp>
      <p:sp>
        <p:nvSpPr>
          <p:cNvPr id="6" name="Shape 4"/>
          <p:cNvSpPr/>
          <p:nvPr/>
        </p:nvSpPr>
        <p:spPr>
          <a:xfrm>
            <a:off x="274320" y="1074420"/>
            <a:ext cx="8595360" cy="28956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043940"/>
            <a:ext cx="8229600" cy="2948940"/>
          </a:xfrm>
          <a:prstGeom prst="rect">
            <a:avLst/>
          </a:prstGeom>
          <a:noFill/>
          <a:ln/>
        </p:spPr>
        <p:txBody>
          <a:bodyPr wrap="square" lIns="127000" tIns="127000" rIns="127000" bIns="127000" rtlCol="0" anchor="t"/>
          <a:lstStyle/>
          <a:p>
            <a:pPr marL="252000" indent="-252000">
              <a:spcAft>
                <a:spcPts val="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Sensory  →  Percepcja</a:t>
            </a:r>
            <a:r>
              <a:rPr lang="en-US" sz="1600" dirty="0">
                <a:solidFill>
                  <a:srgbClr val="0D1B2A"/>
                </a:solidFill>
                <a:latin typeface="Calibri" pitchFamily="34" charset="0"/>
                <a:ea typeface="Calibri" pitchFamily="34" charset="-122"/>
                <a:cs typeface="Calibri" pitchFamily="34" charset="-120"/>
              </a:rPr>
              <a:t>: surowe dane z IMU, enkoderów, LiDAR, kamer</a:t>
            </a:r>
            <a:endParaRPr lang="en-US" sz="1600" dirty="0"/>
          </a:p>
          <a:p>
            <a:pPr marL="252000" indent="-252000">
              <a:spcAft>
                <a:spcPts val="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Percepcja  →  Estymacja stanu</a:t>
            </a:r>
            <a:r>
              <a:rPr lang="en-US" sz="1600" dirty="0">
                <a:solidFill>
                  <a:srgbClr val="0D1B2A"/>
                </a:solidFill>
                <a:latin typeface="Calibri" pitchFamily="34" charset="0"/>
                <a:ea typeface="Calibri" pitchFamily="34" charset="-122"/>
                <a:cs typeface="Calibri" pitchFamily="34" charset="-120"/>
              </a:rPr>
              <a:t>: przefiltrowane obserwacje do fuzji sensorycznej</a:t>
            </a:r>
            <a:endParaRPr lang="en-US" sz="1600" dirty="0"/>
          </a:p>
          <a:p>
            <a:pPr marL="252000" indent="-252000">
              <a:spcAft>
                <a:spcPts val="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Estymacja stanu  →  Planista globalny</a:t>
            </a:r>
            <a:r>
              <a:rPr lang="en-US" sz="1600" dirty="0">
                <a:solidFill>
                  <a:srgbClr val="0D1B2A"/>
                </a:solidFill>
                <a:latin typeface="Calibri" pitchFamily="34" charset="0"/>
                <a:ea typeface="Calibri" pitchFamily="34" charset="-122"/>
                <a:cs typeface="Calibri" pitchFamily="34" charset="-120"/>
              </a:rPr>
              <a:t>: aktualna pozycja i mapa środowiska</a:t>
            </a:r>
            <a:endParaRPr lang="en-US" sz="1600" dirty="0"/>
          </a:p>
          <a:p>
            <a:pPr marL="252000" indent="-252000">
              <a:spcAft>
                <a:spcPts val="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Planista globalny  →  Planista lokalny</a:t>
            </a:r>
            <a:r>
              <a:rPr lang="en-US" sz="1600" dirty="0">
                <a:solidFill>
                  <a:srgbClr val="0D1B2A"/>
                </a:solidFill>
                <a:latin typeface="Calibri" pitchFamily="34" charset="0"/>
                <a:ea typeface="Calibri" pitchFamily="34" charset="-122"/>
                <a:cs typeface="Calibri" pitchFamily="34" charset="-120"/>
              </a:rPr>
              <a:t>: globalna ścieżka i mapa kosztów</a:t>
            </a:r>
            <a:endParaRPr lang="en-US" sz="1600" dirty="0"/>
          </a:p>
          <a:p>
            <a:pPr marL="252000" indent="-252000">
              <a:spcAft>
                <a:spcPts val="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Planista lokalny  →  Generator kroków</a:t>
            </a:r>
            <a:r>
              <a:rPr lang="en-US" sz="1600" dirty="0">
                <a:solidFill>
                  <a:srgbClr val="0D1B2A"/>
                </a:solidFill>
                <a:latin typeface="Calibri" pitchFamily="34" charset="0"/>
                <a:ea typeface="Calibri" pitchFamily="34" charset="-122"/>
                <a:cs typeface="Calibri" pitchFamily="34" charset="-120"/>
              </a:rPr>
              <a:t>: lokalna trajektoria do wykonania</a:t>
            </a:r>
            <a:endParaRPr lang="en-US" sz="1600" dirty="0"/>
          </a:p>
          <a:p>
            <a:pPr marL="252000" indent="-252000">
              <a:spcAft>
                <a:spcPts val="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Generator kroków  →  Kontroler chodu</a:t>
            </a:r>
            <a:r>
              <a:rPr lang="en-US" sz="1600" dirty="0">
                <a:solidFill>
                  <a:srgbClr val="0D1B2A"/>
                </a:solidFill>
                <a:latin typeface="Calibri" pitchFamily="34" charset="0"/>
                <a:ea typeface="Calibri" pitchFamily="34" charset="-122"/>
                <a:cs typeface="Calibri" pitchFamily="34" charset="-120"/>
              </a:rPr>
              <a:t>: sekwencja ustawień stóp i trajektoria CoM</a:t>
            </a:r>
            <a:endParaRPr lang="en-US" sz="1600" dirty="0"/>
          </a:p>
          <a:p>
            <a:pPr marL="252000" indent="-252000">
              <a:spcAft>
                <a:spcPts val="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Kontroler chodu  →  Aktuatory</a:t>
            </a:r>
            <a:r>
              <a:rPr lang="en-US" sz="1600" dirty="0">
                <a:solidFill>
                  <a:srgbClr val="0D1B2A"/>
                </a:solidFill>
                <a:latin typeface="Calibri" pitchFamily="34" charset="0"/>
                <a:ea typeface="Calibri" pitchFamily="34" charset="-122"/>
                <a:cs typeface="Calibri" pitchFamily="34" charset="-120"/>
              </a:rPr>
              <a:t>: komendy momentów i pozycji stawów</a:t>
            </a:r>
            <a:endParaRPr lang="en-US" sz="1600" dirty="0"/>
          </a:p>
          <a:p>
            <a:pPr marL="252000" indent="-252000">
              <a:spcAft>
                <a:spcPts val="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Aktuatory  →  Sensory</a:t>
            </a:r>
            <a:r>
              <a:rPr lang="en-US" sz="1600" dirty="0">
                <a:solidFill>
                  <a:srgbClr val="0D1B2A"/>
                </a:solidFill>
                <a:latin typeface="Calibri" pitchFamily="34" charset="0"/>
                <a:ea typeface="Calibri" pitchFamily="34" charset="-122"/>
                <a:cs typeface="Calibri" pitchFamily="34" charset="-120"/>
              </a:rPr>
              <a:t>: zamknięta pętla sprzężenia zwrotnego</a:t>
            </a:r>
            <a:endParaRPr lang="en-US" sz="1600" dirty="0"/>
          </a:p>
        </p:txBody>
      </p:sp>
      <p:sp>
        <p:nvSpPr>
          <p:cNvPr id="8" name="Prostokąt 7"/>
          <p:cNvSpPr/>
          <p:nvPr/>
        </p:nvSpPr>
        <p:spPr>
          <a:xfrm>
            <a:off x="274320" y="4098036"/>
            <a:ext cx="8595360" cy="992516"/>
          </a:xfrm>
          <a:prstGeom prst="rect">
            <a:avLst/>
          </a:prstGeom>
          <a:solidFill>
            <a:srgbClr val="0D1B2A"/>
          </a:solidFill>
        </p:spPr>
        <p:txBody>
          <a:bodyPr wrap="square">
            <a:spAutoFit/>
          </a:bodyPr>
          <a:lstStyle/>
          <a:p>
            <a:pPr algn="just">
              <a:lnSpc>
                <a:spcPts val="1400"/>
              </a:lnSpc>
            </a:pPr>
            <a:r>
              <a:rPr lang="pl-PL" sz="1400" spc="-60" dirty="0">
                <a:solidFill>
                  <a:schemeClr val="bg1"/>
                </a:solidFill>
              </a:rPr>
              <a:t>Przepływ informacji w takim systemie jest sekwencyjny, ale zamknięty pętlą sprzężenia zwrotnego. Sensory dostarczają surowe dane do percepcji, percepcja przekazuje przefiltrowane obserwacje do estymacji stanu, a estymator podaje aktualną pozycję i mapę do planisty globalnego. Następnie planista globalny wyznacza ścieżkę, planista lokalny dopasowuje ją do bieżącej sytuacji, generator kroków tworzy sekwencję ustawień stóp, kontroler chodu zamienia to na trajektorie i momenty, a </a:t>
            </a:r>
            <a:r>
              <a:rPr lang="pl-PL" sz="1400" spc="-60" dirty="0" err="1">
                <a:solidFill>
                  <a:schemeClr val="bg1"/>
                </a:solidFill>
              </a:rPr>
              <a:t>aktuatory</a:t>
            </a:r>
            <a:r>
              <a:rPr lang="pl-PL" sz="1400" spc="-60" dirty="0">
                <a:solidFill>
                  <a:schemeClr val="bg1"/>
                </a:solidFill>
              </a:rPr>
              <a:t> wykonują ruch. Potem sensory znowu mierzą efekt tej akcji i pętla się zamyka</a:t>
            </a:r>
            <a:r>
              <a:rPr lang="pl-PL" sz="1400" spc="-60" dirty="0" smtClean="0">
                <a:solidFill>
                  <a:schemeClr val="bg1"/>
                </a:solidFill>
              </a:rPr>
              <a:t>.</a:t>
            </a:r>
            <a:endParaRPr lang="pl-PL" sz="1400" spc="-6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UKŁADY WSPÓŁRZĘDNYCH</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Ramy odniesienia i układy współrzędnych</a:t>
            </a:r>
            <a:endParaRPr lang="en-US" sz="2800" dirty="0"/>
          </a:p>
        </p:txBody>
      </p:sp>
      <p:sp>
        <p:nvSpPr>
          <p:cNvPr id="6" name="Shape 4"/>
          <p:cNvSpPr/>
          <p:nvPr/>
        </p:nvSpPr>
        <p:spPr>
          <a:xfrm>
            <a:off x="274320" y="1097280"/>
            <a:ext cx="8595360" cy="2891056"/>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043940"/>
            <a:ext cx="8229600" cy="2944396"/>
          </a:xfrm>
          <a:prstGeom prst="rect">
            <a:avLst/>
          </a:prstGeom>
          <a:noFill/>
          <a:ln/>
        </p:spPr>
        <p:txBody>
          <a:bodyPr wrap="square" lIns="127000" tIns="127000" rIns="127000" bIns="127000" rtlCol="0" anchor="t">
            <a:spAutoFit/>
          </a:bodyPr>
          <a:lstStyle/>
          <a:p>
            <a:pPr marL="144000" indent="-144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world</a:t>
            </a:r>
            <a:r>
              <a:rPr lang="en-US" sz="1600" dirty="0">
                <a:solidFill>
                  <a:srgbClr val="0D1B2A"/>
                </a:solidFill>
                <a:latin typeface="Calibri" pitchFamily="34" charset="0"/>
                <a:ea typeface="Calibri" pitchFamily="34" charset="-122"/>
                <a:cs typeface="Calibri" pitchFamily="34" charset="-120"/>
              </a:rPr>
              <a:t>   – bezwzględna ramka inercjalna, stała w przestrzeni</a:t>
            </a:r>
            <a:endParaRPr lang="en-US" sz="1600" dirty="0"/>
          </a:p>
          <a:p>
            <a:pPr marL="144000" indent="-144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map</a:t>
            </a:r>
            <a:r>
              <a:rPr lang="en-US" sz="1600" dirty="0">
                <a:solidFill>
                  <a:srgbClr val="0D1B2A"/>
                </a:solidFill>
                <a:latin typeface="Calibri" pitchFamily="34" charset="0"/>
                <a:ea typeface="Calibri" pitchFamily="34" charset="-122"/>
                <a:cs typeface="Calibri" pitchFamily="34" charset="-120"/>
              </a:rPr>
              <a:t>     – ramka mapy globalnej; związana z world przez transformację SLAM</a:t>
            </a:r>
            <a:endParaRPr lang="en-US" sz="1600" dirty="0"/>
          </a:p>
          <a:p>
            <a:pPr marL="144000" indent="-144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odom</a:t>
            </a:r>
            <a:r>
              <a:rPr lang="en-US" sz="1600" dirty="0">
                <a:solidFill>
                  <a:srgbClr val="0D1B2A"/>
                </a:solidFill>
                <a:latin typeface="Calibri" pitchFamily="34" charset="0"/>
                <a:ea typeface="Calibri" pitchFamily="34" charset="-122"/>
                <a:cs typeface="Calibri" pitchFamily="34" charset="-120"/>
              </a:rPr>
              <a:t>    – ramka odometrii; ciągła, ale kumuluje dryft w długim horyzoncie</a:t>
            </a:r>
            <a:endParaRPr lang="en-US" sz="1600" dirty="0"/>
          </a:p>
          <a:p>
            <a:pPr marL="144000" indent="-144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base</a:t>
            </a:r>
            <a:r>
              <a:rPr lang="en-US" sz="1600" dirty="0">
                <a:solidFill>
                  <a:srgbClr val="0D1B2A"/>
                </a:solidFill>
                <a:latin typeface="Calibri" pitchFamily="34" charset="0"/>
                <a:ea typeface="Calibri" pitchFamily="34" charset="-122"/>
                <a:cs typeface="Calibri" pitchFamily="34" charset="-120"/>
              </a:rPr>
              <a:t>    – środek ciężkości lub pelvis robota; baza kinematyki odwrotnej</a:t>
            </a:r>
            <a:endParaRPr lang="en-US" sz="1600" dirty="0"/>
          </a:p>
          <a:p>
            <a:pPr marL="144000" indent="-144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foot_L</a:t>
            </a:r>
            <a:r>
              <a:rPr lang="en-US" sz="1600" dirty="0">
                <a:solidFill>
                  <a:srgbClr val="0D1B2A"/>
                </a:solidFill>
                <a:latin typeface="Calibri" pitchFamily="34" charset="0"/>
                <a:ea typeface="Calibri" pitchFamily="34" charset="-122"/>
                <a:cs typeface="Calibri" pitchFamily="34" charset="-120"/>
              </a:rPr>
              <a:t> / </a:t>
            </a:r>
            <a:r>
              <a:rPr lang="en-US" sz="1600" b="1" dirty="0">
                <a:solidFill>
                  <a:srgbClr val="0D1B2A"/>
                </a:solidFill>
                <a:latin typeface="Calibri" pitchFamily="34" charset="0"/>
                <a:ea typeface="Calibri" pitchFamily="34" charset="-122"/>
                <a:cs typeface="Calibri" pitchFamily="34" charset="-120"/>
              </a:rPr>
              <a:t>foot_R</a:t>
            </a:r>
            <a:r>
              <a:rPr lang="en-US" sz="1600" dirty="0">
                <a:solidFill>
                  <a:srgbClr val="0D1B2A"/>
                </a:solidFill>
                <a:latin typeface="Calibri" pitchFamily="34" charset="0"/>
                <a:ea typeface="Calibri" pitchFamily="34" charset="-122"/>
                <a:cs typeface="Calibri" pitchFamily="34" charset="-120"/>
              </a:rPr>
              <a:t>  – ramki stóp; kluczowe podczas fazy podparcia</a:t>
            </a:r>
            <a:endParaRPr lang="en-US" sz="1600" dirty="0"/>
          </a:p>
          <a:p>
            <a:pPr marL="144000" indent="-144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camera</a:t>
            </a:r>
            <a:r>
              <a:rPr lang="en-US" sz="1600" dirty="0">
                <a:solidFill>
                  <a:srgbClr val="0D1B2A"/>
                </a:solidFill>
                <a:latin typeface="Calibri" pitchFamily="34" charset="0"/>
                <a:ea typeface="Calibri" pitchFamily="34" charset="-122"/>
                <a:cs typeface="Calibri" pitchFamily="34" charset="-120"/>
              </a:rPr>
              <a:t>  – ramka optyczna kamery; kalibracja extrinsic względem base</a:t>
            </a:r>
            <a:endParaRPr lang="en-US" sz="1600" dirty="0"/>
          </a:p>
          <a:p>
            <a:pPr marL="144000" indent="-144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lidar</a:t>
            </a:r>
            <a:r>
              <a:rPr lang="en-US" sz="1600" dirty="0">
                <a:solidFill>
                  <a:srgbClr val="0D1B2A"/>
                </a:solidFill>
                <a:latin typeface="Calibri" pitchFamily="34" charset="0"/>
                <a:ea typeface="Calibri" pitchFamily="34" charset="-122"/>
                <a:cs typeface="Calibri" pitchFamily="34" charset="-120"/>
              </a:rPr>
              <a:t>   – ramka skanera; wymaga precyzyjnej kalibracji kąta i przesunięcia</a:t>
            </a:r>
            <a:endParaRPr lang="en-US" sz="1600" dirty="0"/>
          </a:p>
          <a:p>
            <a:pPr marL="144000" indent="-144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Drzewo transformacji TF (ROS): </a:t>
            </a:r>
            <a:r>
              <a:rPr lang="en-US" sz="1600" dirty="0">
                <a:solidFill>
                  <a:srgbClr val="0D1B2A"/>
                </a:solidFill>
                <a:latin typeface="Calibri" pitchFamily="34" charset="0"/>
                <a:ea typeface="Calibri" pitchFamily="34" charset="-122"/>
                <a:cs typeface="Calibri" pitchFamily="34" charset="-120"/>
              </a:rPr>
              <a:t>spójna hierarchia wszystkich układów</a:t>
            </a:r>
            <a:endParaRPr lang="en-US" sz="1600" dirty="0"/>
          </a:p>
        </p:txBody>
      </p:sp>
      <p:sp>
        <p:nvSpPr>
          <p:cNvPr id="8" name="Prostokąt 7"/>
          <p:cNvSpPr/>
          <p:nvPr/>
        </p:nvSpPr>
        <p:spPr>
          <a:xfrm>
            <a:off x="274320" y="4090416"/>
            <a:ext cx="8595360" cy="992516"/>
          </a:xfrm>
          <a:prstGeom prst="rect">
            <a:avLst/>
          </a:prstGeom>
          <a:solidFill>
            <a:srgbClr val="0D1B2A"/>
          </a:solidFill>
        </p:spPr>
        <p:txBody>
          <a:bodyPr wrap="square">
            <a:spAutoFit/>
          </a:bodyPr>
          <a:lstStyle/>
          <a:p>
            <a:pPr algn="just">
              <a:lnSpc>
                <a:spcPts val="1400"/>
              </a:lnSpc>
            </a:pPr>
            <a:r>
              <a:rPr lang="pl-PL" sz="1400" dirty="0">
                <a:solidFill>
                  <a:schemeClr val="bg1"/>
                </a:solidFill>
              </a:rPr>
              <a:t>W nawigacji musimy bardzo precyzyjnie rozróżniać układy współrzędnych. Ramka </a:t>
            </a:r>
            <a:r>
              <a:rPr lang="pl-PL" sz="1400" dirty="0" err="1">
                <a:solidFill>
                  <a:schemeClr val="bg1"/>
                </a:solidFill>
              </a:rPr>
              <a:t>world</a:t>
            </a:r>
            <a:r>
              <a:rPr lang="pl-PL" sz="1400" dirty="0">
                <a:solidFill>
                  <a:schemeClr val="bg1"/>
                </a:solidFill>
              </a:rPr>
              <a:t> jest inercjalna i stała w przestrzeni. Ramka map opisuje mapę globalną. Ramka odom jest ciągła, ale z czasem akumuluje dryft. Ramka </a:t>
            </a:r>
            <a:r>
              <a:rPr lang="pl-PL" sz="1400" dirty="0" err="1">
                <a:solidFill>
                  <a:schemeClr val="bg1"/>
                </a:solidFill>
              </a:rPr>
              <a:t>base</a:t>
            </a:r>
            <a:r>
              <a:rPr lang="pl-PL" sz="1400" dirty="0">
                <a:solidFill>
                  <a:schemeClr val="bg1"/>
                </a:solidFill>
              </a:rPr>
              <a:t> jest związana z miednicą albo środkiem ciężkości robota. Do tego dochodzą ramki stóp, kamery i </a:t>
            </a:r>
            <a:r>
              <a:rPr lang="pl-PL" sz="1400" dirty="0" err="1">
                <a:solidFill>
                  <a:schemeClr val="bg1"/>
                </a:solidFill>
              </a:rPr>
              <a:t>LiDAR</a:t>
            </a:r>
            <a:r>
              <a:rPr lang="pl-PL" sz="1400" dirty="0">
                <a:solidFill>
                  <a:schemeClr val="bg1"/>
                </a:solidFill>
              </a:rPr>
              <a:t>-u. Całość musi być spięta spójnym drzewem transformacji TF, bo bez tego nawet bardzo dobre algorytmy zaczną produkować błędne wyniki.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KINEMATYKA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Ruch całego ciała a nawigacja bazowa</a:t>
            </a:r>
            <a:endParaRPr lang="en-US" sz="2800" dirty="0"/>
          </a:p>
        </p:txBody>
      </p:sp>
      <p:sp>
        <p:nvSpPr>
          <p:cNvPr id="6" name="Shape 4"/>
          <p:cNvSpPr/>
          <p:nvPr/>
        </p:nvSpPr>
        <p:spPr>
          <a:xfrm>
            <a:off x="274320" y="1097280"/>
            <a:ext cx="4160520" cy="229362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0"/>
            <a:ext cx="4160520" cy="229362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384048"/>
          </a:xfrm>
          <a:prstGeom prst="rect">
            <a:avLst/>
          </a:prstGeom>
          <a:solidFill>
            <a:srgbClr val="00B4D8"/>
          </a:solidFill>
          <a:ln w="12700">
            <a:solidFill>
              <a:srgbClr val="00B4D8"/>
            </a:solidFill>
            <a:prstDash val="solid"/>
          </a:ln>
        </p:spPr>
      </p:sp>
      <p:sp>
        <p:nvSpPr>
          <p:cNvPr id="9" name="Text 7"/>
          <p:cNvSpPr/>
          <p:nvPr/>
        </p:nvSpPr>
        <p:spPr>
          <a:xfrm>
            <a:off x="457200" y="1115568"/>
            <a:ext cx="3794760" cy="347472"/>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Nawigacja bazowa (CoM / pelvis)</a:t>
            </a:r>
            <a:endParaRPr lang="en-US" sz="1600" dirty="0"/>
          </a:p>
        </p:txBody>
      </p:sp>
      <p:sp>
        <p:nvSpPr>
          <p:cNvPr id="10" name="Shape 8"/>
          <p:cNvSpPr/>
          <p:nvPr/>
        </p:nvSpPr>
        <p:spPr>
          <a:xfrm>
            <a:off x="4709160" y="1097280"/>
            <a:ext cx="4160520" cy="384048"/>
          </a:xfrm>
          <a:prstGeom prst="rect">
            <a:avLst/>
          </a:prstGeom>
          <a:solidFill>
            <a:srgbClr val="1A3550"/>
          </a:solidFill>
          <a:ln w="12700">
            <a:solidFill>
              <a:srgbClr val="1A3550"/>
            </a:solidFill>
            <a:prstDash val="solid"/>
          </a:ln>
        </p:spPr>
      </p:sp>
      <p:sp>
        <p:nvSpPr>
          <p:cNvPr id="11" name="Text 9"/>
          <p:cNvSpPr/>
          <p:nvPr/>
        </p:nvSpPr>
        <p:spPr>
          <a:xfrm>
            <a:off x="4892040" y="1115568"/>
            <a:ext cx="3794760" cy="347472"/>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Ruch kończyn (whole-body)</a:t>
            </a:r>
            <a:endParaRPr lang="en-US" sz="1600" dirty="0"/>
          </a:p>
        </p:txBody>
      </p:sp>
      <p:sp>
        <p:nvSpPr>
          <p:cNvPr id="12" name="Text 10"/>
          <p:cNvSpPr/>
          <p:nvPr/>
        </p:nvSpPr>
        <p:spPr>
          <a:xfrm>
            <a:off x="457200" y="1600200"/>
            <a:ext cx="3794760" cy="1699260"/>
          </a:xfrm>
          <a:prstGeom prst="rect">
            <a:avLst/>
          </a:prstGeom>
          <a:noFill/>
          <a:ln/>
        </p:spPr>
        <p:txBody>
          <a:bodyPr wrap="square" lIns="63500" tIns="101600" rIns="63500" bIns="63500" rtlCol="0" anchor="t"/>
          <a:lstStyle/>
          <a:p>
            <a:pPr marL="216000" indent="-216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Trajektoria środka masy w przestrzeni 3D</a:t>
            </a:r>
            <a:endParaRPr lang="en-US" sz="1400" dirty="0"/>
          </a:p>
          <a:p>
            <a:pPr marL="216000" indent="-216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Pozycja miednicy i orientacja tułowia</a:t>
            </a:r>
            <a:endParaRPr lang="en-US" sz="1400" dirty="0"/>
          </a:p>
          <a:p>
            <a:pPr marL="216000" indent="-216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Globalny kierunek i prędkość przemieszania</a:t>
            </a:r>
            <a:endParaRPr lang="en-US" sz="1400" dirty="0"/>
          </a:p>
          <a:p>
            <a:pPr marL="216000" indent="-216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Wejście do globalnego i lokalnego planisty</a:t>
            </a:r>
            <a:endParaRPr lang="en-US" sz="1400" dirty="0"/>
          </a:p>
        </p:txBody>
      </p:sp>
      <p:sp>
        <p:nvSpPr>
          <p:cNvPr id="13" name="Text 11"/>
          <p:cNvSpPr/>
          <p:nvPr/>
        </p:nvSpPr>
        <p:spPr>
          <a:xfrm>
            <a:off x="4892040" y="1600200"/>
            <a:ext cx="3794760" cy="1699260"/>
          </a:xfrm>
          <a:prstGeom prst="rect">
            <a:avLst/>
          </a:prstGeom>
          <a:noFill/>
          <a:ln/>
        </p:spPr>
        <p:txBody>
          <a:bodyPr wrap="square" lIns="63500" tIns="101600" rIns="63500" bIns="63500" rtlCol="0" anchor="t"/>
          <a:lstStyle/>
          <a:p>
            <a:pPr marL="216000" indent="-216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Sekwencja ustawień stóp i czas kontaktu</a:t>
            </a:r>
            <a:endParaRPr lang="en-US" sz="1400" dirty="0"/>
          </a:p>
          <a:p>
            <a:pPr marL="216000" indent="-216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Trajektorie końcówek roboczych rąk</a:t>
            </a:r>
            <a:endParaRPr lang="en-US" sz="1400" dirty="0"/>
          </a:p>
          <a:p>
            <a:pPr marL="216000" indent="-216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Ruchy kompensacyjne tułowia dla równowagi</a:t>
            </a:r>
            <a:endParaRPr lang="en-US" sz="1400" dirty="0"/>
          </a:p>
          <a:p>
            <a:pPr marL="216000" indent="-216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Wyjście kontrolera chodu do aktuatorów</a:t>
            </a:r>
            <a:endParaRPr lang="en-US" sz="1400" dirty="0"/>
          </a:p>
        </p:txBody>
      </p:sp>
      <p:sp>
        <p:nvSpPr>
          <p:cNvPr id="14" name="Prostokąt 13"/>
          <p:cNvSpPr/>
          <p:nvPr/>
        </p:nvSpPr>
        <p:spPr>
          <a:xfrm>
            <a:off x="274320" y="3772459"/>
            <a:ext cx="8595360" cy="1169551"/>
          </a:xfrm>
          <a:prstGeom prst="rect">
            <a:avLst/>
          </a:prstGeom>
          <a:solidFill>
            <a:srgbClr val="0D1B2A"/>
          </a:solidFill>
        </p:spPr>
        <p:txBody>
          <a:bodyPr wrap="square">
            <a:spAutoFit/>
          </a:bodyPr>
          <a:lstStyle/>
          <a:p>
            <a:pPr algn="just"/>
            <a:r>
              <a:rPr lang="pl-PL" sz="1400" dirty="0">
                <a:solidFill>
                  <a:schemeClr val="bg1"/>
                </a:solidFill>
              </a:rPr>
              <a:t>Warto odróżnić nawigację bazową od ruchu całego ciała. W nawigacji bazowej interesuje nas przede wszystkim trajektoria środka masy, pozycja miednicy, orientacja tułowia, globalny kierunek ruchu i prędkość przemieszczania. Natomiast ruch kończyn obejmuje sekwencję ustawień stóp, trajektorie rąk oraz ruchy kompensacyjne tułowia niezbędne do utrzymania równowagi. Innymi słowy: planista myśli o tym, dokąd robot ma iść, a kontroler całego ciała myśli o tym, jak dokładnie ma to wykonać. </a:t>
            </a:r>
            <a:endParaRPr lang="en-US" sz="140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METRYKI</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Miary jakości nawigacji</a:t>
            </a:r>
            <a:endParaRPr lang="en-US" sz="2800" dirty="0"/>
          </a:p>
        </p:txBody>
      </p:sp>
      <p:sp>
        <p:nvSpPr>
          <p:cNvPr id="6" name="Shape 4"/>
          <p:cNvSpPr/>
          <p:nvPr/>
        </p:nvSpPr>
        <p:spPr>
          <a:xfrm>
            <a:off x="274320" y="1143000"/>
            <a:ext cx="2651760" cy="1299972"/>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2651760" cy="54864"/>
          </a:xfrm>
          <a:prstGeom prst="rect">
            <a:avLst/>
          </a:prstGeom>
          <a:solidFill>
            <a:srgbClr val="00B4D8"/>
          </a:solidFill>
          <a:ln w="12700">
            <a:solidFill>
              <a:srgbClr val="00B4D8"/>
            </a:solidFill>
            <a:prstDash val="solid"/>
          </a:ln>
        </p:spPr>
      </p:sp>
      <p:sp>
        <p:nvSpPr>
          <p:cNvPr id="8" name="Text 6"/>
          <p:cNvSpPr/>
          <p:nvPr/>
        </p:nvSpPr>
        <p:spPr>
          <a:xfrm>
            <a:off x="384048" y="1234440"/>
            <a:ext cx="2432304" cy="642823"/>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Dokładność lokalizacji</a:t>
            </a:r>
            <a:endParaRPr lang="en-US" dirty="0"/>
          </a:p>
        </p:txBody>
      </p:sp>
      <p:sp>
        <p:nvSpPr>
          <p:cNvPr id="9" name="Text 7"/>
          <p:cNvSpPr/>
          <p:nvPr/>
        </p:nvSpPr>
        <p:spPr>
          <a:xfrm>
            <a:off x="384048" y="1758697"/>
            <a:ext cx="2432304" cy="61874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RMSE pozycji [m], </a:t>
            </a:r>
            <a:r>
              <a:rPr lang="pl-PL" sz="1600" dirty="0" smtClean="0">
                <a:solidFill>
                  <a:srgbClr val="475569"/>
                </a:solidFill>
                <a:latin typeface="Calibri" pitchFamily="34" charset="0"/>
                <a:ea typeface="Calibri" pitchFamily="34" charset="-122"/>
                <a:cs typeface="Calibri" pitchFamily="34" charset="-120"/>
              </a:rPr>
              <a:t/>
            </a:r>
            <a:br>
              <a:rPr lang="pl-PL" sz="1600" dirty="0" smtClean="0">
                <a:solidFill>
                  <a:srgbClr val="475569"/>
                </a:solidFill>
                <a:latin typeface="Calibri" pitchFamily="34" charset="0"/>
                <a:ea typeface="Calibri" pitchFamily="34" charset="-122"/>
                <a:cs typeface="Calibri" pitchFamily="34" charset="-120"/>
              </a:rPr>
            </a:br>
            <a:r>
              <a:rPr lang="en-US" sz="1600" dirty="0" err="1" smtClean="0">
                <a:solidFill>
                  <a:srgbClr val="475569"/>
                </a:solidFill>
                <a:latin typeface="Calibri" pitchFamily="34" charset="0"/>
                <a:ea typeface="Calibri" pitchFamily="34" charset="-122"/>
                <a:cs typeface="Calibri" pitchFamily="34" charset="-120"/>
              </a:rPr>
              <a:t>błąd</a:t>
            </a:r>
            <a:r>
              <a:rPr lang="en-US" sz="1600" dirty="0" smtClean="0">
                <a:solidFill>
                  <a:srgbClr val="475569"/>
                </a:solidFill>
                <a:latin typeface="Calibri" pitchFamily="34" charset="0"/>
                <a:ea typeface="Calibri" pitchFamily="34" charset="-122"/>
                <a:cs typeface="Calibri" pitchFamily="34" charset="-120"/>
              </a:rPr>
              <a:t> </a:t>
            </a:r>
            <a:r>
              <a:rPr lang="en-US" sz="1600" dirty="0">
                <a:solidFill>
                  <a:srgbClr val="475569"/>
                </a:solidFill>
                <a:latin typeface="Calibri" pitchFamily="34" charset="0"/>
                <a:ea typeface="Calibri" pitchFamily="34" charset="-122"/>
                <a:cs typeface="Calibri" pitchFamily="34" charset="-120"/>
              </a:rPr>
              <a:t>orientacji [°]</a:t>
            </a:r>
            <a:endParaRPr lang="en-US" sz="1600" dirty="0"/>
          </a:p>
        </p:txBody>
      </p:sp>
      <p:sp>
        <p:nvSpPr>
          <p:cNvPr id="10" name="Shape 8"/>
          <p:cNvSpPr/>
          <p:nvPr/>
        </p:nvSpPr>
        <p:spPr>
          <a:xfrm>
            <a:off x="3154680" y="1143000"/>
            <a:ext cx="2651760" cy="1299972"/>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3154680" y="1143000"/>
            <a:ext cx="2651760" cy="54864"/>
          </a:xfrm>
          <a:prstGeom prst="rect">
            <a:avLst/>
          </a:prstGeom>
          <a:solidFill>
            <a:srgbClr val="0077A8"/>
          </a:solidFill>
          <a:ln w="12700">
            <a:solidFill>
              <a:srgbClr val="0077A8"/>
            </a:solidFill>
            <a:prstDash val="solid"/>
          </a:ln>
        </p:spPr>
      </p:sp>
      <p:sp>
        <p:nvSpPr>
          <p:cNvPr id="12" name="Text 10"/>
          <p:cNvSpPr/>
          <p:nvPr/>
        </p:nvSpPr>
        <p:spPr>
          <a:xfrm>
            <a:off x="3264408" y="1234440"/>
            <a:ext cx="2432304" cy="642823"/>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Czas dotarcia do celu</a:t>
            </a:r>
            <a:endParaRPr lang="en-US" dirty="0"/>
          </a:p>
        </p:txBody>
      </p:sp>
      <p:sp>
        <p:nvSpPr>
          <p:cNvPr id="13" name="Text 11"/>
          <p:cNvSpPr/>
          <p:nvPr/>
        </p:nvSpPr>
        <p:spPr>
          <a:xfrm>
            <a:off x="3264408" y="1758697"/>
            <a:ext cx="2432304" cy="61874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Czas od startu do osiągnięcia punktu docelowego [s]</a:t>
            </a:r>
            <a:endParaRPr lang="en-US" sz="1600" dirty="0"/>
          </a:p>
        </p:txBody>
      </p:sp>
      <p:sp>
        <p:nvSpPr>
          <p:cNvPr id="14" name="Shape 12"/>
          <p:cNvSpPr/>
          <p:nvPr/>
        </p:nvSpPr>
        <p:spPr>
          <a:xfrm>
            <a:off x="6035040" y="1143000"/>
            <a:ext cx="2651760" cy="1299972"/>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6035040" y="1143000"/>
            <a:ext cx="2651760" cy="54864"/>
          </a:xfrm>
          <a:prstGeom prst="rect">
            <a:avLst/>
          </a:prstGeom>
          <a:solidFill>
            <a:srgbClr val="0077A8"/>
          </a:solidFill>
          <a:ln w="12700">
            <a:solidFill>
              <a:srgbClr val="0077A8"/>
            </a:solidFill>
            <a:prstDash val="solid"/>
          </a:ln>
        </p:spPr>
      </p:sp>
      <p:sp>
        <p:nvSpPr>
          <p:cNvPr id="16" name="Text 14"/>
          <p:cNvSpPr/>
          <p:nvPr/>
        </p:nvSpPr>
        <p:spPr>
          <a:xfrm>
            <a:off x="6144768" y="1234440"/>
            <a:ext cx="2432304" cy="642823"/>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Zużycie energii</a:t>
            </a:r>
            <a:endParaRPr lang="en-US" dirty="0"/>
          </a:p>
        </p:txBody>
      </p:sp>
      <p:sp>
        <p:nvSpPr>
          <p:cNvPr id="17" name="Text 15"/>
          <p:cNvSpPr/>
          <p:nvPr/>
        </p:nvSpPr>
        <p:spPr>
          <a:xfrm>
            <a:off x="6144768" y="1758697"/>
            <a:ext cx="2432304" cy="61874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Sumaryczny pobór mocy aktuatorów [Wh/m]</a:t>
            </a:r>
            <a:endParaRPr lang="en-US" sz="1600" dirty="0"/>
          </a:p>
        </p:txBody>
      </p:sp>
      <p:sp>
        <p:nvSpPr>
          <p:cNvPr id="18" name="Shape 16"/>
          <p:cNvSpPr/>
          <p:nvPr/>
        </p:nvSpPr>
        <p:spPr>
          <a:xfrm>
            <a:off x="274320" y="2606040"/>
            <a:ext cx="2651760" cy="1299972"/>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274320" y="2606040"/>
            <a:ext cx="2651760" cy="54864"/>
          </a:xfrm>
          <a:prstGeom prst="rect">
            <a:avLst/>
          </a:prstGeom>
          <a:solidFill>
            <a:srgbClr val="F72585"/>
          </a:solidFill>
          <a:ln w="12700">
            <a:solidFill>
              <a:srgbClr val="F72585"/>
            </a:solidFill>
            <a:prstDash val="solid"/>
          </a:ln>
        </p:spPr>
      </p:sp>
      <p:sp>
        <p:nvSpPr>
          <p:cNvPr id="20" name="Text 18"/>
          <p:cNvSpPr/>
          <p:nvPr/>
        </p:nvSpPr>
        <p:spPr>
          <a:xfrm>
            <a:off x="384048" y="2697480"/>
            <a:ext cx="2432304" cy="642823"/>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Liczba korekt kroku</a:t>
            </a:r>
            <a:endParaRPr lang="en-US" dirty="0"/>
          </a:p>
        </p:txBody>
      </p:sp>
      <p:sp>
        <p:nvSpPr>
          <p:cNvPr id="21" name="Text 19"/>
          <p:cNvSpPr/>
          <p:nvPr/>
        </p:nvSpPr>
        <p:spPr>
          <a:xfrm>
            <a:off x="384048" y="3221737"/>
            <a:ext cx="2432304" cy="61874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Ponowne </a:t>
            </a:r>
            <a:r>
              <a:rPr lang="en-US" sz="1600" dirty="0" err="1">
                <a:solidFill>
                  <a:srgbClr val="475569"/>
                </a:solidFill>
                <a:latin typeface="Calibri" pitchFamily="34" charset="0"/>
                <a:ea typeface="Calibri" pitchFamily="34" charset="-122"/>
                <a:cs typeface="Calibri" pitchFamily="34" charset="-120"/>
              </a:rPr>
              <a:t>planowanie</a:t>
            </a:r>
            <a:r>
              <a:rPr lang="en-US" sz="1600" dirty="0">
                <a:solidFill>
                  <a:srgbClr val="475569"/>
                </a:solidFill>
                <a:latin typeface="Calibri" pitchFamily="34" charset="0"/>
                <a:ea typeface="Calibri" pitchFamily="34" charset="-122"/>
                <a:cs typeface="Calibri" pitchFamily="34" charset="-120"/>
              </a:rPr>
              <a:t> </a:t>
            </a:r>
            <a:r>
              <a:rPr lang="en-US" sz="1600" dirty="0" err="1" smtClean="0">
                <a:solidFill>
                  <a:srgbClr val="475569"/>
                </a:solidFill>
                <a:latin typeface="Calibri" pitchFamily="34" charset="0"/>
                <a:ea typeface="Calibri" pitchFamily="34" charset="-122"/>
                <a:cs typeface="Calibri" pitchFamily="34" charset="-120"/>
              </a:rPr>
              <a:t>stóp</a:t>
            </a:r>
            <a:r>
              <a:rPr lang="pl-PL" sz="1600" dirty="0" smtClean="0">
                <a:solidFill>
                  <a:srgbClr val="475569"/>
                </a:solidFill>
                <a:latin typeface="Calibri" pitchFamily="34" charset="0"/>
                <a:ea typeface="Calibri" pitchFamily="34" charset="-122"/>
                <a:cs typeface="Calibri" pitchFamily="34" charset="-120"/>
              </a:rPr>
              <a:t>, </a:t>
            </a:r>
            <a:r>
              <a:rPr lang="en-US" sz="1600" dirty="0" err="1" smtClean="0">
                <a:solidFill>
                  <a:srgbClr val="475569"/>
                </a:solidFill>
                <a:latin typeface="Calibri" pitchFamily="34" charset="0"/>
                <a:ea typeface="Calibri" pitchFamily="34" charset="-122"/>
                <a:cs typeface="Calibri" pitchFamily="34" charset="-120"/>
              </a:rPr>
              <a:t>wskaźnik</a:t>
            </a:r>
            <a:r>
              <a:rPr lang="en-US" sz="1600" dirty="0" smtClean="0">
                <a:solidFill>
                  <a:srgbClr val="475569"/>
                </a:solidFill>
                <a:latin typeface="Calibri" pitchFamily="34" charset="0"/>
                <a:ea typeface="Calibri" pitchFamily="34" charset="-122"/>
                <a:cs typeface="Calibri" pitchFamily="34" charset="-120"/>
              </a:rPr>
              <a:t> </a:t>
            </a:r>
            <a:r>
              <a:rPr lang="en-US" sz="1600" dirty="0">
                <a:solidFill>
                  <a:srgbClr val="475569"/>
                </a:solidFill>
                <a:latin typeface="Calibri" pitchFamily="34" charset="0"/>
                <a:ea typeface="Calibri" pitchFamily="34" charset="-122"/>
                <a:cs typeface="Calibri" pitchFamily="34" charset="-120"/>
              </a:rPr>
              <a:t>reaktywności</a:t>
            </a:r>
            <a:endParaRPr lang="en-US" sz="1600" dirty="0"/>
          </a:p>
        </p:txBody>
      </p:sp>
      <p:sp>
        <p:nvSpPr>
          <p:cNvPr id="22" name="Shape 20"/>
          <p:cNvSpPr/>
          <p:nvPr/>
        </p:nvSpPr>
        <p:spPr>
          <a:xfrm>
            <a:off x="3154680" y="2606040"/>
            <a:ext cx="2651760" cy="1299972"/>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3" name="Shape 21"/>
          <p:cNvSpPr/>
          <p:nvPr/>
        </p:nvSpPr>
        <p:spPr>
          <a:xfrm>
            <a:off x="3154680" y="2606040"/>
            <a:ext cx="2651760" cy="54864"/>
          </a:xfrm>
          <a:prstGeom prst="rect">
            <a:avLst/>
          </a:prstGeom>
          <a:solidFill>
            <a:srgbClr val="006490"/>
          </a:solidFill>
          <a:ln w="12700">
            <a:solidFill>
              <a:srgbClr val="006490"/>
            </a:solidFill>
            <a:prstDash val="solid"/>
          </a:ln>
        </p:spPr>
      </p:sp>
      <p:sp>
        <p:nvSpPr>
          <p:cNvPr id="24" name="Text 22"/>
          <p:cNvSpPr/>
          <p:nvPr/>
        </p:nvSpPr>
        <p:spPr>
          <a:xfrm>
            <a:off x="3264408" y="2697480"/>
            <a:ext cx="2432304" cy="642823"/>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Liczba kolizji</a:t>
            </a:r>
            <a:endParaRPr lang="en-US" dirty="0"/>
          </a:p>
        </p:txBody>
      </p:sp>
      <p:sp>
        <p:nvSpPr>
          <p:cNvPr id="25" name="Text 23"/>
          <p:cNvSpPr/>
          <p:nvPr/>
        </p:nvSpPr>
        <p:spPr>
          <a:xfrm>
            <a:off x="3264408" y="3221737"/>
            <a:ext cx="2432304" cy="61874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Kontakt z przeszkodą / </a:t>
            </a:r>
            <a:r>
              <a:rPr lang="en-US" sz="1600" dirty="0" err="1">
                <a:solidFill>
                  <a:srgbClr val="475569"/>
                </a:solidFill>
                <a:latin typeface="Calibri" pitchFamily="34" charset="0"/>
                <a:ea typeface="Calibri" pitchFamily="34" charset="-122"/>
                <a:cs typeface="Calibri" pitchFamily="34" charset="-120"/>
              </a:rPr>
              <a:t>upadek</a:t>
            </a:r>
            <a:r>
              <a:rPr lang="en-US" sz="1600" dirty="0">
                <a:solidFill>
                  <a:srgbClr val="475569"/>
                </a:solidFill>
                <a:latin typeface="Calibri" pitchFamily="34" charset="0"/>
                <a:ea typeface="Calibri" pitchFamily="34" charset="-122"/>
                <a:cs typeface="Calibri" pitchFamily="34" charset="-120"/>
              </a:rPr>
              <a:t> </a:t>
            </a:r>
            <a:r>
              <a:rPr lang="en-US" sz="1600" dirty="0" smtClean="0">
                <a:solidFill>
                  <a:srgbClr val="475569"/>
                </a:solidFill>
                <a:latin typeface="Calibri" pitchFamily="34" charset="0"/>
                <a:ea typeface="Calibri" pitchFamily="34" charset="-122"/>
                <a:cs typeface="Calibri" pitchFamily="34" charset="-120"/>
              </a:rPr>
              <a:t>w </a:t>
            </a:r>
            <a:r>
              <a:rPr lang="en-US" sz="1600" dirty="0">
                <a:solidFill>
                  <a:srgbClr val="475569"/>
                </a:solidFill>
                <a:latin typeface="Calibri" pitchFamily="34" charset="0"/>
                <a:ea typeface="Calibri" pitchFamily="34" charset="-122"/>
                <a:cs typeface="Calibri" pitchFamily="34" charset="-120"/>
              </a:rPr>
              <a:t>trakcie misji</a:t>
            </a:r>
            <a:endParaRPr lang="en-US" sz="1600" dirty="0"/>
          </a:p>
        </p:txBody>
      </p:sp>
      <p:sp>
        <p:nvSpPr>
          <p:cNvPr id="26" name="Shape 24"/>
          <p:cNvSpPr/>
          <p:nvPr/>
        </p:nvSpPr>
        <p:spPr>
          <a:xfrm>
            <a:off x="6035040" y="2606040"/>
            <a:ext cx="2651760" cy="1299972"/>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7" name="Shape 25"/>
          <p:cNvSpPr/>
          <p:nvPr/>
        </p:nvSpPr>
        <p:spPr>
          <a:xfrm>
            <a:off x="6035040" y="2606040"/>
            <a:ext cx="2651760" cy="54864"/>
          </a:xfrm>
          <a:prstGeom prst="rect">
            <a:avLst/>
          </a:prstGeom>
          <a:solidFill>
            <a:srgbClr val="1A3550"/>
          </a:solidFill>
          <a:ln w="12700">
            <a:solidFill>
              <a:srgbClr val="1A3550"/>
            </a:solidFill>
            <a:prstDash val="solid"/>
          </a:ln>
        </p:spPr>
      </p:sp>
      <p:sp>
        <p:nvSpPr>
          <p:cNvPr id="28" name="Text 26"/>
          <p:cNvSpPr/>
          <p:nvPr/>
        </p:nvSpPr>
        <p:spPr>
          <a:xfrm>
            <a:off x="6144768" y="2697480"/>
            <a:ext cx="2432304" cy="642823"/>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Zapas stabilności</a:t>
            </a:r>
            <a:endParaRPr lang="en-US" dirty="0"/>
          </a:p>
        </p:txBody>
      </p:sp>
      <p:sp>
        <p:nvSpPr>
          <p:cNvPr id="29" name="Text 27"/>
          <p:cNvSpPr/>
          <p:nvPr/>
        </p:nvSpPr>
        <p:spPr>
          <a:xfrm>
            <a:off x="6144768" y="3221737"/>
            <a:ext cx="2432304" cy="61874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Marginesy ZMP i Capture Point względem granicy</a:t>
            </a:r>
            <a:endParaRPr lang="en-US" sz="1600" dirty="0"/>
          </a:p>
        </p:txBody>
      </p:sp>
      <p:sp>
        <p:nvSpPr>
          <p:cNvPr id="30" name="Prostokąt 29"/>
          <p:cNvSpPr/>
          <p:nvPr/>
        </p:nvSpPr>
        <p:spPr>
          <a:xfrm>
            <a:off x="274320" y="4250436"/>
            <a:ext cx="8595360" cy="812979"/>
          </a:xfrm>
          <a:prstGeom prst="rect">
            <a:avLst/>
          </a:prstGeom>
          <a:solidFill>
            <a:srgbClr val="0D1B2A"/>
          </a:solidFill>
        </p:spPr>
        <p:txBody>
          <a:bodyPr wrap="square">
            <a:spAutoFit/>
          </a:bodyPr>
          <a:lstStyle/>
          <a:p>
            <a:pPr algn="just">
              <a:lnSpc>
                <a:spcPts val="1400"/>
              </a:lnSpc>
            </a:pPr>
            <a:r>
              <a:rPr lang="pl-PL" sz="1400" dirty="0">
                <a:solidFill>
                  <a:schemeClr val="bg1"/>
                </a:solidFill>
              </a:rPr>
              <a:t>Jakość nawigacji mierzymy wieloma wskaźnikami jednocześnie. Interesuje nas dokładność lokalizacji, czyli na przykład RMSE pozycji i błąd orientacji. Interesuje nas czas dotarcia do celu, zużycie energii, liczba korekt kroku, liczba kolizji oraz zapas stabilności, wyrażony choćby przez marginesy ZMP i </a:t>
            </a:r>
            <a:r>
              <a:rPr lang="pl-PL" sz="1400" dirty="0" err="1">
                <a:solidFill>
                  <a:schemeClr val="bg1"/>
                </a:solidFill>
              </a:rPr>
              <a:t>Capture</a:t>
            </a:r>
            <a:r>
              <a:rPr lang="pl-PL" sz="1400" dirty="0">
                <a:solidFill>
                  <a:schemeClr val="bg1"/>
                </a:solidFill>
              </a:rPr>
              <a:t> Point. Dobra nawigacja </a:t>
            </a:r>
            <a:r>
              <a:rPr lang="pl-PL" sz="1400" dirty="0" err="1">
                <a:solidFill>
                  <a:schemeClr val="bg1"/>
                </a:solidFill>
              </a:rPr>
              <a:t>humanoida</a:t>
            </a:r>
            <a:r>
              <a:rPr lang="pl-PL" sz="1400" dirty="0">
                <a:solidFill>
                  <a:schemeClr val="bg1"/>
                </a:solidFill>
              </a:rPr>
              <a:t> nie jest tylko szybka — ona musi być jednocześnie dokładna, bezpieczna i stabilna.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ŚRODOWISKA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Środowiska pracy humanoida</a:t>
            </a:r>
            <a:endParaRPr lang="en-US" sz="2800" dirty="0"/>
          </a:p>
        </p:txBody>
      </p:sp>
      <p:sp>
        <p:nvSpPr>
          <p:cNvPr id="6" name="Shape 4"/>
          <p:cNvSpPr/>
          <p:nvPr/>
        </p:nvSpPr>
        <p:spPr>
          <a:xfrm>
            <a:off x="274320" y="1097280"/>
            <a:ext cx="8595360" cy="28727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88720"/>
            <a:ext cx="8229600" cy="2720340"/>
          </a:xfrm>
          <a:prstGeom prst="rect">
            <a:avLst/>
          </a:prstGeom>
          <a:noFill/>
          <a:ln/>
        </p:spPr>
        <p:txBody>
          <a:bodyPr wrap="square" lIns="127000" tIns="127000" rIns="127000" bIns="127000" rtlCol="0" anchor="t"/>
          <a:lstStyle/>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Korytarze biurowe  </a:t>
            </a:r>
            <a:r>
              <a:rPr lang="en-US" sz="1600" dirty="0">
                <a:solidFill>
                  <a:srgbClr val="0D1B2A"/>
                </a:solidFill>
                <a:latin typeface="Calibri" pitchFamily="34" charset="0"/>
                <a:ea typeface="Calibri" pitchFamily="34" charset="-122"/>
                <a:cs typeface="Calibri" pitchFamily="34" charset="-120"/>
              </a:rPr>
              <a:t>– wąskie przejścia, dynamiczne przeszkody (ludzie), równe podłoże</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Schody i rampy     </a:t>
            </a:r>
            <a:r>
              <a:rPr lang="en-US" sz="1600" dirty="0">
                <a:solidFill>
                  <a:srgbClr val="0D1B2A"/>
                </a:solidFill>
                <a:latin typeface="Calibri" pitchFamily="34" charset="0"/>
                <a:ea typeface="Calibri" pitchFamily="34" charset="-122"/>
                <a:cs typeface="Calibri" pitchFamily="34" charset="-120"/>
              </a:rPr>
              <a:t>– zmienne wysokości, konieczność planowania kroków 3D</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Drzwi i progi      </a:t>
            </a:r>
            <a:r>
              <a:rPr lang="en-US" sz="1600" dirty="0">
                <a:solidFill>
                  <a:srgbClr val="0D1B2A"/>
                </a:solidFill>
                <a:latin typeface="Calibri" pitchFamily="34" charset="0"/>
                <a:ea typeface="Calibri" pitchFamily="34" charset="-122"/>
                <a:cs typeface="Calibri" pitchFamily="34" charset="-120"/>
              </a:rPr>
              <a:t>– precyzyjny ruch chwytnych, klamki, siłowniki, progi podłogowe</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Nierówne podłoże   </a:t>
            </a:r>
            <a:r>
              <a:rPr lang="en-US" sz="1600" dirty="0">
                <a:solidFill>
                  <a:srgbClr val="0D1B2A"/>
                </a:solidFill>
                <a:latin typeface="Calibri" pitchFamily="34" charset="0"/>
                <a:ea typeface="Calibri" pitchFamily="34" charset="-122"/>
                <a:cs typeface="Calibri" pitchFamily="34" charset="-120"/>
              </a:rPr>
              <a:t>– gruz, kostka brukowa, miękkie nawierzchnie, pochyłości terenu</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Otoczenie ludzkie  </a:t>
            </a:r>
            <a:r>
              <a:rPr lang="en-US" sz="1600" dirty="0">
                <a:solidFill>
                  <a:srgbClr val="0D1B2A"/>
                </a:solidFill>
                <a:latin typeface="Calibri" pitchFamily="34" charset="0"/>
                <a:ea typeface="Calibri" pitchFamily="34" charset="-122"/>
                <a:cs typeface="Calibri" pitchFamily="34" charset="-120"/>
              </a:rPr>
              <a:t>– przewidywanie ruchu, strefa bezpieczeństwa, protokoły interakcji</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Środowiska zmieniające się dynamicznie </a:t>
            </a:r>
            <a:r>
              <a:rPr lang="en-US" sz="1600" dirty="0">
                <a:solidFill>
                  <a:srgbClr val="0D1B2A"/>
                </a:solidFill>
                <a:latin typeface="Calibri" pitchFamily="34" charset="0"/>
                <a:ea typeface="Calibri" pitchFamily="34" charset="-122"/>
                <a:cs typeface="Calibri" pitchFamily="34" charset="-120"/>
              </a:rPr>
              <a:t>– przesuwane meble, otwierane drzwi, ruchome obiekty</a:t>
            </a:r>
            <a:endParaRPr lang="en-US" sz="1600" dirty="0"/>
          </a:p>
        </p:txBody>
      </p:sp>
      <p:sp>
        <p:nvSpPr>
          <p:cNvPr id="8" name="Prostokąt 7"/>
          <p:cNvSpPr/>
          <p:nvPr/>
        </p:nvSpPr>
        <p:spPr>
          <a:xfrm>
            <a:off x="274320" y="4077891"/>
            <a:ext cx="8595360" cy="992516"/>
          </a:xfrm>
          <a:prstGeom prst="rect">
            <a:avLst/>
          </a:prstGeom>
          <a:solidFill>
            <a:srgbClr val="0D1B2A"/>
          </a:solidFill>
        </p:spPr>
        <p:txBody>
          <a:bodyPr wrap="square">
            <a:spAutoFit/>
          </a:bodyPr>
          <a:lstStyle/>
          <a:p>
            <a:pPr algn="just">
              <a:lnSpc>
                <a:spcPts val="1400"/>
              </a:lnSpc>
            </a:pPr>
            <a:r>
              <a:rPr lang="pl-PL" sz="1400" dirty="0">
                <a:solidFill>
                  <a:schemeClr val="bg1"/>
                </a:solidFill>
              </a:rPr>
              <a:t>Humanoid pracuje w środowiskach znacznie trudniejszych niż klasyczny robot mobilny. W korytarzach biurowych ma wąskie przejścia i ludzi jako przeszkody dynamiczne. Na schodach i rampach musi uwzględniać wysokość terenu. Przy drzwiach i progach potrzebuje precyzji ruchu oraz często manipulacji. Na nierównym podłożu dochodzi problem kontaktu stopy z gruntem. W otoczeniu ludzkim pojawia się kwestia bezpieczeństwa i przewidywania ruchu człowieka, a w środowiskach dynamicznych mapa może się zmieniać praktycznie cały czas. </a:t>
            </a:r>
            <a:endParaRPr lang="en-US" sz="140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STUDIUM PRZYPADKU</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Studium przypadku: robot w budynku biurowym</a:t>
            </a:r>
            <a:endParaRPr lang="en-US" sz="2800" dirty="0"/>
          </a:p>
        </p:txBody>
      </p:sp>
      <p:sp>
        <p:nvSpPr>
          <p:cNvPr id="6" name="Shape 4"/>
          <p:cNvSpPr/>
          <p:nvPr/>
        </p:nvSpPr>
        <p:spPr>
          <a:xfrm>
            <a:off x="274320" y="1097280"/>
            <a:ext cx="8595360" cy="27736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88720"/>
            <a:ext cx="8229600" cy="2583180"/>
          </a:xfrm>
          <a:prstGeom prst="rect">
            <a:avLst/>
          </a:prstGeom>
          <a:noFill/>
          <a:ln/>
        </p:spPr>
        <p:txBody>
          <a:bodyPr wrap="square" lIns="127000" tIns="127000" rIns="127000" bIns="127000" rtlCol="0" anchor="t"/>
          <a:lstStyle/>
          <a:p>
            <a:pPr marL="216000" indent="-216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Misja</a:t>
            </a:r>
            <a:r>
              <a:rPr lang="en-US" sz="1600" dirty="0">
                <a:solidFill>
                  <a:srgbClr val="0D1B2A"/>
                </a:solidFill>
                <a:latin typeface="Calibri" pitchFamily="34" charset="0"/>
                <a:ea typeface="Calibri" pitchFamily="34" charset="-122"/>
                <a:cs typeface="Calibri" pitchFamily="34" charset="-120"/>
              </a:rPr>
              <a:t>: przemieszczenie z punktu A (wejście) do punktu B (</a:t>
            </a:r>
            <a:r>
              <a:rPr lang="en-US" sz="1600" dirty="0" err="1">
                <a:solidFill>
                  <a:srgbClr val="0D1B2A"/>
                </a:solidFill>
                <a:latin typeface="Calibri" pitchFamily="34" charset="0"/>
                <a:ea typeface="Calibri" pitchFamily="34" charset="-122"/>
                <a:cs typeface="Calibri" pitchFamily="34" charset="-120"/>
              </a:rPr>
              <a:t>sala</a:t>
            </a:r>
            <a:r>
              <a:rPr lang="en-US" sz="1600" dirty="0">
                <a:solidFill>
                  <a:srgbClr val="0D1B2A"/>
                </a:solidFill>
                <a:latin typeface="Calibri" pitchFamily="34" charset="0"/>
                <a:ea typeface="Calibri" pitchFamily="34" charset="-122"/>
                <a:cs typeface="Calibri" pitchFamily="34" charset="-120"/>
              </a:rPr>
              <a:t> </a:t>
            </a:r>
            <a:r>
              <a:rPr lang="en-US" sz="1600" dirty="0" err="1" smtClean="0">
                <a:solidFill>
                  <a:srgbClr val="0D1B2A"/>
                </a:solidFill>
                <a:latin typeface="Calibri" pitchFamily="34" charset="0"/>
                <a:ea typeface="Calibri" pitchFamily="34" charset="-122"/>
                <a:cs typeface="Calibri" pitchFamily="34" charset="-120"/>
              </a:rPr>
              <a:t>konf</a:t>
            </a:r>
            <a:r>
              <a:rPr lang="pl-PL" sz="1600" dirty="0" smtClean="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w budynku 3-piętrowym</a:t>
            </a:r>
            <a:endParaRPr lang="en-US" sz="1600" dirty="0"/>
          </a:p>
          <a:p>
            <a:pPr marL="216000" indent="-216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Etap 1 </a:t>
            </a:r>
            <a:r>
              <a:rPr lang="en-US" sz="1600" dirty="0">
                <a:solidFill>
                  <a:srgbClr val="0D1B2A"/>
                </a:solidFill>
                <a:latin typeface="Calibri" pitchFamily="34" charset="0"/>
                <a:ea typeface="Calibri" pitchFamily="34" charset="-122"/>
                <a:cs typeface="Calibri" pitchFamily="34" charset="-120"/>
              </a:rPr>
              <a:t>– </a:t>
            </a:r>
            <a:r>
              <a:rPr lang="en-US" sz="1600" b="1" dirty="0">
                <a:solidFill>
                  <a:srgbClr val="0D1B2A"/>
                </a:solidFill>
                <a:latin typeface="Calibri" pitchFamily="34" charset="0"/>
                <a:ea typeface="Calibri" pitchFamily="34" charset="-122"/>
                <a:cs typeface="Calibri" pitchFamily="34" charset="-120"/>
              </a:rPr>
              <a:t>Lokalizacja startowa</a:t>
            </a:r>
            <a:r>
              <a:rPr lang="en-US" sz="1600" dirty="0">
                <a:solidFill>
                  <a:srgbClr val="0D1B2A"/>
                </a:solidFill>
                <a:latin typeface="Calibri" pitchFamily="34" charset="0"/>
                <a:ea typeface="Calibri" pitchFamily="34" charset="-122"/>
                <a:cs typeface="Calibri" pitchFamily="34" charset="-120"/>
              </a:rPr>
              <a:t>: inicjalizacja SLAM, wczytanie mapy budynku</a:t>
            </a:r>
            <a:endParaRPr lang="en-US" sz="1600" dirty="0"/>
          </a:p>
          <a:p>
            <a:pPr marL="216000" indent="-216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Etap 2 </a:t>
            </a:r>
            <a:r>
              <a:rPr lang="en-US" sz="1600" dirty="0">
                <a:solidFill>
                  <a:srgbClr val="0D1B2A"/>
                </a:solidFill>
                <a:latin typeface="Calibri" pitchFamily="34" charset="0"/>
                <a:ea typeface="Calibri" pitchFamily="34" charset="-122"/>
                <a:cs typeface="Calibri" pitchFamily="34" charset="-120"/>
              </a:rPr>
              <a:t>– </a:t>
            </a:r>
            <a:r>
              <a:rPr lang="en-US" sz="1600" b="1" dirty="0">
                <a:solidFill>
                  <a:srgbClr val="0D1B2A"/>
                </a:solidFill>
                <a:latin typeface="Calibri" pitchFamily="34" charset="0"/>
                <a:ea typeface="Calibri" pitchFamily="34" charset="-122"/>
                <a:cs typeface="Calibri" pitchFamily="34" charset="-120"/>
              </a:rPr>
              <a:t>Planowanie globalne</a:t>
            </a:r>
            <a:r>
              <a:rPr lang="en-US" sz="1600" dirty="0">
                <a:solidFill>
                  <a:srgbClr val="0D1B2A"/>
                </a:solidFill>
                <a:latin typeface="Calibri" pitchFamily="34" charset="0"/>
                <a:ea typeface="Calibri" pitchFamily="34" charset="-122"/>
                <a:cs typeface="Calibri" pitchFamily="34" charset="-120"/>
              </a:rPr>
              <a:t>: wyznaczenie trasy A* z uwzględnieniem wind lub schodów</a:t>
            </a:r>
            <a:endParaRPr lang="en-US" sz="1600" dirty="0"/>
          </a:p>
          <a:p>
            <a:pPr marL="216000" indent="-216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Etap 3 </a:t>
            </a:r>
            <a:r>
              <a:rPr lang="en-US" sz="1600" dirty="0">
                <a:solidFill>
                  <a:srgbClr val="0D1B2A"/>
                </a:solidFill>
                <a:latin typeface="Calibri" pitchFamily="34" charset="0"/>
                <a:ea typeface="Calibri" pitchFamily="34" charset="-122"/>
                <a:cs typeface="Calibri" pitchFamily="34" charset="-120"/>
              </a:rPr>
              <a:t>– </a:t>
            </a:r>
            <a:r>
              <a:rPr lang="en-US" sz="1600" b="1" dirty="0">
                <a:solidFill>
                  <a:srgbClr val="0D1B2A"/>
                </a:solidFill>
                <a:latin typeface="Calibri" pitchFamily="34" charset="0"/>
                <a:ea typeface="Calibri" pitchFamily="34" charset="-122"/>
                <a:cs typeface="Calibri" pitchFamily="34" charset="-120"/>
              </a:rPr>
              <a:t>Nawigacja korytarzem</a:t>
            </a:r>
            <a:r>
              <a:rPr lang="en-US" sz="1600" dirty="0">
                <a:solidFill>
                  <a:srgbClr val="0D1B2A"/>
                </a:solidFill>
                <a:latin typeface="Calibri" pitchFamily="34" charset="0"/>
                <a:ea typeface="Calibri" pitchFamily="34" charset="-122"/>
                <a:cs typeface="Calibri" pitchFamily="34" charset="-120"/>
              </a:rPr>
              <a:t>: DWA z detekcją ludzi i dynamicznym omijaniem</a:t>
            </a:r>
            <a:endParaRPr lang="en-US" sz="1600" dirty="0"/>
          </a:p>
          <a:p>
            <a:pPr marL="216000" indent="-216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Etap 4 </a:t>
            </a:r>
            <a:r>
              <a:rPr lang="en-US" sz="1600" dirty="0">
                <a:solidFill>
                  <a:srgbClr val="0D1B2A"/>
                </a:solidFill>
                <a:latin typeface="Calibri" pitchFamily="34" charset="0"/>
                <a:ea typeface="Calibri" pitchFamily="34" charset="-122"/>
                <a:cs typeface="Calibri" pitchFamily="34" charset="-120"/>
              </a:rPr>
              <a:t>– </a:t>
            </a:r>
            <a:r>
              <a:rPr lang="en-US" sz="1600" b="1" dirty="0">
                <a:solidFill>
                  <a:srgbClr val="0D1B2A"/>
                </a:solidFill>
                <a:latin typeface="Calibri" pitchFamily="34" charset="0"/>
                <a:ea typeface="Calibri" pitchFamily="34" charset="-122"/>
                <a:cs typeface="Calibri" pitchFamily="34" charset="-120"/>
              </a:rPr>
              <a:t>Przejście przez drzwi</a:t>
            </a:r>
            <a:r>
              <a:rPr lang="en-US" sz="1600" dirty="0">
                <a:solidFill>
                  <a:srgbClr val="0D1B2A"/>
                </a:solidFill>
                <a:latin typeface="Calibri" pitchFamily="34" charset="0"/>
                <a:ea typeface="Calibri" pitchFamily="34" charset="-122"/>
                <a:cs typeface="Calibri" pitchFamily="34" charset="-120"/>
              </a:rPr>
              <a:t>: detekcja klamki, planowanie kroków przy progu</a:t>
            </a:r>
            <a:endParaRPr lang="en-US" sz="1600" dirty="0"/>
          </a:p>
          <a:p>
            <a:pPr marL="216000" indent="-216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Etap 5 </a:t>
            </a:r>
            <a:r>
              <a:rPr lang="en-US" sz="1600" dirty="0">
                <a:solidFill>
                  <a:srgbClr val="0D1B2A"/>
                </a:solidFill>
                <a:latin typeface="Calibri" pitchFamily="34" charset="0"/>
                <a:ea typeface="Calibri" pitchFamily="34" charset="-122"/>
                <a:cs typeface="Calibri" pitchFamily="34" charset="-120"/>
              </a:rPr>
              <a:t>– </a:t>
            </a:r>
            <a:r>
              <a:rPr lang="en-US" sz="1600" b="1" dirty="0">
                <a:solidFill>
                  <a:srgbClr val="0D1B2A"/>
                </a:solidFill>
                <a:latin typeface="Calibri" pitchFamily="34" charset="0"/>
                <a:ea typeface="Calibri" pitchFamily="34" charset="-122"/>
                <a:cs typeface="Calibri" pitchFamily="34" charset="-120"/>
              </a:rPr>
              <a:t>Weryfikacja celu</a:t>
            </a:r>
            <a:r>
              <a:rPr lang="en-US" sz="1600" dirty="0">
                <a:solidFill>
                  <a:srgbClr val="0D1B2A"/>
                </a:solidFill>
                <a:latin typeface="Calibri" pitchFamily="34" charset="0"/>
                <a:ea typeface="Calibri" pitchFamily="34" charset="-122"/>
                <a:cs typeface="Calibri" pitchFamily="34" charset="-120"/>
              </a:rPr>
              <a:t>: potwierdzenie lokalizacji względem mapy semantycznej</a:t>
            </a:r>
            <a:endParaRPr lang="en-US" sz="1600" dirty="0"/>
          </a:p>
          <a:p>
            <a:pPr marL="216000" indent="-216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Kluczowe wyzwania</a:t>
            </a:r>
            <a:r>
              <a:rPr lang="en-US" sz="1600" dirty="0">
                <a:solidFill>
                  <a:srgbClr val="0D1B2A"/>
                </a:solidFill>
                <a:latin typeface="Calibri" pitchFamily="34" charset="0"/>
                <a:ea typeface="Calibri" pitchFamily="34" charset="-122"/>
                <a:cs typeface="Calibri" pitchFamily="34" charset="-120"/>
              </a:rPr>
              <a:t>: synchronizacja sensorów, obsługa wind, interakcja z ludźmi</a:t>
            </a:r>
            <a:endParaRPr lang="en-US" sz="1600" dirty="0"/>
          </a:p>
        </p:txBody>
      </p:sp>
      <p:sp>
        <p:nvSpPr>
          <p:cNvPr id="8" name="Prostokąt 7"/>
          <p:cNvSpPr/>
          <p:nvPr/>
        </p:nvSpPr>
        <p:spPr>
          <a:xfrm>
            <a:off x="228600" y="4020115"/>
            <a:ext cx="8641080" cy="990015"/>
          </a:xfrm>
          <a:prstGeom prst="rect">
            <a:avLst/>
          </a:prstGeom>
          <a:solidFill>
            <a:srgbClr val="0D1B2A"/>
          </a:solidFill>
        </p:spPr>
        <p:txBody>
          <a:bodyPr wrap="square">
            <a:spAutoFit/>
          </a:bodyPr>
          <a:lstStyle/>
          <a:p>
            <a:pPr algn="just">
              <a:lnSpc>
                <a:spcPts val="1400"/>
              </a:lnSpc>
            </a:pPr>
            <a:r>
              <a:rPr lang="pl-PL" sz="1400" spc="-20" dirty="0">
                <a:solidFill>
                  <a:schemeClr val="bg1"/>
                </a:solidFill>
              </a:rPr>
              <a:t>Rozważmy prosty przypadek: robot ma przejść od wejścia do sali konferencyjnej w trzypiętrowym biurze. Najpierw musi ustalić pozycję startową i zainicjalizować SLAM. Potem planuje globalną trasę z uwzględnieniem schodów albo windy. Następnie porusza się korytarzem, omijając ludzi i inne przeszkody dynamiczne. Gdy napotyka drzwi, musi wykryć klamkę, próg i zaplanować kroki. Na końcu weryfikuje osiągnięcie celu względem mapy semantycznej. Ten przykład pokazuje, że w praktyce nie ma jednego problemu </a:t>
            </a:r>
            <a:r>
              <a:rPr lang="pl-PL" sz="1400" spc="-20" dirty="0" smtClean="0">
                <a:solidFill>
                  <a:schemeClr val="bg1"/>
                </a:solidFill>
              </a:rPr>
              <a:t>nawigacji, </a:t>
            </a:r>
            <a:r>
              <a:rPr lang="pl-PL" sz="1400" spc="-20" dirty="0">
                <a:solidFill>
                  <a:schemeClr val="bg1"/>
                </a:solidFill>
              </a:rPr>
              <a:t>jest cały łańcuch problemów połączonych w jeden system.</a:t>
            </a:r>
            <a:endParaRPr lang="en-US" sz="1400" spc="-2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Struktura modułów systemu nawigacji</a:t>
            </a:r>
            <a:endParaRPr lang="en-US" sz="2800" dirty="0"/>
          </a:p>
        </p:txBody>
      </p:sp>
      <p:sp>
        <p:nvSpPr>
          <p:cNvPr id="6" name="Shape 4"/>
          <p:cNvSpPr/>
          <p:nvPr/>
        </p:nvSpPr>
        <p:spPr>
          <a:xfrm>
            <a:off x="274320" y="914400"/>
            <a:ext cx="8595360" cy="3708400"/>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7" name="Shape 5"/>
          <p:cNvSpPr/>
          <p:nvPr/>
        </p:nvSpPr>
        <p:spPr>
          <a:xfrm>
            <a:off x="8076692" y="1076706"/>
            <a:ext cx="146304" cy="146304"/>
          </a:xfrm>
          <a:prstGeom prst="ellipse">
            <a:avLst/>
          </a:prstGeom>
          <a:solidFill>
            <a:srgbClr val="F72585"/>
          </a:solidFill>
          <a:ln w="12700">
            <a:solidFill>
              <a:srgbClr val="F72585"/>
            </a:solidFill>
            <a:prstDash val="solid"/>
          </a:ln>
        </p:spPr>
      </p:sp>
      <p:sp>
        <p:nvSpPr>
          <p:cNvPr id="8" name="Shape 6"/>
          <p:cNvSpPr/>
          <p:nvPr/>
        </p:nvSpPr>
        <p:spPr>
          <a:xfrm>
            <a:off x="8332724" y="1076706"/>
            <a:ext cx="146304" cy="146304"/>
          </a:xfrm>
          <a:prstGeom prst="ellipse">
            <a:avLst/>
          </a:prstGeom>
          <a:solidFill>
            <a:srgbClr val="FFD60A"/>
          </a:solidFill>
          <a:ln w="12700">
            <a:solidFill>
              <a:srgbClr val="FFD60A"/>
            </a:solidFill>
            <a:prstDash val="solid"/>
          </a:ln>
        </p:spPr>
      </p:sp>
      <p:sp>
        <p:nvSpPr>
          <p:cNvPr id="9" name="Shape 7"/>
          <p:cNvSpPr/>
          <p:nvPr/>
        </p:nvSpPr>
        <p:spPr>
          <a:xfrm>
            <a:off x="8588756" y="1076706"/>
            <a:ext cx="146304" cy="146304"/>
          </a:xfrm>
          <a:prstGeom prst="ellipse">
            <a:avLst/>
          </a:prstGeom>
          <a:solidFill>
            <a:srgbClr val="C3F584"/>
          </a:solidFill>
          <a:ln w="12700">
            <a:solidFill>
              <a:srgbClr val="C3F584"/>
            </a:solidFill>
            <a:prstDash val="solid"/>
          </a:ln>
        </p:spPr>
      </p:sp>
      <p:sp>
        <p:nvSpPr>
          <p:cNvPr id="10" name="Text 8"/>
          <p:cNvSpPr/>
          <p:nvPr/>
        </p:nvSpPr>
        <p:spPr>
          <a:xfrm>
            <a:off x="340868" y="959358"/>
            <a:ext cx="7348982" cy="3590290"/>
          </a:xfrm>
          <a:prstGeom prst="rect">
            <a:avLst/>
          </a:prstGeom>
          <a:noFill/>
          <a:ln/>
        </p:spPr>
        <p:txBody>
          <a:bodyPr wrap="square" lIns="108000" tIns="0" rIns="127000" bIns="36000" rtlCol="0" anchor="t"/>
          <a:lstStyle/>
          <a:p>
            <a:r>
              <a:rPr lang="pl-PL" sz="1200" dirty="0">
                <a:solidFill>
                  <a:srgbClr val="569CD6"/>
                </a:solidFill>
                <a:latin typeface="Consolas" panose="020B0609020204030204" pitchFamily="49" charset="0"/>
              </a:rPr>
              <a:t>class</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SensorManager</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a:solidFill>
                  <a:srgbClr val="569CD6"/>
                </a:solidFill>
                <a:latin typeface="Consolas" panose="020B0609020204030204" pitchFamily="49" charset="0"/>
              </a:rPr>
              <a:t>def</a:t>
            </a:r>
            <a:r>
              <a:rPr lang="pl-PL" sz="1200" dirty="0">
                <a:solidFill>
                  <a:srgbClr val="CCCCCC"/>
                </a:solidFill>
                <a:latin typeface="Consolas" panose="020B0609020204030204" pitchFamily="49" charset="0"/>
              </a:rPr>
              <a:t> </a:t>
            </a:r>
            <a:r>
              <a:rPr lang="pl-PL" sz="1200" dirty="0">
                <a:solidFill>
                  <a:srgbClr val="DCDCAA"/>
                </a:solidFill>
                <a:latin typeface="Consolas" panose="020B0609020204030204" pitchFamily="49" charset="0"/>
              </a:rPr>
              <a:t>__</a:t>
            </a:r>
            <a:r>
              <a:rPr lang="pl-PL" sz="1200" dirty="0" err="1">
                <a:solidFill>
                  <a:srgbClr val="DCDCAA"/>
                </a:solidFill>
                <a:latin typeface="Consolas" panose="020B0609020204030204" pitchFamily="49" charset="0"/>
              </a:rPr>
              <a:t>init</a:t>
            </a:r>
            <a:r>
              <a:rPr lang="pl-PL" sz="1200" dirty="0">
                <a:solidFill>
                  <a:srgbClr val="DCDCAA"/>
                </a:solidFill>
                <a:latin typeface="Consolas" panose="020B0609020204030204" pitchFamily="49" charset="0"/>
              </a:rPr>
              <a:t>__</a:t>
            </a:r>
            <a:r>
              <a:rPr lang="pl-PL" sz="1200" dirty="0">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self</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self</a:t>
            </a:r>
            <a:r>
              <a:rPr lang="pl-PL" sz="1200" dirty="0" err="1">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imu_data</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4FC1FF"/>
                </a:solidFill>
                <a:latin typeface="Consolas" panose="020B0609020204030204" pitchFamily="49" charset="0"/>
              </a:rPr>
              <a:t>None</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self</a:t>
            </a:r>
            <a:r>
              <a:rPr lang="pl-PL" sz="1200" dirty="0" err="1">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lidar_scan</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4FC1FF"/>
                </a:solidFill>
                <a:latin typeface="Consolas" panose="020B0609020204030204" pitchFamily="49" charset="0"/>
              </a:rPr>
              <a:t>None</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self</a:t>
            </a:r>
            <a:r>
              <a:rPr lang="pl-PL" sz="1200" dirty="0" err="1">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depth_frame</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4FC1FF"/>
                </a:solidFill>
                <a:latin typeface="Consolas" panose="020B0609020204030204" pitchFamily="49" charset="0"/>
              </a:rPr>
              <a:t>None</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a:solidFill>
                  <a:srgbClr val="569CD6"/>
                </a:solidFill>
                <a:latin typeface="Consolas" panose="020B0609020204030204" pitchFamily="49" charset="0"/>
              </a:rPr>
              <a:t>def</a:t>
            </a:r>
            <a:r>
              <a:rPr lang="pl-PL" sz="1200" dirty="0">
                <a:solidFill>
                  <a:srgbClr val="CCCCCC"/>
                </a:solidFill>
                <a:latin typeface="Consolas" panose="020B0609020204030204" pitchFamily="49" charset="0"/>
              </a:rPr>
              <a:t> </a:t>
            </a:r>
            <a:r>
              <a:rPr lang="pl-PL" sz="1200" dirty="0">
                <a:solidFill>
                  <a:srgbClr val="DCDCAA"/>
                </a:solidFill>
                <a:latin typeface="Consolas" panose="020B0609020204030204" pitchFamily="49" charset="0"/>
              </a:rPr>
              <a:t>update</a:t>
            </a:r>
            <a:r>
              <a:rPr lang="pl-PL" sz="1200" dirty="0">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self</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imu</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lidar</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depth</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self</a:t>
            </a:r>
            <a:r>
              <a:rPr lang="pl-PL" sz="1200" dirty="0" err="1">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imu_data</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self</a:t>
            </a:r>
            <a:r>
              <a:rPr lang="pl-PL" sz="1200" dirty="0" err="1">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lidar_scan</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self</a:t>
            </a:r>
            <a:r>
              <a:rPr lang="pl-PL" sz="1200" dirty="0" err="1">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depth_frame</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imu</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lidar</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depth</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r>
            <a:br>
              <a:rPr lang="pl-PL" sz="1200" dirty="0">
                <a:solidFill>
                  <a:srgbClr val="CCCCCC"/>
                </a:solidFill>
                <a:latin typeface="Consolas" panose="020B0609020204030204" pitchFamily="49" charset="0"/>
              </a:rPr>
            </a:br>
            <a:r>
              <a:rPr lang="pl-PL" sz="1200" dirty="0">
                <a:solidFill>
                  <a:srgbClr val="569CD6"/>
                </a:solidFill>
                <a:latin typeface="Consolas" panose="020B0609020204030204" pitchFamily="49" charset="0"/>
              </a:rPr>
              <a:t>class</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StateEstimator</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a:solidFill>
                  <a:srgbClr val="569CD6"/>
                </a:solidFill>
                <a:latin typeface="Consolas" panose="020B0609020204030204" pitchFamily="49" charset="0"/>
              </a:rPr>
              <a:t>def</a:t>
            </a:r>
            <a:r>
              <a:rPr lang="pl-PL" sz="1200" dirty="0">
                <a:solidFill>
                  <a:srgbClr val="CCCCCC"/>
                </a:solidFill>
                <a:latin typeface="Consolas" panose="020B0609020204030204" pitchFamily="49" charset="0"/>
              </a:rPr>
              <a:t> </a:t>
            </a:r>
            <a:r>
              <a:rPr lang="pl-PL" sz="1200" dirty="0" err="1">
                <a:solidFill>
                  <a:srgbClr val="DCDCAA"/>
                </a:solidFill>
                <a:latin typeface="Consolas" panose="020B0609020204030204" pitchFamily="49" charset="0"/>
              </a:rPr>
              <a:t>estimate</a:t>
            </a:r>
            <a:r>
              <a:rPr lang="pl-PL" sz="1200" dirty="0">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self</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sensors</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SensorManager</a:t>
            </a:r>
            <a:r>
              <a:rPr lang="pl-PL" sz="1200" dirty="0">
                <a:solidFill>
                  <a:srgbClr val="CCCCCC"/>
                </a:solidFill>
                <a:latin typeface="Consolas" panose="020B0609020204030204" pitchFamily="49" charset="0"/>
              </a:rPr>
              <a:t>) -&gt; </a:t>
            </a:r>
            <a:r>
              <a:rPr lang="pl-PL" sz="1200" dirty="0" err="1">
                <a:solidFill>
                  <a:srgbClr val="4EC9B0"/>
                </a:solidFill>
                <a:latin typeface="Consolas" panose="020B0609020204030204" pitchFamily="49" charset="0"/>
              </a:rPr>
              <a:t>dict</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CCCCCC"/>
                </a:solidFill>
                <a:latin typeface="Consolas" panose="020B0609020204030204" pitchFamily="49" charset="0"/>
              </a:rPr>
              <a:t> {</a:t>
            </a:r>
            <a:r>
              <a:rPr lang="pl-PL" sz="1200" dirty="0">
                <a:solidFill>
                  <a:srgbClr val="CE9178"/>
                </a:solidFill>
                <a:latin typeface="Consolas" panose="020B0609020204030204" pitchFamily="49" charset="0"/>
              </a:rPr>
              <a:t>'</a:t>
            </a:r>
            <a:r>
              <a:rPr lang="pl-PL" sz="1200" dirty="0" err="1">
                <a:solidFill>
                  <a:srgbClr val="CE9178"/>
                </a:solidFill>
                <a:latin typeface="Consolas" panose="020B0609020204030204" pitchFamily="49" charset="0"/>
              </a:rPr>
              <a:t>pos</a:t>
            </a:r>
            <a:r>
              <a:rPr lang="pl-PL" sz="1200" dirty="0">
                <a:solidFill>
                  <a:srgbClr val="CE9178"/>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0.0</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0.0</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0.0</a:t>
            </a:r>
            <a:r>
              <a:rPr lang="pl-PL" sz="1200" dirty="0">
                <a:solidFill>
                  <a:srgbClr val="CCCCCC"/>
                </a:solidFill>
                <a:latin typeface="Consolas" panose="020B0609020204030204" pitchFamily="49" charset="0"/>
              </a:rPr>
              <a:t>], </a:t>
            </a:r>
            <a:r>
              <a:rPr lang="pl-PL" sz="1200" dirty="0">
                <a:solidFill>
                  <a:srgbClr val="CE9178"/>
                </a:solidFill>
                <a:latin typeface="Consolas" panose="020B0609020204030204" pitchFamily="49" charset="0"/>
              </a:rPr>
              <a:t>'</a:t>
            </a:r>
            <a:r>
              <a:rPr lang="pl-PL" sz="1200" dirty="0" err="1">
                <a:solidFill>
                  <a:srgbClr val="CE9178"/>
                </a:solidFill>
                <a:latin typeface="Consolas" panose="020B0609020204030204" pitchFamily="49" charset="0"/>
              </a:rPr>
              <a:t>yaw</a:t>
            </a:r>
            <a:r>
              <a:rPr lang="pl-PL" sz="1200" dirty="0">
                <a:solidFill>
                  <a:srgbClr val="CE9178"/>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0.0</a:t>
            </a:r>
            <a:r>
              <a:rPr lang="pl-PL" sz="1200" dirty="0">
                <a:solidFill>
                  <a:srgbClr val="CCCCCC"/>
                </a:solidFill>
                <a:latin typeface="Consolas" panose="020B0609020204030204" pitchFamily="49" charset="0"/>
              </a:rPr>
              <a:t>, </a:t>
            </a:r>
            <a:r>
              <a:rPr lang="pl-PL" sz="1200" dirty="0">
                <a:solidFill>
                  <a:srgbClr val="CE9178"/>
                </a:solidFill>
                <a:latin typeface="Consolas" panose="020B0609020204030204" pitchFamily="49" charset="0"/>
              </a:rPr>
              <a:t>'</a:t>
            </a:r>
            <a:r>
              <a:rPr lang="pl-PL" sz="1200" dirty="0" err="1">
                <a:solidFill>
                  <a:srgbClr val="CE9178"/>
                </a:solidFill>
                <a:latin typeface="Consolas" panose="020B0609020204030204" pitchFamily="49" charset="0"/>
              </a:rPr>
              <a:t>contact</a:t>
            </a:r>
            <a:r>
              <a:rPr lang="pl-PL" sz="1200" dirty="0">
                <a:solidFill>
                  <a:srgbClr val="CE9178"/>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4FC1FF"/>
                </a:solidFill>
                <a:latin typeface="Consolas" panose="020B0609020204030204" pitchFamily="49" charset="0"/>
              </a:rPr>
              <a:t>True</a:t>
            </a:r>
            <a:r>
              <a:rPr lang="pl-PL" sz="1200" dirty="0">
                <a:solidFill>
                  <a:srgbClr val="CCCCCC"/>
                </a:solidFill>
                <a:latin typeface="Consolas" panose="020B0609020204030204" pitchFamily="49" charset="0"/>
              </a:rPr>
              <a:t>, </a:t>
            </a:r>
            <a:r>
              <a:rPr lang="pl-PL" sz="1200" dirty="0" err="1">
                <a:solidFill>
                  <a:srgbClr val="4FC1FF"/>
                </a:solidFill>
                <a:latin typeface="Consolas" panose="020B0609020204030204" pitchFamily="49" charset="0"/>
              </a:rPr>
              <a:t>False</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r>
            <a:br>
              <a:rPr lang="pl-PL" sz="1200" dirty="0">
                <a:solidFill>
                  <a:srgbClr val="CCCCCC"/>
                </a:solidFill>
                <a:latin typeface="Consolas" panose="020B0609020204030204" pitchFamily="49" charset="0"/>
              </a:rPr>
            </a:br>
            <a:r>
              <a:rPr lang="pl-PL" sz="1200" dirty="0">
                <a:solidFill>
                  <a:srgbClr val="569CD6"/>
                </a:solidFill>
                <a:latin typeface="Consolas" panose="020B0609020204030204" pitchFamily="49" charset="0"/>
              </a:rPr>
              <a:t>class</a:t>
            </a:r>
            <a:r>
              <a:rPr lang="pl-PL" sz="1200" dirty="0">
                <a:solidFill>
                  <a:srgbClr val="CCCCCC"/>
                </a:solidFill>
                <a:latin typeface="Consolas" panose="020B0609020204030204" pitchFamily="49" charset="0"/>
              </a:rPr>
              <a:t> </a:t>
            </a:r>
            <a:r>
              <a:rPr lang="pl-PL" sz="1200" dirty="0">
                <a:solidFill>
                  <a:srgbClr val="4EC9B0"/>
                </a:solidFill>
                <a:latin typeface="Consolas" panose="020B0609020204030204" pitchFamily="49" charset="0"/>
              </a:rPr>
              <a:t>Planner</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a:solidFill>
                  <a:srgbClr val="569CD6"/>
                </a:solidFill>
                <a:latin typeface="Consolas" panose="020B0609020204030204" pitchFamily="49" charset="0"/>
              </a:rPr>
              <a:t>def</a:t>
            </a:r>
            <a:r>
              <a:rPr lang="pl-PL" sz="1200" dirty="0">
                <a:solidFill>
                  <a:srgbClr val="CCCCCC"/>
                </a:solidFill>
                <a:latin typeface="Consolas" panose="020B0609020204030204" pitchFamily="49" charset="0"/>
              </a:rPr>
              <a:t> </a:t>
            </a:r>
            <a:r>
              <a:rPr lang="pl-PL" sz="1200" dirty="0">
                <a:solidFill>
                  <a:srgbClr val="DCDCAA"/>
                </a:solidFill>
                <a:latin typeface="Consolas" panose="020B0609020204030204" pitchFamily="49" charset="0"/>
              </a:rPr>
              <a:t>plan</a:t>
            </a:r>
            <a:r>
              <a:rPr lang="pl-PL" sz="1200" dirty="0">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self</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state</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dict</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goal</a:t>
            </a:r>
            <a:r>
              <a:rPr lang="pl-PL" sz="1200" dirty="0">
                <a:solidFill>
                  <a:srgbClr val="CCCCCC"/>
                </a:solidFill>
                <a:latin typeface="Consolas" panose="020B0609020204030204" pitchFamily="49" charset="0"/>
              </a:rPr>
              <a:t>: </a:t>
            </a:r>
            <a:r>
              <a:rPr lang="pl-PL" sz="1200" dirty="0">
                <a:solidFill>
                  <a:srgbClr val="4EC9B0"/>
                </a:solidFill>
                <a:latin typeface="Consolas" panose="020B0609020204030204" pitchFamily="49" charset="0"/>
              </a:rPr>
              <a:t>list</a:t>
            </a:r>
            <a:r>
              <a:rPr lang="pl-PL" sz="1200" dirty="0">
                <a:solidFill>
                  <a:srgbClr val="CCCCCC"/>
                </a:solidFill>
                <a:latin typeface="Consolas" panose="020B0609020204030204" pitchFamily="49" charset="0"/>
              </a:rPr>
              <a:t>) -&gt; </a:t>
            </a:r>
            <a:r>
              <a:rPr lang="pl-PL" sz="1200" dirty="0">
                <a:solidFill>
                  <a:srgbClr val="4EC9B0"/>
                </a:solidFill>
                <a:latin typeface="Consolas" panose="020B0609020204030204" pitchFamily="49" charset="0"/>
              </a:rPr>
              <a:t>list</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CCCCCC"/>
                </a:solidFill>
                <a:latin typeface="Consolas" panose="020B0609020204030204" pitchFamily="49" charset="0"/>
              </a:rPr>
              <a:t> [] </a:t>
            </a:r>
            <a:r>
              <a:rPr lang="pl-PL" sz="1200" dirty="0">
                <a:solidFill>
                  <a:srgbClr val="6A9955"/>
                </a:solidFill>
                <a:latin typeface="Consolas" panose="020B0609020204030204" pitchFamily="49" charset="0"/>
              </a:rPr>
              <a:t># lista kroków (</a:t>
            </a:r>
            <a:r>
              <a:rPr lang="pl-PL" sz="1200" dirty="0" err="1">
                <a:solidFill>
                  <a:srgbClr val="6A9955"/>
                </a:solidFill>
                <a:latin typeface="Consolas" panose="020B0609020204030204" pitchFamily="49" charset="0"/>
              </a:rPr>
              <a:t>footsteps</a:t>
            </a:r>
            <a:r>
              <a:rPr lang="pl-PL" sz="1200" dirty="0">
                <a:solidFill>
                  <a:srgbClr val="6A9955"/>
                </a:solidFill>
                <a:latin typeface="Consolas" panose="020B0609020204030204" pitchFamily="49" charset="0"/>
              </a:rPr>
              <a:t>)</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r>
            <a:br>
              <a:rPr lang="pl-PL" sz="1200" dirty="0">
                <a:solidFill>
                  <a:srgbClr val="CCCCCC"/>
                </a:solidFill>
                <a:latin typeface="Consolas" panose="020B0609020204030204" pitchFamily="49" charset="0"/>
              </a:rPr>
            </a:br>
            <a:r>
              <a:rPr lang="pl-PL" sz="1200" dirty="0">
                <a:solidFill>
                  <a:srgbClr val="569CD6"/>
                </a:solidFill>
                <a:latin typeface="Consolas" panose="020B0609020204030204" pitchFamily="49" charset="0"/>
              </a:rPr>
              <a:t>class</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GaitController</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a:solidFill>
                  <a:srgbClr val="569CD6"/>
                </a:solidFill>
                <a:latin typeface="Consolas" panose="020B0609020204030204" pitchFamily="49" charset="0"/>
              </a:rPr>
              <a:t>def</a:t>
            </a:r>
            <a:r>
              <a:rPr lang="pl-PL" sz="1200" dirty="0">
                <a:solidFill>
                  <a:srgbClr val="CCCCCC"/>
                </a:solidFill>
                <a:latin typeface="Consolas" panose="020B0609020204030204" pitchFamily="49" charset="0"/>
              </a:rPr>
              <a:t> </a:t>
            </a:r>
            <a:r>
              <a:rPr lang="pl-PL" sz="1200" dirty="0" err="1">
                <a:solidFill>
                  <a:srgbClr val="DCDCAA"/>
                </a:solidFill>
                <a:latin typeface="Consolas" panose="020B0609020204030204" pitchFamily="49" charset="0"/>
              </a:rPr>
              <a:t>execute</a:t>
            </a:r>
            <a:r>
              <a:rPr lang="pl-PL" sz="1200" dirty="0">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self</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footsteps</a:t>
            </a:r>
            <a:r>
              <a:rPr lang="pl-PL" sz="1200" dirty="0">
                <a:solidFill>
                  <a:srgbClr val="CCCCCC"/>
                </a:solidFill>
                <a:latin typeface="Consolas" panose="020B0609020204030204" pitchFamily="49" charset="0"/>
              </a:rPr>
              <a:t>: </a:t>
            </a:r>
            <a:r>
              <a:rPr lang="pl-PL" sz="1200" dirty="0">
                <a:solidFill>
                  <a:srgbClr val="4EC9B0"/>
                </a:solidFill>
                <a:latin typeface="Consolas" panose="020B0609020204030204" pitchFamily="49" charset="0"/>
              </a:rPr>
              <a:t>list</a:t>
            </a:r>
            <a:r>
              <a:rPr lang="pl-PL" sz="1200" dirty="0">
                <a:solidFill>
                  <a:srgbClr val="CCCCCC"/>
                </a:solidFill>
                <a:latin typeface="Consolas" panose="020B0609020204030204" pitchFamily="49" charset="0"/>
              </a:rPr>
              <a:t>) -&gt; </a:t>
            </a:r>
            <a:r>
              <a:rPr lang="pl-PL" sz="1200" dirty="0">
                <a:solidFill>
                  <a:srgbClr val="4EC9B0"/>
                </a:solidFill>
                <a:latin typeface="Consolas" panose="020B0609020204030204" pitchFamily="49" charset="0"/>
              </a:rPr>
              <a:t>list</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CCCCCC"/>
                </a:solidFill>
                <a:latin typeface="Consolas" panose="020B0609020204030204" pitchFamily="49" charset="0"/>
              </a:rPr>
              <a:t> [] </a:t>
            </a:r>
            <a:r>
              <a:rPr lang="pl-PL" sz="1200" dirty="0">
                <a:solidFill>
                  <a:srgbClr val="6A9955"/>
                </a:solidFill>
                <a:latin typeface="Consolas" panose="020B0609020204030204" pitchFamily="49" charset="0"/>
              </a:rPr>
              <a:t># komendy stawowe [</a:t>
            </a:r>
            <a:r>
              <a:rPr lang="pl-PL" sz="1200" dirty="0" err="1">
                <a:solidFill>
                  <a:srgbClr val="6A9955"/>
                </a:solidFill>
                <a:latin typeface="Consolas" panose="020B0609020204030204" pitchFamily="49" charset="0"/>
              </a:rPr>
              <a:t>Nm</a:t>
            </a:r>
            <a:r>
              <a:rPr lang="pl-PL" sz="1200" dirty="0">
                <a:solidFill>
                  <a:srgbClr val="6A9955"/>
                </a:solidFill>
                <a:latin typeface="Consolas" panose="020B0609020204030204" pitchFamily="49" charset="0"/>
              </a:rPr>
              <a:t>]</a:t>
            </a:r>
            <a:endParaRPr lang="pl-PL" sz="1200" b="0" dirty="0">
              <a:solidFill>
                <a:srgbClr val="CCCCCC"/>
              </a:solidFill>
              <a:effectLst/>
              <a:latin typeface="Consolas" panose="020B0609020204030204" pitchFamily="49" charset="0"/>
            </a:endParaRPr>
          </a:p>
        </p:txBody>
      </p:sp>
      <p:sp>
        <p:nvSpPr>
          <p:cNvPr id="11" name="Shape 9"/>
          <p:cNvSpPr/>
          <p:nvPr/>
        </p:nvSpPr>
        <p:spPr>
          <a:xfrm>
            <a:off x="274320" y="4711700"/>
            <a:ext cx="8595360" cy="226060"/>
          </a:xfrm>
          <a:prstGeom prst="rect">
            <a:avLst/>
          </a:prstGeom>
          <a:solidFill>
            <a:srgbClr val="1A3550"/>
          </a:solidFill>
          <a:ln w="12700">
            <a:solidFill>
              <a:srgbClr val="0077A8"/>
            </a:solidFill>
            <a:prstDash val="solid"/>
          </a:ln>
        </p:spPr>
      </p:sp>
      <p:sp>
        <p:nvSpPr>
          <p:cNvPr id="12" name="Text 10"/>
          <p:cNvSpPr/>
          <p:nvPr/>
        </p:nvSpPr>
        <p:spPr>
          <a:xfrm>
            <a:off x="457200" y="4622800"/>
            <a:ext cx="8321040" cy="314960"/>
          </a:xfrm>
          <a:prstGeom prst="rect">
            <a:avLst/>
          </a:prstGeom>
          <a:noFill/>
          <a:ln/>
        </p:spPr>
        <p:txBody>
          <a:bodyPr wrap="square" lIns="0" tIns="127000" rIns="12700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Opis: </a:t>
            </a:r>
            <a:r>
              <a:rPr lang="en-US" sz="1200" dirty="0">
                <a:solidFill>
                  <a:srgbClr val="E2EBF3"/>
                </a:solidFill>
                <a:latin typeface="Calibri" pitchFamily="34" charset="0"/>
                <a:ea typeface="Calibri" pitchFamily="34" charset="-122"/>
                <a:cs typeface="Calibri" pitchFamily="34" charset="-120"/>
              </a:rPr>
              <a:t>Szkielet architektury oprogramowania – cztery główne klasy systemu nawigacji humanoida.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355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B4D8"/>
          </a:solidFill>
          <a:ln w="12700">
            <a:solidFill>
              <a:srgbClr val="00B4D8"/>
            </a:solidFill>
            <a:prstDash val="solid"/>
          </a:ln>
        </p:spPr>
      </p:sp>
      <p:sp>
        <p:nvSpPr>
          <p:cNvPr id="3" name="Shape 1"/>
          <p:cNvSpPr/>
          <p:nvPr/>
        </p:nvSpPr>
        <p:spPr>
          <a:xfrm>
            <a:off x="0" y="5052060"/>
            <a:ext cx="9144000" cy="91440"/>
          </a:xfrm>
          <a:prstGeom prst="rect">
            <a:avLst/>
          </a:prstGeom>
          <a:solidFill>
            <a:srgbClr val="0077A8"/>
          </a:solidFill>
          <a:ln w="12700">
            <a:solidFill>
              <a:srgbClr val="0077A8"/>
            </a:solidFill>
            <a:prstDash val="solid"/>
          </a:ln>
        </p:spPr>
      </p:sp>
      <p:sp>
        <p:nvSpPr>
          <p:cNvPr id="4" name="Text 2"/>
          <p:cNvSpPr/>
          <p:nvPr/>
        </p:nvSpPr>
        <p:spPr>
          <a:xfrm>
            <a:off x="457200" y="640080"/>
            <a:ext cx="2286000" cy="2286000"/>
          </a:xfrm>
          <a:prstGeom prst="rect">
            <a:avLst/>
          </a:prstGeom>
          <a:noFill/>
          <a:ln/>
          <a:effectLst>
            <a:outerShdw blurRad="50800" dist="38100" dir="2700000" algn="tl" rotWithShape="0">
              <a:prstClr val="black">
                <a:alpha val="40000"/>
              </a:prstClr>
            </a:outerShdw>
          </a:effectLst>
        </p:spPr>
        <p:txBody>
          <a:bodyPr wrap="square" lIns="0" tIns="0" rIns="0" bIns="0" rtlCol="0" anchor="ctr"/>
          <a:lstStyle/>
          <a:p>
            <a:pPr marL="0" indent="0" algn="ctr">
              <a:buNone/>
            </a:pPr>
            <a:r>
              <a:rPr lang="en-US" sz="12000" b="1" dirty="0">
                <a:solidFill>
                  <a:srgbClr val="00B4D8">
                    <a:alpha val="80000"/>
                  </a:srgbClr>
                </a:solidFill>
                <a:latin typeface="Trebuchet MS" pitchFamily="34" charset="0"/>
                <a:ea typeface="Trebuchet MS" pitchFamily="34" charset="-122"/>
                <a:cs typeface="Trebuchet MS" pitchFamily="34" charset="-120"/>
              </a:rPr>
              <a:t>02</a:t>
            </a:r>
            <a:endParaRPr lang="en-US" sz="12000" dirty="0"/>
          </a:p>
        </p:txBody>
      </p:sp>
      <p:sp>
        <p:nvSpPr>
          <p:cNvPr id="5" name="Shape 3"/>
          <p:cNvSpPr/>
          <p:nvPr/>
        </p:nvSpPr>
        <p:spPr>
          <a:xfrm>
            <a:off x="7132320" y="1371600"/>
            <a:ext cx="1645920" cy="1645920"/>
          </a:xfrm>
          <a:prstGeom prst="ellipse">
            <a:avLst/>
          </a:prstGeom>
          <a:solidFill>
            <a:schemeClr val="bg1"/>
          </a:solidFill>
          <a:ln w="57150">
            <a:solidFill>
              <a:srgbClr val="00B4D8"/>
            </a:solidFill>
            <a:prstDash val="solid"/>
          </a:ln>
          <a:effectLst>
            <a:outerShdw blurRad="50800" dist="38100" dir="2700000" algn="tl" rotWithShape="0">
              <a:prstClr val="black">
                <a:alpha val="40000"/>
              </a:prstClr>
            </a:outerShdw>
          </a:effectLst>
        </p:spPr>
      </p:sp>
      <p:pic>
        <p:nvPicPr>
          <p:cNvPr id="6" name="Image 0" descr="preencoded.png"/>
          <p:cNvPicPr>
            <a:picLocks noChangeAspect="1"/>
          </p:cNvPicPr>
          <p:nvPr/>
        </p:nvPicPr>
        <p:blipFill>
          <a:blip r:embed="rId3"/>
          <a:stretch>
            <a:fillRect/>
          </a:stretch>
        </p:blipFill>
        <p:spPr>
          <a:xfrm>
            <a:off x="7429500" y="1668780"/>
            <a:ext cx="1051560" cy="1051560"/>
          </a:xfrm>
          <a:prstGeom prst="rect">
            <a:avLst/>
          </a:prstGeom>
        </p:spPr>
      </p:pic>
      <p:sp>
        <p:nvSpPr>
          <p:cNvPr id="7" name="Text 4"/>
          <p:cNvSpPr/>
          <p:nvPr/>
        </p:nvSpPr>
        <p:spPr>
          <a:xfrm>
            <a:off x="2926080" y="1188720"/>
            <a:ext cx="3931920" cy="365760"/>
          </a:xfrm>
          <a:prstGeom prst="rect">
            <a:avLst/>
          </a:prstGeom>
          <a:noFill/>
          <a:ln/>
        </p:spPr>
        <p:txBody>
          <a:bodyPr wrap="square" lIns="0" tIns="0" rIns="0" bIns="0" rtlCol="0" anchor="ctr"/>
          <a:lstStyle/>
          <a:p>
            <a:pPr marL="0" indent="0">
              <a:buNone/>
            </a:pPr>
            <a:r>
              <a:rPr lang="en-US" sz="1200" b="1" kern="0" spc="400" dirty="0">
                <a:solidFill>
                  <a:srgbClr val="00B4D8"/>
                </a:solidFill>
                <a:latin typeface="Trebuchet MS" pitchFamily="34" charset="0"/>
                <a:ea typeface="Trebuchet MS" pitchFamily="34" charset="-122"/>
                <a:cs typeface="Trebuchet MS" pitchFamily="34" charset="-120"/>
              </a:rPr>
              <a:t>SEKCJA</a:t>
            </a:r>
            <a:endParaRPr lang="en-US" sz="1200" dirty="0"/>
          </a:p>
        </p:txBody>
      </p:sp>
      <p:sp>
        <p:nvSpPr>
          <p:cNvPr id="8" name="Text 5"/>
          <p:cNvSpPr/>
          <p:nvPr/>
        </p:nvSpPr>
        <p:spPr>
          <a:xfrm>
            <a:off x="2926080" y="1600200"/>
            <a:ext cx="3931920" cy="91440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Sensory i percepcja</a:t>
            </a:r>
            <a:endParaRPr lang="en-US" sz="3200" dirty="0"/>
          </a:p>
        </p:txBody>
      </p:sp>
      <p:sp>
        <p:nvSpPr>
          <p:cNvPr id="9" name="Shape 6"/>
          <p:cNvSpPr/>
          <p:nvPr/>
        </p:nvSpPr>
        <p:spPr>
          <a:xfrm>
            <a:off x="2926080" y="2606040"/>
            <a:ext cx="3931920" cy="27432"/>
          </a:xfrm>
          <a:prstGeom prst="rect">
            <a:avLst/>
          </a:prstGeom>
          <a:solidFill>
            <a:srgbClr val="00B4D8"/>
          </a:solidFill>
          <a:ln w="12700">
            <a:solidFill>
              <a:srgbClr val="00B4D8"/>
            </a:solidFill>
            <a:prstDash val="solid"/>
          </a:ln>
          <a:effectLst>
            <a:outerShdw blurRad="50800" dist="38100" dir="2700000" algn="tl" rotWithShape="0">
              <a:prstClr val="black">
                <a:alpha val="40000"/>
              </a:prstClr>
            </a:outerShdw>
          </a:effectLst>
        </p:spPr>
      </p:sp>
      <p:sp>
        <p:nvSpPr>
          <p:cNvPr id="10" name="Text 7"/>
          <p:cNvSpPr/>
          <p:nvPr/>
        </p:nvSpPr>
        <p:spPr>
          <a:xfrm>
            <a:off x="2926080" y="2743200"/>
            <a:ext cx="3931920" cy="457200"/>
          </a:xfrm>
          <a:prstGeom prst="rect">
            <a:avLst/>
          </a:prstGeom>
          <a:noFill/>
          <a:ln/>
        </p:spPr>
        <p:txBody>
          <a:bodyPr wrap="square" lIns="0" tIns="0" rIns="0" bIns="0" rtlCol="0" anchor="ctr"/>
          <a:lstStyle/>
          <a:p>
            <a:pPr marL="0" indent="0">
              <a:buNone/>
            </a:pPr>
            <a:r>
              <a:rPr lang="en-US" sz="1400" i="1" dirty="0">
                <a:solidFill>
                  <a:srgbClr val="E2EBF3"/>
                </a:solidFill>
                <a:latin typeface="Calibri" pitchFamily="34" charset="0"/>
                <a:ea typeface="Calibri" pitchFamily="34" charset="-122"/>
                <a:cs typeface="Calibri" pitchFamily="34" charset="-120"/>
              </a:rPr>
              <a:t>Charakterystyka sensorów, propriocepcja, percepcja wizyjna, LiDAR i filtracja danych</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SENSORY</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Sensory stosowane w humanoidzie</a:t>
            </a:r>
            <a:endParaRPr lang="en-US" sz="2800" dirty="0"/>
          </a:p>
        </p:txBody>
      </p:sp>
      <p:grpSp>
        <p:nvGrpSpPr>
          <p:cNvPr id="31" name="Grupa 30"/>
          <p:cNvGrpSpPr/>
          <p:nvPr/>
        </p:nvGrpSpPr>
        <p:grpSpPr>
          <a:xfrm>
            <a:off x="274320" y="1143000"/>
            <a:ext cx="8641080" cy="2802636"/>
            <a:chOff x="274320" y="1143000"/>
            <a:chExt cx="8412480" cy="2802636"/>
          </a:xfrm>
        </p:grpSpPr>
        <p:sp>
          <p:nvSpPr>
            <p:cNvPr id="6" name="Shape 4"/>
            <p:cNvSpPr/>
            <p:nvPr/>
          </p:nvSpPr>
          <p:spPr>
            <a:xfrm>
              <a:off x="274320" y="1143000"/>
              <a:ext cx="2651760" cy="13335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2651760" cy="54864"/>
            </a:xfrm>
            <a:prstGeom prst="rect">
              <a:avLst/>
            </a:prstGeom>
            <a:solidFill>
              <a:srgbClr val="00B4D8"/>
            </a:solidFill>
            <a:ln w="12700">
              <a:solidFill>
                <a:srgbClr val="00B4D8"/>
              </a:solidFill>
              <a:prstDash val="solid"/>
            </a:ln>
          </p:spPr>
        </p:sp>
        <p:sp>
          <p:nvSpPr>
            <p:cNvPr id="8" name="Text 6"/>
            <p:cNvSpPr/>
            <p:nvPr/>
          </p:nvSpPr>
          <p:spPr>
            <a:xfrm>
              <a:off x="384048" y="1234441"/>
              <a:ext cx="2432304" cy="39624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IMU</a:t>
              </a:r>
              <a:endParaRPr lang="en-US" sz="2000" dirty="0"/>
            </a:p>
          </p:txBody>
        </p:sp>
        <p:sp>
          <p:nvSpPr>
            <p:cNvPr id="9" name="Text 7"/>
            <p:cNvSpPr/>
            <p:nvPr/>
          </p:nvSpPr>
          <p:spPr>
            <a:xfrm>
              <a:off x="384048" y="1766317"/>
              <a:ext cx="2432304" cy="557784"/>
            </a:xfrm>
            <a:prstGeom prst="rect">
              <a:avLst/>
            </a:prstGeom>
            <a:noFill/>
            <a:ln/>
          </p:spPr>
          <p:txBody>
            <a:bodyPr wrap="square" lIns="0" tIns="0" rIns="0" bIns="0" rtlCol="0" anchor="ctr"/>
            <a:lstStyle/>
            <a:p>
              <a:pPr marL="0" indent="0" algn="ctr">
                <a:buNone/>
              </a:pPr>
              <a:r>
                <a:rPr lang="en-US" sz="1400" spc="-40" dirty="0">
                  <a:solidFill>
                    <a:srgbClr val="475569"/>
                  </a:solidFill>
                  <a:latin typeface="Calibri" pitchFamily="34" charset="0"/>
                  <a:ea typeface="Calibri" pitchFamily="34" charset="-122"/>
                  <a:cs typeface="Calibri" pitchFamily="34" charset="-120"/>
                </a:rPr>
                <a:t>Żyroskop + akcelerometr; </a:t>
              </a:r>
              <a:r>
                <a:rPr lang="en-US" sz="1400" spc="-40" dirty="0" err="1">
                  <a:solidFill>
                    <a:srgbClr val="475569"/>
                  </a:solidFill>
                  <a:latin typeface="Calibri" pitchFamily="34" charset="0"/>
                  <a:ea typeface="Calibri" pitchFamily="34" charset="-122"/>
                  <a:cs typeface="Calibri" pitchFamily="34" charset="-120"/>
                </a:rPr>
                <a:t>orientacja</a:t>
              </a:r>
              <a:r>
                <a:rPr lang="en-US" sz="1400" spc="-40" dirty="0">
                  <a:solidFill>
                    <a:srgbClr val="475569"/>
                  </a:solidFill>
                  <a:latin typeface="Calibri" pitchFamily="34" charset="0"/>
                  <a:ea typeface="Calibri" pitchFamily="34" charset="-122"/>
                  <a:cs typeface="Calibri" pitchFamily="34" charset="-120"/>
                </a:rPr>
                <a:t> </a:t>
              </a:r>
              <a:r>
                <a:rPr lang="pl-PL" sz="1400" spc="-40" dirty="0" smtClean="0">
                  <a:solidFill>
                    <a:srgbClr val="475569"/>
                  </a:solidFill>
                  <a:latin typeface="Calibri" pitchFamily="34" charset="0"/>
                  <a:ea typeface="Calibri" pitchFamily="34" charset="-122"/>
                  <a:cs typeface="Calibri" pitchFamily="34" charset="-120"/>
                </a:rPr>
                <a:t/>
              </a:r>
              <a:br>
                <a:rPr lang="pl-PL" sz="1400" spc="-40" dirty="0" smtClean="0">
                  <a:solidFill>
                    <a:srgbClr val="475569"/>
                  </a:solidFill>
                  <a:latin typeface="Calibri" pitchFamily="34" charset="0"/>
                  <a:ea typeface="Calibri" pitchFamily="34" charset="-122"/>
                  <a:cs typeface="Calibri" pitchFamily="34" charset="-120"/>
                </a:rPr>
              </a:br>
              <a:r>
                <a:rPr lang="en-US" sz="1400" spc="-40" dirty="0" err="1" smtClean="0">
                  <a:solidFill>
                    <a:srgbClr val="475569"/>
                  </a:solidFill>
                  <a:latin typeface="Calibri" pitchFamily="34" charset="0"/>
                  <a:ea typeface="Calibri" pitchFamily="34" charset="-122"/>
                  <a:cs typeface="Calibri" pitchFamily="34" charset="-120"/>
                </a:rPr>
                <a:t>i</a:t>
              </a:r>
              <a:r>
                <a:rPr lang="en-US" sz="1400" spc="-40" dirty="0" smtClean="0">
                  <a:solidFill>
                    <a:srgbClr val="475569"/>
                  </a:solidFill>
                  <a:latin typeface="Calibri" pitchFamily="34" charset="0"/>
                  <a:ea typeface="Calibri" pitchFamily="34" charset="-122"/>
                  <a:cs typeface="Calibri" pitchFamily="34" charset="-120"/>
                </a:rPr>
                <a:t> </a:t>
              </a:r>
              <a:r>
                <a:rPr lang="en-US" sz="1400" spc="-40" dirty="0">
                  <a:solidFill>
                    <a:srgbClr val="475569"/>
                  </a:solidFill>
                  <a:latin typeface="Calibri" pitchFamily="34" charset="0"/>
                  <a:ea typeface="Calibri" pitchFamily="34" charset="-122"/>
                  <a:cs typeface="Calibri" pitchFamily="34" charset="-120"/>
                </a:rPr>
                <a:t>prędkość kątowa, f = 100-1000 Hz</a:t>
              </a:r>
              <a:endParaRPr lang="en-US" sz="1400" spc="-40" dirty="0"/>
            </a:p>
          </p:txBody>
        </p:sp>
        <p:sp>
          <p:nvSpPr>
            <p:cNvPr id="10" name="Shape 8"/>
            <p:cNvSpPr/>
            <p:nvPr/>
          </p:nvSpPr>
          <p:spPr>
            <a:xfrm>
              <a:off x="3154680" y="1143000"/>
              <a:ext cx="2651760" cy="13335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3154680" y="1143000"/>
              <a:ext cx="2651760" cy="54864"/>
            </a:xfrm>
            <a:prstGeom prst="rect">
              <a:avLst/>
            </a:prstGeom>
            <a:solidFill>
              <a:srgbClr val="0077A8"/>
            </a:solidFill>
            <a:ln w="12700">
              <a:solidFill>
                <a:srgbClr val="0077A8"/>
              </a:solidFill>
              <a:prstDash val="solid"/>
            </a:ln>
          </p:spPr>
        </p:sp>
        <p:sp>
          <p:nvSpPr>
            <p:cNvPr id="12" name="Text 10"/>
            <p:cNvSpPr/>
            <p:nvPr/>
          </p:nvSpPr>
          <p:spPr>
            <a:xfrm>
              <a:off x="3264408" y="1234441"/>
              <a:ext cx="2432304" cy="39624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Enkodery</a:t>
              </a:r>
              <a:endParaRPr lang="en-US" sz="2000" dirty="0"/>
            </a:p>
          </p:txBody>
        </p:sp>
        <p:sp>
          <p:nvSpPr>
            <p:cNvPr id="13" name="Text 11"/>
            <p:cNvSpPr/>
            <p:nvPr/>
          </p:nvSpPr>
          <p:spPr>
            <a:xfrm>
              <a:off x="3264408" y="1766317"/>
              <a:ext cx="2432304" cy="557784"/>
            </a:xfrm>
            <a:prstGeom prst="rect">
              <a:avLst/>
            </a:prstGeom>
            <a:noFill/>
            <a:ln/>
          </p:spPr>
          <p:txBody>
            <a:bodyPr wrap="square" lIns="0" tIns="0" rIns="0" bIns="0" rtlCol="0" anchor="ctr"/>
            <a:lstStyle/>
            <a:p>
              <a:pPr marL="0" indent="0" algn="ctr">
                <a:buNone/>
              </a:pPr>
              <a:r>
                <a:rPr lang="en-US" sz="1400" spc="-40" dirty="0">
                  <a:solidFill>
                    <a:srgbClr val="475569"/>
                  </a:solidFill>
                  <a:latin typeface="Calibri" pitchFamily="34" charset="0"/>
                  <a:ea typeface="Calibri" pitchFamily="34" charset="-122"/>
                  <a:cs typeface="Calibri" pitchFamily="34" charset="-120"/>
                </a:rPr>
                <a:t>Kąty stawów, prędkości; </a:t>
              </a:r>
              <a:r>
                <a:rPr lang="en-US" sz="1400" spc="-40" dirty="0" smtClean="0">
                  <a:solidFill>
                    <a:srgbClr val="475569"/>
                  </a:solidFill>
                  <a:latin typeface="Calibri" pitchFamily="34" charset="0"/>
                  <a:ea typeface="Calibri" pitchFamily="34" charset="-122"/>
                  <a:cs typeface="Calibri" pitchFamily="34" charset="-120"/>
                </a:rPr>
                <a:t>f </a:t>
              </a:r>
              <a:r>
                <a:rPr lang="en-US" sz="1400" spc="-40" dirty="0">
                  <a:solidFill>
                    <a:srgbClr val="475569"/>
                  </a:solidFill>
                  <a:latin typeface="Calibri" pitchFamily="34" charset="0"/>
                  <a:ea typeface="Calibri" pitchFamily="34" charset="-122"/>
                  <a:cs typeface="Calibri" pitchFamily="34" charset="-120"/>
                </a:rPr>
                <a:t>= </a:t>
              </a:r>
              <a:endParaRPr lang="pl-PL" sz="1400" spc="-40" dirty="0" smtClean="0">
                <a:solidFill>
                  <a:srgbClr val="475569"/>
                </a:solidFill>
                <a:latin typeface="Calibri" pitchFamily="34" charset="0"/>
                <a:ea typeface="Calibri" pitchFamily="34" charset="-122"/>
                <a:cs typeface="Calibri" pitchFamily="34" charset="-120"/>
              </a:endParaRPr>
            </a:p>
            <a:p>
              <a:pPr marL="0" indent="0" algn="ctr">
                <a:buNone/>
              </a:pPr>
              <a:r>
                <a:rPr lang="en-US" sz="1400" spc="-40" dirty="0" smtClean="0">
                  <a:solidFill>
                    <a:srgbClr val="475569"/>
                  </a:solidFill>
                  <a:latin typeface="Calibri" pitchFamily="34" charset="0"/>
                  <a:ea typeface="Calibri" pitchFamily="34" charset="-122"/>
                  <a:cs typeface="Calibri" pitchFamily="34" charset="-120"/>
                </a:rPr>
                <a:t>100-500 </a:t>
              </a:r>
              <a:r>
                <a:rPr lang="en-US" sz="1400" spc="-40" dirty="0">
                  <a:solidFill>
                    <a:srgbClr val="475569"/>
                  </a:solidFill>
                  <a:latin typeface="Calibri" pitchFamily="34" charset="0"/>
                  <a:ea typeface="Calibri" pitchFamily="34" charset="-122"/>
                  <a:cs typeface="Calibri" pitchFamily="34" charset="-120"/>
                </a:rPr>
                <a:t>Hz, wysoka rozdzielczość</a:t>
              </a:r>
              <a:endParaRPr lang="en-US" sz="1400" spc="-40" dirty="0"/>
            </a:p>
          </p:txBody>
        </p:sp>
        <p:sp>
          <p:nvSpPr>
            <p:cNvPr id="14" name="Shape 12"/>
            <p:cNvSpPr/>
            <p:nvPr/>
          </p:nvSpPr>
          <p:spPr>
            <a:xfrm>
              <a:off x="6035040" y="1143000"/>
              <a:ext cx="2651760" cy="13335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6035040" y="1143000"/>
              <a:ext cx="2651760" cy="54864"/>
            </a:xfrm>
            <a:prstGeom prst="rect">
              <a:avLst/>
            </a:prstGeom>
            <a:solidFill>
              <a:srgbClr val="0077A8"/>
            </a:solidFill>
            <a:ln w="12700">
              <a:solidFill>
                <a:srgbClr val="0077A8"/>
              </a:solidFill>
              <a:prstDash val="solid"/>
            </a:ln>
          </p:spPr>
        </p:sp>
        <p:sp>
          <p:nvSpPr>
            <p:cNvPr id="16" name="Text 14"/>
            <p:cNvSpPr/>
            <p:nvPr/>
          </p:nvSpPr>
          <p:spPr>
            <a:xfrm>
              <a:off x="6144768" y="1234441"/>
              <a:ext cx="2432304" cy="39624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Kamera RGB</a:t>
              </a:r>
              <a:endParaRPr lang="en-US" sz="2000" dirty="0"/>
            </a:p>
          </p:txBody>
        </p:sp>
        <p:sp>
          <p:nvSpPr>
            <p:cNvPr id="17" name="Text 15"/>
            <p:cNvSpPr/>
            <p:nvPr/>
          </p:nvSpPr>
          <p:spPr>
            <a:xfrm>
              <a:off x="6144768" y="1766317"/>
              <a:ext cx="2432304" cy="557784"/>
            </a:xfrm>
            <a:prstGeom prst="rect">
              <a:avLst/>
            </a:prstGeom>
            <a:noFill/>
            <a:ln/>
          </p:spPr>
          <p:txBody>
            <a:bodyPr wrap="square" lIns="0" tIns="0" rIns="0" bIns="0" rtlCol="0" anchor="ctr"/>
            <a:lstStyle/>
            <a:p>
              <a:pPr marL="0" indent="0" algn="ctr">
                <a:buNone/>
              </a:pPr>
              <a:r>
                <a:rPr lang="en-US" sz="1400" spc="-40" dirty="0">
                  <a:solidFill>
                    <a:srgbClr val="475569"/>
                  </a:solidFill>
                  <a:latin typeface="Calibri" pitchFamily="34" charset="0"/>
                  <a:ea typeface="Calibri" pitchFamily="34" charset="-122"/>
                  <a:cs typeface="Calibri" pitchFamily="34" charset="-120"/>
                </a:rPr>
                <a:t>Obraz kolorowy; detekcja obiektów, śledzenie, rozpoznawanie sceny</a:t>
              </a:r>
              <a:endParaRPr lang="en-US" sz="1400" spc="-40" dirty="0"/>
            </a:p>
          </p:txBody>
        </p:sp>
        <p:sp>
          <p:nvSpPr>
            <p:cNvPr id="18" name="Shape 16"/>
            <p:cNvSpPr/>
            <p:nvPr/>
          </p:nvSpPr>
          <p:spPr>
            <a:xfrm>
              <a:off x="274320" y="2612136"/>
              <a:ext cx="2651760" cy="13335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274320" y="2612136"/>
              <a:ext cx="2651760" cy="54864"/>
            </a:xfrm>
            <a:prstGeom prst="rect">
              <a:avLst/>
            </a:prstGeom>
            <a:solidFill>
              <a:srgbClr val="006490"/>
            </a:solidFill>
            <a:ln w="12700">
              <a:solidFill>
                <a:srgbClr val="006490"/>
              </a:solidFill>
              <a:prstDash val="solid"/>
            </a:ln>
          </p:spPr>
        </p:sp>
        <p:sp>
          <p:nvSpPr>
            <p:cNvPr id="20" name="Text 18"/>
            <p:cNvSpPr/>
            <p:nvPr/>
          </p:nvSpPr>
          <p:spPr>
            <a:xfrm>
              <a:off x="384048" y="2703577"/>
              <a:ext cx="2432304" cy="39624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Kamera RGB-D</a:t>
              </a:r>
              <a:endParaRPr lang="en-US" sz="2000" dirty="0"/>
            </a:p>
          </p:txBody>
        </p:sp>
        <p:sp>
          <p:nvSpPr>
            <p:cNvPr id="21" name="Text 19"/>
            <p:cNvSpPr/>
            <p:nvPr/>
          </p:nvSpPr>
          <p:spPr>
            <a:xfrm>
              <a:off x="384048" y="3235453"/>
              <a:ext cx="2432304" cy="557784"/>
            </a:xfrm>
            <a:prstGeom prst="rect">
              <a:avLst/>
            </a:prstGeom>
            <a:noFill/>
            <a:ln/>
          </p:spPr>
          <p:txBody>
            <a:bodyPr wrap="square" lIns="0" tIns="0" rIns="0" bIns="0" rtlCol="0" anchor="ctr"/>
            <a:lstStyle/>
            <a:p>
              <a:pPr marL="0" indent="0" algn="ctr">
                <a:buNone/>
              </a:pPr>
              <a:r>
                <a:rPr lang="en-US" sz="1400" spc="-40" dirty="0">
                  <a:solidFill>
                    <a:srgbClr val="475569"/>
                  </a:solidFill>
                  <a:latin typeface="Calibri" pitchFamily="34" charset="0"/>
                  <a:ea typeface="Calibri" pitchFamily="34" charset="-122"/>
                  <a:cs typeface="Calibri" pitchFamily="34" charset="-120"/>
                </a:rPr>
                <a:t>Obraz + głębia (structured light / ToF); 30-90 Hz, zasięg 0,3-5 m</a:t>
              </a:r>
              <a:endParaRPr lang="en-US" sz="1400" spc="-40" dirty="0"/>
            </a:p>
          </p:txBody>
        </p:sp>
        <p:sp>
          <p:nvSpPr>
            <p:cNvPr id="22" name="Shape 20"/>
            <p:cNvSpPr/>
            <p:nvPr/>
          </p:nvSpPr>
          <p:spPr>
            <a:xfrm>
              <a:off x="3154680" y="2612136"/>
              <a:ext cx="2651760" cy="13335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3" name="Shape 21"/>
            <p:cNvSpPr/>
            <p:nvPr/>
          </p:nvSpPr>
          <p:spPr>
            <a:xfrm>
              <a:off x="3154680" y="2612136"/>
              <a:ext cx="2651760" cy="54864"/>
            </a:xfrm>
            <a:prstGeom prst="rect">
              <a:avLst/>
            </a:prstGeom>
            <a:solidFill>
              <a:srgbClr val="1A3550"/>
            </a:solidFill>
            <a:ln w="12700">
              <a:solidFill>
                <a:srgbClr val="1A3550"/>
              </a:solidFill>
              <a:prstDash val="solid"/>
            </a:ln>
          </p:spPr>
        </p:sp>
        <p:sp>
          <p:nvSpPr>
            <p:cNvPr id="24" name="Text 22"/>
            <p:cNvSpPr/>
            <p:nvPr/>
          </p:nvSpPr>
          <p:spPr>
            <a:xfrm>
              <a:off x="3264408" y="2703577"/>
              <a:ext cx="2432304" cy="39624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LiDAR</a:t>
              </a:r>
              <a:endParaRPr lang="en-US" sz="2000" dirty="0"/>
            </a:p>
          </p:txBody>
        </p:sp>
        <p:sp>
          <p:nvSpPr>
            <p:cNvPr id="25" name="Text 23"/>
            <p:cNvSpPr/>
            <p:nvPr/>
          </p:nvSpPr>
          <p:spPr>
            <a:xfrm>
              <a:off x="3264408" y="3235453"/>
              <a:ext cx="2432304" cy="557784"/>
            </a:xfrm>
            <a:prstGeom prst="rect">
              <a:avLst/>
            </a:prstGeom>
            <a:noFill/>
            <a:ln/>
          </p:spPr>
          <p:txBody>
            <a:bodyPr wrap="square" lIns="0" tIns="0" rIns="0" bIns="0" rtlCol="0" anchor="ctr"/>
            <a:lstStyle/>
            <a:p>
              <a:pPr marL="0" indent="0" algn="ctr">
                <a:buNone/>
              </a:pPr>
              <a:r>
                <a:rPr lang="en-US" sz="1400" spc="-40" dirty="0">
                  <a:solidFill>
                    <a:srgbClr val="475569"/>
                  </a:solidFill>
                  <a:latin typeface="Calibri" pitchFamily="34" charset="0"/>
                  <a:ea typeface="Calibri" pitchFamily="34" charset="-122"/>
                  <a:cs typeface="Calibri" pitchFamily="34" charset="-120"/>
                </a:rPr>
                <a:t>Chmura punktów 2D/3D; dokładność ~2 cm, zasięg do </a:t>
              </a:r>
              <a:r>
                <a:rPr lang="en-US" sz="1400" spc="-40" dirty="0" smtClean="0">
                  <a:solidFill>
                    <a:srgbClr val="475569"/>
                  </a:solidFill>
                  <a:latin typeface="Calibri" pitchFamily="34" charset="0"/>
                  <a:ea typeface="Calibri" pitchFamily="34" charset="-122"/>
                  <a:cs typeface="Calibri" pitchFamily="34" charset="-120"/>
                </a:rPr>
                <a:t>100m</a:t>
              </a:r>
              <a:endParaRPr lang="en-US" sz="1400" spc="-40" dirty="0"/>
            </a:p>
          </p:txBody>
        </p:sp>
        <p:sp>
          <p:nvSpPr>
            <p:cNvPr id="26" name="Shape 24"/>
            <p:cNvSpPr/>
            <p:nvPr/>
          </p:nvSpPr>
          <p:spPr>
            <a:xfrm>
              <a:off x="6035040" y="2612136"/>
              <a:ext cx="2651760" cy="13335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7" name="Shape 25"/>
            <p:cNvSpPr/>
            <p:nvPr/>
          </p:nvSpPr>
          <p:spPr>
            <a:xfrm>
              <a:off x="6035040" y="2612136"/>
              <a:ext cx="2651760" cy="54864"/>
            </a:xfrm>
            <a:prstGeom prst="rect">
              <a:avLst/>
            </a:prstGeom>
            <a:solidFill>
              <a:srgbClr val="F72585"/>
            </a:solidFill>
            <a:ln w="12700">
              <a:solidFill>
                <a:srgbClr val="F72585"/>
              </a:solidFill>
              <a:prstDash val="solid"/>
            </a:ln>
          </p:spPr>
        </p:sp>
        <p:sp>
          <p:nvSpPr>
            <p:cNvPr id="28" name="Text 26"/>
            <p:cNvSpPr/>
            <p:nvPr/>
          </p:nvSpPr>
          <p:spPr>
            <a:xfrm>
              <a:off x="6144768" y="2703577"/>
              <a:ext cx="2432304" cy="39624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Czujniki sił</a:t>
              </a:r>
              <a:endParaRPr lang="en-US" sz="2000" dirty="0"/>
            </a:p>
          </p:txBody>
        </p:sp>
        <p:sp>
          <p:nvSpPr>
            <p:cNvPr id="29" name="Text 27"/>
            <p:cNvSpPr/>
            <p:nvPr/>
          </p:nvSpPr>
          <p:spPr>
            <a:xfrm>
              <a:off x="6144768" y="3235453"/>
              <a:ext cx="2432304" cy="557784"/>
            </a:xfrm>
            <a:prstGeom prst="rect">
              <a:avLst/>
            </a:prstGeom>
            <a:noFill/>
            <a:ln/>
          </p:spPr>
          <p:txBody>
            <a:bodyPr wrap="square" lIns="0" tIns="0" rIns="0" bIns="0" rtlCol="0" anchor="ctr"/>
            <a:lstStyle/>
            <a:p>
              <a:pPr marL="0" indent="0" algn="ctr">
                <a:buNone/>
              </a:pPr>
              <a:r>
                <a:rPr lang="en-US" sz="1400" spc="-40" dirty="0">
                  <a:solidFill>
                    <a:srgbClr val="475569"/>
                  </a:solidFill>
                  <a:latin typeface="Calibri" pitchFamily="34" charset="0"/>
                  <a:ea typeface="Calibri" pitchFamily="34" charset="-122"/>
                  <a:cs typeface="Calibri" pitchFamily="34" charset="-120"/>
                </a:rPr>
                <a:t>Siły i momenty w stopach (6-DoF F/T); detekcja kontaktu i fazy chodu</a:t>
              </a:r>
              <a:endParaRPr lang="en-US" sz="1400" spc="-40" dirty="0"/>
            </a:p>
          </p:txBody>
        </p:sp>
      </p:grpSp>
      <p:sp>
        <p:nvSpPr>
          <p:cNvPr id="30" name="Prostokąt 29"/>
          <p:cNvSpPr/>
          <p:nvPr/>
        </p:nvSpPr>
        <p:spPr>
          <a:xfrm>
            <a:off x="228600" y="4111752"/>
            <a:ext cx="8686800" cy="990015"/>
          </a:xfrm>
          <a:prstGeom prst="rect">
            <a:avLst/>
          </a:prstGeom>
          <a:solidFill>
            <a:srgbClr val="0D1B2A"/>
          </a:solidFill>
        </p:spPr>
        <p:txBody>
          <a:bodyPr wrap="square">
            <a:spAutoFit/>
          </a:bodyPr>
          <a:lstStyle/>
          <a:p>
            <a:pPr algn="just">
              <a:lnSpc>
                <a:spcPts val="1400"/>
              </a:lnSpc>
            </a:pPr>
            <a:r>
              <a:rPr lang="pl-PL" sz="1400" spc="-40" dirty="0">
                <a:solidFill>
                  <a:schemeClr val="bg1"/>
                </a:solidFill>
              </a:rPr>
              <a:t>Humanoid korzysta z kilku klas sensorów jednocześnie. IMU daje orientację i prędkość kątową przy bardzo dużej częstotliwości. </a:t>
            </a:r>
            <a:r>
              <a:rPr lang="pl-PL" sz="1400" spc="-40" dirty="0" err="1">
                <a:solidFill>
                  <a:schemeClr val="bg1"/>
                </a:solidFill>
              </a:rPr>
              <a:t>Enkodery</a:t>
            </a:r>
            <a:r>
              <a:rPr lang="pl-PL" sz="1400" spc="-40" dirty="0">
                <a:solidFill>
                  <a:schemeClr val="bg1"/>
                </a:solidFill>
              </a:rPr>
              <a:t> dostarczają kąty i prędkości stawów. Kamera RGB umożliwia detekcję obiektów i rozpoznawanie sceny. Kamera RGB-D dodaje do obrazu głębię, co jest bardzo użyteczne przy nawigacji w pomieszczeniach. </a:t>
            </a:r>
            <a:r>
              <a:rPr lang="pl-PL" sz="1400" spc="-40" dirty="0" err="1">
                <a:solidFill>
                  <a:schemeClr val="bg1"/>
                </a:solidFill>
              </a:rPr>
              <a:t>LiDAR</a:t>
            </a:r>
            <a:r>
              <a:rPr lang="pl-PL" sz="1400" spc="-40" dirty="0">
                <a:solidFill>
                  <a:schemeClr val="bg1"/>
                </a:solidFill>
              </a:rPr>
              <a:t> daje precyzyjną geometrię otoczenia, a czujniki sił w stopach pozwalają wykrywać kontakt i fazę chodu. Każdy z tych sensorów widzi inny fragment rzeczywistości, dlatego pojedynczy sensor prawie nigdy nie wystarcza. </a:t>
            </a:r>
            <a:endParaRPr lang="en-US" sz="1400" spc="-4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PARAMETRY SENSORÓW</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r>
              <a:rPr lang="pl-PL" sz="2800" b="1" dirty="0" err="1" smtClean="0">
                <a:solidFill>
                  <a:srgbClr val="FFFFFF"/>
                </a:solidFill>
                <a:latin typeface="Trebuchet MS" pitchFamily="34" charset="0"/>
                <a:ea typeface="Trebuchet MS" pitchFamily="34" charset="-122"/>
                <a:cs typeface="Trebuchet MS" pitchFamily="34" charset="-120"/>
              </a:rPr>
              <a:t>K</a:t>
            </a:r>
            <a:r>
              <a:rPr lang="en-US" sz="2800" b="1" dirty="0" err="1" smtClean="0">
                <a:solidFill>
                  <a:srgbClr val="FFFFFF"/>
                </a:solidFill>
                <a:latin typeface="Trebuchet MS" pitchFamily="34" charset="0"/>
                <a:ea typeface="Trebuchet MS" pitchFamily="34" charset="-122"/>
                <a:cs typeface="Trebuchet MS" pitchFamily="34" charset="-120"/>
              </a:rPr>
              <a:t>luczowe</a:t>
            </a:r>
            <a:r>
              <a:rPr lang="en-US" sz="2800" b="1" dirty="0" smtClean="0">
                <a:solidFill>
                  <a:srgbClr val="FFFFFF"/>
                </a:solidFill>
                <a:latin typeface="Trebuchet MS" pitchFamily="34" charset="0"/>
                <a:ea typeface="Trebuchet MS" pitchFamily="34" charset="-122"/>
                <a:cs typeface="Trebuchet MS" pitchFamily="34" charset="-120"/>
              </a:rPr>
              <a:t> </a:t>
            </a:r>
            <a:r>
              <a:rPr lang="en-US" sz="2800" b="1" dirty="0" err="1" smtClean="0">
                <a:solidFill>
                  <a:srgbClr val="FFFFFF"/>
                </a:solidFill>
                <a:latin typeface="Trebuchet MS" pitchFamily="34" charset="0"/>
                <a:ea typeface="Trebuchet MS" pitchFamily="34" charset="-122"/>
                <a:cs typeface="Trebuchet MS" pitchFamily="34" charset="-120"/>
              </a:rPr>
              <a:t>parametry</a:t>
            </a:r>
            <a:r>
              <a:rPr lang="en-US" sz="2800" b="1" dirty="0" smtClean="0">
                <a:solidFill>
                  <a:srgbClr val="FFFFFF"/>
                </a:solidFill>
                <a:latin typeface="Trebuchet MS" pitchFamily="34" charset="0"/>
                <a:ea typeface="Trebuchet MS" pitchFamily="34" charset="-122"/>
                <a:cs typeface="Trebuchet MS" pitchFamily="34" charset="-120"/>
              </a:rPr>
              <a:t> </a:t>
            </a:r>
            <a:r>
              <a:rPr lang="en-US" sz="2800" b="1" dirty="0" err="1" smtClean="0">
                <a:solidFill>
                  <a:srgbClr val="FFFFFF"/>
                </a:solidFill>
                <a:latin typeface="Trebuchet MS" pitchFamily="34" charset="0"/>
                <a:ea typeface="Trebuchet MS" pitchFamily="34" charset="-122"/>
                <a:cs typeface="Trebuchet MS" pitchFamily="34" charset="-120"/>
              </a:rPr>
              <a:t>sensorów</a:t>
            </a:r>
            <a:r>
              <a:rPr lang="en-US" sz="2800" b="1" dirty="0" smtClean="0">
                <a:solidFill>
                  <a:srgbClr val="FFFFFF"/>
                </a:solidFill>
                <a:latin typeface="Trebuchet MS" pitchFamily="34" charset="0"/>
                <a:ea typeface="Trebuchet MS" pitchFamily="34" charset="-122"/>
                <a:cs typeface="Trebuchet MS" pitchFamily="34" charset="-120"/>
              </a:rPr>
              <a:t> </a:t>
            </a:r>
            <a:endParaRPr lang="en-US" sz="2800" dirty="0"/>
          </a:p>
        </p:txBody>
      </p:sp>
      <p:sp>
        <p:nvSpPr>
          <p:cNvPr id="6" name="Shape 4"/>
          <p:cNvSpPr/>
          <p:nvPr/>
        </p:nvSpPr>
        <p:spPr>
          <a:xfrm>
            <a:off x="274320" y="1097280"/>
            <a:ext cx="8595360" cy="29718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27760"/>
            <a:ext cx="8229600" cy="2865120"/>
          </a:xfrm>
          <a:prstGeom prst="rect">
            <a:avLst/>
          </a:prstGeom>
          <a:noFill/>
          <a:ln/>
        </p:spPr>
        <p:txBody>
          <a:bodyPr wrap="square" lIns="127000" tIns="127000" rIns="127000" bIns="127000" rtlCol="0" anchor="t"/>
          <a:lstStyle/>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Zasięg</a:t>
            </a:r>
            <a:r>
              <a:rPr lang="en-US" sz="1600" dirty="0">
                <a:solidFill>
                  <a:srgbClr val="0D1B2A"/>
                </a:solidFill>
                <a:latin typeface="Calibri" pitchFamily="34" charset="0"/>
                <a:ea typeface="Calibri" pitchFamily="34" charset="-122"/>
                <a:cs typeface="Calibri" pitchFamily="34" charset="-120"/>
              </a:rPr>
              <a:t>: od kilku cm (kamery RGB-D) do 100 m (LiDAR zewnętrzny)</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Częstotliwość</a:t>
            </a:r>
            <a:r>
              <a:rPr lang="en-US" sz="1600" dirty="0">
                <a:solidFill>
                  <a:srgbClr val="0D1B2A"/>
                </a:solidFill>
                <a:latin typeface="Calibri" pitchFamily="34" charset="0"/>
                <a:ea typeface="Calibri" pitchFamily="34" charset="-122"/>
                <a:cs typeface="Calibri" pitchFamily="34" charset="-120"/>
              </a:rPr>
              <a:t>: IMU 200-1000 Hz, kamery 30-90 Hz, LiDAR 10-20 Hz</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Szum i dryft</a:t>
            </a:r>
            <a:r>
              <a:rPr lang="en-US" sz="1600" dirty="0">
                <a:solidFill>
                  <a:srgbClr val="0D1B2A"/>
                </a:solidFill>
                <a:latin typeface="Calibri" pitchFamily="34" charset="0"/>
                <a:ea typeface="Calibri" pitchFamily="34" charset="-122"/>
                <a:cs typeface="Calibri" pitchFamily="34" charset="-120"/>
              </a:rPr>
              <a:t>: IMU dryfuje ~1°/min; kamera wrażliwa na oświetlenie</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Opóźnienie</a:t>
            </a:r>
            <a:r>
              <a:rPr lang="en-US" sz="1600" dirty="0">
                <a:solidFill>
                  <a:srgbClr val="0D1B2A"/>
                </a:solidFill>
                <a:latin typeface="Calibri" pitchFamily="34" charset="0"/>
                <a:ea typeface="Calibri" pitchFamily="34" charset="-122"/>
                <a:cs typeface="Calibri" pitchFamily="34" charset="-120"/>
              </a:rPr>
              <a:t> (latencja): kamera 30-100 ms; IMU &lt; 5 ms – krytyczne dla stabilności</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Koszt obliczeniowy</a:t>
            </a:r>
            <a:r>
              <a:rPr lang="en-US" sz="1600" dirty="0">
                <a:solidFill>
                  <a:srgbClr val="0D1B2A"/>
                </a:solidFill>
                <a:latin typeface="Calibri" pitchFamily="34" charset="0"/>
                <a:ea typeface="Calibri" pitchFamily="34" charset="-122"/>
                <a:cs typeface="Calibri" pitchFamily="34" charset="-120"/>
              </a:rPr>
              <a:t>: przetwarzanie chmur punktów i segmentacja semantyczna to ~80% CPU</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Odporność środowiskowa</a:t>
            </a:r>
            <a:r>
              <a:rPr lang="en-US" sz="1600" dirty="0">
                <a:solidFill>
                  <a:srgbClr val="0D1B2A"/>
                </a:solidFill>
                <a:latin typeface="Calibri" pitchFamily="34" charset="0"/>
                <a:ea typeface="Calibri" pitchFamily="34" charset="-122"/>
                <a:cs typeface="Calibri" pitchFamily="34" charset="-120"/>
              </a:rPr>
              <a:t>: LiDAR wrażliwy na kurz, kamera na silne kontrastowe oświetlenie</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Kalibracja extrinsic</a:t>
            </a:r>
            <a:r>
              <a:rPr lang="en-US" sz="1600" dirty="0">
                <a:solidFill>
                  <a:srgbClr val="0D1B2A"/>
                </a:solidFill>
                <a:latin typeface="Calibri" pitchFamily="34" charset="0"/>
                <a:ea typeface="Calibri" pitchFamily="34" charset="-122"/>
                <a:cs typeface="Calibri" pitchFamily="34" charset="-120"/>
              </a:rPr>
              <a:t>: każdy sensor wymaga precyzyjnego wyznaczenia pozycji względem base</a:t>
            </a:r>
            <a:endParaRPr lang="en-US" sz="1600" dirty="0"/>
          </a:p>
        </p:txBody>
      </p:sp>
      <p:sp>
        <p:nvSpPr>
          <p:cNvPr id="8" name="Prostokąt 7"/>
          <p:cNvSpPr/>
          <p:nvPr/>
        </p:nvSpPr>
        <p:spPr>
          <a:xfrm>
            <a:off x="228600" y="4160520"/>
            <a:ext cx="8686800" cy="992516"/>
          </a:xfrm>
          <a:prstGeom prst="rect">
            <a:avLst/>
          </a:prstGeom>
          <a:solidFill>
            <a:srgbClr val="0D1B2A"/>
          </a:solidFill>
        </p:spPr>
        <p:txBody>
          <a:bodyPr wrap="square">
            <a:spAutoFit/>
          </a:bodyPr>
          <a:lstStyle/>
          <a:p>
            <a:pPr algn="just">
              <a:lnSpc>
                <a:spcPts val="1400"/>
              </a:lnSpc>
            </a:pPr>
            <a:r>
              <a:rPr lang="pl-PL" sz="1400" spc="-40" dirty="0">
                <a:solidFill>
                  <a:schemeClr val="bg1"/>
                </a:solidFill>
              </a:rPr>
              <a:t>Przy doborze sensorów patrzymy na kilka parametrów. Po pierwsze zasięg, bo kamera głębi pracuje na krótkich dystansach, </a:t>
            </a:r>
            <a:r>
              <a:rPr lang="pl-PL" sz="1400" spc="-40" dirty="0" smtClean="0">
                <a:solidFill>
                  <a:schemeClr val="bg1"/>
                </a:solidFill>
              </a:rPr>
              <a:t/>
            </a:r>
            <a:br>
              <a:rPr lang="pl-PL" sz="1400" spc="-40" dirty="0" smtClean="0">
                <a:solidFill>
                  <a:schemeClr val="bg1"/>
                </a:solidFill>
              </a:rPr>
            </a:br>
            <a:r>
              <a:rPr lang="pl-PL" sz="1400" spc="-40" dirty="0" smtClean="0">
                <a:solidFill>
                  <a:schemeClr val="bg1"/>
                </a:solidFill>
              </a:rPr>
              <a:t>a </a:t>
            </a:r>
            <a:r>
              <a:rPr lang="pl-PL" sz="1400" spc="-40" dirty="0" err="1">
                <a:solidFill>
                  <a:schemeClr val="bg1"/>
                </a:solidFill>
              </a:rPr>
              <a:t>LiDAR</a:t>
            </a:r>
            <a:r>
              <a:rPr lang="pl-PL" sz="1400" spc="-40" dirty="0">
                <a:solidFill>
                  <a:schemeClr val="bg1"/>
                </a:solidFill>
              </a:rPr>
              <a:t> może sięgać dziesiątek metrów. Po drugie częstotliwość, bo IMU pracuje dużo szybciej niż kamera czy </a:t>
            </a:r>
            <a:r>
              <a:rPr lang="pl-PL" sz="1400" spc="-40" dirty="0" err="1">
                <a:solidFill>
                  <a:schemeClr val="bg1"/>
                </a:solidFill>
              </a:rPr>
              <a:t>LiDAR</a:t>
            </a:r>
            <a:r>
              <a:rPr lang="pl-PL" sz="1400" spc="-40" dirty="0">
                <a:solidFill>
                  <a:schemeClr val="bg1"/>
                </a:solidFill>
              </a:rPr>
              <a:t>. Po trzecie szum i dryft, które są krytyczne dla estymacji. Dalej mamy latencję, koszt obliczeniowy, odporność na warunki środowiskowe </a:t>
            </a:r>
            <a:r>
              <a:rPr lang="pl-PL" sz="1400" spc="-40" dirty="0" smtClean="0">
                <a:solidFill>
                  <a:schemeClr val="bg1"/>
                </a:solidFill>
              </a:rPr>
              <a:t/>
            </a:r>
            <a:br>
              <a:rPr lang="pl-PL" sz="1400" spc="-40" dirty="0" smtClean="0">
                <a:solidFill>
                  <a:schemeClr val="bg1"/>
                </a:solidFill>
              </a:rPr>
            </a:br>
            <a:r>
              <a:rPr lang="pl-PL" sz="1400" spc="-40" dirty="0" smtClean="0">
                <a:solidFill>
                  <a:schemeClr val="bg1"/>
                </a:solidFill>
              </a:rPr>
              <a:t>i </a:t>
            </a:r>
            <a:r>
              <a:rPr lang="pl-PL" sz="1400" spc="-40" dirty="0">
                <a:solidFill>
                  <a:schemeClr val="bg1"/>
                </a:solidFill>
              </a:rPr>
              <a:t>wreszcie kalibrację </a:t>
            </a:r>
            <a:r>
              <a:rPr lang="pl-PL" sz="1400" spc="-40" dirty="0" err="1">
                <a:solidFill>
                  <a:schemeClr val="bg1"/>
                </a:solidFill>
              </a:rPr>
              <a:t>extrinsic</a:t>
            </a:r>
            <a:r>
              <a:rPr lang="pl-PL" sz="1400" spc="-40" dirty="0">
                <a:solidFill>
                  <a:schemeClr val="bg1"/>
                </a:solidFill>
              </a:rPr>
              <a:t>, czyli dokładne położenie każdego sensora względem bazy robota. Sam zakup sensora nie rozwiązuje </a:t>
            </a:r>
            <a:r>
              <a:rPr lang="pl-PL" sz="1400" spc="-40" dirty="0" smtClean="0">
                <a:solidFill>
                  <a:schemeClr val="bg1"/>
                </a:solidFill>
              </a:rPr>
              <a:t>problemu, </a:t>
            </a:r>
            <a:r>
              <a:rPr lang="pl-PL" sz="1400" spc="-40" dirty="0">
                <a:solidFill>
                  <a:schemeClr val="bg1"/>
                </a:solidFill>
              </a:rPr>
              <a:t>równie ważna jest jego poprawna integracja. </a:t>
            </a:r>
            <a:endParaRPr lang="en-US" sz="1400" spc="-40"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IMU I PROPRIOCEPCJA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IMU i propriocepcja</a:t>
            </a:r>
            <a:endParaRPr lang="en-US" sz="2800" dirty="0"/>
          </a:p>
        </p:txBody>
      </p:sp>
      <p:sp>
        <p:nvSpPr>
          <p:cNvPr id="6" name="Shape 4"/>
          <p:cNvSpPr/>
          <p:nvPr/>
        </p:nvSpPr>
        <p:spPr>
          <a:xfrm>
            <a:off x="274320" y="1097280"/>
            <a:ext cx="8595360" cy="28498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097280"/>
            <a:ext cx="8229600" cy="2849880"/>
          </a:xfrm>
          <a:prstGeom prst="rect">
            <a:avLst/>
          </a:prstGeom>
          <a:noFill/>
          <a:ln/>
        </p:spPr>
        <p:txBody>
          <a:bodyPr wrap="square" lIns="127000" tIns="127000" rIns="127000" bIns="127000" rtlCol="0" anchor="t"/>
          <a:lstStyle/>
          <a:p>
            <a:pPr marL="216000" indent="-216000">
              <a:spcAft>
                <a:spcPts val="1800"/>
              </a:spcAft>
              <a:buSzPct val="100000"/>
              <a:buChar char="•"/>
            </a:pPr>
            <a:r>
              <a:rPr lang="en-US" sz="1500" b="1" dirty="0">
                <a:solidFill>
                  <a:srgbClr val="0D1B2A"/>
                </a:solidFill>
                <a:latin typeface="Calibri" pitchFamily="34" charset="0"/>
                <a:ea typeface="Calibri" pitchFamily="34" charset="-122"/>
                <a:cs typeface="Calibri" pitchFamily="34" charset="-120"/>
              </a:rPr>
              <a:t>Żyroskop</a:t>
            </a:r>
            <a:r>
              <a:rPr lang="en-US" sz="1500" dirty="0">
                <a:solidFill>
                  <a:srgbClr val="0D1B2A"/>
                </a:solidFill>
                <a:latin typeface="Calibri" pitchFamily="34" charset="0"/>
                <a:ea typeface="Calibri" pitchFamily="34" charset="-122"/>
                <a:cs typeface="Calibri" pitchFamily="34" charset="-120"/>
              </a:rPr>
              <a:t>: pomiar prędkości kątowej [rad/s] – integracja daje orientację, ale dryfuje</a:t>
            </a:r>
            <a:endParaRPr lang="en-US" sz="1500" dirty="0"/>
          </a:p>
          <a:p>
            <a:pPr marL="216000" indent="-216000">
              <a:spcAft>
                <a:spcPts val="1800"/>
              </a:spcAft>
              <a:buSzPct val="100000"/>
              <a:buChar char="•"/>
            </a:pPr>
            <a:r>
              <a:rPr lang="en-US" sz="1500" b="1" dirty="0">
                <a:solidFill>
                  <a:srgbClr val="0D1B2A"/>
                </a:solidFill>
                <a:latin typeface="Calibri" pitchFamily="34" charset="0"/>
                <a:ea typeface="Calibri" pitchFamily="34" charset="-122"/>
                <a:cs typeface="Calibri" pitchFamily="34" charset="-120"/>
              </a:rPr>
              <a:t>Akcelerometr</a:t>
            </a:r>
            <a:r>
              <a:rPr lang="en-US" sz="1500" dirty="0">
                <a:solidFill>
                  <a:srgbClr val="0D1B2A"/>
                </a:solidFill>
                <a:latin typeface="Calibri" pitchFamily="34" charset="0"/>
                <a:ea typeface="Calibri" pitchFamily="34" charset="-122"/>
                <a:cs typeface="Calibri" pitchFamily="34" charset="-120"/>
              </a:rPr>
              <a:t>: siły inercjalne [m/s²] – wyznaczenie kierunku grawitacji = kąt nachylenia</a:t>
            </a:r>
            <a:endParaRPr lang="en-US" sz="1500" dirty="0"/>
          </a:p>
          <a:p>
            <a:pPr marL="216000" indent="-216000">
              <a:spcAft>
                <a:spcPts val="1800"/>
              </a:spcAft>
              <a:buSzPct val="100000"/>
              <a:buChar char="•"/>
            </a:pPr>
            <a:r>
              <a:rPr lang="en-US" sz="1500" b="1" dirty="0">
                <a:solidFill>
                  <a:srgbClr val="0D1B2A"/>
                </a:solidFill>
                <a:latin typeface="Calibri" pitchFamily="34" charset="0"/>
                <a:ea typeface="Calibri" pitchFamily="34" charset="-122"/>
                <a:cs typeface="Calibri" pitchFamily="34" charset="-120"/>
              </a:rPr>
              <a:t>Enkodery stawowe</a:t>
            </a:r>
            <a:r>
              <a:rPr lang="en-US" sz="1500" dirty="0">
                <a:solidFill>
                  <a:srgbClr val="0D1B2A"/>
                </a:solidFill>
                <a:latin typeface="Calibri" pitchFamily="34" charset="0"/>
                <a:ea typeface="Calibri" pitchFamily="34" charset="-122"/>
                <a:cs typeface="Calibri" pitchFamily="34" charset="-120"/>
              </a:rPr>
              <a:t>: konfiguracja ciała q(t); wejście do kinematyki prostej i odwrotnej</a:t>
            </a:r>
            <a:endParaRPr lang="en-US" sz="1500" dirty="0"/>
          </a:p>
          <a:p>
            <a:pPr marL="216000" indent="-216000">
              <a:spcAft>
                <a:spcPts val="1800"/>
              </a:spcAft>
              <a:buSzPct val="100000"/>
              <a:buChar char="•"/>
            </a:pPr>
            <a:r>
              <a:rPr lang="en-US" sz="1500" b="1" dirty="0">
                <a:solidFill>
                  <a:srgbClr val="0D1B2A"/>
                </a:solidFill>
                <a:latin typeface="Calibri" pitchFamily="34" charset="0"/>
                <a:ea typeface="Calibri" pitchFamily="34" charset="-122"/>
                <a:cs typeface="Calibri" pitchFamily="34" charset="-120"/>
              </a:rPr>
              <a:t>Kontakt stóp </a:t>
            </a:r>
            <a:r>
              <a:rPr lang="en-US" sz="1500" dirty="0">
                <a:solidFill>
                  <a:srgbClr val="0D1B2A"/>
                </a:solidFill>
                <a:latin typeface="Calibri" pitchFamily="34" charset="0"/>
                <a:ea typeface="Calibri" pitchFamily="34" charset="-122"/>
                <a:cs typeface="Calibri" pitchFamily="34" charset="-120"/>
              </a:rPr>
              <a:t>(czujniki F/T): detekcja fazy podparcia – kluczowe dla odometrii humanoida</a:t>
            </a:r>
            <a:endParaRPr lang="en-US" sz="1500" dirty="0"/>
          </a:p>
          <a:p>
            <a:pPr marL="216000" indent="-216000">
              <a:spcAft>
                <a:spcPts val="1800"/>
              </a:spcAft>
              <a:buSzPct val="100000"/>
              <a:buChar char="•"/>
            </a:pPr>
            <a:r>
              <a:rPr lang="en-US" sz="1500" b="1" dirty="0">
                <a:solidFill>
                  <a:srgbClr val="0D1B2A"/>
                </a:solidFill>
                <a:latin typeface="Calibri" pitchFamily="34" charset="0"/>
                <a:ea typeface="Calibri" pitchFamily="34" charset="-122"/>
                <a:cs typeface="Calibri" pitchFamily="34" charset="-120"/>
              </a:rPr>
              <a:t>Propriocepcja</a:t>
            </a:r>
            <a:r>
              <a:rPr lang="en-US" sz="1500" dirty="0">
                <a:solidFill>
                  <a:srgbClr val="0D1B2A"/>
                </a:solidFill>
                <a:latin typeface="Calibri" pitchFamily="34" charset="0"/>
                <a:ea typeface="Calibri" pitchFamily="34" charset="-122"/>
                <a:cs typeface="Calibri" pitchFamily="34" charset="-120"/>
              </a:rPr>
              <a:t> to minimum informacji do zamkniętej pętli równowagi bez zewnętrznych sensorów</a:t>
            </a:r>
            <a:endParaRPr lang="en-US" sz="1500" dirty="0"/>
          </a:p>
          <a:p>
            <a:pPr marL="216000" indent="-216000">
              <a:spcAft>
                <a:spcPts val="1800"/>
              </a:spcAft>
              <a:buSzPct val="100000"/>
              <a:buChar char="•"/>
            </a:pPr>
            <a:r>
              <a:rPr lang="en-US" sz="1500" b="1" dirty="0">
                <a:solidFill>
                  <a:srgbClr val="0D1B2A"/>
                </a:solidFill>
                <a:latin typeface="Calibri" pitchFamily="34" charset="0"/>
                <a:ea typeface="Calibri" pitchFamily="34" charset="-122"/>
                <a:cs typeface="Calibri" pitchFamily="34" charset="-120"/>
              </a:rPr>
              <a:t>Filtr komplementarny / EKF </a:t>
            </a:r>
            <a:r>
              <a:rPr lang="en-US" sz="1500" dirty="0">
                <a:solidFill>
                  <a:srgbClr val="0D1B2A"/>
                </a:solidFill>
                <a:latin typeface="Calibri" pitchFamily="34" charset="0"/>
                <a:ea typeface="Calibri" pitchFamily="34" charset="-122"/>
                <a:cs typeface="Calibri" pitchFamily="34" charset="-120"/>
              </a:rPr>
              <a:t>łączy szybki żyroskop z wolnym, ale niedryfującym akcelerometrem</a:t>
            </a:r>
            <a:endParaRPr lang="en-US" sz="1500" dirty="0"/>
          </a:p>
        </p:txBody>
      </p:sp>
      <p:sp>
        <p:nvSpPr>
          <p:cNvPr id="8" name="Prostokąt 7"/>
          <p:cNvSpPr/>
          <p:nvPr/>
        </p:nvSpPr>
        <p:spPr>
          <a:xfrm>
            <a:off x="228600" y="4100592"/>
            <a:ext cx="8686800" cy="990015"/>
          </a:xfrm>
          <a:prstGeom prst="rect">
            <a:avLst/>
          </a:prstGeom>
          <a:solidFill>
            <a:srgbClr val="0D1B2A"/>
          </a:solidFill>
        </p:spPr>
        <p:txBody>
          <a:bodyPr wrap="square">
            <a:spAutoFit/>
          </a:bodyPr>
          <a:lstStyle/>
          <a:p>
            <a:pPr algn="just">
              <a:lnSpc>
                <a:spcPts val="1400"/>
              </a:lnSpc>
            </a:pPr>
            <a:r>
              <a:rPr lang="pl-PL" sz="1400" spc="-40" dirty="0" err="1">
                <a:solidFill>
                  <a:schemeClr val="bg1"/>
                </a:solidFill>
              </a:rPr>
              <a:t>Propriocepcja</a:t>
            </a:r>
            <a:r>
              <a:rPr lang="pl-PL" sz="1400" spc="-40" dirty="0">
                <a:solidFill>
                  <a:schemeClr val="bg1"/>
                </a:solidFill>
              </a:rPr>
              <a:t> to ta część percepcji, która mówi robotowi o nim samym. Żyroskop mierzy prędkość kątową, akcelerometr dostarcza informacji o grawitacji i przyspieszeniach, a </a:t>
            </a:r>
            <a:r>
              <a:rPr lang="pl-PL" sz="1400" spc="-40" dirty="0" err="1">
                <a:solidFill>
                  <a:schemeClr val="bg1"/>
                </a:solidFill>
              </a:rPr>
              <a:t>enkodery</a:t>
            </a:r>
            <a:r>
              <a:rPr lang="pl-PL" sz="1400" spc="-40" dirty="0">
                <a:solidFill>
                  <a:schemeClr val="bg1"/>
                </a:solidFill>
              </a:rPr>
              <a:t> stawowe dają konfigurację ciała w czasie. Czujniki sił </a:t>
            </a:r>
            <a:r>
              <a:rPr lang="pl-PL" sz="1400" spc="-40" dirty="0" smtClean="0">
                <a:solidFill>
                  <a:schemeClr val="bg1"/>
                </a:solidFill>
              </a:rPr>
              <a:t/>
            </a:r>
            <a:br>
              <a:rPr lang="pl-PL" sz="1400" spc="-40" dirty="0" smtClean="0">
                <a:solidFill>
                  <a:schemeClr val="bg1"/>
                </a:solidFill>
              </a:rPr>
            </a:br>
            <a:r>
              <a:rPr lang="pl-PL" sz="1400" spc="-40" dirty="0" smtClean="0">
                <a:solidFill>
                  <a:schemeClr val="bg1"/>
                </a:solidFill>
              </a:rPr>
              <a:t>w </a:t>
            </a:r>
            <a:r>
              <a:rPr lang="pl-PL" sz="1400" spc="-40" dirty="0">
                <a:solidFill>
                  <a:schemeClr val="bg1"/>
                </a:solidFill>
              </a:rPr>
              <a:t>stopach pozwalają określić, czy stopa jest w kontakcie z podłożem. Te informacje są absolutnie kluczowe dla utrzymania równowagi i </a:t>
            </a:r>
            <a:r>
              <a:rPr lang="pl-PL" sz="1400" spc="-40" dirty="0" err="1">
                <a:solidFill>
                  <a:schemeClr val="bg1"/>
                </a:solidFill>
              </a:rPr>
              <a:t>odometrii</a:t>
            </a:r>
            <a:r>
              <a:rPr lang="pl-PL" sz="1400" spc="-40" dirty="0">
                <a:solidFill>
                  <a:schemeClr val="bg1"/>
                </a:solidFill>
              </a:rPr>
              <a:t> </a:t>
            </a:r>
            <a:r>
              <a:rPr lang="pl-PL" sz="1400" spc="-40" dirty="0" err="1">
                <a:solidFill>
                  <a:schemeClr val="bg1"/>
                </a:solidFill>
              </a:rPr>
              <a:t>humanoida</a:t>
            </a:r>
            <a:r>
              <a:rPr lang="pl-PL" sz="1400" spc="-40" dirty="0">
                <a:solidFill>
                  <a:schemeClr val="bg1"/>
                </a:solidFill>
              </a:rPr>
              <a:t>. Zwykle łączymy szybki, ale dryfujący żyroskop z wolniejszym, ale długoterminowo stabilnym akcelerometrem za pomocą filtru komplementarnego albo EKF.</a:t>
            </a:r>
            <a:endParaRPr lang="en-US" sz="1400" spc="-4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WIZJA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Percepcja wizyjna 2D i 3D</a:t>
            </a:r>
            <a:endParaRPr lang="en-US" sz="2800" dirty="0"/>
          </a:p>
        </p:txBody>
      </p:sp>
      <p:sp>
        <p:nvSpPr>
          <p:cNvPr id="6" name="Shape 4"/>
          <p:cNvSpPr/>
          <p:nvPr/>
        </p:nvSpPr>
        <p:spPr>
          <a:xfrm>
            <a:off x="274320" y="1097280"/>
            <a:ext cx="4160520" cy="299466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0"/>
            <a:ext cx="4160520" cy="299466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384048"/>
          </a:xfrm>
          <a:prstGeom prst="rect">
            <a:avLst/>
          </a:prstGeom>
          <a:solidFill>
            <a:srgbClr val="00B4D8"/>
          </a:solidFill>
          <a:ln w="12700">
            <a:solidFill>
              <a:srgbClr val="00B4D8"/>
            </a:solidFill>
            <a:prstDash val="solid"/>
          </a:ln>
        </p:spPr>
      </p:sp>
      <p:sp>
        <p:nvSpPr>
          <p:cNvPr id="9" name="Text 7"/>
          <p:cNvSpPr/>
          <p:nvPr/>
        </p:nvSpPr>
        <p:spPr>
          <a:xfrm>
            <a:off x="457200" y="1115568"/>
            <a:ext cx="3794760" cy="347472"/>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Percepcja 2D (obraz RGB)</a:t>
            </a:r>
            <a:endParaRPr lang="en-US" sz="1600" dirty="0"/>
          </a:p>
        </p:txBody>
      </p:sp>
      <p:sp>
        <p:nvSpPr>
          <p:cNvPr id="10" name="Shape 8"/>
          <p:cNvSpPr/>
          <p:nvPr/>
        </p:nvSpPr>
        <p:spPr>
          <a:xfrm>
            <a:off x="4709160" y="1097280"/>
            <a:ext cx="4160520" cy="384048"/>
          </a:xfrm>
          <a:prstGeom prst="rect">
            <a:avLst/>
          </a:prstGeom>
          <a:solidFill>
            <a:srgbClr val="1A3550"/>
          </a:solidFill>
          <a:ln w="12700">
            <a:solidFill>
              <a:srgbClr val="1A3550"/>
            </a:solidFill>
            <a:prstDash val="solid"/>
          </a:ln>
        </p:spPr>
      </p:sp>
      <p:sp>
        <p:nvSpPr>
          <p:cNvPr id="11" name="Text 9"/>
          <p:cNvSpPr/>
          <p:nvPr/>
        </p:nvSpPr>
        <p:spPr>
          <a:xfrm>
            <a:off x="4892040" y="1115568"/>
            <a:ext cx="3794760" cy="347472"/>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Percepcja 3D (RGB-D / stereo)</a:t>
            </a:r>
            <a:endParaRPr lang="en-US" sz="1600" dirty="0"/>
          </a:p>
        </p:txBody>
      </p:sp>
      <p:sp>
        <p:nvSpPr>
          <p:cNvPr id="12" name="Text 10"/>
          <p:cNvSpPr/>
          <p:nvPr/>
        </p:nvSpPr>
        <p:spPr>
          <a:xfrm>
            <a:off x="457200" y="1493520"/>
            <a:ext cx="3794760" cy="2537460"/>
          </a:xfrm>
          <a:prstGeom prst="rect">
            <a:avLst/>
          </a:prstGeom>
          <a:noFill/>
          <a:ln/>
        </p:spPr>
        <p:txBody>
          <a:bodyPr wrap="square" lIns="63500" tIns="101600" rIns="63500" bIns="63500" rtlCol="0" anchor="t"/>
          <a:lstStyle/>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Detekcja cech </a:t>
            </a:r>
            <a:r>
              <a:rPr lang="en-US" sz="1600" dirty="0">
                <a:solidFill>
                  <a:srgbClr val="0D1B2A"/>
                </a:solidFill>
                <a:latin typeface="Calibri" pitchFamily="34" charset="0"/>
                <a:ea typeface="Calibri" pitchFamily="34" charset="-122"/>
                <a:cs typeface="Calibri" pitchFamily="34" charset="-120"/>
              </a:rPr>
              <a:t>(ORB, SIFT</a:t>
            </a:r>
            <a:r>
              <a:rPr lang="en-US" sz="1600" dirty="0" smtClean="0">
                <a:solidFill>
                  <a:srgbClr val="0D1B2A"/>
                </a:solidFill>
                <a:latin typeface="Calibri" pitchFamily="34" charset="0"/>
                <a:ea typeface="Calibri" pitchFamily="34" charset="-122"/>
                <a:cs typeface="Calibri" pitchFamily="34" charset="-120"/>
              </a:rPr>
              <a:t>)</a:t>
            </a:r>
            <a:r>
              <a:rPr lang="pl-PL" sz="1600" dirty="0" smtClean="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punkty orientacyjne do lokalizacji</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Detekcja obiektów </a:t>
            </a:r>
            <a:r>
              <a:rPr lang="en-US" sz="1600" dirty="0">
                <a:solidFill>
                  <a:srgbClr val="0D1B2A"/>
                </a:solidFill>
                <a:latin typeface="Calibri" pitchFamily="34" charset="0"/>
                <a:ea typeface="Calibri" pitchFamily="34" charset="-122"/>
                <a:cs typeface="Calibri" pitchFamily="34" charset="-120"/>
              </a:rPr>
              <a:t>(YOLO, SSD</a:t>
            </a:r>
            <a:r>
              <a:rPr lang="en-US" sz="1600" dirty="0" smtClean="0">
                <a:solidFill>
                  <a:srgbClr val="0D1B2A"/>
                </a:solidFill>
                <a:latin typeface="Calibri" pitchFamily="34" charset="0"/>
                <a:ea typeface="Calibri" pitchFamily="34" charset="-122"/>
                <a:cs typeface="Calibri" pitchFamily="34" charset="-120"/>
              </a:rPr>
              <a:t>)</a:t>
            </a:r>
            <a:r>
              <a:rPr lang="pl-PL" sz="1600" dirty="0" smtClean="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ludzie, drzwi, schody</a:t>
            </a:r>
            <a:endParaRPr lang="en-US" sz="1600" dirty="0"/>
          </a:p>
          <a:p>
            <a:pPr marL="180000" indent="-180000">
              <a:spcAft>
                <a:spcPts val="1200"/>
              </a:spcAft>
              <a:buSzPct val="100000"/>
              <a:buChar char="•"/>
            </a:pPr>
            <a:r>
              <a:rPr lang="en-US" sz="1600" b="1" dirty="0" err="1">
                <a:solidFill>
                  <a:srgbClr val="0D1B2A"/>
                </a:solidFill>
                <a:latin typeface="Calibri" pitchFamily="34" charset="0"/>
                <a:ea typeface="Calibri" pitchFamily="34" charset="-122"/>
                <a:cs typeface="Calibri" pitchFamily="34" charset="-120"/>
              </a:rPr>
              <a:t>Segmentacja</a:t>
            </a:r>
            <a:r>
              <a:rPr lang="en-US" sz="1600" b="1" dirty="0">
                <a:solidFill>
                  <a:srgbClr val="0D1B2A"/>
                </a:solidFill>
                <a:latin typeface="Calibri" pitchFamily="34" charset="0"/>
                <a:ea typeface="Calibri" pitchFamily="34" charset="-122"/>
                <a:cs typeface="Calibri" pitchFamily="34" charset="-120"/>
              </a:rPr>
              <a:t> </a:t>
            </a:r>
            <a:r>
              <a:rPr lang="en-US" sz="1600" b="1" dirty="0" err="1" smtClean="0">
                <a:solidFill>
                  <a:srgbClr val="0D1B2A"/>
                </a:solidFill>
                <a:latin typeface="Calibri" pitchFamily="34" charset="0"/>
                <a:ea typeface="Calibri" pitchFamily="34" charset="-122"/>
                <a:cs typeface="Calibri" pitchFamily="34" charset="-120"/>
              </a:rPr>
              <a:t>semantyczna</a:t>
            </a:r>
            <a:r>
              <a:rPr lang="pl-PL" sz="1600" b="1" dirty="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klasy terenu (podłoga, ściana, przeszkoda)</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Śledzenie</a:t>
            </a:r>
            <a:r>
              <a:rPr lang="en-US" sz="1600" dirty="0">
                <a:solidFill>
                  <a:srgbClr val="0D1B2A"/>
                </a:solidFill>
                <a:latin typeface="Calibri" pitchFamily="34" charset="0"/>
                <a:ea typeface="Calibri" pitchFamily="34" charset="-122"/>
                <a:cs typeface="Calibri" pitchFamily="34" charset="-120"/>
              </a:rPr>
              <a:t> (KLT optical flow</a:t>
            </a:r>
            <a:r>
              <a:rPr lang="en-US" sz="1600" dirty="0" smtClean="0">
                <a:solidFill>
                  <a:srgbClr val="0D1B2A"/>
                </a:solidFill>
                <a:latin typeface="Calibri" pitchFamily="34" charset="0"/>
                <a:ea typeface="Calibri" pitchFamily="34" charset="-122"/>
                <a:cs typeface="Calibri" pitchFamily="34" charset="-120"/>
              </a:rPr>
              <a:t>)</a:t>
            </a:r>
            <a:r>
              <a:rPr lang="pl-PL" sz="1600" dirty="0" smtClean="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ruch obiektów w scenie</a:t>
            </a:r>
            <a:endParaRPr lang="en-US" sz="1600" dirty="0"/>
          </a:p>
        </p:txBody>
      </p:sp>
      <p:sp>
        <p:nvSpPr>
          <p:cNvPr id="13" name="Text 11"/>
          <p:cNvSpPr/>
          <p:nvPr/>
        </p:nvSpPr>
        <p:spPr>
          <a:xfrm>
            <a:off x="4892040" y="1493520"/>
            <a:ext cx="3794760" cy="2537460"/>
          </a:xfrm>
          <a:prstGeom prst="rect">
            <a:avLst/>
          </a:prstGeom>
          <a:noFill/>
          <a:ln/>
        </p:spPr>
        <p:txBody>
          <a:bodyPr wrap="square" lIns="63500" tIns="101600" rIns="63500" bIns="63500" rtlCol="0" anchor="t"/>
          <a:lstStyle/>
          <a:p>
            <a:pPr marL="180000" indent="-180000">
              <a:spcAft>
                <a:spcPts val="1200"/>
              </a:spcAft>
              <a:buSzPct val="100000"/>
              <a:buChar char="•"/>
            </a:pPr>
            <a:r>
              <a:rPr lang="en-US" sz="1600" b="1" dirty="0" err="1">
                <a:solidFill>
                  <a:srgbClr val="0D1B2A"/>
                </a:solidFill>
                <a:latin typeface="Calibri" pitchFamily="34" charset="0"/>
                <a:ea typeface="Calibri" pitchFamily="34" charset="-122"/>
                <a:cs typeface="Calibri" pitchFamily="34" charset="-120"/>
              </a:rPr>
              <a:t>Mapa</a:t>
            </a:r>
            <a:r>
              <a:rPr lang="en-US" sz="1600" b="1" dirty="0">
                <a:solidFill>
                  <a:srgbClr val="0D1B2A"/>
                </a:solidFill>
                <a:latin typeface="Calibri" pitchFamily="34" charset="0"/>
                <a:ea typeface="Calibri" pitchFamily="34" charset="-122"/>
                <a:cs typeface="Calibri" pitchFamily="34" charset="-120"/>
              </a:rPr>
              <a:t> </a:t>
            </a:r>
            <a:r>
              <a:rPr lang="en-US" sz="1600" b="1" dirty="0" err="1" smtClean="0">
                <a:solidFill>
                  <a:srgbClr val="0D1B2A"/>
                </a:solidFill>
                <a:latin typeface="Calibri" pitchFamily="34" charset="0"/>
                <a:ea typeface="Calibri" pitchFamily="34" charset="-122"/>
                <a:cs typeface="Calibri" pitchFamily="34" charset="-120"/>
              </a:rPr>
              <a:t>głębi</a:t>
            </a:r>
            <a:r>
              <a:rPr lang="pl-PL" sz="1600" b="1" dirty="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odległość do każdego piksela</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Rekonstrukcja chmury punktów </a:t>
            </a:r>
            <a:r>
              <a:rPr lang="en-US" sz="1600" dirty="0">
                <a:solidFill>
                  <a:srgbClr val="0D1B2A"/>
                </a:solidFill>
                <a:latin typeface="Calibri" pitchFamily="34" charset="0"/>
                <a:ea typeface="Calibri" pitchFamily="34" charset="-122"/>
                <a:cs typeface="Calibri" pitchFamily="34" charset="-120"/>
              </a:rPr>
              <a:t>otoczenia</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Detekcja przeszkód w </a:t>
            </a:r>
            <a:r>
              <a:rPr lang="en-US" sz="1600" b="1" dirty="0" smtClean="0">
                <a:solidFill>
                  <a:srgbClr val="0D1B2A"/>
                </a:solidFill>
                <a:latin typeface="Calibri" pitchFamily="34" charset="0"/>
                <a:ea typeface="Calibri" pitchFamily="34" charset="-122"/>
                <a:cs typeface="Calibri" pitchFamily="34" charset="-120"/>
              </a:rPr>
              <a:t>3D</a:t>
            </a:r>
            <a:r>
              <a:rPr lang="pl-PL" sz="1600" dirty="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weryfikacja wolnego przejścia</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Szacowanie </a:t>
            </a:r>
            <a:r>
              <a:rPr lang="en-US" sz="1600" b="1" dirty="0" err="1">
                <a:solidFill>
                  <a:srgbClr val="0D1B2A"/>
                </a:solidFill>
                <a:latin typeface="Calibri" pitchFamily="34" charset="0"/>
                <a:ea typeface="Calibri" pitchFamily="34" charset="-122"/>
                <a:cs typeface="Calibri" pitchFamily="34" charset="-120"/>
              </a:rPr>
              <a:t>normalnych</a:t>
            </a:r>
            <a:r>
              <a:rPr lang="en-US" sz="1600" b="1" dirty="0">
                <a:solidFill>
                  <a:srgbClr val="0D1B2A"/>
                </a:solidFill>
                <a:latin typeface="Calibri" pitchFamily="34" charset="0"/>
                <a:ea typeface="Calibri" pitchFamily="34" charset="-122"/>
                <a:cs typeface="Calibri" pitchFamily="34" charset="-120"/>
              </a:rPr>
              <a:t> </a:t>
            </a:r>
            <a:r>
              <a:rPr lang="en-US" sz="1600" b="1" dirty="0" err="1" smtClean="0">
                <a:solidFill>
                  <a:srgbClr val="0D1B2A"/>
                </a:solidFill>
                <a:latin typeface="Calibri" pitchFamily="34" charset="0"/>
                <a:ea typeface="Calibri" pitchFamily="34" charset="-122"/>
                <a:cs typeface="Calibri" pitchFamily="34" charset="-120"/>
              </a:rPr>
              <a:t>powierzchni</a:t>
            </a:r>
            <a:r>
              <a:rPr lang="pl-PL" sz="1600" dirty="0" smtClean="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kąt </a:t>
            </a:r>
            <a:r>
              <a:rPr lang="en-US" sz="1600" dirty="0" err="1">
                <a:solidFill>
                  <a:srgbClr val="0D1B2A"/>
                </a:solidFill>
                <a:latin typeface="Calibri" pitchFamily="34" charset="0"/>
                <a:ea typeface="Calibri" pitchFamily="34" charset="-122"/>
                <a:cs typeface="Calibri" pitchFamily="34" charset="-120"/>
              </a:rPr>
              <a:t>nachylenia</a:t>
            </a:r>
            <a:r>
              <a:rPr lang="en-US" sz="1600" dirty="0">
                <a:solidFill>
                  <a:srgbClr val="0D1B2A"/>
                </a:solidFill>
                <a:latin typeface="Calibri" pitchFamily="34" charset="0"/>
                <a:ea typeface="Calibri" pitchFamily="34" charset="-122"/>
                <a:cs typeface="Calibri" pitchFamily="34" charset="-120"/>
              </a:rPr>
              <a:t> </a:t>
            </a:r>
            <a:r>
              <a:rPr lang="en-US" sz="1600" dirty="0" err="1" smtClean="0">
                <a:solidFill>
                  <a:srgbClr val="0D1B2A"/>
                </a:solidFill>
                <a:latin typeface="Calibri" pitchFamily="34" charset="0"/>
                <a:ea typeface="Calibri" pitchFamily="34" charset="-122"/>
                <a:cs typeface="Calibri" pitchFamily="34" charset="-120"/>
              </a:rPr>
              <a:t>terenu</a:t>
            </a:r>
            <a:r>
              <a:rPr lang="pl-PL" sz="1600" dirty="0" smtClean="0">
                <a:solidFill>
                  <a:srgbClr val="0D1B2A"/>
                </a:solidFill>
                <a:latin typeface="Calibri" pitchFamily="34" charset="0"/>
                <a:ea typeface="Calibri" pitchFamily="34" charset="-122"/>
                <a:cs typeface="Calibri" pitchFamily="34" charset="-120"/>
              </a:rPr>
              <a:t> (wektory normalne)</a:t>
            </a:r>
            <a:endParaRPr lang="en-US" sz="1600" dirty="0"/>
          </a:p>
        </p:txBody>
      </p:sp>
      <p:sp>
        <p:nvSpPr>
          <p:cNvPr id="14" name="Prostokąt 13"/>
          <p:cNvSpPr/>
          <p:nvPr/>
        </p:nvSpPr>
        <p:spPr>
          <a:xfrm>
            <a:off x="175260" y="4248210"/>
            <a:ext cx="8740140" cy="861774"/>
          </a:xfrm>
          <a:prstGeom prst="rect">
            <a:avLst/>
          </a:prstGeom>
          <a:solidFill>
            <a:srgbClr val="0D1B2A"/>
          </a:solidFill>
        </p:spPr>
        <p:txBody>
          <a:bodyPr wrap="square">
            <a:spAutoFit/>
          </a:bodyPr>
          <a:lstStyle/>
          <a:p>
            <a:pPr algn="just">
              <a:lnSpc>
                <a:spcPts val="1500"/>
              </a:lnSpc>
            </a:pPr>
            <a:r>
              <a:rPr lang="pl-PL" sz="1400" spc="-40" dirty="0">
                <a:solidFill>
                  <a:schemeClr val="bg1"/>
                </a:solidFill>
              </a:rPr>
              <a:t>W percepcji wizyjnej rozróżniamy podejście 2D i 3D. W obrazie RGB możemy wykrywać cechy, obiekty, klasy semantyczne </a:t>
            </a:r>
            <a:r>
              <a:rPr lang="pl-PL" sz="1400" spc="-40" dirty="0" smtClean="0">
                <a:solidFill>
                  <a:schemeClr val="bg1"/>
                </a:solidFill>
              </a:rPr>
              <a:t/>
            </a:r>
            <a:br>
              <a:rPr lang="pl-PL" sz="1400" spc="-40" dirty="0" smtClean="0">
                <a:solidFill>
                  <a:schemeClr val="bg1"/>
                </a:solidFill>
              </a:rPr>
            </a:br>
            <a:r>
              <a:rPr lang="pl-PL" sz="1400" spc="-40" dirty="0" smtClean="0">
                <a:solidFill>
                  <a:schemeClr val="bg1"/>
                </a:solidFill>
              </a:rPr>
              <a:t>i </a:t>
            </a:r>
            <a:r>
              <a:rPr lang="pl-PL" sz="1400" spc="-40" dirty="0">
                <a:solidFill>
                  <a:schemeClr val="bg1"/>
                </a:solidFill>
              </a:rPr>
              <a:t>śledzić ruch w scenie. W percepcji 3D, na przykład z RGB-D albo stereo, dostajemy głębię, rekonstrukcję chmury punktów, detekcję przeszkód przestrzennych i możliwość estymacji nachylenia powierzchni. Dla </a:t>
            </a:r>
            <a:r>
              <a:rPr lang="pl-PL" sz="1400" spc="-40" dirty="0" err="1">
                <a:solidFill>
                  <a:schemeClr val="bg1"/>
                </a:solidFill>
              </a:rPr>
              <a:t>humanoida</a:t>
            </a:r>
            <a:r>
              <a:rPr lang="pl-PL" sz="1400" spc="-40" dirty="0">
                <a:solidFill>
                  <a:schemeClr val="bg1"/>
                </a:solidFill>
              </a:rPr>
              <a:t> to istotne, bo on nie pyta tylko, czy coś stoi przed nim, ale też czy na danym fragmencie terenu można bezpiecznie postawić stopę.</a:t>
            </a:r>
            <a:endParaRPr lang="en-US" sz="1400" spc="-40"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LIDAR</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LiDAR i chmury punktów</a:t>
            </a:r>
            <a:endParaRPr lang="en-US" sz="2800" dirty="0"/>
          </a:p>
        </p:txBody>
      </p:sp>
      <p:sp>
        <p:nvSpPr>
          <p:cNvPr id="6" name="Shape 4"/>
          <p:cNvSpPr/>
          <p:nvPr/>
        </p:nvSpPr>
        <p:spPr>
          <a:xfrm>
            <a:off x="274320" y="1097280"/>
            <a:ext cx="8595360" cy="291846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281940" y="1097280"/>
            <a:ext cx="8458200" cy="3108960"/>
          </a:xfrm>
          <a:prstGeom prst="rect">
            <a:avLst/>
          </a:prstGeom>
          <a:noFill/>
          <a:ln/>
        </p:spPr>
        <p:txBody>
          <a:bodyPr wrap="square" lIns="127000" tIns="127000" rIns="127000" bIns="127000" rtlCol="0" anchor="t"/>
          <a:lstStyle/>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Zasada działania</a:t>
            </a:r>
            <a:r>
              <a:rPr lang="en-US" sz="1600" dirty="0">
                <a:solidFill>
                  <a:srgbClr val="0D1B2A"/>
                </a:solidFill>
                <a:latin typeface="Calibri" pitchFamily="34" charset="0"/>
                <a:ea typeface="Calibri" pitchFamily="34" charset="-122"/>
                <a:cs typeface="Calibri" pitchFamily="34" charset="-120"/>
              </a:rPr>
              <a:t>: pomiar czasu przelotu impulsu laserowego (ToF) lub przesunięcia fazowego</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Konfiguracje</a:t>
            </a:r>
            <a:r>
              <a:rPr lang="en-US" sz="1600" dirty="0">
                <a:solidFill>
                  <a:srgbClr val="0D1B2A"/>
                </a:solidFill>
                <a:latin typeface="Calibri" pitchFamily="34" charset="0"/>
                <a:ea typeface="Calibri" pitchFamily="34" charset="-122"/>
                <a:cs typeface="Calibri" pitchFamily="34" charset="-120"/>
              </a:rPr>
              <a:t>: LiDAR 2D (skaner obrotowy), LiDAR 3D (wielowiązkowy, np. Velodyne 16-64)</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Typowe parametry</a:t>
            </a:r>
            <a:r>
              <a:rPr lang="en-US" sz="1600" dirty="0">
                <a:solidFill>
                  <a:srgbClr val="0D1B2A"/>
                </a:solidFill>
                <a:latin typeface="Calibri" pitchFamily="34" charset="0"/>
                <a:ea typeface="Calibri" pitchFamily="34" charset="-122"/>
                <a:cs typeface="Calibri" pitchFamily="34" charset="-120"/>
              </a:rPr>
              <a:t>: zasięg 5-100 m, kąt 360°, rozdzielczość kątowa 0,1-0,4°, f = 10-20 Hz</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Reprezentacja</a:t>
            </a:r>
            <a:r>
              <a:rPr lang="en-US" sz="1600" dirty="0">
                <a:solidFill>
                  <a:srgbClr val="0D1B2A"/>
                </a:solidFill>
                <a:latin typeface="Calibri" pitchFamily="34" charset="0"/>
                <a:ea typeface="Calibri" pitchFamily="34" charset="-122"/>
                <a:cs typeface="Calibri" pitchFamily="34" charset="-120"/>
              </a:rPr>
              <a:t>: chmura punktów {(x, y, z, intensity)} – surowy format PCL</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Zalety w środowisku wewnętrznym</a:t>
            </a:r>
            <a:r>
              <a:rPr lang="en-US" sz="1600" dirty="0">
                <a:solidFill>
                  <a:srgbClr val="0D1B2A"/>
                </a:solidFill>
                <a:latin typeface="Calibri" pitchFamily="34" charset="0"/>
                <a:ea typeface="Calibri" pitchFamily="34" charset="-122"/>
                <a:cs typeface="Calibri" pitchFamily="34" charset="-120"/>
              </a:rPr>
              <a:t>: niezależność od oświetlenia, precyzja geometryczna</a:t>
            </a:r>
            <a:endParaRPr lang="en-US" sz="1600" dirty="0"/>
          </a:p>
          <a:p>
            <a:pPr marL="180000" indent="-180000">
              <a:spcAft>
                <a:spcPts val="1200"/>
              </a:spcAft>
              <a:buSzPct val="100000"/>
              <a:buChar char="•"/>
            </a:pPr>
            <a:r>
              <a:rPr lang="en-US" sz="1600" b="1" spc="-80" dirty="0">
                <a:solidFill>
                  <a:srgbClr val="0D1B2A"/>
                </a:solidFill>
                <a:latin typeface="Calibri" pitchFamily="34" charset="0"/>
                <a:ea typeface="Calibri" pitchFamily="34" charset="-122"/>
                <a:cs typeface="Calibri" pitchFamily="34" charset="-120"/>
              </a:rPr>
              <a:t>Ograniczenia</a:t>
            </a:r>
            <a:r>
              <a:rPr lang="en-US" sz="1600" spc="-80" dirty="0">
                <a:solidFill>
                  <a:srgbClr val="0D1B2A"/>
                </a:solidFill>
                <a:latin typeface="Calibri" pitchFamily="34" charset="0"/>
                <a:ea typeface="Calibri" pitchFamily="34" charset="-122"/>
                <a:cs typeface="Calibri" pitchFamily="34" charset="-120"/>
              </a:rPr>
              <a:t>: brak informacji o kolorze i teksturze; problemy z lustrami i przezroczystymi powierzchniami</a:t>
            </a:r>
            <a:endParaRPr lang="en-US" sz="1600" spc="-8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Zastosowanie</a:t>
            </a:r>
            <a:r>
              <a:rPr lang="en-US" sz="1600" dirty="0">
                <a:solidFill>
                  <a:srgbClr val="0D1B2A"/>
                </a:solidFill>
                <a:latin typeface="Calibri" pitchFamily="34" charset="0"/>
                <a:ea typeface="Calibri" pitchFamily="34" charset="-122"/>
                <a:cs typeface="Calibri" pitchFamily="34" charset="-120"/>
              </a:rPr>
              <a:t>: budowa mapy 2D/3D, lokalizacja ICP, detekcja przeszkód i wolnej przestrzeni</a:t>
            </a:r>
            <a:endParaRPr lang="en-US" sz="1600" dirty="0"/>
          </a:p>
        </p:txBody>
      </p:sp>
      <p:sp>
        <p:nvSpPr>
          <p:cNvPr id="8" name="Prostokąt 7"/>
          <p:cNvSpPr/>
          <p:nvPr/>
        </p:nvSpPr>
        <p:spPr>
          <a:xfrm>
            <a:off x="228600" y="4152900"/>
            <a:ext cx="8641080" cy="990015"/>
          </a:xfrm>
          <a:prstGeom prst="rect">
            <a:avLst/>
          </a:prstGeom>
          <a:solidFill>
            <a:srgbClr val="0D1B2A"/>
          </a:solidFill>
        </p:spPr>
        <p:txBody>
          <a:bodyPr wrap="square">
            <a:spAutoFit/>
          </a:bodyPr>
          <a:lstStyle/>
          <a:p>
            <a:pPr algn="just">
              <a:lnSpc>
                <a:spcPts val="1400"/>
              </a:lnSpc>
            </a:pPr>
            <a:r>
              <a:rPr lang="pl-PL" sz="1400" spc="-40" dirty="0" err="1">
                <a:solidFill>
                  <a:schemeClr val="bg1"/>
                </a:solidFill>
              </a:rPr>
              <a:t>LiDAR</a:t>
            </a:r>
            <a:r>
              <a:rPr lang="pl-PL" sz="1400" spc="-40" dirty="0">
                <a:solidFill>
                  <a:schemeClr val="bg1"/>
                </a:solidFill>
              </a:rPr>
              <a:t> jest jednym z najważniejszych sensorów geometrycznych. Działa na zasadzie pomiaru czasu przelotu albo przesunięcia fazowego impulsu laserowego. Może być 2D lub 3D, ma duży zasięg, pełne pole widzenia i dobrą dokładność geometryczną. Jego ogromną zaletą w pomieszczeniach jest niezależność od oświetlenia. Ograniczenia też są istotne: </a:t>
            </a:r>
            <a:r>
              <a:rPr lang="pl-PL" sz="1400" spc="-40" dirty="0" err="1">
                <a:solidFill>
                  <a:schemeClr val="bg1"/>
                </a:solidFill>
              </a:rPr>
              <a:t>LiDAR</a:t>
            </a:r>
            <a:r>
              <a:rPr lang="pl-PL" sz="1400" spc="-40" dirty="0">
                <a:solidFill>
                  <a:schemeClr val="bg1"/>
                </a:solidFill>
              </a:rPr>
              <a:t> nie daje koloru ani tekstury, ma problemy z lustrami i przezroczystymi powierzchniami, ale mimo to świetnie nadaje się do budowy map, lokalizacji, detekcji przeszkód i wyznaczania wolnej przestrzeni.</a:t>
            </a:r>
            <a:endParaRPr lang="en-US" sz="1400" spc="-40"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DETEKCJA PRZESZKÓD</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Detekcja przeszkód statycznych i dynamicznych</a:t>
            </a:r>
            <a:endParaRPr lang="en-US" sz="2800" dirty="0"/>
          </a:p>
        </p:txBody>
      </p:sp>
      <p:sp>
        <p:nvSpPr>
          <p:cNvPr id="6" name="Shape 4"/>
          <p:cNvSpPr/>
          <p:nvPr/>
        </p:nvSpPr>
        <p:spPr>
          <a:xfrm>
            <a:off x="274320" y="1097280"/>
            <a:ext cx="4160520" cy="272796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0"/>
            <a:ext cx="4160520" cy="272796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384048"/>
          </a:xfrm>
          <a:prstGeom prst="rect">
            <a:avLst/>
          </a:prstGeom>
          <a:solidFill>
            <a:srgbClr val="00B4D8"/>
          </a:solidFill>
          <a:ln w="12700">
            <a:solidFill>
              <a:srgbClr val="00B4D8"/>
            </a:solidFill>
            <a:prstDash val="solid"/>
          </a:ln>
        </p:spPr>
      </p:sp>
      <p:sp>
        <p:nvSpPr>
          <p:cNvPr id="9" name="Text 7"/>
          <p:cNvSpPr/>
          <p:nvPr/>
        </p:nvSpPr>
        <p:spPr>
          <a:xfrm>
            <a:off x="457200" y="1115568"/>
            <a:ext cx="3794760" cy="347472"/>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Przeszkody statyczne</a:t>
            </a:r>
            <a:endParaRPr lang="en-US" dirty="0"/>
          </a:p>
        </p:txBody>
      </p:sp>
      <p:sp>
        <p:nvSpPr>
          <p:cNvPr id="10" name="Shape 8"/>
          <p:cNvSpPr/>
          <p:nvPr/>
        </p:nvSpPr>
        <p:spPr>
          <a:xfrm>
            <a:off x="4709160" y="1097280"/>
            <a:ext cx="4160520" cy="384048"/>
          </a:xfrm>
          <a:prstGeom prst="rect">
            <a:avLst/>
          </a:prstGeom>
          <a:solidFill>
            <a:srgbClr val="1A3550"/>
          </a:solidFill>
          <a:ln w="12700">
            <a:solidFill>
              <a:srgbClr val="1A3550"/>
            </a:solidFill>
            <a:prstDash val="solid"/>
          </a:ln>
        </p:spPr>
      </p:sp>
      <p:sp>
        <p:nvSpPr>
          <p:cNvPr id="11" name="Text 9"/>
          <p:cNvSpPr/>
          <p:nvPr/>
        </p:nvSpPr>
        <p:spPr>
          <a:xfrm>
            <a:off x="4892040" y="1115568"/>
            <a:ext cx="3794760" cy="347472"/>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Przeszkody dynamiczne</a:t>
            </a:r>
            <a:endParaRPr lang="en-US" dirty="0"/>
          </a:p>
        </p:txBody>
      </p:sp>
      <p:sp>
        <p:nvSpPr>
          <p:cNvPr id="12" name="Text 10"/>
          <p:cNvSpPr/>
          <p:nvPr/>
        </p:nvSpPr>
        <p:spPr>
          <a:xfrm>
            <a:off x="457200" y="1600200"/>
            <a:ext cx="3794760" cy="2278380"/>
          </a:xfrm>
          <a:prstGeom prst="rect">
            <a:avLst/>
          </a:prstGeom>
          <a:noFill/>
          <a:ln/>
        </p:spPr>
        <p:txBody>
          <a:bodyPr wrap="square" lIns="63500" tIns="101600" rIns="63500" bIns="63500" rtlCol="0" anchor="t"/>
          <a:lstStyle/>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Ściany, meble, kolumny – stałe w czasie</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Budowa globalnej mapy zajętości</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Klasyfikacja: wolna przestrzeń / zajęte / nieznane</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Wystarczy pojedynczy skan do detekcji</a:t>
            </a:r>
            <a:endParaRPr lang="en-US" sz="1600" dirty="0"/>
          </a:p>
        </p:txBody>
      </p:sp>
      <p:sp>
        <p:nvSpPr>
          <p:cNvPr id="13" name="Text 11"/>
          <p:cNvSpPr/>
          <p:nvPr/>
        </p:nvSpPr>
        <p:spPr>
          <a:xfrm>
            <a:off x="4892040" y="1600200"/>
            <a:ext cx="3794760" cy="2278380"/>
          </a:xfrm>
          <a:prstGeom prst="rect">
            <a:avLst/>
          </a:prstGeom>
          <a:noFill/>
          <a:ln/>
        </p:spPr>
        <p:txBody>
          <a:bodyPr wrap="square" lIns="63500" tIns="101600" rIns="63500" bIns="63500" rtlCol="0" anchor="t"/>
          <a:lstStyle/>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Ludzie, wózki, inne roboty – ruch w czasie</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Wymagana filtracja czasowa (ostatnie N skanów)</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Predykcja trajektorii (Kalman, LSTM)</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Strefa bezpieczeństwa zależna od prędkości obiektu</a:t>
            </a:r>
            <a:endParaRPr lang="en-US" sz="1600" dirty="0"/>
          </a:p>
        </p:txBody>
      </p:sp>
      <p:sp>
        <p:nvSpPr>
          <p:cNvPr id="14" name="Prostokąt 13"/>
          <p:cNvSpPr/>
          <p:nvPr/>
        </p:nvSpPr>
        <p:spPr>
          <a:xfrm>
            <a:off x="228600" y="4135422"/>
            <a:ext cx="8641080" cy="913070"/>
          </a:xfrm>
          <a:prstGeom prst="rect">
            <a:avLst/>
          </a:prstGeom>
          <a:solidFill>
            <a:srgbClr val="0D1B2A"/>
          </a:solidFill>
        </p:spPr>
        <p:txBody>
          <a:bodyPr wrap="square">
            <a:spAutoFit/>
          </a:bodyPr>
          <a:lstStyle/>
          <a:p>
            <a:pPr algn="just">
              <a:lnSpc>
                <a:spcPts val="1600"/>
              </a:lnSpc>
            </a:pPr>
            <a:r>
              <a:rPr lang="pl-PL" sz="1400" spc="-40" dirty="0">
                <a:solidFill>
                  <a:schemeClr val="bg1"/>
                </a:solidFill>
              </a:rPr>
              <a:t>Musimy odróżniać przeszkody statyczne od dynamicznych. Ściany, meble czy kolumny są względnie stałe i nadają się do budowy mapy globalnej. Wystarczy często pojedynczy skan, aby je poprawnie sklasyfikować. Natomiast ludzie, wózki czy inne roboty poruszają się w czasie, więc potrzebujemy filtracji czasowej, śledzenia i często predykcji trajektorii. W przypadku obiektów dynamicznych strefa bezpieczeństwa powinna zależeć od ich prędkości i przewidywanego ruchu. </a:t>
            </a:r>
            <a:endParaRPr lang="en-US" sz="1400" spc="-40" dirty="0">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FILTRACJA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Filtracja danych sensorycznych</a:t>
            </a:r>
            <a:endParaRPr lang="en-US" sz="2800" dirty="0"/>
          </a:p>
        </p:txBody>
      </p:sp>
      <p:sp>
        <p:nvSpPr>
          <p:cNvPr id="6" name="Shape 4"/>
          <p:cNvSpPr/>
          <p:nvPr/>
        </p:nvSpPr>
        <p:spPr>
          <a:xfrm>
            <a:off x="274320" y="1097280"/>
            <a:ext cx="8595360" cy="30022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20140"/>
            <a:ext cx="8229600" cy="2865120"/>
          </a:xfrm>
          <a:prstGeom prst="rect">
            <a:avLst/>
          </a:prstGeom>
          <a:noFill/>
          <a:ln/>
        </p:spPr>
        <p:txBody>
          <a:bodyPr wrap="square" lIns="127000" tIns="127000" rIns="127000" bIns="127000" rtlCol="0" anchor="t"/>
          <a:lstStyle/>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Filtr medianowy</a:t>
            </a:r>
            <a:r>
              <a:rPr lang="en-US" sz="1600" dirty="0">
                <a:solidFill>
                  <a:srgbClr val="0D1B2A"/>
                </a:solidFill>
                <a:latin typeface="Calibri" pitchFamily="34" charset="0"/>
                <a:ea typeface="Calibri" pitchFamily="34" charset="-122"/>
                <a:cs typeface="Calibri" pitchFamily="34" charset="-120"/>
              </a:rPr>
              <a:t>: usuwa impulsowe błędy </a:t>
            </a:r>
            <a:r>
              <a:rPr lang="en-US" sz="1600" i="1" dirty="0">
                <a:solidFill>
                  <a:srgbClr val="0D1B2A"/>
                </a:solidFill>
                <a:latin typeface="Calibri" pitchFamily="34" charset="0"/>
                <a:ea typeface="Calibri" pitchFamily="34" charset="-122"/>
                <a:cs typeface="Calibri" pitchFamily="34" charset="-120"/>
              </a:rPr>
              <a:t>(np. refleksy lustrzane w skanerze LiDAR)</a:t>
            </a:r>
            <a:endParaRPr lang="en-US" sz="1600" i="1" dirty="0"/>
          </a:p>
          <a:p>
            <a:pPr marL="216000" indent="-216000">
              <a:spcAft>
                <a:spcPts val="1800"/>
              </a:spcAft>
              <a:buSzPct val="100000"/>
              <a:buChar char="•"/>
            </a:pPr>
            <a:r>
              <a:rPr lang="en-US" sz="1600" b="1" dirty="0" err="1">
                <a:solidFill>
                  <a:srgbClr val="0D1B2A"/>
                </a:solidFill>
                <a:latin typeface="Calibri" pitchFamily="34" charset="0"/>
                <a:ea typeface="Calibri" pitchFamily="34" charset="-122"/>
                <a:cs typeface="Calibri" pitchFamily="34" charset="-120"/>
              </a:rPr>
              <a:t>Średnia</a:t>
            </a:r>
            <a:r>
              <a:rPr lang="en-US" sz="1600" b="1" dirty="0">
                <a:solidFill>
                  <a:srgbClr val="0D1B2A"/>
                </a:solidFill>
                <a:latin typeface="Calibri" pitchFamily="34" charset="0"/>
                <a:ea typeface="Calibri" pitchFamily="34" charset="-122"/>
                <a:cs typeface="Calibri" pitchFamily="34" charset="-120"/>
              </a:rPr>
              <a:t> </a:t>
            </a:r>
            <a:r>
              <a:rPr lang="pl-PL" sz="1600" b="1" dirty="0" smtClean="0">
                <a:solidFill>
                  <a:srgbClr val="0D1B2A"/>
                </a:solidFill>
                <a:latin typeface="Calibri" pitchFamily="34" charset="0"/>
                <a:ea typeface="Calibri" pitchFamily="34" charset="-122"/>
                <a:cs typeface="Calibri" pitchFamily="34" charset="-120"/>
              </a:rPr>
              <a:t>ruchoma</a:t>
            </a:r>
            <a:r>
              <a:rPr lang="en-US" sz="1600" b="1" dirty="0" smtClean="0">
                <a:solidFill>
                  <a:srgbClr val="0D1B2A"/>
                </a:solidFill>
                <a:latin typeface="Calibri" pitchFamily="34" charset="0"/>
                <a:ea typeface="Calibri" pitchFamily="34" charset="-122"/>
                <a:cs typeface="Calibri" pitchFamily="34" charset="-120"/>
              </a:rPr>
              <a:t> </a:t>
            </a:r>
            <a:r>
              <a:rPr lang="en-US" sz="1600" i="1" dirty="0">
                <a:solidFill>
                  <a:srgbClr val="0D1B2A"/>
                </a:solidFill>
                <a:latin typeface="Calibri" pitchFamily="34" charset="0"/>
                <a:ea typeface="Calibri" pitchFamily="34" charset="-122"/>
                <a:cs typeface="Calibri" pitchFamily="34" charset="-120"/>
              </a:rPr>
              <a:t>(moving average): </a:t>
            </a:r>
            <a:r>
              <a:rPr lang="en-US" sz="1600" dirty="0">
                <a:solidFill>
                  <a:srgbClr val="0D1B2A"/>
                </a:solidFill>
                <a:latin typeface="Calibri" pitchFamily="34" charset="0"/>
                <a:ea typeface="Calibri" pitchFamily="34" charset="-122"/>
                <a:cs typeface="Calibri" pitchFamily="34" charset="-120"/>
              </a:rPr>
              <a:t>wygładzanie szumowych serii pomiarowych</a:t>
            </a:r>
            <a:endParaRPr lang="en-US" sz="1600" dirty="0"/>
          </a:p>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Progowanie odległości</a:t>
            </a:r>
            <a:r>
              <a:rPr lang="en-US" sz="1600" dirty="0">
                <a:solidFill>
                  <a:srgbClr val="0D1B2A"/>
                </a:solidFill>
                <a:latin typeface="Calibri" pitchFamily="34" charset="0"/>
                <a:ea typeface="Calibri" pitchFamily="34" charset="-122"/>
                <a:cs typeface="Calibri" pitchFamily="34" charset="-120"/>
              </a:rPr>
              <a:t>: odrzucenie pomiarów poza zakresem [d_min, d_max] sensora</a:t>
            </a:r>
            <a:endParaRPr lang="en-US" sz="1600" dirty="0"/>
          </a:p>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Odrzucanie wartości odstających </a:t>
            </a:r>
            <a:r>
              <a:rPr lang="en-US" sz="1600" i="1" dirty="0">
                <a:solidFill>
                  <a:srgbClr val="0D1B2A"/>
                </a:solidFill>
                <a:latin typeface="Calibri" pitchFamily="34" charset="0"/>
                <a:ea typeface="Calibri" pitchFamily="34" charset="-122"/>
                <a:cs typeface="Calibri" pitchFamily="34" charset="-120"/>
              </a:rPr>
              <a:t>(outlier removal): </a:t>
            </a:r>
            <a:r>
              <a:rPr lang="en-US" sz="1600" dirty="0">
                <a:solidFill>
                  <a:srgbClr val="0D1B2A"/>
                </a:solidFill>
                <a:latin typeface="Calibri" pitchFamily="34" charset="0"/>
                <a:ea typeface="Calibri" pitchFamily="34" charset="-122"/>
                <a:cs typeface="Calibri" pitchFamily="34" charset="-120"/>
              </a:rPr>
              <a:t>statystyczne odchylenie od sąsiedztwa</a:t>
            </a:r>
            <a:endParaRPr lang="en-US" sz="1600" dirty="0"/>
          </a:p>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RANSAC</a:t>
            </a:r>
            <a:r>
              <a:rPr lang="en-US" sz="1600" dirty="0">
                <a:solidFill>
                  <a:srgbClr val="0D1B2A"/>
                </a:solidFill>
                <a:latin typeface="Calibri" pitchFamily="34" charset="0"/>
                <a:ea typeface="Calibri" pitchFamily="34" charset="-122"/>
                <a:cs typeface="Calibri" pitchFamily="34" charset="-120"/>
              </a:rPr>
              <a:t>: dopasowanie płaszczyzny podłogi przy silnym szumie i dużej liczbie punktów</a:t>
            </a:r>
            <a:endParaRPr lang="en-US" sz="1600" dirty="0"/>
          </a:p>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Voxel grid downsampling</a:t>
            </a:r>
            <a:r>
              <a:rPr lang="en-US" sz="1600" dirty="0">
                <a:solidFill>
                  <a:srgbClr val="0D1B2A"/>
                </a:solidFill>
                <a:latin typeface="Calibri" pitchFamily="34" charset="0"/>
                <a:ea typeface="Calibri" pitchFamily="34" charset="-122"/>
                <a:cs typeface="Calibri" pitchFamily="34" charset="-120"/>
              </a:rPr>
              <a:t>: redukcja gęstości chmury punktów przed przetwarzaniem</a:t>
            </a:r>
            <a:endParaRPr lang="en-US" sz="1600" dirty="0"/>
          </a:p>
        </p:txBody>
      </p:sp>
      <p:sp>
        <p:nvSpPr>
          <p:cNvPr id="8" name="Prostokąt 7"/>
          <p:cNvSpPr/>
          <p:nvPr/>
        </p:nvSpPr>
        <p:spPr>
          <a:xfrm>
            <a:off x="228600" y="4251960"/>
            <a:ext cx="8641080" cy="861774"/>
          </a:xfrm>
          <a:prstGeom prst="rect">
            <a:avLst/>
          </a:prstGeom>
          <a:solidFill>
            <a:srgbClr val="0D1B2A"/>
          </a:solidFill>
        </p:spPr>
        <p:txBody>
          <a:bodyPr wrap="square">
            <a:spAutoFit/>
          </a:bodyPr>
          <a:lstStyle/>
          <a:p>
            <a:pPr>
              <a:lnSpc>
                <a:spcPts val="1500"/>
              </a:lnSpc>
            </a:pPr>
            <a:r>
              <a:rPr lang="pl-PL" sz="1400" spc="-40" dirty="0">
                <a:solidFill>
                  <a:schemeClr val="bg1"/>
                </a:solidFill>
              </a:rPr>
              <a:t>Surowe dane sensoryczne niemal nigdy nie nadają się do bezpośredniego użycia. Stosujemy więc filtr medianowy, średnią ruchomą, progowanie odległości, odrzucanie obserwacji odstających, RANSAC do dopasowania płaszczyzny podłogi oraz </a:t>
            </a:r>
            <a:r>
              <a:rPr lang="pl-PL" sz="1400" spc="-40" dirty="0" err="1">
                <a:solidFill>
                  <a:schemeClr val="bg1"/>
                </a:solidFill>
              </a:rPr>
              <a:t>voxel</a:t>
            </a:r>
            <a:r>
              <a:rPr lang="pl-PL" sz="1400" spc="-40" dirty="0">
                <a:solidFill>
                  <a:schemeClr val="bg1"/>
                </a:solidFill>
              </a:rPr>
              <a:t> </a:t>
            </a:r>
            <a:r>
              <a:rPr lang="pl-PL" sz="1400" spc="-40" dirty="0" err="1">
                <a:solidFill>
                  <a:schemeClr val="bg1"/>
                </a:solidFill>
              </a:rPr>
              <a:t>grid</a:t>
            </a:r>
            <a:r>
              <a:rPr lang="pl-PL" sz="1400" spc="-40" dirty="0">
                <a:solidFill>
                  <a:schemeClr val="bg1"/>
                </a:solidFill>
              </a:rPr>
              <a:t> </a:t>
            </a:r>
            <a:r>
              <a:rPr lang="pl-PL" sz="1400" spc="-40" dirty="0" err="1">
                <a:solidFill>
                  <a:schemeClr val="bg1"/>
                </a:solidFill>
              </a:rPr>
              <a:t>downsampling</a:t>
            </a:r>
            <a:r>
              <a:rPr lang="pl-PL" sz="1400" spc="-40" dirty="0">
                <a:solidFill>
                  <a:schemeClr val="bg1"/>
                </a:solidFill>
              </a:rPr>
              <a:t> do redukcji rozmiaru chmury punktów. Celem nie jest upiększenie danych, tylko uzyskanie takiego sygnału, na którym estymacja i planowanie będą działały stabilnie i przewidywalnie. </a:t>
            </a:r>
            <a:endParaRPr lang="en-US" sz="1400" spc="-40" dirty="0">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Filtrowanie danych z </a:t>
            </a:r>
            <a:r>
              <a:rPr lang="en-US" sz="2800" b="1" dirty="0" smtClean="0">
                <a:solidFill>
                  <a:srgbClr val="FFFFFF"/>
                </a:solidFill>
                <a:latin typeface="Trebuchet MS" pitchFamily="34" charset="0"/>
                <a:ea typeface="Trebuchet MS" pitchFamily="34" charset="-122"/>
                <a:cs typeface="Trebuchet MS" pitchFamily="34" charset="-120"/>
              </a:rPr>
              <a:t>LiDAR</a:t>
            </a:r>
            <a:r>
              <a:rPr lang="pl-PL" sz="2800" b="1" dirty="0" smtClean="0">
                <a:solidFill>
                  <a:srgbClr val="FFFFFF"/>
                </a:solidFill>
                <a:latin typeface="Trebuchet MS" pitchFamily="34" charset="0"/>
                <a:ea typeface="Trebuchet MS" pitchFamily="34" charset="-122"/>
                <a:cs typeface="Trebuchet MS" pitchFamily="34" charset="-120"/>
              </a:rPr>
              <a:t>-a</a:t>
            </a:r>
            <a:endParaRPr lang="en-US" sz="2800" dirty="0"/>
          </a:p>
        </p:txBody>
      </p:sp>
      <p:sp>
        <p:nvSpPr>
          <p:cNvPr id="6" name="Shape 4"/>
          <p:cNvSpPr/>
          <p:nvPr/>
        </p:nvSpPr>
        <p:spPr>
          <a:xfrm>
            <a:off x="274320" y="1005840"/>
            <a:ext cx="8595360" cy="3231388"/>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7" name="Shape 5"/>
          <p:cNvSpPr/>
          <p:nvPr/>
        </p:nvSpPr>
        <p:spPr>
          <a:xfrm>
            <a:off x="8119872" y="1115568"/>
            <a:ext cx="146304" cy="146304"/>
          </a:xfrm>
          <a:prstGeom prst="ellipse">
            <a:avLst/>
          </a:prstGeom>
          <a:solidFill>
            <a:srgbClr val="F72585"/>
          </a:solidFill>
          <a:ln w="12700">
            <a:solidFill>
              <a:srgbClr val="F72585"/>
            </a:solidFill>
            <a:prstDash val="solid"/>
          </a:ln>
        </p:spPr>
      </p:sp>
      <p:sp>
        <p:nvSpPr>
          <p:cNvPr id="8" name="Shape 6"/>
          <p:cNvSpPr/>
          <p:nvPr/>
        </p:nvSpPr>
        <p:spPr>
          <a:xfrm>
            <a:off x="8375904" y="1115568"/>
            <a:ext cx="146304" cy="146304"/>
          </a:xfrm>
          <a:prstGeom prst="ellipse">
            <a:avLst/>
          </a:prstGeom>
          <a:solidFill>
            <a:srgbClr val="FFD60A"/>
          </a:solidFill>
          <a:ln w="12700">
            <a:solidFill>
              <a:srgbClr val="FFD60A"/>
            </a:solidFill>
            <a:prstDash val="solid"/>
          </a:ln>
        </p:spPr>
      </p:sp>
      <p:sp>
        <p:nvSpPr>
          <p:cNvPr id="9" name="Shape 7"/>
          <p:cNvSpPr/>
          <p:nvPr/>
        </p:nvSpPr>
        <p:spPr>
          <a:xfrm>
            <a:off x="8631936" y="1115568"/>
            <a:ext cx="146304" cy="146304"/>
          </a:xfrm>
          <a:prstGeom prst="ellipse">
            <a:avLst/>
          </a:prstGeom>
          <a:solidFill>
            <a:srgbClr val="C3F584"/>
          </a:solidFill>
          <a:ln w="12700">
            <a:solidFill>
              <a:srgbClr val="C3F584"/>
            </a:solidFill>
            <a:prstDash val="solid"/>
          </a:ln>
        </p:spPr>
      </p:sp>
      <p:sp>
        <p:nvSpPr>
          <p:cNvPr id="10" name="Text 8"/>
          <p:cNvSpPr/>
          <p:nvPr/>
        </p:nvSpPr>
        <p:spPr>
          <a:xfrm>
            <a:off x="457200" y="1060704"/>
            <a:ext cx="8321040" cy="3149789"/>
          </a:xfrm>
          <a:prstGeom prst="rect">
            <a:avLst/>
          </a:prstGeom>
          <a:noFill/>
          <a:ln/>
        </p:spPr>
        <p:txBody>
          <a:bodyPr wrap="square" lIns="108000" tIns="0" rIns="127000" bIns="63500" rtlCol="0" anchor="t"/>
          <a:lstStyle/>
          <a:p>
            <a:r>
              <a:rPr lang="pl-PL" sz="1200" dirty="0">
                <a:solidFill>
                  <a:srgbClr val="C586C0"/>
                </a:solidFill>
                <a:latin typeface="Consolas" panose="020B0609020204030204" pitchFamily="49" charset="0"/>
              </a:rPr>
              <a:t>import</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numpy</a:t>
            </a:r>
            <a:r>
              <a:rPr lang="pl-PL" sz="1200" dirty="0">
                <a:solidFill>
                  <a:srgbClr val="CCCCCC"/>
                </a:solidFill>
                <a:latin typeface="Consolas" panose="020B0609020204030204" pitchFamily="49" charset="0"/>
              </a:rPr>
              <a:t> </a:t>
            </a:r>
            <a:r>
              <a:rPr lang="pl-PL" sz="1200" dirty="0">
                <a:solidFill>
                  <a:srgbClr val="C586C0"/>
                </a:solidFill>
                <a:latin typeface="Consolas" panose="020B0609020204030204" pitchFamily="49" charset="0"/>
              </a:rPr>
              <a:t>as</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np</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r>
            <a:br>
              <a:rPr lang="pl-PL" sz="1200" dirty="0">
                <a:solidFill>
                  <a:srgbClr val="CCCCCC"/>
                </a:solidFill>
                <a:latin typeface="Consolas" panose="020B0609020204030204" pitchFamily="49" charset="0"/>
              </a:rPr>
            </a:br>
            <a:r>
              <a:rPr lang="pl-PL" sz="1200" dirty="0">
                <a:solidFill>
                  <a:srgbClr val="569CD6"/>
                </a:solidFill>
                <a:latin typeface="Consolas" panose="020B0609020204030204" pitchFamily="49" charset="0"/>
              </a:rPr>
              <a:t>def</a:t>
            </a:r>
            <a:r>
              <a:rPr lang="pl-PL" sz="1200" dirty="0">
                <a:solidFill>
                  <a:srgbClr val="CCCCCC"/>
                </a:solidFill>
                <a:latin typeface="Consolas" panose="020B0609020204030204" pitchFamily="49" charset="0"/>
              </a:rPr>
              <a:t> </a:t>
            </a:r>
            <a:r>
              <a:rPr lang="pl-PL" sz="1200" dirty="0" err="1">
                <a:solidFill>
                  <a:srgbClr val="DCDCAA"/>
                </a:solidFill>
                <a:latin typeface="Consolas" panose="020B0609020204030204" pitchFamily="49" charset="0"/>
              </a:rPr>
              <a:t>filter_lidar_scan</a:t>
            </a:r>
            <a:r>
              <a:rPr lang="pl-PL" sz="1200" dirty="0">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ranges</a:t>
            </a:r>
            <a:r>
              <a:rPr lang="pl-PL" sz="1200" dirty="0">
                <a:solidFill>
                  <a:srgbClr val="CCCCCC"/>
                </a:solidFill>
                <a:latin typeface="Consolas" panose="020B0609020204030204" pitchFamily="49" charset="0"/>
              </a:rPr>
              <a:t>: </a:t>
            </a:r>
            <a:r>
              <a:rPr lang="pl-PL" sz="1200" dirty="0">
                <a:solidFill>
                  <a:srgbClr val="4EC9B0"/>
                </a:solidFill>
                <a:latin typeface="Consolas" panose="020B0609020204030204" pitchFamily="49" charset="0"/>
              </a:rPr>
              <a:t>list</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min_dist</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float</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0.15</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max_dist</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float</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10.0</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kernel</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int</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5</a:t>
            </a:r>
            <a:r>
              <a:rPr lang="pl-PL" sz="1200" dirty="0">
                <a:solidFill>
                  <a:srgbClr val="CCCCCC"/>
                </a:solidFill>
                <a:latin typeface="Consolas" panose="020B0609020204030204" pitchFamily="49" charset="0"/>
              </a:rPr>
              <a:t>) -&gt; </a:t>
            </a:r>
            <a:r>
              <a:rPr lang="pl-PL" sz="1200" dirty="0" err="1">
                <a:solidFill>
                  <a:srgbClr val="CCCCCC"/>
                </a:solidFill>
                <a:latin typeface="Consolas" panose="020B0609020204030204" pitchFamily="49" charset="0"/>
              </a:rPr>
              <a:t>np.ndarray</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a:solidFill>
                  <a:srgbClr val="CE9178"/>
                </a:solidFill>
                <a:latin typeface="Consolas" panose="020B0609020204030204" pitchFamily="49" charset="0"/>
              </a:rPr>
              <a:t>"""Oczyszczanie skanu </a:t>
            </a:r>
            <a:r>
              <a:rPr lang="pl-PL" sz="1200" dirty="0" err="1">
                <a:solidFill>
                  <a:srgbClr val="CE9178"/>
                </a:solidFill>
                <a:latin typeface="Consolas" panose="020B0609020204030204" pitchFamily="49" charset="0"/>
              </a:rPr>
              <a:t>LiDAR</a:t>
            </a:r>
            <a:r>
              <a:rPr lang="pl-PL" sz="1200" dirty="0">
                <a:solidFill>
                  <a:srgbClr val="CE9178"/>
                </a:solidFill>
                <a:latin typeface="Consolas" panose="020B0609020204030204" pitchFamily="49" charset="0"/>
              </a:rPr>
              <a:t>: </a:t>
            </a:r>
            <a:r>
              <a:rPr lang="pl-PL" sz="1200" dirty="0" smtClean="0">
                <a:solidFill>
                  <a:srgbClr val="CE9178"/>
                </a:solidFill>
                <a:latin typeface="Consolas" panose="020B0609020204030204" pitchFamily="49" charset="0"/>
              </a:rPr>
              <a:t>próg </a:t>
            </a:r>
            <a:r>
              <a:rPr lang="pl-PL" sz="1200" dirty="0">
                <a:solidFill>
                  <a:srgbClr val="CE9178"/>
                </a:solidFill>
                <a:latin typeface="Consolas" panose="020B0609020204030204" pitchFamily="49" charset="0"/>
              </a:rPr>
              <a:t>+ filtr medianowy."""</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arr</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np.array</a:t>
            </a:r>
            <a:r>
              <a:rPr lang="pl-PL" sz="1200" dirty="0">
                <a:solidFill>
                  <a:srgbClr val="CCCCCC"/>
                </a:solidFill>
                <a:latin typeface="Consolas" panose="020B0609020204030204" pitchFamily="49" charset="0"/>
              </a:rPr>
              <a:t>(</a:t>
            </a:r>
            <a:r>
              <a:rPr lang="pl-PL" sz="1200" dirty="0" err="1">
                <a:solidFill>
                  <a:srgbClr val="CCCCCC"/>
                </a:solidFill>
                <a:latin typeface="Consolas" panose="020B0609020204030204" pitchFamily="49" charset="0"/>
              </a:rPr>
              <a:t>ranges</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dtype</a:t>
            </a:r>
            <a:r>
              <a:rPr lang="pl-PL" sz="1200" dirty="0">
                <a:solidFill>
                  <a:srgbClr val="D4D4D4"/>
                </a:solidFill>
                <a:latin typeface="Consolas" panose="020B0609020204030204" pitchFamily="49" charset="0"/>
              </a:rPr>
              <a:t>=</a:t>
            </a:r>
            <a:r>
              <a:rPr lang="pl-PL" sz="1200" dirty="0" err="1">
                <a:solidFill>
                  <a:srgbClr val="4EC9B0"/>
                </a:solidFill>
                <a:latin typeface="Consolas" panose="020B0609020204030204" pitchFamily="49" charset="0"/>
              </a:rPr>
              <a:t>float</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a:solidFill>
                  <a:srgbClr val="6A9955"/>
                </a:solidFill>
                <a:latin typeface="Consolas" panose="020B0609020204030204" pitchFamily="49" charset="0"/>
              </a:rPr>
              <a:t># 1. </a:t>
            </a:r>
            <a:r>
              <a:rPr lang="pl-PL" sz="1200" dirty="0" smtClean="0">
                <a:solidFill>
                  <a:srgbClr val="6A9955"/>
                </a:solidFill>
                <a:latin typeface="Consolas" panose="020B0609020204030204" pitchFamily="49" charset="0"/>
              </a:rPr>
              <a:t>Zamień wartości </a:t>
            </a:r>
            <a:r>
              <a:rPr lang="pl-PL" sz="1200" dirty="0">
                <a:solidFill>
                  <a:srgbClr val="6A9955"/>
                </a:solidFill>
                <a:latin typeface="Consolas" panose="020B0609020204030204" pitchFamily="49" charset="0"/>
              </a:rPr>
              <a:t>poza zakresem sensora na </a:t>
            </a:r>
            <a:r>
              <a:rPr lang="pl-PL" sz="1200" dirty="0" err="1">
                <a:solidFill>
                  <a:srgbClr val="6A9955"/>
                </a:solidFill>
                <a:latin typeface="Consolas" panose="020B0609020204030204" pitchFamily="49" charset="0"/>
              </a:rPr>
              <a:t>NaN</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arr</a:t>
            </a:r>
            <a:r>
              <a:rPr lang="pl-PL" sz="1200" dirty="0">
                <a:solidFill>
                  <a:srgbClr val="CCCCCC"/>
                </a:solidFill>
                <a:latin typeface="Consolas" panose="020B0609020204030204" pitchFamily="49" charset="0"/>
              </a:rPr>
              <a:t>[(</a:t>
            </a:r>
            <a:r>
              <a:rPr lang="pl-PL" sz="1200" dirty="0" err="1">
                <a:solidFill>
                  <a:srgbClr val="CCCCCC"/>
                </a:solidFill>
                <a:latin typeface="Consolas" panose="020B0609020204030204" pitchFamily="49" charset="0"/>
              </a:rPr>
              <a:t>arr</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&lt;</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min_dist</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arr</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&gt;</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max_dist</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np.nan</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a:solidFill>
                  <a:srgbClr val="6A9955"/>
                </a:solidFill>
                <a:latin typeface="Consolas" panose="020B0609020204030204" pitchFamily="49" charset="0"/>
              </a:rPr>
              <a:t># 2. Filtr medianowy – usuwa impulsowe </a:t>
            </a:r>
            <a:r>
              <a:rPr lang="pl-PL" sz="1200" dirty="0" smtClean="0">
                <a:solidFill>
                  <a:srgbClr val="6A9955"/>
                </a:solidFill>
                <a:latin typeface="Consolas" panose="020B0609020204030204" pitchFamily="49" charset="0"/>
              </a:rPr>
              <a:t>błędy </a:t>
            </a:r>
            <a:r>
              <a:rPr lang="pl-PL" sz="1200" dirty="0">
                <a:solidFill>
                  <a:srgbClr val="6A9955"/>
                </a:solidFill>
                <a:latin typeface="Consolas" panose="020B0609020204030204" pitchFamily="49" charset="0"/>
              </a:rPr>
              <a:t>refleksji</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valid_mask</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err="1">
                <a:solidFill>
                  <a:srgbClr val="CCCCCC"/>
                </a:solidFill>
                <a:latin typeface="Consolas" panose="020B0609020204030204" pitchFamily="49" charset="0"/>
              </a:rPr>
              <a:t>np.isnan</a:t>
            </a:r>
            <a:r>
              <a:rPr lang="pl-PL" sz="1200" dirty="0">
                <a:solidFill>
                  <a:srgbClr val="CCCCCC"/>
                </a:solidFill>
                <a:latin typeface="Consolas" panose="020B0609020204030204" pitchFamily="49" charset="0"/>
              </a:rPr>
              <a:t>(</a:t>
            </a:r>
            <a:r>
              <a:rPr lang="pl-PL" sz="1200" dirty="0" err="1">
                <a:solidFill>
                  <a:srgbClr val="CCCCCC"/>
                </a:solidFill>
                <a:latin typeface="Consolas" panose="020B0609020204030204" pitchFamily="49" charset="0"/>
              </a:rPr>
              <a:t>arr</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indices</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np.where</a:t>
            </a:r>
            <a:r>
              <a:rPr lang="pl-PL" sz="1200" dirty="0">
                <a:solidFill>
                  <a:srgbClr val="CCCCCC"/>
                </a:solidFill>
                <a:latin typeface="Consolas" panose="020B0609020204030204" pitchFamily="49" charset="0"/>
              </a:rPr>
              <a:t>(</a:t>
            </a:r>
            <a:r>
              <a:rPr lang="pl-PL" sz="1200" dirty="0" err="1">
                <a:solidFill>
                  <a:srgbClr val="CCCCCC"/>
                </a:solidFill>
                <a:latin typeface="Consolas" panose="020B0609020204030204" pitchFamily="49" charset="0"/>
              </a:rPr>
              <a:t>valid_mask</a:t>
            </a:r>
            <a:r>
              <a:rPr lang="pl-PL" sz="1200" dirty="0">
                <a:solidFill>
                  <a:srgbClr val="CCCCCC"/>
                </a:solidFill>
                <a:latin typeface="Consolas" panose="020B0609020204030204" pitchFamily="49" charset="0"/>
              </a:rPr>
              <a:t>)[</a:t>
            </a:r>
            <a:r>
              <a:rPr lang="pl-PL" sz="1200" dirty="0">
                <a:solidFill>
                  <a:srgbClr val="B5CEA8"/>
                </a:solidFill>
                <a:latin typeface="Consolas" panose="020B0609020204030204" pitchFamily="49" charset="0"/>
              </a:rPr>
              <a:t>0</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a:solidFill>
                  <a:srgbClr val="C586C0"/>
                </a:solidFill>
                <a:latin typeface="Consolas" panose="020B0609020204030204" pitchFamily="49" charset="0"/>
              </a:rPr>
              <a:t>for</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idx</a:t>
            </a:r>
            <a:r>
              <a:rPr lang="pl-PL" sz="1200" dirty="0">
                <a:solidFill>
                  <a:srgbClr val="CCCCCC"/>
                </a:solidFill>
                <a:latin typeface="Consolas" panose="020B0609020204030204" pitchFamily="49" charset="0"/>
              </a:rPr>
              <a:t> </a:t>
            </a:r>
            <a:r>
              <a:rPr lang="pl-PL" sz="1200" dirty="0">
                <a:solidFill>
                  <a:srgbClr val="C586C0"/>
                </a:solidFill>
                <a:latin typeface="Consolas" panose="020B0609020204030204" pitchFamily="49" charset="0"/>
              </a:rPr>
              <a:t>in</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indices</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neighbors</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arr</a:t>
            </a:r>
            <a:r>
              <a:rPr lang="pl-PL" sz="1200" dirty="0">
                <a:solidFill>
                  <a:srgbClr val="CCCCCC"/>
                </a:solidFill>
                <a:latin typeface="Consolas" panose="020B0609020204030204" pitchFamily="49" charset="0"/>
              </a:rPr>
              <a:t>[</a:t>
            </a:r>
            <a:r>
              <a:rPr lang="pl-PL" sz="1200" dirty="0">
                <a:solidFill>
                  <a:srgbClr val="DCDCAA"/>
                </a:solidFill>
                <a:latin typeface="Consolas" panose="020B0609020204030204" pitchFamily="49" charset="0"/>
              </a:rPr>
              <a:t>max</a:t>
            </a:r>
            <a:r>
              <a:rPr lang="pl-PL" sz="1200" dirty="0">
                <a:solidFill>
                  <a:srgbClr val="CCCCCC"/>
                </a:solidFill>
                <a:latin typeface="Consolas" panose="020B0609020204030204" pitchFamily="49" charset="0"/>
              </a:rPr>
              <a:t>(</a:t>
            </a:r>
            <a:r>
              <a:rPr lang="pl-PL" sz="1200" dirty="0">
                <a:solidFill>
                  <a:srgbClr val="B5CEA8"/>
                </a:solidFill>
                <a:latin typeface="Consolas" panose="020B0609020204030204" pitchFamily="49" charset="0"/>
              </a:rPr>
              <a:t>0</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idx</a:t>
            </a:r>
            <a:r>
              <a:rPr lang="pl-PL" sz="1200" dirty="0" err="1">
                <a:solidFill>
                  <a:srgbClr val="D4D4D4"/>
                </a:solidFill>
                <a:latin typeface="Consolas" panose="020B0609020204030204" pitchFamily="49" charset="0"/>
              </a:rPr>
              <a:t>-</a:t>
            </a:r>
            <a:r>
              <a:rPr lang="pl-PL" sz="1200" dirty="0" err="1">
                <a:solidFill>
                  <a:srgbClr val="CCCCCC"/>
                </a:solidFill>
                <a:latin typeface="Consolas" panose="020B0609020204030204" pitchFamily="49" charset="0"/>
              </a:rPr>
              <a:t>kernel</a:t>
            </a:r>
            <a:r>
              <a:rPr lang="pl-PL" sz="1200" dirty="0">
                <a:solidFill>
                  <a:srgbClr val="D4D4D4"/>
                </a:solidFill>
                <a:latin typeface="Consolas" panose="020B0609020204030204" pitchFamily="49" charset="0"/>
              </a:rPr>
              <a:t>//</a:t>
            </a:r>
            <a:r>
              <a:rPr lang="pl-PL" sz="1200" dirty="0">
                <a:solidFill>
                  <a:srgbClr val="B5CEA8"/>
                </a:solidFill>
                <a:latin typeface="Consolas" panose="020B0609020204030204" pitchFamily="49" charset="0"/>
              </a:rPr>
              <a:t>2</a:t>
            </a:r>
            <a:r>
              <a:rPr lang="pl-PL" sz="1200" dirty="0">
                <a:solidFill>
                  <a:srgbClr val="CCCCCC"/>
                </a:solidFill>
                <a:latin typeface="Consolas" panose="020B0609020204030204" pitchFamily="49" charset="0"/>
              </a:rPr>
              <a:t>) : </a:t>
            </a:r>
            <a:r>
              <a:rPr lang="pl-PL" sz="1200" dirty="0" err="1">
                <a:solidFill>
                  <a:srgbClr val="CCCCCC"/>
                </a:solidFill>
                <a:latin typeface="Consolas" panose="020B0609020204030204" pitchFamily="49" charset="0"/>
              </a:rPr>
              <a:t>idx</a:t>
            </a:r>
            <a:r>
              <a:rPr lang="pl-PL" sz="1200" dirty="0" err="1">
                <a:solidFill>
                  <a:srgbClr val="D4D4D4"/>
                </a:solidFill>
                <a:latin typeface="Consolas" panose="020B0609020204030204" pitchFamily="49" charset="0"/>
              </a:rPr>
              <a:t>+</a:t>
            </a:r>
            <a:r>
              <a:rPr lang="pl-PL" sz="1200" dirty="0" err="1">
                <a:solidFill>
                  <a:srgbClr val="CCCCCC"/>
                </a:solidFill>
                <a:latin typeface="Consolas" panose="020B0609020204030204" pitchFamily="49" charset="0"/>
              </a:rPr>
              <a:t>kernel</a:t>
            </a:r>
            <a:r>
              <a:rPr lang="pl-PL" sz="1200" dirty="0">
                <a:solidFill>
                  <a:srgbClr val="D4D4D4"/>
                </a:solidFill>
                <a:latin typeface="Consolas" panose="020B0609020204030204" pitchFamily="49" charset="0"/>
              </a:rPr>
              <a:t>//</a:t>
            </a:r>
            <a:r>
              <a:rPr lang="pl-PL" sz="1200" dirty="0">
                <a:solidFill>
                  <a:srgbClr val="B5CEA8"/>
                </a:solidFill>
                <a:latin typeface="Consolas" panose="020B0609020204030204" pitchFamily="49" charset="0"/>
              </a:rPr>
              <a:t>2</a:t>
            </a:r>
            <a:r>
              <a:rPr lang="pl-PL" sz="1200" dirty="0">
                <a:solidFill>
                  <a:srgbClr val="D4D4D4"/>
                </a:solidFill>
                <a:latin typeface="Consolas" panose="020B0609020204030204" pitchFamily="49" charset="0"/>
              </a:rPr>
              <a:t>+</a:t>
            </a:r>
            <a:r>
              <a:rPr lang="pl-PL" sz="1200" dirty="0">
                <a:solidFill>
                  <a:srgbClr val="B5CEA8"/>
                </a:solidFill>
                <a:latin typeface="Consolas" panose="020B0609020204030204" pitchFamily="49" charset="0"/>
              </a:rPr>
              <a:t>1</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arr</a:t>
            </a:r>
            <a:r>
              <a:rPr lang="pl-PL" sz="1200" dirty="0">
                <a:solidFill>
                  <a:srgbClr val="CCCCCC"/>
                </a:solidFill>
                <a:latin typeface="Consolas" panose="020B0609020204030204" pitchFamily="49" charset="0"/>
              </a:rPr>
              <a:t>[</a:t>
            </a:r>
            <a:r>
              <a:rPr lang="pl-PL" sz="1200" dirty="0" err="1">
                <a:solidFill>
                  <a:srgbClr val="CCCCCC"/>
                </a:solidFill>
                <a:latin typeface="Consolas" panose="020B0609020204030204" pitchFamily="49" charset="0"/>
              </a:rPr>
              <a:t>idx</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np.nanmedian</a:t>
            </a:r>
            <a:r>
              <a:rPr lang="pl-PL" sz="1200" dirty="0">
                <a:solidFill>
                  <a:srgbClr val="CCCCCC"/>
                </a:solidFill>
                <a:latin typeface="Consolas" panose="020B0609020204030204" pitchFamily="49" charset="0"/>
              </a:rPr>
              <a:t>(</a:t>
            </a:r>
            <a:r>
              <a:rPr lang="pl-PL" sz="1200" dirty="0" err="1">
                <a:solidFill>
                  <a:srgbClr val="CCCCCC"/>
                </a:solidFill>
                <a:latin typeface="Consolas" panose="020B0609020204030204" pitchFamily="49" charset="0"/>
              </a:rPr>
              <a:t>neighbors</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arr</a:t>
            </a:r>
            <a:endParaRPr lang="pl-PL" sz="1200" b="0" dirty="0">
              <a:solidFill>
                <a:srgbClr val="CCCCCC"/>
              </a:solidFill>
              <a:effectLst/>
              <a:latin typeface="Consolas" panose="020B0609020204030204" pitchFamily="49" charset="0"/>
            </a:endParaRPr>
          </a:p>
        </p:txBody>
      </p:sp>
      <p:sp>
        <p:nvSpPr>
          <p:cNvPr id="11" name="Shape 9"/>
          <p:cNvSpPr/>
          <p:nvPr/>
        </p:nvSpPr>
        <p:spPr>
          <a:xfrm>
            <a:off x="274320" y="4403948"/>
            <a:ext cx="8595360" cy="533812"/>
          </a:xfrm>
          <a:prstGeom prst="rect">
            <a:avLst/>
          </a:prstGeom>
          <a:solidFill>
            <a:srgbClr val="1A3550"/>
          </a:solidFill>
          <a:ln w="12700">
            <a:solidFill>
              <a:srgbClr val="0077A8"/>
            </a:solidFill>
            <a:prstDash val="solid"/>
          </a:ln>
        </p:spPr>
      </p:sp>
      <p:sp>
        <p:nvSpPr>
          <p:cNvPr id="12" name="Text 10"/>
          <p:cNvSpPr/>
          <p:nvPr/>
        </p:nvSpPr>
        <p:spPr>
          <a:xfrm>
            <a:off x="457200" y="4403948"/>
            <a:ext cx="8321040" cy="540000"/>
          </a:xfrm>
          <a:prstGeom prst="rect">
            <a:avLst/>
          </a:prstGeom>
          <a:noFill/>
          <a:ln/>
        </p:spPr>
        <p:txBody>
          <a:bodyPr wrap="square" lIns="0" tIns="0" rIns="127000" bIns="0"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Opis: </a:t>
            </a:r>
            <a:r>
              <a:rPr lang="en-US" sz="1600" dirty="0">
                <a:solidFill>
                  <a:srgbClr val="E2EBF3"/>
                </a:solidFill>
                <a:latin typeface="Calibri" pitchFamily="34" charset="0"/>
                <a:ea typeface="Calibri" pitchFamily="34" charset="-122"/>
                <a:cs typeface="Calibri" pitchFamily="34" charset="-120"/>
              </a:rPr>
              <a:t>Oczyszczanie skanu: progowanie zasięgu i medianowe usuwanie błędnych odbić.</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Detekcja przeszkody z kamery głębi</a:t>
            </a:r>
            <a:endParaRPr lang="en-US" sz="2800" dirty="0"/>
          </a:p>
        </p:txBody>
      </p:sp>
      <p:sp>
        <p:nvSpPr>
          <p:cNvPr id="6" name="Shape 4"/>
          <p:cNvSpPr/>
          <p:nvPr/>
        </p:nvSpPr>
        <p:spPr>
          <a:xfrm>
            <a:off x="274320" y="1005840"/>
            <a:ext cx="8595360" cy="2916936"/>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10" name="Text 8"/>
          <p:cNvSpPr/>
          <p:nvPr/>
        </p:nvSpPr>
        <p:spPr>
          <a:xfrm>
            <a:off x="457200" y="1060704"/>
            <a:ext cx="8321040" cy="2795370"/>
          </a:xfrm>
          <a:prstGeom prst="rect">
            <a:avLst/>
          </a:prstGeom>
          <a:noFill/>
          <a:ln/>
        </p:spPr>
        <p:txBody>
          <a:bodyPr wrap="square" lIns="108000" tIns="0" rIns="127000" bIns="63500" rtlCol="0" anchor="t"/>
          <a:lstStyle/>
          <a:p>
            <a:r>
              <a:rPr lang="pl-PL" sz="1200" dirty="0">
                <a:solidFill>
                  <a:srgbClr val="C586C0"/>
                </a:solidFill>
                <a:latin typeface="Consolas" panose="020B0609020204030204" pitchFamily="49" charset="0"/>
              </a:rPr>
              <a:t>import</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numpy</a:t>
            </a:r>
            <a:r>
              <a:rPr lang="pl-PL" sz="1200" dirty="0">
                <a:solidFill>
                  <a:srgbClr val="CCCCCC"/>
                </a:solidFill>
                <a:latin typeface="Consolas" panose="020B0609020204030204" pitchFamily="49" charset="0"/>
              </a:rPr>
              <a:t> </a:t>
            </a:r>
            <a:r>
              <a:rPr lang="pl-PL" sz="1200" dirty="0">
                <a:solidFill>
                  <a:srgbClr val="C586C0"/>
                </a:solidFill>
                <a:latin typeface="Consolas" panose="020B0609020204030204" pitchFamily="49" charset="0"/>
              </a:rPr>
              <a:t>as</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np</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r>
            <a:br>
              <a:rPr lang="pl-PL" sz="1200" dirty="0">
                <a:solidFill>
                  <a:srgbClr val="CCCCCC"/>
                </a:solidFill>
                <a:latin typeface="Consolas" panose="020B0609020204030204" pitchFamily="49" charset="0"/>
              </a:rPr>
            </a:br>
            <a:r>
              <a:rPr lang="pl-PL" sz="1200" dirty="0">
                <a:solidFill>
                  <a:srgbClr val="569CD6"/>
                </a:solidFill>
                <a:latin typeface="Consolas" panose="020B0609020204030204" pitchFamily="49" charset="0"/>
              </a:rPr>
              <a:t>def</a:t>
            </a:r>
            <a:r>
              <a:rPr lang="pl-PL" sz="1200" dirty="0">
                <a:solidFill>
                  <a:srgbClr val="CCCCCC"/>
                </a:solidFill>
                <a:latin typeface="Consolas" panose="020B0609020204030204" pitchFamily="49" charset="0"/>
              </a:rPr>
              <a:t> </a:t>
            </a:r>
            <a:r>
              <a:rPr lang="pl-PL" sz="1200" dirty="0" err="1">
                <a:solidFill>
                  <a:srgbClr val="DCDCAA"/>
                </a:solidFill>
                <a:latin typeface="Consolas" panose="020B0609020204030204" pitchFamily="49" charset="0"/>
              </a:rPr>
              <a:t>detect_obstacle</a:t>
            </a:r>
            <a:r>
              <a:rPr lang="pl-PL" sz="1200" dirty="0">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depth_image</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CCCCCC"/>
                </a:solidFill>
                <a:latin typeface="Consolas" panose="020B0609020204030204" pitchFamily="49" charset="0"/>
              </a:rPr>
              <a:t>.</a:t>
            </a:r>
            <a:r>
              <a:rPr lang="pl-PL" sz="1200" dirty="0" err="1">
                <a:solidFill>
                  <a:srgbClr val="4EC9B0"/>
                </a:solidFill>
                <a:latin typeface="Consolas" panose="020B0609020204030204" pitchFamily="49" charset="0"/>
              </a:rPr>
              <a:t>ndarray</a:t>
            </a:r>
            <a:r>
              <a:rPr lang="pl-PL" sz="1200" dirty="0">
                <a:solidFill>
                  <a:srgbClr val="CCCCCC"/>
                </a:solidFill>
                <a:latin typeface="Consolas" panose="020B0609020204030204" pitchFamily="49" charset="0"/>
              </a:rPr>
              <a:t>,</a:t>
            </a:r>
          </a:p>
          <a:p>
            <a:r>
              <a:rPr lang="pl-PL" sz="1200" dirty="0">
                <a:solidFill>
                  <a:srgbClr val="9CDCFE"/>
                </a:solidFill>
                <a:latin typeface="Consolas" panose="020B0609020204030204" pitchFamily="49" charset="0"/>
              </a:rPr>
              <a:t> </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roi_top</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int</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100</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roi_bottom</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int</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300</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roi_left</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int</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200</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roi_right</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int</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440</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safety_dist</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float</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0.6</a:t>
            </a:r>
            <a:r>
              <a:rPr lang="pl-PL" sz="1200" dirty="0">
                <a:solidFill>
                  <a:srgbClr val="CCCCCC"/>
                </a:solidFill>
                <a:latin typeface="Consolas" panose="020B0609020204030204" pitchFamily="49" charset="0"/>
              </a:rPr>
              <a:t>) -&gt; </a:t>
            </a:r>
            <a:r>
              <a:rPr lang="pl-PL" sz="1200" dirty="0" err="1">
                <a:solidFill>
                  <a:srgbClr val="4EC9B0"/>
                </a:solidFill>
                <a:latin typeface="Consolas" panose="020B0609020204030204" pitchFamily="49" charset="0"/>
              </a:rPr>
              <a:t>bool</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a:solidFill>
                  <a:srgbClr val="CE9178"/>
                </a:solidFill>
                <a:latin typeface="Consolas" panose="020B0609020204030204" pitchFamily="49" charset="0"/>
              </a:rPr>
              <a:t>"""</a:t>
            </a:r>
            <a:r>
              <a:rPr lang="pl-PL" sz="1200" dirty="0" err="1">
                <a:solidFill>
                  <a:srgbClr val="CE9178"/>
                </a:solidFill>
                <a:latin typeface="Consolas" panose="020B0609020204030204" pitchFamily="49" charset="0"/>
              </a:rPr>
              <a:t>Sprawdz</a:t>
            </a:r>
            <a:r>
              <a:rPr lang="pl-PL" sz="1200" dirty="0">
                <a:solidFill>
                  <a:srgbClr val="CE9178"/>
                </a:solidFill>
                <a:latin typeface="Consolas" panose="020B0609020204030204" pitchFamily="49" charset="0"/>
              </a:rPr>
              <a:t>, czy w obszarze ROI jest przeszkoda </a:t>
            </a:r>
            <a:r>
              <a:rPr lang="pl-PL" sz="1200" dirty="0" err="1">
                <a:solidFill>
                  <a:srgbClr val="CE9178"/>
                </a:solidFill>
                <a:latin typeface="Consolas" panose="020B0609020204030204" pitchFamily="49" charset="0"/>
              </a:rPr>
              <a:t>blizej</a:t>
            </a:r>
            <a:r>
              <a:rPr lang="pl-PL" sz="1200" dirty="0">
                <a:solidFill>
                  <a:srgbClr val="CE9178"/>
                </a:solidFill>
                <a:latin typeface="Consolas" panose="020B0609020204030204" pitchFamily="49" charset="0"/>
              </a:rPr>
              <a:t> </a:t>
            </a:r>
            <a:r>
              <a:rPr lang="pl-PL" sz="1200" dirty="0" err="1">
                <a:solidFill>
                  <a:srgbClr val="CE9178"/>
                </a:solidFill>
                <a:latin typeface="Consolas" panose="020B0609020204030204" pitchFamily="49" charset="0"/>
              </a:rPr>
              <a:t>niz</a:t>
            </a:r>
            <a:r>
              <a:rPr lang="pl-PL" sz="1200" dirty="0">
                <a:solidFill>
                  <a:srgbClr val="CE9178"/>
                </a:solidFill>
                <a:latin typeface="Consolas" panose="020B0609020204030204" pitchFamily="49" charset="0"/>
              </a:rPr>
              <a:t> </a:t>
            </a:r>
            <a:r>
              <a:rPr lang="pl-PL" sz="1200" dirty="0" err="1">
                <a:solidFill>
                  <a:srgbClr val="CE9178"/>
                </a:solidFill>
                <a:latin typeface="Consolas" panose="020B0609020204030204" pitchFamily="49" charset="0"/>
              </a:rPr>
              <a:t>safety_dist</a:t>
            </a:r>
            <a:r>
              <a:rPr lang="pl-PL" sz="1200" dirty="0">
                <a:solidFill>
                  <a:srgbClr val="CE9178"/>
                </a:solidFill>
                <a:latin typeface="Consolas" panose="020B0609020204030204" pitchFamily="49" charset="0"/>
              </a:rPr>
              <a:t> [m]."""</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region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depth_image</a:t>
            </a:r>
            <a:r>
              <a:rPr lang="pl-PL" sz="1200" dirty="0">
                <a:solidFill>
                  <a:srgbClr val="CCCCCC"/>
                </a:solidFill>
                <a:latin typeface="Consolas" panose="020B0609020204030204" pitchFamily="49" charset="0"/>
              </a:rPr>
              <a:t>[</a:t>
            </a:r>
            <a:r>
              <a:rPr lang="pl-PL" sz="1200" dirty="0" err="1">
                <a:solidFill>
                  <a:srgbClr val="CCCCCC"/>
                </a:solidFill>
                <a:latin typeface="Consolas" panose="020B0609020204030204" pitchFamily="49" charset="0"/>
              </a:rPr>
              <a:t>roi_top:roi_bottom</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roi_left:roi_right</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a:solidFill>
                  <a:srgbClr val="6A9955"/>
                </a:solidFill>
                <a:latin typeface="Consolas" panose="020B0609020204030204" pitchFamily="49" charset="0"/>
              </a:rPr>
              <a:t># Pomijamy </a:t>
            </a:r>
            <a:r>
              <a:rPr lang="pl-PL" sz="1200" dirty="0" err="1">
                <a:solidFill>
                  <a:srgbClr val="6A9955"/>
                </a:solidFill>
                <a:latin typeface="Consolas" panose="020B0609020204030204" pitchFamily="49" charset="0"/>
              </a:rPr>
              <a:t>bledne</a:t>
            </a:r>
            <a:r>
              <a:rPr lang="pl-PL" sz="1200" dirty="0">
                <a:solidFill>
                  <a:srgbClr val="6A9955"/>
                </a:solidFill>
                <a:latin typeface="Consolas" panose="020B0609020204030204" pitchFamily="49" charset="0"/>
              </a:rPr>
              <a:t> piksele (0 = brak pomiaru)</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valid</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region[(region </a:t>
            </a:r>
            <a:r>
              <a:rPr lang="pl-PL" sz="1200" dirty="0">
                <a:solidFill>
                  <a:srgbClr val="D4D4D4"/>
                </a:solidFill>
                <a:latin typeface="Consolas" panose="020B0609020204030204" pitchFamily="49" charset="0"/>
              </a:rPr>
              <a:t>&gt;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0</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&amp;</a:t>
            </a:r>
            <a:r>
              <a:rPr lang="pl-PL" sz="1200" dirty="0">
                <a:solidFill>
                  <a:srgbClr val="CCCCCC"/>
                </a:solidFill>
                <a:latin typeface="Consolas" panose="020B0609020204030204" pitchFamily="49" charset="0"/>
              </a:rPr>
              <a:t> (region </a:t>
            </a:r>
            <a:r>
              <a:rPr lang="pl-PL" sz="1200" dirty="0">
                <a:solidFill>
                  <a:srgbClr val="D4D4D4"/>
                </a:solidFill>
                <a:latin typeface="Consolas" panose="020B0609020204030204" pitchFamily="49" charset="0"/>
              </a:rPr>
              <a:t>&lt;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8000</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err="1">
                <a:solidFill>
                  <a:srgbClr val="C586C0"/>
                </a:solidFill>
                <a:latin typeface="Consolas" panose="020B0609020204030204" pitchFamily="49" charset="0"/>
              </a:rPr>
              <a:t>if</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valid.size</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0</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CCCCCC"/>
                </a:solidFill>
                <a:latin typeface="Consolas" panose="020B0609020204030204" pitchFamily="49" charset="0"/>
              </a:rPr>
              <a:t> </a:t>
            </a:r>
            <a:r>
              <a:rPr lang="pl-PL" sz="1200" dirty="0" err="1">
                <a:solidFill>
                  <a:srgbClr val="569CD6"/>
                </a:solidFill>
                <a:latin typeface="Consolas" panose="020B0609020204030204" pitchFamily="49" charset="0"/>
              </a:rPr>
              <a:t>False</a:t>
            </a:r>
            <a:r>
              <a:rPr lang="pl-PL" sz="1200" dirty="0">
                <a:solidFill>
                  <a:srgbClr val="CCCCCC"/>
                </a:solidFill>
                <a:latin typeface="Consolas" panose="020B0609020204030204" pitchFamily="49" charset="0"/>
              </a:rPr>
              <a:t>  </a:t>
            </a:r>
            <a:r>
              <a:rPr lang="pl-PL" sz="1200" dirty="0">
                <a:solidFill>
                  <a:srgbClr val="6A9955"/>
                </a:solidFill>
                <a:latin typeface="Consolas" panose="020B0609020204030204" pitchFamily="49" charset="0"/>
              </a:rPr>
              <a:t># Brak danych – brak kolizji</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min_depth_m</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valid.min</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1000.0</a:t>
            </a:r>
            <a:r>
              <a:rPr lang="pl-PL" sz="1200" dirty="0">
                <a:solidFill>
                  <a:srgbClr val="CCCCCC"/>
                </a:solidFill>
                <a:latin typeface="Consolas" panose="020B0609020204030204" pitchFamily="49" charset="0"/>
              </a:rPr>
              <a:t>  </a:t>
            </a:r>
            <a:r>
              <a:rPr lang="pl-PL" sz="1200" dirty="0">
                <a:solidFill>
                  <a:srgbClr val="6A9955"/>
                </a:solidFill>
                <a:latin typeface="Consolas" panose="020B0609020204030204" pitchFamily="49" charset="0"/>
              </a:rPr>
              <a:t># mm -&gt; m</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collision_alarm</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min_depth_m</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&lt;</a:t>
            </a:r>
            <a:r>
              <a:rPr lang="pl-PL" sz="1200" dirty="0">
                <a:solidFill>
                  <a:srgbClr val="CCCCCC"/>
                </a:solidFill>
                <a:latin typeface="Consolas" panose="020B0609020204030204" pitchFamily="49" charset="0"/>
              </a:rPr>
              <a:t> </a:t>
            </a:r>
            <a:r>
              <a:rPr lang="pl-PL" sz="1200" dirty="0" err="1">
                <a:solidFill>
                  <a:srgbClr val="CCCCCC"/>
                </a:solidFill>
                <a:latin typeface="Consolas" panose="020B0609020204030204" pitchFamily="49" charset="0"/>
              </a:rPr>
              <a:t>safety_dist</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CCCCCC"/>
                </a:solidFill>
                <a:latin typeface="Consolas" panose="020B0609020204030204" pitchFamily="49" charset="0"/>
              </a:rPr>
              <a:t> </a:t>
            </a:r>
            <a:r>
              <a:rPr lang="pl-PL" sz="1200" dirty="0" err="1" smtClean="0">
                <a:solidFill>
                  <a:srgbClr val="CCCCCC"/>
                </a:solidFill>
                <a:latin typeface="Consolas" panose="020B0609020204030204" pitchFamily="49" charset="0"/>
              </a:rPr>
              <a:t>collision_alarm</a:t>
            </a:r>
            <a:endParaRPr lang="pl-PL" sz="1200" dirty="0">
              <a:solidFill>
                <a:srgbClr val="CCCCCC"/>
              </a:solidFill>
              <a:latin typeface="Consolas" panose="020B0609020204030204" pitchFamily="49" charset="0"/>
            </a:endParaRPr>
          </a:p>
        </p:txBody>
      </p:sp>
      <p:sp>
        <p:nvSpPr>
          <p:cNvPr id="11" name="Shape 9"/>
          <p:cNvSpPr/>
          <p:nvPr/>
        </p:nvSpPr>
        <p:spPr>
          <a:xfrm>
            <a:off x="274320" y="4393308"/>
            <a:ext cx="8595360" cy="544451"/>
          </a:xfrm>
          <a:prstGeom prst="rect">
            <a:avLst/>
          </a:prstGeom>
          <a:solidFill>
            <a:srgbClr val="1A3550"/>
          </a:solidFill>
          <a:ln w="12700">
            <a:solidFill>
              <a:srgbClr val="0077A8"/>
            </a:solidFill>
            <a:prstDash val="solid"/>
          </a:ln>
        </p:spPr>
      </p:sp>
      <p:sp>
        <p:nvSpPr>
          <p:cNvPr id="12" name="Text 10"/>
          <p:cNvSpPr/>
          <p:nvPr/>
        </p:nvSpPr>
        <p:spPr>
          <a:xfrm>
            <a:off x="457200" y="4393308"/>
            <a:ext cx="8321040" cy="540000"/>
          </a:xfrm>
          <a:prstGeom prst="rect">
            <a:avLst/>
          </a:prstGeom>
          <a:noFill/>
          <a:ln/>
        </p:spPr>
        <p:txBody>
          <a:bodyPr wrap="square" lIns="0" tIns="0" rIns="127000" bIns="0"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Opis: </a:t>
            </a:r>
            <a:r>
              <a:rPr lang="en-US" sz="1600" dirty="0">
                <a:solidFill>
                  <a:srgbClr val="E2EBF3"/>
                </a:solidFill>
                <a:latin typeface="Calibri" pitchFamily="34" charset="0"/>
                <a:ea typeface="Calibri" pitchFamily="34" charset="-122"/>
                <a:cs typeface="Calibri" pitchFamily="34" charset="-120"/>
              </a:rPr>
              <a:t>ROI to centralny kadr obrazu głębi; wartości w mm konwertowane na metry.</a:t>
            </a:r>
            <a:endParaRPr lang="en-US" sz="1600" dirty="0"/>
          </a:p>
        </p:txBody>
      </p:sp>
      <p:sp>
        <p:nvSpPr>
          <p:cNvPr id="13" name="Shape 5"/>
          <p:cNvSpPr/>
          <p:nvPr/>
        </p:nvSpPr>
        <p:spPr>
          <a:xfrm>
            <a:off x="8119872" y="1115568"/>
            <a:ext cx="146304" cy="146304"/>
          </a:xfrm>
          <a:prstGeom prst="ellipse">
            <a:avLst/>
          </a:prstGeom>
          <a:solidFill>
            <a:srgbClr val="F72585"/>
          </a:solidFill>
          <a:ln w="12700">
            <a:solidFill>
              <a:srgbClr val="F72585"/>
            </a:solidFill>
            <a:prstDash val="solid"/>
          </a:ln>
        </p:spPr>
      </p:sp>
      <p:sp>
        <p:nvSpPr>
          <p:cNvPr id="14" name="Shape 6"/>
          <p:cNvSpPr/>
          <p:nvPr/>
        </p:nvSpPr>
        <p:spPr>
          <a:xfrm>
            <a:off x="8375904" y="1115568"/>
            <a:ext cx="146304" cy="146304"/>
          </a:xfrm>
          <a:prstGeom prst="ellipse">
            <a:avLst/>
          </a:prstGeom>
          <a:solidFill>
            <a:srgbClr val="FFD60A"/>
          </a:solidFill>
          <a:ln w="12700">
            <a:solidFill>
              <a:srgbClr val="FFD60A"/>
            </a:solidFill>
            <a:prstDash val="solid"/>
          </a:ln>
        </p:spPr>
      </p:sp>
      <p:sp>
        <p:nvSpPr>
          <p:cNvPr id="15" name="Shape 7"/>
          <p:cNvSpPr/>
          <p:nvPr/>
        </p:nvSpPr>
        <p:spPr>
          <a:xfrm>
            <a:off x="8631936" y="1115568"/>
            <a:ext cx="146304" cy="146304"/>
          </a:xfrm>
          <a:prstGeom prst="ellipse">
            <a:avLst/>
          </a:prstGeom>
          <a:solidFill>
            <a:srgbClr val="C3F584"/>
          </a:solidFill>
          <a:ln w="12700">
            <a:solidFill>
              <a:srgbClr val="C3F584"/>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SYNCHRONIZACJA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Synchronizacja czasowa sensorów</a:t>
            </a:r>
            <a:endParaRPr lang="en-US" sz="2800" dirty="0"/>
          </a:p>
        </p:txBody>
      </p:sp>
      <p:sp>
        <p:nvSpPr>
          <p:cNvPr id="6" name="Shape 4"/>
          <p:cNvSpPr/>
          <p:nvPr/>
        </p:nvSpPr>
        <p:spPr>
          <a:xfrm>
            <a:off x="274320" y="1097280"/>
            <a:ext cx="8595360" cy="28575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059180"/>
            <a:ext cx="8339470" cy="2796540"/>
          </a:xfrm>
          <a:prstGeom prst="rect">
            <a:avLst/>
          </a:prstGeom>
          <a:noFill/>
          <a:ln/>
        </p:spPr>
        <p:txBody>
          <a:bodyPr wrap="square" lIns="127000" tIns="127000" rIns="127000" bIns="127000" rtlCol="0" anchor="t"/>
          <a:lstStyle/>
          <a:p>
            <a:pPr marL="342900" indent="-342900">
              <a:spcAft>
                <a:spcPts val="1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Problem</a:t>
            </a:r>
            <a:r>
              <a:rPr lang="en-US" sz="1600" dirty="0">
                <a:solidFill>
                  <a:srgbClr val="0D1B2A"/>
                </a:solidFill>
                <a:latin typeface="Calibri" pitchFamily="34" charset="0"/>
                <a:ea typeface="Calibri" pitchFamily="34" charset="-122"/>
                <a:cs typeface="Calibri" pitchFamily="34" charset="-120"/>
              </a:rPr>
              <a:t>: IMU działa z f = 200 Hz, kamera 30 Hz, LiDAR 10 Hz – różne timestampy</a:t>
            </a:r>
            <a:endParaRPr lang="en-US" sz="1600" dirty="0"/>
          </a:p>
          <a:p>
            <a:pPr marL="342900" indent="-342900">
              <a:spcAft>
                <a:spcPts val="1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Każdy sensor powinien dołączać znacznik czasu </a:t>
            </a:r>
            <a:r>
              <a:rPr lang="en-US" sz="1600" dirty="0">
                <a:solidFill>
                  <a:srgbClr val="0D1B2A"/>
                </a:solidFill>
                <a:latin typeface="Calibri" pitchFamily="34" charset="0"/>
                <a:ea typeface="Calibri" pitchFamily="34" charset="-122"/>
                <a:cs typeface="Calibri" pitchFamily="34" charset="-120"/>
              </a:rPr>
              <a:t>(</a:t>
            </a:r>
            <a:r>
              <a:rPr lang="en-US" sz="1600" dirty="0">
                <a:solidFill>
                  <a:srgbClr val="FF0000"/>
                </a:solidFill>
                <a:latin typeface="Calibri" pitchFamily="34" charset="0"/>
                <a:ea typeface="Calibri" pitchFamily="34" charset="-122"/>
                <a:cs typeface="Calibri" pitchFamily="34" charset="-120"/>
              </a:rPr>
              <a:t>ROS: Header.stamp</a:t>
            </a:r>
            <a:r>
              <a:rPr lang="en-US" sz="1600" dirty="0">
                <a:solidFill>
                  <a:srgbClr val="0D1B2A"/>
                </a:solidFill>
                <a:latin typeface="Calibri" pitchFamily="34" charset="0"/>
                <a:ea typeface="Calibri" pitchFamily="34" charset="-122"/>
                <a:cs typeface="Calibri" pitchFamily="34" charset="-120"/>
              </a:rPr>
              <a:t>) przy akwizycji</a:t>
            </a:r>
            <a:endParaRPr lang="en-US" sz="1600" dirty="0"/>
          </a:p>
          <a:p>
            <a:pPr marL="342900" indent="-342900">
              <a:spcAft>
                <a:spcPts val="1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Buforowanie wiadomości</a:t>
            </a:r>
            <a:r>
              <a:rPr lang="en-US" sz="1600" dirty="0">
                <a:solidFill>
                  <a:srgbClr val="0D1B2A"/>
                </a:solidFill>
                <a:latin typeface="Calibri" pitchFamily="34" charset="0"/>
                <a:ea typeface="Calibri" pitchFamily="34" charset="-122"/>
                <a:cs typeface="Calibri" pitchFamily="34" charset="-120"/>
              </a:rPr>
              <a:t>: kolejka FIFO z timestampami dla każdego sensora</a:t>
            </a:r>
            <a:endParaRPr lang="en-US" sz="1600" dirty="0"/>
          </a:p>
          <a:p>
            <a:pPr marL="342900" indent="-342900">
              <a:spcAft>
                <a:spcPts val="1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Interpolacja liniowa</a:t>
            </a:r>
            <a:r>
              <a:rPr lang="en-US" sz="1600" dirty="0">
                <a:solidFill>
                  <a:srgbClr val="0D1B2A"/>
                </a:solidFill>
                <a:latin typeface="Calibri" pitchFamily="34" charset="0"/>
                <a:ea typeface="Calibri" pitchFamily="34" charset="-122"/>
                <a:cs typeface="Calibri" pitchFamily="34" charset="-120"/>
              </a:rPr>
              <a:t>: wyznaczenie stanu sensora A w chwili pomiaru sensora B</a:t>
            </a:r>
            <a:endParaRPr lang="en-US" sz="1600" dirty="0"/>
          </a:p>
          <a:p>
            <a:pPr marL="342900" indent="-342900">
              <a:spcAft>
                <a:spcPts val="1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Synchronizator aproksymacyjny </a:t>
            </a:r>
            <a:r>
              <a:rPr lang="en-US" sz="1600" dirty="0">
                <a:solidFill>
                  <a:srgbClr val="0D1B2A"/>
                </a:solidFill>
                <a:latin typeface="Calibri" pitchFamily="34" charset="0"/>
                <a:ea typeface="Calibri" pitchFamily="34" charset="-122"/>
                <a:cs typeface="Calibri" pitchFamily="34" charset="-120"/>
              </a:rPr>
              <a:t>(</a:t>
            </a:r>
            <a:r>
              <a:rPr lang="en-US" sz="1600" dirty="0">
                <a:solidFill>
                  <a:srgbClr val="FF0000"/>
                </a:solidFill>
                <a:latin typeface="Calibri" pitchFamily="34" charset="0"/>
                <a:ea typeface="Calibri" pitchFamily="34" charset="-122"/>
                <a:cs typeface="Calibri" pitchFamily="34" charset="-120"/>
              </a:rPr>
              <a:t>ROS: message_filters</a:t>
            </a:r>
            <a:r>
              <a:rPr lang="en-US" sz="1600" dirty="0">
                <a:solidFill>
                  <a:srgbClr val="0D1B2A"/>
                </a:solidFill>
                <a:latin typeface="Calibri" pitchFamily="34" charset="0"/>
                <a:ea typeface="Calibri" pitchFamily="34" charset="-122"/>
                <a:cs typeface="Calibri" pitchFamily="34" charset="-120"/>
              </a:rPr>
              <a:t>): dobór pomiarów w oknie czasowym</a:t>
            </a:r>
            <a:endParaRPr lang="en-US" sz="1600" dirty="0"/>
          </a:p>
          <a:p>
            <a:pPr marL="342900" indent="-342900">
              <a:spcAft>
                <a:spcPts val="1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Efekt braku synchronizacji</a:t>
            </a:r>
            <a:r>
              <a:rPr lang="en-US" sz="1600" dirty="0">
                <a:solidFill>
                  <a:srgbClr val="0D1B2A"/>
                </a:solidFill>
                <a:latin typeface="Calibri" pitchFamily="34" charset="0"/>
                <a:ea typeface="Calibri" pitchFamily="34" charset="-122"/>
                <a:cs typeface="Calibri" pitchFamily="34" charset="-120"/>
              </a:rPr>
              <a:t>: błędy fuzji i duchy przeszkód w chmurze punktów</a:t>
            </a:r>
            <a:endParaRPr lang="en-US" sz="1600" dirty="0"/>
          </a:p>
        </p:txBody>
      </p:sp>
      <p:sp>
        <p:nvSpPr>
          <p:cNvPr id="8" name="Prostokąt 7"/>
          <p:cNvSpPr/>
          <p:nvPr/>
        </p:nvSpPr>
        <p:spPr>
          <a:xfrm>
            <a:off x="274320" y="4114800"/>
            <a:ext cx="8595360" cy="992516"/>
          </a:xfrm>
          <a:prstGeom prst="rect">
            <a:avLst/>
          </a:prstGeom>
          <a:solidFill>
            <a:srgbClr val="0D1B2A"/>
          </a:solidFill>
        </p:spPr>
        <p:txBody>
          <a:bodyPr wrap="square">
            <a:spAutoFit/>
          </a:bodyPr>
          <a:lstStyle/>
          <a:p>
            <a:pPr algn="just">
              <a:lnSpc>
                <a:spcPts val="1400"/>
              </a:lnSpc>
            </a:pPr>
            <a:r>
              <a:rPr lang="pl-PL" sz="1400" spc="-40" dirty="0">
                <a:solidFill>
                  <a:schemeClr val="bg1"/>
                </a:solidFill>
              </a:rPr>
              <a:t>Bardzo ważna jest synchronizacja czasowa sensorów. IMU może pracować z częstotliwością 200 herców, kamera z 30, a </a:t>
            </a:r>
            <a:r>
              <a:rPr lang="pl-PL" sz="1400" spc="-40" dirty="0" err="1">
                <a:solidFill>
                  <a:schemeClr val="bg1"/>
                </a:solidFill>
              </a:rPr>
              <a:t>LiDAR</a:t>
            </a:r>
            <a:r>
              <a:rPr lang="pl-PL" sz="1400" spc="-40" dirty="0">
                <a:solidFill>
                  <a:schemeClr val="bg1"/>
                </a:solidFill>
              </a:rPr>
              <a:t> z 10, więc jeśli nie będziemy pilnować znaczników czasu, to zaczniemy łączyć pomiary pochodzące z różnych chwil. </a:t>
            </a:r>
            <a:r>
              <a:rPr lang="pl-PL" sz="1400" spc="-40" dirty="0" smtClean="0">
                <a:solidFill>
                  <a:schemeClr val="bg1"/>
                </a:solidFill>
              </a:rPr>
              <a:t/>
            </a:r>
            <a:br>
              <a:rPr lang="pl-PL" sz="1400" spc="-40" dirty="0" smtClean="0">
                <a:solidFill>
                  <a:schemeClr val="bg1"/>
                </a:solidFill>
              </a:rPr>
            </a:br>
            <a:r>
              <a:rPr lang="pl-PL" sz="1400" spc="-40" dirty="0" smtClean="0">
                <a:solidFill>
                  <a:schemeClr val="bg1"/>
                </a:solidFill>
              </a:rPr>
              <a:t>W </a:t>
            </a:r>
            <a:r>
              <a:rPr lang="pl-PL" sz="1400" spc="-40" dirty="0">
                <a:solidFill>
                  <a:schemeClr val="bg1"/>
                </a:solidFill>
              </a:rPr>
              <a:t>praktyce każdy sensor powinien publikować </a:t>
            </a:r>
            <a:r>
              <a:rPr lang="pl-PL" sz="1400" spc="-40" dirty="0" err="1">
                <a:solidFill>
                  <a:schemeClr val="bg1"/>
                </a:solidFill>
              </a:rPr>
              <a:t>timestamp</a:t>
            </a:r>
            <a:r>
              <a:rPr lang="pl-PL" sz="1400" spc="-40" dirty="0">
                <a:solidFill>
                  <a:schemeClr val="bg1"/>
                </a:solidFill>
              </a:rPr>
              <a:t> przy akwizycji, dane powinny być buforowane, a brakujące chwile odtwarzane przez interpolację albo synchronizację aproksymacyjną. Bez tego w fuzji pojawią się błędy, a w chmurach punktów mogą powstawać tak zwane duchy przeszkód.</a:t>
            </a:r>
            <a:endParaRPr lang="en-US" sz="1400" spc="-40" dirty="0">
              <a:solidFill>
                <a:schemeClr val="bg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355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B4D8"/>
          </a:solidFill>
          <a:ln w="12700">
            <a:solidFill>
              <a:srgbClr val="00B4D8"/>
            </a:solidFill>
            <a:prstDash val="solid"/>
          </a:ln>
        </p:spPr>
      </p:sp>
      <p:sp>
        <p:nvSpPr>
          <p:cNvPr id="3" name="Shape 1"/>
          <p:cNvSpPr/>
          <p:nvPr/>
        </p:nvSpPr>
        <p:spPr>
          <a:xfrm>
            <a:off x="0" y="5052060"/>
            <a:ext cx="9144000" cy="91440"/>
          </a:xfrm>
          <a:prstGeom prst="rect">
            <a:avLst/>
          </a:prstGeom>
          <a:solidFill>
            <a:srgbClr val="0077A8"/>
          </a:solidFill>
          <a:ln w="12700">
            <a:solidFill>
              <a:srgbClr val="0077A8"/>
            </a:solidFill>
            <a:prstDash val="solid"/>
          </a:ln>
        </p:spPr>
      </p:sp>
      <p:sp>
        <p:nvSpPr>
          <p:cNvPr id="4" name="Text 2"/>
          <p:cNvSpPr/>
          <p:nvPr/>
        </p:nvSpPr>
        <p:spPr>
          <a:xfrm>
            <a:off x="457200" y="640080"/>
            <a:ext cx="2286000" cy="2286000"/>
          </a:xfrm>
          <a:prstGeom prst="rect">
            <a:avLst/>
          </a:prstGeom>
          <a:noFill/>
          <a:ln/>
          <a:effectLst>
            <a:outerShdw blurRad="50800" dist="38100" dir="2700000" algn="tl" rotWithShape="0">
              <a:prstClr val="black">
                <a:alpha val="40000"/>
              </a:prstClr>
            </a:outerShdw>
          </a:effectLst>
        </p:spPr>
        <p:txBody>
          <a:bodyPr wrap="square" lIns="0" tIns="0" rIns="0" bIns="0" rtlCol="0" anchor="ctr"/>
          <a:lstStyle/>
          <a:p>
            <a:pPr marL="0" indent="0" algn="ctr">
              <a:buNone/>
            </a:pPr>
            <a:r>
              <a:rPr lang="en-US" sz="12000" b="1" dirty="0">
                <a:solidFill>
                  <a:srgbClr val="00B4D8">
                    <a:alpha val="80000"/>
                  </a:srgbClr>
                </a:solidFill>
                <a:latin typeface="Trebuchet MS" pitchFamily="34" charset="0"/>
                <a:ea typeface="Trebuchet MS" pitchFamily="34" charset="-122"/>
                <a:cs typeface="Trebuchet MS" pitchFamily="34" charset="-120"/>
              </a:rPr>
              <a:t>03</a:t>
            </a:r>
            <a:endParaRPr lang="en-US" sz="12000" dirty="0"/>
          </a:p>
        </p:txBody>
      </p:sp>
      <p:sp>
        <p:nvSpPr>
          <p:cNvPr id="5" name="Shape 3"/>
          <p:cNvSpPr/>
          <p:nvPr/>
        </p:nvSpPr>
        <p:spPr>
          <a:xfrm>
            <a:off x="7132320" y="1371600"/>
            <a:ext cx="1645920" cy="1645920"/>
          </a:xfrm>
          <a:prstGeom prst="ellipse">
            <a:avLst/>
          </a:prstGeom>
          <a:solidFill>
            <a:schemeClr val="bg1"/>
          </a:solidFill>
          <a:ln w="57150">
            <a:solidFill>
              <a:srgbClr val="00B4D8"/>
            </a:solidFill>
            <a:prstDash val="solid"/>
          </a:ln>
          <a:effectLst>
            <a:outerShdw blurRad="50800" dist="38100" dir="2700000" algn="tl" rotWithShape="0">
              <a:prstClr val="black">
                <a:alpha val="40000"/>
              </a:prstClr>
            </a:outerShdw>
          </a:effectLst>
        </p:spPr>
      </p:sp>
      <p:pic>
        <p:nvPicPr>
          <p:cNvPr id="6" name="Image 0" descr="preencoded.png"/>
          <p:cNvPicPr>
            <a:picLocks noChangeAspect="1"/>
          </p:cNvPicPr>
          <p:nvPr/>
        </p:nvPicPr>
        <p:blipFill>
          <a:blip r:embed="rId3"/>
          <a:stretch>
            <a:fillRect/>
          </a:stretch>
        </p:blipFill>
        <p:spPr>
          <a:xfrm>
            <a:off x="7406640" y="1645920"/>
            <a:ext cx="1097280" cy="1097280"/>
          </a:xfrm>
          <a:prstGeom prst="rect">
            <a:avLst/>
          </a:prstGeom>
        </p:spPr>
      </p:pic>
      <p:sp>
        <p:nvSpPr>
          <p:cNvPr id="7" name="Text 4"/>
          <p:cNvSpPr/>
          <p:nvPr/>
        </p:nvSpPr>
        <p:spPr>
          <a:xfrm>
            <a:off x="2926080" y="1188720"/>
            <a:ext cx="3931920" cy="365760"/>
          </a:xfrm>
          <a:prstGeom prst="rect">
            <a:avLst/>
          </a:prstGeom>
          <a:noFill/>
          <a:ln/>
        </p:spPr>
        <p:txBody>
          <a:bodyPr wrap="square" lIns="0" tIns="0" rIns="0" bIns="0" rtlCol="0" anchor="ctr"/>
          <a:lstStyle/>
          <a:p>
            <a:pPr marL="0" indent="0">
              <a:buNone/>
            </a:pPr>
            <a:r>
              <a:rPr lang="en-US" sz="1200" b="1" kern="0" spc="400" dirty="0">
                <a:solidFill>
                  <a:srgbClr val="00B4D8"/>
                </a:solidFill>
                <a:latin typeface="Trebuchet MS" pitchFamily="34" charset="0"/>
                <a:ea typeface="Trebuchet MS" pitchFamily="34" charset="-122"/>
                <a:cs typeface="Trebuchet MS" pitchFamily="34" charset="-120"/>
              </a:rPr>
              <a:t>SEKCJA</a:t>
            </a:r>
            <a:endParaRPr lang="en-US" sz="1200" dirty="0"/>
          </a:p>
        </p:txBody>
      </p:sp>
      <p:sp>
        <p:nvSpPr>
          <p:cNvPr id="8" name="Text 5"/>
          <p:cNvSpPr/>
          <p:nvPr/>
        </p:nvSpPr>
        <p:spPr>
          <a:xfrm>
            <a:off x="2926080" y="1600200"/>
            <a:ext cx="4077970" cy="914400"/>
          </a:xfrm>
          <a:prstGeom prst="rect">
            <a:avLst/>
          </a:prstGeom>
          <a:noFill/>
          <a:ln/>
        </p:spPr>
        <p:txBody>
          <a:bodyPr wrap="square" lIns="0" tIns="0" rIns="0" bIns="0" rtlCol="0" anchor="ctr"/>
          <a:lstStyle/>
          <a:p>
            <a:pPr marL="0" indent="0">
              <a:buNone/>
            </a:pPr>
            <a:r>
              <a:rPr lang="en-US" sz="2800" b="1" dirty="0" err="1">
                <a:solidFill>
                  <a:srgbClr val="FFFFFF"/>
                </a:solidFill>
                <a:latin typeface="Trebuchet MS" pitchFamily="34" charset="0"/>
                <a:ea typeface="Trebuchet MS" pitchFamily="34" charset="-122"/>
                <a:cs typeface="Trebuchet MS" pitchFamily="34" charset="-120"/>
              </a:rPr>
              <a:t>Reprezentacja</a:t>
            </a:r>
            <a:r>
              <a:rPr lang="en-US" sz="2800" b="1" dirty="0">
                <a:solidFill>
                  <a:srgbClr val="FFFFFF"/>
                </a:solidFill>
                <a:latin typeface="Trebuchet MS" pitchFamily="34" charset="0"/>
                <a:ea typeface="Trebuchet MS" pitchFamily="34" charset="-122"/>
                <a:cs typeface="Trebuchet MS" pitchFamily="34" charset="-120"/>
              </a:rPr>
              <a:t> </a:t>
            </a:r>
            <a:r>
              <a:rPr lang="en-US" sz="2800" b="1" dirty="0" err="1" smtClean="0">
                <a:solidFill>
                  <a:srgbClr val="FFFFFF"/>
                </a:solidFill>
                <a:latin typeface="Trebuchet MS" pitchFamily="34" charset="0"/>
                <a:ea typeface="Trebuchet MS" pitchFamily="34" charset="-122"/>
                <a:cs typeface="Trebuchet MS" pitchFamily="34" charset="-120"/>
              </a:rPr>
              <a:t>środowiska</a:t>
            </a:r>
            <a:r>
              <a:rPr lang="pl-PL" sz="2800" b="1" dirty="0" smtClean="0">
                <a:solidFill>
                  <a:srgbClr val="FFFFFF"/>
                </a:solidFill>
                <a:latin typeface="Trebuchet MS" pitchFamily="34" charset="0"/>
                <a:ea typeface="Trebuchet MS" pitchFamily="34" charset="-122"/>
                <a:cs typeface="Trebuchet MS" pitchFamily="34" charset="-120"/>
              </a:rPr>
              <a:t> </a:t>
            </a:r>
            <a:r>
              <a:rPr lang="en-US" sz="2800" b="1" dirty="0" err="1" smtClean="0">
                <a:solidFill>
                  <a:srgbClr val="FFFFFF"/>
                </a:solidFill>
                <a:latin typeface="Trebuchet MS" pitchFamily="34" charset="0"/>
                <a:ea typeface="Trebuchet MS" pitchFamily="34" charset="-122"/>
                <a:cs typeface="Trebuchet MS" pitchFamily="34" charset="-120"/>
              </a:rPr>
              <a:t>i</a:t>
            </a:r>
            <a:r>
              <a:rPr lang="en-US" sz="2800" b="1" dirty="0" smtClean="0">
                <a:solidFill>
                  <a:srgbClr val="FFFFFF"/>
                </a:solidFill>
                <a:latin typeface="Trebuchet MS" pitchFamily="34" charset="0"/>
                <a:ea typeface="Trebuchet MS" pitchFamily="34" charset="-122"/>
                <a:cs typeface="Trebuchet MS" pitchFamily="34" charset="-120"/>
              </a:rPr>
              <a:t> </a:t>
            </a:r>
            <a:r>
              <a:rPr lang="en-US" sz="2800" b="1" dirty="0">
                <a:solidFill>
                  <a:srgbClr val="FFFFFF"/>
                </a:solidFill>
                <a:latin typeface="Trebuchet MS" pitchFamily="34" charset="0"/>
                <a:ea typeface="Trebuchet MS" pitchFamily="34" charset="-122"/>
                <a:cs typeface="Trebuchet MS" pitchFamily="34" charset="-120"/>
              </a:rPr>
              <a:t>mapowanie</a:t>
            </a:r>
            <a:endParaRPr lang="en-US" sz="2800" dirty="0"/>
          </a:p>
        </p:txBody>
      </p:sp>
      <p:sp>
        <p:nvSpPr>
          <p:cNvPr id="9" name="Shape 6"/>
          <p:cNvSpPr/>
          <p:nvPr/>
        </p:nvSpPr>
        <p:spPr>
          <a:xfrm>
            <a:off x="2926080" y="2606040"/>
            <a:ext cx="3931920" cy="27432"/>
          </a:xfrm>
          <a:prstGeom prst="rect">
            <a:avLst/>
          </a:prstGeom>
          <a:solidFill>
            <a:srgbClr val="00B4D8"/>
          </a:solidFill>
          <a:ln w="12700">
            <a:solidFill>
              <a:srgbClr val="00B4D8"/>
            </a:solidFill>
            <a:prstDash val="solid"/>
          </a:ln>
          <a:effectLst>
            <a:outerShdw blurRad="50800" dist="38100" dir="2700000" algn="tl" rotWithShape="0">
              <a:prstClr val="black">
                <a:alpha val="40000"/>
              </a:prstClr>
            </a:outerShdw>
          </a:effectLst>
        </p:spPr>
      </p:sp>
      <p:sp>
        <p:nvSpPr>
          <p:cNvPr id="10" name="Text 7"/>
          <p:cNvSpPr/>
          <p:nvPr/>
        </p:nvSpPr>
        <p:spPr>
          <a:xfrm>
            <a:off x="2926080" y="2743200"/>
            <a:ext cx="3931920" cy="510540"/>
          </a:xfrm>
          <a:prstGeom prst="rect">
            <a:avLst/>
          </a:prstGeom>
          <a:noFill/>
          <a:ln/>
        </p:spPr>
        <p:txBody>
          <a:bodyPr wrap="square" lIns="0" tIns="0" rIns="0" bIns="0" rtlCol="0" anchor="ctr"/>
          <a:lstStyle/>
          <a:p>
            <a:pPr marL="0" indent="0">
              <a:buNone/>
            </a:pPr>
            <a:r>
              <a:rPr lang="en-US" sz="1400" i="1" dirty="0">
                <a:solidFill>
                  <a:srgbClr val="E2EBF3"/>
                </a:solidFill>
                <a:latin typeface="Calibri" pitchFamily="34" charset="0"/>
                <a:ea typeface="Calibri" pitchFamily="34" charset="-122"/>
                <a:cs typeface="Calibri" pitchFamily="34" charset="-120"/>
              </a:rPr>
              <a:t>Typy map, mapa 2D kontra 3D, koszt przejścia, mapowanie lokalne i globalne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REPREZENTACJE</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Reprezentacje map środowiska</a:t>
            </a:r>
            <a:endParaRPr lang="en-US" sz="2800" dirty="0"/>
          </a:p>
        </p:txBody>
      </p:sp>
      <p:grpSp>
        <p:nvGrpSpPr>
          <p:cNvPr id="31" name="Grupa 30"/>
          <p:cNvGrpSpPr/>
          <p:nvPr/>
        </p:nvGrpSpPr>
        <p:grpSpPr>
          <a:xfrm>
            <a:off x="228600" y="1143000"/>
            <a:ext cx="8763000" cy="2903220"/>
            <a:chOff x="274320" y="1143000"/>
            <a:chExt cx="8412480" cy="2903220"/>
          </a:xfrm>
        </p:grpSpPr>
        <p:sp>
          <p:nvSpPr>
            <p:cNvPr id="6" name="Shape 4"/>
            <p:cNvSpPr/>
            <p:nvPr/>
          </p:nvSpPr>
          <p:spPr>
            <a:xfrm>
              <a:off x="274320" y="1143000"/>
              <a:ext cx="2651760" cy="137922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2651760" cy="54864"/>
            </a:xfrm>
            <a:prstGeom prst="rect">
              <a:avLst/>
            </a:prstGeom>
            <a:solidFill>
              <a:srgbClr val="00B4D8"/>
            </a:solidFill>
            <a:ln w="12700">
              <a:solidFill>
                <a:srgbClr val="00B4D8"/>
              </a:solidFill>
              <a:prstDash val="solid"/>
            </a:ln>
          </p:spPr>
        </p:sp>
        <p:sp>
          <p:nvSpPr>
            <p:cNvPr id="8" name="Text 6"/>
            <p:cNvSpPr/>
            <p:nvPr/>
          </p:nvSpPr>
          <p:spPr>
            <a:xfrm>
              <a:off x="384048" y="1234441"/>
              <a:ext cx="2432304" cy="31597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Occupancy Grid</a:t>
              </a:r>
              <a:endParaRPr lang="en-US" sz="2000" dirty="0"/>
            </a:p>
          </p:txBody>
        </p:sp>
        <p:sp>
          <p:nvSpPr>
            <p:cNvPr id="9" name="Text 7"/>
            <p:cNvSpPr/>
            <p:nvPr/>
          </p:nvSpPr>
          <p:spPr>
            <a:xfrm>
              <a:off x="384048" y="1819657"/>
              <a:ext cx="2432304" cy="473964"/>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Siatka 2D/3D komórek: zajęte/wolne/nieznane; prostota, wysoka pamięć</a:t>
              </a:r>
              <a:endParaRPr lang="en-US" sz="1400" dirty="0"/>
            </a:p>
          </p:txBody>
        </p:sp>
        <p:sp>
          <p:nvSpPr>
            <p:cNvPr id="10" name="Shape 8"/>
            <p:cNvSpPr/>
            <p:nvPr/>
          </p:nvSpPr>
          <p:spPr>
            <a:xfrm>
              <a:off x="3154680" y="1143000"/>
              <a:ext cx="2651760" cy="137922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3154680" y="1143000"/>
              <a:ext cx="2651760" cy="54864"/>
            </a:xfrm>
            <a:prstGeom prst="rect">
              <a:avLst/>
            </a:prstGeom>
            <a:solidFill>
              <a:srgbClr val="0077A8"/>
            </a:solidFill>
            <a:ln w="12700">
              <a:solidFill>
                <a:srgbClr val="0077A8"/>
              </a:solidFill>
              <a:prstDash val="solid"/>
            </a:ln>
          </p:spPr>
        </p:sp>
        <p:sp>
          <p:nvSpPr>
            <p:cNvPr id="12" name="Text 10"/>
            <p:cNvSpPr/>
            <p:nvPr/>
          </p:nvSpPr>
          <p:spPr>
            <a:xfrm>
              <a:off x="3264408" y="1234441"/>
              <a:ext cx="2432304" cy="31597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Voxel Map</a:t>
              </a:r>
              <a:endParaRPr lang="en-US" sz="2000" dirty="0"/>
            </a:p>
          </p:txBody>
        </p:sp>
        <p:sp>
          <p:nvSpPr>
            <p:cNvPr id="13" name="Text 11"/>
            <p:cNvSpPr/>
            <p:nvPr/>
          </p:nvSpPr>
          <p:spPr>
            <a:xfrm>
              <a:off x="3264408" y="1819657"/>
              <a:ext cx="2432304" cy="473964"/>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Siatka 3D wokseli (np. OctoMap); kompresja drzewem oktalnym</a:t>
              </a:r>
              <a:endParaRPr lang="en-US" sz="1400" dirty="0"/>
            </a:p>
          </p:txBody>
        </p:sp>
        <p:sp>
          <p:nvSpPr>
            <p:cNvPr id="14" name="Shape 12"/>
            <p:cNvSpPr/>
            <p:nvPr/>
          </p:nvSpPr>
          <p:spPr>
            <a:xfrm>
              <a:off x="6035040" y="1143000"/>
              <a:ext cx="2651760" cy="137922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6035040" y="1143000"/>
              <a:ext cx="2651760" cy="54864"/>
            </a:xfrm>
            <a:prstGeom prst="rect">
              <a:avLst/>
            </a:prstGeom>
            <a:solidFill>
              <a:srgbClr val="0077A8"/>
            </a:solidFill>
            <a:ln w="12700">
              <a:solidFill>
                <a:srgbClr val="0077A8"/>
              </a:solidFill>
              <a:prstDash val="solid"/>
            </a:ln>
          </p:spPr>
        </p:sp>
        <p:sp>
          <p:nvSpPr>
            <p:cNvPr id="16" name="Text 14"/>
            <p:cNvSpPr/>
            <p:nvPr/>
          </p:nvSpPr>
          <p:spPr>
            <a:xfrm>
              <a:off x="6144768" y="1234441"/>
              <a:ext cx="2432304" cy="31597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Point Cloud Map</a:t>
              </a:r>
              <a:endParaRPr lang="en-US" sz="2000" dirty="0"/>
            </a:p>
          </p:txBody>
        </p:sp>
        <p:sp>
          <p:nvSpPr>
            <p:cNvPr id="17" name="Text 15"/>
            <p:cNvSpPr/>
            <p:nvPr/>
          </p:nvSpPr>
          <p:spPr>
            <a:xfrm>
              <a:off x="6144768" y="1819657"/>
              <a:ext cx="2432304" cy="473964"/>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Nieskompresowana chmura punktów; wysoka wierność, duże wymagania RAM</a:t>
              </a:r>
              <a:endParaRPr lang="en-US" sz="1400" dirty="0"/>
            </a:p>
          </p:txBody>
        </p:sp>
        <p:sp>
          <p:nvSpPr>
            <p:cNvPr id="18" name="Shape 16"/>
            <p:cNvSpPr/>
            <p:nvPr/>
          </p:nvSpPr>
          <p:spPr>
            <a:xfrm>
              <a:off x="274320" y="2667000"/>
              <a:ext cx="2651760" cy="137922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274320" y="2667000"/>
              <a:ext cx="2651760" cy="54864"/>
            </a:xfrm>
            <a:prstGeom prst="rect">
              <a:avLst/>
            </a:prstGeom>
            <a:solidFill>
              <a:srgbClr val="006490"/>
            </a:solidFill>
            <a:ln w="12700">
              <a:solidFill>
                <a:srgbClr val="006490"/>
              </a:solidFill>
              <a:prstDash val="solid"/>
            </a:ln>
          </p:spPr>
        </p:sp>
        <p:sp>
          <p:nvSpPr>
            <p:cNvPr id="20" name="Text 18"/>
            <p:cNvSpPr/>
            <p:nvPr/>
          </p:nvSpPr>
          <p:spPr>
            <a:xfrm>
              <a:off x="384048" y="2758441"/>
              <a:ext cx="2432304" cy="31597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Topological Map</a:t>
              </a:r>
              <a:endParaRPr lang="en-US" sz="2000" dirty="0"/>
            </a:p>
          </p:txBody>
        </p:sp>
        <p:sp>
          <p:nvSpPr>
            <p:cNvPr id="21" name="Text 19"/>
            <p:cNvSpPr/>
            <p:nvPr/>
          </p:nvSpPr>
          <p:spPr>
            <a:xfrm>
              <a:off x="384048" y="3343657"/>
              <a:ext cx="2432304" cy="473964"/>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Graf węzłów i krawędzi; szybkie planowanie, niska dokładność geometryczna</a:t>
              </a:r>
              <a:endParaRPr lang="en-US" sz="1400" dirty="0"/>
            </a:p>
          </p:txBody>
        </p:sp>
        <p:sp>
          <p:nvSpPr>
            <p:cNvPr id="22" name="Shape 20"/>
            <p:cNvSpPr/>
            <p:nvPr/>
          </p:nvSpPr>
          <p:spPr>
            <a:xfrm>
              <a:off x="3154680" y="2667000"/>
              <a:ext cx="2651760" cy="137922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3" name="Shape 21"/>
            <p:cNvSpPr/>
            <p:nvPr/>
          </p:nvSpPr>
          <p:spPr>
            <a:xfrm>
              <a:off x="3154680" y="2667000"/>
              <a:ext cx="2651760" cy="54864"/>
            </a:xfrm>
            <a:prstGeom prst="rect">
              <a:avLst/>
            </a:prstGeom>
            <a:solidFill>
              <a:srgbClr val="1A3550"/>
            </a:solidFill>
            <a:ln w="12700">
              <a:solidFill>
                <a:srgbClr val="1A3550"/>
              </a:solidFill>
              <a:prstDash val="solid"/>
            </a:ln>
          </p:spPr>
        </p:sp>
        <p:sp>
          <p:nvSpPr>
            <p:cNvPr id="24" name="Text 22"/>
            <p:cNvSpPr/>
            <p:nvPr/>
          </p:nvSpPr>
          <p:spPr>
            <a:xfrm>
              <a:off x="3264408" y="2758441"/>
              <a:ext cx="2432304" cy="31597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Semantic Map</a:t>
              </a:r>
              <a:endParaRPr lang="en-US" sz="2000" dirty="0"/>
            </a:p>
          </p:txBody>
        </p:sp>
        <p:sp>
          <p:nvSpPr>
            <p:cNvPr id="25" name="Text 23"/>
            <p:cNvSpPr/>
            <p:nvPr/>
          </p:nvSpPr>
          <p:spPr>
            <a:xfrm>
              <a:off x="3264408" y="3343657"/>
              <a:ext cx="2432304" cy="473964"/>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Mapa wzbogacona o etykiety klas (podłoga, ściana, drzwi, stół)</a:t>
              </a:r>
              <a:endParaRPr lang="en-US" sz="1400" dirty="0"/>
            </a:p>
          </p:txBody>
        </p:sp>
        <p:sp>
          <p:nvSpPr>
            <p:cNvPr id="26" name="Shape 24"/>
            <p:cNvSpPr/>
            <p:nvPr/>
          </p:nvSpPr>
          <p:spPr>
            <a:xfrm>
              <a:off x="6035040" y="2667000"/>
              <a:ext cx="2651760" cy="137922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7" name="Shape 25"/>
            <p:cNvSpPr/>
            <p:nvPr/>
          </p:nvSpPr>
          <p:spPr>
            <a:xfrm>
              <a:off x="6035040" y="2667000"/>
              <a:ext cx="2651760" cy="54864"/>
            </a:xfrm>
            <a:prstGeom prst="rect">
              <a:avLst/>
            </a:prstGeom>
            <a:solidFill>
              <a:srgbClr val="F72585"/>
            </a:solidFill>
            <a:ln w="12700">
              <a:solidFill>
                <a:srgbClr val="F72585"/>
              </a:solidFill>
              <a:prstDash val="solid"/>
            </a:ln>
          </p:spPr>
        </p:sp>
        <p:sp>
          <p:nvSpPr>
            <p:cNvPr id="28" name="Text 26"/>
            <p:cNvSpPr/>
            <p:nvPr/>
          </p:nvSpPr>
          <p:spPr>
            <a:xfrm>
              <a:off x="6144768" y="2758441"/>
              <a:ext cx="2432304" cy="31597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Height Map</a:t>
              </a:r>
              <a:endParaRPr lang="en-US" sz="2000" dirty="0"/>
            </a:p>
          </p:txBody>
        </p:sp>
        <p:sp>
          <p:nvSpPr>
            <p:cNvPr id="29" name="Text 27"/>
            <p:cNvSpPr/>
            <p:nvPr/>
          </p:nvSpPr>
          <p:spPr>
            <a:xfrm>
              <a:off x="6144768" y="3343657"/>
              <a:ext cx="2432304" cy="473964"/>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Mapa wysokości terenu (elevation map); kluczowa dla planowania kroków</a:t>
              </a:r>
              <a:endParaRPr lang="en-US" sz="1400" dirty="0"/>
            </a:p>
          </p:txBody>
        </p:sp>
      </p:grpSp>
      <p:sp>
        <p:nvSpPr>
          <p:cNvPr id="30" name="Prostokąt 29"/>
          <p:cNvSpPr/>
          <p:nvPr/>
        </p:nvSpPr>
        <p:spPr>
          <a:xfrm>
            <a:off x="160020" y="4137660"/>
            <a:ext cx="8877300" cy="913070"/>
          </a:xfrm>
          <a:prstGeom prst="rect">
            <a:avLst/>
          </a:prstGeom>
          <a:solidFill>
            <a:srgbClr val="0D1B2A"/>
          </a:solidFill>
        </p:spPr>
        <p:txBody>
          <a:bodyPr wrap="square">
            <a:spAutoFit/>
          </a:bodyPr>
          <a:lstStyle/>
          <a:p>
            <a:pPr algn="just">
              <a:lnSpc>
                <a:spcPts val="1600"/>
              </a:lnSpc>
            </a:pPr>
            <a:r>
              <a:rPr lang="pl-PL" sz="1400" spc="-50" dirty="0">
                <a:solidFill>
                  <a:schemeClr val="bg1"/>
                </a:solidFill>
              </a:rPr>
              <a:t>Środowisko można reprezentować na różne sposoby. </a:t>
            </a:r>
            <a:r>
              <a:rPr lang="pl-PL" sz="1400" spc="-50" dirty="0" err="1">
                <a:solidFill>
                  <a:schemeClr val="bg1"/>
                </a:solidFill>
              </a:rPr>
              <a:t>Occupancy</a:t>
            </a:r>
            <a:r>
              <a:rPr lang="pl-PL" sz="1400" spc="-50" dirty="0">
                <a:solidFill>
                  <a:schemeClr val="bg1"/>
                </a:solidFill>
              </a:rPr>
              <a:t> </a:t>
            </a:r>
            <a:r>
              <a:rPr lang="pl-PL" sz="1400" spc="-50" dirty="0" err="1">
                <a:solidFill>
                  <a:schemeClr val="bg1"/>
                </a:solidFill>
              </a:rPr>
              <a:t>grid</a:t>
            </a:r>
            <a:r>
              <a:rPr lang="pl-PL" sz="1400" spc="-50" dirty="0">
                <a:solidFill>
                  <a:schemeClr val="bg1"/>
                </a:solidFill>
              </a:rPr>
              <a:t> to siatka komórek zajęte, wolne albo nieznane. </a:t>
            </a:r>
            <a:r>
              <a:rPr lang="pl-PL" sz="1400" spc="-50" dirty="0" err="1">
                <a:solidFill>
                  <a:schemeClr val="bg1"/>
                </a:solidFill>
              </a:rPr>
              <a:t>Voxel</a:t>
            </a:r>
            <a:r>
              <a:rPr lang="pl-PL" sz="1400" spc="-50" dirty="0">
                <a:solidFill>
                  <a:schemeClr val="bg1"/>
                </a:solidFill>
              </a:rPr>
              <a:t> map jest przestrzennym odpowiednikiem siatki 3D, często kompresowanym przez drzewo oktalne. Point </a:t>
            </a:r>
            <a:r>
              <a:rPr lang="pl-PL" sz="1400" spc="-50" dirty="0" err="1">
                <a:solidFill>
                  <a:schemeClr val="bg1"/>
                </a:solidFill>
              </a:rPr>
              <a:t>cloud</a:t>
            </a:r>
            <a:r>
              <a:rPr lang="pl-PL" sz="1400" spc="-50" dirty="0">
                <a:solidFill>
                  <a:schemeClr val="bg1"/>
                </a:solidFill>
              </a:rPr>
              <a:t> map daje wysoką wierność, ale jest </a:t>
            </a:r>
            <a:r>
              <a:rPr lang="pl-PL" sz="1400" spc="-50" dirty="0" err="1">
                <a:solidFill>
                  <a:schemeClr val="bg1"/>
                </a:solidFill>
              </a:rPr>
              <a:t>pamięciożerna</a:t>
            </a:r>
            <a:r>
              <a:rPr lang="pl-PL" sz="1400" spc="-50" dirty="0">
                <a:solidFill>
                  <a:schemeClr val="bg1"/>
                </a:solidFill>
              </a:rPr>
              <a:t>. </a:t>
            </a:r>
            <a:r>
              <a:rPr lang="pl-PL" sz="1400" spc="-50" dirty="0" err="1">
                <a:solidFill>
                  <a:schemeClr val="bg1"/>
                </a:solidFill>
              </a:rPr>
              <a:t>Topological</a:t>
            </a:r>
            <a:r>
              <a:rPr lang="pl-PL" sz="1400" spc="-50" dirty="0">
                <a:solidFill>
                  <a:schemeClr val="bg1"/>
                </a:solidFill>
              </a:rPr>
              <a:t> map upraszcza środowisko do grafu relacji, a </a:t>
            </a:r>
            <a:r>
              <a:rPr lang="pl-PL" sz="1400" spc="-50" dirty="0" err="1">
                <a:solidFill>
                  <a:schemeClr val="bg1"/>
                </a:solidFill>
              </a:rPr>
              <a:t>semantic</a:t>
            </a:r>
            <a:r>
              <a:rPr lang="pl-PL" sz="1400" spc="-50" dirty="0">
                <a:solidFill>
                  <a:schemeClr val="bg1"/>
                </a:solidFill>
              </a:rPr>
              <a:t> map dodaje etykiety znaczeniowe. Dla </a:t>
            </a:r>
            <a:r>
              <a:rPr lang="pl-PL" sz="1400" spc="-50" dirty="0" err="1">
                <a:solidFill>
                  <a:schemeClr val="bg1"/>
                </a:solidFill>
              </a:rPr>
              <a:t>humanoida</a:t>
            </a:r>
            <a:r>
              <a:rPr lang="pl-PL" sz="1400" spc="-50" dirty="0">
                <a:solidFill>
                  <a:schemeClr val="bg1"/>
                </a:solidFill>
              </a:rPr>
              <a:t> szczególnie ważna jest też </a:t>
            </a:r>
            <a:r>
              <a:rPr lang="pl-PL" sz="1400" spc="-50" dirty="0" err="1">
                <a:solidFill>
                  <a:schemeClr val="bg1"/>
                </a:solidFill>
              </a:rPr>
              <a:t>height</a:t>
            </a:r>
            <a:r>
              <a:rPr lang="pl-PL" sz="1400" spc="-50" dirty="0">
                <a:solidFill>
                  <a:schemeClr val="bg1"/>
                </a:solidFill>
              </a:rPr>
              <a:t> map, bo wysokość terenu bezpośrednio wpływa na planowanie kroków. </a:t>
            </a:r>
            <a:endParaRPr lang="en-US" sz="1400" spc="-50" dirty="0">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SEKCJA 3 | 2D vs 3D</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Mapa 2D kontra mapa 3D dla humanoida</a:t>
            </a:r>
            <a:endParaRPr lang="en-US" sz="2800" dirty="0"/>
          </a:p>
        </p:txBody>
      </p:sp>
      <p:sp>
        <p:nvSpPr>
          <p:cNvPr id="6" name="Shape 4"/>
          <p:cNvSpPr/>
          <p:nvPr/>
        </p:nvSpPr>
        <p:spPr>
          <a:xfrm>
            <a:off x="274320" y="1097280"/>
            <a:ext cx="4160520" cy="2674620"/>
          </a:xfrm>
          <a:prstGeom prst="rect">
            <a:avLst/>
          </a:prstGeom>
          <a:solidFill>
            <a:srgbClr val="EFF6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097280"/>
            <a:ext cx="4160520" cy="411480"/>
          </a:xfrm>
          <a:prstGeom prst="rect">
            <a:avLst/>
          </a:prstGeom>
          <a:solidFill>
            <a:srgbClr val="0077A8"/>
          </a:solidFill>
          <a:ln w="12700">
            <a:solidFill>
              <a:srgbClr val="0077A8"/>
            </a:solidFill>
            <a:prstDash val="solid"/>
          </a:ln>
        </p:spPr>
      </p:sp>
      <p:sp>
        <p:nvSpPr>
          <p:cNvPr id="8" name="Text 6"/>
          <p:cNvSpPr/>
          <p:nvPr/>
        </p:nvSpPr>
        <p:spPr>
          <a:xfrm>
            <a:off x="457200" y="1115568"/>
            <a:ext cx="379476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Kiedy wystarczy mapa 2D</a:t>
            </a:r>
            <a:endParaRPr lang="en-US" sz="1600" dirty="0"/>
          </a:p>
        </p:txBody>
      </p:sp>
      <p:sp>
        <p:nvSpPr>
          <p:cNvPr id="9" name="Shape 7"/>
          <p:cNvSpPr/>
          <p:nvPr/>
        </p:nvSpPr>
        <p:spPr>
          <a:xfrm>
            <a:off x="4709160" y="1097280"/>
            <a:ext cx="4160520" cy="2674620"/>
          </a:xfrm>
          <a:prstGeom prst="rect">
            <a:avLst/>
          </a:prstGeom>
          <a:solidFill>
            <a:srgbClr val="FFF1F5"/>
          </a:solidFill>
          <a:ln w="12700">
            <a:solidFill>
              <a:srgbClr val="E2EBF3"/>
            </a:solidFill>
            <a:prstDash val="solid"/>
          </a:ln>
          <a:effectLst>
            <a:outerShdw blurRad="76200" dist="25400" dir="8100000" algn="bl" rotWithShape="0">
              <a:srgbClr val="000000">
                <a:alpha val="12000"/>
              </a:srgbClr>
            </a:outerShdw>
          </a:effectLst>
        </p:spPr>
      </p:sp>
      <p:sp>
        <p:nvSpPr>
          <p:cNvPr id="10" name="Shape 8"/>
          <p:cNvSpPr/>
          <p:nvPr/>
        </p:nvSpPr>
        <p:spPr>
          <a:xfrm>
            <a:off x="4709160" y="1097280"/>
            <a:ext cx="4160520" cy="411480"/>
          </a:xfrm>
          <a:prstGeom prst="rect">
            <a:avLst/>
          </a:prstGeom>
          <a:solidFill>
            <a:srgbClr val="F72585"/>
          </a:solidFill>
          <a:ln w="12700">
            <a:solidFill>
              <a:srgbClr val="F72585"/>
            </a:solidFill>
            <a:prstDash val="solid"/>
          </a:ln>
        </p:spPr>
      </p:sp>
      <p:sp>
        <p:nvSpPr>
          <p:cNvPr id="11" name="Text 9"/>
          <p:cNvSpPr/>
          <p:nvPr/>
        </p:nvSpPr>
        <p:spPr>
          <a:xfrm>
            <a:off x="4892040" y="1115568"/>
            <a:ext cx="379476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Kiedy potrzebna jest mapa 3D</a:t>
            </a:r>
            <a:endParaRPr lang="en-US" sz="1600" dirty="0"/>
          </a:p>
        </p:txBody>
      </p:sp>
      <p:sp>
        <p:nvSpPr>
          <p:cNvPr id="12" name="Text 10"/>
          <p:cNvSpPr/>
          <p:nvPr/>
        </p:nvSpPr>
        <p:spPr>
          <a:xfrm>
            <a:off x="457200" y="1600200"/>
            <a:ext cx="3794760" cy="1645920"/>
          </a:xfrm>
          <a:prstGeom prst="rect">
            <a:avLst/>
          </a:prstGeom>
          <a:noFill/>
          <a:ln/>
        </p:spPr>
        <p:txBody>
          <a:bodyPr wrap="square" lIns="63500" tIns="101600" rIns="101600" bIns="63500" rtlCol="0" anchor="t"/>
          <a:lstStyle/>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Równe, płaskie podłoże (biuro, magazyn)</a:t>
            </a:r>
            <a:endParaRPr lang="en-US" sz="1400" dirty="0"/>
          </a:p>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Planowanie trasy i unikanie dużych przeszkód</a:t>
            </a:r>
            <a:endParaRPr lang="en-US" sz="1400" dirty="0"/>
          </a:p>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Mała pamięć i szybkie przetwarzanie</a:t>
            </a:r>
            <a:endParaRPr lang="en-US" sz="1400" dirty="0"/>
          </a:p>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Kompatybilność z klasycznym Nav Stack (ROS)</a:t>
            </a:r>
            <a:endParaRPr lang="en-US" sz="1400" dirty="0"/>
          </a:p>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Algorytmy A*, Dijkstra bezpośrednio na grid</a:t>
            </a:r>
            <a:endParaRPr lang="en-US" sz="1400" dirty="0"/>
          </a:p>
        </p:txBody>
      </p:sp>
      <p:sp>
        <p:nvSpPr>
          <p:cNvPr id="13" name="Text 11"/>
          <p:cNvSpPr/>
          <p:nvPr/>
        </p:nvSpPr>
        <p:spPr>
          <a:xfrm>
            <a:off x="4892040" y="1600200"/>
            <a:ext cx="3794760" cy="1645920"/>
          </a:xfrm>
          <a:prstGeom prst="rect">
            <a:avLst/>
          </a:prstGeom>
          <a:noFill/>
          <a:ln/>
        </p:spPr>
        <p:txBody>
          <a:bodyPr wrap="square" lIns="63500" tIns="101600" rIns="101600" bIns="63500" rtlCol="0" anchor="t"/>
          <a:lstStyle/>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Schody, rampy, progi: wymagana wysokość terenu</a:t>
            </a:r>
            <a:endParaRPr lang="en-US" sz="1400" dirty="0"/>
          </a:p>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Planowanie stóp z uwzględnieniem nierówności</a:t>
            </a:r>
            <a:endParaRPr lang="en-US" sz="1400" dirty="0"/>
          </a:p>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Wolna przestrzeń nad stopą (clearance)</a:t>
            </a:r>
            <a:endParaRPr lang="en-US" sz="1400" dirty="0"/>
          </a:p>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Wykrywanie nawisów i przeszkód górą</a:t>
            </a:r>
            <a:endParaRPr lang="en-US" sz="1400" dirty="0"/>
          </a:p>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Nawigacja po nierównym terenie zewnętrznym</a:t>
            </a:r>
            <a:endParaRPr lang="en-US" sz="1400" dirty="0"/>
          </a:p>
        </p:txBody>
      </p:sp>
      <p:sp>
        <p:nvSpPr>
          <p:cNvPr id="15" name="Prostokąt 14"/>
          <p:cNvSpPr/>
          <p:nvPr/>
        </p:nvSpPr>
        <p:spPr>
          <a:xfrm>
            <a:off x="251460" y="4000500"/>
            <a:ext cx="8663940" cy="998220"/>
          </a:xfrm>
          <a:prstGeom prst="rect">
            <a:avLst/>
          </a:prstGeom>
          <a:solidFill>
            <a:srgbClr val="0D1B2A"/>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just">
              <a:lnSpc>
                <a:spcPts val="1500"/>
              </a:lnSpc>
            </a:pPr>
            <a:r>
              <a:rPr lang="pl-PL" sz="1400" spc="-40" dirty="0"/>
              <a:t>Mapa 2D wystarcza wtedy, gdy środowisko jest płaskie i interesuje nas głównie wyznaczenie ścieżki oraz omijanie dużych przeszkód. Jest szybka, oszczędna pamięciowo i zgodna z klasycznym stosem nawigacyjnym. Natomiast mapa 3D jest konieczna, gdy pojawiają się schody, rampy, progi, nierówności, nawisy albo przeszkody nad stopą. Humanoid porusza się w przestrzeni, w której wysokość naprawdę ma znaczenie, więc w wielu zastosowaniach 2D okazuje się niewystarczające.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KOSZT PRZEJŚCIA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Koszt przejścia w środowisku humanoida</a:t>
            </a:r>
            <a:endParaRPr lang="en-US" sz="2800" dirty="0"/>
          </a:p>
        </p:txBody>
      </p:sp>
      <p:sp>
        <p:nvSpPr>
          <p:cNvPr id="6" name="Shape 4"/>
          <p:cNvSpPr/>
          <p:nvPr/>
        </p:nvSpPr>
        <p:spPr>
          <a:xfrm>
            <a:off x="274320" y="1097280"/>
            <a:ext cx="8595360" cy="24765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320040" y="1028700"/>
            <a:ext cx="8427720" cy="2545080"/>
          </a:xfrm>
          <a:prstGeom prst="rect">
            <a:avLst/>
          </a:prstGeom>
          <a:noFill/>
          <a:ln/>
        </p:spPr>
        <p:txBody>
          <a:bodyPr wrap="square" lIns="127000" tIns="127000" rIns="127000" bIns="127000" rtlCol="0" anchor="t"/>
          <a:lstStyle/>
          <a:p>
            <a:pPr marL="180000" indent="-180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Teren łatwy</a:t>
            </a:r>
            <a:r>
              <a:rPr lang="en-US" sz="1600" dirty="0">
                <a:solidFill>
                  <a:srgbClr val="0D1B2A"/>
                </a:solidFill>
                <a:latin typeface="Calibri" pitchFamily="34" charset="0"/>
                <a:ea typeface="Calibri" pitchFamily="34" charset="-122"/>
                <a:cs typeface="Calibri" pitchFamily="34" charset="-120"/>
              </a:rPr>
              <a:t>: niska wartość kosztu – szeroki, płaski, bez przeszkód w pobliżu</a:t>
            </a:r>
            <a:endParaRPr lang="en-US" sz="1600" dirty="0"/>
          </a:p>
          <a:p>
            <a:pPr marL="180000" indent="-180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Teren wąski</a:t>
            </a:r>
            <a:r>
              <a:rPr lang="en-US" sz="1600" dirty="0">
                <a:solidFill>
                  <a:srgbClr val="0D1B2A"/>
                </a:solidFill>
                <a:latin typeface="Calibri" pitchFamily="34" charset="0"/>
                <a:ea typeface="Calibri" pitchFamily="34" charset="-122"/>
                <a:cs typeface="Calibri" pitchFamily="34" charset="-120"/>
              </a:rPr>
              <a:t>: podwyższony koszt – ograniczone miejsce na krok i manewr tułowia</a:t>
            </a:r>
            <a:endParaRPr lang="en-US" sz="1600" dirty="0"/>
          </a:p>
          <a:p>
            <a:pPr marL="180000" indent="-180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Teren pochyły</a:t>
            </a:r>
            <a:r>
              <a:rPr lang="en-US" sz="1600" dirty="0">
                <a:solidFill>
                  <a:srgbClr val="0D1B2A"/>
                </a:solidFill>
                <a:latin typeface="Calibri" pitchFamily="34" charset="0"/>
                <a:ea typeface="Calibri" pitchFamily="34" charset="-122"/>
                <a:cs typeface="Calibri" pitchFamily="34" charset="-120"/>
              </a:rPr>
              <a:t>: koszt zależny od kąta nachylenia i kierunku ruchu (pod górę = więcej energii)</a:t>
            </a:r>
            <a:endParaRPr lang="en-US" sz="1600" dirty="0"/>
          </a:p>
          <a:p>
            <a:pPr marL="180000" indent="-180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Teren śliski</a:t>
            </a:r>
            <a:r>
              <a:rPr lang="en-US" sz="1600" dirty="0">
                <a:solidFill>
                  <a:srgbClr val="0D1B2A"/>
                </a:solidFill>
                <a:latin typeface="Calibri" pitchFamily="34" charset="0"/>
                <a:ea typeface="Calibri" pitchFamily="34" charset="-122"/>
                <a:cs typeface="Calibri" pitchFamily="34" charset="-120"/>
              </a:rPr>
              <a:t>: wysoki koszt lub blokada – niestabilny kontakt stóp, ryzyko poślizgu</a:t>
            </a:r>
            <a:endParaRPr lang="en-US" sz="1600" dirty="0"/>
          </a:p>
          <a:p>
            <a:pPr marL="180000" indent="-180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Inflacja wokół przeszkód</a:t>
            </a:r>
            <a:r>
              <a:rPr lang="en-US" sz="1600" dirty="0">
                <a:solidFill>
                  <a:srgbClr val="0D1B2A"/>
                </a:solidFill>
                <a:latin typeface="Calibri" pitchFamily="34" charset="0"/>
                <a:ea typeface="Calibri" pitchFamily="34" charset="-122"/>
                <a:cs typeface="Calibri" pitchFamily="34" charset="-120"/>
              </a:rPr>
              <a:t>: sąsiedztwo obiektu ma podwyższony koszt (gradient odpychający)</a:t>
            </a:r>
            <a:endParaRPr lang="en-US" sz="1600" dirty="0"/>
          </a:p>
          <a:p>
            <a:pPr marL="180000" indent="-180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Funkcja kosztu</a:t>
            </a:r>
            <a:r>
              <a:rPr lang="en-US" sz="1600" dirty="0">
                <a:solidFill>
                  <a:srgbClr val="0D1B2A"/>
                </a:solidFill>
                <a:latin typeface="Calibri" pitchFamily="34" charset="0"/>
                <a:ea typeface="Calibri" pitchFamily="34" charset="-122"/>
                <a:cs typeface="Calibri" pitchFamily="34" charset="-120"/>
              </a:rPr>
              <a:t>: C(x,y) = w_dist * d_obstacle + w_slope * slope + w_narrow * clearance_penalty</a:t>
            </a:r>
            <a:endParaRPr lang="en-US" sz="1600" dirty="0"/>
          </a:p>
          <a:p>
            <a:pPr marL="180000" indent="-180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Cel</a:t>
            </a:r>
            <a:r>
              <a:rPr lang="en-US" sz="1600" dirty="0">
                <a:solidFill>
                  <a:srgbClr val="0D1B2A"/>
                </a:solidFill>
                <a:latin typeface="Calibri" pitchFamily="34" charset="0"/>
                <a:ea typeface="Calibri" pitchFamily="34" charset="-122"/>
                <a:cs typeface="Calibri" pitchFamily="34" charset="-120"/>
              </a:rPr>
              <a:t>: preferowanie trasy bezpiecznej, nie tylko najkrótszej geometrycznie</a:t>
            </a:r>
            <a:endParaRPr lang="en-US" sz="1600" dirty="0"/>
          </a:p>
        </p:txBody>
      </p:sp>
      <p:sp>
        <p:nvSpPr>
          <p:cNvPr id="8" name="Prostokąt 7"/>
          <p:cNvSpPr/>
          <p:nvPr/>
        </p:nvSpPr>
        <p:spPr>
          <a:xfrm>
            <a:off x="251460" y="3924300"/>
            <a:ext cx="8663940" cy="1074420"/>
          </a:xfrm>
          <a:prstGeom prst="rect">
            <a:avLst/>
          </a:prstGeom>
          <a:solidFill>
            <a:srgbClr val="0D1B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ts val="1500"/>
              </a:lnSpc>
            </a:pPr>
            <a:r>
              <a:rPr lang="pl-PL" sz="1400" dirty="0"/>
              <a:t>Koszt przejścia nie może zależeć wyłącznie od długości trasy. Teren szeroki, płaski i daleki od przeszkód powinien mieć niski koszt. Teren wąski, pochyły albo śliski powinien mieć koszt wyższy lub wręcz być zablokowany. Dodatkowo stosujemy inflację wokół przeszkód, czyli gradient kosztu, który odpycha trajektorię od obiektów. W praktyce funkcja kosztu uwzględnia odległość od przeszkód, nachylenie terenu i karę za mały prześwit. Celem jest znalezienie trasy nie najkrótszej geometrycznie, lecz najbezpieczniejszej i najbardziej stabilnej.</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Budowa prostej mapy zajętości </a:t>
            </a:r>
            <a:r>
              <a:rPr lang="en-US" sz="2800" b="1" i="1" dirty="0">
                <a:solidFill>
                  <a:srgbClr val="FFFFFF"/>
                </a:solidFill>
                <a:latin typeface="Trebuchet MS" pitchFamily="34" charset="0"/>
                <a:ea typeface="Trebuchet MS" pitchFamily="34" charset="-122"/>
                <a:cs typeface="Trebuchet MS" pitchFamily="34" charset="-120"/>
              </a:rPr>
              <a:t>(occupancy grid)</a:t>
            </a:r>
            <a:endParaRPr lang="en-US" sz="2800" i="1" dirty="0"/>
          </a:p>
        </p:txBody>
      </p:sp>
      <p:sp>
        <p:nvSpPr>
          <p:cNvPr id="6" name="Shape 4"/>
          <p:cNvSpPr/>
          <p:nvPr/>
        </p:nvSpPr>
        <p:spPr>
          <a:xfrm>
            <a:off x="274320" y="1005840"/>
            <a:ext cx="8595360" cy="3181120"/>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10" name="Text 8"/>
          <p:cNvSpPr/>
          <p:nvPr/>
        </p:nvSpPr>
        <p:spPr>
          <a:xfrm>
            <a:off x="384048" y="1051912"/>
            <a:ext cx="8321040" cy="3135048"/>
          </a:xfrm>
          <a:prstGeom prst="rect">
            <a:avLst/>
          </a:prstGeom>
          <a:noFill/>
          <a:ln/>
        </p:spPr>
        <p:txBody>
          <a:bodyPr wrap="square" lIns="108000" tIns="0" rIns="127000" bIns="63500" rtlCol="0" anchor="t"/>
          <a:lstStyle/>
          <a:p>
            <a:r>
              <a:rPr lang="pl-PL" sz="1400" dirty="0">
                <a:solidFill>
                  <a:srgbClr val="C586C0"/>
                </a:solidFill>
                <a:latin typeface="Consolas" panose="020B0609020204030204" pitchFamily="49" charset="0"/>
              </a:rPr>
              <a:t>import</a:t>
            </a:r>
            <a:r>
              <a:rPr lang="pl-PL" sz="1400" dirty="0">
                <a:solidFill>
                  <a:srgbClr val="CCCCCC"/>
                </a:solidFill>
                <a:latin typeface="Consolas" panose="020B0609020204030204" pitchFamily="49" charset="0"/>
              </a:rPr>
              <a:t> </a:t>
            </a:r>
            <a:r>
              <a:rPr lang="pl-PL" sz="1400" dirty="0" err="1">
                <a:solidFill>
                  <a:srgbClr val="4EC9B0"/>
                </a:solidFill>
                <a:latin typeface="Consolas" panose="020B0609020204030204" pitchFamily="49" charset="0"/>
              </a:rPr>
              <a:t>numpy</a:t>
            </a:r>
            <a:r>
              <a:rPr lang="pl-PL" sz="1400" dirty="0">
                <a:solidFill>
                  <a:srgbClr val="CCCCCC"/>
                </a:solidFill>
                <a:latin typeface="Consolas" panose="020B0609020204030204" pitchFamily="49" charset="0"/>
              </a:rPr>
              <a:t> </a:t>
            </a:r>
            <a:r>
              <a:rPr lang="pl-PL" sz="1400" dirty="0">
                <a:solidFill>
                  <a:srgbClr val="C586C0"/>
                </a:solidFill>
                <a:latin typeface="Consolas" panose="020B0609020204030204" pitchFamily="49" charset="0"/>
              </a:rPr>
              <a:t>as</a:t>
            </a:r>
            <a:r>
              <a:rPr lang="pl-PL" sz="1400" dirty="0">
                <a:solidFill>
                  <a:srgbClr val="CCCCCC"/>
                </a:solidFill>
                <a:latin typeface="Consolas" panose="020B0609020204030204" pitchFamily="49" charset="0"/>
              </a:rPr>
              <a:t> </a:t>
            </a:r>
            <a:r>
              <a:rPr lang="pl-PL" sz="1400" dirty="0" err="1">
                <a:solidFill>
                  <a:srgbClr val="4EC9B0"/>
                </a:solidFill>
                <a:latin typeface="Consolas" panose="020B0609020204030204" pitchFamily="49" charset="0"/>
              </a:rPr>
              <a:t>np</a:t>
            </a:r>
            <a:endParaRPr lang="pl-PL" sz="1400" dirty="0">
              <a:solidFill>
                <a:srgbClr val="CCCCCC"/>
              </a:solidFill>
              <a:latin typeface="Consolas" panose="020B0609020204030204" pitchFamily="49" charset="0"/>
            </a:endParaRPr>
          </a:p>
          <a:p>
            <a:r>
              <a:rPr lang="pl-PL" sz="1400" dirty="0">
                <a:solidFill>
                  <a:srgbClr val="CCCCCC"/>
                </a:solidFill>
                <a:latin typeface="Consolas" panose="020B0609020204030204" pitchFamily="49" charset="0"/>
              </a:rPr>
              <a:t/>
            </a:r>
            <a:br>
              <a:rPr lang="pl-PL" sz="1400" dirty="0">
                <a:solidFill>
                  <a:srgbClr val="CCCCCC"/>
                </a:solidFill>
                <a:latin typeface="Consolas" panose="020B0609020204030204" pitchFamily="49" charset="0"/>
              </a:rPr>
            </a:br>
            <a:r>
              <a:rPr lang="pl-PL" sz="1400" dirty="0">
                <a:solidFill>
                  <a:srgbClr val="569CD6"/>
                </a:solidFill>
                <a:latin typeface="Consolas" panose="020B0609020204030204" pitchFamily="49" charset="0"/>
              </a:rPr>
              <a:t>def</a:t>
            </a:r>
            <a:r>
              <a:rPr lang="pl-PL" sz="1400" dirty="0">
                <a:solidFill>
                  <a:srgbClr val="CCCCCC"/>
                </a:solidFill>
                <a:latin typeface="Consolas" panose="020B0609020204030204" pitchFamily="49" charset="0"/>
              </a:rPr>
              <a:t> </a:t>
            </a:r>
            <a:r>
              <a:rPr lang="pl-PL" sz="1400" dirty="0" err="1">
                <a:solidFill>
                  <a:srgbClr val="DCDCAA"/>
                </a:solidFill>
                <a:latin typeface="Consolas" panose="020B0609020204030204" pitchFamily="49" charset="0"/>
              </a:rPr>
              <a:t>build_occupancy_grid</a:t>
            </a:r>
            <a:r>
              <a:rPr lang="pl-PL" sz="1400" dirty="0">
                <a:solidFill>
                  <a:srgbClr val="CCCCCC"/>
                </a:solidFill>
                <a:latin typeface="Consolas" panose="020B0609020204030204" pitchFamily="49" charset="0"/>
              </a:rPr>
              <a:t>(</a:t>
            </a:r>
            <a:r>
              <a:rPr lang="pl-PL" sz="1400" dirty="0" err="1">
                <a:solidFill>
                  <a:srgbClr val="9CDCFE"/>
                </a:solidFill>
                <a:latin typeface="Consolas" panose="020B0609020204030204" pitchFamily="49" charset="0"/>
              </a:rPr>
              <a:t>obstacle_points</a:t>
            </a:r>
            <a:r>
              <a:rPr lang="pl-PL" sz="1400" dirty="0">
                <a:solidFill>
                  <a:srgbClr val="CCCCCC"/>
                </a:solidFill>
                <a:latin typeface="Consolas" panose="020B0609020204030204" pitchFamily="49" charset="0"/>
              </a:rPr>
              <a:t>: </a:t>
            </a:r>
            <a:r>
              <a:rPr lang="pl-PL" sz="1400" dirty="0">
                <a:solidFill>
                  <a:srgbClr val="4EC9B0"/>
                </a:solidFill>
                <a:latin typeface="Consolas" panose="020B0609020204030204" pitchFamily="49" charset="0"/>
              </a:rPr>
              <a:t>list</a:t>
            </a:r>
            <a:r>
              <a:rPr lang="pl-PL" sz="1400" dirty="0">
                <a:solidFill>
                  <a:srgbClr val="CCCCCC"/>
                </a:solidFill>
                <a:latin typeface="Consolas" panose="020B0609020204030204" pitchFamily="49" charset="0"/>
              </a:rPr>
              <a:t>,</a:t>
            </a:r>
          </a:p>
          <a:p>
            <a:r>
              <a:rPr lang="pl-PL" sz="1400" dirty="0">
                <a:solidFill>
                  <a:srgbClr val="CCCCCC"/>
                </a:solidFill>
                <a:latin typeface="Consolas" panose="020B0609020204030204" pitchFamily="49" charset="0"/>
              </a:rPr>
              <a:t>                         </a:t>
            </a:r>
            <a:r>
              <a:rPr lang="pl-PL" sz="1400" dirty="0" err="1">
                <a:solidFill>
                  <a:srgbClr val="9CDCFE"/>
                </a:solidFill>
                <a:latin typeface="Consolas" panose="020B0609020204030204" pitchFamily="49" charset="0"/>
              </a:rPr>
              <a:t>grid_size</a:t>
            </a:r>
            <a:r>
              <a:rPr lang="pl-PL" sz="1400" dirty="0">
                <a:solidFill>
                  <a:srgbClr val="CCCCCC"/>
                </a:solidFill>
                <a:latin typeface="Consolas" panose="020B0609020204030204" pitchFamily="49" charset="0"/>
              </a:rPr>
              <a:t>: </a:t>
            </a:r>
            <a:r>
              <a:rPr lang="pl-PL" sz="1400" dirty="0" err="1">
                <a:solidFill>
                  <a:srgbClr val="4EC9B0"/>
                </a:solidFill>
                <a:latin typeface="Consolas" panose="020B0609020204030204" pitchFamily="49" charset="0"/>
              </a:rPr>
              <a:t>int</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a:solidFill>
                  <a:srgbClr val="B5CEA8"/>
                </a:solidFill>
                <a:latin typeface="Consolas" panose="020B0609020204030204" pitchFamily="49" charset="0"/>
              </a:rPr>
              <a:t>100</a:t>
            </a:r>
            <a:r>
              <a:rPr lang="pl-PL" sz="1400" dirty="0">
                <a:solidFill>
                  <a:srgbClr val="CCCCCC"/>
                </a:solidFill>
                <a:latin typeface="Consolas" panose="020B0609020204030204" pitchFamily="49" charset="0"/>
              </a:rPr>
              <a:t>,</a:t>
            </a:r>
          </a:p>
          <a:p>
            <a:r>
              <a:rPr lang="pl-PL" sz="1400" dirty="0">
                <a:solidFill>
                  <a:srgbClr val="CCCCCC"/>
                </a:solidFill>
                <a:latin typeface="Consolas" panose="020B0609020204030204" pitchFamily="49" charset="0"/>
              </a:rPr>
              <a:t>                         </a:t>
            </a:r>
            <a:r>
              <a:rPr lang="pl-PL" sz="1400" dirty="0">
                <a:solidFill>
                  <a:srgbClr val="9CDCFE"/>
                </a:solidFill>
                <a:latin typeface="Consolas" panose="020B0609020204030204" pitchFamily="49" charset="0"/>
              </a:rPr>
              <a:t>resolution</a:t>
            </a:r>
            <a:r>
              <a:rPr lang="pl-PL" sz="1400" dirty="0">
                <a:solidFill>
                  <a:srgbClr val="CCCCCC"/>
                </a:solidFill>
                <a:latin typeface="Consolas" panose="020B0609020204030204" pitchFamily="49" charset="0"/>
              </a:rPr>
              <a:t>: </a:t>
            </a:r>
            <a:r>
              <a:rPr lang="pl-PL" sz="1400" dirty="0" err="1">
                <a:solidFill>
                  <a:srgbClr val="4EC9B0"/>
                </a:solidFill>
                <a:latin typeface="Consolas" panose="020B0609020204030204" pitchFamily="49" charset="0"/>
              </a:rPr>
              <a:t>float</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a:solidFill>
                  <a:srgbClr val="B5CEA8"/>
                </a:solidFill>
                <a:latin typeface="Consolas" panose="020B0609020204030204" pitchFamily="49" charset="0"/>
              </a:rPr>
              <a:t>0.05</a:t>
            </a:r>
            <a:r>
              <a:rPr lang="pl-PL" sz="1400" dirty="0">
                <a:solidFill>
                  <a:srgbClr val="CCCCCC"/>
                </a:solidFill>
                <a:latin typeface="Consolas" panose="020B0609020204030204" pitchFamily="49" charset="0"/>
              </a:rPr>
              <a:t>) -&gt; </a:t>
            </a:r>
            <a:r>
              <a:rPr lang="pl-PL" sz="1400" dirty="0" err="1">
                <a:solidFill>
                  <a:srgbClr val="CCCCCC"/>
                </a:solidFill>
                <a:latin typeface="Consolas" panose="020B0609020204030204" pitchFamily="49" charset="0"/>
              </a:rPr>
              <a:t>np.ndarray</a:t>
            </a:r>
            <a:r>
              <a:rPr lang="pl-PL" sz="1400" dirty="0">
                <a:solidFill>
                  <a:srgbClr val="CCCCCC"/>
                </a:solidFill>
                <a:latin typeface="Consolas" panose="020B0609020204030204" pitchFamily="49" charset="0"/>
              </a:rPr>
              <a:t>:</a:t>
            </a:r>
          </a:p>
          <a:p>
            <a:r>
              <a:rPr lang="pl-PL" sz="1400" dirty="0">
                <a:solidFill>
                  <a:srgbClr val="CCCCCC"/>
                </a:solidFill>
                <a:latin typeface="Consolas" panose="020B0609020204030204" pitchFamily="49" charset="0"/>
              </a:rPr>
              <a:t>    </a:t>
            </a:r>
            <a:r>
              <a:rPr lang="pl-PL" sz="1400" dirty="0">
                <a:solidFill>
                  <a:srgbClr val="CE9178"/>
                </a:solidFill>
                <a:latin typeface="Consolas" panose="020B0609020204030204" pitchFamily="49" charset="0"/>
              </a:rPr>
              <a:t>"""Tworzy </a:t>
            </a:r>
            <a:r>
              <a:rPr lang="pl-PL" sz="1400" dirty="0" err="1">
                <a:solidFill>
                  <a:srgbClr val="CE9178"/>
                </a:solidFill>
                <a:latin typeface="Consolas" panose="020B0609020204030204" pitchFamily="49" charset="0"/>
              </a:rPr>
              <a:t>siatke</a:t>
            </a:r>
            <a:r>
              <a:rPr lang="pl-PL" sz="1400" dirty="0">
                <a:solidFill>
                  <a:srgbClr val="CE9178"/>
                </a:solidFill>
                <a:latin typeface="Consolas" panose="020B0609020204030204" pitchFamily="49" charset="0"/>
              </a:rPr>
              <a:t> zajętości z listy punktów przeszkód [m]."""</a:t>
            </a:r>
            <a:endParaRPr lang="pl-PL" sz="1400" dirty="0">
              <a:solidFill>
                <a:srgbClr val="CCCCCC"/>
              </a:solidFill>
              <a:latin typeface="Consolas" panose="020B0609020204030204" pitchFamily="49" charset="0"/>
            </a:endParaRPr>
          </a:p>
          <a:p>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grid</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np.zeros</a:t>
            </a:r>
            <a:r>
              <a:rPr lang="pl-PL" sz="1400" dirty="0">
                <a:solidFill>
                  <a:srgbClr val="CCCCCC"/>
                </a:solidFill>
                <a:latin typeface="Consolas" panose="020B0609020204030204" pitchFamily="49" charset="0"/>
              </a:rPr>
              <a:t>((</a:t>
            </a:r>
            <a:r>
              <a:rPr lang="pl-PL" sz="1400" dirty="0" err="1">
                <a:solidFill>
                  <a:srgbClr val="CCCCCC"/>
                </a:solidFill>
                <a:latin typeface="Consolas" panose="020B0609020204030204" pitchFamily="49" charset="0"/>
              </a:rPr>
              <a:t>grid_size</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grid_size</a:t>
            </a:r>
            <a:r>
              <a:rPr lang="pl-PL" sz="1400" dirty="0">
                <a:solidFill>
                  <a:srgbClr val="CCCCCC"/>
                </a:solidFill>
                <a:latin typeface="Consolas" panose="020B0609020204030204" pitchFamily="49" charset="0"/>
              </a:rPr>
              <a:t>), </a:t>
            </a:r>
            <a:r>
              <a:rPr lang="pl-PL" sz="1400" dirty="0" err="1">
                <a:solidFill>
                  <a:srgbClr val="9CDCFE"/>
                </a:solidFill>
                <a:latin typeface="Consolas" panose="020B0609020204030204" pitchFamily="49" charset="0"/>
              </a:rPr>
              <a:t>dtype</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np.uint8)</a:t>
            </a:r>
          </a:p>
          <a:p>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origin_x</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origin_y</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grid_size</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a:solidFill>
                  <a:srgbClr val="B5CEA8"/>
                </a:solidFill>
                <a:latin typeface="Consolas" panose="020B0609020204030204" pitchFamily="49" charset="0"/>
              </a:rPr>
              <a:t>2</a:t>
            </a:r>
            <a:endParaRPr lang="pl-PL" sz="1400" dirty="0">
              <a:solidFill>
                <a:srgbClr val="CCCCCC"/>
              </a:solidFill>
              <a:latin typeface="Consolas" panose="020B0609020204030204" pitchFamily="49" charset="0"/>
            </a:endParaRPr>
          </a:p>
          <a:p>
            <a:r>
              <a:rPr lang="pl-PL" sz="1400" dirty="0">
                <a:solidFill>
                  <a:srgbClr val="CCCCCC"/>
                </a:solidFill>
                <a:latin typeface="Consolas" panose="020B0609020204030204" pitchFamily="49" charset="0"/>
              </a:rPr>
              <a:t>    </a:t>
            </a:r>
            <a:r>
              <a:rPr lang="pl-PL" sz="1400" dirty="0">
                <a:solidFill>
                  <a:srgbClr val="C586C0"/>
                </a:solidFill>
                <a:latin typeface="Consolas" panose="020B0609020204030204" pitchFamily="49" charset="0"/>
              </a:rPr>
              <a:t>for</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px</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py</a:t>
            </a:r>
            <a:r>
              <a:rPr lang="pl-PL" sz="1400" dirty="0">
                <a:solidFill>
                  <a:srgbClr val="CCCCCC"/>
                </a:solidFill>
                <a:latin typeface="Consolas" panose="020B0609020204030204" pitchFamily="49" charset="0"/>
              </a:rPr>
              <a:t>) </a:t>
            </a:r>
            <a:r>
              <a:rPr lang="pl-PL" sz="1400" dirty="0">
                <a:solidFill>
                  <a:srgbClr val="C586C0"/>
                </a:solidFill>
                <a:latin typeface="Consolas" panose="020B0609020204030204" pitchFamily="49" charset="0"/>
              </a:rPr>
              <a:t>in</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obstacle_points</a:t>
            </a:r>
            <a:r>
              <a:rPr lang="pl-PL" sz="1400" dirty="0">
                <a:solidFill>
                  <a:srgbClr val="CCCCCC"/>
                </a:solidFill>
                <a:latin typeface="Consolas" panose="020B0609020204030204" pitchFamily="49" charset="0"/>
              </a:rPr>
              <a:t>:</a:t>
            </a:r>
          </a:p>
          <a:p>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cell_x</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err="1">
                <a:solidFill>
                  <a:srgbClr val="4EC9B0"/>
                </a:solidFill>
                <a:latin typeface="Consolas" panose="020B0609020204030204" pitchFamily="49" charset="0"/>
              </a:rPr>
              <a:t>int</a:t>
            </a:r>
            <a:r>
              <a:rPr lang="pl-PL" sz="1400" dirty="0">
                <a:solidFill>
                  <a:srgbClr val="CCCCCC"/>
                </a:solidFill>
                <a:latin typeface="Consolas" panose="020B0609020204030204" pitchFamily="49" charset="0"/>
              </a:rPr>
              <a:t>(</a:t>
            </a:r>
            <a:r>
              <a:rPr lang="pl-PL" sz="1400" dirty="0" err="1">
                <a:solidFill>
                  <a:srgbClr val="CCCCCC"/>
                </a:solidFill>
                <a:latin typeface="Consolas" panose="020B0609020204030204" pitchFamily="49" charset="0"/>
              </a:rPr>
              <a:t>origin_x</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px</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resolution)</a:t>
            </a:r>
          </a:p>
          <a:p>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cell_y</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err="1">
                <a:solidFill>
                  <a:srgbClr val="4EC9B0"/>
                </a:solidFill>
                <a:latin typeface="Consolas" panose="020B0609020204030204" pitchFamily="49" charset="0"/>
              </a:rPr>
              <a:t>int</a:t>
            </a:r>
            <a:r>
              <a:rPr lang="pl-PL" sz="1400" dirty="0">
                <a:solidFill>
                  <a:srgbClr val="CCCCCC"/>
                </a:solidFill>
                <a:latin typeface="Consolas" panose="020B0609020204030204" pitchFamily="49" charset="0"/>
              </a:rPr>
              <a:t>(</a:t>
            </a:r>
            <a:r>
              <a:rPr lang="pl-PL" sz="1400" dirty="0" err="1">
                <a:solidFill>
                  <a:srgbClr val="CCCCCC"/>
                </a:solidFill>
                <a:latin typeface="Consolas" panose="020B0609020204030204" pitchFamily="49" charset="0"/>
              </a:rPr>
              <a:t>origin_y</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py</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resolution)</a:t>
            </a:r>
          </a:p>
          <a:p>
            <a:r>
              <a:rPr lang="pl-PL" sz="1400" dirty="0">
                <a:solidFill>
                  <a:srgbClr val="CCCCCC"/>
                </a:solidFill>
                <a:latin typeface="Consolas" panose="020B0609020204030204" pitchFamily="49" charset="0"/>
              </a:rPr>
              <a:t>        </a:t>
            </a:r>
            <a:r>
              <a:rPr lang="pl-PL" sz="1400" dirty="0" err="1">
                <a:solidFill>
                  <a:srgbClr val="C586C0"/>
                </a:solidFill>
                <a:latin typeface="Consolas" panose="020B0609020204030204" pitchFamily="49" charset="0"/>
              </a:rPr>
              <a:t>if</a:t>
            </a:r>
            <a:r>
              <a:rPr lang="pl-PL" sz="1400" dirty="0">
                <a:solidFill>
                  <a:srgbClr val="CCCCCC"/>
                </a:solidFill>
                <a:latin typeface="Consolas" panose="020B0609020204030204" pitchFamily="49" charset="0"/>
              </a:rPr>
              <a:t> </a:t>
            </a:r>
            <a:r>
              <a:rPr lang="pl-PL" sz="1400" dirty="0">
                <a:solidFill>
                  <a:srgbClr val="B5CEA8"/>
                </a:solidFill>
                <a:latin typeface="Consolas" panose="020B0609020204030204" pitchFamily="49" charset="0"/>
              </a:rPr>
              <a:t>0</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&lt;=</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cell_x</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&lt;</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grid_size</a:t>
            </a:r>
            <a:r>
              <a:rPr lang="pl-PL" sz="1400" dirty="0">
                <a:solidFill>
                  <a:srgbClr val="CCCCCC"/>
                </a:solidFill>
                <a:latin typeface="Consolas" panose="020B0609020204030204" pitchFamily="49" charset="0"/>
              </a:rPr>
              <a:t> </a:t>
            </a:r>
            <a:r>
              <a:rPr lang="pl-PL" sz="1400" dirty="0">
                <a:solidFill>
                  <a:srgbClr val="569CD6"/>
                </a:solidFill>
                <a:latin typeface="Consolas" panose="020B0609020204030204" pitchFamily="49" charset="0"/>
              </a:rPr>
              <a:t>and</a:t>
            </a:r>
            <a:r>
              <a:rPr lang="pl-PL" sz="1400" dirty="0">
                <a:solidFill>
                  <a:srgbClr val="CCCCCC"/>
                </a:solidFill>
                <a:latin typeface="Consolas" panose="020B0609020204030204" pitchFamily="49" charset="0"/>
              </a:rPr>
              <a:t> </a:t>
            </a:r>
            <a:r>
              <a:rPr lang="pl-PL" sz="1400" dirty="0">
                <a:solidFill>
                  <a:srgbClr val="B5CEA8"/>
                </a:solidFill>
                <a:latin typeface="Consolas" panose="020B0609020204030204" pitchFamily="49" charset="0"/>
              </a:rPr>
              <a:t>0</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&lt;=</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cell_y</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&lt;</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grid_size</a:t>
            </a:r>
            <a:r>
              <a:rPr lang="pl-PL" sz="1400" dirty="0">
                <a:solidFill>
                  <a:srgbClr val="CCCCCC"/>
                </a:solidFill>
                <a:latin typeface="Consolas" panose="020B0609020204030204" pitchFamily="49" charset="0"/>
              </a:rPr>
              <a:t>:</a:t>
            </a:r>
          </a:p>
          <a:p>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grid</a:t>
            </a:r>
            <a:r>
              <a:rPr lang="pl-PL" sz="1400" dirty="0">
                <a:solidFill>
                  <a:srgbClr val="CCCCCC"/>
                </a:solidFill>
                <a:latin typeface="Consolas" panose="020B0609020204030204" pitchFamily="49" charset="0"/>
              </a:rPr>
              <a:t>[</a:t>
            </a:r>
            <a:r>
              <a:rPr lang="pl-PL" sz="1400" dirty="0" err="1">
                <a:solidFill>
                  <a:srgbClr val="CCCCCC"/>
                </a:solidFill>
                <a:latin typeface="Consolas" panose="020B0609020204030204" pitchFamily="49" charset="0"/>
              </a:rPr>
              <a:t>cell_y</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cell_x</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a:solidFill>
                  <a:srgbClr val="B5CEA8"/>
                </a:solidFill>
                <a:latin typeface="Consolas" panose="020B0609020204030204" pitchFamily="49" charset="0"/>
              </a:rPr>
              <a:t>100</a:t>
            </a:r>
            <a:r>
              <a:rPr lang="pl-PL" sz="1400" dirty="0">
                <a:solidFill>
                  <a:srgbClr val="CCCCCC"/>
                </a:solidFill>
                <a:latin typeface="Consolas" panose="020B0609020204030204" pitchFamily="49" charset="0"/>
              </a:rPr>
              <a:t>  </a:t>
            </a:r>
            <a:r>
              <a:rPr lang="pl-PL" sz="1400" dirty="0">
                <a:solidFill>
                  <a:srgbClr val="6A9955"/>
                </a:solidFill>
                <a:latin typeface="Consolas" panose="020B0609020204030204" pitchFamily="49" charset="0"/>
              </a:rPr>
              <a:t># </a:t>
            </a:r>
            <a:r>
              <a:rPr lang="pl-PL" sz="1400" dirty="0" err="1">
                <a:solidFill>
                  <a:srgbClr val="6A9955"/>
                </a:solidFill>
                <a:latin typeface="Consolas" panose="020B0609020204030204" pitchFamily="49" charset="0"/>
              </a:rPr>
              <a:t>zajete</a:t>
            </a:r>
            <a:endParaRPr lang="pl-PL" sz="1400" dirty="0">
              <a:solidFill>
                <a:srgbClr val="CCCCCC"/>
              </a:solidFill>
              <a:latin typeface="Consolas" panose="020B0609020204030204" pitchFamily="49" charset="0"/>
            </a:endParaRPr>
          </a:p>
          <a:p>
            <a:r>
              <a:rPr lang="pl-PL" sz="1400" dirty="0">
                <a:solidFill>
                  <a:srgbClr val="CCCCCC"/>
                </a:solidFill>
                <a:latin typeface="Consolas" panose="020B0609020204030204" pitchFamily="49" charset="0"/>
              </a:rPr>
              <a:t>    </a:t>
            </a:r>
            <a:r>
              <a:rPr lang="pl-PL" sz="1400" dirty="0">
                <a:solidFill>
                  <a:srgbClr val="C586C0"/>
                </a:solidFill>
                <a:latin typeface="Consolas" panose="020B0609020204030204" pitchFamily="49" charset="0"/>
              </a:rPr>
              <a:t>return</a:t>
            </a:r>
            <a:r>
              <a:rPr lang="pl-PL" sz="1400" dirty="0">
                <a:solidFill>
                  <a:srgbClr val="CCCCCC"/>
                </a:solidFill>
                <a:latin typeface="Consolas" panose="020B0609020204030204" pitchFamily="49" charset="0"/>
              </a:rPr>
              <a:t> </a:t>
            </a:r>
            <a:r>
              <a:rPr lang="pl-PL" sz="1400" dirty="0" err="1" smtClean="0">
                <a:solidFill>
                  <a:srgbClr val="CCCCCC"/>
                </a:solidFill>
                <a:latin typeface="Consolas" panose="020B0609020204030204" pitchFamily="49" charset="0"/>
              </a:rPr>
              <a:t>grid</a:t>
            </a:r>
            <a:endParaRPr lang="pl-PL" sz="1400" dirty="0">
              <a:solidFill>
                <a:srgbClr val="CCCCCC"/>
              </a:solidFill>
              <a:latin typeface="Consolas" panose="020B0609020204030204" pitchFamily="49" charset="0"/>
            </a:endParaRPr>
          </a:p>
        </p:txBody>
      </p:sp>
      <p:sp>
        <p:nvSpPr>
          <p:cNvPr id="11" name="Shape 9"/>
          <p:cNvSpPr/>
          <p:nvPr/>
        </p:nvSpPr>
        <p:spPr>
          <a:xfrm>
            <a:off x="274320" y="4421528"/>
            <a:ext cx="8595360" cy="516231"/>
          </a:xfrm>
          <a:prstGeom prst="rect">
            <a:avLst/>
          </a:prstGeom>
          <a:solidFill>
            <a:srgbClr val="1A3550"/>
          </a:solidFill>
          <a:ln w="12700">
            <a:solidFill>
              <a:srgbClr val="0077A8"/>
            </a:solidFill>
            <a:prstDash val="solid"/>
          </a:ln>
        </p:spPr>
      </p:sp>
      <p:sp>
        <p:nvSpPr>
          <p:cNvPr id="12" name="Text 10"/>
          <p:cNvSpPr/>
          <p:nvPr/>
        </p:nvSpPr>
        <p:spPr>
          <a:xfrm>
            <a:off x="457200" y="4421528"/>
            <a:ext cx="8321040" cy="516231"/>
          </a:xfrm>
          <a:prstGeom prst="rect">
            <a:avLst/>
          </a:prstGeom>
          <a:noFill/>
          <a:ln/>
        </p:spPr>
        <p:txBody>
          <a:bodyPr wrap="square" lIns="0" tIns="0" rIns="127000" bIns="0" rtlCol="0" anchor="ctr"/>
          <a:lstStyle/>
          <a:p>
            <a:pPr marL="0" indent="0" algn="ctr">
              <a:buNone/>
            </a:pPr>
            <a:r>
              <a:rPr lang="en-US" sz="1600" b="1" dirty="0">
                <a:solidFill>
                  <a:srgbClr val="00B4D8"/>
                </a:solidFill>
                <a:latin typeface="Calibri" pitchFamily="34" charset="0"/>
                <a:ea typeface="Calibri" pitchFamily="34" charset="-122"/>
                <a:cs typeface="Calibri" pitchFamily="34" charset="-120"/>
              </a:rPr>
              <a:t>Opis: </a:t>
            </a:r>
            <a:r>
              <a:rPr lang="en-US" sz="1600" dirty="0">
                <a:solidFill>
                  <a:srgbClr val="E2EBF3"/>
                </a:solidFill>
                <a:latin typeface="Calibri" pitchFamily="34" charset="0"/>
                <a:ea typeface="Calibri" pitchFamily="34" charset="-122"/>
                <a:cs typeface="Calibri" pitchFamily="34" charset="-120"/>
              </a:rPr>
              <a:t>Siatka 100x100 komórek, rozdzielczość 5 cm/komórkę; wartość 100 = zajęte, 0 = </a:t>
            </a:r>
            <a:r>
              <a:rPr lang="en-US" sz="1600" dirty="0" err="1" smtClean="0">
                <a:solidFill>
                  <a:srgbClr val="E2EBF3"/>
                </a:solidFill>
                <a:latin typeface="Calibri" pitchFamily="34" charset="0"/>
                <a:ea typeface="Calibri" pitchFamily="34" charset="-122"/>
                <a:cs typeface="Calibri" pitchFamily="34" charset="-120"/>
              </a:rPr>
              <a:t>wolne</a:t>
            </a:r>
            <a:endParaRPr lang="en-US" sz="1600" dirty="0"/>
          </a:p>
        </p:txBody>
      </p:sp>
      <p:sp>
        <p:nvSpPr>
          <p:cNvPr id="13" name="Shape 5"/>
          <p:cNvSpPr/>
          <p:nvPr/>
        </p:nvSpPr>
        <p:spPr>
          <a:xfrm>
            <a:off x="8119872" y="1115568"/>
            <a:ext cx="146304" cy="146304"/>
          </a:xfrm>
          <a:prstGeom prst="ellipse">
            <a:avLst/>
          </a:prstGeom>
          <a:solidFill>
            <a:srgbClr val="F72585"/>
          </a:solidFill>
          <a:ln w="12700">
            <a:solidFill>
              <a:srgbClr val="F72585"/>
            </a:solidFill>
            <a:prstDash val="solid"/>
          </a:ln>
        </p:spPr>
      </p:sp>
      <p:sp>
        <p:nvSpPr>
          <p:cNvPr id="14" name="Shape 6"/>
          <p:cNvSpPr/>
          <p:nvPr/>
        </p:nvSpPr>
        <p:spPr>
          <a:xfrm>
            <a:off x="8375904" y="1115568"/>
            <a:ext cx="146304" cy="146304"/>
          </a:xfrm>
          <a:prstGeom prst="ellipse">
            <a:avLst/>
          </a:prstGeom>
          <a:solidFill>
            <a:srgbClr val="FFD60A"/>
          </a:solidFill>
          <a:ln w="12700">
            <a:solidFill>
              <a:srgbClr val="FFD60A"/>
            </a:solidFill>
            <a:prstDash val="solid"/>
          </a:ln>
        </p:spPr>
      </p:sp>
      <p:sp>
        <p:nvSpPr>
          <p:cNvPr id="15" name="Shape 7"/>
          <p:cNvSpPr/>
          <p:nvPr/>
        </p:nvSpPr>
        <p:spPr>
          <a:xfrm>
            <a:off x="8631936" y="1115568"/>
            <a:ext cx="146304" cy="146304"/>
          </a:xfrm>
          <a:prstGeom prst="ellipse">
            <a:avLst/>
          </a:prstGeom>
          <a:solidFill>
            <a:srgbClr val="C3F584"/>
          </a:solidFill>
          <a:ln w="12700">
            <a:solidFill>
              <a:srgbClr val="C3F584"/>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Obliczanie mapy kosztów z inflacją</a:t>
            </a:r>
            <a:endParaRPr lang="en-US" sz="2800" dirty="0"/>
          </a:p>
        </p:txBody>
      </p:sp>
      <p:sp>
        <p:nvSpPr>
          <p:cNvPr id="6" name="Shape 4"/>
          <p:cNvSpPr/>
          <p:nvPr/>
        </p:nvSpPr>
        <p:spPr>
          <a:xfrm>
            <a:off x="274320" y="1005839"/>
            <a:ext cx="8595360" cy="3149472"/>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7" name="Shape 5"/>
          <p:cNvSpPr/>
          <p:nvPr/>
        </p:nvSpPr>
        <p:spPr>
          <a:xfrm>
            <a:off x="8119872" y="1115568"/>
            <a:ext cx="146304" cy="146304"/>
          </a:xfrm>
          <a:prstGeom prst="ellipse">
            <a:avLst/>
          </a:prstGeom>
          <a:solidFill>
            <a:srgbClr val="F72585"/>
          </a:solidFill>
          <a:ln w="12700">
            <a:solidFill>
              <a:srgbClr val="F72585"/>
            </a:solidFill>
            <a:prstDash val="solid"/>
          </a:ln>
        </p:spPr>
      </p:sp>
      <p:sp>
        <p:nvSpPr>
          <p:cNvPr id="8" name="Shape 6"/>
          <p:cNvSpPr/>
          <p:nvPr/>
        </p:nvSpPr>
        <p:spPr>
          <a:xfrm>
            <a:off x="8375904" y="1115568"/>
            <a:ext cx="146304" cy="146304"/>
          </a:xfrm>
          <a:prstGeom prst="ellipse">
            <a:avLst/>
          </a:prstGeom>
          <a:solidFill>
            <a:srgbClr val="FFD60A"/>
          </a:solidFill>
          <a:ln w="12700">
            <a:solidFill>
              <a:srgbClr val="FFD60A"/>
            </a:solidFill>
            <a:prstDash val="solid"/>
          </a:ln>
        </p:spPr>
      </p:sp>
      <p:sp>
        <p:nvSpPr>
          <p:cNvPr id="9" name="Shape 7"/>
          <p:cNvSpPr/>
          <p:nvPr/>
        </p:nvSpPr>
        <p:spPr>
          <a:xfrm>
            <a:off x="8631936" y="1115568"/>
            <a:ext cx="146304" cy="146304"/>
          </a:xfrm>
          <a:prstGeom prst="ellipse">
            <a:avLst/>
          </a:prstGeom>
          <a:solidFill>
            <a:srgbClr val="C3F584"/>
          </a:solidFill>
          <a:ln w="12700">
            <a:solidFill>
              <a:srgbClr val="C3F584"/>
            </a:solidFill>
            <a:prstDash val="solid"/>
          </a:ln>
        </p:spPr>
      </p:sp>
      <p:sp>
        <p:nvSpPr>
          <p:cNvPr id="10" name="Text 8"/>
          <p:cNvSpPr/>
          <p:nvPr/>
        </p:nvSpPr>
        <p:spPr>
          <a:xfrm>
            <a:off x="384048" y="1079842"/>
            <a:ext cx="8321040" cy="2924997"/>
          </a:xfrm>
          <a:prstGeom prst="rect">
            <a:avLst/>
          </a:prstGeom>
          <a:noFill/>
          <a:ln/>
        </p:spPr>
        <p:txBody>
          <a:bodyPr wrap="square" lIns="108000" tIns="0" rIns="127000" bIns="63500" rtlCol="0" anchor="t"/>
          <a:lstStyle/>
          <a:p>
            <a:r>
              <a:rPr lang="pl-PL" sz="1400" dirty="0">
                <a:solidFill>
                  <a:srgbClr val="C586C0"/>
                </a:solidFill>
                <a:latin typeface="Consolas" panose="020B0609020204030204" pitchFamily="49" charset="0"/>
              </a:rPr>
              <a:t>from</a:t>
            </a:r>
            <a:r>
              <a:rPr lang="pl-PL" sz="1400" dirty="0">
                <a:solidFill>
                  <a:srgbClr val="CCCCCC"/>
                </a:solidFill>
                <a:latin typeface="Consolas" panose="020B0609020204030204" pitchFamily="49" charset="0"/>
              </a:rPr>
              <a:t> </a:t>
            </a:r>
            <a:r>
              <a:rPr lang="pl-PL" sz="1400" dirty="0" err="1">
                <a:solidFill>
                  <a:srgbClr val="4EC9B0"/>
                </a:solidFill>
                <a:latin typeface="Consolas" panose="020B0609020204030204" pitchFamily="49" charset="0"/>
              </a:rPr>
              <a:t>scipy</a:t>
            </a:r>
            <a:r>
              <a:rPr lang="pl-PL" sz="1400" dirty="0" err="1">
                <a:solidFill>
                  <a:srgbClr val="CCCCCC"/>
                </a:solidFill>
                <a:latin typeface="Consolas" panose="020B0609020204030204" pitchFamily="49" charset="0"/>
              </a:rPr>
              <a:t>.</a:t>
            </a:r>
            <a:r>
              <a:rPr lang="pl-PL" sz="1400" dirty="0" err="1">
                <a:solidFill>
                  <a:srgbClr val="4EC9B0"/>
                </a:solidFill>
                <a:latin typeface="Consolas" panose="020B0609020204030204" pitchFamily="49" charset="0"/>
              </a:rPr>
              <a:t>ndimage</a:t>
            </a:r>
            <a:r>
              <a:rPr lang="pl-PL" sz="1400" dirty="0">
                <a:solidFill>
                  <a:srgbClr val="CCCCCC"/>
                </a:solidFill>
                <a:latin typeface="Consolas" panose="020B0609020204030204" pitchFamily="49" charset="0"/>
              </a:rPr>
              <a:t> </a:t>
            </a:r>
            <a:r>
              <a:rPr lang="pl-PL" sz="1400" dirty="0">
                <a:solidFill>
                  <a:srgbClr val="C586C0"/>
                </a:solidFill>
                <a:latin typeface="Consolas" panose="020B0609020204030204" pitchFamily="49" charset="0"/>
              </a:rPr>
              <a:t>import</a:t>
            </a:r>
            <a:r>
              <a:rPr lang="pl-PL" sz="1400" dirty="0">
                <a:solidFill>
                  <a:srgbClr val="CCCCCC"/>
                </a:solidFill>
                <a:latin typeface="Consolas" panose="020B0609020204030204" pitchFamily="49" charset="0"/>
              </a:rPr>
              <a:t> </a:t>
            </a:r>
            <a:r>
              <a:rPr lang="pl-PL" sz="1400" dirty="0" err="1">
                <a:solidFill>
                  <a:srgbClr val="DCDCAA"/>
                </a:solidFill>
                <a:latin typeface="Consolas" panose="020B0609020204030204" pitchFamily="49" charset="0"/>
              </a:rPr>
              <a:t>distance_transform_edt</a:t>
            </a:r>
            <a:endParaRPr lang="pl-PL" sz="1400" dirty="0">
              <a:solidFill>
                <a:srgbClr val="CCCCCC"/>
              </a:solidFill>
              <a:latin typeface="Consolas" panose="020B0609020204030204" pitchFamily="49" charset="0"/>
            </a:endParaRPr>
          </a:p>
          <a:p>
            <a:r>
              <a:rPr lang="pl-PL" sz="1400" dirty="0">
                <a:solidFill>
                  <a:srgbClr val="C586C0"/>
                </a:solidFill>
                <a:latin typeface="Consolas" panose="020B0609020204030204" pitchFamily="49" charset="0"/>
              </a:rPr>
              <a:t>import</a:t>
            </a:r>
            <a:r>
              <a:rPr lang="pl-PL" sz="1400" dirty="0">
                <a:solidFill>
                  <a:srgbClr val="CCCCCC"/>
                </a:solidFill>
                <a:latin typeface="Consolas" panose="020B0609020204030204" pitchFamily="49" charset="0"/>
              </a:rPr>
              <a:t> </a:t>
            </a:r>
            <a:r>
              <a:rPr lang="pl-PL" sz="1400" dirty="0" err="1">
                <a:solidFill>
                  <a:srgbClr val="4EC9B0"/>
                </a:solidFill>
                <a:latin typeface="Consolas" panose="020B0609020204030204" pitchFamily="49" charset="0"/>
              </a:rPr>
              <a:t>numpy</a:t>
            </a:r>
            <a:r>
              <a:rPr lang="pl-PL" sz="1400" dirty="0">
                <a:solidFill>
                  <a:srgbClr val="CCCCCC"/>
                </a:solidFill>
                <a:latin typeface="Consolas" panose="020B0609020204030204" pitchFamily="49" charset="0"/>
              </a:rPr>
              <a:t> </a:t>
            </a:r>
            <a:r>
              <a:rPr lang="pl-PL" sz="1400" dirty="0">
                <a:solidFill>
                  <a:srgbClr val="C586C0"/>
                </a:solidFill>
                <a:latin typeface="Consolas" panose="020B0609020204030204" pitchFamily="49" charset="0"/>
              </a:rPr>
              <a:t>as</a:t>
            </a:r>
            <a:r>
              <a:rPr lang="pl-PL" sz="1400" dirty="0">
                <a:solidFill>
                  <a:srgbClr val="CCCCCC"/>
                </a:solidFill>
                <a:latin typeface="Consolas" panose="020B0609020204030204" pitchFamily="49" charset="0"/>
              </a:rPr>
              <a:t> </a:t>
            </a:r>
            <a:r>
              <a:rPr lang="pl-PL" sz="1400" dirty="0" err="1">
                <a:solidFill>
                  <a:srgbClr val="4EC9B0"/>
                </a:solidFill>
                <a:latin typeface="Consolas" panose="020B0609020204030204" pitchFamily="49" charset="0"/>
              </a:rPr>
              <a:t>np</a:t>
            </a:r>
            <a:endParaRPr lang="pl-PL" sz="1400" dirty="0">
              <a:solidFill>
                <a:srgbClr val="CCCCCC"/>
              </a:solidFill>
              <a:latin typeface="Consolas" panose="020B0609020204030204" pitchFamily="49" charset="0"/>
            </a:endParaRPr>
          </a:p>
          <a:p>
            <a:r>
              <a:rPr lang="pl-PL" sz="1400" dirty="0">
                <a:solidFill>
                  <a:srgbClr val="CCCCCC"/>
                </a:solidFill>
                <a:latin typeface="Consolas" panose="020B0609020204030204" pitchFamily="49" charset="0"/>
              </a:rPr>
              <a:t/>
            </a:r>
            <a:br>
              <a:rPr lang="pl-PL" sz="1400" dirty="0">
                <a:solidFill>
                  <a:srgbClr val="CCCCCC"/>
                </a:solidFill>
                <a:latin typeface="Consolas" panose="020B0609020204030204" pitchFamily="49" charset="0"/>
              </a:rPr>
            </a:br>
            <a:r>
              <a:rPr lang="pl-PL" sz="1400" dirty="0">
                <a:solidFill>
                  <a:srgbClr val="569CD6"/>
                </a:solidFill>
                <a:latin typeface="Consolas" panose="020B0609020204030204" pitchFamily="49" charset="0"/>
              </a:rPr>
              <a:t>def</a:t>
            </a:r>
            <a:r>
              <a:rPr lang="pl-PL" sz="1400" dirty="0">
                <a:solidFill>
                  <a:srgbClr val="CCCCCC"/>
                </a:solidFill>
                <a:latin typeface="Consolas" panose="020B0609020204030204" pitchFamily="49" charset="0"/>
              </a:rPr>
              <a:t> </a:t>
            </a:r>
            <a:r>
              <a:rPr lang="pl-PL" sz="1400" dirty="0" err="1">
                <a:solidFill>
                  <a:srgbClr val="DCDCAA"/>
                </a:solidFill>
                <a:latin typeface="Consolas" panose="020B0609020204030204" pitchFamily="49" charset="0"/>
              </a:rPr>
              <a:t>compute_cost_map</a:t>
            </a:r>
            <a:r>
              <a:rPr lang="pl-PL" sz="1400" dirty="0">
                <a:solidFill>
                  <a:srgbClr val="CCCCCC"/>
                </a:solidFill>
                <a:latin typeface="Consolas" panose="020B0609020204030204" pitchFamily="49" charset="0"/>
              </a:rPr>
              <a:t>(</a:t>
            </a:r>
            <a:r>
              <a:rPr lang="pl-PL" sz="1400" dirty="0" err="1">
                <a:solidFill>
                  <a:srgbClr val="9CDCFE"/>
                </a:solidFill>
                <a:latin typeface="Consolas" panose="020B0609020204030204" pitchFamily="49" charset="0"/>
              </a:rPr>
              <a:t>grid</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np.ndarray</a:t>
            </a:r>
            <a:r>
              <a:rPr lang="pl-PL" sz="1400" dirty="0">
                <a:solidFill>
                  <a:srgbClr val="CCCCCC"/>
                </a:solidFill>
                <a:latin typeface="Consolas" panose="020B0609020204030204" pitchFamily="49" charset="0"/>
              </a:rPr>
              <a:t>,</a:t>
            </a:r>
          </a:p>
          <a:p>
            <a:r>
              <a:rPr lang="pl-PL" sz="1400" dirty="0">
                <a:solidFill>
                  <a:srgbClr val="CCCCCC"/>
                </a:solidFill>
                <a:latin typeface="Consolas" panose="020B0609020204030204" pitchFamily="49" charset="0"/>
              </a:rPr>
              <a:t>                     </a:t>
            </a:r>
            <a:r>
              <a:rPr lang="pl-PL" sz="1400" dirty="0" err="1">
                <a:solidFill>
                  <a:srgbClr val="9CDCFE"/>
                </a:solidFill>
                <a:latin typeface="Consolas" panose="020B0609020204030204" pitchFamily="49" charset="0"/>
              </a:rPr>
              <a:t>inflation_radius</a:t>
            </a:r>
            <a:r>
              <a:rPr lang="pl-PL" sz="1400" dirty="0">
                <a:solidFill>
                  <a:srgbClr val="CCCCCC"/>
                </a:solidFill>
                <a:latin typeface="Consolas" panose="020B0609020204030204" pitchFamily="49" charset="0"/>
              </a:rPr>
              <a:t>: </a:t>
            </a:r>
            <a:r>
              <a:rPr lang="pl-PL" sz="1400" dirty="0" err="1">
                <a:solidFill>
                  <a:srgbClr val="4EC9B0"/>
                </a:solidFill>
                <a:latin typeface="Consolas" panose="020B0609020204030204" pitchFamily="49" charset="0"/>
              </a:rPr>
              <a:t>float</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a:solidFill>
                  <a:srgbClr val="B5CEA8"/>
                </a:solidFill>
                <a:latin typeface="Consolas" panose="020B0609020204030204" pitchFamily="49" charset="0"/>
              </a:rPr>
              <a:t>3.0</a:t>
            </a:r>
            <a:r>
              <a:rPr lang="pl-PL" sz="1400" dirty="0">
                <a:solidFill>
                  <a:srgbClr val="CCCCCC"/>
                </a:solidFill>
                <a:latin typeface="Consolas" panose="020B0609020204030204" pitchFamily="49" charset="0"/>
              </a:rPr>
              <a:t>,</a:t>
            </a:r>
          </a:p>
          <a:p>
            <a:r>
              <a:rPr lang="pl-PL" sz="1400" dirty="0">
                <a:solidFill>
                  <a:srgbClr val="CCCCCC"/>
                </a:solidFill>
                <a:latin typeface="Consolas" panose="020B0609020204030204" pitchFamily="49" charset="0"/>
              </a:rPr>
              <a:t>                     </a:t>
            </a:r>
            <a:r>
              <a:rPr lang="pl-PL" sz="1400" dirty="0" err="1">
                <a:solidFill>
                  <a:srgbClr val="9CDCFE"/>
                </a:solidFill>
                <a:latin typeface="Consolas" panose="020B0609020204030204" pitchFamily="49" charset="0"/>
              </a:rPr>
              <a:t>max_cost</a:t>
            </a:r>
            <a:r>
              <a:rPr lang="pl-PL" sz="1400" dirty="0">
                <a:solidFill>
                  <a:srgbClr val="CCCCCC"/>
                </a:solidFill>
                <a:latin typeface="Consolas" panose="020B0609020204030204" pitchFamily="49" charset="0"/>
              </a:rPr>
              <a:t>: </a:t>
            </a:r>
            <a:r>
              <a:rPr lang="pl-PL" sz="1400" dirty="0" err="1">
                <a:solidFill>
                  <a:srgbClr val="4EC9B0"/>
                </a:solidFill>
                <a:latin typeface="Consolas" panose="020B0609020204030204" pitchFamily="49" charset="0"/>
              </a:rPr>
              <a:t>float</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a:solidFill>
                  <a:srgbClr val="B5CEA8"/>
                </a:solidFill>
                <a:latin typeface="Consolas" panose="020B0609020204030204" pitchFamily="49" charset="0"/>
              </a:rPr>
              <a:t>100.0</a:t>
            </a:r>
            <a:r>
              <a:rPr lang="pl-PL" sz="1400" dirty="0">
                <a:solidFill>
                  <a:srgbClr val="CCCCCC"/>
                </a:solidFill>
                <a:latin typeface="Consolas" panose="020B0609020204030204" pitchFamily="49" charset="0"/>
              </a:rPr>
              <a:t>) -&gt; </a:t>
            </a:r>
            <a:r>
              <a:rPr lang="pl-PL" sz="1400" dirty="0" err="1">
                <a:solidFill>
                  <a:srgbClr val="CCCCCC"/>
                </a:solidFill>
                <a:latin typeface="Consolas" panose="020B0609020204030204" pitchFamily="49" charset="0"/>
              </a:rPr>
              <a:t>np.ndarray</a:t>
            </a:r>
            <a:r>
              <a:rPr lang="pl-PL" sz="1400" dirty="0">
                <a:solidFill>
                  <a:srgbClr val="CCCCCC"/>
                </a:solidFill>
                <a:latin typeface="Consolas" panose="020B0609020204030204" pitchFamily="49" charset="0"/>
              </a:rPr>
              <a:t>:</a:t>
            </a:r>
          </a:p>
          <a:p>
            <a:r>
              <a:rPr lang="pl-PL" sz="1400" dirty="0">
                <a:solidFill>
                  <a:srgbClr val="CCCCCC"/>
                </a:solidFill>
                <a:latin typeface="Consolas" panose="020B0609020204030204" pitchFamily="49" charset="0"/>
              </a:rPr>
              <a:t>    </a:t>
            </a:r>
            <a:r>
              <a:rPr lang="pl-PL" sz="1400" dirty="0">
                <a:solidFill>
                  <a:srgbClr val="CE9178"/>
                </a:solidFill>
                <a:latin typeface="Consolas" panose="020B0609020204030204" pitchFamily="49" charset="0"/>
              </a:rPr>
              <a:t>"""Dodaje gradient kosztu wokół przeszkód (inflacja)."""</a:t>
            </a:r>
            <a:endParaRPr lang="pl-PL" sz="1400" dirty="0">
              <a:solidFill>
                <a:srgbClr val="CCCCCC"/>
              </a:solidFill>
              <a:latin typeface="Consolas" panose="020B0609020204030204" pitchFamily="49" charset="0"/>
            </a:endParaRPr>
          </a:p>
          <a:p>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obstacle_mask</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grid</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&gt;=</a:t>
            </a:r>
            <a:r>
              <a:rPr lang="pl-PL" sz="1400" dirty="0">
                <a:solidFill>
                  <a:srgbClr val="CCCCCC"/>
                </a:solidFill>
                <a:latin typeface="Consolas" panose="020B0609020204030204" pitchFamily="49" charset="0"/>
              </a:rPr>
              <a:t> </a:t>
            </a:r>
            <a:r>
              <a:rPr lang="pl-PL" sz="1400" dirty="0">
                <a:solidFill>
                  <a:srgbClr val="B5CEA8"/>
                </a:solidFill>
                <a:latin typeface="Consolas" panose="020B0609020204030204" pitchFamily="49" charset="0"/>
              </a:rPr>
              <a:t>100</a:t>
            </a:r>
            <a:r>
              <a:rPr lang="pl-PL" sz="1400" dirty="0">
                <a:solidFill>
                  <a:srgbClr val="CCCCCC"/>
                </a:solidFill>
                <a:latin typeface="Consolas" panose="020B0609020204030204" pitchFamily="49" charset="0"/>
              </a:rPr>
              <a:t>).</a:t>
            </a:r>
            <a:r>
              <a:rPr lang="pl-PL" sz="1400" dirty="0" err="1">
                <a:solidFill>
                  <a:srgbClr val="CCCCCC"/>
                </a:solidFill>
                <a:latin typeface="Consolas" panose="020B0609020204030204" pitchFamily="49" charset="0"/>
              </a:rPr>
              <a:t>astype</a:t>
            </a:r>
            <a:r>
              <a:rPr lang="pl-PL" sz="1400" dirty="0">
                <a:solidFill>
                  <a:srgbClr val="CCCCCC"/>
                </a:solidFill>
                <a:latin typeface="Consolas" panose="020B0609020204030204" pitchFamily="49" charset="0"/>
              </a:rPr>
              <a:t>(np.uint8)</a:t>
            </a:r>
          </a:p>
          <a:p>
            <a:r>
              <a:rPr lang="pl-PL" sz="1400" dirty="0">
                <a:solidFill>
                  <a:srgbClr val="CCCCCC"/>
                </a:solidFill>
                <a:latin typeface="Consolas" panose="020B0609020204030204" pitchFamily="49" charset="0"/>
              </a:rPr>
              <a:t>    </a:t>
            </a:r>
            <a:r>
              <a:rPr lang="pl-PL" sz="1400" dirty="0">
                <a:solidFill>
                  <a:srgbClr val="6A9955"/>
                </a:solidFill>
                <a:latin typeface="Consolas" panose="020B0609020204030204" pitchFamily="49" charset="0"/>
              </a:rPr>
              <a:t># </a:t>
            </a:r>
            <a:r>
              <a:rPr lang="pl-PL" sz="1400" dirty="0" err="1">
                <a:solidFill>
                  <a:srgbClr val="6A9955"/>
                </a:solidFill>
                <a:latin typeface="Consolas" panose="020B0609020204030204" pitchFamily="49" charset="0"/>
              </a:rPr>
              <a:t>Odleglosc</a:t>
            </a:r>
            <a:r>
              <a:rPr lang="pl-PL" sz="1400" dirty="0">
                <a:solidFill>
                  <a:srgbClr val="6A9955"/>
                </a:solidFill>
                <a:latin typeface="Consolas" panose="020B0609020204030204" pitchFamily="49" charset="0"/>
              </a:rPr>
              <a:t> euklidesowa </a:t>
            </a:r>
            <a:r>
              <a:rPr lang="pl-PL" sz="1400" dirty="0" err="1">
                <a:solidFill>
                  <a:srgbClr val="6A9955"/>
                </a:solidFill>
                <a:latin typeface="Consolas" panose="020B0609020204030204" pitchFamily="49" charset="0"/>
              </a:rPr>
              <a:t>kazdej</a:t>
            </a:r>
            <a:r>
              <a:rPr lang="pl-PL" sz="1400" dirty="0">
                <a:solidFill>
                  <a:srgbClr val="6A9955"/>
                </a:solidFill>
                <a:latin typeface="Consolas" panose="020B0609020204030204" pitchFamily="49" charset="0"/>
              </a:rPr>
              <a:t> </a:t>
            </a:r>
            <a:r>
              <a:rPr lang="pl-PL" sz="1400" dirty="0" err="1">
                <a:solidFill>
                  <a:srgbClr val="6A9955"/>
                </a:solidFill>
                <a:latin typeface="Consolas" panose="020B0609020204030204" pitchFamily="49" charset="0"/>
              </a:rPr>
              <a:t>komorki</a:t>
            </a:r>
            <a:r>
              <a:rPr lang="pl-PL" sz="1400" dirty="0">
                <a:solidFill>
                  <a:srgbClr val="6A9955"/>
                </a:solidFill>
                <a:latin typeface="Consolas" panose="020B0609020204030204" pitchFamily="49" charset="0"/>
              </a:rPr>
              <a:t> od </a:t>
            </a:r>
            <a:r>
              <a:rPr lang="pl-PL" sz="1400" dirty="0" err="1">
                <a:solidFill>
                  <a:srgbClr val="6A9955"/>
                </a:solidFill>
                <a:latin typeface="Consolas" panose="020B0609020204030204" pitchFamily="49" charset="0"/>
              </a:rPr>
              <a:t>najblizszej</a:t>
            </a:r>
            <a:r>
              <a:rPr lang="pl-PL" sz="1400" dirty="0">
                <a:solidFill>
                  <a:srgbClr val="6A9955"/>
                </a:solidFill>
                <a:latin typeface="Consolas" panose="020B0609020204030204" pitchFamily="49" charset="0"/>
              </a:rPr>
              <a:t> przeszkody</a:t>
            </a:r>
            <a:endParaRPr lang="pl-PL" sz="1400" dirty="0">
              <a:solidFill>
                <a:srgbClr val="CCCCCC"/>
              </a:solidFill>
              <a:latin typeface="Consolas" panose="020B0609020204030204" pitchFamily="49" charset="0"/>
            </a:endParaRPr>
          </a:p>
          <a:p>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dist</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distance_transform_edt</a:t>
            </a:r>
            <a:r>
              <a:rPr lang="pl-PL" sz="1400" dirty="0">
                <a:solidFill>
                  <a:srgbClr val="CCCCCC"/>
                </a:solidFill>
                <a:latin typeface="Consolas" panose="020B0609020204030204" pitchFamily="49" charset="0"/>
              </a:rPr>
              <a:t>(</a:t>
            </a:r>
            <a:r>
              <a:rPr lang="pl-PL" sz="1400" dirty="0">
                <a:solidFill>
                  <a:srgbClr val="B5CEA8"/>
                </a:solidFill>
                <a:latin typeface="Consolas" panose="020B0609020204030204" pitchFamily="49" charset="0"/>
              </a:rPr>
              <a:t>1</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obstacle_mask</a:t>
            </a:r>
            <a:r>
              <a:rPr lang="pl-PL" sz="1400" dirty="0">
                <a:solidFill>
                  <a:srgbClr val="CCCCCC"/>
                </a:solidFill>
                <a:latin typeface="Consolas" panose="020B0609020204030204" pitchFamily="49" charset="0"/>
              </a:rPr>
              <a:t>)</a:t>
            </a:r>
          </a:p>
          <a:p>
            <a:r>
              <a:rPr lang="pl-PL" sz="1400" dirty="0">
                <a:solidFill>
                  <a:srgbClr val="CCCCCC"/>
                </a:solidFill>
                <a:latin typeface="Consolas" panose="020B0609020204030204" pitchFamily="49" charset="0"/>
              </a:rPr>
              <a:t>    </a:t>
            </a:r>
            <a:r>
              <a:rPr lang="pl-PL" sz="1400" dirty="0">
                <a:solidFill>
                  <a:srgbClr val="6A9955"/>
                </a:solidFill>
                <a:latin typeface="Consolas" panose="020B0609020204030204" pitchFamily="49" charset="0"/>
              </a:rPr>
              <a:t># Koszt: max dla przeszkody, maleje z </a:t>
            </a:r>
            <a:r>
              <a:rPr lang="pl-PL" sz="1400" dirty="0" err="1">
                <a:solidFill>
                  <a:srgbClr val="6A9955"/>
                </a:solidFill>
                <a:latin typeface="Consolas" panose="020B0609020204030204" pitchFamily="49" charset="0"/>
              </a:rPr>
              <a:t>odlegloscia</a:t>
            </a:r>
            <a:endParaRPr lang="pl-PL" sz="1400" dirty="0">
              <a:solidFill>
                <a:srgbClr val="CCCCCC"/>
              </a:solidFill>
              <a:latin typeface="Consolas" panose="020B0609020204030204" pitchFamily="49" charset="0"/>
            </a:endParaRPr>
          </a:p>
          <a:p>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cost</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np.clip</a:t>
            </a:r>
            <a:r>
              <a:rPr lang="pl-PL" sz="1400" dirty="0">
                <a:solidFill>
                  <a:srgbClr val="CCCCCC"/>
                </a:solidFill>
                <a:latin typeface="Consolas" panose="020B0609020204030204" pitchFamily="49" charset="0"/>
              </a:rPr>
              <a:t>(</a:t>
            </a:r>
            <a:r>
              <a:rPr lang="pl-PL" sz="1400" dirty="0" err="1">
                <a:solidFill>
                  <a:srgbClr val="CCCCCC"/>
                </a:solidFill>
                <a:latin typeface="Consolas" panose="020B0609020204030204" pitchFamily="49" charset="0"/>
              </a:rPr>
              <a:t>max_cost</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a:solidFill>
                  <a:srgbClr val="B5CEA8"/>
                </a:solidFill>
                <a:latin typeface="Consolas" panose="020B0609020204030204" pitchFamily="49" charset="0"/>
              </a:rPr>
              <a:t>1</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dist</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inflation_radius</a:t>
            </a:r>
            <a:r>
              <a:rPr lang="pl-PL" sz="1400" dirty="0">
                <a:solidFill>
                  <a:srgbClr val="CCCCCC"/>
                </a:solidFill>
                <a:latin typeface="Consolas" panose="020B0609020204030204" pitchFamily="49" charset="0"/>
              </a:rPr>
              <a:t>), </a:t>
            </a:r>
            <a:r>
              <a:rPr lang="pl-PL" sz="1400" dirty="0">
                <a:solidFill>
                  <a:srgbClr val="B5CEA8"/>
                </a:solidFill>
                <a:latin typeface="Consolas" panose="020B0609020204030204" pitchFamily="49" charset="0"/>
              </a:rPr>
              <a:t>0</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max_cost</a:t>
            </a:r>
            <a:r>
              <a:rPr lang="pl-PL" sz="1400" dirty="0">
                <a:solidFill>
                  <a:srgbClr val="CCCCCC"/>
                </a:solidFill>
                <a:latin typeface="Consolas" panose="020B0609020204030204" pitchFamily="49" charset="0"/>
              </a:rPr>
              <a:t>)</a:t>
            </a:r>
          </a:p>
          <a:p>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cost</a:t>
            </a:r>
            <a:r>
              <a:rPr lang="pl-PL" sz="1400" dirty="0">
                <a:solidFill>
                  <a:srgbClr val="CCCCCC"/>
                </a:solidFill>
                <a:latin typeface="Consolas" panose="020B0609020204030204" pitchFamily="49" charset="0"/>
              </a:rPr>
              <a:t>[</a:t>
            </a:r>
            <a:r>
              <a:rPr lang="pl-PL" sz="1400" dirty="0" err="1">
                <a:solidFill>
                  <a:srgbClr val="CCCCCC"/>
                </a:solidFill>
                <a:latin typeface="Consolas" panose="020B0609020204030204" pitchFamily="49" charset="0"/>
              </a:rPr>
              <a:t>obstacle_mask</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a:solidFill>
                  <a:srgbClr val="B5CEA8"/>
                </a:solidFill>
                <a:latin typeface="Consolas" panose="020B0609020204030204" pitchFamily="49" charset="0"/>
              </a:rPr>
              <a:t>1</a:t>
            </a:r>
            <a:r>
              <a:rPr lang="pl-PL" sz="1400" dirty="0">
                <a:solidFill>
                  <a:srgbClr val="CCCCCC"/>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max_cost</a:t>
            </a:r>
            <a:endParaRPr lang="pl-PL" sz="1400" dirty="0">
              <a:solidFill>
                <a:srgbClr val="CCCCCC"/>
              </a:solidFill>
              <a:latin typeface="Consolas" panose="020B0609020204030204" pitchFamily="49" charset="0"/>
            </a:endParaRPr>
          </a:p>
          <a:p>
            <a:r>
              <a:rPr lang="pl-PL" sz="1400" dirty="0">
                <a:solidFill>
                  <a:srgbClr val="CCCCCC"/>
                </a:solidFill>
                <a:latin typeface="Consolas" panose="020B0609020204030204" pitchFamily="49" charset="0"/>
              </a:rPr>
              <a:t>    </a:t>
            </a:r>
            <a:r>
              <a:rPr lang="pl-PL" sz="1400" dirty="0">
                <a:solidFill>
                  <a:srgbClr val="C586C0"/>
                </a:solidFill>
                <a:latin typeface="Consolas" panose="020B0609020204030204" pitchFamily="49" charset="0"/>
              </a:rPr>
              <a:t>return</a:t>
            </a:r>
            <a:r>
              <a:rPr lang="pl-PL" sz="1400" dirty="0">
                <a:solidFill>
                  <a:srgbClr val="CCCCCC"/>
                </a:solidFill>
                <a:latin typeface="Consolas" panose="020B0609020204030204" pitchFamily="49" charset="0"/>
              </a:rPr>
              <a:t> </a:t>
            </a:r>
            <a:r>
              <a:rPr lang="pl-PL" sz="1400" dirty="0" err="1">
                <a:solidFill>
                  <a:srgbClr val="CCCCCC"/>
                </a:solidFill>
                <a:latin typeface="Consolas" panose="020B0609020204030204" pitchFamily="49" charset="0"/>
              </a:rPr>
              <a:t>cost.astype</a:t>
            </a:r>
            <a:r>
              <a:rPr lang="pl-PL" sz="1400" dirty="0">
                <a:solidFill>
                  <a:srgbClr val="CCCCCC"/>
                </a:solidFill>
                <a:latin typeface="Consolas" panose="020B0609020204030204" pitchFamily="49" charset="0"/>
              </a:rPr>
              <a:t>(np.float32</a:t>
            </a:r>
            <a:r>
              <a:rPr lang="pl-PL" sz="1400" dirty="0" smtClean="0">
                <a:solidFill>
                  <a:srgbClr val="CCCCCC"/>
                </a:solidFill>
                <a:latin typeface="Consolas" panose="020B0609020204030204" pitchFamily="49" charset="0"/>
              </a:rPr>
              <a:t>)</a:t>
            </a:r>
            <a:endParaRPr lang="pl-PL" sz="1400" dirty="0">
              <a:solidFill>
                <a:srgbClr val="CCCCCC"/>
              </a:solidFill>
              <a:latin typeface="Consolas" panose="020B0609020204030204" pitchFamily="49" charset="0"/>
            </a:endParaRPr>
          </a:p>
        </p:txBody>
      </p:sp>
      <p:sp>
        <p:nvSpPr>
          <p:cNvPr id="11" name="Shape 9"/>
          <p:cNvSpPr/>
          <p:nvPr/>
        </p:nvSpPr>
        <p:spPr>
          <a:xfrm>
            <a:off x="274320" y="4375230"/>
            <a:ext cx="8595360" cy="562530"/>
          </a:xfrm>
          <a:prstGeom prst="rect">
            <a:avLst/>
          </a:prstGeom>
          <a:solidFill>
            <a:srgbClr val="1A3550"/>
          </a:solidFill>
          <a:ln w="12700">
            <a:solidFill>
              <a:srgbClr val="0077A8"/>
            </a:solidFill>
            <a:prstDash val="solid"/>
          </a:ln>
        </p:spPr>
      </p:sp>
      <p:sp>
        <p:nvSpPr>
          <p:cNvPr id="12" name="Text 10"/>
          <p:cNvSpPr/>
          <p:nvPr/>
        </p:nvSpPr>
        <p:spPr>
          <a:xfrm>
            <a:off x="457200" y="4375230"/>
            <a:ext cx="8321040" cy="562530"/>
          </a:xfrm>
          <a:prstGeom prst="rect">
            <a:avLst/>
          </a:prstGeom>
          <a:noFill/>
          <a:ln/>
        </p:spPr>
        <p:txBody>
          <a:bodyPr wrap="square" lIns="0" tIns="0" rIns="127000" bIns="0" rtlCol="0" anchor="ctr"/>
          <a:lstStyle/>
          <a:p>
            <a:pPr marL="0" indent="0" algn="ctr">
              <a:buNone/>
            </a:pPr>
            <a:r>
              <a:rPr lang="en-US" sz="1600" b="1" dirty="0">
                <a:solidFill>
                  <a:srgbClr val="00B4D8"/>
                </a:solidFill>
                <a:latin typeface="Calibri" pitchFamily="34" charset="0"/>
                <a:ea typeface="Calibri" pitchFamily="34" charset="-122"/>
                <a:cs typeface="Calibri" pitchFamily="34" charset="-120"/>
              </a:rPr>
              <a:t>Opis: </a:t>
            </a:r>
            <a:r>
              <a:rPr lang="en-US" sz="1600" dirty="0">
                <a:solidFill>
                  <a:srgbClr val="E2EBF3"/>
                </a:solidFill>
                <a:latin typeface="Calibri" pitchFamily="34" charset="0"/>
                <a:ea typeface="Calibri" pitchFamily="34" charset="-122"/>
                <a:cs typeface="Calibri" pitchFamily="34" charset="-120"/>
              </a:rPr>
              <a:t>Inflacja tworzy gradient kosztu </a:t>
            </a:r>
            <a:r>
              <a:rPr lang="en-US" sz="1600" dirty="0" err="1">
                <a:solidFill>
                  <a:srgbClr val="E2EBF3"/>
                </a:solidFill>
                <a:latin typeface="Calibri" pitchFamily="34" charset="0"/>
                <a:ea typeface="Calibri" pitchFamily="34" charset="-122"/>
                <a:cs typeface="Calibri" pitchFamily="34" charset="-120"/>
              </a:rPr>
              <a:t>wokół</a:t>
            </a:r>
            <a:r>
              <a:rPr lang="en-US" sz="1600" dirty="0">
                <a:solidFill>
                  <a:srgbClr val="E2EBF3"/>
                </a:solidFill>
                <a:latin typeface="Calibri" pitchFamily="34" charset="0"/>
                <a:ea typeface="Calibri" pitchFamily="34" charset="-122"/>
                <a:cs typeface="Calibri" pitchFamily="34" charset="-120"/>
              </a:rPr>
              <a:t> </a:t>
            </a:r>
            <a:r>
              <a:rPr lang="en-US" sz="1600" dirty="0" err="1" smtClean="0">
                <a:solidFill>
                  <a:srgbClr val="E2EBF3"/>
                </a:solidFill>
                <a:latin typeface="Calibri" pitchFamily="34" charset="0"/>
                <a:ea typeface="Calibri" pitchFamily="34" charset="-122"/>
                <a:cs typeface="Calibri" pitchFamily="34" charset="-120"/>
              </a:rPr>
              <a:t>przeszkód</a:t>
            </a:r>
            <a:r>
              <a:rPr lang="pl-PL" sz="1600" dirty="0">
                <a:solidFill>
                  <a:srgbClr val="E2EBF3"/>
                </a:solidFill>
                <a:latin typeface="Calibri" pitchFamily="34" charset="0"/>
                <a:ea typeface="Calibri" pitchFamily="34" charset="-122"/>
                <a:cs typeface="Calibri" pitchFamily="34" charset="-120"/>
              </a:rPr>
              <a:t>.</a:t>
            </a:r>
            <a:r>
              <a:rPr lang="en-US" sz="1600" dirty="0" smtClean="0">
                <a:solidFill>
                  <a:srgbClr val="E2EBF3"/>
                </a:solidFill>
                <a:latin typeface="Calibri" pitchFamily="34" charset="0"/>
                <a:ea typeface="Calibri" pitchFamily="34" charset="-122"/>
                <a:cs typeface="Calibri" pitchFamily="34" charset="-120"/>
              </a:rPr>
              <a:t> </a:t>
            </a:r>
            <a:r>
              <a:rPr lang="pl-PL" sz="1600" dirty="0">
                <a:solidFill>
                  <a:srgbClr val="E2EBF3"/>
                </a:solidFill>
                <a:latin typeface="Calibri" pitchFamily="34" charset="0"/>
                <a:ea typeface="Calibri" pitchFamily="34" charset="-122"/>
                <a:cs typeface="Calibri" pitchFamily="34" charset="-120"/>
              </a:rPr>
              <a:t>P</a:t>
            </a:r>
            <a:r>
              <a:rPr lang="en-US" sz="1600" dirty="0" err="1" smtClean="0">
                <a:solidFill>
                  <a:srgbClr val="E2EBF3"/>
                </a:solidFill>
                <a:latin typeface="Calibri" pitchFamily="34" charset="0"/>
                <a:ea typeface="Calibri" pitchFamily="34" charset="-122"/>
                <a:cs typeface="Calibri" pitchFamily="34" charset="-120"/>
              </a:rPr>
              <a:t>lanista</a:t>
            </a:r>
            <a:r>
              <a:rPr lang="en-US" sz="1600" dirty="0" smtClean="0">
                <a:solidFill>
                  <a:srgbClr val="E2EBF3"/>
                </a:solidFill>
                <a:latin typeface="Calibri" pitchFamily="34" charset="0"/>
                <a:ea typeface="Calibri" pitchFamily="34" charset="-122"/>
                <a:cs typeface="Calibri" pitchFamily="34" charset="-120"/>
              </a:rPr>
              <a:t> </a:t>
            </a:r>
            <a:r>
              <a:rPr lang="en-US" sz="1600" dirty="0">
                <a:solidFill>
                  <a:srgbClr val="E2EBF3"/>
                </a:solidFill>
                <a:latin typeface="Calibri" pitchFamily="34" charset="0"/>
                <a:ea typeface="Calibri" pitchFamily="34" charset="-122"/>
                <a:cs typeface="Calibri" pitchFamily="34" charset="-120"/>
              </a:rPr>
              <a:t>preferuje trasy z dala od </a:t>
            </a:r>
            <a:r>
              <a:rPr lang="en-US" sz="1600" dirty="0" err="1" smtClean="0">
                <a:solidFill>
                  <a:srgbClr val="E2EBF3"/>
                </a:solidFill>
                <a:latin typeface="Calibri" pitchFamily="34" charset="0"/>
                <a:ea typeface="Calibri" pitchFamily="34" charset="-122"/>
                <a:cs typeface="Calibri" pitchFamily="34" charset="-120"/>
              </a:rPr>
              <a:t>obiektów</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MAPOWANIE</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Mapowanie lokalne i globalne</a:t>
            </a:r>
            <a:endParaRPr lang="en-US" sz="2800" dirty="0"/>
          </a:p>
        </p:txBody>
      </p:sp>
      <p:sp>
        <p:nvSpPr>
          <p:cNvPr id="6" name="Shape 4"/>
          <p:cNvSpPr/>
          <p:nvPr/>
        </p:nvSpPr>
        <p:spPr>
          <a:xfrm>
            <a:off x="274320" y="1097280"/>
            <a:ext cx="4160520" cy="27736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0"/>
            <a:ext cx="4206240" cy="27736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384048"/>
          </a:xfrm>
          <a:prstGeom prst="rect">
            <a:avLst/>
          </a:prstGeom>
          <a:solidFill>
            <a:srgbClr val="00B4D8"/>
          </a:solidFill>
          <a:ln w="12700">
            <a:solidFill>
              <a:srgbClr val="00B4D8"/>
            </a:solidFill>
            <a:prstDash val="solid"/>
          </a:ln>
        </p:spPr>
      </p:sp>
      <p:sp>
        <p:nvSpPr>
          <p:cNvPr id="9" name="Text 7"/>
          <p:cNvSpPr/>
          <p:nvPr/>
        </p:nvSpPr>
        <p:spPr>
          <a:xfrm>
            <a:off x="457200" y="1115568"/>
            <a:ext cx="3794760" cy="347472"/>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Mapa lokalna </a:t>
            </a:r>
            <a:r>
              <a:rPr lang="en-US" sz="2000" b="1" i="1" dirty="0">
                <a:solidFill>
                  <a:srgbClr val="FFFFFF"/>
                </a:solidFill>
                <a:latin typeface="Trebuchet MS" pitchFamily="34" charset="0"/>
                <a:ea typeface="Trebuchet MS" pitchFamily="34" charset="-122"/>
                <a:cs typeface="Trebuchet MS" pitchFamily="34" charset="-120"/>
              </a:rPr>
              <a:t>(robocza)</a:t>
            </a:r>
            <a:endParaRPr lang="en-US" sz="2000" i="1" dirty="0"/>
          </a:p>
        </p:txBody>
      </p:sp>
      <p:sp>
        <p:nvSpPr>
          <p:cNvPr id="10" name="Shape 8"/>
          <p:cNvSpPr/>
          <p:nvPr/>
        </p:nvSpPr>
        <p:spPr>
          <a:xfrm>
            <a:off x="4709160" y="1097280"/>
            <a:ext cx="4206240" cy="384048"/>
          </a:xfrm>
          <a:prstGeom prst="rect">
            <a:avLst/>
          </a:prstGeom>
          <a:solidFill>
            <a:srgbClr val="1A3550"/>
          </a:solidFill>
          <a:ln w="12700">
            <a:solidFill>
              <a:srgbClr val="1A3550"/>
            </a:solidFill>
            <a:prstDash val="solid"/>
          </a:ln>
        </p:spPr>
      </p:sp>
      <p:sp>
        <p:nvSpPr>
          <p:cNvPr id="11" name="Text 9"/>
          <p:cNvSpPr/>
          <p:nvPr/>
        </p:nvSpPr>
        <p:spPr>
          <a:xfrm>
            <a:off x="4892040" y="1115568"/>
            <a:ext cx="3794760" cy="347472"/>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Mapa globalna </a:t>
            </a:r>
            <a:r>
              <a:rPr lang="en-US" sz="2000" b="1" i="1" dirty="0">
                <a:solidFill>
                  <a:srgbClr val="FFFFFF"/>
                </a:solidFill>
                <a:latin typeface="Trebuchet MS" pitchFamily="34" charset="0"/>
                <a:ea typeface="Trebuchet MS" pitchFamily="34" charset="-122"/>
                <a:cs typeface="Trebuchet MS" pitchFamily="34" charset="-120"/>
              </a:rPr>
              <a:t>(trwała)</a:t>
            </a:r>
            <a:endParaRPr lang="en-US" sz="2000" i="1" dirty="0"/>
          </a:p>
        </p:txBody>
      </p:sp>
      <p:sp>
        <p:nvSpPr>
          <p:cNvPr id="12" name="Text 10"/>
          <p:cNvSpPr/>
          <p:nvPr/>
        </p:nvSpPr>
        <p:spPr>
          <a:xfrm>
            <a:off x="362396" y="1600200"/>
            <a:ext cx="3996244" cy="2165584"/>
          </a:xfrm>
          <a:prstGeom prst="rect">
            <a:avLst/>
          </a:prstGeom>
          <a:noFill/>
          <a:ln/>
        </p:spPr>
        <p:txBody>
          <a:bodyPr wrap="square" lIns="63500" tIns="36000" rIns="63500" bIns="0" rtlCol="0" anchor="t">
            <a:spAutoFit/>
          </a:bodyPr>
          <a:lstStyle/>
          <a:p>
            <a:pPr marL="144000" indent="-144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Budowana z </a:t>
            </a:r>
            <a:r>
              <a:rPr lang="en-US" sz="1600" b="1" dirty="0">
                <a:solidFill>
                  <a:srgbClr val="0D1B2A"/>
                </a:solidFill>
                <a:latin typeface="Calibri" pitchFamily="34" charset="0"/>
                <a:ea typeface="Calibri" pitchFamily="34" charset="-122"/>
                <a:cs typeface="Calibri" pitchFamily="34" charset="-120"/>
              </a:rPr>
              <a:t>bieżących pomiarów sensorów</a:t>
            </a:r>
            <a:endParaRPr lang="en-US" sz="1600" b="1" dirty="0"/>
          </a:p>
          <a:p>
            <a:pPr marL="144000" indent="-144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Ograniczony zasięg</a:t>
            </a:r>
            <a:r>
              <a:rPr lang="en-US" sz="1600" dirty="0">
                <a:solidFill>
                  <a:srgbClr val="0D1B2A"/>
                </a:solidFill>
                <a:latin typeface="Calibri" pitchFamily="34" charset="0"/>
                <a:ea typeface="Calibri" pitchFamily="34" charset="-122"/>
                <a:cs typeface="Calibri" pitchFamily="34" charset="-120"/>
              </a:rPr>
              <a:t>: ~5-10 m od robota</a:t>
            </a:r>
            <a:endParaRPr lang="en-US" sz="1600" dirty="0"/>
          </a:p>
          <a:p>
            <a:pPr marL="144000" indent="-144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Wysoka aktualność</a:t>
            </a:r>
            <a:r>
              <a:rPr lang="en-US" sz="1600" dirty="0">
                <a:solidFill>
                  <a:srgbClr val="0D1B2A"/>
                </a:solidFill>
                <a:latin typeface="Calibri" pitchFamily="34" charset="0"/>
                <a:ea typeface="Calibri" pitchFamily="34" charset="-122"/>
                <a:cs typeface="Calibri" pitchFamily="34" charset="-120"/>
              </a:rPr>
              <a:t>: uwzględnia obiekty dynamiczne</a:t>
            </a:r>
            <a:endParaRPr lang="en-US" sz="1600" dirty="0"/>
          </a:p>
          <a:p>
            <a:pPr marL="144000" indent="-144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Podstawa decyzji </a:t>
            </a:r>
            <a:r>
              <a:rPr lang="en-US" sz="1600" b="1" dirty="0">
                <a:solidFill>
                  <a:srgbClr val="0D1B2A"/>
                </a:solidFill>
                <a:latin typeface="Calibri" pitchFamily="34" charset="0"/>
                <a:ea typeface="Calibri" pitchFamily="34" charset="-122"/>
                <a:cs typeface="Calibri" pitchFamily="34" charset="-120"/>
              </a:rPr>
              <a:t>planisty lokalnego</a:t>
            </a:r>
            <a:endParaRPr lang="en-US" sz="1600" b="1" dirty="0"/>
          </a:p>
          <a:p>
            <a:pPr marL="144000" indent="-144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Regularnie czyszczona </a:t>
            </a:r>
            <a:r>
              <a:rPr lang="en-US" sz="1600" dirty="0">
                <a:solidFill>
                  <a:srgbClr val="0D1B2A"/>
                </a:solidFill>
                <a:latin typeface="Calibri" pitchFamily="34" charset="0"/>
                <a:ea typeface="Calibri" pitchFamily="34" charset="-122"/>
                <a:cs typeface="Calibri" pitchFamily="34" charset="-120"/>
              </a:rPr>
              <a:t>i przebudowywana</a:t>
            </a:r>
            <a:endParaRPr lang="en-US" sz="1600" dirty="0"/>
          </a:p>
        </p:txBody>
      </p:sp>
      <p:sp>
        <p:nvSpPr>
          <p:cNvPr id="13" name="Text 11"/>
          <p:cNvSpPr/>
          <p:nvPr/>
        </p:nvSpPr>
        <p:spPr>
          <a:xfrm>
            <a:off x="4853940" y="1600200"/>
            <a:ext cx="3794760" cy="2186940"/>
          </a:xfrm>
          <a:prstGeom prst="rect">
            <a:avLst/>
          </a:prstGeom>
          <a:noFill/>
          <a:ln/>
        </p:spPr>
        <p:txBody>
          <a:bodyPr wrap="square" lIns="63500" tIns="36000" rIns="63500" bIns="0" rtlCol="0" anchor="t"/>
          <a:lstStyle/>
          <a:p>
            <a:pPr marL="144000" indent="-144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Budowana w </a:t>
            </a:r>
            <a:r>
              <a:rPr lang="en-US" sz="1600" b="1" dirty="0">
                <a:solidFill>
                  <a:srgbClr val="0D1B2A"/>
                </a:solidFill>
                <a:latin typeface="Calibri" pitchFamily="34" charset="0"/>
                <a:ea typeface="Calibri" pitchFamily="34" charset="-122"/>
                <a:cs typeface="Calibri" pitchFamily="34" charset="-120"/>
              </a:rPr>
              <a:t>długim horyzoncie </a:t>
            </a:r>
            <a:r>
              <a:rPr lang="en-US" sz="1600" dirty="0">
                <a:solidFill>
                  <a:srgbClr val="0D1B2A"/>
                </a:solidFill>
                <a:latin typeface="Calibri" pitchFamily="34" charset="0"/>
                <a:ea typeface="Calibri" pitchFamily="34" charset="-122"/>
                <a:cs typeface="Calibri" pitchFamily="34" charset="-120"/>
              </a:rPr>
              <a:t>(SLAM)</a:t>
            </a:r>
            <a:endParaRPr lang="en-US" sz="1600" dirty="0"/>
          </a:p>
          <a:p>
            <a:pPr marL="144000" indent="-144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Zasięg</a:t>
            </a:r>
            <a:r>
              <a:rPr lang="en-US" sz="1600" dirty="0">
                <a:solidFill>
                  <a:srgbClr val="0D1B2A"/>
                </a:solidFill>
                <a:latin typeface="Calibri" pitchFamily="34" charset="0"/>
                <a:ea typeface="Calibri" pitchFamily="34" charset="-122"/>
                <a:cs typeface="Calibri" pitchFamily="34" charset="-120"/>
              </a:rPr>
              <a:t>: cały budynek, piętro</a:t>
            </a:r>
            <a:endParaRPr lang="en-US" sz="1600" dirty="0"/>
          </a:p>
          <a:p>
            <a:pPr marL="144000" indent="-144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Wolniej aktualizowana, mniej dynamiczna</a:t>
            </a:r>
            <a:endParaRPr lang="en-US" sz="1600" dirty="0"/>
          </a:p>
          <a:p>
            <a:pPr marL="144000" indent="-144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Podstawa planowania </a:t>
            </a:r>
            <a:r>
              <a:rPr lang="en-US" sz="1600" b="1" dirty="0">
                <a:solidFill>
                  <a:srgbClr val="0D1B2A"/>
                </a:solidFill>
                <a:latin typeface="Calibri" pitchFamily="34" charset="0"/>
                <a:ea typeface="Calibri" pitchFamily="34" charset="-122"/>
                <a:cs typeface="Calibri" pitchFamily="34" charset="-120"/>
              </a:rPr>
              <a:t>globalnej trasy A*</a:t>
            </a:r>
            <a:endParaRPr lang="en-US" sz="1600" b="1" dirty="0"/>
          </a:p>
          <a:p>
            <a:pPr marL="144000" indent="-144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Może zawierać </a:t>
            </a:r>
            <a:r>
              <a:rPr lang="en-US" sz="1600" b="1" dirty="0">
                <a:solidFill>
                  <a:srgbClr val="0D1B2A"/>
                </a:solidFill>
                <a:latin typeface="Calibri" pitchFamily="34" charset="0"/>
                <a:ea typeface="Calibri" pitchFamily="34" charset="-122"/>
                <a:cs typeface="Calibri" pitchFamily="34" charset="-120"/>
              </a:rPr>
              <a:t>informacje semantyczne</a:t>
            </a:r>
            <a:endParaRPr lang="en-US" sz="1600" b="1" dirty="0"/>
          </a:p>
        </p:txBody>
      </p:sp>
      <p:sp>
        <p:nvSpPr>
          <p:cNvPr id="14" name="Prostokąt 13"/>
          <p:cNvSpPr/>
          <p:nvPr/>
        </p:nvSpPr>
        <p:spPr>
          <a:xfrm>
            <a:off x="251460" y="4107180"/>
            <a:ext cx="8663940" cy="876300"/>
          </a:xfrm>
          <a:prstGeom prst="rect">
            <a:avLst/>
          </a:prstGeom>
          <a:solidFill>
            <a:srgbClr val="0D1B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ts val="1600"/>
              </a:lnSpc>
            </a:pPr>
            <a:r>
              <a:rPr lang="pl-PL" sz="1400" dirty="0"/>
              <a:t>W praktyce prawie zawsze rozdzielamy mapowanie lokalne i globalne. Mapa lokalna ma mały zasięg, jest bardzo aktualna, uwzględnia obiekty dynamiczne i służy planowaniu lokalnemu. Mapa globalna obejmuje całe piętro albo budynek, jest aktualizowana wolniej i stanowi podstawę planowania trasy długodystansowej. Często zawiera również informacje semantyczne. To rozdzielenie jest kompromisem między aktualnością a skalą środowiska.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OGRANICZENIA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Ograniczenia mapowania w czasie rzeczywistym</a:t>
            </a:r>
            <a:endParaRPr lang="en-US" sz="2800" dirty="0"/>
          </a:p>
        </p:txBody>
      </p:sp>
      <p:sp>
        <p:nvSpPr>
          <p:cNvPr id="6" name="Shape 4"/>
          <p:cNvSpPr/>
          <p:nvPr/>
        </p:nvSpPr>
        <p:spPr>
          <a:xfrm>
            <a:off x="274320" y="1097280"/>
            <a:ext cx="8595360" cy="28956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14671" y="1051560"/>
            <a:ext cx="8360733" cy="2788920"/>
          </a:xfrm>
          <a:prstGeom prst="rect">
            <a:avLst/>
          </a:prstGeom>
          <a:noFill/>
          <a:ln/>
        </p:spPr>
        <p:txBody>
          <a:bodyPr wrap="square" lIns="127000" tIns="127000" rIns="127000" bIns="127000" rtlCol="0" anchor="t"/>
          <a:lstStyle/>
          <a:p>
            <a:pPr marL="216000" indent="-216000">
              <a:spcAft>
                <a:spcPts val="1800"/>
              </a:spcAft>
              <a:buSzPct val="100000"/>
              <a:buFont typeface="+mj-lt"/>
              <a:buAutoNum type="arabicPeriod"/>
            </a:pPr>
            <a:r>
              <a:rPr lang="en-US" sz="1600" b="1" spc="-40" dirty="0">
                <a:solidFill>
                  <a:srgbClr val="0D1B2A"/>
                </a:solidFill>
                <a:latin typeface="Calibri" pitchFamily="34" charset="0"/>
                <a:ea typeface="Calibri" pitchFamily="34" charset="-122"/>
                <a:cs typeface="Calibri" pitchFamily="34" charset="-120"/>
              </a:rPr>
              <a:t>Pamięć</a:t>
            </a:r>
            <a:r>
              <a:rPr lang="en-US" sz="1600" spc="-40" dirty="0">
                <a:solidFill>
                  <a:srgbClr val="0D1B2A"/>
                </a:solidFill>
                <a:latin typeface="Calibri" pitchFamily="34" charset="0"/>
                <a:ea typeface="Calibri" pitchFamily="34" charset="-122"/>
                <a:cs typeface="Calibri" pitchFamily="34" charset="-120"/>
              </a:rPr>
              <a:t>: mapa 3D OctoMap z rozdzielczością 5 cm dla biura 50x50 m to setki MB RAM</a:t>
            </a:r>
            <a:endParaRPr lang="en-US" sz="1600" spc="-40" dirty="0"/>
          </a:p>
          <a:p>
            <a:pPr marL="216000" indent="-216000">
              <a:spcAft>
                <a:spcPts val="1800"/>
              </a:spcAft>
              <a:buSzPct val="100000"/>
              <a:buFont typeface="+mj-lt"/>
              <a:buAutoNum type="arabicPeriod"/>
            </a:pPr>
            <a:r>
              <a:rPr lang="pl-PL" sz="1600" b="1" spc="-40" dirty="0" smtClean="0">
                <a:solidFill>
                  <a:srgbClr val="0D1B2A"/>
                </a:solidFill>
                <a:latin typeface="Calibri" pitchFamily="34" charset="0"/>
                <a:ea typeface="Calibri" pitchFamily="34" charset="-122"/>
                <a:cs typeface="Calibri" pitchFamily="34" charset="-120"/>
              </a:rPr>
              <a:t>Rozdzielczość,</a:t>
            </a:r>
            <a:r>
              <a:rPr lang="en-US" sz="1600" b="1" spc="-40" dirty="0" smtClean="0">
                <a:solidFill>
                  <a:srgbClr val="0D1B2A"/>
                </a:solidFill>
                <a:latin typeface="Calibri" pitchFamily="34" charset="0"/>
                <a:ea typeface="Calibri" pitchFamily="34" charset="-122"/>
                <a:cs typeface="Calibri" pitchFamily="34" charset="-120"/>
              </a:rPr>
              <a:t> </a:t>
            </a:r>
            <a:r>
              <a:rPr lang="en-US" sz="1600" b="1" spc="-40" dirty="0">
                <a:solidFill>
                  <a:srgbClr val="0D1B2A"/>
                </a:solidFill>
                <a:latin typeface="Calibri" pitchFamily="34" charset="0"/>
                <a:ea typeface="Calibri" pitchFamily="34" charset="-122"/>
                <a:cs typeface="Calibri" pitchFamily="34" charset="-120"/>
              </a:rPr>
              <a:t>a wydajność</a:t>
            </a:r>
            <a:r>
              <a:rPr lang="en-US" sz="1600" spc="-40" dirty="0">
                <a:solidFill>
                  <a:srgbClr val="0D1B2A"/>
                </a:solidFill>
                <a:latin typeface="Calibri" pitchFamily="34" charset="0"/>
                <a:ea typeface="Calibri" pitchFamily="34" charset="-122"/>
                <a:cs typeface="Calibri" pitchFamily="34" charset="-120"/>
              </a:rPr>
              <a:t>: wyższa rozdzielczość = dokładność wzrasta, czas przetwarzania rośnie</a:t>
            </a:r>
            <a:endParaRPr lang="en-US" sz="1600" spc="-40" dirty="0"/>
          </a:p>
          <a:p>
            <a:pPr marL="216000" indent="-216000">
              <a:spcAft>
                <a:spcPts val="1800"/>
              </a:spcAft>
              <a:buSzPct val="100000"/>
              <a:buFont typeface="+mj-lt"/>
              <a:buAutoNum type="arabicPeriod"/>
            </a:pPr>
            <a:r>
              <a:rPr lang="en-US" sz="1600" b="1" spc="-40" dirty="0">
                <a:solidFill>
                  <a:srgbClr val="0D1B2A"/>
                </a:solidFill>
                <a:latin typeface="Calibri" pitchFamily="34" charset="0"/>
                <a:ea typeface="Calibri" pitchFamily="34" charset="-122"/>
                <a:cs typeface="Calibri" pitchFamily="34" charset="-120"/>
              </a:rPr>
              <a:t>Opóźnienia</a:t>
            </a:r>
            <a:r>
              <a:rPr lang="en-US" sz="1600" spc="-40" dirty="0">
                <a:solidFill>
                  <a:srgbClr val="0D1B2A"/>
                </a:solidFill>
                <a:latin typeface="Calibri" pitchFamily="34" charset="0"/>
                <a:ea typeface="Calibri" pitchFamily="34" charset="-122"/>
                <a:cs typeface="Calibri" pitchFamily="34" charset="-120"/>
              </a:rPr>
              <a:t> </a:t>
            </a:r>
            <a:r>
              <a:rPr lang="en-US" sz="1600" i="1" spc="-40" dirty="0">
                <a:solidFill>
                  <a:srgbClr val="0D1B2A"/>
                </a:solidFill>
                <a:latin typeface="Calibri" pitchFamily="34" charset="0"/>
                <a:ea typeface="Calibri" pitchFamily="34" charset="-122"/>
                <a:cs typeface="Calibri" pitchFamily="34" charset="-120"/>
              </a:rPr>
              <a:t>(latencja): </a:t>
            </a:r>
            <a:r>
              <a:rPr lang="en-US" sz="1600" spc="-40" dirty="0">
                <a:solidFill>
                  <a:srgbClr val="0D1B2A"/>
                </a:solidFill>
                <a:latin typeface="Calibri" pitchFamily="34" charset="0"/>
                <a:ea typeface="Calibri" pitchFamily="34" charset="-122"/>
                <a:cs typeface="Calibri" pitchFamily="34" charset="-120"/>
              </a:rPr>
              <a:t>SLAM nie może działać wolniej niż cykl sterowania </a:t>
            </a:r>
            <a:r>
              <a:rPr lang="en-US" sz="1600" i="1" spc="-40" dirty="0">
                <a:solidFill>
                  <a:srgbClr val="0D1B2A"/>
                </a:solidFill>
                <a:latin typeface="Calibri" pitchFamily="34" charset="0"/>
                <a:ea typeface="Calibri" pitchFamily="34" charset="-122"/>
                <a:cs typeface="Calibri" pitchFamily="34" charset="-120"/>
              </a:rPr>
              <a:t>(~100 ms)</a:t>
            </a:r>
            <a:endParaRPr lang="en-US" sz="1600" i="1" spc="-40" dirty="0"/>
          </a:p>
          <a:p>
            <a:pPr marL="216000" indent="-216000">
              <a:spcAft>
                <a:spcPts val="1800"/>
              </a:spcAft>
              <a:buSzPct val="100000"/>
              <a:buFont typeface="+mj-lt"/>
              <a:buAutoNum type="arabicPeriod"/>
            </a:pPr>
            <a:r>
              <a:rPr lang="en-US" sz="1600" b="1" spc="-40" dirty="0">
                <a:solidFill>
                  <a:srgbClr val="0D1B2A"/>
                </a:solidFill>
                <a:latin typeface="Calibri" pitchFamily="34" charset="0"/>
                <a:ea typeface="Calibri" pitchFamily="34" charset="-122"/>
                <a:cs typeface="Calibri" pitchFamily="34" charset="-120"/>
              </a:rPr>
              <a:t>Zmienność środowiska</a:t>
            </a:r>
            <a:r>
              <a:rPr lang="en-US" sz="1600" spc="-40" dirty="0">
                <a:solidFill>
                  <a:srgbClr val="0D1B2A"/>
                </a:solidFill>
                <a:latin typeface="Calibri" pitchFamily="34" charset="0"/>
                <a:ea typeface="Calibri" pitchFamily="34" charset="-122"/>
                <a:cs typeface="Calibri" pitchFamily="34" charset="-120"/>
              </a:rPr>
              <a:t>: dynamiczne przeszkody nie mogą na stałe zaznaczać komórek jako zajętych</a:t>
            </a:r>
            <a:endParaRPr lang="en-US" sz="1600" spc="-40" dirty="0"/>
          </a:p>
          <a:p>
            <a:pPr marL="216000" indent="-216000">
              <a:spcAft>
                <a:spcPts val="1800"/>
              </a:spcAft>
              <a:buSzPct val="100000"/>
              <a:buFont typeface="+mj-lt"/>
              <a:buAutoNum type="arabicPeriod"/>
            </a:pPr>
            <a:r>
              <a:rPr lang="en-US" sz="1600" b="1" spc="-40" dirty="0">
                <a:solidFill>
                  <a:srgbClr val="0D1B2A"/>
                </a:solidFill>
                <a:latin typeface="Calibri" pitchFamily="34" charset="0"/>
                <a:ea typeface="Calibri" pitchFamily="34" charset="-122"/>
                <a:cs typeface="Calibri" pitchFamily="34" charset="-120"/>
              </a:rPr>
              <a:t>Kompromis</a:t>
            </a:r>
            <a:r>
              <a:rPr lang="en-US" sz="1600" spc="-40" dirty="0">
                <a:solidFill>
                  <a:srgbClr val="0D1B2A"/>
                </a:solidFill>
                <a:latin typeface="Calibri" pitchFamily="34" charset="0"/>
                <a:ea typeface="Calibri" pitchFamily="34" charset="-122"/>
                <a:cs typeface="Calibri" pitchFamily="34" charset="-120"/>
              </a:rPr>
              <a:t>: optymalny dobór rozdzielczości i zasięgu mapy do konkretnego zadania</a:t>
            </a:r>
            <a:endParaRPr lang="en-US" sz="1600" spc="-40" dirty="0"/>
          </a:p>
          <a:p>
            <a:pPr marL="216000" indent="-216000">
              <a:spcAft>
                <a:spcPts val="1800"/>
              </a:spcAft>
              <a:buSzPct val="100000"/>
              <a:buFont typeface="+mj-lt"/>
              <a:buAutoNum type="arabicPeriod"/>
            </a:pPr>
            <a:r>
              <a:rPr lang="en-US" sz="1600" b="1" spc="-40" dirty="0">
                <a:solidFill>
                  <a:srgbClr val="0D1B2A"/>
                </a:solidFill>
                <a:latin typeface="Calibri" pitchFamily="34" charset="0"/>
                <a:ea typeface="Calibri" pitchFamily="34" charset="-122"/>
                <a:cs typeface="Calibri" pitchFamily="34" charset="-120"/>
              </a:rPr>
              <a:t>Strategie</a:t>
            </a:r>
            <a:r>
              <a:rPr lang="en-US" sz="1600" spc="-40" dirty="0">
                <a:solidFill>
                  <a:srgbClr val="0D1B2A"/>
                </a:solidFill>
                <a:latin typeface="Calibri" pitchFamily="34" charset="0"/>
                <a:ea typeface="Calibri" pitchFamily="34" charset="-122"/>
                <a:cs typeface="Calibri" pitchFamily="34" charset="-120"/>
              </a:rPr>
              <a:t>: rozdzielona mapa lokalna </a:t>
            </a:r>
            <a:r>
              <a:rPr lang="en-US" sz="1600" i="1" spc="-40" dirty="0">
                <a:solidFill>
                  <a:srgbClr val="0D1B2A"/>
                </a:solidFill>
                <a:latin typeface="Calibri" pitchFamily="34" charset="0"/>
                <a:ea typeface="Calibri" pitchFamily="34" charset="-122"/>
                <a:cs typeface="Calibri" pitchFamily="34" charset="-120"/>
              </a:rPr>
              <a:t>(wyzsza rozdzielczość) </a:t>
            </a:r>
            <a:r>
              <a:rPr lang="en-US" sz="1600" spc="-40" dirty="0">
                <a:solidFill>
                  <a:srgbClr val="0D1B2A"/>
                </a:solidFill>
                <a:latin typeface="Calibri" pitchFamily="34" charset="0"/>
                <a:ea typeface="Calibri" pitchFamily="34" charset="-122"/>
                <a:cs typeface="Calibri" pitchFamily="34" charset="-120"/>
              </a:rPr>
              <a:t>i globalna </a:t>
            </a:r>
            <a:r>
              <a:rPr lang="en-US" sz="1600" i="1" spc="-40" dirty="0">
                <a:solidFill>
                  <a:srgbClr val="0D1B2A"/>
                </a:solidFill>
                <a:latin typeface="Calibri" pitchFamily="34" charset="0"/>
                <a:ea typeface="Calibri" pitchFamily="34" charset="-122"/>
                <a:cs typeface="Calibri" pitchFamily="34" charset="-120"/>
              </a:rPr>
              <a:t>(niższa rozdzielczość)</a:t>
            </a:r>
            <a:endParaRPr lang="en-US" sz="1600" i="1" spc="-40" dirty="0"/>
          </a:p>
        </p:txBody>
      </p:sp>
      <p:sp>
        <p:nvSpPr>
          <p:cNvPr id="8" name="Prostokąt 7"/>
          <p:cNvSpPr/>
          <p:nvPr/>
        </p:nvSpPr>
        <p:spPr>
          <a:xfrm>
            <a:off x="251460" y="4122420"/>
            <a:ext cx="8663940" cy="876300"/>
          </a:xfrm>
          <a:prstGeom prst="rect">
            <a:avLst/>
          </a:prstGeom>
          <a:solidFill>
            <a:srgbClr val="0D1B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ts val="1500"/>
              </a:lnSpc>
            </a:pPr>
            <a:r>
              <a:rPr lang="pl-PL" sz="1400" spc="-40" dirty="0"/>
              <a:t>Mapowanie w czasie rzeczywistym ma poważne ograniczenia. Duże mapy 3D zużywają setki megabajtów pamięci, </a:t>
            </a:r>
            <a:r>
              <a:rPr lang="pl-PL" sz="1400" spc="-40" dirty="0" smtClean="0"/>
              <a:t/>
            </a:r>
            <a:br>
              <a:rPr lang="pl-PL" sz="1400" spc="-40" dirty="0" smtClean="0"/>
            </a:br>
            <a:r>
              <a:rPr lang="pl-PL" sz="1400" spc="-40" dirty="0" smtClean="0"/>
              <a:t>a </a:t>
            </a:r>
            <a:r>
              <a:rPr lang="pl-PL" sz="1400" spc="-40" dirty="0"/>
              <a:t>zwiększanie rozdzielczości poprawia dokładność kosztem czasu obliczeń. Do tego SLAM nie może być wolniejszy niż pętla sterowania, a środowisko dynamiczne nie może być na stałe zapisywane jako zajęte. W praktyce trzeba dobrać kompromis między zasięgiem, rozdzielczością i aktualnością mapy, często stosując wyższą rozdzielczość lokalnie i niższą globalnie.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54864"/>
          </a:xfrm>
          <a:prstGeom prst="rect">
            <a:avLst/>
          </a:prstGeom>
          <a:solidFill>
            <a:srgbClr val="00B4D8"/>
          </a:solidFill>
          <a:ln w="12700">
            <a:solidFill>
              <a:srgbClr val="00B4D8"/>
            </a:solidFill>
            <a:prstDash val="solid"/>
          </a:ln>
        </p:spPr>
      </p:sp>
      <p:sp>
        <p:nvSpPr>
          <p:cNvPr id="4" name="Text 2"/>
          <p:cNvSpPr/>
          <p:nvPr/>
        </p:nvSpPr>
        <p:spPr>
          <a:xfrm>
            <a:off x="320040" y="457200"/>
            <a:ext cx="8503920" cy="502920"/>
          </a:xfrm>
          <a:prstGeom prst="rect">
            <a:avLst/>
          </a:prstGeom>
          <a:noFill/>
          <a:ln/>
        </p:spPr>
        <p:txBody>
          <a:bodyPr wrap="square" lIns="0" tIns="0" rIns="0" bIns="0" rtlCol="0" anchor="ctr"/>
          <a:lstStyle/>
          <a:p>
            <a:pPr marL="0" indent="0" algn="ctr">
              <a:buNone/>
            </a:pPr>
            <a:r>
              <a:rPr lang="en-US" sz="3600" b="1" dirty="0" smtClean="0">
                <a:solidFill>
                  <a:srgbClr val="FFFFFF"/>
                </a:solidFill>
                <a:latin typeface="Trebuchet MS" pitchFamily="34" charset="0"/>
                <a:ea typeface="Trebuchet MS" pitchFamily="34" charset="-122"/>
                <a:cs typeface="Trebuchet MS" pitchFamily="34" charset="-120"/>
              </a:rPr>
              <a:t>PODSUMOWANIE</a:t>
            </a:r>
            <a:endParaRPr lang="en-US" sz="3600" dirty="0"/>
          </a:p>
        </p:txBody>
      </p:sp>
      <p:sp>
        <p:nvSpPr>
          <p:cNvPr id="5" name="Shape 3"/>
          <p:cNvSpPr/>
          <p:nvPr/>
        </p:nvSpPr>
        <p:spPr>
          <a:xfrm>
            <a:off x="2743200" y="1005840"/>
            <a:ext cx="3657600" cy="36576"/>
          </a:xfrm>
          <a:prstGeom prst="rect">
            <a:avLst/>
          </a:prstGeom>
          <a:solidFill>
            <a:srgbClr val="00B4D8"/>
          </a:solidFill>
          <a:ln w="12700">
            <a:solidFill>
              <a:srgbClr val="00B4D8"/>
            </a:solidFill>
            <a:prstDash val="solid"/>
          </a:ln>
          <a:effectLst>
            <a:outerShdw blurRad="50800" dist="38100" dir="2700000" algn="tl" rotWithShape="0">
              <a:prstClr val="black">
                <a:alpha val="40000"/>
              </a:prstClr>
            </a:outerShdw>
          </a:effectLst>
        </p:spPr>
      </p:sp>
      <p:sp>
        <p:nvSpPr>
          <p:cNvPr id="6" name="Shape 4"/>
          <p:cNvSpPr/>
          <p:nvPr/>
        </p:nvSpPr>
        <p:spPr>
          <a:xfrm>
            <a:off x="365760" y="1188720"/>
            <a:ext cx="502920" cy="502920"/>
          </a:xfrm>
          <a:prstGeom prst="ellipse">
            <a:avLst/>
          </a:prstGeom>
          <a:solidFill>
            <a:srgbClr val="00B4D8"/>
          </a:solidFill>
          <a:ln w="12700">
            <a:solidFill>
              <a:srgbClr val="00B4D8"/>
            </a:solidFill>
            <a:prstDash val="solid"/>
          </a:ln>
        </p:spPr>
      </p:sp>
      <p:sp>
        <p:nvSpPr>
          <p:cNvPr id="7" name="Text 5"/>
          <p:cNvSpPr/>
          <p:nvPr/>
        </p:nvSpPr>
        <p:spPr>
          <a:xfrm>
            <a:off x="365760" y="1195808"/>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Trebuchet MS" pitchFamily="34" charset="0"/>
                <a:ea typeface="Trebuchet MS" pitchFamily="34" charset="-122"/>
                <a:cs typeface="Trebuchet MS" pitchFamily="34" charset="-120"/>
              </a:rPr>
              <a:t>01</a:t>
            </a:r>
            <a:endParaRPr lang="en-US" sz="2000" dirty="0">
              <a:solidFill>
                <a:schemeClr val="bg1"/>
              </a:solidFill>
            </a:endParaRPr>
          </a:p>
        </p:txBody>
      </p:sp>
      <p:sp>
        <p:nvSpPr>
          <p:cNvPr id="8" name="Text 6"/>
          <p:cNvSpPr/>
          <p:nvPr/>
        </p:nvSpPr>
        <p:spPr>
          <a:xfrm>
            <a:off x="1005840" y="1206088"/>
            <a:ext cx="7863840" cy="502920"/>
          </a:xfrm>
          <a:prstGeom prst="rect">
            <a:avLst/>
          </a:prstGeom>
          <a:noFill/>
          <a:ln/>
        </p:spPr>
        <p:txBody>
          <a:bodyPr wrap="square" lIns="0" tIns="0" rIns="0" bIns="0" rtlCol="0" anchor="ctr"/>
          <a:lstStyle/>
          <a:p>
            <a:pPr marL="0" indent="0">
              <a:buNone/>
            </a:pPr>
            <a:r>
              <a:rPr lang="en-US" sz="1600" spc="-20" dirty="0">
                <a:solidFill>
                  <a:srgbClr val="E2EBF3"/>
                </a:solidFill>
                <a:latin typeface="Calibri" pitchFamily="34" charset="0"/>
                <a:ea typeface="Calibri" pitchFamily="34" charset="-122"/>
                <a:cs typeface="Calibri" pitchFamily="34" charset="-120"/>
              </a:rPr>
              <a:t>Nawigacja humanoida wymaga integracji percepcji, lokalizacji, planowania i sterowania chodem.</a:t>
            </a:r>
            <a:endParaRPr lang="en-US" sz="1600" spc="-20" dirty="0"/>
          </a:p>
        </p:txBody>
      </p:sp>
      <p:sp>
        <p:nvSpPr>
          <p:cNvPr id="9" name="Shape 7"/>
          <p:cNvSpPr/>
          <p:nvPr/>
        </p:nvSpPr>
        <p:spPr>
          <a:xfrm>
            <a:off x="365760" y="1947672"/>
            <a:ext cx="502920" cy="502920"/>
          </a:xfrm>
          <a:prstGeom prst="ellipse">
            <a:avLst/>
          </a:prstGeom>
          <a:solidFill>
            <a:srgbClr val="00B4D8"/>
          </a:solidFill>
          <a:ln w="12700">
            <a:solidFill>
              <a:srgbClr val="00B4D8"/>
            </a:solidFill>
            <a:prstDash val="solid"/>
          </a:ln>
        </p:spPr>
      </p:sp>
      <p:sp>
        <p:nvSpPr>
          <p:cNvPr id="10" name="Text 8"/>
          <p:cNvSpPr/>
          <p:nvPr/>
        </p:nvSpPr>
        <p:spPr>
          <a:xfrm>
            <a:off x="365760" y="195476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Trebuchet MS" pitchFamily="34" charset="0"/>
                <a:ea typeface="Trebuchet MS" pitchFamily="34" charset="-122"/>
                <a:cs typeface="Trebuchet MS" pitchFamily="34" charset="-120"/>
              </a:rPr>
              <a:t>02</a:t>
            </a:r>
            <a:endParaRPr lang="en-US" sz="2000" dirty="0">
              <a:solidFill>
                <a:schemeClr val="bg1"/>
              </a:solidFill>
            </a:endParaRPr>
          </a:p>
        </p:txBody>
      </p:sp>
      <p:sp>
        <p:nvSpPr>
          <p:cNvPr id="11" name="Text 9"/>
          <p:cNvSpPr/>
          <p:nvPr/>
        </p:nvSpPr>
        <p:spPr>
          <a:xfrm>
            <a:off x="1005840" y="1965040"/>
            <a:ext cx="7863840" cy="502920"/>
          </a:xfrm>
          <a:prstGeom prst="rect">
            <a:avLst/>
          </a:prstGeom>
          <a:noFill/>
          <a:ln/>
        </p:spPr>
        <p:txBody>
          <a:bodyPr wrap="square" lIns="0" tIns="0" rIns="0" bIns="0" rtlCol="0" anchor="ctr"/>
          <a:lstStyle/>
          <a:p>
            <a:pPr marL="0" indent="0">
              <a:buNone/>
            </a:pPr>
            <a:r>
              <a:rPr lang="en-US" sz="1600" spc="-20" dirty="0">
                <a:solidFill>
                  <a:srgbClr val="E2EBF3"/>
                </a:solidFill>
                <a:latin typeface="Calibri" pitchFamily="34" charset="0"/>
                <a:ea typeface="Calibri" pitchFamily="34" charset="-122"/>
                <a:cs typeface="Calibri" pitchFamily="34" charset="-120"/>
              </a:rPr>
              <a:t>Sensory (IMU, LiDAR, RGB-D) dostarczają komplementarnych danych o otoczeniu i stanie robota.</a:t>
            </a:r>
            <a:endParaRPr lang="en-US" sz="1600" spc="-20" dirty="0"/>
          </a:p>
        </p:txBody>
      </p:sp>
      <p:sp>
        <p:nvSpPr>
          <p:cNvPr id="12" name="Shape 10"/>
          <p:cNvSpPr/>
          <p:nvPr/>
        </p:nvSpPr>
        <p:spPr>
          <a:xfrm>
            <a:off x="365760" y="2706624"/>
            <a:ext cx="502920" cy="502920"/>
          </a:xfrm>
          <a:prstGeom prst="ellipse">
            <a:avLst/>
          </a:prstGeom>
          <a:solidFill>
            <a:srgbClr val="00B4D8"/>
          </a:solidFill>
          <a:ln w="12700">
            <a:solidFill>
              <a:srgbClr val="00B4D8"/>
            </a:solidFill>
            <a:prstDash val="solid"/>
          </a:ln>
        </p:spPr>
      </p:sp>
      <p:sp>
        <p:nvSpPr>
          <p:cNvPr id="13" name="Text 11"/>
          <p:cNvSpPr/>
          <p:nvPr/>
        </p:nvSpPr>
        <p:spPr>
          <a:xfrm>
            <a:off x="365760" y="2713712"/>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Trebuchet MS" pitchFamily="34" charset="0"/>
                <a:ea typeface="Trebuchet MS" pitchFamily="34" charset="-122"/>
                <a:cs typeface="Trebuchet MS" pitchFamily="34" charset="-120"/>
              </a:rPr>
              <a:t>03</a:t>
            </a:r>
            <a:endParaRPr lang="en-US" sz="2000" dirty="0">
              <a:solidFill>
                <a:schemeClr val="bg1"/>
              </a:solidFill>
            </a:endParaRPr>
          </a:p>
        </p:txBody>
      </p:sp>
      <p:sp>
        <p:nvSpPr>
          <p:cNvPr id="14" name="Text 12"/>
          <p:cNvSpPr/>
          <p:nvPr/>
        </p:nvSpPr>
        <p:spPr>
          <a:xfrm>
            <a:off x="1005840" y="2723992"/>
            <a:ext cx="7863840" cy="502920"/>
          </a:xfrm>
          <a:prstGeom prst="rect">
            <a:avLst/>
          </a:prstGeom>
          <a:noFill/>
          <a:ln/>
        </p:spPr>
        <p:txBody>
          <a:bodyPr wrap="square" lIns="0" tIns="0" rIns="0" bIns="0" rtlCol="0" anchor="ctr"/>
          <a:lstStyle/>
          <a:p>
            <a:pPr marL="0" indent="0">
              <a:buNone/>
            </a:pPr>
            <a:r>
              <a:rPr lang="en-US" sz="1600" dirty="0">
                <a:solidFill>
                  <a:srgbClr val="E2EBF3"/>
                </a:solidFill>
                <a:latin typeface="Calibri" pitchFamily="34" charset="0"/>
                <a:ea typeface="Calibri" pitchFamily="34" charset="-122"/>
                <a:cs typeface="Calibri" pitchFamily="34" charset="-120"/>
              </a:rPr>
              <a:t>Filtracja i synchronizacja danych sensorycznych to warunek niezawodnej percepcji.</a:t>
            </a:r>
            <a:endParaRPr lang="en-US" sz="1600" dirty="0"/>
          </a:p>
        </p:txBody>
      </p:sp>
      <p:sp>
        <p:nvSpPr>
          <p:cNvPr id="15" name="Shape 13"/>
          <p:cNvSpPr/>
          <p:nvPr/>
        </p:nvSpPr>
        <p:spPr>
          <a:xfrm>
            <a:off x="365760" y="3465576"/>
            <a:ext cx="502920" cy="502920"/>
          </a:xfrm>
          <a:prstGeom prst="ellipse">
            <a:avLst/>
          </a:prstGeom>
          <a:solidFill>
            <a:srgbClr val="00B4D8"/>
          </a:solidFill>
          <a:ln w="12700">
            <a:solidFill>
              <a:srgbClr val="00B4D8"/>
            </a:solidFill>
            <a:prstDash val="solid"/>
          </a:ln>
        </p:spPr>
      </p:sp>
      <p:sp>
        <p:nvSpPr>
          <p:cNvPr id="16" name="Text 14"/>
          <p:cNvSpPr/>
          <p:nvPr/>
        </p:nvSpPr>
        <p:spPr>
          <a:xfrm>
            <a:off x="365760" y="3472664"/>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Trebuchet MS" pitchFamily="34" charset="0"/>
                <a:ea typeface="Trebuchet MS" pitchFamily="34" charset="-122"/>
                <a:cs typeface="Trebuchet MS" pitchFamily="34" charset="-120"/>
              </a:rPr>
              <a:t>04</a:t>
            </a:r>
            <a:endParaRPr lang="en-US" sz="2000" dirty="0">
              <a:solidFill>
                <a:schemeClr val="bg1"/>
              </a:solidFill>
            </a:endParaRPr>
          </a:p>
        </p:txBody>
      </p:sp>
      <p:sp>
        <p:nvSpPr>
          <p:cNvPr id="17" name="Text 15"/>
          <p:cNvSpPr/>
          <p:nvPr/>
        </p:nvSpPr>
        <p:spPr>
          <a:xfrm>
            <a:off x="1005840" y="3482944"/>
            <a:ext cx="7863840" cy="502920"/>
          </a:xfrm>
          <a:prstGeom prst="rect">
            <a:avLst/>
          </a:prstGeom>
          <a:noFill/>
          <a:ln/>
        </p:spPr>
        <p:txBody>
          <a:bodyPr wrap="square" lIns="0" tIns="0" rIns="0" bIns="0" rtlCol="0" anchor="ctr"/>
          <a:lstStyle/>
          <a:p>
            <a:pPr marL="0" indent="0">
              <a:buNone/>
            </a:pPr>
            <a:r>
              <a:rPr lang="en-US" sz="1600" dirty="0">
                <a:solidFill>
                  <a:srgbClr val="E2EBF3"/>
                </a:solidFill>
                <a:latin typeface="Calibri" pitchFamily="34" charset="0"/>
                <a:ea typeface="Calibri" pitchFamily="34" charset="-122"/>
                <a:cs typeface="Calibri" pitchFamily="34" charset="-120"/>
              </a:rPr>
              <a:t>Reprezentacja mapy (siatka zajętosci, mapa wokselowa) warunkuje skuteczne planowanie.</a:t>
            </a:r>
            <a:endParaRPr lang="en-US" sz="1600" dirty="0"/>
          </a:p>
        </p:txBody>
      </p:sp>
      <p:sp>
        <p:nvSpPr>
          <p:cNvPr id="18" name="Shape 16"/>
          <p:cNvSpPr/>
          <p:nvPr/>
        </p:nvSpPr>
        <p:spPr>
          <a:xfrm>
            <a:off x="365760" y="4224528"/>
            <a:ext cx="502920" cy="502920"/>
          </a:xfrm>
          <a:prstGeom prst="ellipse">
            <a:avLst/>
          </a:prstGeom>
          <a:solidFill>
            <a:srgbClr val="00B4D8"/>
          </a:solidFill>
          <a:ln w="12700">
            <a:solidFill>
              <a:srgbClr val="00B4D8"/>
            </a:solidFill>
            <a:prstDash val="solid"/>
          </a:ln>
        </p:spPr>
      </p:sp>
      <p:sp>
        <p:nvSpPr>
          <p:cNvPr id="19" name="Text 17"/>
          <p:cNvSpPr/>
          <p:nvPr/>
        </p:nvSpPr>
        <p:spPr>
          <a:xfrm>
            <a:off x="365760" y="4231616"/>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Trebuchet MS" pitchFamily="34" charset="0"/>
                <a:ea typeface="Trebuchet MS" pitchFamily="34" charset="-122"/>
                <a:cs typeface="Trebuchet MS" pitchFamily="34" charset="-120"/>
              </a:rPr>
              <a:t>05</a:t>
            </a:r>
            <a:endParaRPr lang="en-US" sz="2000" dirty="0">
              <a:solidFill>
                <a:schemeClr val="bg1"/>
              </a:solidFill>
            </a:endParaRPr>
          </a:p>
        </p:txBody>
      </p:sp>
      <p:sp>
        <p:nvSpPr>
          <p:cNvPr id="20" name="Text 18"/>
          <p:cNvSpPr/>
          <p:nvPr/>
        </p:nvSpPr>
        <p:spPr>
          <a:xfrm>
            <a:off x="1005840" y="4241896"/>
            <a:ext cx="7863840" cy="502920"/>
          </a:xfrm>
          <a:prstGeom prst="rect">
            <a:avLst/>
          </a:prstGeom>
          <a:noFill/>
          <a:ln/>
        </p:spPr>
        <p:txBody>
          <a:bodyPr wrap="square" lIns="0" tIns="0" rIns="0" bIns="0" rtlCol="0" anchor="ctr"/>
          <a:lstStyle/>
          <a:p>
            <a:pPr marL="0" indent="0">
              <a:buNone/>
            </a:pPr>
            <a:r>
              <a:rPr lang="en-US" sz="1600" dirty="0">
                <a:solidFill>
                  <a:srgbClr val="E2EBF3"/>
                </a:solidFill>
                <a:latin typeface="Calibri" pitchFamily="34" charset="0"/>
                <a:ea typeface="Calibri" pitchFamily="34" charset="-122"/>
                <a:cs typeface="Calibri" pitchFamily="34" charset="-120"/>
              </a:rPr>
              <a:t>Funkcja kosztu przejscia musi uwzgledniać stabilnosc, a nie tylko geometrie trasy.</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PYTANIA I ZADANIE</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Pytania problemowe i zadanie do analizy</a:t>
            </a:r>
            <a:endParaRPr lang="en-US" sz="2800" dirty="0"/>
          </a:p>
        </p:txBody>
      </p:sp>
      <p:sp>
        <p:nvSpPr>
          <p:cNvPr id="6" name="Shape 4"/>
          <p:cNvSpPr/>
          <p:nvPr/>
        </p:nvSpPr>
        <p:spPr>
          <a:xfrm>
            <a:off x="274320" y="1097280"/>
            <a:ext cx="859536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88720"/>
            <a:ext cx="8229600" cy="3474720"/>
          </a:xfrm>
          <a:prstGeom prst="rect">
            <a:avLst/>
          </a:prstGeom>
          <a:noFill/>
          <a:ln/>
        </p:spPr>
        <p:txBody>
          <a:bodyPr wrap="square" lIns="127000" tIns="127000" rIns="127000" bIns="127000" rtlCol="0" anchor="t"/>
          <a:lstStyle/>
          <a:p>
            <a:pPr marL="216000" indent="-216000">
              <a:spcAft>
                <a:spcPts val="1200"/>
              </a:spcAft>
              <a:buSzPct val="100000"/>
              <a:buFont typeface="+mj-lt"/>
              <a:buAutoNum type="arabicPeriod"/>
            </a:pPr>
            <a:r>
              <a:rPr lang="en-US" sz="1600" dirty="0">
                <a:solidFill>
                  <a:srgbClr val="0D1B2A"/>
                </a:solidFill>
                <a:latin typeface="Calibri" pitchFamily="34" charset="0"/>
                <a:ea typeface="Calibri" pitchFamily="34" charset="-122"/>
                <a:cs typeface="Calibri" pitchFamily="34" charset="-120"/>
              </a:rPr>
              <a:t>Jakie sensory wybrałbyś dla humanoida patrolującego biuro w nocy (słabe oświetlenie)?</a:t>
            </a:r>
            <a:endParaRPr lang="en-US" sz="1600" dirty="0"/>
          </a:p>
          <a:p>
            <a:pPr marL="216000" indent="-216000">
              <a:spcAft>
                <a:spcPts val="1200"/>
              </a:spcAft>
              <a:buSzPct val="100000"/>
              <a:buFont typeface="+mj-lt"/>
              <a:buAutoNum type="arabicPeriod"/>
            </a:pPr>
            <a:r>
              <a:rPr lang="en-US" sz="1600" dirty="0">
                <a:solidFill>
                  <a:srgbClr val="0D1B2A"/>
                </a:solidFill>
                <a:latin typeface="Calibri" pitchFamily="34" charset="0"/>
                <a:ea typeface="Calibri" pitchFamily="34" charset="-122"/>
                <a:cs typeface="Calibri" pitchFamily="34" charset="-120"/>
              </a:rPr>
              <a:t>Dlaczego synchronizacja IMU z kamerą jest krytyczna dla odometrii wizyjno-inercyjnej?</a:t>
            </a:r>
            <a:endParaRPr lang="en-US" sz="1600" dirty="0"/>
          </a:p>
          <a:p>
            <a:pPr marL="216000" indent="-216000">
              <a:spcAft>
                <a:spcPts val="1200"/>
              </a:spcAft>
              <a:buSzPct val="100000"/>
              <a:buFont typeface="+mj-lt"/>
              <a:buAutoNum type="arabicPeriod"/>
            </a:pPr>
            <a:r>
              <a:rPr lang="en-US" sz="1600" dirty="0">
                <a:solidFill>
                  <a:srgbClr val="0D1B2A"/>
                </a:solidFill>
                <a:latin typeface="Calibri" pitchFamily="34" charset="0"/>
                <a:ea typeface="Calibri" pitchFamily="34" charset="-122"/>
                <a:cs typeface="Calibri" pitchFamily="34" charset="-120"/>
              </a:rPr>
              <a:t>Czym różni się occupancy grid od height map i kiedy potrzebujesz obu jednocześnie?</a:t>
            </a:r>
            <a:endParaRPr lang="en-US" sz="1600" dirty="0"/>
          </a:p>
          <a:p>
            <a:pPr marL="216000" indent="-216000">
              <a:spcAft>
                <a:spcPts val="2400"/>
              </a:spcAft>
              <a:buSzPct val="100000"/>
              <a:buFont typeface="+mj-lt"/>
              <a:buAutoNum type="arabicPeriod"/>
            </a:pPr>
            <a:r>
              <a:rPr lang="en-US" sz="1600" dirty="0">
                <a:solidFill>
                  <a:srgbClr val="0D1B2A"/>
                </a:solidFill>
                <a:latin typeface="Calibri" pitchFamily="34" charset="0"/>
                <a:ea typeface="Calibri" pitchFamily="34" charset="-122"/>
                <a:cs typeface="Calibri" pitchFamily="34" charset="-120"/>
              </a:rPr>
              <a:t>Jak zmodyfikować funkcję kosztu, aby robot unikał zawilgoconej posadzki w pobliżu toalety?</a:t>
            </a:r>
            <a:endParaRPr lang="en-US" sz="1600" dirty="0"/>
          </a:p>
          <a:p>
            <a:pPr>
              <a:spcAft>
                <a:spcPts val="600"/>
              </a:spcAft>
              <a:buSzPct val="100000"/>
            </a:pPr>
            <a:r>
              <a:rPr lang="en-US" sz="1600" b="1" u="sng" dirty="0" err="1" smtClean="0">
                <a:solidFill>
                  <a:srgbClr val="0D1B2A"/>
                </a:solidFill>
                <a:latin typeface="Calibri" pitchFamily="34" charset="0"/>
                <a:ea typeface="Calibri" pitchFamily="34" charset="-122"/>
                <a:cs typeface="Calibri" pitchFamily="34" charset="-120"/>
              </a:rPr>
              <a:t>Zadanie</a:t>
            </a:r>
            <a:endParaRPr lang="pl-PL" sz="1600" u="sng" dirty="0" smtClean="0">
              <a:solidFill>
                <a:srgbClr val="0D1B2A"/>
              </a:solidFill>
              <a:latin typeface="Calibri" pitchFamily="34" charset="0"/>
              <a:ea typeface="Calibri" pitchFamily="34" charset="-122"/>
              <a:cs typeface="Calibri" pitchFamily="34" charset="-120"/>
            </a:endParaRPr>
          </a:p>
          <a:p>
            <a:pPr>
              <a:lnSpc>
                <a:spcPct val="150000"/>
              </a:lnSpc>
              <a:spcAft>
                <a:spcPts val="1800"/>
              </a:spcAft>
              <a:buSzPct val="100000"/>
            </a:pPr>
            <a:r>
              <a:rPr lang="pl-PL" sz="1600" dirty="0" smtClean="0">
                <a:solidFill>
                  <a:srgbClr val="0D1B2A"/>
                </a:solidFill>
                <a:latin typeface="Calibri" pitchFamily="34" charset="0"/>
                <a:ea typeface="Calibri" pitchFamily="34" charset="-122"/>
                <a:cs typeface="Calibri" pitchFamily="34" charset="-120"/>
              </a:rPr>
              <a:t>Z</a:t>
            </a:r>
            <a:r>
              <a:rPr lang="en-US" sz="1600" dirty="0" err="1" smtClean="0">
                <a:solidFill>
                  <a:srgbClr val="0D1B2A"/>
                </a:solidFill>
                <a:latin typeface="Calibri" pitchFamily="34" charset="0"/>
                <a:ea typeface="Calibri" pitchFamily="34" charset="-122"/>
                <a:cs typeface="Calibri" pitchFamily="34" charset="-120"/>
              </a:rPr>
              <a:t>aprojektuj</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strukturę modułów nawigacji dla humanoida poruszającego się </a:t>
            </a:r>
            <a:r>
              <a:rPr lang="en-US" sz="1600" dirty="0" err="1">
                <a:solidFill>
                  <a:srgbClr val="0D1B2A"/>
                </a:solidFill>
                <a:latin typeface="Calibri" pitchFamily="34" charset="0"/>
                <a:ea typeface="Calibri" pitchFamily="34" charset="-122"/>
                <a:cs typeface="Calibri" pitchFamily="34" charset="-120"/>
              </a:rPr>
              <a:t>po</a:t>
            </a:r>
            <a:r>
              <a:rPr lang="en-US" sz="1600" dirty="0">
                <a:solidFill>
                  <a:srgbClr val="0D1B2A"/>
                </a:solidFill>
                <a:latin typeface="Calibri" pitchFamily="34" charset="0"/>
                <a:ea typeface="Calibri" pitchFamily="34" charset="-122"/>
                <a:cs typeface="Calibri" pitchFamily="34" charset="-120"/>
              </a:rPr>
              <a:t> </a:t>
            </a:r>
            <a:r>
              <a:rPr lang="en-US" sz="1600" dirty="0" err="1" smtClean="0">
                <a:solidFill>
                  <a:srgbClr val="0D1B2A"/>
                </a:solidFill>
                <a:latin typeface="Calibri" pitchFamily="34" charset="0"/>
                <a:ea typeface="Calibri" pitchFamily="34" charset="-122"/>
                <a:cs typeface="Calibri" pitchFamily="34" charset="-120"/>
              </a:rPr>
              <a:t>schodach</a:t>
            </a:r>
            <a:r>
              <a:rPr lang="pl-PL" sz="1600" dirty="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pl-PL" sz="1600" dirty="0" smtClean="0">
                <a:solidFill>
                  <a:srgbClr val="0D1B2A"/>
                </a:solidFill>
                <a:latin typeface="Calibri" pitchFamily="34" charset="0"/>
                <a:ea typeface="Calibri" pitchFamily="34" charset="-122"/>
                <a:cs typeface="Calibri" pitchFamily="34" charset="-120"/>
              </a:rPr>
              <a:t/>
            </a:r>
            <a:br>
              <a:rPr lang="pl-PL" sz="1600" dirty="0" smtClean="0">
                <a:solidFill>
                  <a:srgbClr val="0D1B2A"/>
                </a:solidFill>
                <a:latin typeface="Calibri" pitchFamily="34" charset="0"/>
                <a:ea typeface="Calibri" pitchFamily="34" charset="-122"/>
                <a:cs typeface="Calibri" pitchFamily="34" charset="-120"/>
              </a:rPr>
            </a:br>
            <a:r>
              <a:rPr lang="pl-PL" sz="1600" dirty="0" smtClean="0">
                <a:solidFill>
                  <a:srgbClr val="0D1B2A"/>
                </a:solidFill>
                <a:latin typeface="Calibri" pitchFamily="34" charset="0"/>
                <a:ea typeface="Calibri" pitchFamily="34" charset="-122"/>
                <a:cs typeface="Calibri" pitchFamily="34" charset="-120"/>
              </a:rPr>
              <a:t>J</a:t>
            </a:r>
            <a:r>
              <a:rPr lang="en-US" sz="1600" dirty="0" err="1" smtClean="0">
                <a:solidFill>
                  <a:srgbClr val="0D1B2A"/>
                </a:solidFill>
                <a:latin typeface="Calibri" pitchFamily="34" charset="0"/>
                <a:ea typeface="Calibri" pitchFamily="34" charset="-122"/>
                <a:cs typeface="Calibri" pitchFamily="34" charset="-120"/>
              </a:rPr>
              <a:t>akich</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sensorów i jakich map potrzebujesz, których nie potrzebujesz na płaskiej podłodze?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7424</Words>
  <Application>Microsoft Office PowerPoint</Application>
  <PresentationFormat>Pokaz na ekranie (16:9)</PresentationFormat>
  <Paragraphs>457</Paragraphs>
  <Slides>33</Slides>
  <Notes>33</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33</vt:i4>
      </vt:variant>
    </vt:vector>
  </HeadingPairs>
  <TitlesOfParts>
    <vt:vector size="38" baseType="lpstr">
      <vt:lpstr>Arial</vt:lpstr>
      <vt:lpstr>Calibri</vt:lpstr>
      <vt:lpstr>Consolas</vt:lpstr>
      <vt:lpstr>Trebuchet MS</vt:lpstr>
      <vt:lpstr>Office Theme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Wykład 1 – Nawigacja robota humanoidalnego</dc:title>
  <dc:subject>Nawigacja robotyczna</dc:subject>
  <dc:creator>Politechnika – Katedra Robotyki</dc:creator>
  <cp:lastModifiedBy>Mateusz Pomianek</cp:lastModifiedBy>
  <cp:revision>103</cp:revision>
  <dcterms:created xsi:type="dcterms:W3CDTF">2026-04-13T10:46:04Z</dcterms:created>
  <dcterms:modified xsi:type="dcterms:W3CDTF">2026-04-29T14:49:35Z</dcterms:modified>
</cp:coreProperties>
</file>