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65B6"/>
    <a:srgbClr val="D6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724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822960"/>
            <a:ext cx="2286000" cy="2286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18872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22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 ROBOTOW HUMANOIDALNYCH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1234440"/>
            <a:ext cx="4437814" cy="6400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</a:t>
            </a:r>
            <a:r>
              <a:rPr lang="pl-PL" sz="4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Ł</a:t>
            </a:r>
            <a:r>
              <a:rPr lang="en-US" sz="4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 </a:t>
            </a: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20040" y="1920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6EF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Uczenie przez wzmacnianie
</a:t>
            </a:r>
            <a:r>
              <a:rPr lang="en-US" sz="170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nawigacji i lokomocji humanoidow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20040" y="2926080"/>
            <a:ext cx="5760720" cy="27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" y="295745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 smtClean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inż. Mateusz Pomianek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Podstawy RL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46888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4114800"/>
            <a:ext cx="1993392" cy="56692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PPO / SAC / TD3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1772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0077A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1772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Sim-to-real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76656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chemeClr val="accent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6656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Lokomocja + Nav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WPROWADZENIE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wykladu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16052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397764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60" y="1880921"/>
            <a:ext cx="397764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Podstawy RL: MDP, polityka, nagroda, algorytmy model-free (PPO, SAC, TD3) 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intuicji do wzoru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70432"/>
            <a:ext cx="416052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61872"/>
            <a:ext cx="397764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0600" y="1880921"/>
            <a:ext cx="397764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w lokomocji humanoidow: trenowanie chodu, biegania, wchodzenia na schody w MuJoCo / Isaac Sim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990088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90088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81528"/>
            <a:ext cx="397764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5760" y="3700577"/>
            <a:ext cx="397764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w nawigacji spolecznej i integracja z ROS 2: reward shaping, curriculum, sim-to-real, wdrożenie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2990088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90088"/>
            <a:ext cx="4160520" cy="548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081528"/>
            <a:ext cx="397764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Kody Python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0600" y="3700577"/>
            <a:ext cx="397764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Petla RL (Gym), PPO sketch, reward humanoid, curriculum, node ROS 2 z polityka RL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16A34A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572768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Podstawy uczenia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przez wzmacnianie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MDP, polityka, nagroda, Value function, algorytmy model-free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INTUICJA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Intuicja: </a:t>
            </a: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uczenie przez doswiadczenie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37150" y="1115568"/>
            <a:ext cx="8678250" cy="25940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086" y="1132668"/>
            <a:ext cx="8538858" cy="243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Dziecko uczy się chodzić przez tysiące prób i upadków: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nikt nie pisze mu równania kinematyki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Każda próba dostarcza sygnału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upadłeś (kara) lub zrobiłeś krok (nagroda) - mozg aktualizuje strategie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Po wystarczająco wielu próbach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dziecko chodzi płynnie, bez świadomej analizy każdego mięśnia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Reinforcement</a:t>
            </a: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Learning (RL) replikuje ten mechanizm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agent (robot) + środowisko + nagroda </a:t>
            </a:r>
            <a:r>
              <a:rPr lang="pl-PL" sz="140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r_t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Klucz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robot NIE potrzebuje modelu dynamiki ani ręcznie zakodowanych reguł - uczy </a:t>
            </a:r>
            <a:r>
              <a:rPr lang="pl-PL" sz="140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sie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sam z interakcji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Przewaga nad klasycznym sterowaniem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generalizacja do nieprzewidzianych warunków (nierówny teren, pchnięcia)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Wyzwanie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potrzeba milionów kroków interakcji; w robotyce fizycznej = dni; stąd symulacja jako pośrednik</a:t>
            </a:r>
            <a:endParaRPr lang="pl-PL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MDP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Markowski Proces Decyzyjny (MDP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formalizacja RL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457200" y="1207008"/>
                <a:ext cx="8229600" cy="3547872"/>
              </a:xfrm>
              <a:prstGeom prst="rect">
                <a:avLst/>
              </a:prstGeom>
              <a:noFill/>
              <a:ln/>
            </p:spPr>
            <p:txBody>
              <a:bodyPr wrap="square" lIns="127000" tIns="127000" rIns="127000" bIns="127000" rtlCol="0" anchor="t"/>
              <a:lstStyle/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MDP definiują</a:t>
                </a:r>
                <a:r>
                  <a:rPr lang="pl-PL" sz="1400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</a:t>
                </a:r>
                <a:r>
                  <a:rPr lang="pl-PL" sz="1400" spc="-40" dirty="0" smtClean="0">
                    <a:solidFill>
                      <a:schemeClr val="accent2"/>
                    </a:solidFill>
                    <a:ea typeface="Calibri" pitchFamily="34" charset="-122"/>
                    <a:cs typeface="Calibri" pitchFamily="34" charset="-120"/>
                  </a:rPr>
                  <a:t>S - przestrzeń stanów</a:t>
                </a:r>
                <a:r>
                  <a:rPr lang="pl-PL" sz="1400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, </a:t>
                </a:r>
                <a:r>
                  <a:rPr lang="pl-PL" sz="1400" spc="-40" dirty="0" smtClean="0">
                    <a:solidFill>
                      <a:schemeClr val="accent6"/>
                    </a:solidFill>
                    <a:ea typeface="Calibri" pitchFamily="34" charset="-122"/>
                    <a:cs typeface="Calibri" pitchFamily="34" charset="-120"/>
                  </a:rPr>
                  <a:t>A - przestrzeń akcji</a:t>
                </a:r>
                <a:r>
                  <a:rPr lang="pl-PL" sz="1400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1400" i="1" spc="-40" dirty="0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𝑃</m:t>
                    </m:r>
                    <m:r>
                      <a:rPr lang="pl-PL" sz="1400" i="1" spc="-40" dirty="0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pl-PL" sz="1400" i="1" spc="-40" dirty="0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</m:t>
                    </m:r>
                    <m:r>
                      <a:rPr lang="pl-PL" sz="1400" i="1" spc="-40" dirty="0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′|</m:t>
                    </m:r>
                    <m:r>
                      <a:rPr lang="pl-PL" sz="1400" i="1" spc="-40" dirty="0" err="1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</m:t>
                    </m:r>
                    <m:r>
                      <a:rPr lang="pl-PL" sz="1400" i="1" spc="-40" dirty="0" err="1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</m:t>
                    </m:r>
                    <m:r>
                      <a:rPr lang="pl-PL" sz="1400" i="1" spc="-40" dirty="0" err="1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pl-PL" sz="1400" i="1" spc="-40" dirty="0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 </m:t>
                    </m:r>
                  </m:oMath>
                </a14:m>
                <a:r>
                  <a:rPr lang="pl-PL" sz="1400" spc="-40" dirty="0" smtClean="0">
                    <a:solidFill>
                      <a:srgbClr val="D6A300"/>
                    </a:solidFill>
                    <a:ea typeface="Calibri" pitchFamily="34" charset="-122"/>
                    <a:cs typeface="Calibri" pitchFamily="34" charset="-120"/>
                  </a:rPr>
                  <a:t>- model przejścia</a:t>
                </a:r>
                <a:r>
                  <a:rPr lang="pl-PL" sz="1400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1400" i="1" spc="-4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𝑟</m:t>
                    </m:r>
                    <m:r>
                      <a:rPr lang="pl-PL" sz="1400" i="1" spc="-4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pl-PL" sz="1400" i="1" spc="-4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</m:t>
                    </m:r>
                    <m:r>
                      <a:rPr lang="pl-PL" sz="1400" i="1" spc="-4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</m:t>
                    </m:r>
                    <m:r>
                      <a:rPr lang="pl-PL" sz="1400" i="1" spc="-4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pl-PL" sz="1400" i="1" spc="-4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 </m:t>
                    </m:r>
                  </m:oMath>
                </a14:m>
                <a:r>
                  <a:rPr lang="pl-PL" sz="1400" spc="-40" dirty="0" smtClean="0">
                    <a:solidFill>
                      <a:srgbClr val="FF0000"/>
                    </a:solidFill>
                    <a:ea typeface="Calibri" pitchFamily="34" charset="-122"/>
                    <a:cs typeface="Calibri" pitchFamily="34" charset="-120"/>
                  </a:rPr>
                  <a:t>- nagroda</a:t>
                </a:r>
                <a:r>
                  <a:rPr lang="pl-PL" sz="1400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, </a:t>
                </a:r>
                <a:br>
                  <a:rPr lang="pl-PL" sz="1400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</a:br>
                <a:r>
                  <a:rPr lang="pl-PL" sz="1400" spc="-40" dirty="0" smtClean="0">
                    <a:solidFill>
                      <a:srgbClr val="3865B6"/>
                    </a:solidFill>
                    <a:ea typeface="Calibri" pitchFamily="34" charset="-122"/>
                    <a:cs typeface="Calibri" pitchFamily="34" charset="-120"/>
                  </a:rPr>
                  <a:t>gamma - współczynnik dyskontowania</a:t>
                </a:r>
                <a:endParaRPr lang="pl-PL" sz="1400" spc="-40" dirty="0" smtClean="0">
                  <a:solidFill>
                    <a:srgbClr val="3865B6"/>
                  </a:solidFill>
                </a:endParaRPr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Stan </a:t>
                </a:r>
                <a:r>
                  <a:rPr lang="pl-PL" sz="1400" b="1" spc="-4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s_t</a:t>
                </a:r>
                <a:r>
                  <a:rPr lang="pl-PL" sz="1400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dla </a:t>
                </a:r>
                <a:r>
                  <a:rPr lang="pl-PL" sz="1400" spc="-4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humanoida</a:t>
                </a:r>
                <a:r>
                  <a:rPr lang="pl-PL" sz="1400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= </a:t>
                </a:r>
                <a14:m>
                  <m:oMath xmlns:m="http://schemas.openxmlformats.org/officeDocument/2006/math"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[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𝑞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 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𝑑𝑞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 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𝑜𝑟𝑖𝑒𝑛𝑡𝑎𝑐𝑗𝑎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𝐼𝑀𝑈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 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𝑘𝑜𝑛𝑡𝑎𝑘𝑡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𝑠𝑡𝑜𝑝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 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𝑐𝑒𝑙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𝑥𝑦𝑧</m:t>
                    </m:r>
                    <m:r>
                      <a:rPr lang="pl-PL" sz="1400" i="1" spc="-4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] </m:t>
                    </m:r>
                  </m:oMath>
                </a14:m>
                <a:r>
                  <a:rPr lang="pl-PL" sz="1400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- typowo 40-80 wymiarów</a:t>
                </a:r>
                <a:endParaRPr lang="pl-PL" sz="1400" spc="-4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Akcja </a:t>
                </a:r>
                <a:r>
                  <a:rPr lang="pl-PL" sz="1400" b="1" spc="-4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a_t</a:t>
                </a:r>
                <a:r>
                  <a:rPr lang="pl-PL" sz="1400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komendy momentów stawowych [</a:t>
                </a:r>
                <a:r>
                  <a:rPr lang="pl-PL" sz="1400" spc="-4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Nm</a:t>
                </a:r>
                <a:r>
                  <a:rPr lang="pl-PL" sz="1400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] lub docelowe katy stawów [rad] - 12-30 wymiarów</a:t>
                </a:r>
                <a:endParaRPr lang="pl-PL" sz="1400" spc="-4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Nagroda </a:t>
                </a:r>
                <a:r>
                  <a:rPr lang="pl-PL" sz="1400" b="1" spc="-4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r_t</a:t>
                </a:r>
                <a:r>
                  <a:rPr lang="pl-PL" sz="1400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funkcja zaprojektowana przez inżyniera; klucz do sukcesu całego treningu</a:t>
                </a:r>
                <a:endParaRPr lang="pl-PL" sz="1400" spc="-4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Cel agenta</a:t>
                </a:r>
                <a:r>
                  <a:rPr lang="pl-PL" sz="1400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maksymalizacja sumy zdyskontowanych nagród </a:t>
                </a:r>
                <a14:m>
                  <m:oMath xmlns:m="http://schemas.openxmlformats.org/officeDocument/2006/math"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𝐺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= 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𝑠𝑢𝑚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_{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𝑘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=0}^{</m:t>
                    </m:r>
                    <m:r>
                      <m:rPr>
                        <m:sty m:val="p"/>
                      </m:rP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inf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} 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𝑔𝑎𝑚𝑚𝑎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^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𝑘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∗ 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𝑟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_{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+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𝑘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}</m:t>
                    </m:r>
                  </m:oMath>
                </a14:m>
                <a:endParaRPr lang="pl-PL" sz="1400" spc="-40" dirty="0" smtClean="0">
                  <a:solidFill>
                    <a:schemeClr val="accent1"/>
                  </a:solidFill>
                  <a:latin typeface="Graduate" panose="02000503000000020004" pitchFamily="2" charset="0"/>
                </a:endParaRPr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Polityka pi(</a:t>
                </a:r>
                <a:r>
                  <a:rPr lang="pl-PL" sz="1400" b="1" spc="-4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a|s</a:t>
                </a:r>
                <a:r>
                  <a:rPr lang="pl-PL" sz="1400" b="1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): </a:t>
                </a:r>
                <a:r>
                  <a:rPr lang="pl-PL" sz="1400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funkcja mapująca stan na rozkład akcji; parametryzowana siecią neuronowa </a:t>
                </a:r>
                <a:r>
                  <a:rPr lang="pl-PL" sz="1400" spc="-4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theta</a:t>
                </a:r>
                <a:endParaRPr lang="pl-PL" sz="1400" spc="-4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Value </a:t>
                </a:r>
                <a:r>
                  <a:rPr lang="pl-PL" sz="1400" b="1" spc="-4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function</a:t>
                </a:r>
                <a:r>
                  <a:rPr lang="pl-PL" sz="1400" b="1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𝑽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𝒔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 = 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𝑬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[</m:t>
                    </m:r>
                    <m:r>
                      <a:rPr lang="pl-PL" sz="1400" b="1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𝑮</m:t>
                    </m:r>
                    <m:r>
                      <a:rPr lang="pl-PL" sz="1400" b="1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𝒕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| </m:t>
                    </m:r>
                    <m:r>
                      <a:rPr lang="pl-PL" sz="1400" b="1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𝒔</m:t>
                    </m:r>
                    <m:r>
                      <a:rPr lang="pl-PL" sz="1400" b="1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𝒕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𝒔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]: </m:t>
                    </m:r>
                  </m:oMath>
                </a14:m>
                <a:r>
                  <a:rPr lang="pl-PL" sz="1400" spc="-4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ocena jak dobry jest dany stan przy optymalnej polityce</a:t>
                </a:r>
                <a:endParaRPr lang="pl-PL" sz="1400" spc="-4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07008"/>
                <a:ext cx="8229600" cy="35478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ALGORYTMY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Porównanie </a:t>
            </a:r>
            <a:r>
              <a:rPr lang="pl-PL" sz="22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algorytmow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model-free </a:t>
            </a:r>
            <a:endParaRPr lang="en-US" sz="2200" dirty="0">
              <a:latin typeface="Trebuchet MS" panose="020B0603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23819" cy="26432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2723819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245" y="1248489"/>
            <a:ext cx="253596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600" b="1" spc="-4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PPO (Proximal Policy Opt.)</a:t>
            </a:r>
            <a:endParaRPr lang="en-US" sz="1600" spc="-40" dirty="0"/>
          </a:p>
        </p:txBody>
      </p:sp>
      <p:sp>
        <p:nvSpPr>
          <p:cNvPr id="9" name="Text 7"/>
          <p:cNvSpPr/>
          <p:nvPr/>
        </p:nvSpPr>
        <p:spPr>
          <a:xfrm>
            <a:off x="291885" y="1645920"/>
            <a:ext cx="2668074" cy="2005677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On-policy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uczy sie z biezacej polityki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Clip loss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kontroluje wielkosc aktualizacji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Stabilny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, latwy w implementacji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Popularny w lokomocji 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(IsaacGym)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Wymaga duzo danych 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(on-policy)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Ref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Schulman et al., 2017</a:t>
            </a:r>
            <a:endParaRPr lang="en-US" sz="1200" spc="-40" dirty="0"/>
          </a:p>
        </p:txBody>
      </p:sp>
      <p:sp>
        <p:nvSpPr>
          <p:cNvPr id="10" name="Shape 8"/>
          <p:cNvSpPr/>
          <p:nvPr/>
        </p:nvSpPr>
        <p:spPr>
          <a:xfrm>
            <a:off x="3232951" y="1170432"/>
            <a:ext cx="2723819" cy="26432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2951" y="1170432"/>
            <a:ext cx="2723819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6875" y="1248489"/>
            <a:ext cx="253596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SAC (Soft Actor-Critic)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50515" y="1645920"/>
            <a:ext cx="2668074" cy="2005677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Off-policy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replay buffer, probkowanie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Maksymalizuje nagrode 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+ entropia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Probkowanie efektywniejsze niz PPO</a:t>
            </a:r>
            <a:endParaRPr lang="en-US" sz="1200" b="1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Nadaje sie do zadan ciaglych</a:t>
            </a:r>
            <a:endParaRPr lang="en-US" sz="1200" b="1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Dwa krytycy Q1, Q2 </a:t>
            </a:r>
            <a:r>
              <a:rPr lang="en-US" sz="12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stabilnosc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Ref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Haarnoja et al., 2018</a:t>
            </a:r>
            <a:endParaRPr lang="en-US" sz="1200" spc="-40" dirty="0"/>
          </a:p>
        </p:txBody>
      </p:sp>
      <p:sp>
        <p:nvSpPr>
          <p:cNvPr id="14" name="Shape 12"/>
          <p:cNvSpPr/>
          <p:nvPr/>
        </p:nvSpPr>
        <p:spPr>
          <a:xfrm>
            <a:off x="6191581" y="1170432"/>
            <a:ext cx="2723819" cy="26432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1581" y="1170432"/>
            <a:ext cx="2723819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5506" y="1248489"/>
            <a:ext cx="253596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TD3 (Twin Delayed DDPG)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09146" y="1645920"/>
            <a:ext cx="2668074" cy="2005677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Off-policy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, deterministyczna polityka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6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Dwa</a:t>
            </a:r>
            <a:r>
              <a:rPr lang="en-US" sz="1200" b="1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Q-networks</a:t>
            </a:r>
            <a:r>
              <a:rPr lang="pl-PL" sz="1200" b="1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redukuje overestimation</a:t>
            </a:r>
            <a:endParaRPr lang="en-US" sz="12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Opozniona aktualizacja aktora</a:t>
            </a:r>
            <a:endParaRPr lang="en-US" sz="1200" b="1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Szybki w zadaniach manipulacji</a:t>
            </a:r>
            <a:endParaRPr lang="en-US" sz="1200" b="1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Dobry punkt startowy 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dla robotykow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Ref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Fujimoto et al., 2018</a:t>
            </a:r>
            <a:endParaRPr lang="en-US" sz="1200" spc="-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ARCHITEKTURA AC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aktor-krytyk (Actor-Critic)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5524314" cy="561173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70432"/>
            <a:ext cx="192024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 s_t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04538" y="1170432"/>
            <a:ext cx="299745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Propriocepcja + cel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[q, dq, IMU, contact, goal_dir]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 do obu sieci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44368" y="1739421"/>
            <a:ext cx="54864" cy="7815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25394"/>
            <a:ext cx="5524314" cy="56117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825394"/>
            <a:ext cx="192024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Aktor pi(a|s)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04538" y="1825394"/>
            <a:ext cx="299745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3×[512 ELU]: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 mu i log_sigma dla rozkladu Gaussa nad akcja a_t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44368" y="2394383"/>
            <a:ext cx="54864" cy="7815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480357"/>
            <a:ext cx="5524314" cy="561173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480357"/>
            <a:ext cx="192024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Probkowanie akcji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04538" y="2480357"/>
            <a:ext cx="299745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a_t ~ N(mu, sigma^2); reparametrization trick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mu + sigma*eps, eps~N(0,1)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44368" y="3049346"/>
            <a:ext cx="54864" cy="7815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35320"/>
            <a:ext cx="5524314" cy="561173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135320"/>
            <a:ext cx="192024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Srodowisko / robot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04538" y="3135320"/>
            <a:ext cx="299745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Wykonaj a_t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odbierz r_t, s_{t+1}; dane do rollout buffer (PPO) lub replay (SAC)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44368" y="3704308"/>
            <a:ext cx="54864" cy="7815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790282"/>
            <a:ext cx="5524314" cy="561173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790282"/>
            <a:ext cx="192024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Krytyk V(s) / Q(s,a)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704538" y="3790282"/>
            <a:ext cx="299745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3×[512 ELU]: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szacuje wartosc stanu lub pary (stan, akcja); blad TD -&gt; gradient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74806" y="1170432"/>
            <a:ext cx="2942814" cy="31810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4806" y="1170432"/>
            <a:ext cx="2942814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Kluczowe cechy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5364" y="1597896"/>
            <a:ext cx="2871810" cy="2523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300" b="1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Aktor i krytyk </a:t>
            </a:r>
            <a:r>
              <a:rPr lang="pl-PL" sz="13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współdzielą warstwy </a:t>
            </a:r>
            <a:r>
              <a:rPr lang="en-US" sz="13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 </a:t>
            </a:r>
            <a:r>
              <a:rPr lang="en-US" sz="1300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PPO</a:t>
            </a:r>
            <a:endParaRPr lang="en-US" sz="13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300" b="1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Typowy MLP</a:t>
            </a:r>
            <a:r>
              <a:rPr lang="en-US" sz="1300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3 </a:t>
            </a:r>
            <a:r>
              <a:rPr lang="pl-PL" sz="13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warstwy</a:t>
            </a:r>
            <a:r>
              <a:rPr lang="en-US" sz="13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3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po</a:t>
            </a:r>
            <a:r>
              <a:rPr lang="en-US" sz="13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256-512 </a:t>
            </a:r>
            <a:r>
              <a:rPr lang="en-US" sz="1300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neuronow</a:t>
            </a:r>
            <a:endParaRPr lang="en-US" sz="13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Aktywacja</a:t>
            </a:r>
            <a:r>
              <a:rPr lang="en-US" sz="13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ELU lub Tanh (ostatnia warstwa)</a:t>
            </a:r>
            <a:endParaRPr lang="en-US" sz="13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Batch norm </a:t>
            </a:r>
            <a:r>
              <a:rPr lang="en-US" sz="13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lub </a:t>
            </a:r>
            <a:r>
              <a:rPr lang="en-US" sz="13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layer </a:t>
            </a:r>
            <a:r>
              <a:rPr lang="en-US" sz="1300" b="1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norm</a:t>
            </a:r>
            <a:r>
              <a:rPr lang="pl-PL" sz="13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</a:t>
            </a:r>
            <a:r>
              <a:rPr lang="en-US" sz="13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3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stabilność</a:t>
            </a:r>
            <a:endParaRPr lang="pl-PL" sz="13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300" spc="-4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lr</a:t>
            </a:r>
            <a:r>
              <a:rPr lang="en-US" sz="13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aktor 3e-4; lr krytyk 1e-3</a:t>
            </a:r>
            <a:endParaRPr lang="en-US" sz="13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Gradient clipping</a:t>
            </a:r>
            <a:r>
              <a:rPr lang="en-US" sz="13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max_norm = 1.0</a:t>
            </a:r>
            <a:endParaRPr lang="en-US" sz="13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Horyzont rollout PPO</a:t>
            </a:r>
            <a:r>
              <a:rPr lang="en-US" sz="13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T = 24 krokow</a:t>
            </a:r>
            <a:endParaRPr lang="en-US" sz="1300" spc="-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Petla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MuJoCo Humanoid z Gymnasium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134980"/>
          </a:xfrm>
          <a:prstGeom prst="rect">
            <a:avLst/>
          </a:prstGeom>
          <a:solidFill>
            <a:srgbClr val="071520"/>
          </a:solidFill>
          <a:ln w="1016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10728" y="1106424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1106424"/>
            <a:ext cx="137160" cy="13716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2792" y="1106424"/>
            <a:ext cx="137160" cy="137160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" y="1087911"/>
            <a:ext cx="8321040" cy="296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gymnasium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gym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gym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.make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"Humanoid-v5"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render_mode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 err="1">
                <a:solidFill>
                  <a:srgbClr val="4FC1FF"/>
                </a:solidFill>
                <a:latin typeface="Consolas" panose="020B0609020204030204" pitchFamily="49" charset="0"/>
              </a:rPr>
              <a:t>None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.reset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seed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42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wektor stanu (376,)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ep_rewards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[]</a:t>
            </a: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episode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.reset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ep_ret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done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FC1FF"/>
                </a:solidFill>
                <a:latin typeface="Consolas" panose="020B0609020204030204" pitchFamily="49" charset="0"/>
              </a:rPr>
              <a:t>False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not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done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Polityka - tu: losowa (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zastap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siecia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PPO/SAC)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.action_space.sample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(17,) momenty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reward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terminated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truncated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info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.step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ep_ret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reward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done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terminated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truncated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ep_rewards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ep_ret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"Epizod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episode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: return =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ep_ret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:.1f}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.close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100"/>
              </a:lnSpc>
            </a:pP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"Średni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zwrot z 5 epizodów: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mean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ep_rewards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:.1f</a:t>
            </a:r>
            <a:r>
              <a:rPr lang="pl-PL" sz="1000" dirty="0" smtClean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pl-PL" sz="100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415882"/>
            <a:ext cx="8595360" cy="503589"/>
          </a:xfrm>
          <a:prstGeom prst="rect">
            <a:avLst/>
          </a:prstGeom>
          <a:solidFill>
            <a:srgbClr val="1A3550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4356410"/>
            <a:ext cx="8321040" cy="563062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500" b="1" spc="-4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500" spc="-4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Humanoid-v5: 376-wymiarowy stan, 17 momentow stawowych; pelna dynamika </a:t>
            </a:r>
            <a:r>
              <a:rPr lang="en-US" sz="1500" spc="-4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r>
              <a:rPr lang="en-US" sz="1500" spc="-4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spc="-4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3.x</a:t>
            </a:r>
            <a:r>
              <a:rPr lang="pl-PL" sz="1500" spc="-4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spc="-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15803D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15803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572768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w lokomocji</a:t>
            </a:r>
            <a:endParaRPr lang="en-US" sz="3600" dirty="0"/>
          </a:p>
          <a:p>
            <a:pPr marL="0" indent="0">
              <a:buNone/>
            </a:pPr>
            <a:r>
              <a:rPr lang="pl-PL" sz="3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humanoidów</a:t>
            </a:r>
            <a:endParaRPr lang="pl-PL" sz="36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540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Trenowanie chodu, biegania, schodow; funkcja nagrody; curriculum learning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SRODOWISKA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Srodowiska symulacyjne dla lokomocji RL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651760" cy="13043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26517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9615"/>
            <a:ext cx="2468880" cy="353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MuJoCo / Gymnasium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60" y="1808212"/>
            <a:ext cx="2468880" cy="59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Klasyczny benchmark; Humanoid-v5, 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HumanoidStandup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elastyczny; 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-native; open-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 2022</a:t>
            </a:r>
            <a:endParaRPr lang="pl-PL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170432"/>
            <a:ext cx="2651760" cy="13043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70432"/>
            <a:ext cx="265176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89615"/>
            <a:ext cx="2468880" cy="353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IsaacGym / IsaacLab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46120" y="1808212"/>
            <a:ext cx="2468880" cy="59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4096+ robotów jednocześnie na jednym GPU; PPO w 10 min; NVIDIA; open-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pl-PL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170432"/>
            <a:ext cx="2651760" cy="13043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70432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289615"/>
            <a:ext cx="2468880" cy="353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IsaacSim (Omniverse)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26480" y="1808212"/>
            <a:ext cx="2468880" cy="59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Fotorealistyczna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symulacja; ROS 2 native; RTX rendering; domyślne środowisko dla Franka, H1</a:t>
            </a:r>
            <a:endParaRPr lang="pl-PL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662991"/>
            <a:ext cx="2651760" cy="13043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662991"/>
            <a:ext cx="2651760" cy="54864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82174"/>
            <a:ext cx="2468880" cy="353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PyBullet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5760" y="3300771"/>
            <a:ext cx="2468880" cy="59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Lekki, open-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wolniejszy od Isaac; dobry do prototypowania; </a:t>
            </a:r>
          </a:p>
          <a:p>
            <a:pPr marL="0" indent="0">
              <a:buNone/>
            </a:pPr>
            <a:r>
              <a:rPr lang="pl-PL" sz="1200" dirty="0" smtClean="0">
                <a:solidFill>
                  <a:srgbClr val="475569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pip </a:t>
            </a:r>
            <a:r>
              <a:rPr lang="pl-PL" sz="1200" dirty="0" err="1" smtClean="0">
                <a:solidFill>
                  <a:srgbClr val="475569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install</a:t>
            </a:r>
            <a:r>
              <a:rPr lang="pl-PL" sz="1200" dirty="0" smtClean="0">
                <a:solidFill>
                  <a:srgbClr val="475569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200" dirty="0" err="1" smtClean="0">
                <a:solidFill>
                  <a:srgbClr val="475569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pybullet</a:t>
            </a:r>
            <a:endParaRPr lang="pl-PL" sz="1200" dirty="0">
              <a:latin typeface="Consolas" panose="020B0609020204030204" pitchFamily="49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154680" y="2662991"/>
            <a:ext cx="2651760" cy="13043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662991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782174"/>
            <a:ext cx="2468880" cy="353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Genesis (2024)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246120" y="3300771"/>
            <a:ext cx="2468880" cy="59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-native; 10-100× szybszy od 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CPU; 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nowy standard akademicki</a:t>
            </a:r>
            <a:endParaRPr lang="pl-PL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2662991"/>
            <a:ext cx="2651760" cy="13043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662991"/>
            <a:ext cx="26517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782174"/>
            <a:ext cx="2468880" cy="353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Webots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26480" y="3300771"/>
            <a:ext cx="2468880" cy="59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wbudowany ROS 2 driver; dobry dla studentów; słabsza dokładność kontaktu</a:t>
            </a:r>
            <a:endParaRPr lang="pl-PL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FUNKCJA NAGRODY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Projektowanie funkcji nagrody dla chodu humanoida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7413" y="1115568"/>
            <a:ext cx="8662265" cy="27501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241610" y="1207008"/>
                <a:ext cx="8628069" cy="253915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spAutoFit/>
              </a:bodyPr>
              <a:lstStyle/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500" b="1" spc="-40" dirty="0" err="1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r_velocity</a:t>
                </a:r>
                <a:r>
                  <a:rPr lang="pl-PL" sz="1500" spc="-4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15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+</m:t>
                    </m:r>
                    <m:r>
                      <a:rPr lang="pl-PL" sz="15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𝑣</m:t>
                    </m:r>
                    <m:r>
                      <a:rPr lang="pl-PL" sz="15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5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𝑥</m:t>
                    </m:r>
                    <m:r>
                      <a:rPr lang="pl-PL" sz="15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∗ </m:t>
                    </m:r>
                    <m:r>
                      <m:rPr>
                        <m:sty m:val="p"/>
                      </m:rPr>
                      <a:rPr lang="pl-PL" sz="15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cos</m:t>
                    </m:r>
                    <m:r>
                      <a:rPr lang="pl-PL" sz="15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⁡(</m:t>
                    </m:r>
                    <m:r>
                      <a:rPr lang="pl-PL" sz="15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𝑦𝑎𝑤</m:t>
                    </m:r>
                    <m:r>
                      <a:rPr lang="pl-PL" sz="15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5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𝑒𝑟𝑟</m:t>
                    </m:r>
                    <m:r>
                      <a:rPr lang="pl-PL" sz="15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 </m:t>
                    </m:r>
                  </m:oMath>
                </a14:m>
                <a:r>
                  <a:rPr lang="pl-PL" sz="1500" spc="-4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nagroda za ruch do przodu we właściwym kierunku; skaluje prędkość liniowo</a:t>
                </a:r>
                <a:endParaRPr lang="pl-PL" sz="1500" spc="-4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500" b="1" spc="-20" dirty="0" err="1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r_alive</a:t>
                </a:r>
                <a:r>
                  <a:rPr lang="pl-PL" sz="1500" spc="-2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+0.5 </m:t>
                    </m:r>
                  </m:oMath>
                </a14:m>
                <a:r>
                  <a:rPr lang="pl-PL" sz="1500" spc="-2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 każdym kroku w którym robot nie upadł; krytyczne dla uczenia wstawania</a:t>
                </a:r>
                <a:endParaRPr lang="pl-PL" sz="1500" spc="-2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500" b="1" spc="-20" dirty="0" err="1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r_upright</a:t>
                </a:r>
                <a:r>
                  <a:rPr lang="pl-PL" sz="1500" spc="-2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+1.0 ∗ (1 − |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𝑝𝑖𝑡𝑐h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| / 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𝑝𝑖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 </m:t>
                    </m:r>
                  </m:oMath>
                </a14:m>
                <a:r>
                  <a:rPr lang="pl-PL" sz="1500" spc="-2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nagroda za pionowa postawę tułowia (brak pochylenia)</a:t>
                </a:r>
                <a:endParaRPr lang="pl-PL" sz="1500" spc="-2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500" b="1" spc="-20" dirty="0" err="1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r_feet_contact</a:t>
                </a:r>
                <a:r>
                  <a:rPr lang="pl-PL" sz="1500" spc="-2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</a:t>
                </a:r>
                <a14:m>
                  <m:oMath xmlns:m="http://schemas.openxmlformats.org/officeDocument/2006/math"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+0.1 </m:t>
                    </m:r>
                  </m:oMath>
                </a14:m>
                <a:r>
                  <a:rPr lang="pl-PL" sz="1500" spc="-2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gdy przynajmniej jedna stopa dotyka podłoża; kara za brak kontaktu obu stop</a:t>
                </a:r>
                <a:endParaRPr lang="pl-PL" sz="1500" spc="-2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500" b="1" spc="-20" dirty="0" err="1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r_energy</a:t>
                </a:r>
                <a:r>
                  <a:rPr lang="pl-PL" sz="1500" spc="-2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−0.001 ∗ 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𝑠𝑢𝑚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(|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𝑡𝑎𝑢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𝑖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∗ 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𝑑𝑞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𝑖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|) </m:t>
                    </m:r>
                  </m:oMath>
                </a14:m>
                <a:r>
                  <a:rPr lang="pl-PL" sz="1500" spc="-2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kara za zbyt duże zużycie mocy </a:t>
                </a:r>
                <a:r>
                  <a:rPr lang="pl-PL" sz="1500" spc="-20" dirty="0" err="1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aktuatorów</a:t>
                </a:r>
                <a:endParaRPr lang="pl-PL" sz="1500" spc="-2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500" b="1" spc="-20" dirty="0" err="1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r_action_smooth</a:t>
                </a:r>
                <a:r>
                  <a:rPr lang="pl-PL" sz="1500" spc="-2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−0.01 ∗ ||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− 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_{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−1}||^2 </m:t>
                    </m:r>
                  </m:oMath>
                </a14:m>
                <a:r>
                  <a:rPr lang="pl-PL" sz="1500" spc="-2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kara za gwałtowne zmiany komend (drgania)</a:t>
                </a:r>
                <a:endParaRPr lang="pl-PL" sz="1500" spc="-2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𝒓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𝒕𝒐𝒕𝒂𝒍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= </m:t>
                    </m:r>
                    <m:r>
                      <a:rPr lang="pl-PL" sz="1400" b="1" i="1" spc="-10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𝒓</m:t>
                    </m:r>
                    <m:r>
                      <a:rPr lang="pl-PL" sz="1400" b="1" i="1" spc="-10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10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𝒗𝒆𝒍𝒐𝒄𝒊𝒕𝒚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+ 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𝒓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𝒂𝒍𝒊𝒗𝒆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+ 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𝒓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𝒖𝒑𝒓𝒊𝒈𝒉𝒕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+ 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𝒓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𝒇𝒆𝒆𝒕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+ 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𝒓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𝒆𝒏𝒆𝒓𝒈𝒚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+ 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𝒓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𝒔𝒎𝒐𝒐𝒕𝒉</m:t>
                    </m:r>
                  </m:oMath>
                </a14:m>
                <a:r>
                  <a:rPr lang="pl-PL" sz="1500" spc="-2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; </a:t>
                </a:r>
                <a:r>
                  <a:rPr lang="pl-PL" sz="1500" spc="-4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suma aż do upadku (</a:t>
                </a:r>
                <a:r>
                  <a:rPr lang="pl-PL" sz="1500" spc="-40" dirty="0" err="1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done</a:t>
                </a:r>
                <a:r>
                  <a:rPr lang="pl-PL" sz="1500" spc="-4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=True)</a:t>
                </a:r>
                <a:endParaRPr lang="pl-PL" sz="1500" spc="-4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10" y="1207008"/>
                <a:ext cx="8628069" cy="2539157"/>
              </a:xfrm>
              <a:prstGeom prst="rect">
                <a:avLst/>
              </a:prstGeom>
              <a:blipFill>
                <a:blip r:embed="rId3"/>
                <a:stretch>
                  <a:fillRect l="-1413" t="-2638" b="-3357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CURRICULUM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Curriculum learning 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stopniowe trudnosci treningu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055176" cy="23264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2973" y="1207008"/>
            <a:ext cx="597869" cy="58521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2973" y="1207008"/>
            <a:ext cx="59786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7737" y="1883664"/>
            <a:ext cx="1868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Faza 1: Wstawanie</a:t>
            </a:r>
            <a:endParaRPr lang="pl-PL" sz="1600" dirty="0"/>
          </a:p>
        </p:txBody>
      </p:sp>
      <p:sp>
        <p:nvSpPr>
          <p:cNvPr id="10" name="Text 8"/>
          <p:cNvSpPr/>
          <p:nvPr/>
        </p:nvSpPr>
        <p:spPr>
          <a:xfrm>
            <a:off x="367737" y="2432304"/>
            <a:ext cx="1868342" cy="94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spc="-2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pl-PL" sz="1100" spc="-2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uczy się stać. Nagroda tylko za </a:t>
            </a:r>
            <a:r>
              <a:rPr lang="pl-PL" sz="1100" spc="-20" dirty="0" err="1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r_upright</a:t>
            </a:r>
            <a:r>
              <a:rPr lang="pl-PL" sz="1100" spc="-2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pl-PL" sz="1100" spc="-20" dirty="0" err="1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r_alive</a:t>
            </a:r>
            <a:r>
              <a:rPr lang="pl-PL" sz="1100" spc="-2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Brak zadania prędkości. ~10M kroków.</a:t>
            </a:r>
            <a:endParaRPr lang="pl-PL" sz="1100" spc="-20" dirty="0"/>
          </a:p>
        </p:txBody>
      </p:sp>
      <p:sp>
        <p:nvSpPr>
          <p:cNvPr id="11" name="Shape 9"/>
          <p:cNvSpPr/>
          <p:nvPr/>
        </p:nvSpPr>
        <p:spPr>
          <a:xfrm>
            <a:off x="2469621" y="1115568"/>
            <a:ext cx="2055176" cy="23264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98275" y="1207008"/>
            <a:ext cx="597869" cy="58521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98275" y="1207008"/>
            <a:ext cx="59786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63038" y="1883664"/>
            <a:ext cx="1868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Faza 2: Chód wolny</a:t>
            </a:r>
            <a:endParaRPr lang="pl-PL" sz="1600" dirty="0"/>
          </a:p>
        </p:txBody>
      </p:sp>
      <p:sp>
        <p:nvSpPr>
          <p:cNvPr id="15" name="Text 13"/>
          <p:cNvSpPr/>
          <p:nvPr/>
        </p:nvSpPr>
        <p:spPr>
          <a:xfrm>
            <a:off x="2494686" y="2432304"/>
            <a:ext cx="1999732" cy="94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spc="-2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Wprowadź </a:t>
            </a:r>
            <a:r>
              <a:rPr lang="pl-PL" sz="1100" spc="-20" dirty="0" err="1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r_velocity</a:t>
            </a:r>
            <a:r>
              <a:rPr lang="pl-PL" sz="1100" spc="-2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docelowym </a:t>
            </a:r>
            <a:r>
              <a:rPr lang="pl-PL" sz="1100" spc="-20" dirty="0" err="1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v_ref</a:t>
            </a:r>
            <a:r>
              <a:rPr lang="pl-PL" sz="1100" spc="-2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0.5 m/s</a:t>
            </a:r>
            <a:r>
              <a:rPr lang="pl-PL" sz="1100" spc="-2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Plaska, gładka nawierzchnia. ~50M kroków.</a:t>
            </a:r>
            <a:endParaRPr lang="pl-PL" sz="1100" spc="-20" dirty="0"/>
          </a:p>
        </p:txBody>
      </p:sp>
      <p:sp>
        <p:nvSpPr>
          <p:cNvPr id="16" name="Shape 14"/>
          <p:cNvSpPr/>
          <p:nvPr/>
        </p:nvSpPr>
        <p:spPr>
          <a:xfrm>
            <a:off x="4664923" y="1115568"/>
            <a:ext cx="2055176" cy="23264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3576" y="1207008"/>
            <a:ext cx="597869" cy="58521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3576" y="1207008"/>
            <a:ext cx="59786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58340" y="1883664"/>
            <a:ext cx="1868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Faza 3: Prędkość</a:t>
            </a:r>
            <a:endParaRPr lang="pl-PL" sz="1600" dirty="0"/>
          </a:p>
        </p:txBody>
      </p:sp>
      <p:sp>
        <p:nvSpPr>
          <p:cNvPr id="20" name="Text 18"/>
          <p:cNvSpPr/>
          <p:nvPr/>
        </p:nvSpPr>
        <p:spPr>
          <a:xfrm>
            <a:off x="4758340" y="2432304"/>
            <a:ext cx="1868342" cy="94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spc="-2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Stopniowo zwiększ </a:t>
            </a:r>
            <a:r>
              <a:rPr lang="pl-PL" sz="1100" spc="-20" dirty="0" err="1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v_ref</a:t>
            </a:r>
            <a:r>
              <a:rPr lang="pl-PL" sz="1100" spc="-2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1.5 m/s</a:t>
            </a:r>
            <a:r>
              <a:rPr lang="pl-PL" sz="1100" spc="-2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pl-PL" sz="1100" b="1" spc="-2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r>
              <a:rPr lang="pl-PL" sz="1100" b="1" spc="-2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00" b="1" spc="-2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</a:t>
            </a:r>
            <a:r>
              <a:rPr lang="pl-PL" sz="1100" spc="-2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masa +/-10%, tarcie zmienne. ~100M kroków.</a:t>
            </a:r>
            <a:endParaRPr lang="pl-PL" sz="1100" spc="-20" dirty="0"/>
          </a:p>
        </p:txBody>
      </p:sp>
      <p:sp>
        <p:nvSpPr>
          <p:cNvPr id="21" name="Shape 19"/>
          <p:cNvSpPr/>
          <p:nvPr/>
        </p:nvSpPr>
        <p:spPr>
          <a:xfrm>
            <a:off x="6860224" y="1115568"/>
            <a:ext cx="2055176" cy="23264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8877" y="1207008"/>
            <a:ext cx="597869" cy="58521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8877" y="1207008"/>
            <a:ext cx="59786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53641" y="1883664"/>
            <a:ext cx="1868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Faza 4: Teren</a:t>
            </a:r>
            <a:endParaRPr lang="pl-PL" sz="1600" dirty="0"/>
          </a:p>
        </p:txBody>
      </p:sp>
      <p:sp>
        <p:nvSpPr>
          <p:cNvPr id="25" name="Text 23"/>
          <p:cNvSpPr/>
          <p:nvPr/>
        </p:nvSpPr>
        <p:spPr>
          <a:xfrm>
            <a:off x="6953641" y="2432304"/>
            <a:ext cx="1868342" cy="94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spc="-2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Nierówności (</a:t>
            </a:r>
            <a:r>
              <a:rPr lang="pl-PL" sz="1100" spc="-2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heightfield</a:t>
            </a:r>
            <a:r>
              <a:rPr lang="pl-PL" sz="1100" spc="-2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schody, rampy. Korekta funkcji nagrody </a:t>
            </a:r>
            <a:r>
              <a:rPr lang="pl-PL" sz="1100" b="1" spc="-2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margines ZMP</a:t>
            </a:r>
            <a:r>
              <a:rPr lang="pl-PL" sz="1100" spc="-2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~200M kroków.</a:t>
            </a:r>
            <a:endParaRPr lang="pl-PL" sz="1100" spc="-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Funkcja nagrody dla chodu humanoida (PyTorch / IsaacLab)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2854564"/>
          </a:xfrm>
          <a:prstGeom prst="rect">
            <a:avLst/>
          </a:prstGeom>
          <a:solidFill>
            <a:srgbClr val="071520"/>
          </a:solidFill>
          <a:ln w="10160">
            <a:solidFill>
              <a:srgbClr val="1580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10728" y="1152144"/>
            <a:ext cx="137160" cy="1371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1152144"/>
            <a:ext cx="137160" cy="13716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2792" y="1152144"/>
            <a:ext cx="137160" cy="137160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030" y="1069623"/>
            <a:ext cx="8321040" cy="2703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pl-PL" sz="1000" spc="2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spc="2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DCDCAA"/>
                </a:solidFill>
                <a:latin typeface="Consolas" panose="020B0609020204030204" pitchFamily="49" charset="0"/>
              </a:rPr>
              <a:t>compute_reward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Tensor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,        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(N, </a:t>
            </a:r>
            <a:r>
              <a:rPr lang="pl-PL" sz="1000" spc="20" dirty="0" err="1">
                <a:solidFill>
                  <a:srgbClr val="6A9955"/>
                </a:solidFill>
                <a:latin typeface="Consolas" panose="020B0609020204030204" pitchFamily="49" charset="0"/>
              </a:rPr>
              <a:t>obs_dim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)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Tensor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,     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(N, </a:t>
            </a:r>
            <a:r>
              <a:rPr lang="pl-PL" sz="1000" spc="20" dirty="0" err="1">
                <a:solidFill>
                  <a:srgbClr val="6A9955"/>
                </a:solidFill>
                <a:latin typeface="Consolas" panose="020B0609020204030204" pitchFamily="49" charset="0"/>
              </a:rPr>
              <a:t>act_dim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)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prev_action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Tensor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alive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Tensor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,      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(N,) </a:t>
            </a:r>
            <a:r>
              <a:rPr lang="pl-PL" sz="1000" spc="20" dirty="0" err="1">
                <a:solidFill>
                  <a:srgbClr val="6A9955"/>
                </a:solidFill>
                <a:latin typeface="Consolas" panose="020B0609020204030204" pitchFamily="49" charset="0"/>
              </a:rPr>
              <a:t>bool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Tensor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vx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   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[:, 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]       </a:t>
            </a:r>
            <a:r>
              <a:rPr lang="pl-PL" sz="1000" spc="2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		    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spc="2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prędkość 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do przodu [m/s]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pitch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 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[:, 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]      </a:t>
            </a:r>
            <a:r>
              <a:rPr lang="pl-PL" sz="1000" spc="2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		    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pochylenie </a:t>
            </a:r>
            <a:r>
              <a:rPr lang="pl-PL" sz="1000" spc="2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tułowia 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[rad]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>
                <a:solidFill>
                  <a:srgbClr val="9CDCFE"/>
                </a:solidFill>
                <a:latin typeface="Consolas" panose="020B0609020204030204" pitchFamily="49" charset="0"/>
              </a:rPr>
              <a:t>tau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   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[:, 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37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]   </a:t>
            </a:r>
            <a:r>
              <a:rPr lang="pl-PL" sz="1000" spc="2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		    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momenty </a:t>
            </a:r>
            <a:r>
              <a:rPr lang="pl-PL" sz="1000" spc="2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stawów 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[</a:t>
            </a:r>
            <a:r>
              <a:rPr lang="pl-PL" sz="1000" spc="20" dirty="0" err="1">
                <a:solidFill>
                  <a:srgbClr val="6A9955"/>
                </a:solidFill>
                <a:latin typeface="Consolas" panose="020B0609020204030204" pitchFamily="49" charset="0"/>
              </a:rPr>
              <a:t>Nm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]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dq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   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[:, 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37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54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]    </a:t>
            </a:r>
            <a:r>
              <a:rPr lang="pl-PL" sz="1000" spc="2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		     </a:t>
            </a:r>
            <a:r>
              <a:rPr lang="pl-PL" sz="1000" spc="2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# prędkości stawów 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[rad/s]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r_vel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 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vx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.w_vel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                      </a:t>
            </a:r>
            <a:r>
              <a:rPr lang="pl-PL" sz="1000" spc="2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nagroda </a:t>
            </a:r>
            <a:r>
              <a:rPr lang="pl-PL" sz="1000" spc="2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prędkości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r_alive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alive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spc="20" dirty="0" err="1">
                <a:solidFill>
                  <a:srgbClr val="DCDCAA"/>
                </a:solidFill>
                <a:latin typeface="Consolas" panose="020B0609020204030204" pitchFamily="49" charset="0"/>
              </a:rPr>
              <a:t>float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()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.w_alive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         </a:t>
            </a:r>
            <a:r>
              <a:rPr lang="pl-PL" sz="1000" spc="2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  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spc="2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przeżycie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r_uprt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pitch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spc="20" dirty="0" err="1">
                <a:solidFill>
                  <a:srgbClr val="DCDCAA"/>
                </a:solidFill>
                <a:latin typeface="Consolas" panose="020B0609020204030204" pitchFamily="49" charset="0"/>
              </a:rPr>
              <a:t>abs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()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/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3.14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.w_upr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spc="2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pionowość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r_enrg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spc="20" dirty="0">
                <a:solidFill>
                  <a:srgbClr val="9CDCFE"/>
                </a:solidFill>
                <a:latin typeface="Consolas" panose="020B0609020204030204" pitchFamily="49" charset="0"/>
              </a:rPr>
              <a:t>tau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dq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00" spc="20" dirty="0" err="1">
                <a:solidFill>
                  <a:srgbClr val="DCDCAA"/>
                </a:solidFill>
                <a:latin typeface="Consolas" panose="020B0609020204030204" pitchFamily="49" charset="0"/>
              </a:rPr>
              <a:t>abs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sum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.w_ener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spc="2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pl-PL" sz="1000" spc="2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energia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r_smth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prev_action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00" spc="20" dirty="0" err="1">
                <a:solidFill>
                  <a:srgbClr val="DCDCAA"/>
                </a:solidFill>
                <a:latin typeface="Consolas" panose="020B0609020204030204" pitchFamily="49" charset="0"/>
              </a:rPr>
              <a:t>pow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sum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.w_sm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r_vel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r_alive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r_uprt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r_enrg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r_smth</a:t>
            </a:r>
            <a:endParaRPr lang="pl-PL" sz="1000" b="0" spc="2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27394"/>
            <a:ext cx="8595360" cy="392077"/>
          </a:xfrm>
          <a:prstGeom prst="rect">
            <a:avLst/>
          </a:prstGeom>
          <a:solidFill>
            <a:srgbClr val="1A3550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445620"/>
            <a:ext cx="8595360" cy="473852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 algn="ctr">
              <a:buNone/>
            </a:pPr>
            <a:r>
              <a:rPr lang="en-US" sz="1600" b="1" spc="-4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spc="-4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cfg.w_vel=1.0, w_alive=0.5, w_upr=0.3, w_ener=0.001, </a:t>
            </a:r>
            <a:r>
              <a:rPr lang="en-US" sz="1600" spc="-4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w_sm</a:t>
            </a:r>
            <a:r>
              <a:rPr lang="en-US" sz="1600" spc="-4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=0.005 </a:t>
            </a:r>
            <a:r>
              <a:rPr lang="en-US" sz="1600" spc="-4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4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startowe wagi do </a:t>
            </a:r>
            <a:r>
              <a:rPr lang="en-US" sz="1600" spc="-4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strojenia</a:t>
            </a:r>
            <a:endParaRPr lang="en-US" sz="1600" spc="-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SIM-TO-REAL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randomization i transfer sim-to-real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6052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41605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338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Randomization (DR)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0495" y="1572768"/>
            <a:ext cx="4159477" cy="312724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Losowanie parametrów modelu podczas treningu</a:t>
            </a:r>
            <a:r>
              <a:rPr lang="pl-PL" sz="12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masa ciała +/-15%, momenty bezwładności +/-10%</a:t>
            </a:r>
            <a:endParaRPr lang="pl-PL" sz="125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Tarcie stopy</a:t>
            </a:r>
            <a:r>
              <a:rPr lang="pl-PL" sz="12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 w [0.4, 1.2]; kluczowe dla różnych nawierzchni</a:t>
            </a:r>
            <a:endParaRPr lang="pl-PL" sz="125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Opóźnienie </a:t>
            </a:r>
            <a:r>
              <a:rPr lang="pl-PL" sz="1250" b="1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aktuatora</a:t>
            </a:r>
            <a:r>
              <a:rPr lang="pl-PL" sz="125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0-40 ms; symuluje opóźnienie sieci </a:t>
            </a:r>
            <a:br>
              <a:rPr lang="pl-PL" sz="125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25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kontrolera</a:t>
            </a:r>
            <a:endParaRPr lang="pl-PL" sz="1250" spc="-6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Szum obserwacji</a:t>
            </a:r>
            <a:r>
              <a:rPr lang="pl-PL" sz="125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N(0, sigma) do q, </a:t>
            </a:r>
            <a:r>
              <a:rPr lang="pl-PL" sz="125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</a:t>
            </a:r>
            <a:r>
              <a:rPr lang="pl-PL" sz="125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IMU - odporność na błędy </a:t>
            </a:r>
            <a:r>
              <a:rPr lang="pl-PL" sz="125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enkodera</a:t>
            </a:r>
            <a:endParaRPr lang="pl-PL" sz="1250" spc="-6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Zewnętrzne zakłócenia</a:t>
            </a:r>
            <a:r>
              <a:rPr lang="pl-PL" sz="125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losowe impulsy siły na tułów co N kroków</a:t>
            </a:r>
            <a:endParaRPr lang="pl-PL" sz="1250" spc="-6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pl-PL" sz="12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pokryć różnice miedzy symulacja a fizycznym robotem</a:t>
            </a:r>
            <a:endParaRPr lang="pl-PL" sz="1250" spc="-40" dirty="0"/>
          </a:p>
        </p:txBody>
      </p:sp>
      <p:sp>
        <p:nvSpPr>
          <p:cNvPr id="10" name="Shape 8"/>
          <p:cNvSpPr/>
          <p:nvPr/>
        </p:nvSpPr>
        <p:spPr>
          <a:xfrm>
            <a:off x="4709160" y="1115568"/>
            <a:ext cx="416052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15568"/>
            <a:ext cx="416052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1338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sim-to-real (best practices)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10203" y="1572768"/>
            <a:ext cx="4054655" cy="312724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</a:t>
            </a:r>
            <a:r>
              <a:rPr lang="pl-PL" sz="125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r>
              <a:rPr lang="pl-PL" sz="12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robocie</a:t>
            </a:r>
            <a:r>
              <a:rPr lang="pl-PL" sz="12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zamroź aktora, douczaj tylko ostatnia warstwę (1h danych = 30 min treningu)</a:t>
            </a:r>
            <a:endParaRPr lang="pl-PL" sz="125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r>
              <a:rPr lang="pl-PL" sz="12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25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r>
              <a:rPr lang="pl-PL" sz="12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podaj ostatnie k=3 obserwacje i akcje; kompensuje opóźnienia</a:t>
            </a:r>
            <a:endParaRPr lang="pl-PL" sz="125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Asymetryczny AC</a:t>
            </a:r>
            <a:r>
              <a:rPr lang="pl-PL" sz="12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krytyk ma dostęp do pełnego stanu w sim; aktor uczy się tylko z obserwacji</a:t>
            </a:r>
            <a:endParaRPr lang="pl-PL" sz="125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</a:t>
            </a:r>
            <a:r>
              <a:rPr lang="pl-PL" sz="125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r>
              <a:rPr lang="pl-PL" sz="12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dopasuj tarcie i masę przed treningu przez krótkie sesje na robocie</a:t>
            </a:r>
            <a:endParaRPr lang="pl-PL" sz="125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Metryki: </a:t>
            </a:r>
            <a:r>
              <a:rPr lang="pl-PL" sz="12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v_forward</a:t>
            </a:r>
            <a:r>
              <a:rPr lang="pl-PL" sz="12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margines ZMP, zużycie energii porównywalne sim vs. real</a:t>
            </a:r>
            <a:endParaRPr lang="pl-PL" sz="1250" spc="-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WYNIKI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Wyniki RL w lokomocji humanoidow (2022-2025)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23819" cy="13811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2723819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245" y="1261872"/>
            <a:ext cx="2535969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DeepMind </a:t>
            </a:r>
            <a:r>
              <a:rPr lang="en-US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8245" y="1791713"/>
            <a:ext cx="2535969" cy="61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</a:t>
            </a:r>
            <a:r>
              <a:rPr lang="pl-PL" sz="1200" b="1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uczy się wstawać, chodzić, biegać z jednej politykami. Nature 2019.</a:t>
            </a:r>
            <a:endParaRPr lang="pl-PL" sz="1200" dirty="0"/>
          </a:p>
        </p:txBody>
      </p:sp>
      <p:sp>
        <p:nvSpPr>
          <p:cNvPr id="10" name="Shape 8"/>
          <p:cNvSpPr/>
          <p:nvPr/>
        </p:nvSpPr>
        <p:spPr>
          <a:xfrm>
            <a:off x="3232951" y="1170432"/>
            <a:ext cx="2723819" cy="13811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2951" y="1170432"/>
            <a:ext cx="2723819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6875" y="1261872"/>
            <a:ext cx="2535969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 </a:t>
            </a:r>
            <a:r>
              <a:rPr lang="en-US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ANYmal RL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26875" y="1791713"/>
            <a:ext cx="2535969" cy="61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</a:t>
            </a:r>
            <a:r>
              <a:rPr lang="pl-PL" sz="1200" b="1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IsaacGym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quadruped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RL do 3 m/s; transfer sim2real w 15 min kalibracji. RSJ 2022.</a:t>
            </a:r>
            <a:endParaRPr lang="pl-PL" sz="1200" dirty="0"/>
          </a:p>
        </p:txBody>
      </p:sp>
      <p:sp>
        <p:nvSpPr>
          <p:cNvPr id="14" name="Shape 12"/>
          <p:cNvSpPr/>
          <p:nvPr/>
        </p:nvSpPr>
        <p:spPr>
          <a:xfrm>
            <a:off x="6191581" y="1170432"/>
            <a:ext cx="2723819" cy="13811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1581" y="1170432"/>
            <a:ext cx="2723819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5506" y="1261872"/>
            <a:ext cx="2535969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 Berkeley </a:t>
            </a:r>
            <a:r>
              <a:rPr lang="en-US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Cassie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85506" y="1791713"/>
            <a:ext cx="2535969" cy="61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</a:t>
            </a:r>
            <a:r>
              <a:rPr lang="pl-PL" sz="1200" b="1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bieganie 3 m/s, kucanie, skakanie; odporność na pchnięcia. RSS 2022.</a:t>
            </a:r>
            <a:endParaRPr lang="pl-PL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700159"/>
            <a:ext cx="2723819" cy="13811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00159"/>
            <a:ext cx="2723819" cy="54864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8245" y="2791599"/>
            <a:ext cx="2535969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Agility Digit </a:t>
            </a:r>
            <a:r>
              <a:rPr lang="en-US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IROS24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8245" y="3321440"/>
            <a:ext cx="2535969" cy="61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+ curriculum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chód po terenie, schody, ramp; transfer na fizycznego 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~4h danych.</a:t>
            </a:r>
            <a:endParaRPr lang="pl-PL" sz="1200" dirty="0"/>
          </a:p>
        </p:txBody>
      </p:sp>
      <p:sp>
        <p:nvSpPr>
          <p:cNvPr id="22" name="Shape 20"/>
          <p:cNvSpPr/>
          <p:nvPr/>
        </p:nvSpPr>
        <p:spPr>
          <a:xfrm>
            <a:off x="3232951" y="2700159"/>
            <a:ext cx="2723819" cy="13811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32951" y="2700159"/>
            <a:ext cx="2723819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6875" y="2791599"/>
            <a:ext cx="2535969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Unitree H1 </a:t>
            </a:r>
            <a:r>
              <a:rPr lang="en-US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26875" y="3321440"/>
            <a:ext cx="2535969" cy="61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</a:t>
            </a:r>
            <a:r>
              <a:rPr lang="pl-PL" sz="1200" b="1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IsaacLab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bieg 3,3 m/s z 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backflip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2048 środowisk równoległych na jednym GPU.</a:t>
            </a:r>
            <a:endParaRPr lang="pl-PL" sz="1200" dirty="0"/>
          </a:p>
        </p:txBody>
      </p:sp>
      <p:sp>
        <p:nvSpPr>
          <p:cNvPr id="26" name="Shape 24"/>
          <p:cNvSpPr/>
          <p:nvPr/>
        </p:nvSpPr>
        <p:spPr>
          <a:xfrm>
            <a:off x="6191581" y="2700159"/>
            <a:ext cx="2723819" cy="13811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1581" y="2700159"/>
            <a:ext cx="2723819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5506" y="2791599"/>
            <a:ext cx="2535969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01 </a:t>
            </a:r>
            <a:r>
              <a:rPr lang="en-US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85506" y="3321440"/>
            <a:ext cx="2535969" cy="61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+ VLA (GPT-4o); 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może nauczyć się pieczenia jajek, sprzątania; end 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end z LLM</a:t>
            </a:r>
            <a:endParaRPr lang="pl-PL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77A8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7A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572768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w </a:t>
            </a:r>
            <a:r>
              <a:rPr lang="en-US" sz="3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nawigacji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3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br>
              <a:rPr lang="pl-PL" sz="3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</a:br>
            <a:r>
              <a:rPr lang="en-US" sz="32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r>
              <a:rPr lang="pl-PL" sz="3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integracja</a:t>
            </a:r>
            <a:r>
              <a:rPr lang="en-US" sz="3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 ROS 2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50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Nawigacja spoleczna z RL, reward shaping, wdrozenie na robocie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RL NAWIGACJA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dla nawigacji społecznej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</a:t>
            </a:r>
            <a:r>
              <a:rPr lang="pl-PL" sz="22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22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shaping</a:t>
            </a:r>
            <a:endParaRPr lang="pl-PL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288400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3528" y="1154970"/>
            <a:ext cx="8542578" cy="2646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6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uczy się omijać pieszych bez ręcznie zaprojektowanego planisty lokalnego</a:t>
            </a:r>
            <a:endParaRPr lang="pl-PL" sz="16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6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r_goal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   -d(</a:t>
            </a:r>
            <a:r>
              <a:rPr lang="pl-PL" sz="16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pos_t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l-PL" sz="16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pl-PL" sz="16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d_initial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pl-PL" sz="16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nagroda za </a:t>
            </a:r>
            <a:r>
              <a:rPr lang="pl-PL" sz="16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zblizanie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celu nawigacyjnego</a:t>
            </a:r>
            <a:endParaRPr lang="pl-PL" sz="16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6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r_social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 -</a:t>
            </a:r>
            <a:r>
              <a:rPr lang="pl-PL" sz="16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sum_j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 max(0, </a:t>
            </a:r>
            <a:r>
              <a:rPr lang="pl-PL" sz="16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d_safe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||</a:t>
            </a:r>
            <a:r>
              <a:rPr lang="pl-PL" sz="16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pl-PL" sz="16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ped_j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||) ] - kara proporcjonalna do naruszenia strefy osobistej</a:t>
            </a:r>
            <a:endParaRPr lang="pl-PL" sz="16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6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r_collision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-10 gdy ||</a:t>
            </a:r>
            <a:r>
              <a:rPr lang="pl-PL" sz="16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pl-PL" sz="16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 &lt; 0.3 m lub kolizja ze ścianą; epizod kończy się</a:t>
            </a:r>
            <a:endParaRPr lang="pl-PL" sz="16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6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r_comfort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-||</a:t>
            </a:r>
            <a:r>
              <a:rPr lang="pl-PL" sz="16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a_t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a_{t-1}||^2 * 0.01 - kara za gwałtowne manewry (komfort pieszego)</a:t>
            </a:r>
            <a:endParaRPr lang="pl-PL" sz="16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6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r_progress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+0.2 gdy robot przeszedł do nowego punktu kontrolnego; hamuje tendencje do okrążania celu</a:t>
            </a:r>
            <a:endParaRPr lang="pl-PL" sz="16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6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Środowisko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6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CrowdNav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(Chen et al.) lub SEAN-EP; 5-15 pieszych z </a:t>
            </a:r>
            <a:r>
              <a:rPr lang="pl-PL" sz="16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r>
              <a:rPr lang="pl-PL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 Model lub nagraniami</a:t>
            </a:r>
            <a:endParaRPr lang="pl-PL" sz="1600" spc="-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HIERARCHIA RL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Hierarchiczne RL dla nawigacji humanoidow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6052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416052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338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Wysoki</a:t>
            </a: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13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poziom</a:t>
            </a:r>
            <a:r>
              <a:rPr lang="en-US" sz="13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- </a:t>
            </a: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338327" y="1572768"/>
                <a:ext cx="4036295" cy="3127248"/>
              </a:xfrm>
              <a:prstGeom prst="rect">
                <a:avLst/>
              </a:prstGeom>
              <a:noFill/>
              <a:ln/>
            </p:spPr>
            <p:txBody>
              <a:bodyPr wrap="square" lIns="0" tIns="127000" rIns="127000" bIns="127000" rtlCol="0" anchor="t"/>
              <a:lstStyle/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Policy nawigacyjna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</a:t>
                </a:r>
                <a:b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</a:br>
                <a14:m>
                  <m:oMath xmlns:m="http://schemas.openxmlformats.org/officeDocument/2006/math"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𝑜𝑏𝑠</m:t>
                    </m:r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pl-PL" sz="1400" i="1" spc="-60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pl-PL" sz="1400" i="1" spc="-60" dirty="0" err="1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𝑐𝑒</m:t>
                        </m:r>
                        <m:sSub>
                          <m:sSubPr>
                            <m:ctrlP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𝑙</m:t>
                            </m:r>
                          </m:e>
                          <m:sub>
                            <m: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𝑑𝑖𝑟</m:t>
                            </m:r>
                          </m:sub>
                        </m:sSub>
                        <m:r>
                          <a:rPr lang="pl-PL" sz="1400" i="1" spc="-60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 </m:t>
                        </m:r>
                        <m:r>
                          <a:rPr lang="pl-PL" sz="1400" i="1" spc="-60" dirty="0" err="1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𝑑𝑖𝑠</m:t>
                        </m:r>
                        <m:sSub>
                          <m:sSubPr>
                            <m:ctrlP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𝑔𝑜𝑎𝑙</m:t>
                            </m:r>
                          </m:sub>
                        </m:sSub>
                        <m:r>
                          <a:rPr lang="pl-PL" sz="1400" i="1" spc="-60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 </m:t>
                        </m:r>
                        <m:r>
                          <a:rPr lang="pl-PL" sz="1400" i="1" spc="-60" dirty="0" err="1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𝑝𝑒𝑑𝑒𝑠𝑡𝑟𝑖𝑎𝑛</m:t>
                        </m:r>
                        <m:sSub>
                          <m:sSubPr>
                            <m:ctrlP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𝑠</m:t>
                            </m:r>
                          </m:e>
                          <m:sub>
                            <m: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𝑟𝑒𝑙𝑎𝑡𝑖𝑣𝑒</m:t>
                            </m:r>
                          </m:sub>
                        </m:sSub>
                      </m:e>
                    </m:d>
                  </m:oMath>
                </a14:m>
                <a:r>
                  <a:rPr lang="pl-PL" sz="1400" i="1" spc="-60" dirty="0" smtClean="0">
                    <a:solidFill>
                      <a:srgbClr val="0D1B2A"/>
                    </a:solidFill>
                    <a:latin typeface="Cambria Math" panose="02040503050406030204" pitchFamily="18" charset="0"/>
                    <a:ea typeface="Calibri" pitchFamily="34" charset="-122"/>
                    <a:cs typeface="Calibri" pitchFamily="34" charset="-120"/>
                  </a:rPr>
                  <a:t/>
                </a:r>
                <a:br>
                  <a:rPr lang="pl-PL" sz="1400" i="1" spc="-60" dirty="0" smtClean="0">
                    <a:solidFill>
                      <a:srgbClr val="0D1B2A"/>
                    </a:solidFill>
                    <a:latin typeface="Cambria Math" panose="02040503050406030204" pitchFamily="18" charset="0"/>
                    <a:ea typeface="Calibri" pitchFamily="34" charset="-122"/>
                    <a:cs typeface="Calibri" pitchFamily="34" charset="-120"/>
                  </a:rPr>
                </a:br>
                <a14:m>
                  <m:oMath xmlns:m="http://schemas.openxmlformats.org/officeDocument/2006/math"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−&gt; </m:t>
                    </m:r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= [</m:t>
                    </m:r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𝑣</m:t>
                    </m:r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 </m:t>
                    </m:r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𝑜𝑚𝑒𝑔𝑎</m:t>
                    </m:r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]</m:t>
                    </m:r>
                  </m:oMath>
                </a14:m>
                <a:endParaRPr lang="pl-PL" sz="1400" spc="-60" dirty="0" smtClean="0">
                  <a:latin typeface="Graduate" panose="02000503000000020004" pitchFamily="2" charset="0"/>
                </a:endParaRPr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Trening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</a:t>
                </a:r>
                <a:r>
                  <a:rPr lang="pl-PL" sz="1400" spc="-6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CrowdNav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/ </a:t>
                </a:r>
                <a:r>
                  <a:rPr lang="pl-PL" sz="1400" spc="-6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IsaacSim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; 8 pieszych, randomizowane cele</a:t>
                </a:r>
                <a:endParaRPr lang="pl-PL" sz="1400" spc="-6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Częstotliwość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10 </a:t>
                </a:r>
                <a:r>
                  <a:rPr lang="pl-PL" sz="1400" spc="-6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Hz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; wyjście: wektor (v, omega) </a:t>
                </a:r>
                <a:b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</a:b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do planisty kroków</a:t>
                </a:r>
                <a:endParaRPr lang="pl-PL" sz="1400" spc="-6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Transfer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fine-</a:t>
                </a:r>
                <a:r>
                  <a:rPr lang="pl-PL" sz="1400" spc="-6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tuning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na danych z korytarza (30 min sesji)</a:t>
                </a:r>
                <a:endParaRPr lang="pl-PL" sz="1400" spc="-6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Algorytm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SAC; replay </a:t>
                </a:r>
                <a:r>
                  <a:rPr lang="pl-PL" sz="1400" spc="-6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buffer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1M; </a:t>
                </a:r>
                <a:r>
                  <a:rPr lang="pl-PL" sz="1400" spc="-6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batch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256; </a:t>
                </a:r>
                <a:r>
                  <a:rPr lang="pl-PL" sz="1400" spc="-6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lr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3e-4</a:t>
                </a:r>
                <a:endParaRPr lang="pl-PL" sz="1400" spc="-60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27" y="1572768"/>
                <a:ext cx="4036295" cy="3127248"/>
              </a:xfrm>
              <a:prstGeom prst="rect">
                <a:avLst/>
              </a:prstGeom>
              <a:blipFill>
                <a:blip r:embed="rId3"/>
                <a:stretch>
                  <a:fillRect l="-2715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4709160" y="1115568"/>
            <a:ext cx="416052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15568"/>
            <a:ext cx="41605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1338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Niski</a:t>
            </a: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13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poziom</a:t>
            </a:r>
            <a:r>
              <a:rPr lang="en-US" sz="13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- </a:t>
            </a: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lokomocja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1"/>
              <p:cNvSpPr/>
              <p:nvPr/>
            </p:nvSpPr>
            <p:spPr>
              <a:xfrm>
                <a:off x="4773167" y="1572768"/>
                <a:ext cx="4036295" cy="3127248"/>
              </a:xfrm>
              <a:prstGeom prst="rect">
                <a:avLst/>
              </a:prstGeom>
              <a:noFill/>
              <a:ln/>
            </p:spPr>
            <p:txBody>
              <a:bodyPr wrap="square" lIns="0" tIns="127000" rIns="127000" bIns="127000" rtlCol="0" anchor="t"/>
              <a:lstStyle/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Policy lokomocyjna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</a:t>
                </a:r>
                <a:r>
                  <a:rPr lang="pl-PL" sz="1400" i="1" spc="-100" dirty="0" smtClean="0">
                    <a:solidFill>
                      <a:srgbClr val="0D1B2A"/>
                    </a:solidFill>
                    <a:latin typeface="Cambria Math" panose="02040503050406030204" pitchFamily="18" charset="0"/>
                    <a:ea typeface="Calibri" pitchFamily="34" charset="-122"/>
                    <a:cs typeface="Calibri" pitchFamily="34" charset="-120"/>
                  </a:rPr>
                  <a:t/>
                </a:r>
                <a:br>
                  <a:rPr lang="pl-PL" sz="1400" i="1" spc="-100" dirty="0" smtClean="0">
                    <a:solidFill>
                      <a:srgbClr val="0D1B2A"/>
                    </a:solidFill>
                    <a:latin typeface="Cambria Math" panose="02040503050406030204" pitchFamily="18" charset="0"/>
                    <a:ea typeface="Calibri" pitchFamily="34" charset="-122"/>
                    <a:cs typeface="Calibri" pitchFamily="34" charset="-120"/>
                  </a:rPr>
                </a:br>
                <a14:m>
                  <m:oMath xmlns:m="http://schemas.openxmlformats.org/officeDocument/2006/math">
                    <m:r>
                      <a:rPr lang="pl-PL" sz="1400" i="1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𝑜𝑏𝑠</m:t>
                    </m:r>
                    <m:r>
                      <a:rPr lang="pl-PL" sz="1400" i="1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1400" i="1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pl-PL" sz="1400" i="1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pl-PL" sz="1400" i="1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𝑐𝑚𝑑</m:t>
                            </m:r>
                          </m:sub>
                        </m:sSub>
                        <m: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 </m:t>
                        </m:r>
                        <m:r>
                          <a:rPr lang="pl-PL" sz="1400" i="1" dirty="0" err="1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𝑜𝑚𝑒𝑔</m:t>
                        </m:r>
                        <m:sSub>
                          <m:sSubPr>
                            <m:ctrlPr>
                              <a:rPr lang="pl-PL" sz="1400" i="1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pl-PL" sz="1400" i="1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𝑎</m:t>
                            </m:r>
                          </m:e>
                          <m:sub>
                            <m:r>
                              <a:rPr lang="pl-PL" sz="1400" i="1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𝑐𝑚𝑑</m:t>
                            </m:r>
                          </m:sub>
                        </m:sSub>
                        <m: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 </m:t>
                        </m:r>
                        <m: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𝑞</m:t>
                        </m:r>
                        <m: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 </m:t>
                        </m:r>
                        <m:r>
                          <a:rPr lang="pl-PL" sz="1400" i="1" dirty="0" err="1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𝑑𝑞</m:t>
                        </m:r>
                        <m: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 </m:t>
                        </m:r>
                        <m: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𝐼𝑀𝑈</m:t>
                        </m:r>
                        <m: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 </m:t>
                        </m:r>
                        <m:r>
                          <a:rPr lang="pl-PL" sz="1400" i="1" dirty="0" err="1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𝑐𝑜𝑛𝑡𝑎𝑐𝑡</m:t>
                        </m:r>
                      </m:e>
                    </m:d>
                  </m:oMath>
                </a14:m>
                <a:r>
                  <a:rPr lang="pl-PL" sz="1400" i="1" dirty="0" smtClean="0">
                    <a:solidFill>
                      <a:srgbClr val="0D1B2A"/>
                    </a:solidFill>
                    <a:latin typeface="Graduate" panose="02000503000000020004" pitchFamily="2" charset="0"/>
                    <a:ea typeface="Calibri" pitchFamily="34" charset="-122"/>
                    <a:cs typeface="Calibri" pitchFamily="34" charset="-120"/>
                  </a:rPr>
                  <a:t/>
                </a:r>
                <a:br>
                  <a:rPr lang="pl-PL" sz="1400" i="1" dirty="0" smtClean="0">
                    <a:solidFill>
                      <a:srgbClr val="0D1B2A"/>
                    </a:solidFill>
                    <a:latin typeface="Graduate" panose="02000503000000020004" pitchFamily="2" charset="0"/>
                    <a:ea typeface="Calibri" pitchFamily="34" charset="-122"/>
                    <a:cs typeface="Calibri" pitchFamily="34" charset="-120"/>
                  </a:rPr>
                </a:br>
                <a14:m>
                  <m:oMath xmlns:m="http://schemas.openxmlformats.org/officeDocument/2006/math">
                    <m:r>
                      <a:rPr lang="pl-PL" sz="1400" i="1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−&gt; </m:t>
                    </m:r>
                    <m:r>
                      <a:rPr lang="pl-PL" sz="1400" i="1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pl-PL" sz="1400" i="1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= </m:t>
                    </m:r>
                    <m:r>
                      <a:rPr lang="pl-PL" sz="1400" i="1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𝑡𝑎𝑢</m:t>
                    </m:r>
                  </m:oMath>
                </a14:m>
                <a:endParaRPr lang="pl-PL" sz="1400" dirty="0" smtClean="0">
                  <a:latin typeface="Graduate" panose="02000503000000020004" pitchFamily="2" charset="0"/>
                </a:endParaRPr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Trening: </a:t>
                </a:r>
                <a:r>
                  <a:rPr lang="pl-PL" sz="1400" b="1" spc="-6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IsaacGym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; 2048 środowisk; 200M kroków; PPO</a:t>
                </a:r>
                <a:endParaRPr lang="pl-PL" sz="1400" spc="-6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Częstotliwość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200 </a:t>
                </a:r>
                <a:r>
                  <a:rPr lang="pl-PL" sz="1400" spc="-6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Hz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(WBC </a:t>
                </a:r>
                <a:r>
                  <a:rPr lang="pl-PL" sz="1400" spc="-6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loop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pl-PL" sz="1400" spc="-6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integration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)</a:t>
                </a:r>
                <a:endParaRPr lang="pl-PL" sz="1400" spc="-6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Odbiera komendy od planisty 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nawigacyjnego co 50 ms</a:t>
                </a:r>
                <a:endParaRPr lang="pl-PL" sz="1400" spc="-60" dirty="0" smtClean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Algorytm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PPO; clip = 0.2; T = 24; mini-</a:t>
                </a:r>
                <a:r>
                  <a:rPr lang="pl-PL" sz="1400" spc="-60" dirty="0" err="1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batches</a:t>
                </a:r>
                <a:r>
                  <a:rPr lang="pl-PL" sz="1400" spc="-60" dirty="0" smtClean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= 4</a:t>
                </a:r>
                <a:endParaRPr lang="pl-PL" sz="1400" spc="-60" dirty="0"/>
              </a:p>
            </p:txBody>
          </p:sp>
        </mc:Choice>
        <mc:Fallback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167" y="1572768"/>
                <a:ext cx="4036295" cy="3127248"/>
              </a:xfrm>
              <a:prstGeom prst="rect">
                <a:avLst/>
              </a:prstGeom>
              <a:blipFill>
                <a:blip r:embed="rId4"/>
                <a:stretch>
                  <a:fillRect l="-2719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Uproszczona polityka nawigacyjna RL (SAC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39"/>
            <a:ext cx="8595360" cy="2904521"/>
          </a:xfrm>
          <a:prstGeom prst="rect">
            <a:avLst/>
          </a:prstGeom>
          <a:solidFill>
            <a:srgbClr val="071520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" y="1005840"/>
            <a:ext cx="8321040" cy="2807878"/>
          </a:xfrm>
          <a:prstGeom prst="rect">
            <a:avLst/>
          </a:prstGeom>
          <a:noFill/>
          <a:ln/>
        </p:spPr>
        <p:txBody>
          <a:bodyPr wrap="square" lIns="50800" tIns="127000" rIns="127000" bIns="50800" rtlCol="0" anchor="t"/>
          <a:lstStyle/>
          <a:p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NavPolicy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Module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obs_dim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act_dim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hidden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256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super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net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Sequential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Linear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obs_dim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hidden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ELU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Linear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hidden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hidden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),  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ELU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Linear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hidden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act_dim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mu [v, omega]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forward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Tensor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Tensor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mu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net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Ogranicz v in [-0.5, 1.0] m/s; omega in [-1.0, 1.0] rad/s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tanh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mu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[:,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])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0.75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0.25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preferencja do przodu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omega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tanh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mu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[:,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])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stack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omega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dim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=-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pl-PL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1A3550"/>
          </a:solidFill>
          <a:ln w="1016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4490224"/>
            <a:ext cx="8458200" cy="429248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 algn="ctr">
              <a:buNone/>
            </a:pPr>
            <a:r>
              <a:rPr lang="en-US" sz="1600" b="1" spc="-4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spc="-4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obs_dim=18: [goal_dx, goal_dy, dist_goal, 5x{ped_dx,dy,vx,vy,dist}]; output: (v, omega) do lokomocji.</a:t>
            </a:r>
            <a:endParaRPr lang="en-US" sz="1600" spc="-40" dirty="0"/>
          </a:p>
        </p:txBody>
      </p:sp>
      <p:sp>
        <p:nvSpPr>
          <p:cNvPr id="13" name="Shape 5"/>
          <p:cNvSpPr/>
          <p:nvPr/>
        </p:nvSpPr>
        <p:spPr>
          <a:xfrm>
            <a:off x="8110728" y="1124712"/>
            <a:ext cx="137160" cy="13716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66760" y="1124712"/>
            <a:ext cx="137160" cy="13716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622792" y="1124712"/>
            <a:ext cx="137160" cy="137160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ROS 2 INTEGRACJA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Integracja polityki RL z ROS 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2742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256" y="1169838"/>
            <a:ext cx="8561160" cy="2539157"/>
          </a:xfrm>
          <a:prstGeom prst="rect">
            <a:avLst/>
          </a:prstGeom>
          <a:noFill/>
          <a:ln/>
        </p:spPr>
        <p:txBody>
          <a:bodyPr wrap="square" lIns="0" tIns="0" rIns="127000" bIns="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5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/rl_nav_policy</a:t>
            </a:r>
            <a:r>
              <a:rPr lang="en-US" sz="15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subskrybuje /odom, /goal_pose, /pedestrians; publikuje /rl_cmd_vel (10 Hz)</a:t>
            </a:r>
            <a:endParaRPr lang="en-US" sz="15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5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/rl_loco_policy</a:t>
            </a:r>
            <a:r>
              <a:rPr lang="en-US" sz="15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subskrybuje /joint_states, /imu, /rl_cmd_vel; publikuje /joint_torques (200 Hz)</a:t>
            </a:r>
            <a:endParaRPr lang="en-US" sz="15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5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Wczytanie wag</a:t>
            </a:r>
            <a:r>
              <a:rPr lang="en-US" sz="15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torch.load("nav_policy.pt").eval(); torch.jit.trace() do 2× szybszej inferencji</a:t>
            </a:r>
            <a:endParaRPr lang="en-US" sz="15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5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</a:t>
            </a:r>
            <a:r>
              <a:rPr lang="en-US" sz="15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NavPolicy ~0.8 ms; LocoPolicy ~1.2 ms na Jetson AGX Orin </a:t>
            </a:r>
            <a:r>
              <a:rPr lang="en-US" sz="15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5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miesci sie w cyklu sterowania</a:t>
            </a:r>
            <a:endParaRPr lang="en-US" sz="15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5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wrapper</a:t>
            </a:r>
            <a:r>
              <a:rPr lang="en-US" sz="15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przed kazda akcja sprawdz clip predkosci i ZMP; watchdog zatrzymuje przy przekroczeniu</a:t>
            </a:r>
            <a:endParaRPr lang="en-US" sz="15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5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r>
              <a:rPr lang="en-US" sz="15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gdy RL policy nie odpowie przez &gt;30 ms, aktywuj klasyczny DWA kontroler z Nav2</a:t>
            </a:r>
            <a:endParaRPr lang="en-US" sz="15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5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Logowanie</a:t>
            </a:r>
            <a:r>
              <a:rPr lang="en-US" sz="15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zapisuj (obs, action, reward) do rosbag2 </a:t>
            </a:r>
            <a:r>
              <a:rPr lang="en-US" sz="15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5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do dalszego fine-tuningu online</a:t>
            </a:r>
            <a:endParaRPr lang="en-US" sz="1500" spc="-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ROS 2 node 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polityka nawigacyjna RL (Python)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107436"/>
          </a:xfrm>
          <a:prstGeom prst="rect">
            <a:avLst/>
          </a:prstGeom>
          <a:solidFill>
            <a:srgbClr val="071520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10728" y="1124712"/>
            <a:ext cx="137160" cy="13716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1124712"/>
            <a:ext cx="137160" cy="13716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2792" y="1124712"/>
            <a:ext cx="137160" cy="137160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" y="1053120"/>
            <a:ext cx="8321040" cy="2968752"/>
          </a:xfrm>
          <a:prstGeom prst="rect">
            <a:avLst/>
          </a:prstGeom>
          <a:noFill/>
          <a:ln/>
        </p:spPr>
        <p:txBody>
          <a:bodyPr wrap="square" lIns="108000" tIns="0" rIns="127000" bIns="0" rtlCol="0" anchor="t"/>
          <a:lstStyle/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rclpy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torch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rclpy.node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Node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geometry_msgs.msg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Twist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nav_msgs.msg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Odometry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RLNavNode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super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rl_nav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.policy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torch.jit.load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"nav_policy_traced.pt"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eval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.goal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None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     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PoseStamped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goal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.peds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[]          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lista pieszych z detektora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.cmd_pub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.create_publisher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(Twist,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"/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rl_cmd_vel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.create_subscription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Odometry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"/odom"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.odom_cb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.create_timer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.timer_cb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10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Hz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timer_cb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.goal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is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None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._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build_obs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 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(1, 18) tensor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with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torch.no_grad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action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.policy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squeeze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cmd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Twist()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cmd.linear.x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action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].clip(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cmd.angular.z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action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].clip(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.cmd_pub.publish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cmd</a:t>
            </a:r>
            <a:r>
              <a:rPr lang="pl-PL" sz="100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33900"/>
            <a:ext cx="8595360" cy="385572"/>
          </a:xfrm>
          <a:prstGeom prst="rect">
            <a:avLst/>
          </a:prstGeom>
          <a:solidFill>
            <a:srgbClr val="1A3550"/>
          </a:solidFill>
          <a:ln w="1016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4438650"/>
            <a:ext cx="8321040" cy="480822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torch.jit.load() laduje skompilowany </a:t>
            </a:r>
            <a:r>
              <a:rPr lang="en-US" sz="16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TorchScript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szybszy i niezalezny od kodu treningu.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OGRANICZENIA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Ograniczenia i otwarte pytania RL w humanoidach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60520" cy="372160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416052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3385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Problemy techniczne i badawcze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160520" cy="37216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15568"/>
            <a:ext cx="4160520" cy="4114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13385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Kierunki (2024-2026)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" y="1600200"/>
            <a:ext cx="4096512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Kosztowny trening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100M kroków PPO to ~2 h na 4×A100; realny robot = tygodnie bez DR</a:t>
            </a:r>
            <a:endParaRPr lang="pl-PL" sz="1400" spc="-40" dirty="0" smtClean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agent nagminnie oszukuje nagrodę nieoczekiwanymi ruchami (</a:t>
            </a:r>
            <a:r>
              <a:rPr lang="pl-PL" sz="14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np.toczy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się zamiast chodzić)</a:t>
            </a:r>
            <a:endParaRPr lang="pl-PL" sz="1400" spc="-40" dirty="0" smtClean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Długookresowe planowanie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RL słabo radzi sobie </a:t>
            </a:r>
            <a:b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horyzontami &gt;50 kroków bez hierarchii lub modelu świata</a:t>
            </a:r>
            <a:endParaRPr lang="pl-PL" sz="1400" spc="-40" dirty="0" smtClean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Generalizacja topologii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polityka nauczona w jednym budynku może nie działać w nowym</a:t>
            </a:r>
            <a:endParaRPr lang="pl-PL" sz="1400" spc="-40" dirty="0" smtClean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Interpretowalność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siec neuronowa nie podaje powodu decyzji; trudność certyfikacji bezpieczeństwa</a:t>
            </a:r>
            <a:endParaRPr lang="pl-PL" sz="1400" spc="-40" dirty="0"/>
          </a:p>
        </p:txBody>
      </p:sp>
      <p:sp>
        <p:nvSpPr>
          <p:cNvPr id="13" name="Text 11"/>
          <p:cNvSpPr/>
          <p:nvPr/>
        </p:nvSpPr>
        <p:spPr>
          <a:xfrm>
            <a:off x="4773168" y="1600200"/>
            <a:ext cx="4096512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+ WMA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DreamerV3 jako efektywny solver MDP 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wyobraznia (patrz Wyklad 6)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(od człowieka): 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ludzkie pary preferencji jako sygnał nagrody zamiast ręcznie projektowanej r</a:t>
            </a:r>
            <a:endParaRPr lang="pl-PL" sz="1400" spc="-40" dirty="0" smtClean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</a:t>
            </a:r>
            <a:r>
              <a:rPr lang="pl-PL" sz="14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jeden model </a:t>
            </a:r>
            <a:r>
              <a:rPr lang="pl-PL" sz="14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100 robotach (Open-X-</a:t>
            </a:r>
            <a:r>
              <a:rPr lang="pl-PL" sz="14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Embodiment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PPO)</a:t>
            </a:r>
            <a:endParaRPr lang="pl-PL" sz="1400" spc="-40" dirty="0" smtClean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RL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MDP z gwarancja P(kolizja) &lt; delta; </a:t>
            </a:r>
            <a:r>
              <a:rPr lang="pl-PL" sz="14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certifiable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przez </a:t>
            </a:r>
            <a:r>
              <a:rPr lang="pl-PL" sz="14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pl-PL" sz="1400" spc="-40" dirty="0" smtClean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RL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kilka humanoidów uczących się współpracować lub omijać się nawzajem</a:t>
            </a:r>
            <a:endParaRPr lang="pl-PL" sz="1400" spc="-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SYNTEZA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vs klasyczne planowanie vs 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WMA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545" y="1170432"/>
            <a:ext cx="2797880" cy="302242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545" y="1170432"/>
            <a:ext cx="279788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715" y="1188720"/>
            <a:ext cx="27034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Klasyczny planista (A*/DWA)</a:t>
            </a:r>
            <a:endParaRPr lang="en-US" sz="1600" spc="-20" dirty="0"/>
          </a:p>
        </p:txBody>
      </p:sp>
      <p:sp>
        <p:nvSpPr>
          <p:cNvPr id="9" name="Text 7"/>
          <p:cNvSpPr/>
          <p:nvPr/>
        </p:nvSpPr>
        <p:spPr>
          <a:xfrm>
            <a:off x="347545" y="1645920"/>
            <a:ext cx="2797879" cy="253973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Deterministyczny</a:t>
            </a:r>
            <a:r>
              <a:rPr lang="pl-PL" sz="12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, formalnie weryfikowalny</a:t>
            </a:r>
            <a:endParaRPr lang="pl-PL" sz="1200" spc="-4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Wymaga gotowej mapy </a:t>
            </a:r>
            <a:r>
              <a:rPr lang="pl-PL" sz="12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i modelu dynamiki</a:t>
            </a:r>
            <a:endParaRPr lang="pl-PL" sz="1200" spc="-4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 czasie wykonania (ms)</a:t>
            </a:r>
            <a:endParaRPr lang="pl-PL" sz="1200" spc="-4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uczy się 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doświadczenia</a:t>
            </a:r>
            <a:endParaRPr lang="pl-PL" sz="1200" spc="-4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Słabe przy dużej nieliniowości </a:t>
            </a:r>
            <a:b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zakłóceniach</a:t>
            </a:r>
            <a:endParaRPr lang="pl-PL" sz="1200" spc="-4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znane środowisko, cert. bezpieczeństwo</a:t>
            </a:r>
            <a:endParaRPr lang="pl-PL" sz="1200" spc="-40" dirty="0"/>
          </a:p>
        </p:txBody>
      </p:sp>
      <p:sp>
        <p:nvSpPr>
          <p:cNvPr id="10" name="Shape 8"/>
          <p:cNvSpPr/>
          <p:nvPr/>
        </p:nvSpPr>
        <p:spPr>
          <a:xfrm>
            <a:off x="3262454" y="1170432"/>
            <a:ext cx="2737293" cy="302242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2454" y="1170432"/>
            <a:ext cx="2737293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6843" y="1188720"/>
            <a:ext cx="2548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Model-based RL / WMA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56843" y="1645920"/>
            <a:ext cx="2548514" cy="253973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w wyobraźni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10-100× mniej danych</a:t>
            </a:r>
            <a:endParaRPr lang="pl-PL" sz="1200" spc="-4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Generalizacja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modelu przejścia</a:t>
            </a:r>
            <a:endParaRPr lang="pl-PL" sz="1200" spc="-4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Może być interpretowany 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przez model świata</a:t>
            </a:r>
            <a:endParaRPr lang="pl-PL" sz="1200" spc="-4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treningu 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RSSM / TDMPC2</a:t>
            </a:r>
            <a:endParaRPr lang="pl-PL" sz="1200" spc="-4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Średnio skuteczny 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dl. horyzoncie</a:t>
            </a:r>
            <a:endParaRPr lang="pl-PL" sz="1200" spc="-4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ograniczone dane, bezpieczne uczenie</a:t>
            </a:r>
            <a:endParaRPr lang="pl-PL" sz="1200" spc="-40" dirty="0"/>
          </a:p>
        </p:txBody>
      </p:sp>
      <p:sp>
        <p:nvSpPr>
          <p:cNvPr id="14" name="Shape 12"/>
          <p:cNvSpPr/>
          <p:nvPr/>
        </p:nvSpPr>
        <p:spPr>
          <a:xfrm>
            <a:off x="6116776" y="1170432"/>
            <a:ext cx="2737293" cy="302242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6776" y="1170432"/>
            <a:ext cx="2737293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1165" y="1188720"/>
            <a:ext cx="2548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Model-free RL (PPO/SAC)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6297" y="1645920"/>
            <a:ext cx="2548514" cy="253973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wymaga modelu dynamiki</a:t>
            </a:r>
            <a:endParaRPr lang="pl-PL" sz="1200" b="1" spc="-4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Skaluje się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2048 środowisk w Isaac</a:t>
            </a:r>
            <a:endParaRPr lang="pl-PL" sz="1200" spc="-4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Najlepsza wydajność 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dl. treningu</a:t>
            </a:r>
            <a:endParaRPr lang="pl-PL" sz="1200" spc="-4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dużo danych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może hakować nagrodę</a:t>
            </a:r>
            <a:endParaRPr lang="pl-PL" sz="1200" spc="-4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Trudny do certyfikacji</a:t>
            </a:r>
            <a:endParaRPr lang="pl-PL" sz="1200" b="1" spc="-4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duża zdolność obliczeniowa, sim2real</a:t>
            </a:r>
            <a:endParaRPr lang="pl-PL" sz="1200" spc="-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3891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 WYKLADU 8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0" y="987552"/>
            <a:ext cx="36576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70432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87552" y="1216152"/>
            <a:ext cx="774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1600" b="1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i algorytmy PPO/SAC/TD3 to fundamenty RL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siec aktor-krytyk uczy się polityki przez interakcje z symulacja.</a:t>
            </a:r>
            <a:endParaRPr lang="pl-PL" sz="1600" dirty="0"/>
          </a:p>
        </p:txBody>
      </p:sp>
      <p:sp>
        <p:nvSpPr>
          <p:cNvPr id="9" name="Shape 7"/>
          <p:cNvSpPr/>
          <p:nvPr/>
        </p:nvSpPr>
        <p:spPr>
          <a:xfrm>
            <a:off x="347472" y="192024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552" y="1965960"/>
            <a:ext cx="774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1600" b="1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nagrody i curriculum są kluczowe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źle zaprojektowana nagroda prowadzi do 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hackingu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zamiast chodzenia.</a:t>
            </a:r>
            <a:endParaRPr lang="pl-PL" sz="1600" dirty="0"/>
          </a:p>
        </p:txBody>
      </p:sp>
      <p:sp>
        <p:nvSpPr>
          <p:cNvPr id="12" name="Shape 10"/>
          <p:cNvSpPr/>
          <p:nvPr/>
        </p:nvSpPr>
        <p:spPr>
          <a:xfrm>
            <a:off x="347472" y="2670048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87552" y="2715768"/>
            <a:ext cx="774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1600" b="1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r>
              <a:rPr lang="pl-PL" sz="1600" b="1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b="1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</a:t>
            </a:r>
            <a:r>
              <a:rPr lang="pl-PL" sz="1600" b="1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asymetryczny AC 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sprawdzone recepty na udany transfer sim-to-real w mniej niż 2h kalibracji.</a:t>
            </a:r>
            <a:endParaRPr lang="pl-PL" sz="1600" dirty="0"/>
          </a:p>
        </p:txBody>
      </p:sp>
      <p:sp>
        <p:nvSpPr>
          <p:cNvPr id="15" name="Shape 13"/>
          <p:cNvSpPr/>
          <p:nvPr/>
        </p:nvSpPr>
        <p:spPr>
          <a:xfrm>
            <a:off x="347472" y="3419856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987552" y="3465576"/>
            <a:ext cx="774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1600" b="1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Hierarchiczne RL rozdziela nawigacje 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pl-PL" sz="1600" b="1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lokomocji 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 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oba poziomy integrują się z ROS 2 przez 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torchscript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l-PL" sz="1600" dirty="0"/>
          </a:p>
        </p:txBody>
      </p:sp>
      <p:sp>
        <p:nvSpPr>
          <p:cNvPr id="18" name="Shape 16"/>
          <p:cNvSpPr/>
          <p:nvPr/>
        </p:nvSpPr>
        <p:spPr>
          <a:xfrm>
            <a:off x="347472" y="4169664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87552" y="4215384"/>
            <a:ext cx="774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1600" b="1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RL, WMA i klasyczny planista są komplementarne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optymalna architektura łączy je w hierarchii zależnie od horyzontu i ryzyka.</a:t>
            </a:r>
            <a:endParaRPr lang="pl-PL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 i pytania problemowe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4537" y="1147536"/>
            <a:ext cx="8535143" cy="354787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Dlaczego polityka RL musi mieć dostęp do historii obserwacji (</a:t>
            </a:r>
            <a:r>
              <a:rPr lang="pl-PL" sz="140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history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buffer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) przy transferze sim-to-real? Jaką długość bufora jest wystarczająca i dlaczego?</a:t>
            </a:r>
            <a:endParaRPr lang="pl-PL" sz="1400" dirty="0" smtClean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Zaprojektuj funkcje nagrody dla </a:t>
            </a:r>
            <a:r>
              <a:rPr lang="pl-PL" sz="140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humanoida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uczącego się wchodzić po schodach o nieznanej wysokości stopni (10-20 cm). Jakie składniki nagrody są niezbędne, a jakie mogą prowadzić do </a:t>
            </a:r>
            <a:r>
              <a:rPr lang="pl-PL" sz="140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reward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hackingu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?</a:t>
            </a:r>
            <a:endParaRPr lang="pl-PL" sz="1400" dirty="0" smtClean="0"/>
          </a:p>
          <a:p>
            <a:pPr marL="342900" indent="-342900">
              <a:spcAft>
                <a:spcPts val="2400"/>
              </a:spcAft>
              <a:buSzPct val="100000"/>
              <a:buFont typeface="+mj-lt"/>
              <a:buAutoNum type="arabicPeriod"/>
            </a:pP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Wyjaśnij różnice miedzy on-policy (PPO) a off-policy (SAC) w kontekście ograniczonego czasu treningu na GPU. Kiedy wybrać jeden, a kiedy drugi?</a:t>
            </a:r>
            <a:endParaRPr lang="pl-PL" sz="1200" dirty="0" smtClean="0"/>
          </a:p>
          <a:p>
            <a:pPr>
              <a:spcAft>
                <a:spcPts val="1200"/>
              </a:spcAft>
              <a:buSzPct val="100000"/>
            </a:pP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Zadanie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zaimplementuj pętle RL z </a:t>
            </a:r>
            <a:r>
              <a:rPr lang="pl-PL" sz="140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Gymnasium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Humanoid-v5 (Kod 1) i zastąp losowa politykę najprostszym możliwym aktorem (MLP 2 warstwy, </a:t>
            </a:r>
            <a:r>
              <a:rPr lang="pl-PL" sz="140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tanh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pl-PL" sz="140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opt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Adam). Porównaj średni return po 10k i 100k krokach.</a:t>
            </a:r>
            <a:endParaRPr lang="pl-PL" sz="1400" dirty="0" smtClean="0"/>
          </a:p>
          <a:p>
            <a:pPr>
              <a:spcAft>
                <a:spcPts val="1200"/>
              </a:spcAft>
              <a:buSzPct val="100000"/>
            </a:pP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Bonus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zintegruj </a:t>
            </a:r>
            <a:r>
              <a:rPr lang="pl-PL" sz="140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TorchScript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policy (Kod 4) z Nav2 w </a:t>
            </a:r>
            <a:r>
              <a:rPr lang="pl-PL" sz="140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Gazebo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i porównaj czas dotarcia do celu z 5 pieszymi względem klasycznego DWB kontrolera.</a:t>
            </a:r>
            <a:endParaRPr lang="pl-PL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3825</Words>
  <Application>Microsoft Office PowerPoint</Application>
  <PresentationFormat>Pokaz na ekranie (16:9)</PresentationFormat>
  <Paragraphs>357</Paragraphs>
  <Slides>25</Slides>
  <Notes>25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25</vt:i4>
      </vt:variant>
    </vt:vector>
  </HeadingPairs>
  <TitlesOfParts>
    <vt:vector size="32" baseType="lpstr">
      <vt:lpstr>Arial</vt:lpstr>
      <vt:lpstr>Calibri</vt:lpstr>
      <vt:lpstr>Cambria Math</vt:lpstr>
      <vt:lpstr>Consolas</vt:lpstr>
      <vt:lpstr>Graduate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Wyklad 8 – Reinforcement Learning w nawigacji i lokomocji humanoidow</dc:title>
  <dc:subject>PptxGenJS Presentation</dc:subject>
  <dc:creator>Politechnika – Katedra Robotyki</dc:creator>
  <cp:lastModifiedBy>Mateusz Pomianek</cp:lastModifiedBy>
  <cp:revision>63</cp:revision>
  <dcterms:created xsi:type="dcterms:W3CDTF">2026-04-29T05:25:41Z</dcterms:created>
  <dcterms:modified xsi:type="dcterms:W3CDTF">2026-04-29T06:14:57Z</dcterms:modified>
</cp:coreProperties>
</file>