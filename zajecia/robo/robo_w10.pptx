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42" d="100"/>
          <a:sy n="142" d="100"/>
        </p:scale>
        <p:origin x="71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33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slajd wprowadza temat wykładu: Nav2 jako kompletny stos nawigacyjny dla robotów mobilnych w ROS 2. Warto od razu podkreślić, że Nav2 nie jest pojedynczym algorytmem, lecz zbiorem współpracujących serwerów, wtyczek i narzędzi diagnostycznych. Dla humanoida szczególnie istotne są ograniczenia stabilności, footprint oraz bezpieczne przekazanie komend ruchu do warstwy sterowania całym ciałem.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wykładu porządkuje materiał od architektury do wdrożenia. Najpierw omawiamy komponenty i przepływ danych, potem konfigurację środowiska, mapy oraz TF2. Kolejne części pokazują, jak dobierać costmapy, planisty i kontrolery, a na końcu jak mierzyć jakość działania systemu w symulacji i na robocie rzeczywistym.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slajd rozdzielający pierwszą sekcję. Celem tej części jest zbudowanie mentalnego modelu działania Nav2 zanim przejdziemy do konfiguracji. Słuchacze powinni zapamiętać, że BehaviorTree pełni rolę logiki decyzyjnej, a poszczególne serwery wykonują wyspecjalizowane zadania planowania, kontroli i odzyskiwania sprawności.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należy traktować jako standardowy stos nawigacji w ROS 2, analogiczny funkcjonalnie do move_base z ROS 1, ale z dużo bardziej modułową architekturą. Kluczowa różnica polega na użyciu lifecycle nodes, wtyczek oraz BehaviorTree, co ułatwia kontrolowane uruchamianie i wymianę komponentów. Minimalne wymagania robota to poprawna odometria, kompletne drzewo TF oraz czujniki pozwalające aktualizować mapę kosztów.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tym slajdzie pokazujemy, że Nav2 jest systemem serwerów, a nie jedną biblioteką. BT Navigator koordynuje wykonanie zadania, Planner Server tworzy plan globalny, a Controller Server zamienia plan na komendy prędkości. Costmapy są wspólną reprezentacją otoczenia, natomiast Behavior Server i Waypoint Follower rozszerzają system o recovery oraz misje wielopunktowe.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Przepływ danych zaczyna się od celu w ramce map, który trafia jako akcja do BT Navigatora. Następnie planista globalny wyznacza ścieżkę, a kontroler lokalny śledzi ją, reagując na przeszkody widziane w local costmap. Jeśli robot utknie albo plan stanie się niepoprawny, drzewo zachowań przełącza wykonanie na zachowania awaryjne i dopiero po odzyskaniu możliwości ruchu wraca do śledzenia celu.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BehaviorTree upraszcza projektowanie logiki nawigacji, ponieważ kolejność planowania, śledzenia i recovery zapisujemy w XML, a nie na sztywno w kodzie. Węzły Action uruchamiają konkretne funkcje Nav2, Condition sprawdzają stan systemu, a Fallback i Sequence definiują logikę decyzyjną. W praktyce umożliwia to szybkie testowanie różnych strategii bez przebudowy pakietów 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management jest jednym z mechanizmów, które odróżniają Nav2 od prostych skryptów ROS. Każdy komponent przechodzi przez stany configure i activate, dzięki czemu można kontrolować moment ładowania parametrów, inicjalizacji wtyczek i rozpoczęcia publikacji. W systemie produkcyjnym ułatwia to restartowanie części stosu bez wyłączania całego robota.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sekcja przechodzi od koncepcji do uruchamiania systemu. Tutaj ważne jest, aby nie traktować Nav2 jako pakietu, który działa od razu po instalacji. Poprawne działanie zależy od launch file, parametrów YAML, mapy, URDF i ciągłego drzewa transformacji TF2.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Instalacja Nav2 jest prosta, ale poprawna weryfikacja środowiska wymaga sprawdzenia kilku zależności. Po instalacji należy potwierdzić dostępność pakietów nav2_*, uruchomić przykład w symulacji i sprawdzić, czy robot publikuje odometrię oraz ramki TF. Dopiero wtedy warto przejść do własnego robota, bo większość problemów wdrożeniowych wynika z błędnego TF, footprintu lub niezgodnych nazw tematów.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przykład launch file pokazuje minimalny sposób uruchomienia gotowego bringup_launch.py z własną mapą i plikiem parametrów. W praktyce zwykle dodaje się jeszcze robot_state_publisher, sterownik sensora, odometrię i ewentualnie localization launch. Istotne jest, że launch file nie zawiera logiki planowania; on tylko składa system i przekazuje konfigurację do właściwych serwerów Nav2.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YAML jest głównym miejscem konfiguracji Nav2, dlatego jego struktura musi dokładnie odpowiadać nazwom node'ów. W przykładzie bt_navigator dostaje nazwy ramek i listę wtyczek BT, a controller_server wybiera kontroler MPPI oraz jego parametry predykcji. Zmiana planisty lub kontrolera zwykle oznacza zmianę wartości plugin i parametrów, a nie zmianę kodu źródłowego aplikacji.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TF2 i mapa są fundamentem całej nawigacji. Transformacja map to odom może być korygowana przez AMCL lub SLAM, natomiast odom to base_link musi pozostać ciągła, aby kontroler nie widział skoków pozycji. Jeżeli brakuje którejkolwiek ramki albo mapa ma zły origin lub rozdzielczość, Nav2 może generować poprawny plan matematycznie, ale błędny względem rzeczywistego robota.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Trzecia sekcja skupia się na tym, jak Nav2 reprezentuje przestrzeń i wybiera trajektorię. Costmapy są pomostem między surowymi danymi sensorycznymi a algorytmami planowania. Planista globalny odpowiada za trasę na dużej skali, a kontroler lokalny za bezpieczny, bieżący ruch w pobliżu robota.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costmap i local costmap mają różne zadania oraz różne wymagania czasowe. Globalna mapa obejmuje duży obszar i służy do wyznaczenia trasy, więc może być aktualizowana wolniej. Lokalna mapa obejmuje małe okno wokół robota, ale musi reagować szybko na przeszkody dynamiczne, dlatego jej parametry update_frequency i observation_sources mają bezpośredni wpływ na bezpieczeństwo.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Warstwy kosztów pozwalają łączyć statyczną mapę, obserwacje sensorów oraz reguły bezpieczeństwa w jednej siatce kosztów. Inflation layer jest szczególnie ważna, bo zamienia geometryczną przeszkodę w strefę ryzyka o większym promieniu. W projektach z ludźmi w otoczeniu warto dodać warstwę społeczną, która nie tylko omija przeszkody, ale modeluje komfortowy dystans do człowieka.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NavFnPlanner jest szybki i sprawdza się w prostych środowiskach, ale nie modeluje dobrze ograniczeń kinematycznych. SmacPlanner, zwłaszcza wariant Hybrid, planuje w przestrzeni SE2 i uwzględnia orientację robota, co daje bardziej wykonalne trasy. Dla humanoida ważna jest nie tylko najkrótsza ścieżka, lecz także ścieżka, którą da się przełożyć na stabilne kroki.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Kontroler lokalny jest elementem, który bezpośrednio wpływa na ruch robota i jakość omijania przeszkód. DWB ocenia próbki prędkości za pomocą krytyków, Regulated Pure Pursuit jest prosty i stabilny, a MPPI daje największą elastyczność dzięki próbkowaniu wielu trajektorii. Wybór kontrolera powinien wynikać z dynamiki robota, gęstości przeszkód i wymagań dotyczących płynności ruchu.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Konfiguracja MPPI pokazuje, które parametry wpływają na zachowanie kontrolera. time_steps i model_dt określają horyzont predykcji, batch_size liczbę testowanych trajektorii, a ograniczenia prędkości definiują fizyczne możliwości robota. Dla humanoida należy ostrożnie dobierać vx_max, wz_max i koszty kolizji, ponieważ agresywne trajektorie mogą być matematycznie szybkie, ale dynamicznie niestabilne.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checker decyduje, kiedy zadanie uznajemy za zakończone, a progress checker rozpoznaje brak postępu. Zbyt ciasne tolerancje celu powodują oscylacje i nadmierne obracanie się robota przy celu. Zbyt luźne tolerancje obniżają dokładność, co jest problemem przy zadaniach manipulacyjnych albo dokowaniu.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Czwarta sekcja dotyczy praktycznego wdrożenia i rozszerzania Nav2. Po opanowaniu standardowej konfiguracji można sterować nawigacją przez API, tworzyć własne wtyczki i integrować warstwy społeczne lub sensory 3D. W tej części nacisk kładziemy na kod, diagnostykę i metryki jakości.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nav2_simple_commander jest wygodną warstwą Python API do sterowania Nav2 bez ręcznego tworzenia ActionClienta. Program ustawia opcjonalną pozycję początkową, czeka na aktywację stosu i wysyła cel w ramce map. Pętla feedbacku pozwala wyświetlać postęp, ale w aplikacji produkcyjnej w tym miejscu zwykle dodaje się timeout, obsługę anulowania i reakcję na niepowodzenie.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Waypoint Follower rozszerza pojedynczy cel na listę punktów misji. W przykładzie każdy waypoint jest PoseStamped w ramce map, a Nav2 przechodzi przez nie sekwencyjnie. Taki mechanizm jest przydatny w inspekcji pomieszczeń, patrolu korytarzy i zadaniach, w których robot ma wykonywać akcję po dotarciu do każdego punktu.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Szkielet wtyczki pokazuje minimalny kontrakt dla własnego planisty globalnego. Metoda configure pobiera kontekst node'a, TF i costmapę, natomiast createPlan musi zwrócić nav_msgs/Path między startem i celem. Po eksporcie przez pluginlib planista staje się dostępny z poziomu YAML, tak jak standardowe wtyczki Nav2.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Bezpośredni ActionClient daje większą kontrolę niż nav2_simple_commander. Program sam tworzy cel NavigateToPose, ustawia nagłówek, czeka na serwer i rejestruje callbacki dla feedbacku oraz odpowiedzi serwera. Ten wariant warto stosować, gdy aplikacja musi obsługiwać odrzucenie celu, anulowanie, priorytety misji lub integrację z nadrzędnym systemem decyzyjnym.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Drzewo BehaviorTree w XML pokazuje, jak jawnie zdefiniować replanowanie, śledzenie ścieżki i recovery. RateController ogranicza częstotliwość planowania, FollowPath wykonuje bieżący plan, a RecoveryNode określa liczbę prób. Dzięki temu można zmieniać strategię zachowania robota bez pisania nowego kodu C++.</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Konfiguracja Social Layer pokazuje, jak wpiąć własną warstwę kosztów do local_costmap. Warstwa czyta pozycje śledzonych ludzi i zwiększa koszt w ich pobliżu, z większą karą z przodu niż z tyłu. To dobry przykład integracji wcześniejszych tematów o nawigacji społecznej z praktycznym stosem Nav2.</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rosbag2 pozwala porównać kontrolery na podstawie tych samych danych wejściowych i tej samej trasy. Skrypt odczytuje odometrię oraz cmd_vel, a następnie liczy długość ścieżki, czas misji i średnią prędkość. W praktyce warto rozszerzyć go o liczbę replanu, minimalny dystans do przeszkód oraz liczbę uruchomień recovery.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Debugowanie Nav2 powinno zaczynać się od wizualizacji w RViz2, bo od razu widać plan globalny, footprint i costmapy. Groot2 jest użyteczny, gdy problemem nie jest geometria, lecz logika drzewa zachowań. Narzędzia CLI, usługi czyszczenia costmap i rosbag2 umożliwiają odtworzenie awarii oraz oddzielenie błędu konfiguracji od błędu algorytmu.</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porównuje komponenty pod kątem czasu, modelu kinematyki i typowego zastosowania. Nie należy wybierać algorytmu wyłącznie na podstawie szybkości, ponieważ najkrótszy czas obliczenia może dawać ścieżki trudne do wykonania. Dla humanoida zwykle ważniejsza jest wykonalność i stabilność trajektorii niż minimalny koszt obliczeniowy.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Integracja ze SLAM zależy od trybu pracy robota. Podczas mapowania online slam_toolbox publikuje mapę i transformację map to odom, a Nav2 korzysta z aktualizowanej mapy. Gdy mapa jest już znana, AMCL zapewnia lokalizację cząsteczkową i koryguje pozycję robota względem mapy.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Humanoid wymaga ostrożniejszej integracji niż robot kołowy, ponieważ cmd_vel nie jest końcowym sterowaniem aktuatorów. Komenda prędkości musi zostać zamieniona na kroki lub trajektorię całego ciała, a kontroler powinien uwzględniać ograniczenia stabilności. Footprint polygon, velocity smoothing i dodatkowe krytyki bezpieczeństwa pomagają ograniczyć ryzyko generowania nierealizowalnych poleceń.</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wdrożenia porządkuje prace inżynierskie od modelu robota po testy na hardware. Najpierw walidujemy URDF i TF, potem budujemy mapę, konfigurujemy parametry i testujemy w symulacji. Dopiero po uzyskaniu powtarzalnych wyników w SIL lub Gazebo należy przejść do strojenia na prawdziwym robocie.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produkcyjny powinien obejmować zarówno stan wewnętrzny Nav2, jak i metryki zadania. Feedback akcji mówi, czy robot zbliża się do celu, a plan i cmd_vel pokazują decyzje planisty oraz kontrolera. W systemie floty warto eksportować metryki do dashboardu, ponieważ pojedynczy rosbag pomaga w analizie incydentu, ale nie daje obrazu trendów długoterminowych.</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Podsumowanie zbiera pięć najważniejszych wniosków z wykładu. Nav2 jest modułowy, a jego zachowanie wynika z konfiguracji BehaviorTree, costmap i wtyczek. Dla humanoida kluczowe jest dopasowanie standardowego stosu nawigacji do ograniczeń stabilności, geometrii ciała oraz pośredniej warstwy sterowania ruchem.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Pytania problemowe sprawdzają, czy słuchacz rozumie zależności między komponentami, a nie tylko zna nazwy pakietów. Zadanie wymaga samodzielnego zbudowania launch file, konfiguracji MPPI i wykonania porównania z DWB. Bonus z Social Cost zachęca do połączenia Nav2 z wcześniejszymi tematami dotyczącymi zachowań społecznych i bezpieczeństwa w obecności ludzi.</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4864"/>
          </a:xfrm>
          <a:prstGeom prst="rect">
            <a:avLst/>
          </a:prstGeom>
          <a:solidFill>
            <a:srgbClr val="3730A3"/>
          </a:solidFill>
          <a:ln w="12700">
            <a:solidFill>
              <a:srgbClr val="3730A3"/>
            </a:solidFill>
            <a:prstDash val="solid"/>
          </a:ln>
        </p:spPr>
      </p:sp>
      <p:sp>
        <p:nvSpPr>
          <p:cNvPr id="4" name="Text 2"/>
          <p:cNvSpPr/>
          <p:nvPr/>
        </p:nvSpPr>
        <p:spPr>
          <a:xfrm>
            <a:off x="365760" y="201168"/>
            <a:ext cx="8412480" cy="320040"/>
          </a:xfrm>
          <a:prstGeom prst="rect">
            <a:avLst/>
          </a:prstGeom>
          <a:noFill/>
          <a:ln/>
        </p:spPr>
        <p:txBody>
          <a:bodyPr wrap="square" lIns="0" tIns="0" rIns="0" bIns="0" rtlCol="0" anchor="ctr"/>
          <a:lstStyle/>
          <a:p>
            <a:pPr marL="0" indent="0">
              <a:buNone/>
            </a:pPr>
            <a:r>
              <a:rPr lang="en-US" sz="900" b="1" kern="0" spc="400" dirty="0">
                <a:solidFill>
                  <a:srgbClr val="4F46E5"/>
                </a:solidFill>
                <a:latin typeface="Calibri" pitchFamily="34" charset="0"/>
                <a:ea typeface="Calibri" pitchFamily="34" charset="-122"/>
                <a:cs typeface="Calibri" pitchFamily="34" charset="-120"/>
              </a:rPr>
              <a:t>NAWIGACJA ROBOTÓW HUMANOIDALNYCH</a:t>
            </a:r>
            <a:endParaRPr lang="en-US" sz="900" dirty="0"/>
          </a:p>
        </p:txBody>
      </p:sp>
      <p:sp>
        <p:nvSpPr>
          <p:cNvPr id="5" name="Shape 3"/>
          <p:cNvSpPr/>
          <p:nvPr/>
        </p:nvSpPr>
        <p:spPr>
          <a:xfrm>
            <a:off x="365760" y="640080"/>
            <a:ext cx="1280160" cy="384048"/>
          </a:xfrm>
          <a:prstGeom prst="rect">
            <a:avLst/>
          </a:prstGeom>
          <a:solidFill>
            <a:srgbClr val="4F46E5"/>
          </a:solidFill>
          <a:ln w="12700">
            <a:solidFill>
              <a:srgbClr val="4F46E5"/>
            </a:solidFill>
            <a:prstDash val="solid"/>
          </a:ln>
          <a:effectLst>
            <a:outerShdw blurRad="101600" dist="38100" dir="8100000" algn="bl" rotWithShape="0">
              <a:srgbClr val="000000">
                <a:alpha val="18000"/>
              </a:srgbClr>
            </a:outerShdw>
          </a:effectLst>
        </p:spPr>
      </p:sp>
      <p:sp>
        <p:nvSpPr>
          <p:cNvPr id="6" name="Text 4"/>
          <p:cNvSpPr/>
          <p:nvPr/>
        </p:nvSpPr>
        <p:spPr>
          <a:xfrm>
            <a:off x="365760" y="640080"/>
            <a:ext cx="1280160" cy="384048"/>
          </a:xfrm>
          <a:prstGeom prst="rect">
            <a:avLst/>
          </a:prstGeom>
          <a:noFill/>
          <a:ln/>
        </p:spPr>
        <p:txBody>
          <a:bodyPr wrap="square" lIns="0" tIns="0" rIns="0" bIns="0" rtlCol="0" anchor="ctr"/>
          <a:lstStyle/>
          <a:p>
            <a:pPr marL="0" indent="0" algn="ctr">
              <a:buNone/>
            </a:pPr>
            <a:r>
              <a:rPr lang="en-US" sz="1200" b="1" spc="20" dirty="0">
                <a:solidFill>
                  <a:srgbClr val="0D1B2A"/>
                </a:solidFill>
                <a:latin typeface="Calibri" pitchFamily="34" charset="0"/>
                <a:ea typeface="Calibri" pitchFamily="34" charset="-122"/>
                <a:cs typeface="Calibri" pitchFamily="34" charset="-120"/>
              </a:rPr>
              <a:t>WYKŁAD 10</a:t>
            </a:r>
            <a:endParaRPr lang="en-US" sz="1200" spc="20" dirty="0"/>
          </a:p>
        </p:txBody>
      </p:sp>
      <p:sp>
        <p:nvSpPr>
          <p:cNvPr id="7" name="Text 5"/>
          <p:cNvSpPr/>
          <p:nvPr/>
        </p:nvSpPr>
        <p:spPr>
          <a:xfrm>
            <a:off x="365760" y="1170432"/>
            <a:ext cx="6418281" cy="173736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Nav2: Stos nawigacyjny</a:t>
            </a:r>
            <a:endParaRPr lang="en-US" sz="4400" dirty="0"/>
          </a:p>
          <a:p>
            <a:pPr marL="0" indent="0">
              <a:buNone/>
            </a:pPr>
            <a:r>
              <a:rPr lang="en-US" sz="4400" b="1" dirty="0">
                <a:solidFill>
                  <a:srgbClr val="FFFFFF"/>
                </a:solidFill>
                <a:latin typeface="Trebuchet MS" pitchFamily="34" charset="0"/>
                <a:ea typeface="Trebuchet MS" pitchFamily="34" charset="-122"/>
                <a:cs typeface="Trebuchet MS" pitchFamily="34" charset="-120"/>
              </a:rPr>
              <a:t>dla robotów mobilnych</a:t>
            </a:r>
            <a:endParaRPr lang="en-US" sz="4400" dirty="0"/>
          </a:p>
        </p:txBody>
      </p:sp>
      <p:sp>
        <p:nvSpPr>
          <p:cNvPr id="8" name="Text 6"/>
          <p:cNvSpPr/>
          <p:nvPr/>
        </p:nvSpPr>
        <p:spPr>
          <a:xfrm>
            <a:off x="365760" y="2944368"/>
            <a:ext cx="5961081" cy="50292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Architektura, konfiguracja i wdrożenie kompletnego systemu nawigacji w ROS 2</a:t>
            </a:r>
            <a:endParaRPr lang="en-US" sz="1400" dirty="0"/>
          </a:p>
        </p:txBody>
      </p:sp>
      <p:sp>
        <p:nvSpPr>
          <p:cNvPr id="9" name="Text 7"/>
          <p:cNvSpPr/>
          <p:nvPr/>
        </p:nvSpPr>
        <p:spPr>
          <a:xfrm>
            <a:off x="365760" y="3547872"/>
            <a:ext cx="457200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dr inż. Mateusz Pomianek</a:t>
            </a:r>
            <a:endParaRPr lang="en-US" sz="1100" dirty="0"/>
          </a:p>
        </p:txBody>
      </p:sp>
      <p:grpSp>
        <p:nvGrpSpPr>
          <p:cNvPr id="20" name="Grupa 19"/>
          <p:cNvGrpSpPr/>
          <p:nvPr/>
        </p:nvGrpSpPr>
        <p:grpSpPr>
          <a:xfrm>
            <a:off x="365760" y="4297680"/>
            <a:ext cx="8412480" cy="329184"/>
            <a:chOff x="365760" y="4297680"/>
            <a:chExt cx="5157216" cy="329184"/>
          </a:xfrm>
        </p:grpSpPr>
        <p:sp>
          <p:nvSpPr>
            <p:cNvPr id="10" name="Shape 8"/>
            <p:cNvSpPr/>
            <p:nvPr/>
          </p:nvSpPr>
          <p:spPr>
            <a:xfrm>
              <a:off x="365760" y="4297680"/>
              <a:ext cx="592531" cy="329184"/>
            </a:xfrm>
            <a:prstGeom prst="rect">
              <a:avLst/>
            </a:prstGeom>
            <a:solidFill>
              <a:srgbClr val="1A3550"/>
            </a:solidFill>
            <a:ln w="12700">
              <a:solidFill>
                <a:srgbClr val="4F46E5"/>
              </a:solidFill>
              <a:prstDash val="solid"/>
            </a:ln>
          </p:spPr>
        </p:sp>
        <p:sp>
          <p:nvSpPr>
            <p:cNvPr id="11" name="Text 9"/>
            <p:cNvSpPr/>
            <p:nvPr/>
          </p:nvSpPr>
          <p:spPr>
            <a:xfrm>
              <a:off x="365760" y="4297680"/>
              <a:ext cx="592531" cy="329184"/>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Nav2</a:t>
              </a:r>
              <a:endParaRPr lang="en-US" sz="1200" dirty="0">
                <a:solidFill>
                  <a:schemeClr val="bg1"/>
                </a:solidFill>
              </a:endParaRPr>
            </a:p>
          </p:txBody>
        </p:sp>
        <p:sp>
          <p:nvSpPr>
            <p:cNvPr id="12" name="Shape 10"/>
            <p:cNvSpPr/>
            <p:nvPr/>
          </p:nvSpPr>
          <p:spPr>
            <a:xfrm>
              <a:off x="1086307" y="4297680"/>
              <a:ext cx="1265530" cy="329184"/>
            </a:xfrm>
            <a:prstGeom prst="rect">
              <a:avLst/>
            </a:prstGeom>
            <a:solidFill>
              <a:srgbClr val="1A3550"/>
            </a:solidFill>
            <a:ln w="12700">
              <a:solidFill>
                <a:srgbClr val="4F46E5"/>
              </a:solidFill>
              <a:prstDash val="solid"/>
            </a:ln>
          </p:spPr>
        </p:sp>
        <p:sp>
          <p:nvSpPr>
            <p:cNvPr id="13" name="Text 11"/>
            <p:cNvSpPr/>
            <p:nvPr/>
          </p:nvSpPr>
          <p:spPr>
            <a:xfrm>
              <a:off x="1086307" y="4297680"/>
              <a:ext cx="1265530" cy="329184"/>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BehaviorTree</a:t>
              </a:r>
              <a:endParaRPr lang="en-US" sz="1200" dirty="0">
                <a:solidFill>
                  <a:schemeClr val="bg1"/>
                </a:solidFill>
              </a:endParaRPr>
            </a:p>
          </p:txBody>
        </p:sp>
        <p:sp>
          <p:nvSpPr>
            <p:cNvPr id="14" name="Shape 12"/>
            <p:cNvSpPr/>
            <p:nvPr/>
          </p:nvSpPr>
          <p:spPr>
            <a:xfrm>
              <a:off x="2479853" y="4297680"/>
              <a:ext cx="844906" cy="329184"/>
            </a:xfrm>
            <a:prstGeom prst="rect">
              <a:avLst/>
            </a:prstGeom>
            <a:solidFill>
              <a:srgbClr val="1A3550"/>
            </a:solidFill>
            <a:ln w="12700">
              <a:solidFill>
                <a:srgbClr val="4F46E5"/>
              </a:solidFill>
              <a:prstDash val="solid"/>
            </a:ln>
          </p:spPr>
        </p:sp>
        <p:sp>
          <p:nvSpPr>
            <p:cNvPr id="15" name="Text 13"/>
            <p:cNvSpPr/>
            <p:nvPr/>
          </p:nvSpPr>
          <p:spPr>
            <a:xfrm>
              <a:off x="2479853" y="4297680"/>
              <a:ext cx="844906" cy="329184"/>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Costmap</a:t>
              </a:r>
              <a:endParaRPr lang="en-US" sz="1200" dirty="0">
                <a:solidFill>
                  <a:schemeClr val="bg1"/>
                </a:solidFill>
              </a:endParaRPr>
            </a:p>
          </p:txBody>
        </p:sp>
        <p:sp>
          <p:nvSpPr>
            <p:cNvPr id="16" name="Shape 14"/>
            <p:cNvSpPr/>
            <p:nvPr/>
          </p:nvSpPr>
          <p:spPr>
            <a:xfrm>
              <a:off x="3452774" y="4297680"/>
              <a:ext cx="844906" cy="329184"/>
            </a:xfrm>
            <a:prstGeom prst="rect">
              <a:avLst/>
            </a:prstGeom>
            <a:solidFill>
              <a:srgbClr val="1A3550"/>
            </a:solidFill>
            <a:ln w="12700">
              <a:solidFill>
                <a:srgbClr val="4F46E5"/>
              </a:solidFill>
              <a:prstDash val="solid"/>
            </a:ln>
          </p:spPr>
        </p:sp>
        <p:sp>
          <p:nvSpPr>
            <p:cNvPr id="17" name="Text 15"/>
            <p:cNvSpPr/>
            <p:nvPr/>
          </p:nvSpPr>
          <p:spPr>
            <a:xfrm>
              <a:off x="3452774" y="4297680"/>
              <a:ext cx="844906" cy="329184"/>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Planner</a:t>
              </a:r>
              <a:endParaRPr lang="en-US" sz="1200" dirty="0">
                <a:solidFill>
                  <a:schemeClr val="bg1"/>
                </a:solidFill>
              </a:endParaRPr>
            </a:p>
          </p:txBody>
        </p:sp>
        <p:sp>
          <p:nvSpPr>
            <p:cNvPr id="18" name="Shape 16"/>
            <p:cNvSpPr/>
            <p:nvPr/>
          </p:nvSpPr>
          <p:spPr>
            <a:xfrm>
              <a:off x="4425696" y="4297680"/>
              <a:ext cx="1097280" cy="329184"/>
            </a:xfrm>
            <a:prstGeom prst="rect">
              <a:avLst/>
            </a:prstGeom>
            <a:solidFill>
              <a:srgbClr val="1A3550"/>
            </a:solidFill>
            <a:ln w="12700">
              <a:solidFill>
                <a:srgbClr val="4F46E5"/>
              </a:solidFill>
              <a:prstDash val="solid"/>
            </a:ln>
          </p:spPr>
        </p:sp>
        <p:sp>
          <p:nvSpPr>
            <p:cNvPr id="19" name="Text 17"/>
            <p:cNvSpPr/>
            <p:nvPr/>
          </p:nvSpPr>
          <p:spPr>
            <a:xfrm>
              <a:off x="4425696" y="4297680"/>
              <a:ext cx="1097280" cy="329184"/>
            </a:xfrm>
            <a:prstGeom prst="rect">
              <a:avLst/>
            </a:prstGeom>
            <a:no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Controller</a:t>
              </a:r>
              <a:endParaRPr lang="en-US" sz="1200" dirty="0">
                <a:solidFill>
                  <a:schemeClr val="bg1"/>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54864"/>
            <a:ext cx="2743200" cy="219456"/>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WPROWADZENIE</a:t>
            </a:r>
            <a:endParaRPr lang="en-US" sz="800" dirty="0"/>
          </a:p>
        </p:txBody>
      </p:sp>
      <p:sp>
        <p:nvSpPr>
          <p:cNvPr id="5" name="Text 3"/>
          <p:cNvSpPr/>
          <p:nvPr/>
        </p:nvSpPr>
        <p:spPr>
          <a:xfrm>
            <a:off x="320040" y="274320"/>
            <a:ext cx="8503920" cy="237744"/>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Plan wykładu</a:t>
            </a:r>
            <a:endParaRPr lang="en-US" sz="2200" dirty="0"/>
          </a:p>
        </p:txBody>
      </p:sp>
      <p:sp>
        <p:nvSpPr>
          <p:cNvPr id="6" name="Shape 4"/>
          <p:cNvSpPr/>
          <p:nvPr/>
        </p:nvSpPr>
        <p:spPr>
          <a:xfrm>
            <a:off x="320040" y="658368"/>
            <a:ext cx="2043684" cy="2199132"/>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320040" y="658368"/>
            <a:ext cx="2043684" cy="292608"/>
          </a:xfrm>
          <a:prstGeom prst="rect">
            <a:avLst/>
          </a:prstGeom>
          <a:solidFill>
            <a:srgbClr val="3730A3"/>
          </a:solidFill>
          <a:ln w="12700">
            <a:solidFill>
              <a:srgbClr val="3730A3"/>
            </a:solidFill>
            <a:prstDash val="solid"/>
          </a:ln>
        </p:spPr>
      </p:sp>
      <p:sp>
        <p:nvSpPr>
          <p:cNvPr id="8" name="Text 6"/>
          <p:cNvSpPr/>
          <p:nvPr/>
        </p:nvSpPr>
        <p:spPr>
          <a:xfrm>
            <a:off x="320040" y="658368"/>
            <a:ext cx="2043684"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Sekcja 1</a:t>
            </a:r>
            <a:endParaRPr lang="en-US" sz="1600" dirty="0"/>
          </a:p>
        </p:txBody>
      </p:sp>
      <p:sp>
        <p:nvSpPr>
          <p:cNvPr id="9" name="Text 7"/>
          <p:cNvSpPr/>
          <p:nvPr/>
        </p:nvSpPr>
        <p:spPr>
          <a:xfrm>
            <a:off x="411480" y="1005840"/>
            <a:ext cx="1860804" cy="512064"/>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Architektura Nav2</a:t>
            </a:r>
            <a:endParaRPr lang="en-US" sz="1400" dirty="0">
              <a:solidFill>
                <a:schemeClr val="bg1"/>
              </a:solidFill>
            </a:endParaRPr>
          </a:p>
        </p:txBody>
      </p:sp>
      <p:sp>
        <p:nvSpPr>
          <p:cNvPr id="10" name="Text 8"/>
          <p:cNvSpPr/>
          <p:nvPr/>
        </p:nvSpPr>
        <p:spPr>
          <a:xfrm>
            <a:off x="411480" y="1554480"/>
            <a:ext cx="1860804" cy="845820"/>
          </a:xfrm>
          <a:prstGeom prst="rect">
            <a:avLst/>
          </a:prstGeom>
          <a:noFill/>
          <a:ln/>
        </p:spPr>
        <p:txBody>
          <a:bodyPr wrap="square" lIns="0" tIns="0" rIns="0" bIns="0" rtlCol="0" anchor="t"/>
          <a:lstStyle/>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Czym jest Nav2, historia,</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komponenty, przepływ danych,</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lifecycle manager,</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BehaviorTree jako rdzeń</a:t>
            </a:r>
            <a:endParaRPr lang="en-US" sz="1000" dirty="0"/>
          </a:p>
        </p:txBody>
      </p:sp>
      <p:sp>
        <p:nvSpPr>
          <p:cNvPr id="11" name="Shape 9"/>
          <p:cNvSpPr/>
          <p:nvPr/>
        </p:nvSpPr>
        <p:spPr>
          <a:xfrm>
            <a:off x="2473452" y="658368"/>
            <a:ext cx="2043684" cy="2199132"/>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12" name="Shape 10"/>
          <p:cNvSpPr/>
          <p:nvPr/>
        </p:nvSpPr>
        <p:spPr>
          <a:xfrm>
            <a:off x="2473452" y="658368"/>
            <a:ext cx="2043684" cy="292608"/>
          </a:xfrm>
          <a:prstGeom prst="rect">
            <a:avLst/>
          </a:prstGeom>
          <a:solidFill>
            <a:srgbClr val="3730A3"/>
          </a:solidFill>
          <a:ln w="12700">
            <a:solidFill>
              <a:srgbClr val="3730A3"/>
            </a:solidFill>
            <a:prstDash val="solid"/>
          </a:ln>
        </p:spPr>
      </p:sp>
      <p:sp>
        <p:nvSpPr>
          <p:cNvPr id="13" name="Text 11"/>
          <p:cNvSpPr/>
          <p:nvPr/>
        </p:nvSpPr>
        <p:spPr>
          <a:xfrm>
            <a:off x="2473452" y="658368"/>
            <a:ext cx="2043684"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Sekcja 2</a:t>
            </a:r>
            <a:endParaRPr lang="en-US" sz="1600" dirty="0"/>
          </a:p>
        </p:txBody>
      </p:sp>
      <p:sp>
        <p:nvSpPr>
          <p:cNvPr id="14" name="Text 12"/>
          <p:cNvSpPr/>
          <p:nvPr/>
        </p:nvSpPr>
        <p:spPr>
          <a:xfrm>
            <a:off x="2564892" y="1005840"/>
            <a:ext cx="1860804" cy="512064"/>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Instalacja i konfiguracja</a:t>
            </a:r>
            <a:endParaRPr lang="en-US" sz="1400" dirty="0">
              <a:solidFill>
                <a:schemeClr val="bg1"/>
              </a:solidFill>
            </a:endParaRPr>
          </a:p>
        </p:txBody>
      </p:sp>
      <p:sp>
        <p:nvSpPr>
          <p:cNvPr id="15" name="Text 13"/>
          <p:cNvSpPr/>
          <p:nvPr/>
        </p:nvSpPr>
        <p:spPr>
          <a:xfrm>
            <a:off x="2564892" y="1554480"/>
            <a:ext cx="1860804" cy="845820"/>
          </a:xfrm>
          <a:prstGeom prst="rect">
            <a:avLst/>
          </a:prstGeom>
          <a:noFill/>
          <a:ln/>
        </p:spPr>
        <p:txBody>
          <a:bodyPr wrap="square" lIns="0" tIns="0" rIns="0" bIns="0" rtlCol="0" anchor="t"/>
          <a:lstStyle/>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Instalacja pakietów,</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pliki startowe, URDF,</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konfiguracja YAML,</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TF2 i mapa środowiska</a:t>
            </a:r>
            <a:endParaRPr lang="en-US" sz="1000" dirty="0"/>
          </a:p>
        </p:txBody>
      </p:sp>
      <p:sp>
        <p:nvSpPr>
          <p:cNvPr id="16" name="Shape 14"/>
          <p:cNvSpPr/>
          <p:nvPr/>
        </p:nvSpPr>
        <p:spPr>
          <a:xfrm>
            <a:off x="4626864" y="658368"/>
            <a:ext cx="2043684" cy="2199132"/>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17" name="Shape 15"/>
          <p:cNvSpPr/>
          <p:nvPr/>
        </p:nvSpPr>
        <p:spPr>
          <a:xfrm>
            <a:off x="4626864" y="658368"/>
            <a:ext cx="2043684" cy="292608"/>
          </a:xfrm>
          <a:prstGeom prst="rect">
            <a:avLst/>
          </a:prstGeom>
          <a:solidFill>
            <a:srgbClr val="3730A3"/>
          </a:solidFill>
          <a:ln w="12700">
            <a:solidFill>
              <a:srgbClr val="3730A3"/>
            </a:solidFill>
            <a:prstDash val="solid"/>
          </a:ln>
        </p:spPr>
      </p:sp>
      <p:sp>
        <p:nvSpPr>
          <p:cNvPr id="18" name="Text 16"/>
          <p:cNvSpPr/>
          <p:nvPr/>
        </p:nvSpPr>
        <p:spPr>
          <a:xfrm>
            <a:off x="4626864" y="658368"/>
            <a:ext cx="2043684"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Sekcja 3</a:t>
            </a:r>
            <a:endParaRPr lang="en-US" sz="1600" dirty="0"/>
          </a:p>
        </p:txBody>
      </p:sp>
      <p:sp>
        <p:nvSpPr>
          <p:cNvPr id="19" name="Text 17"/>
          <p:cNvSpPr/>
          <p:nvPr/>
        </p:nvSpPr>
        <p:spPr>
          <a:xfrm>
            <a:off x="4718304" y="1005840"/>
            <a:ext cx="1860804" cy="512064"/>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Costmapy i planowanie</a:t>
            </a:r>
            <a:endParaRPr lang="en-US" sz="1400" dirty="0">
              <a:solidFill>
                <a:schemeClr val="bg1"/>
              </a:solidFill>
            </a:endParaRPr>
          </a:p>
        </p:txBody>
      </p:sp>
      <p:sp>
        <p:nvSpPr>
          <p:cNvPr id="20" name="Text 18"/>
          <p:cNvSpPr/>
          <p:nvPr/>
        </p:nvSpPr>
        <p:spPr>
          <a:xfrm>
            <a:off x="4718304" y="1554480"/>
            <a:ext cx="1860804" cy="845820"/>
          </a:xfrm>
          <a:prstGeom prst="rect">
            <a:avLst/>
          </a:prstGeom>
          <a:noFill/>
          <a:ln/>
        </p:spPr>
        <p:txBody>
          <a:bodyPr wrap="square" lIns="0" tIns="0" rIns="0" bIns="0" rtlCol="0" anchor="t"/>
          <a:lstStyle/>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Global costmap, local costmap,</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warstwy kosztów, planista</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globalny (NavFn, Smac),</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kontroler lokalny (DWB, RPP, MPPI)</a:t>
            </a:r>
            <a:endParaRPr lang="en-US" sz="1000" dirty="0"/>
          </a:p>
        </p:txBody>
      </p:sp>
      <p:sp>
        <p:nvSpPr>
          <p:cNvPr id="21" name="Shape 19"/>
          <p:cNvSpPr/>
          <p:nvPr/>
        </p:nvSpPr>
        <p:spPr>
          <a:xfrm>
            <a:off x="6780276" y="658368"/>
            <a:ext cx="2043684" cy="2199132"/>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22" name="Shape 20"/>
          <p:cNvSpPr/>
          <p:nvPr/>
        </p:nvSpPr>
        <p:spPr>
          <a:xfrm>
            <a:off x="6780276" y="658368"/>
            <a:ext cx="2043684" cy="292608"/>
          </a:xfrm>
          <a:prstGeom prst="rect">
            <a:avLst/>
          </a:prstGeom>
          <a:solidFill>
            <a:srgbClr val="3730A3"/>
          </a:solidFill>
          <a:ln w="12700">
            <a:solidFill>
              <a:srgbClr val="3730A3"/>
            </a:solidFill>
            <a:prstDash val="solid"/>
          </a:ln>
        </p:spPr>
      </p:sp>
      <p:sp>
        <p:nvSpPr>
          <p:cNvPr id="23" name="Text 21"/>
          <p:cNvSpPr/>
          <p:nvPr/>
        </p:nvSpPr>
        <p:spPr>
          <a:xfrm>
            <a:off x="6780276" y="658368"/>
            <a:ext cx="2043684"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Sekcja 4</a:t>
            </a:r>
            <a:endParaRPr lang="en-US" sz="1600" dirty="0"/>
          </a:p>
        </p:txBody>
      </p:sp>
      <p:sp>
        <p:nvSpPr>
          <p:cNvPr id="24" name="Text 22"/>
          <p:cNvSpPr/>
          <p:nvPr/>
        </p:nvSpPr>
        <p:spPr>
          <a:xfrm>
            <a:off x="6871716" y="1005840"/>
            <a:ext cx="1860804" cy="512064"/>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Wdrożenie i rozszerzenia</a:t>
            </a:r>
            <a:endParaRPr lang="en-US" sz="1400" dirty="0">
              <a:solidFill>
                <a:schemeClr val="bg1"/>
              </a:solidFill>
            </a:endParaRPr>
          </a:p>
        </p:txBody>
      </p:sp>
      <p:sp>
        <p:nvSpPr>
          <p:cNvPr id="25" name="Text 23"/>
          <p:cNvSpPr/>
          <p:nvPr/>
        </p:nvSpPr>
        <p:spPr>
          <a:xfrm>
            <a:off x="6871716" y="1554480"/>
            <a:ext cx="1860804" cy="845820"/>
          </a:xfrm>
          <a:prstGeom prst="rect">
            <a:avLst/>
          </a:prstGeom>
          <a:noFill/>
          <a:ln/>
        </p:spPr>
        <p:txBody>
          <a:bodyPr wrap="square" lIns="0" tIns="0" rIns="0" bIns="0" rtlCol="0" anchor="t"/>
          <a:lstStyle/>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Niestandardowe wtyczki,</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debugowanie (RViz2, CLI),</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monitoring jakości, integracja</a:t>
            </a:r>
            <a:endParaRPr lang="en-US" sz="1000" dirty="0"/>
          </a:p>
          <a:p>
            <a:pPr marL="0" indent="0">
              <a:spcAft>
                <a:spcPts val="300"/>
              </a:spcAft>
              <a:buNone/>
            </a:pPr>
            <a:r>
              <a:rPr lang="en-US" sz="1000" dirty="0">
                <a:solidFill>
                  <a:srgbClr val="F0F4F8"/>
                </a:solidFill>
                <a:latin typeface="Calibri" pitchFamily="34" charset="0"/>
                <a:ea typeface="Calibri" pitchFamily="34" charset="-122"/>
                <a:cs typeface="Calibri" pitchFamily="34" charset="-120"/>
              </a:rPr>
              <a:t>z SLAM i humanoidem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4F46E5"/>
          </a:solidFill>
          <a:ln w="12700">
            <a:solidFill>
              <a:srgbClr val="4F46E5"/>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0800" b="1" dirty="0">
                <a:solidFill>
                  <a:srgbClr val="4F46E5"/>
                </a:solidFill>
                <a:latin typeface="Trebuchet MS" pitchFamily="34" charset="0"/>
                <a:ea typeface="Trebuchet MS" pitchFamily="34" charset="-122"/>
                <a:cs typeface="Trebuchet MS" pitchFamily="34" charset="-120"/>
              </a:rPr>
              <a:t>01</a:t>
            </a:r>
            <a:endParaRPr lang="en-US" sz="10800" dirty="0"/>
          </a:p>
        </p:txBody>
      </p:sp>
      <p:sp>
        <p:nvSpPr>
          <p:cNvPr id="5" name="Text 3"/>
          <p:cNvSpPr/>
          <p:nvPr/>
        </p:nvSpPr>
        <p:spPr>
          <a:xfrm>
            <a:off x="2926080" y="1188720"/>
            <a:ext cx="4572000" cy="347472"/>
          </a:xfrm>
          <a:prstGeom prst="rect">
            <a:avLst/>
          </a:prstGeom>
          <a:noFill/>
          <a:ln/>
        </p:spPr>
        <p:txBody>
          <a:bodyPr wrap="square" lIns="0" tIns="0" rIns="0" bIns="0" rtlCol="0" anchor="ctr"/>
          <a:lstStyle/>
          <a:p>
            <a:pPr marL="0" indent="0">
              <a:buNone/>
            </a:pPr>
            <a:r>
              <a:rPr lang="en-US" sz="1100" b="1" dirty="0">
                <a:solidFill>
                  <a:srgbClr val="4F46E5"/>
                </a:solidFill>
                <a:latin typeface="Trebuchet MS" pitchFamily="34" charset="0"/>
                <a:ea typeface="Trebuchet MS" pitchFamily="34" charset="-122"/>
                <a:cs typeface="Trebuchet MS" pitchFamily="34" charset="-120"/>
              </a:rPr>
              <a:t>SEKCJA</a:t>
            </a:r>
            <a:endParaRPr lang="en-US" sz="1100" dirty="0"/>
          </a:p>
        </p:txBody>
      </p:sp>
      <p:sp>
        <p:nvSpPr>
          <p:cNvPr id="6" name="Text 4"/>
          <p:cNvSpPr/>
          <p:nvPr/>
        </p:nvSpPr>
        <p:spPr>
          <a:xfrm>
            <a:off x="2926080" y="1572768"/>
            <a:ext cx="5212080" cy="10515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Architektura Nav2</a:t>
            </a:r>
            <a:endParaRPr lang="en-US" sz="3200" dirty="0"/>
          </a:p>
        </p:txBody>
      </p:sp>
      <p:sp>
        <p:nvSpPr>
          <p:cNvPr id="7" name="Shape 5"/>
          <p:cNvSpPr/>
          <p:nvPr/>
        </p:nvSpPr>
        <p:spPr>
          <a:xfrm>
            <a:off x="2926080" y="2715768"/>
            <a:ext cx="3931920" cy="27432"/>
          </a:xfrm>
          <a:prstGeom prst="rect">
            <a:avLst/>
          </a:prstGeom>
          <a:solidFill>
            <a:srgbClr val="4F46E5"/>
          </a:solidFill>
          <a:ln w="12700">
            <a:solidFill>
              <a:srgbClr val="4F46E5"/>
            </a:solidFill>
            <a:prstDash val="solid"/>
          </a:ln>
        </p:spPr>
      </p:sp>
      <p:sp>
        <p:nvSpPr>
          <p:cNvPr id="8" name="Text 6"/>
          <p:cNvSpPr/>
          <p:nvPr/>
        </p:nvSpPr>
        <p:spPr>
          <a:xfrm>
            <a:off x="2926080" y="2834640"/>
            <a:ext cx="5303520" cy="308610"/>
          </a:xfrm>
          <a:prstGeom prst="rect">
            <a:avLst/>
          </a:prstGeom>
          <a:noFill/>
          <a:ln/>
        </p:spPr>
        <p:txBody>
          <a:bodyPr wrap="square" lIns="0" tIns="0" rIns="0" bIns="0" rtlCol="0" anchor="ctr"/>
          <a:lstStyle/>
          <a:p>
            <a:pPr marL="0" indent="0">
              <a:buNone/>
            </a:pPr>
            <a:r>
              <a:rPr lang="en-US" sz="1350" i="1" dirty="0">
                <a:solidFill>
                  <a:srgbClr val="E2EBF3"/>
                </a:solidFill>
                <a:latin typeface="Calibri" pitchFamily="34" charset="0"/>
                <a:ea typeface="Calibri" pitchFamily="34" charset="-122"/>
                <a:cs typeface="Calibri" pitchFamily="34" charset="-120"/>
              </a:rPr>
              <a:t>Historia, komponenty, BehaviorTree i przepływ danych</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1 | WPROWADZENIE</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Czym jest Nav2?</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641080" cy="2622714"/>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23850" y="1207008"/>
            <a:ext cx="8591550" cy="2665745"/>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Nav2</a:t>
            </a:r>
            <a:r>
              <a:rPr lang="en-US" sz="1400" dirty="0">
                <a:solidFill>
                  <a:srgbClr val="0D1B2A"/>
                </a:solidFill>
                <a:latin typeface="Calibri" pitchFamily="34" charset="0"/>
                <a:ea typeface="Calibri" pitchFamily="34" charset="-122"/>
                <a:cs typeface="Calibri" pitchFamily="34" charset="-120"/>
              </a:rPr>
              <a:t> (Navigation 2) to oficjalny stos nawigacyjny ROS 2 – następca move_base z ROS 1</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Cel</a:t>
            </a:r>
            <a:r>
              <a:rPr lang="en-US" sz="1400" dirty="0">
                <a:solidFill>
                  <a:srgbClr val="0D1B2A"/>
                </a:solidFill>
                <a:latin typeface="Calibri" pitchFamily="34" charset="0"/>
                <a:ea typeface="Calibri" pitchFamily="34" charset="-122"/>
                <a:cs typeface="Calibri" pitchFamily="34" charset="-120"/>
              </a:rPr>
              <a:t>: autonomiczne przemieszczanie robota z punktu A do punktu B w mapie 2D lub 3D z unikaniem przeszkód</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Architektura modularna</a:t>
            </a:r>
            <a:r>
              <a:rPr lang="en-US" sz="1400" dirty="0">
                <a:solidFill>
                  <a:srgbClr val="0D1B2A"/>
                </a:solidFill>
                <a:latin typeface="Calibri" pitchFamily="34" charset="0"/>
                <a:ea typeface="Calibri" pitchFamily="34" charset="-122"/>
                <a:cs typeface="Calibri" pitchFamily="34" charset="-120"/>
              </a:rPr>
              <a:t>: każdy komponent jest osobnym node'em ROS 2 z interfejsem wtyczek (plugins)</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Silnik decyzyjny</a:t>
            </a:r>
            <a:r>
              <a:rPr lang="en-US" sz="1400" dirty="0">
                <a:solidFill>
                  <a:srgbClr val="0D1B2A"/>
                </a:solidFill>
                <a:latin typeface="Calibri" pitchFamily="34" charset="0"/>
                <a:ea typeface="Calibri" pitchFamily="34" charset="-122"/>
                <a:cs typeface="Calibri" pitchFamily="34" charset="-120"/>
              </a:rPr>
              <a:t>: BehaviorTree.CPP v4 – hierarchiczne drzewo zachowań steruje całą sekwencją nawigacji</a:t>
            </a:r>
            <a:endParaRPr lang="en-US" sz="1400" dirty="0"/>
          </a:p>
          <a:p>
            <a:pPr marL="144000" indent="-144000">
              <a:spcAft>
                <a:spcPts val="600"/>
              </a:spcAft>
              <a:buSzPct val="100000"/>
              <a:buChar char="•"/>
            </a:pPr>
            <a:r>
              <a:rPr lang="en-US" sz="1400" b="1" spc="-60" dirty="0">
                <a:solidFill>
                  <a:srgbClr val="0D1B2A"/>
                </a:solidFill>
                <a:latin typeface="Calibri" pitchFamily="34" charset="0"/>
                <a:ea typeface="Calibri" pitchFamily="34" charset="-122"/>
                <a:cs typeface="Calibri" pitchFamily="34" charset="-120"/>
              </a:rPr>
              <a:t>Lifecycle management</a:t>
            </a:r>
            <a:r>
              <a:rPr lang="en-US" sz="1400" spc="-60" dirty="0">
                <a:solidFill>
                  <a:srgbClr val="0D1B2A"/>
                </a:solidFill>
                <a:latin typeface="Calibri" pitchFamily="34" charset="0"/>
                <a:ea typeface="Calibri" pitchFamily="34" charset="-122"/>
                <a:cs typeface="Calibri" pitchFamily="34" charset="-120"/>
              </a:rPr>
              <a:t>: </a:t>
            </a:r>
            <a:r>
              <a:rPr lang="en-US" sz="1400" spc="-90" dirty="0">
                <a:solidFill>
                  <a:srgbClr val="0D1B2A"/>
                </a:solidFill>
                <a:latin typeface="Calibri" pitchFamily="34" charset="0"/>
                <a:ea typeface="Calibri" pitchFamily="34" charset="-122"/>
                <a:cs typeface="Calibri" pitchFamily="34" charset="-120"/>
              </a:rPr>
              <a:t>każdy node przechodzi stany configure → activate → deactivate → cleanup dla bezpiecznego uruchamiania</a:t>
            </a:r>
            <a:endParaRPr lang="en-US" sz="1400" spc="-9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Kompatybilność</a:t>
            </a:r>
            <a:r>
              <a:rPr lang="en-US" sz="1400" spc="-20" dirty="0">
                <a:solidFill>
                  <a:srgbClr val="0D1B2A"/>
                </a:solidFill>
                <a:latin typeface="Calibri" pitchFamily="34" charset="0"/>
                <a:ea typeface="Calibri" pitchFamily="34" charset="-122"/>
                <a:cs typeface="Calibri" pitchFamily="34" charset="-120"/>
              </a:rPr>
              <a:t>: działa z każdym robotem mającym poprawne TF2 i odometrię; nie wymaga konkretnego sprzętu</a:t>
            </a:r>
            <a:endParaRPr lang="en-US" sz="1400" spc="-2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Licencja</a:t>
            </a:r>
            <a:r>
              <a:rPr lang="en-US" sz="1400" dirty="0">
                <a:solidFill>
                  <a:srgbClr val="0D1B2A"/>
                </a:solidFill>
                <a:latin typeface="Calibri" pitchFamily="34" charset="0"/>
                <a:ea typeface="Calibri" pitchFamily="34" charset="-122"/>
                <a:cs typeface="Calibri" pitchFamily="34" charset="-120"/>
              </a:rPr>
              <a:t>: Apache 2.0; aktywnie rozwijany przez Open Navigation LLC i społeczność ROS 2</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Dokumentacja</a:t>
            </a:r>
            <a:r>
              <a:rPr lang="en-US" sz="1400" dirty="0">
                <a:solidFill>
                  <a:srgbClr val="0D1B2A"/>
                </a:solidFill>
                <a:latin typeface="Calibri" pitchFamily="34" charset="0"/>
                <a:ea typeface="Calibri" pitchFamily="34" charset="-122"/>
                <a:cs typeface="Calibri" pitchFamily="34" charset="-120"/>
              </a:rPr>
              <a:t>: https://docs.nav2.org – w pełni opisane API, parametry i przykłady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1 | ARCHITEKTURA</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Główne komponenty Nav2</a:t>
            </a:r>
            <a:endParaRPr lang="en-US" sz="2200" dirty="0"/>
          </a:p>
        </p:txBody>
      </p:sp>
      <p:sp>
        <p:nvSpPr>
          <p:cNvPr id="5" name="Shape 3"/>
          <p:cNvSpPr/>
          <p:nvPr/>
        </p:nvSpPr>
        <p:spPr>
          <a:xfrm>
            <a:off x="320040" y="969264"/>
            <a:ext cx="8503920" cy="22860"/>
          </a:xfrm>
          <a:prstGeom prst="rect">
            <a:avLst/>
          </a:prstGeom>
          <a:solidFill>
            <a:srgbClr val="3730A3"/>
          </a:solidFill>
          <a:ln w="12700">
            <a:solidFill>
              <a:srgbClr val="3730A3"/>
            </a:solidFill>
            <a:prstDash val="solid"/>
          </a:ln>
        </p:spPr>
      </p:sp>
      <p:sp>
        <p:nvSpPr>
          <p:cNvPr id="6" name="Shape 4"/>
          <p:cNvSpPr/>
          <p:nvPr/>
        </p:nvSpPr>
        <p:spPr>
          <a:xfrm>
            <a:off x="338328" y="1078992"/>
            <a:ext cx="2761488" cy="182880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338328" y="1078992"/>
            <a:ext cx="2761488" cy="54864"/>
          </a:xfrm>
          <a:prstGeom prst="rect">
            <a:avLst/>
          </a:prstGeom>
          <a:solidFill>
            <a:srgbClr val="4F46E5"/>
          </a:solidFill>
          <a:ln w="12700">
            <a:solidFill>
              <a:srgbClr val="4F46E5"/>
            </a:solidFill>
            <a:prstDash val="solid"/>
          </a:ln>
        </p:spPr>
      </p:sp>
      <p:sp>
        <p:nvSpPr>
          <p:cNvPr id="8" name="Text 6"/>
          <p:cNvSpPr/>
          <p:nvPr/>
        </p:nvSpPr>
        <p:spPr>
          <a:xfrm>
            <a:off x="338328" y="1170432"/>
            <a:ext cx="2761488"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BT Navigator</a:t>
            </a:r>
            <a:endParaRPr lang="en-US" sz="1600" dirty="0"/>
          </a:p>
        </p:txBody>
      </p:sp>
      <p:sp>
        <p:nvSpPr>
          <p:cNvPr id="9" name="Text 7"/>
          <p:cNvSpPr/>
          <p:nvPr/>
        </p:nvSpPr>
        <p:spPr>
          <a:xfrm>
            <a:off x="429768" y="1600200"/>
            <a:ext cx="2578608" cy="1252728"/>
          </a:xfrm>
          <a:prstGeom prst="rect">
            <a:avLst/>
          </a:prstGeom>
          <a:noFill/>
          <a:ln/>
        </p:spPr>
        <p:txBody>
          <a:bodyPr wrap="square" lIns="0" tIns="0" rIns="0" bIns="0" rtlCol="0" anchor="t"/>
          <a:lstStyle/>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Wykonuje drzewo BehaviorTree;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koordynuje wszystkie inne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komponenty; publikuje feedback</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dla akcji NavigateToPose</a:t>
            </a:r>
            <a:endParaRPr lang="en-US" sz="1400" dirty="0"/>
          </a:p>
        </p:txBody>
      </p:sp>
      <p:sp>
        <p:nvSpPr>
          <p:cNvPr id="10" name="Shape 8"/>
          <p:cNvSpPr/>
          <p:nvPr/>
        </p:nvSpPr>
        <p:spPr>
          <a:xfrm>
            <a:off x="3209544" y="1078992"/>
            <a:ext cx="2761488" cy="182880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1" name="Shape 9"/>
          <p:cNvSpPr/>
          <p:nvPr/>
        </p:nvSpPr>
        <p:spPr>
          <a:xfrm>
            <a:off x="3209544" y="1078992"/>
            <a:ext cx="2761488" cy="54864"/>
          </a:xfrm>
          <a:prstGeom prst="rect">
            <a:avLst/>
          </a:prstGeom>
          <a:solidFill>
            <a:srgbClr val="4F46E5"/>
          </a:solidFill>
          <a:ln w="12700">
            <a:solidFill>
              <a:srgbClr val="4F46E5"/>
            </a:solidFill>
            <a:prstDash val="solid"/>
          </a:ln>
        </p:spPr>
      </p:sp>
      <p:sp>
        <p:nvSpPr>
          <p:cNvPr id="12" name="Text 10"/>
          <p:cNvSpPr/>
          <p:nvPr/>
        </p:nvSpPr>
        <p:spPr>
          <a:xfrm>
            <a:off x="3209544" y="1170432"/>
            <a:ext cx="2761488"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Planner Server</a:t>
            </a:r>
            <a:endParaRPr lang="en-US" sz="1600" dirty="0"/>
          </a:p>
        </p:txBody>
      </p:sp>
      <p:sp>
        <p:nvSpPr>
          <p:cNvPr id="13" name="Text 11"/>
          <p:cNvSpPr/>
          <p:nvPr/>
        </p:nvSpPr>
        <p:spPr>
          <a:xfrm>
            <a:off x="3300984" y="1600200"/>
            <a:ext cx="2578608" cy="1252728"/>
          </a:xfrm>
          <a:prstGeom prst="rect">
            <a:avLst/>
          </a:prstGeom>
          <a:noFill/>
          <a:ln/>
        </p:spPr>
        <p:txBody>
          <a:bodyPr wrap="square" lIns="0" tIns="0" rIns="0" bIns="0" rtlCol="0" anchor="t"/>
          <a:lstStyle/>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Planista globalny; wtyczki:</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NavFn (Dijkstra), Smac Planner</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(A*, Hybrid-A*); zwraca ścieżkę</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globalną do BT Navigator</a:t>
            </a:r>
            <a:endParaRPr lang="en-US" sz="1400" dirty="0"/>
          </a:p>
        </p:txBody>
      </p:sp>
      <p:sp>
        <p:nvSpPr>
          <p:cNvPr id="14" name="Shape 12"/>
          <p:cNvSpPr/>
          <p:nvPr/>
        </p:nvSpPr>
        <p:spPr>
          <a:xfrm>
            <a:off x="6080760" y="1078992"/>
            <a:ext cx="2761488" cy="182880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5" name="Shape 13"/>
          <p:cNvSpPr/>
          <p:nvPr/>
        </p:nvSpPr>
        <p:spPr>
          <a:xfrm>
            <a:off x="6080760" y="1078992"/>
            <a:ext cx="2761488" cy="54864"/>
          </a:xfrm>
          <a:prstGeom prst="rect">
            <a:avLst/>
          </a:prstGeom>
          <a:solidFill>
            <a:srgbClr val="4F46E5"/>
          </a:solidFill>
          <a:ln w="12700">
            <a:solidFill>
              <a:srgbClr val="4F46E5"/>
            </a:solidFill>
            <a:prstDash val="solid"/>
          </a:ln>
        </p:spPr>
      </p:sp>
      <p:sp>
        <p:nvSpPr>
          <p:cNvPr id="16" name="Text 14"/>
          <p:cNvSpPr/>
          <p:nvPr/>
        </p:nvSpPr>
        <p:spPr>
          <a:xfrm>
            <a:off x="6080760" y="1170432"/>
            <a:ext cx="2761488"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Controller Server</a:t>
            </a:r>
            <a:endParaRPr lang="en-US" sz="1600" dirty="0"/>
          </a:p>
        </p:txBody>
      </p:sp>
      <p:sp>
        <p:nvSpPr>
          <p:cNvPr id="17" name="Text 15"/>
          <p:cNvSpPr/>
          <p:nvPr/>
        </p:nvSpPr>
        <p:spPr>
          <a:xfrm>
            <a:off x="6172200" y="1600200"/>
            <a:ext cx="2578608" cy="1252728"/>
          </a:xfrm>
          <a:prstGeom prst="rect">
            <a:avLst/>
          </a:prstGeom>
          <a:noFill/>
          <a:ln/>
        </p:spPr>
        <p:txBody>
          <a:bodyPr wrap="square" lIns="0" tIns="0" rIns="0" bIns="0" rtlCol="0" anchor="t"/>
          <a:lstStyle/>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Kontroler lokalny; wtyczki:</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DWB, RPP, MPPI; generuje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komendy cmd_vel na podstawie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localnej mapy i ścieżki</a:t>
            </a:r>
            <a:endParaRPr lang="en-US" sz="1400" dirty="0"/>
          </a:p>
        </p:txBody>
      </p:sp>
      <p:sp>
        <p:nvSpPr>
          <p:cNvPr id="18" name="Shape 16"/>
          <p:cNvSpPr/>
          <p:nvPr/>
        </p:nvSpPr>
        <p:spPr>
          <a:xfrm>
            <a:off x="338328" y="3017520"/>
            <a:ext cx="2761488" cy="182880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9" name="Shape 17"/>
          <p:cNvSpPr/>
          <p:nvPr/>
        </p:nvSpPr>
        <p:spPr>
          <a:xfrm>
            <a:off x="338328" y="3017520"/>
            <a:ext cx="2761488" cy="54864"/>
          </a:xfrm>
          <a:prstGeom prst="rect">
            <a:avLst/>
          </a:prstGeom>
          <a:solidFill>
            <a:srgbClr val="4F46E5"/>
          </a:solidFill>
          <a:ln w="12700">
            <a:solidFill>
              <a:srgbClr val="4F46E5"/>
            </a:solidFill>
            <a:prstDash val="solid"/>
          </a:ln>
        </p:spPr>
      </p:sp>
      <p:sp>
        <p:nvSpPr>
          <p:cNvPr id="20" name="Text 18"/>
          <p:cNvSpPr/>
          <p:nvPr/>
        </p:nvSpPr>
        <p:spPr>
          <a:xfrm>
            <a:off x="338328" y="3108960"/>
            <a:ext cx="2761488"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Costmap 2D</a:t>
            </a:r>
            <a:endParaRPr lang="en-US" sz="1600" dirty="0"/>
          </a:p>
        </p:txBody>
      </p:sp>
      <p:sp>
        <p:nvSpPr>
          <p:cNvPr id="21" name="Text 19"/>
          <p:cNvSpPr/>
          <p:nvPr/>
        </p:nvSpPr>
        <p:spPr>
          <a:xfrm>
            <a:off x="429768" y="3538728"/>
            <a:ext cx="2578608" cy="1252728"/>
          </a:xfrm>
          <a:prstGeom prst="rect">
            <a:avLst/>
          </a:prstGeom>
          <a:noFill/>
          <a:ln/>
        </p:spPr>
        <p:txBody>
          <a:bodyPr wrap="square" lIns="0" tIns="0" rIns="0" bIns="0" rtlCol="0" anchor="t"/>
          <a:lstStyle/>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Global + local costmap;</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warstwy: static, inflation,</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obstacle, voxel; aktualizacja</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z LiDAR i RGB-D</a:t>
            </a:r>
            <a:endParaRPr lang="en-US" sz="1400" dirty="0"/>
          </a:p>
        </p:txBody>
      </p:sp>
      <p:sp>
        <p:nvSpPr>
          <p:cNvPr id="22" name="Shape 20"/>
          <p:cNvSpPr/>
          <p:nvPr/>
        </p:nvSpPr>
        <p:spPr>
          <a:xfrm>
            <a:off x="3209544" y="3017520"/>
            <a:ext cx="2761488" cy="182880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23" name="Shape 21"/>
          <p:cNvSpPr/>
          <p:nvPr/>
        </p:nvSpPr>
        <p:spPr>
          <a:xfrm>
            <a:off x="3209544" y="3017520"/>
            <a:ext cx="2761488" cy="54864"/>
          </a:xfrm>
          <a:prstGeom prst="rect">
            <a:avLst/>
          </a:prstGeom>
          <a:solidFill>
            <a:srgbClr val="4F46E5"/>
          </a:solidFill>
          <a:ln w="12700">
            <a:solidFill>
              <a:srgbClr val="4F46E5"/>
            </a:solidFill>
            <a:prstDash val="solid"/>
          </a:ln>
        </p:spPr>
      </p:sp>
      <p:sp>
        <p:nvSpPr>
          <p:cNvPr id="24" name="Text 22"/>
          <p:cNvSpPr/>
          <p:nvPr/>
        </p:nvSpPr>
        <p:spPr>
          <a:xfrm>
            <a:off x="3209544" y="3108960"/>
            <a:ext cx="2761488"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Behavior Server</a:t>
            </a:r>
            <a:endParaRPr lang="en-US" sz="1600" dirty="0"/>
          </a:p>
        </p:txBody>
      </p:sp>
      <p:sp>
        <p:nvSpPr>
          <p:cNvPr id="25" name="Text 23"/>
          <p:cNvSpPr/>
          <p:nvPr/>
        </p:nvSpPr>
        <p:spPr>
          <a:xfrm>
            <a:off x="3300984" y="3538728"/>
            <a:ext cx="2578608" cy="1252728"/>
          </a:xfrm>
          <a:prstGeom prst="rect">
            <a:avLst/>
          </a:prstGeom>
          <a:noFill/>
          <a:ln/>
        </p:spPr>
        <p:txBody>
          <a:bodyPr wrap="square" lIns="0" tIns="0" rIns="0" bIns="0" rtlCol="0" anchor="t"/>
          <a:lstStyle/>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Zachowania awaryjne: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Spin, BackUp, WaitAtWaypoint,</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ClearCostmap; wywoływane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przez BT gdy navigation fails</a:t>
            </a:r>
            <a:endParaRPr lang="en-US" sz="1400" dirty="0"/>
          </a:p>
        </p:txBody>
      </p:sp>
      <p:sp>
        <p:nvSpPr>
          <p:cNvPr id="26" name="Shape 24"/>
          <p:cNvSpPr/>
          <p:nvPr/>
        </p:nvSpPr>
        <p:spPr>
          <a:xfrm>
            <a:off x="6080760" y="3017520"/>
            <a:ext cx="2761488" cy="182880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27" name="Shape 25"/>
          <p:cNvSpPr/>
          <p:nvPr/>
        </p:nvSpPr>
        <p:spPr>
          <a:xfrm>
            <a:off x="6080760" y="3017520"/>
            <a:ext cx="2761488" cy="54864"/>
          </a:xfrm>
          <a:prstGeom prst="rect">
            <a:avLst/>
          </a:prstGeom>
          <a:solidFill>
            <a:srgbClr val="4F46E5"/>
          </a:solidFill>
          <a:ln w="12700">
            <a:solidFill>
              <a:srgbClr val="4F46E5"/>
            </a:solidFill>
            <a:prstDash val="solid"/>
          </a:ln>
        </p:spPr>
      </p:sp>
      <p:sp>
        <p:nvSpPr>
          <p:cNvPr id="28" name="Text 26"/>
          <p:cNvSpPr/>
          <p:nvPr/>
        </p:nvSpPr>
        <p:spPr>
          <a:xfrm>
            <a:off x="6080760" y="3108960"/>
            <a:ext cx="2761488"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Waypoint Follower</a:t>
            </a:r>
            <a:endParaRPr lang="en-US" sz="1600" dirty="0"/>
          </a:p>
        </p:txBody>
      </p:sp>
      <p:sp>
        <p:nvSpPr>
          <p:cNvPr id="29" name="Text 27"/>
          <p:cNvSpPr/>
          <p:nvPr/>
        </p:nvSpPr>
        <p:spPr>
          <a:xfrm>
            <a:off x="6172200" y="3538728"/>
            <a:ext cx="2578608" cy="1252728"/>
          </a:xfrm>
          <a:prstGeom prst="rect">
            <a:avLst/>
          </a:prstGeom>
          <a:noFill/>
          <a:ln/>
        </p:spPr>
        <p:txBody>
          <a:bodyPr wrap="square" lIns="0" tIns="0" rIns="0" bIns="0" rtlCol="0" anchor="t"/>
          <a:lstStyle/>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Sekwencyjne nawigowanie</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do listy celów; task executor</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dla każdego waypoint;</a:t>
            </a:r>
            <a:endParaRPr lang="en-US" sz="1400" dirty="0"/>
          </a:p>
          <a:p>
            <a:pPr marL="0" indent="0">
              <a:spcAft>
                <a:spcPts val="300"/>
              </a:spcAft>
              <a:buNone/>
            </a:pPr>
            <a:r>
              <a:rPr lang="en-US" sz="1400" dirty="0">
                <a:solidFill>
                  <a:srgbClr val="0D1B2A"/>
                </a:solidFill>
                <a:latin typeface="Calibri" pitchFamily="34" charset="0"/>
                <a:ea typeface="Calibri" pitchFamily="34" charset="-122"/>
                <a:cs typeface="Calibri" pitchFamily="34" charset="-120"/>
              </a:rPr>
              <a:t>kompatybilny z VLM goal list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1 | PRZEPŁYW DANYCH</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Przepływ danych w Nav2 – od celu do cmd_vel</a:t>
            </a:r>
            <a:endParaRPr lang="en-US" sz="2200" dirty="0"/>
          </a:p>
        </p:txBody>
      </p:sp>
      <p:sp>
        <p:nvSpPr>
          <p:cNvPr id="5" name="Shape 3"/>
          <p:cNvSpPr/>
          <p:nvPr/>
        </p:nvSpPr>
        <p:spPr>
          <a:xfrm>
            <a:off x="320040" y="969264"/>
            <a:ext cx="8503920" cy="22860"/>
          </a:xfrm>
          <a:prstGeom prst="rect">
            <a:avLst/>
          </a:prstGeom>
          <a:solidFill>
            <a:srgbClr val="3730A3"/>
          </a:solidFill>
          <a:ln w="12700">
            <a:solidFill>
              <a:srgbClr val="3730A3"/>
            </a:solidFill>
            <a:prstDash val="solid"/>
          </a:ln>
        </p:spPr>
      </p:sp>
      <p:sp>
        <p:nvSpPr>
          <p:cNvPr id="6" name="Shape 4"/>
          <p:cNvSpPr/>
          <p:nvPr/>
        </p:nvSpPr>
        <p:spPr>
          <a:xfrm>
            <a:off x="320040" y="1097280"/>
            <a:ext cx="1591056" cy="356616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859536" y="1225296"/>
            <a:ext cx="512064" cy="512064"/>
          </a:xfrm>
          <a:prstGeom prst="ellipse">
            <a:avLst/>
          </a:prstGeom>
          <a:solidFill>
            <a:srgbClr val="4F46E5"/>
          </a:solidFill>
          <a:ln w="12700">
            <a:solidFill>
              <a:srgbClr val="4F46E5"/>
            </a:solidFill>
            <a:prstDash val="solid"/>
          </a:ln>
        </p:spPr>
      </p:sp>
      <p:sp>
        <p:nvSpPr>
          <p:cNvPr id="8" name="Text 6"/>
          <p:cNvSpPr/>
          <p:nvPr/>
        </p:nvSpPr>
        <p:spPr>
          <a:xfrm>
            <a:off x="859536" y="1225296"/>
            <a:ext cx="512064" cy="51206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393192" y="1810512"/>
            <a:ext cx="1444752" cy="402336"/>
          </a:xfrm>
          <a:prstGeom prst="rect">
            <a:avLst/>
          </a:prstGeom>
          <a:noFill/>
          <a:ln/>
        </p:spPr>
        <p:txBody>
          <a:bodyPr wrap="square" lIns="0" tIns="0" rIns="0" bIns="0" rtlCol="0" anchor="ctr"/>
          <a:lstStyle/>
          <a:p>
            <a:pPr marL="0" indent="0" algn="ctr">
              <a:buNone/>
            </a:pPr>
            <a:r>
              <a:rPr lang="en-US" sz="1050" b="1" dirty="0">
                <a:solidFill>
                  <a:srgbClr val="4F46E5"/>
                </a:solidFill>
                <a:latin typeface="Calibri" pitchFamily="34" charset="0"/>
                <a:ea typeface="Calibri" pitchFamily="34" charset="-122"/>
                <a:cs typeface="Calibri" pitchFamily="34" charset="-120"/>
              </a:rPr>
              <a:t>Cel nawigacji</a:t>
            </a:r>
            <a:endParaRPr lang="en-US" sz="1050" dirty="0"/>
          </a:p>
        </p:txBody>
      </p:sp>
      <p:sp>
        <p:nvSpPr>
          <p:cNvPr id="10" name="Text 8"/>
          <p:cNvSpPr/>
          <p:nvPr/>
        </p:nvSpPr>
        <p:spPr>
          <a:xfrm>
            <a:off x="411480" y="2249424"/>
            <a:ext cx="1408176" cy="2331720"/>
          </a:xfrm>
          <a:prstGeom prst="rect">
            <a:avLst/>
          </a:prstGeom>
          <a:noFill/>
          <a:ln/>
        </p:spPr>
        <p:txBody>
          <a:bodyPr wrap="square" lIns="0" tIns="0" rIns="0" bIns="0" rtlCol="0" anchor="t"/>
          <a:lstStyle/>
          <a:p>
            <a:pPr marL="0" indent="0" algn="l">
              <a:buNone/>
            </a:pPr>
            <a:r>
              <a:rPr lang="en-US" sz="1000" dirty="0">
                <a:solidFill>
                  <a:srgbClr val="0D1B2A"/>
                </a:solidFill>
                <a:latin typeface="Calibri" pitchFamily="34" charset="0"/>
                <a:ea typeface="Calibri" pitchFamily="34" charset="-122"/>
                <a:cs typeface="Calibri" pitchFamily="34" charset="-120"/>
              </a:rPr>
              <a:t>Operator lub system misji wysyła akcję NavigateToPose z celem (x, y, theta) w ramce 'map' do BT Navigator</a:t>
            </a:r>
            <a:endParaRPr lang="en-US" sz="1000" dirty="0"/>
          </a:p>
        </p:txBody>
      </p:sp>
      <p:sp>
        <p:nvSpPr>
          <p:cNvPr id="11" name="Shape 9"/>
          <p:cNvSpPr/>
          <p:nvPr/>
        </p:nvSpPr>
        <p:spPr>
          <a:xfrm>
            <a:off x="2048256" y="1097280"/>
            <a:ext cx="1591056" cy="356616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2" name="Shape 10"/>
          <p:cNvSpPr/>
          <p:nvPr/>
        </p:nvSpPr>
        <p:spPr>
          <a:xfrm>
            <a:off x="2587752" y="1225296"/>
            <a:ext cx="512064" cy="512064"/>
          </a:xfrm>
          <a:prstGeom prst="ellipse">
            <a:avLst/>
          </a:prstGeom>
          <a:solidFill>
            <a:srgbClr val="4F46E5"/>
          </a:solidFill>
          <a:ln w="12700">
            <a:solidFill>
              <a:srgbClr val="4F46E5"/>
            </a:solidFill>
            <a:prstDash val="solid"/>
          </a:ln>
        </p:spPr>
      </p:sp>
      <p:sp>
        <p:nvSpPr>
          <p:cNvPr id="13" name="Text 11"/>
          <p:cNvSpPr/>
          <p:nvPr/>
        </p:nvSpPr>
        <p:spPr>
          <a:xfrm>
            <a:off x="2587752" y="1225296"/>
            <a:ext cx="512064" cy="51206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2121408" y="1810512"/>
            <a:ext cx="1444752" cy="402336"/>
          </a:xfrm>
          <a:prstGeom prst="rect">
            <a:avLst/>
          </a:prstGeom>
          <a:noFill/>
          <a:ln/>
        </p:spPr>
        <p:txBody>
          <a:bodyPr wrap="square" lIns="0" tIns="0" rIns="0" bIns="0" rtlCol="0" anchor="ctr"/>
          <a:lstStyle/>
          <a:p>
            <a:pPr marL="0" indent="0" algn="ctr">
              <a:buNone/>
            </a:pPr>
            <a:r>
              <a:rPr lang="en-US" sz="1050" b="1" dirty="0">
                <a:solidFill>
                  <a:srgbClr val="4F46E5"/>
                </a:solidFill>
                <a:latin typeface="Calibri" pitchFamily="34" charset="0"/>
                <a:ea typeface="Calibri" pitchFamily="34" charset="-122"/>
                <a:cs typeface="Calibri" pitchFamily="34" charset="-120"/>
              </a:rPr>
              <a:t>Global Plan</a:t>
            </a:r>
            <a:endParaRPr lang="en-US" sz="1050" dirty="0"/>
          </a:p>
        </p:txBody>
      </p:sp>
      <p:sp>
        <p:nvSpPr>
          <p:cNvPr id="15" name="Text 13"/>
          <p:cNvSpPr/>
          <p:nvPr/>
        </p:nvSpPr>
        <p:spPr>
          <a:xfrm>
            <a:off x="2139696" y="2249424"/>
            <a:ext cx="1408176" cy="2331720"/>
          </a:xfrm>
          <a:prstGeom prst="rect">
            <a:avLst/>
          </a:prstGeom>
          <a:noFill/>
          <a:ln/>
        </p:spPr>
        <p:txBody>
          <a:bodyPr wrap="square" lIns="0" tIns="0" rIns="0" bIns="0" rtlCol="0" anchor="t"/>
          <a:lstStyle/>
          <a:p>
            <a:pPr marL="0" indent="0" algn="l">
              <a:buNone/>
            </a:pPr>
            <a:r>
              <a:rPr lang="en-US" sz="1000" dirty="0">
                <a:solidFill>
                  <a:srgbClr val="0D1B2A"/>
                </a:solidFill>
                <a:latin typeface="Calibri" pitchFamily="34" charset="0"/>
                <a:ea typeface="Calibri" pitchFamily="34" charset="-122"/>
                <a:cs typeface="Calibri" pitchFamily="34" charset="-120"/>
              </a:rPr>
              <a:t>BT Navigator wywołuje Planner Server; Smac/NavFn wyznacza globalną ścieżkę na global costmap od bieżącej pozycji do celu</a:t>
            </a:r>
            <a:endParaRPr lang="en-US" sz="1000" dirty="0"/>
          </a:p>
        </p:txBody>
      </p:sp>
      <p:sp>
        <p:nvSpPr>
          <p:cNvPr id="16" name="Shape 14"/>
          <p:cNvSpPr/>
          <p:nvPr/>
        </p:nvSpPr>
        <p:spPr>
          <a:xfrm>
            <a:off x="3776472" y="1097280"/>
            <a:ext cx="1591056" cy="356616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7" name="Shape 15"/>
          <p:cNvSpPr/>
          <p:nvPr/>
        </p:nvSpPr>
        <p:spPr>
          <a:xfrm>
            <a:off x="4315968" y="1225296"/>
            <a:ext cx="512064" cy="512064"/>
          </a:xfrm>
          <a:prstGeom prst="ellipse">
            <a:avLst/>
          </a:prstGeom>
          <a:solidFill>
            <a:srgbClr val="4F46E5"/>
          </a:solidFill>
          <a:ln w="12700">
            <a:solidFill>
              <a:srgbClr val="4F46E5"/>
            </a:solidFill>
            <a:prstDash val="solid"/>
          </a:ln>
        </p:spPr>
      </p:sp>
      <p:sp>
        <p:nvSpPr>
          <p:cNvPr id="18" name="Text 16"/>
          <p:cNvSpPr/>
          <p:nvPr/>
        </p:nvSpPr>
        <p:spPr>
          <a:xfrm>
            <a:off x="4315968" y="1225296"/>
            <a:ext cx="512064" cy="51206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3849624" y="1810512"/>
            <a:ext cx="1444752" cy="402336"/>
          </a:xfrm>
          <a:prstGeom prst="rect">
            <a:avLst/>
          </a:prstGeom>
          <a:noFill/>
          <a:ln/>
        </p:spPr>
        <p:txBody>
          <a:bodyPr wrap="square" lIns="0" tIns="0" rIns="0" bIns="0" rtlCol="0" anchor="ctr"/>
          <a:lstStyle/>
          <a:p>
            <a:pPr marL="0" indent="0" algn="ctr">
              <a:buNone/>
            </a:pPr>
            <a:r>
              <a:rPr lang="en-US" sz="1050" b="1" dirty="0">
                <a:solidFill>
                  <a:srgbClr val="4F46E5"/>
                </a:solidFill>
                <a:latin typeface="Calibri" pitchFamily="34" charset="0"/>
                <a:ea typeface="Calibri" pitchFamily="34" charset="-122"/>
                <a:cs typeface="Calibri" pitchFamily="34" charset="-120"/>
              </a:rPr>
              <a:t>Local Control</a:t>
            </a:r>
            <a:endParaRPr lang="en-US" sz="1050" dirty="0"/>
          </a:p>
        </p:txBody>
      </p:sp>
      <p:sp>
        <p:nvSpPr>
          <p:cNvPr id="20" name="Text 18"/>
          <p:cNvSpPr/>
          <p:nvPr/>
        </p:nvSpPr>
        <p:spPr>
          <a:xfrm>
            <a:off x="3867912" y="2249424"/>
            <a:ext cx="1408176" cy="2331720"/>
          </a:xfrm>
          <a:prstGeom prst="rect">
            <a:avLst/>
          </a:prstGeom>
          <a:noFill/>
          <a:ln/>
        </p:spPr>
        <p:txBody>
          <a:bodyPr wrap="square" lIns="0" tIns="0" rIns="0" bIns="0" rtlCol="0" anchor="t"/>
          <a:lstStyle/>
          <a:p>
            <a:pPr marL="0" indent="0" algn="l">
              <a:buNone/>
            </a:pPr>
            <a:r>
              <a:rPr lang="en-US" sz="1000" dirty="0">
                <a:solidFill>
                  <a:srgbClr val="0D1B2A"/>
                </a:solidFill>
                <a:latin typeface="Calibri" pitchFamily="34" charset="0"/>
                <a:ea typeface="Calibri" pitchFamily="34" charset="-122"/>
                <a:cs typeface="Calibri" pitchFamily="34" charset="-120"/>
              </a:rPr>
              <a:t>Controller Server śledzi ścieżkę; DWB/RPP/MPPI oblicza (v, ω) na local costmap z uwzględnieniem przeszkód dynamicznych</a:t>
            </a:r>
            <a:endParaRPr lang="en-US" sz="1000" dirty="0"/>
          </a:p>
        </p:txBody>
      </p:sp>
      <p:sp>
        <p:nvSpPr>
          <p:cNvPr id="21" name="Shape 19"/>
          <p:cNvSpPr/>
          <p:nvPr/>
        </p:nvSpPr>
        <p:spPr>
          <a:xfrm>
            <a:off x="5504688" y="1097280"/>
            <a:ext cx="1591056" cy="356616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22" name="Shape 20"/>
          <p:cNvSpPr/>
          <p:nvPr/>
        </p:nvSpPr>
        <p:spPr>
          <a:xfrm>
            <a:off x="6044184" y="1225296"/>
            <a:ext cx="512064" cy="512064"/>
          </a:xfrm>
          <a:prstGeom prst="ellipse">
            <a:avLst/>
          </a:prstGeom>
          <a:solidFill>
            <a:srgbClr val="4F46E5"/>
          </a:solidFill>
          <a:ln w="12700">
            <a:solidFill>
              <a:srgbClr val="4F46E5"/>
            </a:solidFill>
            <a:prstDash val="solid"/>
          </a:ln>
        </p:spPr>
      </p:sp>
      <p:sp>
        <p:nvSpPr>
          <p:cNvPr id="23" name="Text 21"/>
          <p:cNvSpPr/>
          <p:nvPr/>
        </p:nvSpPr>
        <p:spPr>
          <a:xfrm>
            <a:off x="6044184" y="1225296"/>
            <a:ext cx="512064" cy="51206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5577840" y="1810512"/>
            <a:ext cx="1444752" cy="402336"/>
          </a:xfrm>
          <a:prstGeom prst="rect">
            <a:avLst/>
          </a:prstGeom>
          <a:noFill/>
          <a:ln/>
        </p:spPr>
        <p:txBody>
          <a:bodyPr wrap="square" lIns="0" tIns="0" rIns="0" bIns="0" rtlCol="0" anchor="ctr"/>
          <a:lstStyle/>
          <a:p>
            <a:pPr marL="0" indent="0" algn="ctr">
              <a:buNone/>
            </a:pPr>
            <a:r>
              <a:rPr lang="en-US" sz="1050" b="1" dirty="0">
                <a:solidFill>
                  <a:srgbClr val="4F46E5"/>
                </a:solidFill>
                <a:latin typeface="Calibri" pitchFamily="34" charset="0"/>
                <a:ea typeface="Calibri" pitchFamily="34" charset="-122"/>
                <a:cs typeface="Calibri" pitchFamily="34" charset="-120"/>
              </a:rPr>
              <a:t>Zachowania awaryjne</a:t>
            </a:r>
            <a:endParaRPr lang="en-US" sz="1050" dirty="0"/>
          </a:p>
        </p:txBody>
      </p:sp>
      <p:sp>
        <p:nvSpPr>
          <p:cNvPr id="25" name="Text 23"/>
          <p:cNvSpPr/>
          <p:nvPr/>
        </p:nvSpPr>
        <p:spPr>
          <a:xfrm>
            <a:off x="5596128" y="2249424"/>
            <a:ext cx="1408176" cy="2331720"/>
          </a:xfrm>
          <a:prstGeom prst="rect">
            <a:avLst/>
          </a:prstGeom>
          <a:noFill/>
          <a:ln/>
        </p:spPr>
        <p:txBody>
          <a:bodyPr wrap="square" lIns="0" tIns="0" rIns="0" bIns="0" rtlCol="0" anchor="t"/>
          <a:lstStyle/>
          <a:p>
            <a:pPr marL="0" indent="0" algn="l">
              <a:buNone/>
            </a:pPr>
            <a:r>
              <a:rPr lang="en-US" sz="1000" dirty="0">
                <a:solidFill>
                  <a:srgbClr val="0D1B2A"/>
                </a:solidFill>
                <a:latin typeface="Calibri" pitchFamily="34" charset="0"/>
                <a:ea typeface="Calibri" pitchFamily="34" charset="-122"/>
                <a:cs typeface="Calibri" pitchFamily="34" charset="-120"/>
              </a:rPr>
              <a:t>Gdy progress_checker wykryje utknięcie → BT wywołuje Spin lub BackUp; po odblokow. wraca do śledzenia ścieżki</a:t>
            </a:r>
            <a:endParaRPr lang="en-US" sz="1000" dirty="0"/>
          </a:p>
        </p:txBody>
      </p:sp>
      <p:sp>
        <p:nvSpPr>
          <p:cNvPr id="26" name="Shape 24"/>
          <p:cNvSpPr/>
          <p:nvPr/>
        </p:nvSpPr>
        <p:spPr>
          <a:xfrm>
            <a:off x="7232904" y="1097280"/>
            <a:ext cx="1591056" cy="356616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27" name="Shape 25"/>
          <p:cNvSpPr/>
          <p:nvPr/>
        </p:nvSpPr>
        <p:spPr>
          <a:xfrm>
            <a:off x="7772400" y="1225296"/>
            <a:ext cx="512064" cy="512064"/>
          </a:xfrm>
          <a:prstGeom prst="ellipse">
            <a:avLst/>
          </a:prstGeom>
          <a:solidFill>
            <a:srgbClr val="4F46E5"/>
          </a:solidFill>
          <a:ln w="12700">
            <a:solidFill>
              <a:srgbClr val="4F46E5"/>
            </a:solidFill>
            <a:prstDash val="solid"/>
          </a:ln>
        </p:spPr>
      </p:sp>
      <p:sp>
        <p:nvSpPr>
          <p:cNvPr id="28" name="Text 26"/>
          <p:cNvSpPr/>
          <p:nvPr/>
        </p:nvSpPr>
        <p:spPr>
          <a:xfrm>
            <a:off x="7772400" y="1225296"/>
            <a:ext cx="512064" cy="512064"/>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7306056" y="1810512"/>
            <a:ext cx="1444752" cy="402336"/>
          </a:xfrm>
          <a:prstGeom prst="rect">
            <a:avLst/>
          </a:prstGeom>
          <a:noFill/>
          <a:ln/>
        </p:spPr>
        <p:txBody>
          <a:bodyPr wrap="square" lIns="0" tIns="0" rIns="0" bIns="0" rtlCol="0" anchor="ctr"/>
          <a:lstStyle/>
          <a:p>
            <a:pPr marL="0" indent="0" algn="ctr">
              <a:buNone/>
            </a:pPr>
            <a:r>
              <a:rPr lang="en-US" sz="1050" b="1" dirty="0">
                <a:solidFill>
                  <a:srgbClr val="4F46E5"/>
                </a:solidFill>
                <a:latin typeface="Calibri" pitchFamily="34" charset="0"/>
                <a:ea typeface="Calibri" pitchFamily="34" charset="-122"/>
                <a:cs typeface="Calibri" pitchFamily="34" charset="-120"/>
              </a:rPr>
              <a:t>Cel osiągnięty</a:t>
            </a:r>
            <a:endParaRPr lang="en-US" sz="1050" dirty="0"/>
          </a:p>
        </p:txBody>
      </p:sp>
      <p:sp>
        <p:nvSpPr>
          <p:cNvPr id="30" name="Text 28"/>
          <p:cNvSpPr/>
          <p:nvPr/>
        </p:nvSpPr>
        <p:spPr>
          <a:xfrm>
            <a:off x="7324344" y="2249424"/>
            <a:ext cx="1408176" cy="2331720"/>
          </a:xfrm>
          <a:prstGeom prst="rect">
            <a:avLst/>
          </a:prstGeom>
          <a:noFill/>
          <a:ln/>
        </p:spPr>
        <p:txBody>
          <a:bodyPr wrap="square" lIns="0" tIns="0" rIns="0" bIns="0" rtlCol="0" anchor="t"/>
          <a:lstStyle/>
          <a:p>
            <a:pPr marL="0" indent="0" algn="l">
              <a:buNone/>
            </a:pPr>
            <a:r>
              <a:rPr lang="en-US" sz="1000" dirty="0">
                <a:solidFill>
                  <a:srgbClr val="0D1B2A"/>
                </a:solidFill>
                <a:latin typeface="Calibri" pitchFamily="34" charset="0"/>
                <a:ea typeface="Calibri" pitchFamily="34" charset="-122"/>
                <a:cs typeface="Calibri" pitchFamily="34" charset="-120"/>
              </a:rPr>
              <a:t>goal_checker sprawdza odległość &lt; xy_goal_tolerance i kąt &lt; yaw_goal_tolerance; BT zwraca SUCCESS do klienta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1 | BEHAVIORTREE</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BehaviorTree jako rdzeń Nav2</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683226"/>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42899" y="1119600"/>
            <a:ext cx="8411135" cy="2497657"/>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BT (BehaviorTree.CPP v4) </a:t>
            </a:r>
            <a:r>
              <a:rPr lang="en-US" sz="1400" dirty="0">
                <a:solidFill>
                  <a:srgbClr val="0D1B2A"/>
                </a:solidFill>
                <a:latin typeface="Calibri" pitchFamily="34" charset="0"/>
                <a:ea typeface="Calibri" pitchFamily="34" charset="-122"/>
                <a:cs typeface="Calibri" pitchFamily="34" charset="-120"/>
              </a:rPr>
              <a:t>to hierarchiczny automat stanów z modularną, konfigurowalną strukturą XML</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Węzły BT</a:t>
            </a:r>
            <a:r>
              <a:rPr lang="en-US" sz="1400" dirty="0">
                <a:solidFill>
                  <a:srgbClr val="0D1B2A"/>
                </a:solidFill>
                <a:latin typeface="Calibri" pitchFamily="34" charset="0"/>
                <a:ea typeface="Calibri" pitchFamily="34" charset="-122"/>
                <a:cs typeface="Calibri" pitchFamily="34" charset="-120"/>
              </a:rPr>
              <a:t>: Action (wywołaj plugin), Condition (sprawdź stan), Decorator (modyfikuj wynik), Sequence, Fallback</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Domyślne drzewo Nav2 </a:t>
            </a:r>
            <a:r>
              <a:rPr lang="en-US" sz="1400" dirty="0">
                <a:solidFill>
                  <a:srgbClr val="0D1B2A"/>
                </a:solidFill>
                <a:latin typeface="Calibri" pitchFamily="34" charset="0"/>
                <a:ea typeface="Calibri" pitchFamily="34" charset="-122"/>
                <a:cs typeface="Calibri" pitchFamily="34" charset="-120"/>
              </a:rPr>
              <a:t>(navigate_w_replanning_and_recovery.xml): planuj → śledź → retry → recover → fail</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Własne drzewo XML: </a:t>
            </a:r>
            <a:r>
              <a:rPr lang="en-US" sz="1400" dirty="0">
                <a:solidFill>
                  <a:srgbClr val="0D1B2A"/>
                </a:solidFill>
                <a:latin typeface="Calibri" pitchFamily="34" charset="0"/>
                <a:ea typeface="Calibri" pitchFamily="34" charset="-122"/>
                <a:cs typeface="Calibri" pitchFamily="34" charset="-120"/>
              </a:rPr>
              <a:t>definiujesz kolejność prób, warunki replanu i zachowania awaryjne bez zmiany kodu C++</a:t>
            </a:r>
            <a:endParaRPr lang="en-US" sz="1400" dirty="0"/>
          </a:p>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Hot-swappable</a:t>
            </a:r>
            <a:r>
              <a:rPr lang="en-US" sz="1400" spc="-40" dirty="0">
                <a:solidFill>
                  <a:srgbClr val="0D1B2A"/>
                </a:solidFill>
                <a:latin typeface="Calibri" pitchFamily="34" charset="0"/>
                <a:ea typeface="Calibri" pitchFamily="34" charset="-122"/>
                <a:cs typeface="Calibri" pitchFamily="34" charset="-120"/>
              </a:rPr>
              <a:t>: można podmienić plik XML w czasie działania systemu przez parametr 'default_bt_xml_filename'</a:t>
            </a:r>
            <a:endParaRPr lang="en-US" sz="1400" spc="-4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Condition nodes dostępne</a:t>
            </a:r>
            <a:r>
              <a:rPr lang="en-US" sz="1400" dirty="0">
                <a:solidFill>
                  <a:srgbClr val="0D1B2A"/>
                </a:solidFill>
                <a:latin typeface="Calibri" pitchFamily="34" charset="0"/>
                <a:ea typeface="Calibri" pitchFamily="34" charset="-122"/>
                <a:cs typeface="Calibri" pitchFamily="34" charset="-120"/>
              </a:rPr>
              <a:t>: GoalReached, IsBatteryLow, IsStuck, IsPathValid, TransformAvailable</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Integracja VLM</a:t>
            </a:r>
            <a:r>
              <a:rPr lang="en-US" sz="1400" dirty="0">
                <a:solidFill>
                  <a:srgbClr val="0D1B2A"/>
                </a:solidFill>
                <a:latin typeface="Calibri" pitchFamily="34" charset="0"/>
                <a:ea typeface="Calibri" pitchFamily="34" charset="-122"/>
                <a:cs typeface="Calibri" pitchFamily="34" charset="-120"/>
              </a:rPr>
              <a:t>: BT może wywoływać node VLM jako Action i na podstawie wyniku wybierać gałąź nawigacji</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Debugowanie</a:t>
            </a:r>
            <a:r>
              <a:rPr lang="en-US" sz="1400" dirty="0">
                <a:solidFill>
                  <a:srgbClr val="0D1B2A"/>
                </a:solidFill>
                <a:latin typeface="Calibri" pitchFamily="34" charset="0"/>
                <a:ea typeface="Calibri" pitchFamily="34" charset="-122"/>
                <a:cs typeface="Calibri" pitchFamily="34" charset="-120"/>
              </a:rPr>
              <a:t>: Groot2 – graficzny monitor drzewa BT w czasie rzeczywistym; publikacja na porcie 1667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1 | LIFECYCLE</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Lifecycle Management w Nav2</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488244"/>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42899" y="1119600"/>
            <a:ext cx="8471647" cy="2484212"/>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Lifecycle nodes </a:t>
            </a:r>
            <a:r>
              <a:rPr lang="en-US" sz="1400" dirty="0">
                <a:solidFill>
                  <a:srgbClr val="0D1B2A"/>
                </a:solidFill>
                <a:latin typeface="Calibri" pitchFamily="34" charset="0"/>
                <a:ea typeface="Calibri" pitchFamily="34" charset="-122"/>
                <a:cs typeface="Calibri" pitchFamily="34" charset="-120"/>
              </a:rPr>
              <a:t>(rclcpp_lifecycle) mają stany: Unconfigured → Inactive → Active → Finalized</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Nav2 Lifecycle Manager </a:t>
            </a:r>
            <a:r>
              <a:rPr lang="en-US" sz="1400" dirty="0">
                <a:solidFill>
                  <a:srgbClr val="0D1B2A"/>
                </a:solidFill>
                <a:latin typeface="Calibri" pitchFamily="34" charset="0"/>
                <a:ea typeface="Calibri" pitchFamily="34" charset="-122"/>
                <a:cs typeface="Calibri" pitchFamily="34" charset="-120"/>
              </a:rPr>
              <a:t>uruchamia wszystkie komponenty w prawidłowej kolejności i zarządza przejściami</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Kolejność startu</a:t>
            </a:r>
            <a:r>
              <a:rPr lang="en-US" sz="1400" dirty="0">
                <a:solidFill>
                  <a:srgbClr val="0D1B2A"/>
                </a:solidFill>
                <a:latin typeface="Calibri" pitchFamily="34" charset="0"/>
                <a:ea typeface="Calibri" pitchFamily="34" charset="-122"/>
                <a:cs typeface="Calibri" pitchFamily="34" charset="-120"/>
              </a:rPr>
              <a:t>: map_server → AMCL → costmap_2d → planner_server → controller_server → bt_navigator</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Przejście 'configure': </a:t>
            </a:r>
            <a:r>
              <a:rPr lang="en-US" sz="1400" dirty="0">
                <a:solidFill>
                  <a:srgbClr val="0D1B2A"/>
                </a:solidFill>
                <a:latin typeface="Calibri" pitchFamily="34" charset="0"/>
                <a:ea typeface="Calibri" pitchFamily="34" charset="-122"/>
                <a:cs typeface="Calibri" pitchFamily="34" charset="-120"/>
              </a:rPr>
              <a:t>node ładuje parametry YAML, inicjalizuje wtyczki i alokuje zasoby</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Przejście 'activate': </a:t>
            </a:r>
            <a:r>
              <a:rPr lang="en-US" sz="1400" dirty="0">
                <a:solidFill>
                  <a:srgbClr val="0D1B2A"/>
                </a:solidFill>
                <a:latin typeface="Calibri" pitchFamily="34" charset="0"/>
                <a:ea typeface="Calibri" pitchFamily="34" charset="-122"/>
                <a:cs typeface="Calibri" pitchFamily="34" charset="-120"/>
              </a:rPr>
              <a:t>node zaczyna subskrybować tematy i publikować wyniki; robot gotowy do nawigacji</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Przejście 'deactivate': </a:t>
            </a:r>
            <a:r>
              <a:rPr lang="en-US" sz="1400" dirty="0">
                <a:solidFill>
                  <a:srgbClr val="0D1B2A"/>
                </a:solidFill>
                <a:latin typeface="Calibri" pitchFamily="34" charset="0"/>
                <a:ea typeface="Calibri" pitchFamily="34" charset="-122"/>
                <a:cs typeface="Calibri" pitchFamily="34" charset="-120"/>
              </a:rPr>
              <a:t>bezpieczne zatrzymanie nawigacji bez utraty stanu (np. przy przejściu do ładowarki)</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autostart</a:t>
            </a:r>
            <a:r>
              <a:rPr lang="en-US" sz="1400" dirty="0">
                <a:solidFill>
                  <a:srgbClr val="0D1B2A"/>
                </a:solidFill>
                <a:latin typeface="Calibri" pitchFamily="34" charset="0"/>
                <a:ea typeface="Calibri" pitchFamily="34" charset="-122"/>
                <a:cs typeface="Calibri" pitchFamily="34" charset="-120"/>
              </a:rPr>
              <a:t>: true w launch file automatycznie uruchamia cały stos po starcie systemu</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bond_timeout</a:t>
            </a:r>
            <a:r>
              <a:rPr lang="en-US" sz="1400" dirty="0">
                <a:solidFill>
                  <a:srgbClr val="0D1B2A"/>
                </a:solidFill>
                <a:latin typeface="Calibri" pitchFamily="34" charset="0"/>
                <a:ea typeface="Calibri" pitchFamily="34" charset="-122"/>
                <a:cs typeface="Calibri" pitchFamily="34" charset="-120"/>
              </a:rPr>
              <a:t>: jeśli node przestanie wysyłać heartbeat w ciągu X sekund → Lifecycle Manager wyzwala restart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4F46E5"/>
          </a:solidFill>
          <a:ln w="12700">
            <a:solidFill>
              <a:srgbClr val="4F46E5"/>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0800" b="1" dirty="0">
                <a:solidFill>
                  <a:srgbClr val="4F46E5"/>
                </a:solidFill>
                <a:latin typeface="Trebuchet MS" pitchFamily="34" charset="0"/>
                <a:ea typeface="Trebuchet MS" pitchFamily="34" charset="-122"/>
                <a:cs typeface="Trebuchet MS" pitchFamily="34" charset="-120"/>
              </a:rPr>
              <a:t>02</a:t>
            </a:r>
            <a:endParaRPr lang="en-US" sz="10800" dirty="0"/>
          </a:p>
        </p:txBody>
      </p:sp>
      <p:sp>
        <p:nvSpPr>
          <p:cNvPr id="5" name="Text 3"/>
          <p:cNvSpPr/>
          <p:nvPr/>
        </p:nvSpPr>
        <p:spPr>
          <a:xfrm>
            <a:off x="2926080" y="1188720"/>
            <a:ext cx="4572000" cy="347472"/>
          </a:xfrm>
          <a:prstGeom prst="rect">
            <a:avLst/>
          </a:prstGeom>
          <a:noFill/>
          <a:ln/>
        </p:spPr>
        <p:txBody>
          <a:bodyPr wrap="square" lIns="0" tIns="0" rIns="0" bIns="0" rtlCol="0" anchor="ctr"/>
          <a:lstStyle/>
          <a:p>
            <a:pPr marL="0" indent="0">
              <a:buNone/>
            </a:pPr>
            <a:r>
              <a:rPr lang="en-US" sz="1100" b="1" dirty="0">
                <a:solidFill>
                  <a:srgbClr val="4F46E5"/>
                </a:solidFill>
                <a:latin typeface="Trebuchet MS" pitchFamily="34" charset="0"/>
                <a:ea typeface="Trebuchet MS" pitchFamily="34" charset="-122"/>
                <a:cs typeface="Trebuchet MS" pitchFamily="34" charset="-120"/>
              </a:rPr>
              <a:t>SEKCJA</a:t>
            </a:r>
            <a:endParaRPr lang="en-US" sz="1100" dirty="0"/>
          </a:p>
        </p:txBody>
      </p:sp>
      <p:sp>
        <p:nvSpPr>
          <p:cNvPr id="6" name="Text 4"/>
          <p:cNvSpPr/>
          <p:nvPr/>
        </p:nvSpPr>
        <p:spPr>
          <a:xfrm>
            <a:off x="2926080" y="1572768"/>
            <a:ext cx="5212080" cy="10515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Instalacja i konfiguracja</a:t>
            </a:r>
            <a:endParaRPr lang="en-US" sz="3200" dirty="0"/>
          </a:p>
        </p:txBody>
      </p:sp>
      <p:sp>
        <p:nvSpPr>
          <p:cNvPr id="7" name="Shape 5"/>
          <p:cNvSpPr/>
          <p:nvPr/>
        </p:nvSpPr>
        <p:spPr>
          <a:xfrm>
            <a:off x="2926080" y="2715768"/>
            <a:ext cx="3931920" cy="27432"/>
          </a:xfrm>
          <a:prstGeom prst="rect">
            <a:avLst/>
          </a:prstGeom>
          <a:solidFill>
            <a:srgbClr val="4F46E5"/>
          </a:solidFill>
          <a:ln w="12700">
            <a:solidFill>
              <a:srgbClr val="4F46E5"/>
            </a:solidFill>
            <a:prstDash val="solid"/>
          </a:ln>
        </p:spPr>
      </p:sp>
      <p:sp>
        <p:nvSpPr>
          <p:cNvPr id="8" name="Text 6"/>
          <p:cNvSpPr/>
          <p:nvPr/>
        </p:nvSpPr>
        <p:spPr>
          <a:xfrm>
            <a:off x="2926080" y="2834640"/>
            <a:ext cx="5303520" cy="432995"/>
          </a:xfrm>
          <a:prstGeom prst="rect">
            <a:avLst/>
          </a:prstGeom>
          <a:noFill/>
          <a:ln/>
        </p:spPr>
        <p:txBody>
          <a:bodyPr wrap="square" lIns="0" tIns="0" rIns="0" bIns="0" rtlCol="0" anchor="ctr"/>
          <a:lstStyle/>
          <a:p>
            <a:pPr marL="0" indent="0">
              <a:buNone/>
            </a:pPr>
            <a:r>
              <a:rPr lang="en-US" sz="1350" i="1" dirty="0">
                <a:solidFill>
                  <a:srgbClr val="E2EBF3"/>
                </a:solidFill>
                <a:latin typeface="Calibri" pitchFamily="34" charset="0"/>
                <a:ea typeface="Calibri" pitchFamily="34" charset="-122"/>
                <a:cs typeface="Calibri" pitchFamily="34" charset="-120"/>
              </a:rPr>
              <a:t>Środowisko ROS 2, pliki startowe, YAML, TF2 i mapa</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2 | INSTALACJA</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Instalacja Nav2 w ROS 2 Jazzy / Humble</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938720"/>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457200" y="1207008"/>
            <a:ext cx="8229600" cy="2618680"/>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sudo apt install ros-jazzy-navigation2 ros-jazzy-nav2-bringup </a:t>
            </a:r>
            <a:r>
              <a:rPr lang="en-US" sz="1400" dirty="0">
                <a:solidFill>
                  <a:srgbClr val="0D1B2A"/>
                </a:solidFill>
                <a:latin typeface="Calibri" pitchFamily="34" charset="0"/>
                <a:ea typeface="Calibri" pitchFamily="34" charset="-122"/>
                <a:cs typeface="Calibri" pitchFamily="34" charset="-120"/>
              </a:rPr>
              <a:t>– instalacja binarną paczką</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Alternatywnie</a:t>
            </a:r>
            <a:r>
              <a:rPr lang="en-US" sz="1400" dirty="0">
                <a:solidFill>
                  <a:srgbClr val="0D1B2A"/>
                </a:solidFill>
                <a:latin typeface="Calibri" pitchFamily="34" charset="0"/>
                <a:ea typeface="Calibri" pitchFamily="34" charset="-122"/>
                <a:cs typeface="Calibri" pitchFamily="34" charset="-120"/>
              </a:rPr>
              <a:t>: build ze źródeł – git clone </a:t>
            </a:r>
            <a:r>
              <a:rPr lang="en-US" sz="1400" dirty="0">
                <a:solidFill>
                  <a:schemeClr val="accent1"/>
                </a:solidFill>
                <a:latin typeface="Calibri" pitchFamily="34" charset="0"/>
                <a:ea typeface="Calibri" pitchFamily="34" charset="-122"/>
                <a:cs typeface="Calibri" pitchFamily="34" charset="-120"/>
              </a:rPr>
              <a:t>https://github.com/ros-navigation/navigation</a:t>
            </a:r>
            <a:r>
              <a:rPr lang="en-US" sz="1400" dirty="0">
                <a:solidFill>
                  <a:srgbClr val="0D1B2A"/>
                </a:solidFill>
                <a:latin typeface="Calibri" pitchFamily="34" charset="0"/>
                <a:ea typeface="Calibri" pitchFamily="34" charset="-122"/>
                <a:cs typeface="Calibri" pitchFamily="34" charset="-120"/>
              </a:rPr>
              <a:t>2 &amp;&amp; colcon build</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Zależności</a:t>
            </a:r>
            <a:r>
              <a:rPr lang="en-US" sz="1400" dirty="0">
                <a:solidFill>
                  <a:srgbClr val="0D1B2A"/>
                </a:solidFill>
                <a:latin typeface="Calibri" pitchFamily="34" charset="0"/>
                <a:ea typeface="Calibri" pitchFamily="34" charset="-122"/>
                <a:cs typeface="Calibri" pitchFamily="34" charset="-120"/>
              </a:rPr>
              <a:t>: slam_toolbox, robot_localization, tf2_ros, sensor_msgs, geometry_msgs, nav_msgs</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Weryfikacja</a:t>
            </a:r>
            <a:r>
              <a:rPr lang="en-US" sz="1400" dirty="0">
                <a:solidFill>
                  <a:srgbClr val="0D1B2A"/>
                </a:solidFill>
                <a:latin typeface="Calibri" pitchFamily="34" charset="0"/>
                <a:ea typeface="Calibri" pitchFamily="34" charset="-122"/>
                <a:cs typeface="Calibri" pitchFamily="34" charset="-120"/>
              </a:rPr>
              <a:t>: ros2 pkg list | grep nav2 – powinno zwrócić &gt;15 pakietów nav2_*</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Przykłady</a:t>
            </a:r>
            <a:r>
              <a:rPr lang="en-US" sz="1400" dirty="0">
                <a:solidFill>
                  <a:srgbClr val="0D1B2A"/>
                </a:solidFill>
                <a:latin typeface="Calibri" pitchFamily="34" charset="0"/>
                <a:ea typeface="Calibri" pitchFamily="34" charset="-122"/>
                <a:cs typeface="Calibri" pitchFamily="34" charset="-120"/>
              </a:rPr>
              <a:t>: ros2 launch nav2_bringup tb3_simulation_launch.py – uruchomienie z TurtleBot3 w Gazebo</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Wymagania środowiskowe</a:t>
            </a:r>
            <a:r>
              <a:rPr lang="en-US" sz="1400" dirty="0">
                <a:solidFill>
                  <a:srgbClr val="0D1B2A"/>
                </a:solidFill>
                <a:latin typeface="Calibri" pitchFamily="34" charset="0"/>
                <a:ea typeface="Calibri" pitchFamily="34" charset="-122"/>
                <a:cs typeface="Calibri" pitchFamily="34" charset="-120"/>
              </a:rPr>
              <a:t>: poprawna ramka 'map', ramka 'base_link', ciągłe TF między nimi przez 'odom'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URDF robota</a:t>
            </a:r>
            <a:r>
              <a:rPr lang="en-US" sz="1400" dirty="0">
                <a:solidFill>
                  <a:srgbClr val="0D1B2A"/>
                </a:solidFill>
                <a:latin typeface="Calibri" pitchFamily="34" charset="0"/>
                <a:ea typeface="Calibri" pitchFamily="34" charset="-122"/>
                <a:cs typeface="Calibri" pitchFamily="34" charset="-120"/>
              </a:rPr>
              <a:t>: musi zawierać wszystkie joint i link z dokładnymi wymiarami (footprint) dla costmap inflation</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Testowe środowisko</a:t>
            </a:r>
            <a:r>
              <a:rPr lang="en-US" sz="1400" dirty="0">
                <a:solidFill>
                  <a:srgbClr val="0D1B2A"/>
                </a:solidFill>
                <a:latin typeface="Calibri" pitchFamily="34" charset="0"/>
                <a:ea typeface="Calibri" pitchFamily="34" charset="-122"/>
                <a:cs typeface="Calibri" pitchFamily="34" charset="-120"/>
              </a:rPr>
              <a:t>: Nav2 Community Maps lub Gazebo World do pierwszych eksperymentów przed prawdziwym robotem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Plik startowy Nav2 (Python launch file)</a:t>
            </a:r>
            <a:endParaRPr lang="en-US" sz="2200" dirty="0"/>
          </a:p>
        </p:txBody>
      </p:sp>
      <p:sp>
        <p:nvSpPr>
          <p:cNvPr id="6" name="Shape 4"/>
          <p:cNvSpPr/>
          <p:nvPr/>
        </p:nvSpPr>
        <p:spPr>
          <a:xfrm>
            <a:off x="256032" y="603504"/>
            <a:ext cx="8631936" cy="3950208"/>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895344"/>
          </a:xfrm>
          <a:prstGeom prst="rect">
            <a:avLst/>
          </a:prstGeom>
          <a:noFill/>
          <a:ln/>
        </p:spPr>
        <p:txBody>
          <a:bodyPr wrap="square" lIns="0" tIns="0" rIns="0" bIns="0" rtlCol="0" anchor="t"/>
          <a:lstStyle/>
          <a:p>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launch</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LaunchDescription</a:t>
            </a:r>
            <a:endParaRPr lang="pl-PL" sz="1000" dirty="0">
              <a:solidFill>
                <a:srgbClr val="CCCCCC"/>
              </a:solidFill>
              <a:latin typeface="Consolas" panose="020B0609020204030204" pitchFamily="49" charset="0"/>
            </a:endParaRPr>
          </a:p>
          <a:p>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launch.actions</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IncludeLaunchDescription</a:t>
            </a:r>
            <a:endParaRPr lang="pl-PL" sz="1000" dirty="0">
              <a:solidFill>
                <a:srgbClr val="CCCCCC"/>
              </a:solidFill>
              <a:latin typeface="Consolas" panose="020B0609020204030204" pitchFamily="49" charset="0"/>
            </a:endParaRPr>
          </a:p>
          <a:p>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launch_ros.actions</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Node</a:t>
            </a:r>
            <a:endParaRPr lang="pl-PL" sz="1000" dirty="0">
              <a:solidFill>
                <a:srgbClr val="CCCCCC"/>
              </a:solidFill>
              <a:latin typeface="Consolas" panose="020B0609020204030204" pitchFamily="49" charset="0"/>
            </a:endParaRPr>
          </a:p>
          <a:p>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ament_index_python.packages</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get_package_share_directory</a:t>
            </a:r>
            <a:endParaRPr lang="pl-PL" sz="1000" dirty="0">
              <a:solidFill>
                <a:srgbClr val="CCCCCC"/>
              </a:solidFill>
              <a:latin typeface="Consolas" panose="020B0609020204030204" pitchFamily="49" charset="0"/>
            </a:endParaRPr>
          </a:p>
          <a:p>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a:solidFill>
                  <a:srgbClr val="4EC9B0"/>
                </a:solidFill>
                <a:latin typeface="Consolas" panose="020B0609020204030204" pitchFamily="49" charset="0"/>
              </a:rPr>
              <a:t>os</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generate_launch_description</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nav2_dir</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get_package_share_directory</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'nav2_bringup'</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params_file</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os</a:t>
            </a:r>
            <a:r>
              <a:rPr lang="pl-PL" sz="1000" dirty="0" err="1">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path</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join</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get_package_share_directory</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my_robot_nav</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config</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'nav2_params.yaml'</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map_file</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os</a:t>
            </a:r>
            <a:r>
              <a:rPr lang="pl-PL" sz="1000" dirty="0" err="1">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path</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join</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get_package_share_directory</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my_robot_nav</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maps</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office_map.yaml</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nav2_launch</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IncludeLaunchDescription</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os</a:t>
            </a:r>
            <a:r>
              <a:rPr lang="pl-PL" sz="1000" dirty="0" err="1">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path</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join</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nav2_dir</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launch</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'bringup_launch.py'</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launch_arguments</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'map'</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map_file</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params_file</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params_file</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use_sim_time</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false</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'autostart'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true</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items</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p>
          <a:p>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return</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LaunchDescription</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nav2_launch</a:t>
            </a:r>
            <a:r>
              <a:rPr lang="pl-PL" sz="1000" dirty="0">
                <a:solidFill>
                  <a:srgbClr val="CCCCCC"/>
                </a:solidFill>
                <a:latin typeface="Consolas" panose="020B0609020204030204" pitchFamily="49" charset="0"/>
              </a:rPr>
              <a:t>])</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dirty="0" err="1" smtClean="0">
                <a:solidFill>
                  <a:srgbClr val="94A3B8"/>
                </a:solidFill>
                <a:latin typeface="Calibri" pitchFamily="34" charset="0"/>
                <a:ea typeface="Calibri" pitchFamily="34" charset="-122"/>
                <a:cs typeface="Calibri" pitchFamily="34" charset="-120"/>
              </a:rPr>
              <a:t>params_file</a:t>
            </a:r>
            <a:r>
              <a:rPr lang="en-US" sz="1400" dirty="0" smtClean="0">
                <a:solidFill>
                  <a:srgbClr val="94A3B8"/>
                </a:solidFill>
                <a:latin typeface="Calibri" pitchFamily="34" charset="0"/>
                <a:ea typeface="Calibri" pitchFamily="34" charset="-122"/>
                <a:cs typeface="Calibri" pitchFamily="34" charset="-120"/>
              </a:rPr>
              <a:t> </a:t>
            </a:r>
            <a:r>
              <a:rPr lang="en-US" sz="1400" dirty="0">
                <a:solidFill>
                  <a:srgbClr val="94A3B8"/>
                </a:solidFill>
                <a:latin typeface="Calibri" pitchFamily="34" charset="0"/>
                <a:ea typeface="Calibri" pitchFamily="34" charset="-122"/>
                <a:cs typeface="Calibri" pitchFamily="34" charset="-120"/>
              </a:rPr>
              <a:t>i map_file przekazane do nav2_bringup; autostart:true automatycznie aktywuje lifecycle nodes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Plik parametrów Nav2 </a:t>
            </a:r>
            <a:r>
              <a:rPr lang="en-US" sz="2200" dirty="0">
                <a:solidFill>
                  <a:srgbClr val="FFFFFF"/>
                </a:solidFill>
                <a:latin typeface="Trebuchet MS" pitchFamily="34" charset="0"/>
                <a:ea typeface="Trebuchet MS" pitchFamily="34" charset="-122"/>
                <a:cs typeface="Trebuchet MS" pitchFamily="34" charset="-120"/>
              </a:rPr>
              <a:t>(nav2_params.yaml – fragment)</a:t>
            </a:r>
            <a:endParaRPr lang="en-US" sz="2200" dirty="0"/>
          </a:p>
        </p:txBody>
      </p:sp>
      <p:sp>
        <p:nvSpPr>
          <p:cNvPr id="6" name="Shape 4"/>
          <p:cNvSpPr/>
          <p:nvPr/>
        </p:nvSpPr>
        <p:spPr>
          <a:xfrm>
            <a:off x="256032" y="603504"/>
            <a:ext cx="8631936" cy="3766790"/>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711926"/>
          </a:xfrm>
          <a:prstGeom prst="rect">
            <a:avLst/>
          </a:prstGeom>
          <a:noFill/>
          <a:ln/>
        </p:spPr>
        <p:txBody>
          <a:bodyPr wrap="square" lIns="0" tIns="0" rIns="0" bIns="0" rtlCol="0" anchor="t"/>
          <a:lstStyle/>
          <a:p>
            <a:r>
              <a:rPr lang="pl-PL" sz="1000" dirty="0" err="1">
                <a:solidFill>
                  <a:srgbClr val="9CDCFE"/>
                </a:solidFill>
                <a:latin typeface="Consolas" panose="020B0609020204030204" pitchFamily="49" charset="0"/>
              </a:rPr>
              <a:t>bt_navigator</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ros__</a:t>
            </a:r>
            <a:r>
              <a:rPr lang="pl-PL" sz="1000" dirty="0" err="1">
                <a:solidFill>
                  <a:srgbClr val="9CDCFE"/>
                </a:solidFill>
                <a:latin typeface="Consolas" panose="020B0609020204030204" pitchFamily="49" charset="0"/>
              </a:rPr>
              <a:t>parameters</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use_sim_time</a:t>
            </a:r>
            <a:r>
              <a:rPr lang="pl-PL" sz="1000" dirty="0">
                <a:solidFill>
                  <a:srgbClr val="CCCCCC"/>
                </a:solidFill>
                <a:latin typeface="Consolas" panose="020B0609020204030204" pitchFamily="49" charset="0"/>
              </a:rPr>
              <a:t>: </a:t>
            </a:r>
            <a:r>
              <a:rPr lang="pl-PL" sz="1000" dirty="0" err="1">
                <a:solidFill>
                  <a:srgbClr val="4FC1FF"/>
                </a:solidFill>
                <a:latin typeface="Consolas" panose="020B0609020204030204" pitchFamily="49" charset="0"/>
              </a:rPr>
              <a:t>False</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global_frame</a:t>
            </a:r>
            <a:r>
              <a:rPr lang="pl-PL" sz="1000" dirty="0">
                <a:solidFill>
                  <a:srgbClr val="CCCCCC"/>
                </a:solidFill>
                <a:latin typeface="Consolas" panose="020B0609020204030204" pitchFamily="49" charset="0"/>
              </a:rPr>
              <a:t>: </a:t>
            </a:r>
            <a:r>
              <a:rPr lang="pl-PL" sz="1000" dirty="0">
                <a:solidFill>
                  <a:srgbClr val="4EC9B0"/>
                </a:solidFill>
                <a:latin typeface="Consolas" panose="020B0609020204030204" pitchFamily="49" charset="0"/>
              </a:rPr>
              <a:t>map</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robot_base_frame</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base_link</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odom_topic</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odom</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default_bt_xml_filename</a:t>
            </a:r>
            <a:r>
              <a:rPr lang="pl-PL" sz="1000" dirty="0">
                <a:solidFill>
                  <a:srgbClr val="CCCCCC"/>
                </a:solidFill>
                <a:latin typeface="Consolas" panose="020B0609020204030204" pitchFamily="49" charset="0"/>
              </a:rPr>
              <a:t>: navigate_w_replanning_and_recovery.xml</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plugin_lib_names</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nav2_compute_path_to_pose_action_bt_node</a:t>
            </a:r>
          </a:p>
          <a:p>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nav2_follow_path_action_bt_node</a:t>
            </a:r>
          </a:p>
          <a:p>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nav2_back_up_action_bt_node</a:t>
            </a:r>
          </a:p>
          <a:p>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nav2_spin_action_bt_node</a:t>
            </a:r>
          </a:p>
          <a:p>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err="1">
                <a:solidFill>
                  <a:srgbClr val="CCCCCC"/>
                </a:solidFill>
                <a:latin typeface="Consolas" panose="020B0609020204030204" pitchFamily="49" charset="0"/>
              </a:rPr>
              <a:t>controller_server</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ros__</a:t>
            </a:r>
            <a:r>
              <a:rPr lang="pl-PL" sz="1000" dirty="0" err="1">
                <a:solidFill>
                  <a:srgbClr val="9CDCFE"/>
                </a:solidFill>
                <a:latin typeface="Consolas" panose="020B0609020204030204" pitchFamily="49" charset="0"/>
              </a:rPr>
              <a:t>parameters</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controller_frequency</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20.0</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progress_checker_plugin</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progress_checker</a:t>
            </a:r>
            <a:r>
              <a:rPr lang="pl-PL" sz="1000" dirty="0">
                <a:solidFill>
                  <a:srgbClr val="CE9178"/>
                </a:solidFill>
                <a:latin typeface="Consolas" panose="020B0609020204030204" pitchFamily="49" charset="0"/>
              </a:rPr>
              <a:t>"</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goal_checker_plugin</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goal_checker</a:t>
            </a:r>
            <a:r>
              <a:rPr lang="pl-PL" sz="1000" dirty="0">
                <a:solidFill>
                  <a:srgbClr val="CE9178"/>
                </a:solidFill>
                <a:latin typeface="Consolas" panose="020B0609020204030204" pitchFamily="49" charset="0"/>
              </a:rPr>
              <a:t>"</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controller_plugins</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9CDCFE"/>
                </a:solidFill>
                <a:latin typeface="Consolas" panose="020B0609020204030204" pitchFamily="49" charset="0"/>
              </a:rPr>
              <a:t>FollowPath</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FollowPath</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plugin</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"nav2_mppi_controller::</a:t>
            </a:r>
            <a:r>
              <a:rPr lang="pl-PL" sz="1000" dirty="0" err="1">
                <a:solidFill>
                  <a:srgbClr val="CE9178"/>
                </a:solidFill>
                <a:latin typeface="Consolas" panose="020B0609020204030204" pitchFamily="49" charset="0"/>
              </a:rPr>
              <a:t>MPPIController</a:t>
            </a:r>
            <a:r>
              <a:rPr lang="pl-PL" sz="1000" dirty="0">
                <a:solidFill>
                  <a:srgbClr val="CE9178"/>
                </a:solidFill>
                <a:latin typeface="Consolas" panose="020B0609020204030204" pitchFamily="49" charset="0"/>
              </a:rPr>
              <a:t>"</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time_steps</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56</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model_dt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0.05</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batch_size</a:t>
            </a:r>
            <a:r>
              <a:rPr lang="pl-PL" sz="1000" dirty="0">
                <a:solidFill>
                  <a:srgbClr val="CCCCCC"/>
                </a:solidFill>
                <a:latin typeface="Consolas" panose="020B0609020204030204" pitchFamily="49" charset="0"/>
              </a:rPr>
              <a:t>: </a:t>
            </a:r>
            <a:r>
              <a:rPr lang="pl-PL" sz="1000" dirty="0" smtClean="0">
                <a:solidFill>
                  <a:srgbClr val="B5CEA8"/>
                </a:solidFill>
                <a:latin typeface="Consolas" panose="020B0609020204030204" pitchFamily="49" charset="0"/>
              </a:rPr>
              <a:t>2000</a:t>
            </a:r>
            <a:endParaRPr lang="pl-PL" sz="1000" dirty="0">
              <a:solidFill>
                <a:srgbClr val="CCCCCC"/>
              </a:solidFill>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dirty="0" err="1" smtClean="0">
                <a:solidFill>
                  <a:srgbClr val="94A3B8"/>
                </a:solidFill>
                <a:latin typeface="Calibri" pitchFamily="34" charset="0"/>
                <a:ea typeface="Calibri" pitchFamily="34" charset="-122"/>
                <a:cs typeface="Calibri" pitchFamily="34" charset="-120"/>
              </a:rPr>
              <a:t>Każdy</a:t>
            </a:r>
            <a:r>
              <a:rPr lang="en-US" sz="1400" dirty="0" smtClean="0">
                <a:solidFill>
                  <a:srgbClr val="94A3B8"/>
                </a:solidFill>
                <a:latin typeface="Calibri" pitchFamily="34" charset="0"/>
                <a:ea typeface="Calibri" pitchFamily="34" charset="-122"/>
                <a:cs typeface="Calibri" pitchFamily="34" charset="-120"/>
              </a:rPr>
              <a:t> </a:t>
            </a:r>
            <a:r>
              <a:rPr lang="en-US" sz="1400" dirty="0">
                <a:solidFill>
                  <a:srgbClr val="94A3B8"/>
                </a:solidFill>
                <a:latin typeface="Calibri" pitchFamily="34" charset="0"/>
                <a:ea typeface="Calibri" pitchFamily="34" charset="-122"/>
                <a:cs typeface="Calibri" pitchFamily="34" charset="-120"/>
              </a:rPr>
              <a:t>komponent konfigurowany w oddzielnej sekcji YAML; plugin: wybiera wtyczkę (NavFn / DWB / MPPI)</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2 | TF I MAPA</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Wymagania TF2 i mapa środowiska</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3721608"/>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457200" y="1207008"/>
            <a:ext cx="8229600" cy="2437145"/>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Drzewo TF obowiązkowe</a:t>
            </a:r>
            <a:r>
              <a:rPr lang="en-US" sz="1400" dirty="0">
                <a:solidFill>
                  <a:srgbClr val="0D1B2A"/>
                </a:solidFill>
                <a:latin typeface="Calibri" pitchFamily="34" charset="0"/>
                <a:ea typeface="Calibri" pitchFamily="34" charset="-122"/>
                <a:cs typeface="Calibri" pitchFamily="34" charset="-120"/>
              </a:rPr>
              <a:t>: map → odom → base_link → [sensory: laser_frame, camera_frame]</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map → odom</a:t>
            </a:r>
            <a:r>
              <a:rPr lang="en-US" sz="1400" dirty="0">
                <a:solidFill>
                  <a:srgbClr val="0D1B2A"/>
                </a:solidFill>
                <a:latin typeface="Calibri" pitchFamily="34" charset="0"/>
                <a:ea typeface="Calibri" pitchFamily="34" charset="-122"/>
                <a:cs typeface="Calibri" pitchFamily="34" charset="-120"/>
              </a:rPr>
              <a:t>: publikowany przez AMCL lub slam_toolbox (korekta SLAM, może być skokowa)</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odom → base_link</a:t>
            </a:r>
            <a:r>
              <a:rPr lang="en-US" sz="1400" dirty="0">
                <a:solidFill>
                  <a:srgbClr val="0D1B2A"/>
                </a:solidFill>
                <a:latin typeface="Calibri" pitchFamily="34" charset="0"/>
                <a:ea typeface="Calibri" pitchFamily="34" charset="-122"/>
                <a:cs typeface="Calibri" pitchFamily="34" charset="-120"/>
              </a:rPr>
              <a:t>: publikowany przez robot_localization (EKF) lub driver odometrii; musi być ciągły</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base_link → laser_frame</a:t>
            </a:r>
            <a:r>
              <a:rPr lang="en-US" sz="1400" dirty="0">
                <a:solidFill>
                  <a:srgbClr val="0D1B2A"/>
                </a:solidFill>
                <a:latin typeface="Calibri" pitchFamily="34" charset="0"/>
                <a:ea typeface="Calibri" pitchFamily="34" charset="-122"/>
                <a:cs typeface="Calibri" pitchFamily="34" charset="-120"/>
              </a:rPr>
              <a:t>: statyczna transformacja z URDF robota; kalibracja extrinsic sensora</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Mapa 2D</a:t>
            </a:r>
            <a:r>
              <a:rPr lang="en-US" sz="1400" dirty="0">
                <a:solidFill>
                  <a:srgbClr val="0D1B2A"/>
                </a:solidFill>
                <a:latin typeface="Calibri" pitchFamily="34" charset="0"/>
                <a:ea typeface="Calibri" pitchFamily="34" charset="-122"/>
                <a:cs typeface="Calibri" pitchFamily="34" charset="-120"/>
              </a:rPr>
              <a:t>: plik .pgm (obraz) + .yaml (rozdzielczość, origin, occupied_thresh, free_thresh)</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Tworzenie mapy</a:t>
            </a:r>
            <a:r>
              <a:rPr lang="en-US" sz="1400" dirty="0">
                <a:solidFill>
                  <a:srgbClr val="0D1B2A"/>
                </a:solidFill>
                <a:latin typeface="Calibri" pitchFamily="34" charset="0"/>
                <a:ea typeface="Calibri" pitchFamily="34" charset="-122"/>
                <a:cs typeface="Calibri" pitchFamily="34" charset="-120"/>
              </a:rPr>
              <a:t>: slam_toolbox (async_slam_toolbox_node) lub nav2_map_server podczas eksploracji</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Serwowanie mapy</a:t>
            </a:r>
            <a:r>
              <a:rPr lang="en-US" sz="1400" dirty="0">
                <a:solidFill>
                  <a:srgbClr val="0D1B2A"/>
                </a:solidFill>
                <a:latin typeface="Calibri" pitchFamily="34" charset="0"/>
                <a:ea typeface="Calibri" pitchFamily="34" charset="-122"/>
                <a:cs typeface="Calibri" pitchFamily="34" charset="-120"/>
              </a:rPr>
              <a:t>: ros2 launch nav2_map_server map_server.launch.py map:=office_map.yaml</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Weryfikacja TF</a:t>
            </a:r>
            <a:r>
              <a:rPr lang="en-US" sz="1400" dirty="0">
                <a:solidFill>
                  <a:srgbClr val="0D1B2A"/>
                </a:solidFill>
                <a:latin typeface="Calibri" pitchFamily="34" charset="0"/>
                <a:ea typeface="Calibri" pitchFamily="34" charset="-122"/>
                <a:cs typeface="Calibri" pitchFamily="34" charset="-120"/>
              </a:rPr>
              <a:t>: ros2 run tf2_tools view_frames → wyświetla drzewo TF jako plik PDF</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4F46E5"/>
          </a:solidFill>
          <a:ln w="12700">
            <a:solidFill>
              <a:srgbClr val="4F46E5"/>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0800" b="1" dirty="0">
                <a:solidFill>
                  <a:srgbClr val="4F46E5"/>
                </a:solidFill>
                <a:latin typeface="Trebuchet MS" pitchFamily="34" charset="0"/>
                <a:ea typeface="Trebuchet MS" pitchFamily="34" charset="-122"/>
                <a:cs typeface="Trebuchet MS" pitchFamily="34" charset="-120"/>
              </a:rPr>
              <a:t>03</a:t>
            </a:r>
            <a:endParaRPr lang="en-US" sz="10800" dirty="0"/>
          </a:p>
        </p:txBody>
      </p:sp>
      <p:sp>
        <p:nvSpPr>
          <p:cNvPr id="5" name="Text 3"/>
          <p:cNvSpPr/>
          <p:nvPr/>
        </p:nvSpPr>
        <p:spPr>
          <a:xfrm>
            <a:off x="2926080" y="1188720"/>
            <a:ext cx="4572000" cy="347472"/>
          </a:xfrm>
          <a:prstGeom prst="rect">
            <a:avLst/>
          </a:prstGeom>
          <a:noFill/>
          <a:ln/>
        </p:spPr>
        <p:txBody>
          <a:bodyPr wrap="square" lIns="0" tIns="0" rIns="0" bIns="0" rtlCol="0" anchor="ctr"/>
          <a:lstStyle/>
          <a:p>
            <a:pPr marL="0" indent="0">
              <a:buNone/>
            </a:pPr>
            <a:r>
              <a:rPr lang="en-US" sz="1100" b="1" dirty="0">
                <a:solidFill>
                  <a:srgbClr val="4F46E5"/>
                </a:solidFill>
                <a:latin typeface="Trebuchet MS" pitchFamily="34" charset="0"/>
                <a:ea typeface="Trebuchet MS" pitchFamily="34" charset="-122"/>
                <a:cs typeface="Trebuchet MS" pitchFamily="34" charset="-120"/>
              </a:rPr>
              <a:t>SEKCJA</a:t>
            </a:r>
            <a:endParaRPr lang="en-US" sz="1100" dirty="0"/>
          </a:p>
        </p:txBody>
      </p:sp>
      <p:sp>
        <p:nvSpPr>
          <p:cNvPr id="6" name="Text 4"/>
          <p:cNvSpPr/>
          <p:nvPr/>
        </p:nvSpPr>
        <p:spPr>
          <a:xfrm>
            <a:off x="2926080" y="1572768"/>
            <a:ext cx="5212080" cy="10515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Costmapy i planowanie</a:t>
            </a:r>
            <a:endParaRPr lang="en-US" sz="3200" dirty="0"/>
          </a:p>
        </p:txBody>
      </p:sp>
      <p:sp>
        <p:nvSpPr>
          <p:cNvPr id="7" name="Shape 5"/>
          <p:cNvSpPr/>
          <p:nvPr/>
        </p:nvSpPr>
        <p:spPr>
          <a:xfrm>
            <a:off x="2926080" y="2715768"/>
            <a:ext cx="3931920" cy="27432"/>
          </a:xfrm>
          <a:prstGeom prst="rect">
            <a:avLst/>
          </a:prstGeom>
          <a:solidFill>
            <a:srgbClr val="4F46E5"/>
          </a:solidFill>
          <a:ln w="12700">
            <a:solidFill>
              <a:srgbClr val="4F46E5"/>
            </a:solidFill>
            <a:prstDash val="solid"/>
          </a:ln>
        </p:spPr>
      </p:sp>
      <p:sp>
        <p:nvSpPr>
          <p:cNvPr id="8" name="Text 6"/>
          <p:cNvSpPr/>
          <p:nvPr/>
        </p:nvSpPr>
        <p:spPr>
          <a:xfrm>
            <a:off x="2926080" y="2834640"/>
            <a:ext cx="5303520" cy="822960"/>
          </a:xfrm>
          <a:prstGeom prst="rect">
            <a:avLst/>
          </a:prstGeom>
          <a:noFill/>
          <a:ln/>
        </p:spPr>
        <p:txBody>
          <a:bodyPr wrap="square" lIns="0" tIns="0" rIns="0" bIns="0" rtlCol="0" anchor="ctr"/>
          <a:lstStyle/>
          <a:p>
            <a:pPr marL="0" indent="0">
              <a:buNone/>
            </a:pPr>
            <a:r>
              <a:rPr lang="en-US" sz="1350" i="1" dirty="0">
                <a:solidFill>
                  <a:srgbClr val="E2EBF3"/>
                </a:solidFill>
                <a:latin typeface="Calibri" pitchFamily="34" charset="0"/>
                <a:ea typeface="Calibri" pitchFamily="34" charset="-122"/>
                <a:cs typeface="Calibri" pitchFamily="34" charset="-120"/>
              </a:rPr>
              <a:t>Warstwy kosztów, planista globalny i lokalny, strojenie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3 | COSTMAP</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err="1">
                <a:solidFill>
                  <a:srgbClr val="FFFFFF"/>
                </a:solidFill>
                <a:latin typeface="Trebuchet MS" pitchFamily="34" charset="0"/>
                <a:ea typeface="Trebuchet MS" pitchFamily="34" charset="-122"/>
                <a:cs typeface="Trebuchet MS" pitchFamily="34" charset="-120"/>
              </a:rPr>
              <a:t>Costmap</a:t>
            </a:r>
            <a:r>
              <a:rPr lang="en-US" sz="2200" b="1" dirty="0">
                <a:solidFill>
                  <a:srgbClr val="FFFFFF"/>
                </a:solidFill>
                <a:latin typeface="Trebuchet MS" pitchFamily="34" charset="0"/>
                <a:ea typeface="Trebuchet MS" pitchFamily="34" charset="-122"/>
                <a:cs typeface="Trebuchet MS" pitchFamily="34" charset="-120"/>
              </a:rPr>
              <a:t> </a:t>
            </a:r>
            <a:r>
              <a:rPr lang="en-US" sz="2200" b="1" dirty="0" smtClean="0">
                <a:solidFill>
                  <a:srgbClr val="FFFFFF"/>
                </a:solidFill>
                <a:latin typeface="Trebuchet MS" pitchFamily="34" charset="0"/>
                <a:ea typeface="Trebuchet MS" pitchFamily="34" charset="-122"/>
                <a:cs typeface="Trebuchet MS" pitchFamily="34" charset="-120"/>
              </a:rPr>
              <a:t>2D</a:t>
            </a:r>
            <a:r>
              <a:rPr lang="pl-PL" sz="2200" b="1" dirty="0" smtClean="0">
                <a:solidFill>
                  <a:srgbClr val="FFFFFF"/>
                </a:solidFill>
                <a:latin typeface="Trebuchet MS" pitchFamily="34" charset="0"/>
                <a:ea typeface="Trebuchet MS" pitchFamily="34" charset="-122"/>
                <a:cs typeface="Trebuchet MS" pitchFamily="34" charset="-120"/>
              </a:rPr>
              <a:t>:</a:t>
            </a:r>
            <a:r>
              <a:rPr lang="en-US" sz="2200" b="1" dirty="0" smtClean="0">
                <a:solidFill>
                  <a:srgbClr val="FFFFFF"/>
                </a:solidFill>
                <a:latin typeface="Trebuchet MS" pitchFamily="34" charset="0"/>
                <a:ea typeface="Trebuchet MS" pitchFamily="34" charset="-122"/>
                <a:cs typeface="Trebuchet MS" pitchFamily="34" charset="-120"/>
              </a:rPr>
              <a:t> </a:t>
            </a:r>
            <a:r>
              <a:rPr lang="en-US" sz="2200" b="1" dirty="0">
                <a:solidFill>
                  <a:srgbClr val="FFFFFF"/>
                </a:solidFill>
                <a:latin typeface="Trebuchet MS" pitchFamily="34" charset="0"/>
                <a:ea typeface="Trebuchet MS" pitchFamily="34" charset="-122"/>
                <a:cs typeface="Trebuchet MS" pitchFamily="34" charset="-120"/>
              </a:rPr>
              <a:t>global i local</a:t>
            </a:r>
            <a:endParaRPr lang="en-US" sz="2200" dirty="0"/>
          </a:p>
        </p:txBody>
      </p:sp>
      <p:sp>
        <p:nvSpPr>
          <p:cNvPr id="5" name="Shape 3"/>
          <p:cNvSpPr/>
          <p:nvPr/>
        </p:nvSpPr>
        <p:spPr>
          <a:xfrm>
            <a:off x="320040" y="969264"/>
            <a:ext cx="8503920" cy="22860"/>
          </a:xfrm>
          <a:prstGeom prst="rect">
            <a:avLst/>
          </a:prstGeom>
          <a:solidFill>
            <a:srgbClr val="3730A3"/>
          </a:solidFill>
          <a:ln w="12700">
            <a:solidFill>
              <a:srgbClr val="3730A3"/>
            </a:solidFill>
            <a:prstDash val="solid"/>
          </a:ln>
        </p:spPr>
      </p:sp>
      <p:sp>
        <p:nvSpPr>
          <p:cNvPr id="6" name="Shape 4"/>
          <p:cNvSpPr/>
          <p:nvPr/>
        </p:nvSpPr>
        <p:spPr>
          <a:xfrm>
            <a:off x="320040" y="1060704"/>
            <a:ext cx="4114800" cy="382219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320040" y="1060704"/>
            <a:ext cx="4114800" cy="329184"/>
          </a:xfrm>
          <a:prstGeom prst="rect">
            <a:avLst/>
          </a:prstGeom>
          <a:solidFill>
            <a:srgbClr val="3730A3"/>
          </a:solidFill>
          <a:ln w="12700">
            <a:solidFill>
              <a:srgbClr val="3730A3"/>
            </a:solidFill>
            <a:prstDash val="solid"/>
          </a:ln>
        </p:spPr>
      </p:sp>
      <p:sp>
        <p:nvSpPr>
          <p:cNvPr id="8" name="Text 6"/>
          <p:cNvSpPr/>
          <p:nvPr/>
        </p:nvSpPr>
        <p:spPr>
          <a:xfrm>
            <a:off x="320040" y="1060704"/>
            <a:ext cx="4114800"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Global Costmap</a:t>
            </a:r>
            <a:endParaRPr lang="en-US" sz="1600" dirty="0"/>
          </a:p>
        </p:txBody>
      </p:sp>
      <p:sp>
        <p:nvSpPr>
          <p:cNvPr id="9" name="Text 7"/>
          <p:cNvSpPr/>
          <p:nvPr/>
        </p:nvSpPr>
        <p:spPr>
          <a:xfrm>
            <a:off x="457200" y="1444752"/>
            <a:ext cx="3840480" cy="3291840"/>
          </a:xfrm>
          <a:prstGeom prst="rect">
            <a:avLst/>
          </a:prstGeom>
          <a:noFill/>
          <a:ln/>
        </p:spPr>
        <p:txBody>
          <a:bodyPr wrap="square" lIns="0" tIns="0" rIns="0" bIns="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Zasięg</a:t>
            </a:r>
            <a:r>
              <a:rPr lang="en-US" sz="1400" dirty="0">
                <a:solidFill>
                  <a:srgbClr val="0D1B2A"/>
                </a:solidFill>
                <a:latin typeface="Calibri" pitchFamily="34" charset="0"/>
                <a:ea typeface="Calibri" pitchFamily="34" charset="-122"/>
                <a:cs typeface="Calibri" pitchFamily="34" charset="-120"/>
              </a:rPr>
              <a:t>: cały budynek lub piętro; rozdzielczość 5 cm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Warstwy statyczne</a:t>
            </a:r>
            <a:r>
              <a:rPr lang="en-US" sz="1400" dirty="0">
                <a:solidFill>
                  <a:srgbClr val="0D1B2A"/>
                </a:solidFill>
                <a:latin typeface="Calibri" pitchFamily="34" charset="0"/>
                <a:ea typeface="Calibri" pitchFamily="34" charset="-122"/>
                <a:cs typeface="Calibri" pitchFamily="34" charset="-120"/>
              </a:rPr>
              <a:t>: static_layer (mapa .pgm) + inflation_layer</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Aktualizacja</a:t>
            </a:r>
            <a:r>
              <a:rPr lang="en-US" sz="1400" dirty="0">
                <a:solidFill>
                  <a:srgbClr val="0D1B2A"/>
                </a:solidFill>
                <a:latin typeface="Calibri" pitchFamily="34" charset="0"/>
                <a:ea typeface="Calibri" pitchFamily="34" charset="-122"/>
                <a:cs typeface="Calibri" pitchFamily="34" charset="-120"/>
              </a:rPr>
              <a:t>: rzadka (przy zmianie mapy lub przeszkodzie stałej)</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Użycie</a:t>
            </a:r>
            <a:r>
              <a:rPr lang="en-US" sz="1400" dirty="0">
                <a:solidFill>
                  <a:srgbClr val="0D1B2A"/>
                </a:solidFill>
                <a:latin typeface="Calibri" pitchFamily="34" charset="0"/>
                <a:ea typeface="Calibri" pitchFamily="34" charset="-122"/>
                <a:cs typeface="Calibri" pitchFamily="34" charset="-120"/>
              </a:rPr>
              <a:t>: Planner Server wyznacza trasę na global costmap</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Pamięć</a:t>
            </a:r>
            <a:r>
              <a:rPr lang="en-US" sz="1400" dirty="0">
                <a:solidFill>
                  <a:srgbClr val="0D1B2A"/>
                </a:solidFill>
                <a:latin typeface="Calibri" pitchFamily="34" charset="0"/>
                <a:ea typeface="Calibri" pitchFamily="34" charset="-122"/>
                <a:cs typeface="Calibri" pitchFamily="34" charset="-120"/>
              </a:rPr>
              <a:t>: ~50 MB dla biura 50×50 m przy rozdzielczości 5 cm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Parametry</a:t>
            </a:r>
            <a:r>
              <a:rPr lang="en-US" sz="1400" dirty="0">
                <a:solidFill>
                  <a:srgbClr val="0D1B2A"/>
                </a:solidFill>
                <a:latin typeface="Calibri" pitchFamily="34" charset="0"/>
                <a:ea typeface="Calibri" pitchFamily="34" charset="-122"/>
                <a:cs typeface="Calibri" pitchFamily="34" charset="-120"/>
              </a:rPr>
              <a:t>: width, height, resolution, robot_radius, inflation_radius</a:t>
            </a:r>
            <a:endParaRPr lang="en-US" sz="1400" dirty="0"/>
          </a:p>
        </p:txBody>
      </p:sp>
      <p:sp>
        <p:nvSpPr>
          <p:cNvPr id="10" name="Shape 8"/>
          <p:cNvSpPr/>
          <p:nvPr/>
        </p:nvSpPr>
        <p:spPr>
          <a:xfrm>
            <a:off x="4690872" y="1060704"/>
            <a:ext cx="4114800" cy="382219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1" name="Shape 9"/>
          <p:cNvSpPr/>
          <p:nvPr/>
        </p:nvSpPr>
        <p:spPr>
          <a:xfrm>
            <a:off x="4690872" y="1060704"/>
            <a:ext cx="4114800" cy="329184"/>
          </a:xfrm>
          <a:prstGeom prst="rect">
            <a:avLst/>
          </a:prstGeom>
          <a:solidFill>
            <a:srgbClr val="3730A3"/>
          </a:solidFill>
          <a:ln w="12700">
            <a:solidFill>
              <a:srgbClr val="3730A3"/>
            </a:solidFill>
            <a:prstDash val="solid"/>
          </a:ln>
        </p:spPr>
      </p:sp>
      <p:sp>
        <p:nvSpPr>
          <p:cNvPr id="12" name="Text 10"/>
          <p:cNvSpPr/>
          <p:nvPr/>
        </p:nvSpPr>
        <p:spPr>
          <a:xfrm>
            <a:off x="4690872" y="1060704"/>
            <a:ext cx="4114800"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Local Costmap</a:t>
            </a:r>
            <a:endParaRPr lang="en-US" sz="1600" dirty="0"/>
          </a:p>
        </p:txBody>
      </p:sp>
      <p:sp>
        <p:nvSpPr>
          <p:cNvPr id="13" name="Text 11"/>
          <p:cNvSpPr/>
          <p:nvPr/>
        </p:nvSpPr>
        <p:spPr>
          <a:xfrm>
            <a:off x="4828032" y="1444752"/>
            <a:ext cx="3840480" cy="3291840"/>
          </a:xfrm>
          <a:prstGeom prst="rect">
            <a:avLst/>
          </a:prstGeom>
          <a:noFill/>
          <a:ln/>
        </p:spPr>
        <p:txBody>
          <a:bodyPr wrap="square" lIns="0" tIns="0" rIns="0" bIns="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Zasięg</a:t>
            </a:r>
            <a:r>
              <a:rPr lang="en-US" sz="1400" dirty="0">
                <a:solidFill>
                  <a:srgbClr val="0D1B2A"/>
                </a:solidFill>
                <a:latin typeface="Calibri" pitchFamily="34" charset="0"/>
                <a:ea typeface="Calibri" pitchFamily="34" charset="-122"/>
                <a:cs typeface="Calibri" pitchFamily="34" charset="-120"/>
              </a:rPr>
              <a:t>: 3–5 m wokół robota; rolujące okno (rolling window: true)</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Warstwy</a:t>
            </a:r>
            <a:r>
              <a:rPr lang="en-US" sz="1400" dirty="0">
                <a:solidFill>
                  <a:srgbClr val="0D1B2A"/>
                </a:solidFill>
                <a:latin typeface="Calibri" pitchFamily="34" charset="0"/>
                <a:ea typeface="Calibri" pitchFamily="34" charset="-122"/>
                <a:cs typeface="Calibri" pitchFamily="34" charset="-120"/>
              </a:rPr>
              <a:t>: obstacle_layer (LiDAR+RGB-D) + inflation_layer</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Aktualizacja</a:t>
            </a:r>
            <a:r>
              <a:rPr lang="en-US" sz="1400" dirty="0">
                <a:solidFill>
                  <a:srgbClr val="0D1B2A"/>
                </a:solidFill>
                <a:latin typeface="Calibri" pitchFamily="34" charset="0"/>
                <a:ea typeface="Calibri" pitchFamily="34" charset="-122"/>
                <a:cs typeface="Calibri" pitchFamily="34" charset="-120"/>
              </a:rPr>
              <a:t>: co 100–200 ms; uwzględnia obiekty dynamiczne</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Użycie</a:t>
            </a:r>
            <a:r>
              <a:rPr lang="en-US" sz="1400" dirty="0">
                <a:solidFill>
                  <a:srgbClr val="0D1B2A"/>
                </a:solidFill>
                <a:latin typeface="Calibri" pitchFamily="34" charset="0"/>
                <a:ea typeface="Calibri" pitchFamily="34" charset="-122"/>
                <a:cs typeface="Calibri" pitchFamily="34" charset="-120"/>
              </a:rPr>
              <a:t>: Controller Server śledzi ścieżkę na local costmap</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observation_sources</a:t>
            </a:r>
            <a:r>
              <a:rPr lang="en-US" sz="1400" dirty="0">
                <a:solidFill>
                  <a:srgbClr val="0D1B2A"/>
                </a:solidFill>
                <a:latin typeface="Calibri" pitchFamily="34" charset="0"/>
                <a:ea typeface="Calibri" pitchFamily="34" charset="-122"/>
                <a:cs typeface="Calibri" pitchFamily="34" charset="-120"/>
              </a:rPr>
              <a:t>: scan (LiDAR 2D), pointcloud (RGB-D)</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Parametry</a:t>
            </a:r>
            <a:r>
              <a:rPr lang="en-US" sz="1400" dirty="0">
                <a:solidFill>
                  <a:srgbClr val="0D1B2A"/>
                </a:solidFill>
                <a:latin typeface="Calibri" pitchFamily="34" charset="0"/>
                <a:ea typeface="Calibri" pitchFamily="34" charset="-122"/>
                <a:cs typeface="Calibri" pitchFamily="34" charset="-120"/>
              </a:rPr>
              <a:t>: update_frequency, publish_frequency, max_obstacle_height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3 | WARSTWY KOSZTÓW</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Warstwy kosztów (Costmap Layers)</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663057"/>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42900" y="1207009"/>
            <a:ext cx="8458200" cy="2571616"/>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static_layer</a:t>
            </a:r>
            <a:r>
              <a:rPr lang="en-US" sz="1400" dirty="0">
                <a:solidFill>
                  <a:srgbClr val="0D1B2A"/>
                </a:solidFill>
                <a:latin typeface="Calibri" pitchFamily="34" charset="0"/>
                <a:ea typeface="Calibri" pitchFamily="34" charset="-122"/>
                <a:cs typeface="Calibri" pitchFamily="34" charset="-120"/>
              </a:rPr>
              <a:t>:</a:t>
            </a:r>
            <a:r>
              <a:rPr lang="en-US" sz="1400" spc="-20" dirty="0">
                <a:solidFill>
                  <a:srgbClr val="0D1B2A"/>
                </a:solidFill>
                <a:latin typeface="Calibri" pitchFamily="34" charset="0"/>
                <a:ea typeface="Calibri" pitchFamily="34" charset="-122"/>
                <a:cs typeface="Calibri" pitchFamily="34" charset="-120"/>
              </a:rPr>
              <a:t> wczytuje mapę .pgm; occupied_thresh → koszt=254, free_thresh → koszt=0, unknown → koszt=255</a:t>
            </a:r>
            <a:endParaRPr lang="en-US" sz="1400" spc="-2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inflation_layer</a:t>
            </a:r>
            <a:r>
              <a:rPr lang="en-US" sz="1400" dirty="0">
                <a:solidFill>
                  <a:srgbClr val="0D1B2A"/>
                </a:solidFill>
                <a:latin typeface="Calibri" pitchFamily="34" charset="0"/>
                <a:ea typeface="Calibri" pitchFamily="34" charset="-122"/>
                <a:cs typeface="Calibri" pitchFamily="34" charset="-120"/>
              </a:rPr>
              <a:t>: tworzy gradient kosztu wokół przeszkód; robot_radius=0.35 m; inflation_radius=0.55 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obstacle_layer</a:t>
            </a:r>
            <a:r>
              <a:rPr lang="en-US" sz="1400" dirty="0">
                <a:solidFill>
                  <a:srgbClr val="0D1B2A"/>
                </a:solidFill>
                <a:latin typeface="Calibri" pitchFamily="34" charset="0"/>
                <a:ea typeface="Calibri" pitchFamily="34" charset="-122"/>
                <a:cs typeface="Calibri" pitchFamily="34" charset="-120"/>
              </a:rPr>
              <a:t>: aktualizuje siatkę z obserwacji LiDAR i kamer; mark i clear przeszkód w czasie rzeczywistym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voxel_layer</a:t>
            </a:r>
            <a:r>
              <a:rPr lang="en-US" sz="1400" dirty="0">
                <a:solidFill>
                  <a:srgbClr val="0D1B2A"/>
                </a:solidFill>
                <a:latin typeface="Calibri" pitchFamily="34" charset="0"/>
                <a:ea typeface="Calibri" pitchFamily="34" charset="-122"/>
                <a:cs typeface="Calibri" pitchFamily="34" charset="-120"/>
              </a:rPr>
              <a:t>: </a:t>
            </a:r>
            <a:r>
              <a:rPr lang="en-US" sz="1400" spc="-40" dirty="0">
                <a:solidFill>
                  <a:srgbClr val="0D1B2A"/>
                </a:solidFill>
                <a:latin typeface="Calibri" pitchFamily="34" charset="0"/>
                <a:ea typeface="Calibri" pitchFamily="34" charset="-122"/>
                <a:cs typeface="Calibri" pitchFamily="34" charset="-120"/>
              </a:rPr>
              <a:t>trójwymiarowa wersja obstacle_layer; pozwala wykrywać nawisy i przeszkody na różnych wysokościach</a:t>
            </a:r>
            <a:endParaRPr lang="en-US" sz="1400" spc="-4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range_layer</a:t>
            </a:r>
            <a:r>
              <a:rPr lang="en-US" sz="1400" dirty="0">
                <a:solidFill>
                  <a:srgbClr val="0D1B2A"/>
                </a:solidFill>
                <a:latin typeface="Calibri" pitchFamily="34" charset="0"/>
                <a:ea typeface="Calibri" pitchFamily="34" charset="-122"/>
                <a:cs typeface="Calibri" pitchFamily="34" charset="-120"/>
              </a:rPr>
              <a:t>: integruje dane z sensorów zasięgowych (sonar, IR); przydatne przy słabym LiDAR-ze</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social_layer</a:t>
            </a:r>
            <a:r>
              <a:rPr lang="en-US" sz="1400" dirty="0">
                <a:solidFill>
                  <a:srgbClr val="0D1B2A"/>
                </a:solidFill>
                <a:latin typeface="Calibri" pitchFamily="34" charset="0"/>
                <a:ea typeface="Calibri" pitchFamily="34" charset="-122"/>
                <a:cs typeface="Calibri" pitchFamily="34" charset="-120"/>
              </a:rPr>
              <a:t> (plugin): niestandardowa warstwa z anizotropowym Gaussem wokół pieszych (patrz W7)</a:t>
            </a:r>
            <a:endParaRPr lang="en-US" sz="1400" dirty="0"/>
          </a:p>
          <a:p>
            <a:pPr marL="144000" indent="-144000">
              <a:spcAft>
                <a:spcPts val="600"/>
              </a:spcAft>
              <a:buSzPct val="100000"/>
              <a:buChar char="•"/>
            </a:pPr>
            <a:r>
              <a:rPr lang="en-US" sz="1400" b="1" spc="-60" dirty="0">
                <a:solidFill>
                  <a:srgbClr val="0D1B2A"/>
                </a:solidFill>
                <a:latin typeface="Calibri" pitchFamily="34" charset="0"/>
                <a:ea typeface="Calibri" pitchFamily="34" charset="-122"/>
                <a:cs typeface="Calibri" pitchFamily="34" charset="-120"/>
              </a:rPr>
              <a:t>spatio_temporal_voxel_layer</a:t>
            </a:r>
            <a:r>
              <a:rPr lang="en-US" sz="1400" spc="-60" dirty="0">
                <a:solidFill>
                  <a:srgbClr val="0D1B2A"/>
                </a:solidFill>
                <a:latin typeface="Calibri" pitchFamily="34" charset="0"/>
                <a:ea typeface="Calibri" pitchFamily="34" charset="-122"/>
                <a:cs typeface="Calibri" pitchFamily="34" charset="-120"/>
              </a:rPr>
              <a:t>: zaawansowana warstwa 3D z decay time; obiekty dynamiczne znikają po T sekundach</a:t>
            </a:r>
            <a:endParaRPr lang="en-US" sz="1400" spc="-6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Kolejność warstw w YAML</a:t>
            </a:r>
            <a:r>
              <a:rPr lang="en-US" sz="1400" dirty="0">
                <a:solidFill>
                  <a:srgbClr val="0D1B2A"/>
                </a:solidFill>
                <a:latin typeface="Calibri" pitchFamily="34" charset="0"/>
                <a:ea typeface="Calibri" pitchFamily="34" charset="-122"/>
                <a:cs typeface="Calibri" pitchFamily="34" charset="-120"/>
              </a:rPr>
              <a:t>: plugins: ['static_layer', 'obstacle_layer', 'inflation_layer'] – kolejność ma znaczenie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3 | PLANISTA GLOBALNY</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err="1">
                <a:solidFill>
                  <a:srgbClr val="FFFFFF"/>
                </a:solidFill>
                <a:latin typeface="Trebuchet MS" pitchFamily="34" charset="0"/>
                <a:ea typeface="Trebuchet MS" pitchFamily="34" charset="-122"/>
                <a:cs typeface="Trebuchet MS" pitchFamily="34" charset="-120"/>
              </a:rPr>
              <a:t>Planista</a:t>
            </a:r>
            <a:r>
              <a:rPr lang="en-US" sz="2200" b="1" dirty="0">
                <a:solidFill>
                  <a:srgbClr val="FFFFFF"/>
                </a:solidFill>
                <a:latin typeface="Trebuchet MS" pitchFamily="34" charset="0"/>
                <a:ea typeface="Trebuchet MS" pitchFamily="34" charset="-122"/>
                <a:cs typeface="Trebuchet MS" pitchFamily="34" charset="-120"/>
              </a:rPr>
              <a:t> </a:t>
            </a:r>
            <a:r>
              <a:rPr lang="en-US" sz="2200" b="1" dirty="0" err="1" smtClean="0">
                <a:solidFill>
                  <a:srgbClr val="FFFFFF"/>
                </a:solidFill>
                <a:latin typeface="Trebuchet MS" pitchFamily="34" charset="0"/>
                <a:ea typeface="Trebuchet MS" pitchFamily="34" charset="-122"/>
                <a:cs typeface="Trebuchet MS" pitchFamily="34" charset="-120"/>
              </a:rPr>
              <a:t>globalny</a:t>
            </a:r>
            <a:r>
              <a:rPr lang="pl-PL" sz="2200" b="1" dirty="0" smtClean="0">
                <a:solidFill>
                  <a:srgbClr val="FFFFFF"/>
                </a:solidFill>
                <a:latin typeface="Trebuchet MS" pitchFamily="34" charset="0"/>
                <a:ea typeface="Trebuchet MS" pitchFamily="34" charset="-122"/>
                <a:cs typeface="Trebuchet MS" pitchFamily="34" charset="-120"/>
              </a:rPr>
              <a:t>:</a:t>
            </a:r>
            <a:r>
              <a:rPr lang="en-US" sz="2200" b="1" dirty="0" smtClean="0">
                <a:solidFill>
                  <a:srgbClr val="FFFFFF"/>
                </a:solidFill>
                <a:latin typeface="Trebuchet MS" pitchFamily="34" charset="0"/>
                <a:ea typeface="Trebuchet MS" pitchFamily="34" charset="-122"/>
                <a:cs typeface="Trebuchet MS" pitchFamily="34" charset="-120"/>
              </a:rPr>
              <a:t> </a:t>
            </a:r>
            <a:r>
              <a:rPr lang="en-US" sz="2200" b="1" dirty="0">
                <a:solidFill>
                  <a:srgbClr val="FFFFFF"/>
                </a:solidFill>
                <a:latin typeface="Trebuchet MS" pitchFamily="34" charset="0"/>
                <a:ea typeface="Trebuchet MS" pitchFamily="34" charset="-122"/>
                <a:cs typeface="Trebuchet MS" pitchFamily="34" charset="-120"/>
              </a:rPr>
              <a:t>NavFn i Smac Planner</a:t>
            </a:r>
            <a:endParaRPr lang="en-US" sz="2200" dirty="0"/>
          </a:p>
        </p:txBody>
      </p:sp>
      <p:sp>
        <p:nvSpPr>
          <p:cNvPr id="5" name="Shape 3"/>
          <p:cNvSpPr/>
          <p:nvPr/>
        </p:nvSpPr>
        <p:spPr>
          <a:xfrm>
            <a:off x="320040" y="969264"/>
            <a:ext cx="8503920" cy="22860"/>
          </a:xfrm>
          <a:prstGeom prst="rect">
            <a:avLst/>
          </a:prstGeom>
          <a:solidFill>
            <a:srgbClr val="3730A3"/>
          </a:solidFill>
          <a:ln w="12700">
            <a:solidFill>
              <a:srgbClr val="3730A3"/>
            </a:solidFill>
            <a:prstDash val="solid"/>
          </a:ln>
        </p:spPr>
      </p:sp>
      <p:sp>
        <p:nvSpPr>
          <p:cNvPr id="6" name="Shape 4"/>
          <p:cNvSpPr/>
          <p:nvPr/>
        </p:nvSpPr>
        <p:spPr>
          <a:xfrm>
            <a:off x="320040" y="1060704"/>
            <a:ext cx="4114800" cy="2939796"/>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320040" y="1060704"/>
            <a:ext cx="4114800" cy="329184"/>
          </a:xfrm>
          <a:prstGeom prst="rect">
            <a:avLst/>
          </a:prstGeom>
          <a:solidFill>
            <a:srgbClr val="3730A3"/>
          </a:solidFill>
          <a:ln w="12700">
            <a:solidFill>
              <a:srgbClr val="3730A3"/>
            </a:solidFill>
            <a:prstDash val="solid"/>
          </a:ln>
        </p:spPr>
      </p:sp>
      <p:sp>
        <p:nvSpPr>
          <p:cNvPr id="8" name="Text 6"/>
          <p:cNvSpPr/>
          <p:nvPr/>
        </p:nvSpPr>
        <p:spPr>
          <a:xfrm>
            <a:off x="320040" y="1060704"/>
            <a:ext cx="4114800"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NavFnPlanner (Dijkstra / A*)</a:t>
            </a:r>
            <a:endParaRPr lang="en-US" sz="1600" dirty="0"/>
          </a:p>
        </p:txBody>
      </p:sp>
      <p:sp>
        <p:nvSpPr>
          <p:cNvPr id="9" name="Text 7"/>
          <p:cNvSpPr/>
          <p:nvPr/>
        </p:nvSpPr>
        <p:spPr>
          <a:xfrm>
            <a:off x="420625" y="1444752"/>
            <a:ext cx="3942946" cy="2555748"/>
          </a:xfrm>
          <a:prstGeom prst="rect">
            <a:avLst/>
          </a:prstGeom>
          <a:noFill/>
          <a:ln/>
        </p:spPr>
        <p:txBody>
          <a:bodyPr wrap="square" lIns="0" tIns="0" rIns="0" bIns="0" rtlCol="0" anchor="t"/>
          <a:lstStyle/>
          <a:p>
            <a:pPr marL="144000" indent="-144000">
              <a:spcAft>
                <a:spcPts val="1200"/>
              </a:spcAft>
              <a:buSzPct val="100000"/>
              <a:buChar char="•"/>
            </a:pPr>
            <a:r>
              <a:rPr lang="en-US" sz="1400" spc="-40" dirty="0">
                <a:solidFill>
                  <a:srgbClr val="0D1B2A"/>
                </a:solidFill>
                <a:latin typeface="Calibri" pitchFamily="34" charset="0"/>
                <a:ea typeface="Calibri" pitchFamily="34" charset="-122"/>
                <a:cs typeface="Calibri" pitchFamily="34" charset="-120"/>
              </a:rPr>
              <a:t>Klasyczny A*/Dijkstra na siatce global costmap</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Szybki dla prostych</a:t>
            </a:r>
            <a:r>
              <a:rPr lang="en-US" sz="1400" spc="-40" dirty="0">
                <a:solidFill>
                  <a:srgbClr val="0D1B2A"/>
                </a:solidFill>
                <a:latin typeface="Calibri" pitchFamily="34" charset="0"/>
                <a:ea typeface="Calibri" pitchFamily="34" charset="-122"/>
                <a:cs typeface="Calibri" pitchFamily="34" charset="-120"/>
              </a:rPr>
              <a:t>, płaskich środowisk biurowych</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plugin</a:t>
            </a:r>
            <a:r>
              <a:rPr lang="en-US" sz="1400" spc="-40" dirty="0">
                <a:solidFill>
                  <a:srgbClr val="0D1B2A"/>
                </a:solidFill>
                <a:latin typeface="Calibri" pitchFamily="34" charset="0"/>
                <a:ea typeface="Calibri" pitchFamily="34" charset="-122"/>
                <a:cs typeface="Calibri" pitchFamily="34" charset="-120"/>
              </a:rPr>
              <a:t>: 'nav2_navfn_planner/NavfnPlanner'</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use_astar</a:t>
            </a:r>
            <a:r>
              <a:rPr lang="en-US" sz="1400" spc="-40" dirty="0">
                <a:solidFill>
                  <a:srgbClr val="0D1B2A"/>
                </a:solidFill>
                <a:latin typeface="Calibri" pitchFamily="34" charset="0"/>
                <a:ea typeface="Calibri" pitchFamily="34" charset="-122"/>
                <a:cs typeface="Calibri" pitchFamily="34" charset="-120"/>
              </a:rPr>
              <a:t>: true / false (domyślnie Dijkstra)</a:t>
            </a:r>
            <a:endParaRPr lang="en-US" sz="1400" spc="-4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allow_unknown</a:t>
            </a:r>
            <a:r>
              <a:rPr lang="en-US" sz="1400" spc="-80" dirty="0">
                <a:solidFill>
                  <a:srgbClr val="0D1B2A"/>
                </a:solidFill>
                <a:latin typeface="Calibri" pitchFamily="34" charset="0"/>
                <a:ea typeface="Calibri" pitchFamily="34" charset="-122"/>
                <a:cs typeface="Calibri" pitchFamily="34" charset="-120"/>
              </a:rPr>
              <a:t>: true (planowanie przez nieznane obszary)</a:t>
            </a:r>
            <a:endParaRPr lang="en-US" sz="1400" spc="-80" dirty="0"/>
          </a:p>
          <a:p>
            <a:pPr marL="144000" indent="-144000">
              <a:spcAft>
                <a:spcPts val="1200"/>
              </a:spcAft>
              <a:buSzPct val="100000"/>
              <a:buChar char="•"/>
            </a:pPr>
            <a:r>
              <a:rPr lang="en-US" sz="1400" b="1" spc="-60" dirty="0">
                <a:solidFill>
                  <a:srgbClr val="0D1B2A"/>
                </a:solidFill>
                <a:latin typeface="Calibri" pitchFamily="34" charset="0"/>
                <a:ea typeface="Calibri" pitchFamily="34" charset="-122"/>
                <a:cs typeface="Calibri" pitchFamily="34" charset="-120"/>
              </a:rPr>
              <a:t>Wada</a:t>
            </a:r>
            <a:r>
              <a:rPr lang="en-US" sz="1400" spc="-60" dirty="0">
                <a:solidFill>
                  <a:srgbClr val="0D1B2A"/>
                </a:solidFill>
                <a:latin typeface="Calibri" pitchFamily="34" charset="0"/>
                <a:ea typeface="Calibri" pitchFamily="34" charset="-122"/>
                <a:cs typeface="Calibri" pitchFamily="34" charset="-120"/>
              </a:rPr>
              <a:t>: nie uwzględnia kinematyki robota; ostre zakręty</a:t>
            </a:r>
            <a:endParaRPr lang="en-US" sz="1400" spc="-60" dirty="0"/>
          </a:p>
          <a:p>
            <a:pPr marL="144000" indent="-144000">
              <a:spcAft>
                <a:spcPts val="1200"/>
              </a:spcAft>
              <a:buSzPct val="100000"/>
              <a:buChar char="•"/>
            </a:pPr>
            <a:r>
              <a:rPr lang="en-US" sz="1400" b="1" spc="-60" dirty="0">
                <a:solidFill>
                  <a:srgbClr val="0D1B2A"/>
                </a:solidFill>
                <a:latin typeface="Calibri" pitchFamily="34" charset="0"/>
                <a:ea typeface="Calibri" pitchFamily="34" charset="-122"/>
                <a:cs typeface="Calibri" pitchFamily="34" charset="-120"/>
              </a:rPr>
              <a:t>Zalecany</a:t>
            </a:r>
            <a:r>
              <a:rPr lang="en-US" sz="1400" spc="-60" dirty="0">
                <a:solidFill>
                  <a:srgbClr val="0D1B2A"/>
                </a:solidFill>
                <a:latin typeface="Calibri" pitchFamily="34" charset="0"/>
                <a:ea typeface="Calibri" pitchFamily="34" charset="-122"/>
                <a:cs typeface="Calibri" pitchFamily="34" charset="-120"/>
              </a:rPr>
              <a:t>: TurtleBot, roboty różnicowe, szybkie prototypy</a:t>
            </a:r>
            <a:endParaRPr lang="en-US" sz="1400" spc="-60" dirty="0"/>
          </a:p>
        </p:txBody>
      </p:sp>
      <p:sp>
        <p:nvSpPr>
          <p:cNvPr id="10" name="Shape 8"/>
          <p:cNvSpPr/>
          <p:nvPr/>
        </p:nvSpPr>
        <p:spPr>
          <a:xfrm>
            <a:off x="4690872" y="1060704"/>
            <a:ext cx="4114800" cy="2939796"/>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1" name="Shape 9"/>
          <p:cNvSpPr/>
          <p:nvPr/>
        </p:nvSpPr>
        <p:spPr>
          <a:xfrm>
            <a:off x="4690872" y="1060704"/>
            <a:ext cx="4114800" cy="329184"/>
          </a:xfrm>
          <a:prstGeom prst="rect">
            <a:avLst/>
          </a:prstGeom>
          <a:solidFill>
            <a:srgbClr val="3730A3"/>
          </a:solidFill>
          <a:ln w="12700">
            <a:solidFill>
              <a:srgbClr val="3730A3"/>
            </a:solidFill>
            <a:prstDash val="solid"/>
          </a:ln>
        </p:spPr>
      </p:sp>
      <p:sp>
        <p:nvSpPr>
          <p:cNvPr id="12" name="Text 10"/>
          <p:cNvSpPr/>
          <p:nvPr/>
        </p:nvSpPr>
        <p:spPr>
          <a:xfrm>
            <a:off x="4690872" y="1060704"/>
            <a:ext cx="4114800"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SmacPlanner (Hybrid-A*)</a:t>
            </a:r>
            <a:endParaRPr lang="en-US" sz="1600" dirty="0"/>
          </a:p>
        </p:txBody>
      </p:sp>
      <p:sp>
        <p:nvSpPr>
          <p:cNvPr id="13" name="Text 11"/>
          <p:cNvSpPr/>
          <p:nvPr/>
        </p:nvSpPr>
        <p:spPr>
          <a:xfrm>
            <a:off x="4807324" y="1444752"/>
            <a:ext cx="3901532" cy="2555748"/>
          </a:xfrm>
          <a:prstGeom prst="rect">
            <a:avLst/>
          </a:prstGeom>
          <a:noFill/>
          <a:ln/>
        </p:spPr>
        <p:txBody>
          <a:bodyPr wrap="square" lIns="0" tIns="0" rIns="0" bIns="0" rtlCol="0" anchor="t"/>
          <a:lstStyle/>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Uwzględnia kinematykę</a:t>
            </a:r>
            <a:r>
              <a:rPr lang="en-US" sz="1400" spc="-40" dirty="0">
                <a:solidFill>
                  <a:srgbClr val="0D1B2A"/>
                </a:solidFill>
                <a:latin typeface="Calibri" pitchFamily="34" charset="0"/>
                <a:ea typeface="Calibri" pitchFamily="34" charset="-122"/>
                <a:cs typeface="Calibri" pitchFamily="34" charset="-120"/>
              </a:rPr>
              <a:t>: minimalny promień skrętu</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SmacPlannerHybrid</a:t>
            </a:r>
            <a:r>
              <a:rPr lang="en-US" sz="1400" spc="-40" dirty="0">
                <a:solidFill>
                  <a:srgbClr val="0D1B2A"/>
                </a:solidFill>
                <a:latin typeface="Calibri" pitchFamily="34" charset="0"/>
                <a:ea typeface="Calibri" pitchFamily="34" charset="-122"/>
                <a:cs typeface="Calibri" pitchFamily="34" charset="-120"/>
              </a:rPr>
              <a:t>: </a:t>
            </a:r>
            <a:r>
              <a:rPr lang="en-US" sz="1400" spc="-60" dirty="0">
                <a:solidFill>
                  <a:srgbClr val="0D1B2A"/>
                </a:solidFill>
                <a:latin typeface="Calibri" pitchFamily="34" charset="0"/>
                <a:ea typeface="Calibri" pitchFamily="34" charset="-122"/>
                <a:cs typeface="Calibri" pitchFamily="34" charset="-120"/>
              </a:rPr>
              <a:t>planowanie z orientacją (x, y, theta)</a:t>
            </a:r>
            <a:endParaRPr lang="en-US" sz="1400" spc="-6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SmacPlanner2D</a:t>
            </a:r>
            <a:r>
              <a:rPr lang="en-US" sz="1400" spc="-40" dirty="0">
                <a:solidFill>
                  <a:srgbClr val="0D1B2A"/>
                </a:solidFill>
                <a:latin typeface="Calibri" pitchFamily="34" charset="0"/>
                <a:ea typeface="Calibri" pitchFamily="34" charset="-122"/>
                <a:cs typeface="Calibri" pitchFamily="34" charset="-120"/>
              </a:rPr>
              <a:t>: szybszy, bez orientacji; jak NavFn+</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plugin</a:t>
            </a:r>
            <a:r>
              <a:rPr lang="en-US" sz="1400" spc="-40" dirty="0">
                <a:solidFill>
                  <a:srgbClr val="0D1B2A"/>
                </a:solidFill>
                <a:latin typeface="Calibri" pitchFamily="34" charset="0"/>
                <a:ea typeface="Calibri" pitchFamily="34" charset="-122"/>
                <a:cs typeface="Calibri" pitchFamily="34" charset="-120"/>
              </a:rPr>
              <a:t>: 'nav2_smac_planner/SmacPlannerHybrid'</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minimum_turning_radius</a:t>
            </a:r>
            <a:r>
              <a:rPr lang="en-US" sz="1400" spc="-40" dirty="0">
                <a:solidFill>
                  <a:srgbClr val="0D1B2A"/>
                </a:solidFill>
                <a:latin typeface="Calibri" pitchFamily="34" charset="0"/>
                <a:ea typeface="Calibri" pitchFamily="34" charset="-122"/>
                <a:cs typeface="Calibri" pitchFamily="34" charset="-120"/>
              </a:rPr>
              <a:t>: 0.4 (dla humanoida: 0.1)</a:t>
            </a:r>
            <a:endParaRPr lang="en-US" sz="1400" spc="-40" dirty="0"/>
          </a:p>
          <a:p>
            <a:pPr marL="144000" indent="-144000">
              <a:spcAft>
                <a:spcPts val="1200"/>
              </a:spcAft>
              <a:buSzPct val="100000"/>
              <a:buChar char="•"/>
            </a:pPr>
            <a:r>
              <a:rPr lang="en-US" sz="1400" b="1" spc="-60" dirty="0">
                <a:solidFill>
                  <a:srgbClr val="0D1B2A"/>
                </a:solidFill>
                <a:latin typeface="Calibri" pitchFamily="34" charset="0"/>
                <a:ea typeface="Calibri" pitchFamily="34" charset="-122"/>
                <a:cs typeface="Calibri" pitchFamily="34" charset="-120"/>
              </a:rPr>
              <a:t>Zalecany</a:t>
            </a:r>
            <a:r>
              <a:rPr lang="en-US" sz="1400" spc="-60" dirty="0">
                <a:solidFill>
                  <a:srgbClr val="0D1B2A"/>
                </a:solidFill>
                <a:latin typeface="Calibri" pitchFamily="34" charset="0"/>
                <a:ea typeface="Calibri" pitchFamily="34" charset="-122"/>
                <a:cs typeface="Calibri" pitchFamily="34" charset="-120"/>
              </a:rPr>
              <a:t>: humanoidy, auta autonomiczne, holonomiczne</a:t>
            </a:r>
            <a:endParaRPr lang="en-US" sz="1400" spc="-60" dirty="0"/>
          </a:p>
          <a:p>
            <a:pPr marL="144000" indent="-144000">
              <a:spcAft>
                <a:spcPts val="1200"/>
              </a:spcAft>
              <a:buSzPct val="100000"/>
              <a:buChar char="•"/>
            </a:pPr>
            <a:r>
              <a:rPr lang="en-US" sz="1400" spc="-40" dirty="0">
                <a:solidFill>
                  <a:srgbClr val="0D1B2A"/>
                </a:solidFill>
                <a:latin typeface="Calibri" pitchFamily="34" charset="0"/>
                <a:ea typeface="Calibri" pitchFamily="34" charset="-122"/>
                <a:cs typeface="Calibri" pitchFamily="34" charset="-120"/>
              </a:rPr>
              <a:t>Dłuższy czas obliczenia (~50 ms vs ~10 ms NavFn)</a:t>
            </a:r>
            <a:endParaRPr lang="en-US" sz="1400" spc="-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3 | KONTROLER</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err="1">
                <a:solidFill>
                  <a:srgbClr val="FFFFFF"/>
                </a:solidFill>
                <a:latin typeface="Trebuchet MS" pitchFamily="34" charset="0"/>
                <a:ea typeface="Trebuchet MS" pitchFamily="34" charset="-122"/>
                <a:cs typeface="Trebuchet MS" pitchFamily="34" charset="-120"/>
              </a:rPr>
              <a:t>Kontrolery</a:t>
            </a:r>
            <a:r>
              <a:rPr lang="en-US" sz="2200" b="1" dirty="0">
                <a:solidFill>
                  <a:srgbClr val="FFFFFF"/>
                </a:solidFill>
                <a:latin typeface="Trebuchet MS" pitchFamily="34" charset="0"/>
                <a:ea typeface="Trebuchet MS" pitchFamily="34" charset="-122"/>
                <a:cs typeface="Trebuchet MS" pitchFamily="34" charset="-120"/>
              </a:rPr>
              <a:t> </a:t>
            </a:r>
            <a:r>
              <a:rPr lang="en-US" sz="2200" b="1" dirty="0" err="1" smtClean="0">
                <a:solidFill>
                  <a:srgbClr val="FFFFFF"/>
                </a:solidFill>
                <a:latin typeface="Trebuchet MS" pitchFamily="34" charset="0"/>
                <a:ea typeface="Trebuchet MS" pitchFamily="34" charset="-122"/>
                <a:cs typeface="Trebuchet MS" pitchFamily="34" charset="-120"/>
              </a:rPr>
              <a:t>lokalne</a:t>
            </a:r>
            <a:r>
              <a:rPr lang="pl-PL" sz="2200" b="1" dirty="0" smtClean="0">
                <a:solidFill>
                  <a:srgbClr val="FFFFFF"/>
                </a:solidFill>
                <a:latin typeface="Trebuchet MS" pitchFamily="34" charset="0"/>
                <a:ea typeface="Trebuchet MS" pitchFamily="34" charset="-122"/>
                <a:cs typeface="Trebuchet MS" pitchFamily="34" charset="-120"/>
              </a:rPr>
              <a:t>:</a:t>
            </a:r>
            <a:r>
              <a:rPr lang="en-US" sz="2200" b="1" dirty="0" smtClean="0">
                <a:solidFill>
                  <a:srgbClr val="FFFFFF"/>
                </a:solidFill>
                <a:latin typeface="Trebuchet MS" pitchFamily="34" charset="0"/>
                <a:ea typeface="Trebuchet MS" pitchFamily="34" charset="-122"/>
                <a:cs typeface="Trebuchet MS" pitchFamily="34" charset="-120"/>
              </a:rPr>
              <a:t> </a:t>
            </a:r>
            <a:r>
              <a:rPr lang="en-US" sz="2200" b="1" dirty="0">
                <a:solidFill>
                  <a:srgbClr val="FFFFFF"/>
                </a:solidFill>
                <a:latin typeface="Trebuchet MS" pitchFamily="34" charset="0"/>
                <a:ea typeface="Trebuchet MS" pitchFamily="34" charset="-122"/>
                <a:cs typeface="Trebuchet MS" pitchFamily="34" charset="-120"/>
              </a:rPr>
              <a:t>DWB, RPP, MPPI</a:t>
            </a:r>
            <a:endParaRPr lang="en-US" sz="2200" dirty="0"/>
          </a:p>
        </p:txBody>
      </p:sp>
      <p:sp>
        <p:nvSpPr>
          <p:cNvPr id="5" name="Shape 3"/>
          <p:cNvSpPr/>
          <p:nvPr/>
        </p:nvSpPr>
        <p:spPr>
          <a:xfrm>
            <a:off x="320039" y="969264"/>
            <a:ext cx="8650715" cy="22860"/>
          </a:xfrm>
          <a:prstGeom prst="rect">
            <a:avLst/>
          </a:prstGeom>
          <a:solidFill>
            <a:srgbClr val="3730A3"/>
          </a:solidFill>
          <a:ln w="12700">
            <a:solidFill>
              <a:srgbClr val="3730A3"/>
            </a:solidFill>
            <a:prstDash val="solid"/>
          </a:ln>
        </p:spPr>
      </p:sp>
      <p:sp>
        <p:nvSpPr>
          <p:cNvPr id="6" name="Shape 4"/>
          <p:cNvSpPr/>
          <p:nvPr/>
        </p:nvSpPr>
        <p:spPr>
          <a:xfrm>
            <a:off x="338643" y="1078992"/>
            <a:ext cx="2809157" cy="246888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338643" y="1078992"/>
            <a:ext cx="2809157" cy="54864"/>
          </a:xfrm>
          <a:prstGeom prst="rect">
            <a:avLst/>
          </a:prstGeom>
          <a:solidFill>
            <a:srgbClr val="4F46E5"/>
          </a:solidFill>
          <a:ln w="12700">
            <a:solidFill>
              <a:srgbClr val="4F46E5"/>
            </a:solidFill>
            <a:prstDash val="solid"/>
          </a:ln>
        </p:spPr>
      </p:sp>
      <p:sp>
        <p:nvSpPr>
          <p:cNvPr id="8" name="Text 6"/>
          <p:cNvSpPr/>
          <p:nvPr/>
        </p:nvSpPr>
        <p:spPr>
          <a:xfrm>
            <a:off x="338643" y="1170432"/>
            <a:ext cx="2809157"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DWB Controller</a:t>
            </a:r>
            <a:endParaRPr lang="en-US" sz="1600" dirty="0"/>
          </a:p>
        </p:txBody>
      </p:sp>
      <p:sp>
        <p:nvSpPr>
          <p:cNvPr id="9" name="Text 7"/>
          <p:cNvSpPr/>
          <p:nvPr/>
        </p:nvSpPr>
        <p:spPr>
          <a:xfrm>
            <a:off x="458873" y="1481328"/>
            <a:ext cx="2539824" cy="2011680"/>
          </a:xfrm>
          <a:prstGeom prst="rect">
            <a:avLst/>
          </a:prstGeom>
          <a:noFill/>
          <a:ln/>
        </p:spPr>
        <p:txBody>
          <a:bodyPr wrap="square" lIns="0" tIns="0" rIns="0" bIns="0" rtlCol="0" anchor="t"/>
          <a:lstStyle/>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Dynamic Window Approach</a:t>
            </a:r>
            <a:r>
              <a:rPr lang="en-US" sz="1400" spc="-40" dirty="0">
                <a:solidFill>
                  <a:srgbClr val="0D1B2A"/>
                </a:solidFill>
                <a:latin typeface="Calibri" pitchFamily="34" charset="0"/>
                <a:ea typeface="Calibri" pitchFamily="34" charset="-122"/>
                <a:cs typeface="Calibri" pitchFamily="34" charset="-120"/>
              </a:rPr>
              <a:t>;</a:t>
            </a:r>
            <a:endParaRPr lang="en-US" sz="1400" spc="-40" dirty="0"/>
          </a:p>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ocena trajektorii </a:t>
            </a:r>
            <a:r>
              <a:rPr lang="en-US" sz="1400" spc="-40" dirty="0">
                <a:solidFill>
                  <a:srgbClr val="0D1B2A"/>
                </a:solidFill>
                <a:latin typeface="Calibri" pitchFamily="34" charset="0"/>
                <a:ea typeface="Calibri" pitchFamily="34" charset="-122"/>
                <a:cs typeface="Calibri" pitchFamily="34" charset="-120"/>
              </a:rPr>
              <a:t>przez krytyków;</a:t>
            </a:r>
            <a:endParaRPr lang="en-US" sz="1400" spc="-40" dirty="0"/>
          </a:p>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plugin</a:t>
            </a:r>
            <a:r>
              <a:rPr lang="en-US" sz="1400" spc="-40" dirty="0">
                <a:solidFill>
                  <a:srgbClr val="0D1B2A"/>
                </a:solidFill>
                <a:latin typeface="Calibri" pitchFamily="34" charset="0"/>
                <a:ea typeface="Calibri" pitchFamily="34" charset="-122"/>
                <a:cs typeface="Calibri" pitchFamily="34" charset="-120"/>
              </a:rPr>
              <a:t>: </a:t>
            </a:r>
            <a:r>
              <a:rPr lang="en-US" sz="1400" dirty="0">
                <a:solidFill>
                  <a:srgbClr val="0D1B2A"/>
                </a:solidFill>
                <a:latin typeface="Bodoni MT Condensed" panose="02070606080606020203" pitchFamily="18" charset="0"/>
                <a:ea typeface="Calibri" pitchFamily="34" charset="-122"/>
                <a:cs typeface="Calibri" pitchFamily="34" charset="-120"/>
              </a:rPr>
              <a:t>'dwb_core::DWBLocalPlanner</a:t>
            </a:r>
            <a:r>
              <a:rPr lang="en-US" sz="1400" dirty="0">
                <a:solidFill>
                  <a:srgbClr val="0D1B2A"/>
                </a:solidFill>
                <a:latin typeface="Calibri" pitchFamily="34" charset="0"/>
                <a:ea typeface="Calibri" pitchFamily="34" charset="-122"/>
                <a:cs typeface="Calibri" pitchFamily="34" charset="-120"/>
              </a:rPr>
              <a:t>';</a:t>
            </a:r>
            <a:endParaRPr lang="en-US" sz="1400" dirty="0"/>
          </a:p>
          <a:p>
            <a:pPr marL="0" indent="0">
              <a:spcAft>
                <a:spcPts val="300"/>
              </a:spcAft>
              <a:buNone/>
            </a:pPr>
            <a:r>
              <a:rPr lang="en-US" sz="1400" dirty="0">
                <a:solidFill>
                  <a:srgbClr val="0D1B2A"/>
                </a:solidFill>
                <a:latin typeface="Bodoni MT Condensed" panose="02070606080606020203" pitchFamily="18" charset="0"/>
                <a:ea typeface="Calibri" pitchFamily="34" charset="-122"/>
                <a:cs typeface="Calibri" pitchFamily="34" charset="-120"/>
              </a:rPr>
              <a:t>min/max_vel_x, min/max_vel_theta</a:t>
            </a:r>
            <a:r>
              <a:rPr lang="en-US" sz="1400" spc="-40" dirty="0">
                <a:solidFill>
                  <a:srgbClr val="0D1B2A"/>
                </a:solidFill>
                <a:latin typeface="Calibri" pitchFamily="34" charset="0"/>
                <a:ea typeface="Calibri" pitchFamily="34" charset="-122"/>
                <a:cs typeface="Calibri" pitchFamily="34" charset="-120"/>
              </a:rPr>
              <a:t>;</a:t>
            </a:r>
            <a:endParaRPr lang="en-US" sz="1400" spc="-40" dirty="0"/>
          </a:p>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Krytyki</a:t>
            </a:r>
            <a:r>
              <a:rPr lang="en-US" sz="1400" spc="-40" dirty="0">
                <a:solidFill>
                  <a:srgbClr val="0D1B2A"/>
                </a:solidFill>
                <a:latin typeface="Calibri" pitchFamily="34" charset="0"/>
                <a:ea typeface="Calibri" pitchFamily="34" charset="-122"/>
                <a:cs typeface="Calibri" pitchFamily="34" charset="-120"/>
              </a:rPr>
              <a:t>: GoalAlign, PathAlign,</a:t>
            </a:r>
            <a:endParaRPr lang="en-US" sz="1400" spc="-40" dirty="0"/>
          </a:p>
          <a:p>
            <a:pPr marL="0" indent="0">
              <a:spcAft>
                <a:spcPts val="300"/>
              </a:spcAft>
              <a:buNone/>
            </a:pPr>
            <a:r>
              <a:rPr lang="en-US" sz="1400" spc="-40" dirty="0">
                <a:solidFill>
                  <a:srgbClr val="0D1B2A"/>
                </a:solidFill>
                <a:latin typeface="Calibri" pitchFamily="34" charset="0"/>
                <a:ea typeface="Calibri" pitchFamily="34" charset="-122"/>
                <a:cs typeface="Calibri" pitchFamily="34" charset="-120"/>
              </a:rPr>
              <a:t>ObstacleFootprint, RotateToGoal</a:t>
            </a:r>
            <a:endParaRPr lang="en-US" sz="1400" spc="-40" dirty="0"/>
          </a:p>
        </p:txBody>
      </p:sp>
      <p:sp>
        <p:nvSpPr>
          <p:cNvPr id="10" name="Shape 8"/>
          <p:cNvSpPr/>
          <p:nvPr/>
        </p:nvSpPr>
        <p:spPr>
          <a:xfrm>
            <a:off x="3259422" y="1078992"/>
            <a:ext cx="2809157" cy="246888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1" name="Shape 9"/>
          <p:cNvSpPr/>
          <p:nvPr/>
        </p:nvSpPr>
        <p:spPr>
          <a:xfrm>
            <a:off x="3259422" y="1078992"/>
            <a:ext cx="2809157" cy="54864"/>
          </a:xfrm>
          <a:prstGeom prst="rect">
            <a:avLst/>
          </a:prstGeom>
          <a:solidFill>
            <a:srgbClr val="4F46E5"/>
          </a:solidFill>
          <a:ln w="12700">
            <a:solidFill>
              <a:srgbClr val="4F46E5"/>
            </a:solidFill>
            <a:prstDash val="solid"/>
          </a:ln>
        </p:spPr>
      </p:sp>
      <p:sp>
        <p:nvSpPr>
          <p:cNvPr id="12" name="Text 10"/>
          <p:cNvSpPr/>
          <p:nvPr/>
        </p:nvSpPr>
        <p:spPr>
          <a:xfrm>
            <a:off x="3259422" y="1170432"/>
            <a:ext cx="2809157"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Regulated Pure Pursuit</a:t>
            </a:r>
            <a:endParaRPr lang="en-US" sz="1600" dirty="0"/>
          </a:p>
        </p:txBody>
      </p:sp>
      <p:sp>
        <p:nvSpPr>
          <p:cNvPr id="13" name="Text 11"/>
          <p:cNvSpPr/>
          <p:nvPr/>
        </p:nvSpPr>
        <p:spPr>
          <a:xfrm>
            <a:off x="3379652" y="1481328"/>
            <a:ext cx="2584121" cy="2011680"/>
          </a:xfrm>
          <a:prstGeom prst="rect">
            <a:avLst/>
          </a:prstGeom>
          <a:noFill/>
          <a:ln/>
        </p:spPr>
        <p:txBody>
          <a:bodyPr wrap="square" lIns="0" tIns="0" rIns="0" bIns="0" rtlCol="0" anchor="t"/>
          <a:lstStyle/>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Pure Pursuit </a:t>
            </a:r>
            <a:r>
              <a:rPr lang="en-US" sz="1400" spc="-40" dirty="0">
                <a:solidFill>
                  <a:srgbClr val="0D1B2A"/>
                </a:solidFill>
                <a:latin typeface="Calibri" pitchFamily="34" charset="0"/>
                <a:ea typeface="Calibri" pitchFamily="34" charset="-122"/>
                <a:cs typeface="Calibri" pitchFamily="34" charset="-120"/>
              </a:rPr>
              <a:t>z regulacją prędkości;</a:t>
            </a:r>
            <a:endParaRPr lang="en-US" sz="1400" spc="-40" dirty="0"/>
          </a:p>
          <a:p>
            <a:pPr marL="0" indent="0">
              <a:spcAft>
                <a:spcPts val="300"/>
              </a:spcAft>
              <a:buNone/>
            </a:pPr>
            <a:r>
              <a:rPr lang="en-US" sz="1400" b="1" spc="-100" dirty="0">
                <a:solidFill>
                  <a:srgbClr val="0D1B2A"/>
                </a:solidFill>
                <a:latin typeface="Calibri" pitchFamily="34" charset="0"/>
                <a:ea typeface="Calibri" pitchFamily="34" charset="-122"/>
                <a:cs typeface="Calibri" pitchFamily="34" charset="-120"/>
              </a:rPr>
              <a:t>plugin</a:t>
            </a:r>
            <a:r>
              <a:rPr lang="en-US" sz="1400" spc="-100" dirty="0">
                <a:solidFill>
                  <a:srgbClr val="0D1B2A"/>
                </a:solidFill>
                <a:latin typeface="Calibri" pitchFamily="34" charset="0"/>
                <a:ea typeface="Calibri" pitchFamily="34" charset="-122"/>
                <a:cs typeface="Calibri" pitchFamily="34" charset="-120"/>
              </a:rPr>
              <a:t>: '</a:t>
            </a:r>
            <a:r>
              <a:rPr lang="en-US" sz="1400" spc="-20" dirty="0">
                <a:solidFill>
                  <a:srgbClr val="0D1B2A"/>
                </a:solidFill>
                <a:latin typeface="Bodoni MT Condensed" panose="02070606080606020203" pitchFamily="18" charset="0"/>
                <a:ea typeface="Calibri" pitchFamily="34" charset="-122"/>
                <a:cs typeface="Calibri" pitchFamily="34" charset="-120"/>
              </a:rPr>
              <a:t>nav2_regulated_pure_pursuit</a:t>
            </a:r>
            <a:r>
              <a:rPr lang="en-US" sz="1400" spc="-100" dirty="0">
                <a:solidFill>
                  <a:srgbClr val="0D1B2A"/>
                </a:solidFill>
                <a:latin typeface="Calibri" pitchFamily="34" charset="0"/>
                <a:ea typeface="Calibri" pitchFamily="34" charset="-122"/>
                <a:cs typeface="Calibri" pitchFamily="34" charset="-120"/>
              </a:rPr>
              <a:t>';</a:t>
            </a:r>
            <a:endParaRPr lang="en-US" sz="1400" spc="-100" dirty="0"/>
          </a:p>
          <a:p>
            <a:pPr marL="0" indent="0">
              <a:spcAft>
                <a:spcPts val="300"/>
              </a:spcAft>
              <a:buNone/>
            </a:pPr>
            <a:r>
              <a:rPr lang="en-US" sz="1400" spc="-100" dirty="0">
                <a:solidFill>
                  <a:srgbClr val="0D1B2A"/>
                </a:solidFill>
                <a:latin typeface="Calibri" pitchFamily="34" charset="0"/>
                <a:ea typeface="Calibri" pitchFamily="34" charset="-122"/>
                <a:cs typeface="Calibri" pitchFamily="34" charset="-120"/>
              </a:rPr>
              <a:t> + </a:t>
            </a:r>
            <a:r>
              <a:rPr lang="en-US" sz="1400" spc="-20" dirty="0">
                <a:solidFill>
                  <a:srgbClr val="0D1B2A"/>
                </a:solidFill>
                <a:latin typeface="Bodoni MT Condensed" panose="02070606080606020203" pitchFamily="18" charset="0"/>
                <a:ea typeface="Calibri" pitchFamily="34" charset="-122"/>
                <a:cs typeface="Calibri" pitchFamily="34" charset="-120"/>
              </a:rPr>
              <a:t>_controller/RegulatedPurePursuitController</a:t>
            </a:r>
            <a:r>
              <a:rPr lang="en-US" sz="1400" spc="-100" dirty="0">
                <a:solidFill>
                  <a:srgbClr val="0D1B2A"/>
                </a:solidFill>
                <a:latin typeface="Calibri" pitchFamily="34" charset="0"/>
                <a:ea typeface="Calibri" pitchFamily="34" charset="-122"/>
                <a:cs typeface="Calibri" pitchFamily="34" charset="-120"/>
              </a:rPr>
              <a:t>';</a:t>
            </a:r>
            <a:endParaRPr lang="en-US" sz="1400" spc="-100" dirty="0"/>
          </a:p>
          <a:p>
            <a:pPr marL="0" indent="0">
              <a:spcAft>
                <a:spcPts val="300"/>
              </a:spcAft>
              <a:buNone/>
            </a:pPr>
            <a:r>
              <a:rPr lang="en-US" sz="1400" spc="-100" dirty="0">
                <a:solidFill>
                  <a:srgbClr val="0D1B2A"/>
                </a:solidFill>
                <a:latin typeface="Calibri" pitchFamily="34" charset="0"/>
                <a:ea typeface="Calibri" pitchFamily="34" charset="-122"/>
                <a:cs typeface="Calibri" pitchFamily="34" charset="-120"/>
              </a:rPr>
              <a:t>lookahead_dist: 0.6 m;</a:t>
            </a:r>
            <a:endParaRPr lang="en-US" sz="1400" spc="-100" dirty="0"/>
          </a:p>
          <a:p>
            <a:pPr marL="0" indent="0">
              <a:spcAft>
                <a:spcPts val="300"/>
              </a:spcAft>
              <a:buNone/>
            </a:pPr>
            <a:r>
              <a:rPr lang="en-US" sz="1400" b="1" spc="-100" dirty="0">
                <a:solidFill>
                  <a:srgbClr val="0D1B2A"/>
                </a:solidFill>
                <a:latin typeface="Calibri" pitchFamily="34" charset="0"/>
                <a:ea typeface="Calibri" pitchFamily="34" charset="-122"/>
                <a:cs typeface="Calibri" pitchFamily="34" charset="-120"/>
              </a:rPr>
              <a:t>use_velocity_scaled_lookahead</a:t>
            </a:r>
            <a:r>
              <a:rPr lang="en-US" sz="1400" spc="-100" dirty="0">
                <a:solidFill>
                  <a:srgbClr val="0D1B2A"/>
                </a:solidFill>
                <a:latin typeface="Calibri" pitchFamily="34" charset="0"/>
                <a:ea typeface="Calibri" pitchFamily="34" charset="-122"/>
                <a:cs typeface="Calibri" pitchFamily="34" charset="-120"/>
              </a:rPr>
              <a:t>: true;</a:t>
            </a:r>
            <a:endParaRPr lang="en-US" sz="1400" spc="-100" dirty="0"/>
          </a:p>
          <a:p>
            <a:pPr marL="0" indent="0">
              <a:spcAft>
                <a:spcPts val="300"/>
              </a:spcAft>
              <a:buNone/>
            </a:pPr>
            <a:r>
              <a:rPr lang="en-US" sz="1400" spc="-40" dirty="0">
                <a:solidFill>
                  <a:srgbClr val="0D1B2A"/>
                </a:solidFill>
                <a:latin typeface="Calibri" pitchFamily="34" charset="0"/>
                <a:ea typeface="Calibri" pitchFamily="34" charset="-122"/>
                <a:cs typeface="Calibri" pitchFamily="34" charset="-120"/>
              </a:rPr>
              <a:t>Lekki, wolny, bardzo dokładny</a:t>
            </a:r>
            <a:endParaRPr lang="en-US" sz="1400" spc="-40" dirty="0"/>
          </a:p>
        </p:txBody>
      </p:sp>
      <p:sp>
        <p:nvSpPr>
          <p:cNvPr id="14" name="Shape 12"/>
          <p:cNvSpPr/>
          <p:nvPr/>
        </p:nvSpPr>
        <p:spPr>
          <a:xfrm>
            <a:off x="6180201" y="1078992"/>
            <a:ext cx="2809157" cy="2468880"/>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5" name="Shape 13"/>
          <p:cNvSpPr/>
          <p:nvPr/>
        </p:nvSpPr>
        <p:spPr>
          <a:xfrm>
            <a:off x="6180201" y="1078992"/>
            <a:ext cx="2809157" cy="54864"/>
          </a:xfrm>
          <a:prstGeom prst="rect">
            <a:avLst/>
          </a:prstGeom>
          <a:solidFill>
            <a:srgbClr val="4F46E5"/>
          </a:solidFill>
          <a:ln w="12700">
            <a:solidFill>
              <a:srgbClr val="4F46E5"/>
            </a:solidFill>
            <a:prstDash val="solid"/>
          </a:ln>
        </p:spPr>
      </p:sp>
      <p:sp>
        <p:nvSpPr>
          <p:cNvPr id="16" name="Text 14"/>
          <p:cNvSpPr/>
          <p:nvPr/>
        </p:nvSpPr>
        <p:spPr>
          <a:xfrm>
            <a:off x="6180201" y="1170432"/>
            <a:ext cx="2809157" cy="274320"/>
          </a:xfrm>
          <a:prstGeom prst="rect">
            <a:avLst/>
          </a:prstGeom>
          <a:noFill/>
          <a:ln/>
        </p:spPr>
        <p:txBody>
          <a:bodyPr wrap="square" lIns="0" tIns="0" rIns="0" bIns="0" rtlCol="0" anchor="ctr"/>
          <a:lstStyle/>
          <a:p>
            <a:pPr marL="0" indent="0" algn="ctr">
              <a:buNone/>
            </a:pPr>
            <a:r>
              <a:rPr lang="en-US" sz="1600" b="1" dirty="0">
                <a:solidFill>
                  <a:srgbClr val="4F46E5"/>
                </a:solidFill>
                <a:latin typeface="Calibri" pitchFamily="34" charset="0"/>
                <a:ea typeface="Calibri" pitchFamily="34" charset="-122"/>
                <a:cs typeface="Calibri" pitchFamily="34" charset="-120"/>
              </a:rPr>
              <a:t>MPPI Controller</a:t>
            </a:r>
            <a:endParaRPr lang="en-US" sz="1600" dirty="0"/>
          </a:p>
        </p:txBody>
      </p:sp>
      <p:sp>
        <p:nvSpPr>
          <p:cNvPr id="17" name="Text 15"/>
          <p:cNvSpPr/>
          <p:nvPr/>
        </p:nvSpPr>
        <p:spPr>
          <a:xfrm>
            <a:off x="6266812" y="1481328"/>
            <a:ext cx="2677292" cy="2011680"/>
          </a:xfrm>
          <a:prstGeom prst="rect">
            <a:avLst/>
          </a:prstGeom>
          <a:noFill/>
          <a:ln/>
        </p:spPr>
        <p:txBody>
          <a:bodyPr wrap="square" lIns="0" tIns="0" rIns="0" bIns="0" rtlCol="0" anchor="t"/>
          <a:lstStyle/>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Model Predictive Path Integral</a:t>
            </a:r>
            <a:r>
              <a:rPr lang="en-US" sz="1400" spc="-40" dirty="0">
                <a:solidFill>
                  <a:srgbClr val="0D1B2A"/>
                </a:solidFill>
                <a:latin typeface="Calibri" pitchFamily="34" charset="0"/>
                <a:ea typeface="Calibri" pitchFamily="34" charset="-122"/>
                <a:cs typeface="Calibri" pitchFamily="34" charset="-120"/>
              </a:rPr>
              <a:t>;</a:t>
            </a:r>
            <a:endParaRPr lang="en-US" sz="1400" spc="-40" dirty="0"/>
          </a:p>
          <a:p>
            <a:pPr marL="0" indent="0">
              <a:spcAft>
                <a:spcPts val="300"/>
              </a:spcAft>
              <a:buNone/>
            </a:pPr>
            <a:r>
              <a:rPr lang="en-US" sz="1400" spc="-40" dirty="0">
                <a:solidFill>
                  <a:srgbClr val="0D1B2A"/>
                </a:solidFill>
                <a:latin typeface="Calibri" pitchFamily="34" charset="0"/>
                <a:ea typeface="Calibri" pitchFamily="34" charset="-122"/>
                <a:cs typeface="Calibri" pitchFamily="34" charset="-120"/>
              </a:rPr>
              <a:t>próbkuje N trajektorii GPU-based;</a:t>
            </a:r>
            <a:endParaRPr lang="en-US" sz="1400" spc="-40" dirty="0"/>
          </a:p>
          <a:p>
            <a:pPr marL="0" indent="0">
              <a:spcAft>
                <a:spcPts val="300"/>
              </a:spcAft>
              <a:buNone/>
            </a:pPr>
            <a:r>
              <a:rPr lang="en-US" sz="1400" spc="-40" dirty="0">
                <a:solidFill>
                  <a:srgbClr val="0D1B2A"/>
                </a:solidFill>
                <a:latin typeface="Calibri" pitchFamily="34" charset="0"/>
                <a:ea typeface="Calibri" pitchFamily="34" charset="-122"/>
                <a:cs typeface="Calibri" pitchFamily="34" charset="-120"/>
              </a:rPr>
              <a:t>plugin: </a:t>
            </a:r>
            <a:r>
              <a:rPr lang="en-US" sz="1400" spc="-20" dirty="0">
                <a:solidFill>
                  <a:srgbClr val="0D1B2A"/>
                </a:solidFill>
                <a:latin typeface="Bodoni MT Condensed" panose="02070606080606020203" pitchFamily="18" charset="0"/>
                <a:ea typeface="Calibri" pitchFamily="34" charset="-122"/>
                <a:cs typeface="Calibri" pitchFamily="34" charset="-120"/>
              </a:rPr>
              <a:t>'nav2_mppi_controller</a:t>
            </a:r>
            <a:endParaRPr lang="en-US" sz="1400" spc="-20" dirty="0">
              <a:latin typeface="Bodoni MT Condensed" panose="02070606080606020203" pitchFamily="18" charset="0"/>
            </a:endParaRPr>
          </a:p>
          <a:p>
            <a:pPr marL="0" indent="0">
              <a:spcAft>
                <a:spcPts val="300"/>
              </a:spcAft>
              <a:buNone/>
            </a:pPr>
            <a:r>
              <a:rPr lang="en-US" sz="1400" spc="-20" dirty="0">
                <a:solidFill>
                  <a:srgbClr val="0D1B2A"/>
                </a:solidFill>
                <a:latin typeface="Bodoni MT Condensed" panose="02070606080606020203" pitchFamily="18" charset="0"/>
                <a:ea typeface="Calibri" pitchFamily="34" charset="-122"/>
                <a:cs typeface="Calibri" pitchFamily="34" charset="-120"/>
              </a:rPr>
              <a:t>::MPPIControlle</a:t>
            </a:r>
            <a:r>
              <a:rPr lang="en-US" sz="1400" spc="-40" dirty="0">
                <a:solidFill>
                  <a:srgbClr val="0D1B2A"/>
                </a:solidFill>
                <a:latin typeface="Calibri" pitchFamily="34" charset="0"/>
                <a:ea typeface="Calibri" pitchFamily="34" charset="-122"/>
                <a:cs typeface="Calibri" pitchFamily="34" charset="-120"/>
              </a:rPr>
              <a:t>r';</a:t>
            </a:r>
            <a:endParaRPr lang="en-US" sz="1400" spc="-40" dirty="0"/>
          </a:p>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batch_size</a:t>
            </a:r>
            <a:r>
              <a:rPr lang="en-US" sz="1400" spc="-40" dirty="0">
                <a:solidFill>
                  <a:srgbClr val="0D1B2A"/>
                </a:solidFill>
                <a:latin typeface="Calibri" pitchFamily="34" charset="0"/>
                <a:ea typeface="Calibri" pitchFamily="34" charset="-122"/>
                <a:cs typeface="Calibri" pitchFamily="34" charset="-120"/>
              </a:rPr>
              <a:t>: 2000, time_steps: 56;</a:t>
            </a:r>
            <a:endParaRPr lang="en-US" sz="1400" spc="-40" dirty="0"/>
          </a:p>
          <a:p>
            <a:pPr marL="0" indent="0">
              <a:spcAft>
                <a:spcPts val="300"/>
              </a:spcAft>
              <a:buNone/>
            </a:pPr>
            <a:r>
              <a:rPr lang="en-US" sz="1400" b="1" spc="-40" dirty="0">
                <a:solidFill>
                  <a:srgbClr val="0D1B2A"/>
                </a:solidFill>
                <a:latin typeface="Calibri" pitchFamily="34" charset="0"/>
                <a:ea typeface="Calibri" pitchFamily="34" charset="-122"/>
                <a:cs typeface="Calibri" pitchFamily="34" charset="-120"/>
              </a:rPr>
              <a:t>Najlepszy dla </a:t>
            </a:r>
            <a:r>
              <a:rPr lang="en-US" sz="1400" spc="-40" dirty="0">
                <a:solidFill>
                  <a:srgbClr val="0D1B2A"/>
                </a:solidFill>
                <a:latin typeface="Calibri" pitchFamily="34" charset="0"/>
                <a:ea typeface="Calibri" pitchFamily="34" charset="-122"/>
                <a:cs typeface="Calibri" pitchFamily="34" charset="-120"/>
              </a:rPr>
              <a:t>skomplikowanego terenu</a:t>
            </a:r>
            <a:endParaRPr lang="en-US" sz="1400" spc="-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Konfiguracja MPPI – strojenie dla humanoida</a:t>
            </a:r>
            <a:endParaRPr lang="en-US" sz="1400" dirty="0"/>
          </a:p>
        </p:txBody>
      </p:sp>
      <p:sp>
        <p:nvSpPr>
          <p:cNvPr id="6" name="Shape 4"/>
          <p:cNvSpPr/>
          <p:nvPr/>
        </p:nvSpPr>
        <p:spPr>
          <a:xfrm>
            <a:off x="256032" y="603504"/>
            <a:ext cx="8631936" cy="4078224"/>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895344"/>
          </a:xfrm>
          <a:prstGeom prst="rect">
            <a:avLst/>
          </a:prstGeom>
          <a:noFill/>
          <a:ln/>
        </p:spPr>
        <p:txBody>
          <a:bodyPr wrap="square" lIns="0" tIns="0" rIns="0" bIns="0" rtlCol="0" anchor="t"/>
          <a:lstStyle/>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controller_server:</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ros__parameters:</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controller_frequency: 20.0</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FollowPath:</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plugin: "nav2_mppi_controller::MPPIController"</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time_steps: 56           # horyzont predykcji = 56 * 0.05s = 2.8 s</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model_dt: 0.05           # krok czasowy [s]</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batch_size: 2000         # liczba losowanych trajektorii</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vx_std: 0.2              # odchylenie losowania v_x</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vy_std: 0.0              # 0 dla robotów nie-holonomicznych</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wz_std: 0.4              # odchylenie losowania omega_z</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vx_max: 0.5              # max prędkość do przodu [m/s]</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vx_min: -0.15            # min prędkość (cofanie) [m/s]</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wz_max: 1.0              # max prędkość kątowa [rad/s]</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critics: ["GoalCritic", "GoalAngleCritic",</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"ObstaclesCritic", "PathAlignCritic",</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"PathFollowCritic", "PreferForwardCritic"]</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ObstaclesCritic.collision_cost: 1000.0</a:t>
            </a:r>
            <a:endParaRPr lang="en-US" sz="1400" dirty="0"/>
          </a:p>
          <a:p>
            <a:pPr marL="0" indent="0">
              <a:lnSpc>
                <a:spcPts val="1600"/>
              </a:lnSpc>
              <a:buNone/>
            </a:pPr>
            <a:r>
              <a:rPr lang="en-US" sz="1400" dirty="0">
                <a:solidFill>
                  <a:srgbClr val="E2E8F0"/>
                </a:solidFill>
                <a:latin typeface="Consolas" pitchFamily="34" charset="0"/>
                <a:ea typeface="Consolas" pitchFamily="34" charset="-122"/>
                <a:cs typeface="Consolas" pitchFamily="34" charset="-120"/>
              </a:rPr>
              <a:t>      ObstaclesCritic.critical_weight: 20.0</a:t>
            </a:r>
            <a:endParaRPr lang="en-US" sz="1400" dirty="0"/>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Opis: batch_size=2000 próbkuje 2000 trajektorii w każdym kroku; critics oceniają każdą z nich; wybrana jest optymalna</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3 | SPRAWDZANIE CELU</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Goal Checker i Progress Checker</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3113532"/>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274321" y="1115568"/>
            <a:ext cx="8412480" cy="3039573"/>
          </a:xfrm>
          <a:prstGeom prst="rect">
            <a:avLst/>
          </a:prstGeom>
          <a:noFill/>
          <a:ln/>
        </p:spPr>
        <p:txBody>
          <a:bodyPr wrap="square" lIns="127000" tIns="127000" rIns="127000" bIns="127000" rtlCol="0" anchor="t"/>
          <a:lstStyle/>
          <a:p>
            <a:pPr marL="144000" indent="-144000">
              <a:spcAft>
                <a:spcPts val="1200"/>
              </a:spcAft>
              <a:buSzPct val="100000"/>
              <a:buChar char="•"/>
            </a:pPr>
            <a:r>
              <a:rPr lang="en-US" sz="1400" b="1" dirty="0">
                <a:solidFill>
                  <a:srgbClr val="0D1B2A"/>
                </a:solidFill>
                <a:latin typeface="Calibri" pitchFamily="34" charset="0"/>
                <a:ea typeface="Calibri" pitchFamily="34" charset="-122"/>
                <a:cs typeface="Calibri" pitchFamily="34" charset="-120"/>
              </a:rPr>
              <a:t>goal_checker</a:t>
            </a:r>
            <a:r>
              <a:rPr lang="en-US" sz="1400" dirty="0">
                <a:solidFill>
                  <a:srgbClr val="0D1B2A"/>
                </a:solidFill>
                <a:latin typeface="Calibri" pitchFamily="34" charset="0"/>
                <a:ea typeface="Calibri" pitchFamily="34" charset="-122"/>
                <a:cs typeface="Calibri" pitchFamily="34" charset="-120"/>
              </a:rPr>
              <a:t>: sprawdza czy robot osiągnął cel; warunki: xy_goal_tolerance i yaw_goal_tolerance</a:t>
            </a:r>
            <a:endParaRPr lang="en-US" sz="1400" dirty="0"/>
          </a:p>
          <a:p>
            <a:pPr marL="144000" indent="-144000">
              <a:spcAft>
                <a:spcPts val="1200"/>
              </a:spcAft>
              <a:buSzPct val="100000"/>
              <a:buChar char="•"/>
            </a:pPr>
            <a:r>
              <a:rPr lang="en-US" sz="1400" b="1" dirty="0">
                <a:solidFill>
                  <a:srgbClr val="0D1B2A"/>
                </a:solidFill>
                <a:latin typeface="Calibri" pitchFamily="34" charset="0"/>
                <a:ea typeface="Calibri" pitchFamily="34" charset="-122"/>
                <a:cs typeface="Calibri" pitchFamily="34" charset="-120"/>
              </a:rPr>
              <a:t>SimpleGoalChecker</a:t>
            </a:r>
            <a:r>
              <a:rPr lang="en-US" sz="1400" dirty="0">
                <a:solidFill>
                  <a:srgbClr val="0D1B2A"/>
                </a:solidFill>
                <a:latin typeface="Calibri" pitchFamily="34" charset="0"/>
                <a:ea typeface="Calibri" pitchFamily="34" charset="-122"/>
                <a:cs typeface="Calibri" pitchFamily="34" charset="-120"/>
              </a:rPr>
              <a:t>: </a:t>
            </a:r>
            <a:r>
              <a:rPr lang="en-US" sz="1400" spc="-60" dirty="0">
                <a:solidFill>
                  <a:srgbClr val="0D1B2A"/>
                </a:solidFill>
                <a:latin typeface="Calibri" pitchFamily="34" charset="0"/>
                <a:ea typeface="Calibri" pitchFamily="34" charset="-122"/>
                <a:cs typeface="Calibri" pitchFamily="34" charset="-120"/>
              </a:rPr>
              <a:t>xy_goal_tolerance=0.25 m, yaw_goal_tolerance=0.25 rad – odpowiednie dla robotów usługowych</a:t>
            </a:r>
            <a:endParaRPr lang="en-US" sz="1400" spc="-60" dirty="0"/>
          </a:p>
          <a:p>
            <a:pPr marL="144000" indent="-144000">
              <a:spcAft>
                <a:spcPts val="1200"/>
              </a:spcAft>
              <a:buSzPct val="100000"/>
              <a:buChar char="•"/>
            </a:pPr>
            <a:r>
              <a:rPr lang="en-US" sz="1400" b="1" dirty="0">
                <a:solidFill>
                  <a:srgbClr val="0D1B2A"/>
                </a:solidFill>
                <a:latin typeface="Calibri" pitchFamily="34" charset="0"/>
                <a:ea typeface="Calibri" pitchFamily="34" charset="-122"/>
                <a:cs typeface="Calibri" pitchFamily="34" charset="-120"/>
              </a:rPr>
              <a:t>StoppedGoalChecker</a:t>
            </a:r>
            <a:r>
              <a:rPr lang="en-US" sz="1400" dirty="0">
                <a:solidFill>
                  <a:srgbClr val="0D1B2A"/>
                </a:solidFill>
                <a:latin typeface="Calibri" pitchFamily="34" charset="0"/>
                <a:ea typeface="Calibri" pitchFamily="34" charset="-122"/>
                <a:cs typeface="Calibri" pitchFamily="34" charset="-120"/>
              </a:rPr>
              <a:t>: dodatkowo sprawdza czy robot jest nieruchomy (trans_stopped_velocity &lt; 0.25 m/s)</a:t>
            </a:r>
            <a:endParaRPr lang="en-US" sz="1400" dirty="0"/>
          </a:p>
          <a:p>
            <a:pPr marL="144000" indent="-144000">
              <a:spcAft>
                <a:spcPts val="1200"/>
              </a:spcAft>
              <a:buSzPct val="100000"/>
              <a:buChar char="•"/>
            </a:pPr>
            <a:r>
              <a:rPr lang="en-US" sz="1400" b="1" dirty="0">
                <a:solidFill>
                  <a:srgbClr val="0D1B2A"/>
                </a:solidFill>
                <a:latin typeface="Calibri" pitchFamily="34" charset="0"/>
                <a:ea typeface="Calibri" pitchFamily="34" charset="-122"/>
                <a:cs typeface="Calibri" pitchFamily="34" charset="-120"/>
              </a:rPr>
              <a:t>progress_checker</a:t>
            </a:r>
            <a:r>
              <a:rPr lang="en-US" sz="1400" dirty="0">
                <a:solidFill>
                  <a:srgbClr val="0D1B2A"/>
                </a:solidFill>
                <a:latin typeface="Calibri" pitchFamily="34" charset="0"/>
                <a:ea typeface="Calibri" pitchFamily="34" charset="-122"/>
                <a:cs typeface="Calibri" pitchFamily="34" charset="-120"/>
              </a:rPr>
              <a:t>: wykrywa brak postępu; wywołuje zachowania awaryjne gdy robot utknął</a:t>
            </a:r>
            <a:endParaRPr lang="en-US" sz="140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SimpleProgressChecker</a:t>
            </a:r>
            <a:r>
              <a:rPr lang="en-US" sz="1400" spc="-40" dirty="0">
                <a:solidFill>
                  <a:srgbClr val="0D1B2A"/>
                </a:solidFill>
                <a:latin typeface="Calibri" pitchFamily="34" charset="0"/>
                <a:ea typeface="Calibri" pitchFamily="34" charset="-122"/>
                <a:cs typeface="Calibri" pitchFamily="34" charset="-120"/>
              </a:rPr>
              <a:t>: movement_time_allowance=10.0 s bez minimalnego przemieszczenia → trigger recovery</a:t>
            </a:r>
            <a:endParaRPr lang="en-US" sz="1400" spc="-4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PoseProgressChecker</a:t>
            </a:r>
            <a:r>
              <a:rPr lang="en-US" sz="1400" spc="-40" dirty="0">
                <a:solidFill>
                  <a:srgbClr val="0D1B2A"/>
                </a:solidFill>
                <a:latin typeface="Calibri" pitchFamily="34" charset="0"/>
                <a:ea typeface="Calibri" pitchFamily="34" charset="-122"/>
                <a:cs typeface="Calibri" pitchFamily="34" charset="-120"/>
              </a:rPr>
              <a:t> </a:t>
            </a:r>
            <a:r>
              <a:rPr lang="en-US" sz="1400" b="1" spc="-40" dirty="0">
                <a:solidFill>
                  <a:srgbClr val="0D1B2A"/>
                </a:solidFill>
                <a:latin typeface="Calibri" pitchFamily="34" charset="0"/>
                <a:ea typeface="Calibri" pitchFamily="34" charset="-122"/>
                <a:cs typeface="Calibri" pitchFamily="34" charset="-120"/>
              </a:rPr>
              <a:t>(zaawansowany): </a:t>
            </a:r>
            <a:r>
              <a:rPr lang="en-US" sz="1400" spc="-40" dirty="0">
                <a:solidFill>
                  <a:srgbClr val="0D1B2A"/>
                </a:solidFill>
                <a:latin typeface="Calibri" pitchFamily="34" charset="0"/>
                <a:ea typeface="Calibri" pitchFamily="34" charset="-122"/>
                <a:cs typeface="Calibri" pitchFamily="34" charset="-120"/>
              </a:rPr>
              <a:t>sprawdza zmianę pozy (dx, dy, dyaw) w oknie czasowym; dokładniejszy</a:t>
            </a:r>
            <a:endParaRPr lang="en-US" sz="1400" spc="-40" dirty="0"/>
          </a:p>
          <a:p>
            <a:pPr marL="144000" indent="-144000">
              <a:spcAft>
                <a:spcPts val="1200"/>
              </a:spcAft>
              <a:buSzPct val="100000"/>
              <a:buChar char="•"/>
            </a:pPr>
            <a:r>
              <a:rPr lang="en-US" sz="1400" b="1" dirty="0">
                <a:solidFill>
                  <a:srgbClr val="0D1B2A"/>
                </a:solidFill>
                <a:latin typeface="Calibri" pitchFamily="34" charset="0"/>
                <a:ea typeface="Calibri" pitchFamily="34" charset="-122"/>
                <a:cs typeface="Calibri" pitchFamily="34" charset="-120"/>
              </a:rPr>
              <a:t>Parametry</a:t>
            </a:r>
            <a:r>
              <a:rPr lang="en-US" sz="1400" dirty="0">
                <a:solidFill>
                  <a:srgbClr val="0D1B2A"/>
                </a:solidFill>
                <a:latin typeface="Calibri" pitchFamily="34" charset="0"/>
                <a:ea typeface="Calibri" pitchFamily="34" charset="-122"/>
                <a:cs typeface="Calibri" pitchFamily="34" charset="-120"/>
              </a:rPr>
              <a:t> </a:t>
            </a:r>
            <a:r>
              <a:rPr lang="en-US" sz="1400" b="1" dirty="0">
                <a:solidFill>
                  <a:srgbClr val="0D1B2A"/>
                </a:solidFill>
                <a:latin typeface="Calibri" pitchFamily="34" charset="0"/>
                <a:ea typeface="Calibri" pitchFamily="34" charset="-122"/>
                <a:cs typeface="Calibri" pitchFamily="34" charset="-120"/>
              </a:rPr>
              <a:t>strojenia</a:t>
            </a:r>
            <a:r>
              <a:rPr lang="en-US" sz="1400" dirty="0">
                <a:solidFill>
                  <a:srgbClr val="0D1B2A"/>
                </a:solidFill>
                <a:latin typeface="Calibri" pitchFamily="34" charset="0"/>
                <a:ea typeface="Calibri" pitchFamily="34" charset="-122"/>
                <a:cs typeface="Calibri" pitchFamily="34" charset="-120"/>
              </a:rPr>
              <a:t>: zbyt mała tolerancja → robot kręci się przy celu; zbyt duża → niedokładne dotarcie</a:t>
            </a:r>
            <a:endParaRPr lang="en-US" sz="1400" dirty="0"/>
          </a:p>
          <a:p>
            <a:pPr marL="144000" indent="-144000">
              <a:spcAft>
                <a:spcPts val="1200"/>
              </a:spcAft>
              <a:buSzPct val="100000"/>
              <a:buChar char="•"/>
            </a:pPr>
            <a:r>
              <a:rPr lang="en-US" sz="1400" b="1" spc="-40" dirty="0">
                <a:solidFill>
                  <a:srgbClr val="0D1B2A"/>
                </a:solidFill>
                <a:latin typeface="Calibri" pitchFamily="34" charset="0"/>
                <a:ea typeface="Calibri" pitchFamily="34" charset="-122"/>
                <a:cs typeface="Calibri" pitchFamily="34" charset="-120"/>
              </a:rPr>
              <a:t>Dla</a:t>
            </a:r>
            <a:r>
              <a:rPr lang="en-US" sz="1400" spc="-40" dirty="0">
                <a:solidFill>
                  <a:srgbClr val="0D1B2A"/>
                </a:solidFill>
                <a:latin typeface="Calibri" pitchFamily="34" charset="0"/>
                <a:ea typeface="Calibri" pitchFamily="34" charset="-122"/>
                <a:cs typeface="Calibri" pitchFamily="34" charset="-120"/>
              </a:rPr>
              <a:t> </a:t>
            </a:r>
            <a:r>
              <a:rPr lang="en-US" sz="1400" b="1" spc="-40" dirty="0">
                <a:solidFill>
                  <a:srgbClr val="0D1B2A"/>
                </a:solidFill>
                <a:latin typeface="Calibri" pitchFamily="34" charset="0"/>
                <a:ea typeface="Calibri" pitchFamily="34" charset="-122"/>
                <a:cs typeface="Calibri" pitchFamily="34" charset="-120"/>
              </a:rPr>
              <a:t>humanoida</a:t>
            </a:r>
            <a:r>
              <a:rPr lang="en-US" sz="1400" spc="-40" dirty="0">
                <a:solidFill>
                  <a:srgbClr val="0D1B2A"/>
                </a:solidFill>
                <a:latin typeface="Calibri" pitchFamily="34" charset="0"/>
                <a:ea typeface="Calibri" pitchFamily="34" charset="-122"/>
                <a:cs typeface="Calibri" pitchFamily="34" charset="-120"/>
              </a:rPr>
              <a:t>: xy_goal_tolerance=0.15 m, yaw_goal_tolerance=0.1 rad – precyzja wymagana przy manipulacji</a:t>
            </a:r>
            <a:endParaRPr lang="en-US" sz="1400" spc="-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4F46E5"/>
          </a:solidFill>
          <a:ln w="12700">
            <a:solidFill>
              <a:srgbClr val="4F46E5"/>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0800" b="1" dirty="0">
                <a:solidFill>
                  <a:srgbClr val="4F46E5"/>
                </a:solidFill>
                <a:latin typeface="Trebuchet MS" pitchFamily="34" charset="0"/>
                <a:ea typeface="Trebuchet MS" pitchFamily="34" charset="-122"/>
                <a:cs typeface="Trebuchet MS" pitchFamily="34" charset="-120"/>
              </a:rPr>
              <a:t>04</a:t>
            </a:r>
            <a:endParaRPr lang="en-US" sz="10800" dirty="0"/>
          </a:p>
        </p:txBody>
      </p:sp>
      <p:sp>
        <p:nvSpPr>
          <p:cNvPr id="5" name="Text 3"/>
          <p:cNvSpPr/>
          <p:nvPr/>
        </p:nvSpPr>
        <p:spPr>
          <a:xfrm>
            <a:off x="2926080" y="1188720"/>
            <a:ext cx="4572000" cy="347472"/>
          </a:xfrm>
          <a:prstGeom prst="rect">
            <a:avLst/>
          </a:prstGeom>
          <a:noFill/>
          <a:ln/>
        </p:spPr>
        <p:txBody>
          <a:bodyPr wrap="square" lIns="0" tIns="0" rIns="0" bIns="0" rtlCol="0" anchor="ctr"/>
          <a:lstStyle/>
          <a:p>
            <a:pPr marL="0" indent="0">
              <a:buNone/>
            </a:pPr>
            <a:r>
              <a:rPr lang="en-US" sz="1100" b="1" dirty="0">
                <a:solidFill>
                  <a:srgbClr val="4F46E5"/>
                </a:solidFill>
                <a:latin typeface="Trebuchet MS" pitchFamily="34" charset="0"/>
                <a:ea typeface="Trebuchet MS" pitchFamily="34" charset="-122"/>
                <a:cs typeface="Trebuchet MS" pitchFamily="34" charset="-120"/>
              </a:rPr>
              <a:t>SEKCJA</a:t>
            </a:r>
            <a:endParaRPr lang="en-US" sz="1100" dirty="0"/>
          </a:p>
        </p:txBody>
      </p:sp>
      <p:sp>
        <p:nvSpPr>
          <p:cNvPr id="6" name="Text 4"/>
          <p:cNvSpPr/>
          <p:nvPr/>
        </p:nvSpPr>
        <p:spPr>
          <a:xfrm>
            <a:off x="2926080" y="1572768"/>
            <a:ext cx="5212080" cy="1051560"/>
          </a:xfrm>
          <a:prstGeom prst="rect">
            <a:avLst/>
          </a:prstGeom>
          <a:noFill/>
          <a:ln/>
        </p:spPr>
        <p:txBody>
          <a:bodyPr wrap="square" lIns="0" tIns="0" rIns="0" bIns="0" rtlCol="0" anchor="ctr"/>
          <a:lstStyle/>
          <a:p>
            <a:pPr marL="0" indent="0">
              <a:buNone/>
            </a:pPr>
            <a:r>
              <a:rPr lang="en-US" sz="3200" b="1" dirty="0" err="1">
                <a:solidFill>
                  <a:srgbClr val="FFFFFF"/>
                </a:solidFill>
                <a:latin typeface="Trebuchet MS" pitchFamily="34" charset="0"/>
                <a:ea typeface="Trebuchet MS" pitchFamily="34" charset="-122"/>
                <a:cs typeface="Trebuchet MS" pitchFamily="34" charset="-120"/>
              </a:rPr>
              <a:t>Wdrożenie</a:t>
            </a:r>
            <a:r>
              <a:rPr lang="en-US" sz="3200" b="1" dirty="0">
                <a:solidFill>
                  <a:srgbClr val="FFFFFF"/>
                </a:solidFill>
                <a:latin typeface="Trebuchet MS" pitchFamily="34" charset="0"/>
                <a:ea typeface="Trebuchet MS" pitchFamily="34" charset="-122"/>
                <a:cs typeface="Trebuchet MS" pitchFamily="34" charset="-120"/>
              </a:rPr>
              <a:t> </a:t>
            </a:r>
            <a:endParaRPr lang="pl-PL" sz="3200" b="1" dirty="0" smtClean="0">
              <a:solidFill>
                <a:srgbClr val="FFFFFF"/>
              </a:solidFill>
              <a:latin typeface="Trebuchet MS" pitchFamily="34" charset="0"/>
              <a:ea typeface="Trebuchet MS" pitchFamily="34" charset="-122"/>
              <a:cs typeface="Trebuchet MS" pitchFamily="34" charset="-120"/>
            </a:endParaRPr>
          </a:p>
          <a:p>
            <a:pPr marL="0" indent="0">
              <a:buNone/>
            </a:pPr>
            <a:r>
              <a:rPr lang="en-US" sz="3200" b="1" dirty="0" err="1" smtClean="0">
                <a:solidFill>
                  <a:srgbClr val="FFFFFF"/>
                </a:solidFill>
                <a:latin typeface="Trebuchet MS" pitchFamily="34" charset="0"/>
                <a:ea typeface="Trebuchet MS" pitchFamily="34" charset="-122"/>
                <a:cs typeface="Trebuchet MS" pitchFamily="34" charset="-120"/>
              </a:rPr>
              <a:t>i</a:t>
            </a:r>
            <a:r>
              <a:rPr lang="en-US" sz="3200" b="1" dirty="0" smtClean="0">
                <a:solidFill>
                  <a:srgbClr val="FFFFFF"/>
                </a:solidFill>
                <a:latin typeface="Trebuchet MS" pitchFamily="34" charset="0"/>
                <a:ea typeface="Trebuchet MS" pitchFamily="34" charset="-122"/>
                <a:cs typeface="Trebuchet MS" pitchFamily="34" charset="-120"/>
              </a:rPr>
              <a:t> </a:t>
            </a:r>
            <a:r>
              <a:rPr lang="en-US" sz="3200" b="1" dirty="0">
                <a:solidFill>
                  <a:srgbClr val="FFFFFF"/>
                </a:solidFill>
                <a:latin typeface="Trebuchet MS" pitchFamily="34" charset="0"/>
                <a:ea typeface="Trebuchet MS" pitchFamily="34" charset="-122"/>
                <a:cs typeface="Trebuchet MS" pitchFamily="34" charset="-120"/>
              </a:rPr>
              <a:t>rozszerzenia Nav2</a:t>
            </a:r>
            <a:endParaRPr lang="en-US" sz="3200" dirty="0"/>
          </a:p>
        </p:txBody>
      </p:sp>
      <p:sp>
        <p:nvSpPr>
          <p:cNvPr id="7" name="Shape 5"/>
          <p:cNvSpPr/>
          <p:nvPr/>
        </p:nvSpPr>
        <p:spPr>
          <a:xfrm>
            <a:off x="2926080" y="2715768"/>
            <a:ext cx="3931920" cy="27432"/>
          </a:xfrm>
          <a:prstGeom prst="rect">
            <a:avLst/>
          </a:prstGeom>
          <a:solidFill>
            <a:srgbClr val="4F46E5"/>
          </a:solidFill>
          <a:ln w="12700">
            <a:solidFill>
              <a:srgbClr val="4F46E5"/>
            </a:solidFill>
            <a:prstDash val="solid"/>
          </a:ln>
        </p:spPr>
      </p:sp>
      <p:sp>
        <p:nvSpPr>
          <p:cNvPr id="8" name="Text 6"/>
          <p:cNvSpPr/>
          <p:nvPr/>
        </p:nvSpPr>
        <p:spPr>
          <a:xfrm>
            <a:off x="2926080" y="2834640"/>
            <a:ext cx="5303520" cy="439719"/>
          </a:xfrm>
          <a:prstGeom prst="rect">
            <a:avLst/>
          </a:prstGeom>
          <a:noFill/>
          <a:ln/>
        </p:spPr>
        <p:txBody>
          <a:bodyPr wrap="square" lIns="0" tIns="0" rIns="0" bIns="0" rtlCol="0" anchor="ctr"/>
          <a:lstStyle/>
          <a:p>
            <a:pPr marL="0" indent="0">
              <a:buNone/>
            </a:pPr>
            <a:r>
              <a:rPr lang="en-US" sz="1350" i="1" dirty="0">
                <a:solidFill>
                  <a:srgbClr val="E2EBF3"/>
                </a:solidFill>
                <a:latin typeface="Calibri" pitchFamily="34" charset="0"/>
                <a:ea typeface="Calibri" pitchFamily="34" charset="-122"/>
                <a:cs typeface="Calibri" pitchFamily="34" charset="-120"/>
              </a:rPr>
              <a:t>Wtyczki, debugowanie, monitoring, integracja z humanoidem</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Nawigacja do punktu przez Python API</a:t>
            </a:r>
            <a:endParaRPr lang="en-US" sz="2200" dirty="0"/>
          </a:p>
        </p:txBody>
      </p:sp>
      <p:sp>
        <p:nvSpPr>
          <p:cNvPr id="6" name="Shape 4"/>
          <p:cNvSpPr/>
          <p:nvPr/>
        </p:nvSpPr>
        <p:spPr>
          <a:xfrm>
            <a:off x="256032" y="603504"/>
            <a:ext cx="8631936" cy="3822192"/>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767328"/>
          </a:xfrm>
          <a:prstGeom prst="rect">
            <a:avLst/>
          </a:prstGeom>
          <a:noFill/>
          <a:ln/>
        </p:spPr>
        <p:txBody>
          <a:bodyPr wrap="square" lIns="0" tIns="0" rIns="0" bIns="0" numCol="1" spcCol="72000" rtlCol="0" anchor="t"/>
          <a:lstStyle/>
          <a:p>
            <a:pPr>
              <a:lnSpc>
                <a:spcPts val="1000"/>
              </a:lnSpc>
            </a:pP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rclpy</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rclpy.node</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Node</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nav2_simple_commander.robot_navigator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BasicNavigator</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geometry_msgs.msg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main</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rclpy</a:t>
            </a:r>
            <a:r>
              <a:rPr lang="pl-PL" sz="1000" dirty="0" err="1">
                <a:solidFill>
                  <a:srgbClr val="CCCCCC"/>
                </a:solidFill>
                <a:latin typeface="Consolas" panose="020B0609020204030204" pitchFamily="49" charset="0"/>
              </a:rPr>
              <a:t>.init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BasicNavigator</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Pozycja startowa (opcjonalna, jeśli AMCL nie jest zainicjowany)</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initial_pose</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initial_pose</a:t>
            </a:r>
            <a:r>
              <a:rPr lang="pl-PL" sz="1000" dirty="0" err="1">
                <a:solidFill>
                  <a:srgbClr val="CCCCCC"/>
                </a:solidFill>
                <a:latin typeface="Consolas" panose="020B0609020204030204" pitchFamily="49" charset="0"/>
              </a:rPr>
              <a:t>.header.frame_id</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'map'</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initial_pose</a:t>
            </a:r>
            <a:r>
              <a:rPr lang="pl-PL" sz="1000" dirty="0" err="1">
                <a:solidFill>
                  <a:srgbClr val="CCCCCC"/>
                </a:solidFill>
                <a:latin typeface="Consolas" panose="020B0609020204030204" pitchFamily="49" charset="0"/>
              </a:rPr>
              <a:t>.pose.position.x</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initial_pose</a:t>
            </a:r>
            <a:r>
              <a:rPr lang="pl-PL" sz="1000" dirty="0" err="1">
                <a:solidFill>
                  <a:srgbClr val="CCCCCC"/>
                </a:solidFill>
                <a:latin typeface="Consolas" panose="020B0609020204030204" pitchFamily="49" charset="0"/>
              </a:rPr>
              <a:t>.pose.position.y</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initial_pose</a:t>
            </a:r>
            <a:r>
              <a:rPr lang="pl-PL" sz="1000" dirty="0" err="1">
                <a:solidFill>
                  <a:srgbClr val="CCCCCC"/>
                </a:solidFill>
                <a:latin typeface="Consolas" panose="020B0609020204030204" pitchFamily="49" charset="0"/>
              </a:rPr>
              <a:t>.pose.orientation.w</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.setInitialPose</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initial_pose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nav</a:t>
            </a:r>
            <a:r>
              <a:rPr lang="pl-PL" sz="1000" dirty="0">
                <a:solidFill>
                  <a:srgbClr val="CCCCCC"/>
                </a:solidFill>
                <a:latin typeface="Consolas" panose="020B0609020204030204" pitchFamily="49" charset="0"/>
              </a:rPr>
              <a:t>.waitUntilNav2Active() </a:t>
            </a:r>
            <a:r>
              <a:rPr lang="pl-PL" sz="1000" dirty="0">
                <a:solidFill>
                  <a:srgbClr val="6A9955"/>
                </a:solidFill>
                <a:latin typeface="Consolas" panose="020B0609020204030204" pitchFamily="49" charset="0"/>
              </a:rPr>
              <a:t># czekaj aż Nav2 będzie gotowe</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.header.frame_id</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'map'</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.pose.position.x</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3.5</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.pose.position.y</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1.2</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.pose.orientation.w</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.goToPose</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goal</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wyślij cel</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C586C0"/>
                </a:solidFill>
                <a:latin typeface="Consolas" panose="020B0609020204030204" pitchFamily="49" charset="0"/>
              </a:rPr>
              <a:t>while</a:t>
            </a: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not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.isTaskComplete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feedback</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.getFeedback</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print</a:t>
            </a:r>
            <a:r>
              <a:rPr lang="pl-PL" sz="1000" dirty="0">
                <a:solidFill>
                  <a:srgbClr val="CCCCCC"/>
                </a:solidFill>
                <a:latin typeface="Consolas" panose="020B0609020204030204" pitchFamily="49" charset="0"/>
              </a:rPr>
              <a:t>(</a:t>
            </a:r>
            <a:r>
              <a:rPr lang="pl-PL" sz="1000" dirty="0" err="1">
                <a:solidFill>
                  <a:srgbClr val="569CD6"/>
                </a:solidFill>
                <a:latin typeface="Consolas" panose="020B0609020204030204" pitchFamily="49" charset="0"/>
              </a:rPr>
              <a:t>f</a:t>
            </a:r>
            <a:r>
              <a:rPr lang="pl-PL" sz="1000" dirty="0" err="1">
                <a:solidFill>
                  <a:srgbClr val="CE9178"/>
                </a:solidFill>
                <a:latin typeface="Consolas" panose="020B0609020204030204" pitchFamily="49" charset="0"/>
              </a:rPr>
              <a:t>"Odległość</a:t>
            </a:r>
            <a:r>
              <a:rPr lang="pl-PL" sz="1000" dirty="0">
                <a:solidFill>
                  <a:srgbClr val="CE9178"/>
                </a:solidFill>
                <a:latin typeface="Consolas" panose="020B0609020204030204" pitchFamily="49" charset="0"/>
              </a:rPr>
              <a:t> do celu: </a:t>
            </a:r>
            <a:r>
              <a:rPr lang="pl-PL" sz="1000" dirty="0">
                <a:solidFill>
                  <a:srgbClr val="569CD6"/>
                </a:solidFill>
                <a:latin typeface="Consolas" panose="020B0609020204030204" pitchFamily="49" charset="0"/>
              </a:rPr>
              <a:t>{</a:t>
            </a:r>
            <a:r>
              <a:rPr lang="pl-PL" sz="1000" dirty="0">
                <a:solidFill>
                  <a:srgbClr val="9CDCFE"/>
                </a:solidFill>
                <a:latin typeface="Consolas" panose="020B0609020204030204" pitchFamily="49" charset="0"/>
              </a:rPr>
              <a:t>feedback</a:t>
            </a:r>
            <a:r>
              <a:rPr lang="pl-PL" sz="1000" dirty="0">
                <a:solidFill>
                  <a:srgbClr val="CCCCCC"/>
                </a:solidFill>
                <a:latin typeface="Consolas" panose="020B0609020204030204" pitchFamily="49" charset="0"/>
              </a:rPr>
              <a:t>.distance_remaining</a:t>
            </a:r>
            <a:r>
              <a:rPr lang="pl-PL" sz="1000" dirty="0">
                <a:solidFill>
                  <a:srgbClr val="569CD6"/>
                </a:solidFill>
                <a:latin typeface="Consolas" panose="020B0609020204030204" pitchFamily="49" charset="0"/>
              </a:rPr>
              <a:t>:.2f}</a:t>
            </a:r>
            <a:r>
              <a:rPr lang="pl-PL" sz="1000" dirty="0">
                <a:solidFill>
                  <a:srgbClr val="CE9178"/>
                </a:solidFill>
                <a:latin typeface="Consolas" panose="020B0609020204030204" pitchFamily="49" charset="0"/>
              </a:rPr>
              <a:t> m"</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print</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"Status:"</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.getResult</a:t>
            </a:r>
            <a:r>
              <a:rPr lang="pl-PL" sz="1000" dirty="0">
                <a:solidFill>
                  <a:srgbClr val="CCCCCC"/>
                </a:solidFill>
                <a:latin typeface="Consolas" panose="020B0609020204030204" pitchFamily="49" charset="0"/>
              </a:rPr>
              <a:t>())</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dirty="0" smtClean="0">
                <a:solidFill>
                  <a:srgbClr val="94A3B8"/>
                </a:solidFill>
                <a:latin typeface="Calibri" pitchFamily="34" charset="0"/>
                <a:ea typeface="Calibri" pitchFamily="34" charset="-122"/>
                <a:cs typeface="Calibri" pitchFamily="34" charset="-120"/>
              </a:rPr>
              <a:t>nav2_simple_commander </a:t>
            </a:r>
            <a:r>
              <a:rPr lang="en-US" sz="1400" dirty="0">
                <a:solidFill>
                  <a:srgbClr val="94A3B8"/>
                </a:solidFill>
                <a:latin typeface="Calibri" pitchFamily="34" charset="0"/>
                <a:ea typeface="Calibri" pitchFamily="34" charset="-122"/>
                <a:cs typeface="Calibri" pitchFamily="34" charset="-120"/>
              </a:rPr>
              <a:t>opakowuje ActionClient; goToPose wysyła NavigateToPose; getFeedback() zwraca postęp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Nawigacja przez listę punktów (Waypoint Follower)</a:t>
            </a:r>
            <a:endParaRPr lang="en-US" sz="2200" dirty="0"/>
          </a:p>
        </p:txBody>
      </p:sp>
      <p:sp>
        <p:nvSpPr>
          <p:cNvPr id="6" name="Shape 4"/>
          <p:cNvSpPr/>
          <p:nvPr/>
        </p:nvSpPr>
        <p:spPr>
          <a:xfrm>
            <a:off x="256032" y="603504"/>
            <a:ext cx="8631936" cy="3813855"/>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758991"/>
          </a:xfrm>
          <a:prstGeom prst="rect">
            <a:avLst/>
          </a:prstGeom>
          <a:noFill/>
          <a:ln/>
        </p:spPr>
        <p:txBody>
          <a:bodyPr wrap="square" lIns="0" tIns="0" rIns="0" bIns="0" numCol="1" spcCol="72000" rtlCol="0" anchor="t"/>
          <a:lstStyle/>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nav2_simple_commander.robot_navigator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BasicNavigator</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geometry_msgs.msg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rclpy</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make_pose</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x</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y</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w</a:t>
            </a:r>
            <a:r>
              <a:rPr lang="pl-PL" sz="1000" dirty="0">
                <a:solidFill>
                  <a:srgbClr val="D4D4D4"/>
                </a:solidFill>
                <a:latin typeface="Consolas" panose="020B0609020204030204" pitchFamily="49" charset="0"/>
              </a:rPr>
              <a:t>=</a:t>
            </a:r>
            <a:r>
              <a:rPr lang="pl-PL" sz="1000" dirty="0">
                <a:solidFill>
                  <a:srgbClr val="B5CEA8"/>
                </a:solidFill>
                <a:latin typeface="Consolas" panose="020B0609020204030204" pitchFamily="49" charset="0"/>
              </a:rPr>
              <a:t>1.0</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p</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t>
            </a:r>
            <a:r>
              <a:rPr lang="pl-PL" sz="1000" dirty="0" err="1">
                <a:solidFill>
                  <a:srgbClr val="CCCCCC"/>
                </a:solidFill>
                <a:latin typeface="Consolas" panose="020B0609020204030204" pitchFamily="49" charset="0"/>
              </a:rPr>
              <a:t>.header.frame_id</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'map'</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t>
            </a:r>
            <a:r>
              <a:rPr lang="pl-PL" sz="1000" dirty="0" err="1">
                <a:solidFill>
                  <a:srgbClr val="CCCCCC"/>
                </a:solidFill>
                <a:latin typeface="Consolas" panose="020B0609020204030204" pitchFamily="49" charset="0"/>
              </a:rPr>
              <a:t>.pose.position.x</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x</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t>
            </a:r>
            <a:r>
              <a:rPr lang="pl-PL" sz="1000" dirty="0" err="1">
                <a:solidFill>
                  <a:srgbClr val="CCCCCC"/>
                </a:solidFill>
                <a:latin typeface="Consolas" panose="020B0609020204030204" pitchFamily="49" charset="0"/>
              </a:rPr>
              <a:t>.pose.position.y</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y</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t>
            </a:r>
            <a:r>
              <a:rPr lang="pl-PL" sz="1000" dirty="0" err="1">
                <a:solidFill>
                  <a:srgbClr val="CCCCCC"/>
                </a:solidFill>
                <a:latin typeface="Consolas" panose="020B0609020204030204" pitchFamily="49" charset="0"/>
              </a:rPr>
              <a:t>.pose.orientation.w</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w</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return</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p</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main</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rclpy</a:t>
            </a:r>
            <a:r>
              <a:rPr lang="pl-PL" sz="1000" dirty="0" err="1">
                <a:solidFill>
                  <a:srgbClr val="CCCCCC"/>
                </a:solidFill>
                <a:latin typeface="Consolas" panose="020B0609020204030204" pitchFamily="49" charset="0"/>
              </a:rPr>
              <a:t>.init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BasicNavigator</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nav</a:t>
            </a:r>
            <a:r>
              <a:rPr lang="pl-PL" sz="1000" dirty="0">
                <a:solidFill>
                  <a:srgbClr val="CCCCCC"/>
                </a:solidFill>
                <a:latin typeface="Consolas" panose="020B0609020204030204" pitchFamily="49" charset="0"/>
              </a:rPr>
              <a:t>.waitUntilNav2Active</a:t>
            </a:r>
            <a:r>
              <a:rPr lang="pl-PL" sz="1000" dirty="0" smtClean="0">
                <a:solidFill>
                  <a:srgbClr val="CCCCCC"/>
                </a:solidFill>
                <a:latin typeface="Consolas" panose="020B0609020204030204" pitchFamily="49" charset="0"/>
              </a:rPr>
              <a:t>()</a:t>
            </a: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waypoints</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smtClean="0">
                <a:solidFill>
                  <a:srgbClr val="CCCCCC"/>
                </a:solidFill>
                <a:latin typeface="Consolas" panose="020B0609020204030204" pitchFamily="49" charset="0"/>
              </a:rPr>
              <a:t>[          </a:t>
            </a:r>
            <a:r>
              <a:rPr lang="pl-PL" sz="1000" dirty="0" smtClean="0">
                <a:solidFill>
                  <a:srgbClr val="6A9955"/>
                </a:solidFill>
                <a:latin typeface="Consolas" panose="020B0609020204030204" pitchFamily="49" charset="0"/>
              </a:rPr>
              <a:t># </a:t>
            </a:r>
            <a:r>
              <a:rPr lang="pl-PL" sz="1000" dirty="0">
                <a:solidFill>
                  <a:srgbClr val="6A9955"/>
                </a:solidFill>
                <a:latin typeface="Consolas" panose="020B0609020204030204" pitchFamily="49" charset="0"/>
              </a:rPr>
              <a:t>Trasa: korytarz -&gt; sala -&gt; </a:t>
            </a:r>
            <a:r>
              <a:rPr lang="pl-PL" sz="1000" dirty="0" smtClean="0">
                <a:solidFill>
                  <a:srgbClr val="6A9955"/>
                </a:solidFill>
                <a:latin typeface="Consolas" panose="020B0609020204030204" pitchFamily="49" charset="0"/>
              </a:rPr>
              <a:t>powrót</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make_pose</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2.0</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0.5</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skrzyżowanie korytarza</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make_pose</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4.5</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1.8</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drzwi sali konferencyjnej</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make_pose</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6.0</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1.8</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środek sali</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make_pose</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0.0</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0.0</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powrót do stacji bazowej</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smtClean="0">
                <a:solidFill>
                  <a:srgbClr val="CCCCCC"/>
                </a:solidFill>
                <a:latin typeface="Consolas" panose="020B0609020204030204" pitchFamily="49" charset="0"/>
              </a:rPr>
              <a:t>]</a:t>
            </a: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.followWaypoints</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waypoints</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C586C0"/>
                </a:solidFill>
                <a:latin typeface="Consolas" panose="020B0609020204030204" pitchFamily="49" charset="0"/>
              </a:rPr>
              <a:t>while</a:t>
            </a: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not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.isTaskComplete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feedback</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.getFeedback</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idx</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feedback</a:t>
            </a:r>
            <a:r>
              <a:rPr lang="pl-PL" sz="1000" dirty="0" err="1">
                <a:solidFill>
                  <a:srgbClr val="CCCCCC"/>
                </a:solidFill>
                <a:latin typeface="Consolas" panose="020B0609020204030204" pitchFamily="49" charset="0"/>
              </a:rPr>
              <a:t>.current_waypoint</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print</a:t>
            </a:r>
            <a:r>
              <a:rPr lang="pl-PL" sz="1000" dirty="0">
                <a:solidFill>
                  <a:srgbClr val="CCCCCC"/>
                </a:solidFill>
                <a:latin typeface="Consolas" panose="020B0609020204030204" pitchFamily="49" charset="0"/>
              </a:rPr>
              <a:t>(</a:t>
            </a:r>
            <a:r>
              <a:rPr lang="pl-PL" sz="1000" dirty="0" err="1">
                <a:solidFill>
                  <a:srgbClr val="569CD6"/>
                </a:solidFill>
                <a:latin typeface="Consolas" panose="020B0609020204030204" pitchFamily="49" charset="0"/>
              </a:rPr>
              <a:t>f</a:t>
            </a:r>
            <a:r>
              <a:rPr lang="pl-PL" sz="1000" dirty="0" err="1">
                <a:solidFill>
                  <a:srgbClr val="CE9178"/>
                </a:solidFill>
                <a:latin typeface="Consolas" panose="020B0609020204030204" pitchFamily="49" charset="0"/>
              </a:rPr>
              <a:t>"Aktualny</a:t>
            </a:r>
            <a:r>
              <a:rPr lang="pl-PL" sz="1000" dirty="0">
                <a:solidFill>
                  <a:srgbClr val="CE9178"/>
                </a:solidFill>
                <a:latin typeface="Consolas" panose="020B0609020204030204" pitchFamily="49" charset="0"/>
              </a:rPr>
              <a:t> </a:t>
            </a:r>
            <a:r>
              <a:rPr lang="pl-PL" sz="1000" dirty="0" err="1">
                <a:solidFill>
                  <a:srgbClr val="CE9178"/>
                </a:solidFill>
                <a:latin typeface="Consolas" panose="020B0609020204030204" pitchFamily="49" charset="0"/>
              </a:rPr>
              <a:t>waypoint</a:t>
            </a:r>
            <a:r>
              <a:rPr lang="pl-PL" sz="1000" dirty="0">
                <a:solidFill>
                  <a:srgbClr val="CE9178"/>
                </a:solidFill>
                <a:latin typeface="Consolas" panose="020B0609020204030204" pitchFamily="49" charset="0"/>
              </a:rPr>
              <a:t>: </a:t>
            </a:r>
            <a:r>
              <a:rPr lang="pl-PL" sz="1000" dirty="0">
                <a:solidFill>
                  <a:srgbClr val="569CD6"/>
                </a:solidFill>
                <a:latin typeface="Consolas" panose="020B0609020204030204" pitchFamily="49" charset="0"/>
              </a:rPr>
              <a:t>{</a:t>
            </a:r>
            <a:r>
              <a:rPr lang="pl-PL" sz="1000" dirty="0">
                <a:solidFill>
                  <a:srgbClr val="9CDCFE"/>
                </a:solidFill>
                <a:latin typeface="Consolas" panose="020B0609020204030204" pitchFamily="49" charset="0"/>
              </a:rPr>
              <a:t>idx</a:t>
            </a:r>
            <a:r>
              <a:rPr lang="pl-PL" sz="1000" dirty="0">
                <a:solidFill>
                  <a:srgbClr val="D4D4D4"/>
                </a:solidFill>
                <a:latin typeface="Consolas" panose="020B0609020204030204" pitchFamily="49" charset="0"/>
              </a:rPr>
              <a:t>+</a:t>
            </a:r>
            <a:r>
              <a:rPr lang="pl-PL" sz="1000" dirty="0">
                <a:solidFill>
                  <a:srgbClr val="B5CEA8"/>
                </a:solidFill>
                <a:latin typeface="Consolas" panose="020B0609020204030204" pitchFamily="49" charset="0"/>
              </a:rPr>
              <a:t>1</a:t>
            </a:r>
            <a:r>
              <a:rPr lang="pl-PL" sz="1000" dirty="0">
                <a:solidFill>
                  <a:srgbClr val="569CD6"/>
                </a:solidFill>
                <a:latin typeface="Consolas" panose="020B0609020204030204" pitchFamily="49" charset="0"/>
              </a:rPr>
              <a:t>}</a:t>
            </a:r>
            <a:r>
              <a:rPr lang="pl-PL" sz="1000" dirty="0">
                <a:solidFill>
                  <a:srgbClr val="CE9178"/>
                </a:solidFill>
                <a:latin typeface="Consolas" panose="020B0609020204030204" pitchFamily="49" charset="0"/>
              </a:rPr>
              <a:t>/</a:t>
            </a:r>
            <a:r>
              <a:rPr lang="pl-PL" sz="1000" dirty="0">
                <a:solidFill>
                  <a:srgbClr val="569CD6"/>
                </a:solidFill>
                <a:latin typeface="Consolas" panose="020B0609020204030204" pitchFamily="49" charset="0"/>
              </a:rPr>
              <a:t>{</a:t>
            </a:r>
            <a:r>
              <a:rPr lang="pl-PL" sz="1000" dirty="0">
                <a:solidFill>
                  <a:srgbClr val="DCDCAA"/>
                </a:solidFill>
                <a:latin typeface="Consolas" panose="020B0609020204030204" pitchFamily="49" charset="0"/>
              </a:rPr>
              <a:t>len</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waypoints</a:t>
            </a:r>
            <a:r>
              <a:rPr lang="pl-PL" sz="1000" dirty="0">
                <a:solidFill>
                  <a:srgbClr val="CCCCCC"/>
                </a:solidFill>
                <a:latin typeface="Consolas" panose="020B0609020204030204" pitchFamily="49" charset="0"/>
              </a:rPr>
              <a:t>)</a:t>
            </a:r>
            <a:r>
              <a:rPr lang="pl-PL" sz="1000" dirty="0">
                <a:solidFill>
                  <a:srgbClr val="569CD6"/>
                </a:solidFill>
                <a:latin typeface="Consolas" panose="020B0609020204030204" pitchFamily="49" charset="0"/>
              </a:rPr>
              <a:t>}</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print</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"Trasa zakończona!"</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nav</a:t>
            </a:r>
            <a:r>
              <a:rPr lang="pl-PL" sz="1000" dirty="0" err="1">
                <a:solidFill>
                  <a:srgbClr val="CCCCCC"/>
                </a:solidFill>
                <a:latin typeface="Consolas" panose="020B0609020204030204" pitchFamily="49" charset="0"/>
              </a:rPr>
              <a:t>.lifecycleShutdown</a:t>
            </a:r>
            <a:r>
              <a:rPr lang="pl-PL" sz="1000" dirty="0" smtClean="0">
                <a:solidFill>
                  <a:srgbClr val="CCCCCC"/>
                </a:solidFill>
                <a:latin typeface="Consolas" panose="020B0609020204030204" pitchFamily="49" charset="0"/>
              </a:rPr>
              <a:t>(); </a:t>
            </a:r>
            <a:r>
              <a:rPr lang="pl-PL" sz="1000" dirty="0" err="1" smtClean="0">
                <a:solidFill>
                  <a:srgbClr val="4EC9B0"/>
                </a:solidFill>
                <a:latin typeface="Consolas" panose="020B0609020204030204" pitchFamily="49" charset="0"/>
              </a:rPr>
              <a:t>rclpy</a:t>
            </a:r>
            <a:r>
              <a:rPr lang="pl-PL" sz="1000" dirty="0" err="1" smtClean="0">
                <a:solidFill>
                  <a:srgbClr val="CCCCCC"/>
                </a:solidFill>
                <a:latin typeface="Consolas" panose="020B0609020204030204" pitchFamily="49" charset="0"/>
              </a:rPr>
              <a:t>.shutdown</a:t>
            </a:r>
            <a:r>
              <a:rPr lang="pl-PL" sz="1000" dirty="0">
                <a:solidFill>
                  <a:srgbClr val="CCCCCC"/>
                </a:solidFill>
                <a:latin typeface="Consolas" panose="020B0609020204030204" pitchFamily="49" charset="0"/>
              </a:rPr>
              <a:t>()</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dirty="0" err="1" smtClean="0">
                <a:solidFill>
                  <a:srgbClr val="94A3B8"/>
                </a:solidFill>
                <a:latin typeface="Calibri" pitchFamily="34" charset="0"/>
                <a:ea typeface="Calibri" pitchFamily="34" charset="-122"/>
                <a:cs typeface="Calibri" pitchFamily="34" charset="-120"/>
              </a:rPr>
              <a:t>followWaypoints</a:t>
            </a:r>
            <a:r>
              <a:rPr lang="en-US" sz="1400" dirty="0">
                <a:solidFill>
                  <a:srgbClr val="94A3B8"/>
                </a:solidFill>
                <a:latin typeface="Calibri" pitchFamily="34" charset="0"/>
                <a:ea typeface="Calibri" pitchFamily="34" charset="-122"/>
                <a:cs typeface="Calibri" pitchFamily="34" charset="-120"/>
              </a:rPr>
              <a:t>() sekwencyjnie nawiguje przez listę celów; WaypointFollower pozwala dodać task executor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Szkielet niestandardowej wtyczki planisty globalnego (C++)</a:t>
            </a:r>
            <a:endParaRPr lang="en-US" sz="2200" dirty="0"/>
          </a:p>
        </p:txBody>
      </p:sp>
      <p:sp>
        <p:nvSpPr>
          <p:cNvPr id="6" name="Shape 4"/>
          <p:cNvSpPr/>
          <p:nvPr/>
        </p:nvSpPr>
        <p:spPr>
          <a:xfrm>
            <a:off x="256032" y="603504"/>
            <a:ext cx="8631936" cy="3706278"/>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651414"/>
          </a:xfrm>
          <a:prstGeom prst="rect">
            <a:avLst/>
          </a:prstGeom>
          <a:noFill/>
          <a:ln/>
        </p:spPr>
        <p:txBody>
          <a:bodyPr wrap="square" lIns="0" tIns="0" rIns="0" bIns="0" numCol="1" spcCol="72000" rtlCol="0" anchor="t"/>
          <a:lstStyle/>
          <a:p>
            <a:pPr>
              <a:lnSpc>
                <a:spcPts val="1000"/>
              </a:lnSpc>
            </a:pPr>
            <a:r>
              <a:rPr lang="pl-PL" sz="1000" dirty="0">
                <a:solidFill>
                  <a:srgbClr val="C586C0"/>
                </a:solidFill>
                <a:latin typeface="Consolas" panose="020B0609020204030204" pitchFamily="49" charset="0"/>
              </a:rPr>
              <a:t>#</a:t>
            </a:r>
            <a:r>
              <a:rPr lang="pl-PL" sz="1000" dirty="0" err="1">
                <a:solidFill>
                  <a:srgbClr val="C586C0"/>
                </a:solidFill>
                <a:latin typeface="Consolas" panose="020B0609020204030204" pitchFamily="49" charset="0"/>
              </a:rPr>
              <a:t>include</a:t>
            </a:r>
            <a:r>
              <a:rPr lang="pl-PL" sz="1000" dirty="0">
                <a:solidFill>
                  <a:srgbClr val="569CD6"/>
                </a:solidFill>
                <a:latin typeface="Consolas" panose="020B0609020204030204" pitchFamily="49" charset="0"/>
              </a:rPr>
              <a:t> </a:t>
            </a:r>
            <a:r>
              <a:rPr lang="pl-PL" sz="1000" dirty="0">
                <a:solidFill>
                  <a:srgbClr val="CE9178"/>
                </a:solidFill>
                <a:latin typeface="Consolas" panose="020B0609020204030204" pitchFamily="49" charset="0"/>
              </a:rPr>
              <a:t>"nav2_core/global_planner.hpp"</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a:t>
            </a:r>
            <a:r>
              <a:rPr lang="pl-PL" sz="1000" dirty="0" err="1">
                <a:solidFill>
                  <a:srgbClr val="C586C0"/>
                </a:solidFill>
                <a:latin typeface="Consolas" panose="020B0609020204030204" pitchFamily="49" charset="0"/>
              </a:rPr>
              <a:t>include</a:t>
            </a:r>
            <a:r>
              <a:rPr lang="pl-PL" sz="1000" dirty="0">
                <a:solidFill>
                  <a:srgbClr val="569CD6"/>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pluginlib</a:t>
            </a:r>
            <a:r>
              <a:rPr lang="pl-PL" sz="1000" dirty="0">
                <a:solidFill>
                  <a:srgbClr val="CE9178"/>
                </a:solidFill>
                <a:latin typeface="Consolas" panose="020B0609020204030204" pitchFamily="49" charset="0"/>
              </a:rPr>
              <a:t>/class_list_macros.hpp"</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err="1">
                <a:solidFill>
                  <a:srgbClr val="569CD6"/>
                </a:solidFill>
                <a:latin typeface="Consolas" panose="020B0609020204030204" pitchFamily="49" charset="0"/>
              </a:rPr>
              <a:t>class</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MyCustomPlanner</a:t>
            </a:r>
            <a:r>
              <a:rPr lang="pl-PL" sz="1000" dirty="0">
                <a:solidFill>
                  <a:srgbClr val="CCCCCC"/>
                </a:solidFill>
                <a:latin typeface="Consolas" panose="020B0609020204030204" pitchFamily="49" charset="0"/>
              </a:rPr>
              <a:t> : </a:t>
            </a:r>
            <a:r>
              <a:rPr lang="pl-PL" sz="1000" dirty="0">
                <a:solidFill>
                  <a:srgbClr val="569CD6"/>
                </a:solidFill>
                <a:latin typeface="Consolas" panose="020B0609020204030204" pitchFamily="49" charset="0"/>
              </a:rPr>
              <a:t>public</a:t>
            </a:r>
            <a:r>
              <a:rPr lang="pl-PL" sz="1000" dirty="0">
                <a:solidFill>
                  <a:srgbClr val="CCCCCC"/>
                </a:solidFill>
                <a:latin typeface="Consolas" panose="020B0609020204030204" pitchFamily="49" charset="0"/>
              </a:rPr>
              <a:t> </a:t>
            </a:r>
            <a:r>
              <a:rPr lang="pl-PL" sz="1000" dirty="0">
                <a:solidFill>
                  <a:srgbClr val="4EC9B0"/>
                </a:solidFill>
                <a:latin typeface="Consolas" panose="020B0609020204030204" pitchFamily="49" charset="0"/>
              </a:rPr>
              <a:t>nav2_core</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GlobalPlanner</a:t>
            </a:r>
            <a:r>
              <a:rPr lang="pl-PL" sz="1000" dirty="0">
                <a:solidFill>
                  <a:srgbClr val="CCCCCC"/>
                </a:solidFill>
                <a:latin typeface="Consolas" panose="020B0609020204030204" pitchFamily="49" charset="0"/>
              </a:rPr>
              <a:t> {</a:t>
            </a:r>
          </a:p>
          <a:p>
            <a:pPr>
              <a:lnSpc>
                <a:spcPts val="1000"/>
              </a:lnSpc>
            </a:pPr>
            <a:r>
              <a:rPr lang="pl-PL" sz="1000" dirty="0">
                <a:solidFill>
                  <a:srgbClr val="569CD6"/>
                </a:solidFill>
                <a:latin typeface="Consolas" panose="020B0609020204030204" pitchFamily="49" charset="0"/>
              </a:rPr>
              <a:t>public:</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void</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configure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const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rclcpp_lifecycle</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LifecycleNode</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WeakPtr</a:t>
            </a: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&amp;</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parent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std</a:t>
            </a:r>
            <a:r>
              <a:rPr lang="pl-PL" sz="1000" dirty="0">
                <a:solidFill>
                  <a:srgbClr val="CCCCCC"/>
                </a:solidFill>
                <a:latin typeface="Consolas" panose="020B0609020204030204" pitchFamily="49" charset="0"/>
              </a:rPr>
              <a:t>::</a:t>
            </a:r>
            <a:r>
              <a:rPr lang="pl-PL" sz="1000" dirty="0">
                <a:solidFill>
                  <a:srgbClr val="4EC9B0"/>
                </a:solidFill>
                <a:latin typeface="Consolas" panose="020B0609020204030204" pitchFamily="49" charset="0"/>
              </a:rPr>
              <a:t>string</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name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std</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shared_ptr</a:t>
            </a:r>
            <a:r>
              <a:rPr lang="pl-PL" sz="1000" dirty="0">
                <a:solidFill>
                  <a:srgbClr val="CCCCCC"/>
                </a:solidFill>
                <a:latin typeface="Consolas" panose="020B0609020204030204" pitchFamily="49" charset="0"/>
              </a:rPr>
              <a:t>&lt;</a:t>
            </a:r>
            <a:r>
              <a:rPr lang="pl-PL" sz="1000" dirty="0">
                <a:solidFill>
                  <a:srgbClr val="4EC9B0"/>
                </a:solidFill>
                <a:latin typeface="Consolas" panose="020B0609020204030204" pitchFamily="49" charset="0"/>
              </a:rPr>
              <a:t>tf2_ros</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Buffer</a:t>
            </a:r>
            <a:r>
              <a:rPr lang="pl-PL" sz="1000" dirty="0">
                <a:solidFill>
                  <a:srgbClr val="CCCCCC"/>
                </a:solidFill>
                <a:latin typeface="Consolas" panose="020B0609020204030204" pitchFamily="49" charset="0"/>
              </a:rPr>
              <a:t>&gt; </a:t>
            </a:r>
            <a:r>
              <a:rPr lang="pl-PL" sz="1000" dirty="0" err="1">
                <a:solidFill>
                  <a:srgbClr val="9CDCFE"/>
                </a:solidFill>
                <a:latin typeface="Consolas" panose="020B0609020204030204" pitchFamily="49" charset="0"/>
              </a:rPr>
              <a:t>tf</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std</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shared_ptr</a:t>
            </a:r>
            <a:r>
              <a:rPr lang="pl-PL" sz="1000" dirty="0">
                <a:solidFill>
                  <a:srgbClr val="CCCCCC"/>
                </a:solidFill>
                <a:latin typeface="Consolas" panose="020B0609020204030204" pitchFamily="49" charset="0"/>
              </a:rPr>
              <a:t>&lt;</a:t>
            </a:r>
            <a:r>
              <a:rPr lang="pl-PL" sz="1000" dirty="0">
                <a:solidFill>
                  <a:srgbClr val="4EC9B0"/>
                </a:solidFill>
                <a:latin typeface="Consolas" panose="020B0609020204030204" pitchFamily="49" charset="0"/>
              </a:rPr>
              <a:t>nav2_costmap_2d</a:t>
            </a:r>
            <a:r>
              <a:rPr lang="pl-PL" sz="1000" dirty="0">
                <a:solidFill>
                  <a:srgbClr val="CCCCCC"/>
                </a:solidFill>
                <a:latin typeface="Consolas" panose="020B0609020204030204" pitchFamily="49" charset="0"/>
              </a:rPr>
              <a:t>::</a:t>
            </a:r>
            <a:r>
              <a:rPr lang="pl-PL" sz="1000" dirty="0">
                <a:solidFill>
                  <a:srgbClr val="4EC9B0"/>
                </a:solidFill>
                <a:latin typeface="Consolas" panose="020B0609020204030204" pitchFamily="49" charset="0"/>
              </a:rPr>
              <a:t>Costmap2DROS</a:t>
            </a:r>
            <a:r>
              <a:rPr lang="pl-PL" sz="1000" dirty="0">
                <a:solidFill>
                  <a:srgbClr val="CCCCCC"/>
                </a:solidFill>
                <a:latin typeface="Consolas" panose="020B0609020204030204" pitchFamily="49" charset="0"/>
              </a:rPr>
              <a:t>&gt; </a:t>
            </a:r>
            <a:r>
              <a:rPr lang="pl-PL" sz="1000" dirty="0" err="1">
                <a:solidFill>
                  <a:srgbClr val="9CDCFE"/>
                </a:solidFill>
                <a:latin typeface="Consolas" panose="020B0609020204030204" pitchFamily="49" charset="0"/>
              </a:rPr>
              <a:t>costmap_ros</a:t>
            </a: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override</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p>
          <a:p>
            <a:pPr>
              <a:lnSpc>
                <a:spcPts val="1000"/>
              </a:lnSpc>
            </a:pP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node</a:t>
            </a:r>
            <a:r>
              <a:rPr lang="pl-PL" sz="1000" dirty="0">
                <a:solidFill>
                  <a:srgbClr val="CCCCCC"/>
                </a:solidFill>
                <a:latin typeface="Consolas" panose="020B0609020204030204" pitchFamily="49" charset="0"/>
              </a:rPr>
              <a:t>_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parent</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lock</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name</a:t>
            </a:r>
            <a:r>
              <a:rPr lang="pl-PL" sz="1000" dirty="0">
                <a:solidFill>
                  <a:srgbClr val="CCCCCC"/>
                </a:solidFill>
                <a:latin typeface="Consolas" panose="020B0609020204030204" pitchFamily="49" charset="0"/>
              </a:rPr>
              <a:t>_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name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costmap</a:t>
            </a:r>
            <a:r>
              <a:rPr lang="pl-PL" sz="1000" dirty="0">
                <a:solidFill>
                  <a:srgbClr val="CCCCCC"/>
                </a:solidFill>
                <a:latin typeface="Consolas" panose="020B0609020204030204" pitchFamily="49" charset="0"/>
              </a:rPr>
              <a:t>_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costmap_ros</a:t>
            </a:r>
            <a:r>
              <a:rPr lang="pl-PL" sz="1000" dirty="0">
                <a:solidFill>
                  <a:srgbClr val="CCCCCC"/>
                </a:solidFill>
                <a:latin typeface="Consolas" panose="020B0609020204030204" pitchFamily="49" charset="0"/>
              </a:rPr>
              <a:t>-&gt;</a:t>
            </a:r>
            <a:r>
              <a:rPr lang="pl-PL" sz="1000" dirty="0" err="1">
                <a:solidFill>
                  <a:srgbClr val="DCDCAA"/>
                </a:solidFill>
                <a:latin typeface="Consolas" panose="020B0609020204030204" pitchFamily="49" charset="0"/>
              </a:rPr>
              <a:t>getCostmap</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DCDCAA"/>
                </a:solidFill>
                <a:latin typeface="Consolas" panose="020B0609020204030204" pitchFamily="49" charset="0"/>
              </a:rPr>
              <a:t>RCLCPP_INFO</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node</a:t>
            </a:r>
            <a:r>
              <a:rPr lang="pl-PL" sz="1000" dirty="0">
                <a:solidFill>
                  <a:srgbClr val="9CDCFE"/>
                </a:solidFill>
                <a:latin typeface="Consolas" panose="020B0609020204030204" pitchFamily="49" charset="0"/>
              </a:rPr>
              <a:t>_</a:t>
            </a:r>
            <a:r>
              <a:rPr lang="pl-PL" sz="1000" dirty="0">
                <a:solidFill>
                  <a:srgbClr val="CCCCCC"/>
                </a:solidFill>
                <a:latin typeface="Consolas" panose="020B0609020204030204" pitchFamily="49" charset="0"/>
              </a:rPr>
              <a:t>-&gt;</a:t>
            </a:r>
            <a:r>
              <a:rPr lang="pl-PL" sz="1000" dirty="0" err="1">
                <a:solidFill>
                  <a:srgbClr val="DCDCAA"/>
                </a:solidFill>
                <a:latin typeface="Consolas" panose="020B0609020204030204" pitchFamily="49" charset="0"/>
              </a:rPr>
              <a:t>get_logger</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MyCustomPlanner</a:t>
            </a:r>
            <a:r>
              <a:rPr lang="pl-PL" sz="1000" dirty="0">
                <a:solidFill>
                  <a:srgbClr val="CE9178"/>
                </a:solidFill>
                <a:latin typeface="Consolas" panose="020B0609020204030204" pitchFamily="49" charset="0"/>
              </a:rPr>
              <a:t> </a:t>
            </a:r>
            <a:r>
              <a:rPr lang="pl-PL" sz="1000" dirty="0" err="1">
                <a:solidFill>
                  <a:srgbClr val="CE9178"/>
                </a:solidFill>
                <a:latin typeface="Consolas" panose="020B0609020204030204" pitchFamily="49" charset="0"/>
              </a:rPr>
              <a:t>configured</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nav_msgs</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msg</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Path</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createPlan</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const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geometry_msgs</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msg</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PoseStamped</a:t>
            </a: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&amp;</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start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const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geometry_msgs</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msg</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PoseStamped</a:t>
            </a: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&amp;</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override</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p>
          <a:p>
            <a:pPr>
              <a:lnSpc>
                <a:spcPts val="1000"/>
              </a:lnSpc>
            </a:pP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nav_msgs</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msg</a:t>
            </a:r>
            <a:r>
              <a:rPr lang="pl-PL" sz="1000" dirty="0">
                <a:solidFill>
                  <a:srgbClr val="CCCCCC"/>
                </a:solidFill>
                <a:latin typeface="Consolas" panose="020B0609020204030204" pitchFamily="49" charset="0"/>
              </a:rPr>
              <a:t>::</a:t>
            </a:r>
            <a:r>
              <a:rPr lang="pl-PL" sz="1000" dirty="0" err="1">
                <a:solidFill>
                  <a:srgbClr val="CCCCCC"/>
                </a:solidFill>
                <a:latin typeface="Consolas" panose="020B0609020204030204" pitchFamily="49" charset="0"/>
              </a:rPr>
              <a:t>Path</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path</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 TU </a:t>
            </a:r>
            <a:r>
              <a:rPr lang="pl-PL" sz="1000" dirty="0" smtClean="0">
                <a:solidFill>
                  <a:srgbClr val="6A9955"/>
                </a:solidFill>
                <a:latin typeface="Consolas" panose="020B0609020204030204" pitchFamily="49" charset="0"/>
              </a:rPr>
              <a:t>WSTAWIMY NASZ </a:t>
            </a:r>
            <a:r>
              <a:rPr lang="pl-PL" sz="1000" dirty="0">
                <a:solidFill>
                  <a:srgbClr val="6A9955"/>
                </a:solidFill>
                <a:latin typeface="Consolas" panose="020B0609020204030204" pitchFamily="49" charset="0"/>
              </a:rPr>
              <a:t>ALGORYTM PLANOWANIA =======</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return</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path</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p>
          <a:p>
            <a:pPr>
              <a:lnSpc>
                <a:spcPts val="1000"/>
              </a:lnSpc>
            </a:pP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DCDCAA"/>
                </a:solidFill>
                <a:latin typeface="Consolas" panose="020B0609020204030204" pitchFamily="49" charset="0"/>
              </a:rPr>
              <a:t>PLUGINLIB_EXPORT_CLASS</a:t>
            </a:r>
            <a:r>
              <a:rPr lang="pl-PL" sz="1000" dirty="0">
                <a:solidFill>
                  <a:srgbClr val="CCCCCC"/>
                </a:solidFill>
                <a:latin typeface="Consolas" panose="020B0609020204030204" pitchFamily="49" charset="0"/>
              </a:rPr>
              <a:t>(</a:t>
            </a:r>
            <a:r>
              <a:rPr lang="pl-PL" sz="1000" dirty="0" err="1">
                <a:solidFill>
                  <a:srgbClr val="CCCCCC"/>
                </a:solidFill>
                <a:latin typeface="Consolas" panose="020B0609020204030204" pitchFamily="49" charset="0"/>
              </a:rPr>
              <a:t>MyCustomPlanner</a:t>
            </a:r>
            <a:r>
              <a:rPr lang="pl-PL" sz="1000" dirty="0">
                <a:solidFill>
                  <a:srgbClr val="CCCCCC"/>
                </a:solidFill>
                <a:latin typeface="Consolas" panose="020B0609020204030204" pitchFamily="49" charset="0"/>
              </a:rPr>
              <a:t>, </a:t>
            </a:r>
            <a:r>
              <a:rPr lang="pl-PL" sz="1000" dirty="0">
                <a:solidFill>
                  <a:srgbClr val="4EC9B0"/>
                </a:solidFill>
                <a:latin typeface="Consolas" panose="020B0609020204030204" pitchFamily="49" charset="0"/>
              </a:rPr>
              <a:t>nav2_core</a:t>
            </a:r>
            <a:r>
              <a:rPr lang="pl-PL" sz="1000" dirty="0">
                <a:solidFill>
                  <a:srgbClr val="CCCCCC"/>
                </a:solidFill>
                <a:latin typeface="Consolas" panose="020B0609020204030204" pitchFamily="49" charset="0"/>
              </a:rPr>
              <a:t>::</a:t>
            </a:r>
            <a:r>
              <a:rPr lang="pl-PL" sz="1000" dirty="0" err="1">
                <a:solidFill>
                  <a:srgbClr val="CCCCCC"/>
                </a:solidFill>
                <a:latin typeface="Consolas" panose="020B0609020204030204" pitchFamily="49" charset="0"/>
              </a:rPr>
              <a:t>GlobalPlanner</a:t>
            </a:r>
            <a:r>
              <a:rPr lang="pl-PL" sz="1000" dirty="0">
                <a:solidFill>
                  <a:srgbClr val="CCCCCC"/>
                </a:solidFill>
                <a:latin typeface="Consolas" panose="020B0609020204030204" pitchFamily="49" charset="0"/>
              </a:rPr>
              <a:t>)</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spc="-30" dirty="0" err="1" smtClean="0">
                <a:solidFill>
                  <a:srgbClr val="94A3B8"/>
                </a:solidFill>
                <a:latin typeface="Calibri" pitchFamily="34" charset="0"/>
                <a:ea typeface="Calibri" pitchFamily="34" charset="-122"/>
                <a:cs typeface="Calibri" pitchFamily="34" charset="-120"/>
              </a:rPr>
              <a:t>Implementuj</a:t>
            </a:r>
            <a:r>
              <a:rPr lang="en-US" sz="1400" spc="-30" dirty="0" smtClean="0">
                <a:solidFill>
                  <a:srgbClr val="94A3B8"/>
                </a:solidFill>
                <a:latin typeface="Calibri" pitchFamily="34" charset="0"/>
                <a:ea typeface="Calibri" pitchFamily="34" charset="-122"/>
                <a:cs typeface="Calibri" pitchFamily="34" charset="-120"/>
              </a:rPr>
              <a:t> </a:t>
            </a:r>
            <a:r>
              <a:rPr lang="en-US" sz="1400" spc="-30" dirty="0">
                <a:solidFill>
                  <a:srgbClr val="94A3B8"/>
                </a:solidFill>
                <a:latin typeface="Calibri" pitchFamily="34" charset="0"/>
                <a:ea typeface="Calibri" pitchFamily="34" charset="-122"/>
                <a:cs typeface="Calibri" pitchFamily="34" charset="-120"/>
              </a:rPr>
              <a:t>GlobalPlanner lub Controller; zarejestruj przez pluginlib; wskaż plugin: 'mypkg::MyCustomPlanner' w YAML</a:t>
            </a:r>
            <a:endParaRPr lang="en-US" sz="1400" spc="-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Bezpośredni klient akcji NavigateToPose w rclpy</a:t>
            </a:r>
            <a:endParaRPr lang="en-US" sz="2200" dirty="0"/>
          </a:p>
        </p:txBody>
      </p:sp>
      <p:sp>
        <p:nvSpPr>
          <p:cNvPr id="6" name="Shape 4"/>
          <p:cNvSpPr/>
          <p:nvPr/>
        </p:nvSpPr>
        <p:spPr>
          <a:xfrm>
            <a:off x="256032" y="603504"/>
            <a:ext cx="8631936" cy="3950208"/>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895344"/>
          </a:xfrm>
          <a:prstGeom prst="rect">
            <a:avLst/>
          </a:prstGeom>
          <a:noFill/>
          <a:ln/>
        </p:spPr>
        <p:txBody>
          <a:bodyPr wrap="square" lIns="0" tIns="0" rIns="0" bIns="0" numCol="1" spcCol="72000" rtlCol="0" anchor="t"/>
          <a:lstStyle/>
          <a:p>
            <a:pPr>
              <a:lnSpc>
                <a:spcPts val="1000"/>
              </a:lnSpc>
            </a:pP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rclpy</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rclpy.action</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ActionClient</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rclpy.node</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Node</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nav2_msgs.action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NavigateToPose</a:t>
            </a:r>
            <a:endParaRPr lang="pl-PL" sz="1000" dirty="0">
              <a:solidFill>
                <a:srgbClr val="CCCCCC"/>
              </a:solidFill>
              <a:latin typeface="Consolas" panose="020B0609020204030204" pitchFamily="49" charset="0"/>
            </a:endParaRPr>
          </a:p>
          <a:p>
            <a:pPr>
              <a:lnSpc>
                <a:spcPts val="1000"/>
              </a:lnSpc>
            </a:pPr>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geometry_msgs.msg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err="1">
                <a:solidFill>
                  <a:srgbClr val="569CD6"/>
                </a:solidFill>
                <a:latin typeface="Consolas" panose="020B0609020204030204" pitchFamily="49" charset="0"/>
              </a:rPr>
              <a:t>class</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NavGoalClient</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Node</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a:solidFill>
                  <a:srgbClr val="DCDCAA"/>
                </a:solidFill>
                <a:latin typeface="Consolas" panose="020B0609020204030204" pitchFamily="49" charset="0"/>
              </a:rPr>
              <a:t>__</a:t>
            </a:r>
            <a:r>
              <a:rPr lang="pl-PL" sz="1000" dirty="0" err="1">
                <a:solidFill>
                  <a:srgbClr val="DCDCAA"/>
                </a:solidFill>
                <a:latin typeface="Consolas" panose="020B0609020204030204" pitchFamily="49" charset="0"/>
              </a:rPr>
              <a:t>init</a:t>
            </a:r>
            <a:r>
              <a:rPr lang="pl-PL" sz="1000" dirty="0">
                <a:solidFill>
                  <a:srgbClr val="DCDCAA"/>
                </a:solidFill>
                <a:latin typeface="Consolas" panose="020B0609020204030204" pitchFamily="49" charset="0"/>
              </a:rPr>
              <a:t>__</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self</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4EC9B0"/>
                </a:solidFill>
                <a:latin typeface="Consolas" panose="020B0609020204030204" pitchFamily="49" charset="0"/>
              </a:rPr>
              <a:t>super</a:t>
            </a:r>
            <a:r>
              <a:rPr lang="pl-PL" sz="1000" dirty="0">
                <a:solidFill>
                  <a:srgbClr val="CCCCCC"/>
                </a:solidFill>
                <a:latin typeface="Consolas" panose="020B0609020204030204" pitchFamily="49" charset="0"/>
              </a:rPr>
              <a:t>().</a:t>
            </a:r>
            <a:r>
              <a:rPr lang="pl-PL" sz="1000" dirty="0">
                <a:solidFill>
                  <a:srgbClr val="DCDCAA"/>
                </a:solidFill>
                <a:latin typeface="Consolas" panose="020B0609020204030204" pitchFamily="49" charset="0"/>
              </a:rPr>
              <a:t>__</a:t>
            </a:r>
            <a:r>
              <a:rPr lang="pl-PL" sz="1000" dirty="0" err="1">
                <a:solidFill>
                  <a:srgbClr val="DCDCAA"/>
                </a:solidFill>
                <a:latin typeface="Consolas" panose="020B0609020204030204" pitchFamily="49" charset="0"/>
              </a:rPr>
              <a:t>init</a:t>
            </a:r>
            <a:r>
              <a:rPr lang="pl-PL" sz="1000" dirty="0">
                <a:solidFill>
                  <a:srgbClr val="DCDCAA"/>
                </a:solidFill>
                <a:latin typeface="Consolas" panose="020B0609020204030204" pitchFamily="49" charset="0"/>
              </a:rPr>
              <a:t>__</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nav_goal_client</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client</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ActionClient</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self</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NavigateToPose</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navigate_to_pose</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send_goal</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self</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x</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y</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yaw_w</a:t>
            </a:r>
            <a:r>
              <a:rPr lang="pl-PL" sz="1000" dirty="0">
                <a:solidFill>
                  <a:srgbClr val="D4D4D4"/>
                </a:solidFill>
                <a:latin typeface="Consolas" panose="020B0609020204030204" pitchFamily="49" charset="0"/>
              </a:rPr>
              <a:t>=</a:t>
            </a:r>
            <a:r>
              <a:rPr lang="pl-PL" sz="1000" dirty="0">
                <a:solidFill>
                  <a:srgbClr val="B5CEA8"/>
                </a:solidFill>
                <a:latin typeface="Consolas" panose="020B0609020204030204" pitchFamily="49" charset="0"/>
              </a:rPr>
              <a:t>1.0</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NavigateToPose.Goal</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PoseStamped</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.pose.header.frame_id</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'map'</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.pose.header.stamp</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.get_clock</a:t>
            </a:r>
            <a:r>
              <a:rPr lang="pl-PL" sz="1000" dirty="0">
                <a:solidFill>
                  <a:srgbClr val="CCCCCC"/>
                </a:solidFill>
                <a:latin typeface="Consolas" panose="020B0609020204030204" pitchFamily="49" charset="0"/>
              </a:rPr>
              <a:t>().</a:t>
            </a:r>
            <a:r>
              <a:rPr lang="pl-PL" sz="1000" dirty="0" err="1">
                <a:solidFill>
                  <a:srgbClr val="CCCCCC"/>
                </a:solidFill>
                <a:latin typeface="Consolas" panose="020B0609020204030204" pitchFamily="49" charset="0"/>
              </a:rPr>
              <a:t>now</a:t>
            </a:r>
            <a:r>
              <a:rPr lang="pl-PL" sz="1000" dirty="0">
                <a:solidFill>
                  <a:srgbClr val="CCCCCC"/>
                </a:solidFill>
                <a:latin typeface="Consolas" panose="020B0609020204030204" pitchFamily="49" charset="0"/>
              </a:rPr>
              <a:t>().</a:t>
            </a:r>
            <a:r>
              <a:rPr lang="pl-PL" sz="1000" dirty="0" err="1">
                <a:solidFill>
                  <a:srgbClr val="CCCCCC"/>
                </a:solidFill>
                <a:latin typeface="Consolas" panose="020B0609020204030204" pitchFamily="49" charset="0"/>
              </a:rPr>
              <a:t>to_msg</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.pose.pose.position.x</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x</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.pose.pose.position.y</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y</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err="1">
                <a:solidFill>
                  <a:srgbClr val="CCCCCC"/>
                </a:solidFill>
                <a:latin typeface="Consolas" panose="020B0609020204030204" pitchFamily="49" charset="0"/>
              </a:rPr>
              <a:t>.pose.pose.orientation.w</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yaw_w</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client</a:t>
            </a:r>
            <a:r>
              <a:rPr lang="pl-PL" sz="1000" dirty="0" err="1">
                <a:solidFill>
                  <a:srgbClr val="CCCCCC"/>
                </a:solidFill>
                <a:latin typeface="Consolas" panose="020B0609020204030204" pitchFamily="49" charset="0"/>
              </a:rPr>
              <a:t>.wait_for_server</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future</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client</a:t>
            </a:r>
            <a:r>
              <a:rPr lang="pl-PL" sz="1000" dirty="0" err="1">
                <a:solidFill>
                  <a:srgbClr val="CCCCCC"/>
                </a:solidFill>
                <a:latin typeface="Consolas" panose="020B0609020204030204" pitchFamily="49" charset="0"/>
              </a:rPr>
              <a:t>.send_goal_async</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goal</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feedback_callback</a:t>
            </a:r>
            <a:r>
              <a:rPr lang="pl-PL" sz="1000" dirty="0">
                <a:solidFill>
                  <a:srgbClr val="D4D4D4"/>
                </a:solidFill>
                <a:latin typeface="Consolas" panose="020B0609020204030204" pitchFamily="49" charset="0"/>
              </a:rPr>
              <a:t>=</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feedback_cb</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future</a:t>
            </a:r>
            <a:r>
              <a:rPr lang="pl-PL" sz="1000" dirty="0" err="1">
                <a:solidFill>
                  <a:srgbClr val="CCCCCC"/>
                </a:solidFill>
                <a:latin typeface="Consolas" panose="020B0609020204030204" pitchFamily="49" charset="0"/>
              </a:rPr>
              <a:t>.add_done_callback</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.goal_response_cb</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def</a:t>
            </a:r>
            <a:r>
              <a:rPr lang="pl-PL" sz="1000" dirty="0">
                <a:solidFill>
                  <a:srgbClr val="CCCCCC"/>
                </a:solidFill>
                <a:latin typeface="Consolas" panose="020B0609020204030204" pitchFamily="49" charset="0"/>
              </a:rPr>
              <a:t> </a:t>
            </a:r>
            <a:r>
              <a:rPr lang="pl-PL" sz="1000" dirty="0" err="1">
                <a:solidFill>
                  <a:srgbClr val="DCDCAA"/>
                </a:solidFill>
                <a:latin typeface="Consolas" panose="020B0609020204030204" pitchFamily="49" charset="0"/>
              </a:rPr>
              <a:t>feedback_cb</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self</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msg</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fb</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msg</a:t>
            </a:r>
            <a:r>
              <a:rPr lang="pl-PL" sz="1000" dirty="0" err="1">
                <a:solidFill>
                  <a:srgbClr val="CCCCCC"/>
                </a:solidFill>
                <a:latin typeface="Consolas" panose="020B0609020204030204" pitchFamily="49" charset="0"/>
              </a:rPr>
              <a:t>.feedback</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self</a:t>
            </a:r>
            <a:r>
              <a:rPr lang="pl-PL" sz="1000" dirty="0" err="1">
                <a:solidFill>
                  <a:srgbClr val="CCCCCC"/>
                </a:solidFill>
                <a:latin typeface="Consolas" panose="020B0609020204030204" pitchFamily="49" charset="0"/>
              </a:rPr>
              <a:t>.get_logger</a:t>
            </a:r>
            <a:r>
              <a:rPr lang="pl-PL" sz="1000" dirty="0">
                <a:solidFill>
                  <a:srgbClr val="CCCCCC"/>
                </a:solidFill>
                <a:latin typeface="Consolas" panose="020B0609020204030204" pitchFamily="49" charset="0"/>
              </a:rPr>
              <a:t>().info(</a:t>
            </a:r>
          </a:p>
          <a:p>
            <a:pPr>
              <a:lnSpc>
                <a:spcPts val="1000"/>
              </a:lnSpc>
            </a:pP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f</a:t>
            </a:r>
            <a:r>
              <a:rPr lang="pl-PL" sz="1000" dirty="0" err="1">
                <a:solidFill>
                  <a:srgbClr val="CE9178"/>
                </a:solidFill>
                <a:latin typeface="Consolas" panose="020B0609020204030204" pitchFamily="49" charset="0"/>
              </a:rPr>
              <a:t>"remain</a:t>
            </a:r>
            <a:r>
              <a:rPr lang="pl-PL" sz="1000" dirty="0">
                <a:solidFill>
                  <a:srgbClr val="CE9178"/>
                </a:solidFill>
                <a:latin typeface="Consolas" panose="020B0609020204030204" pitchFamily="49" charset="0"/>
              </a:rPr>
              <a:t>=</a:t>
            </a:r>
            <a:r>
              <a:rPr lang="pl-PL" sz="1000" dirty="0">
                <a:solidFill>
                  <a:srgbClr val="569CD6"/>
                </a:solidFill>
                <a:latin typeface="Consolas" panose="020B0609020204030204" pitchFamily="49" charset="0"/>
              </a:rPr>
              <a:t>{</a:t>
            </a:r>
            <a:r>
              <a:rPr lang="pl-PL" sz="1000" dirty="0">
                <a:solidFill>
                  <a:srgbClr val="9CDCFE"/>
                </a:solidFill>
                <a:latin typeface="Consolas" panose="020B0609020204030204" pitchFamily="49" charset="0"/>
              </a:rPr>
              <a:t>fb</a:t>
            </a:r>
            <a:r>
              <a:rPr lang="pl-PL" sz="1000" dirty="0">
                <a:solidFill>
                  <a:srgbClr val="CCCCCC"/>
                </a:solidFill>
                <a:latin typeface="Consolas" panose="020B0609020204030204" pitchFamily="49" charset="0"/>
              </a:rPr>
              <a:t>.distance_remaining</a:t>
            </a:r>
            <a:r>
              <a:rPr lang="pl-PL" sz="1000" dirty="0">
                <a:solidFill>
                  <a:srgbClr val="569CD6"/>
                </a:solidFill>
                <a:latin typeface="Consolas" panose="020B0609020204030204" pitchFamily="49" charset="0"/>
              </a:rPr>
              <a:t>:.2f}</a:t>
            </a:r>
            <a:r>
              <a:rPr lang="pl-PL" sz="1000" dirty="0">
                <a:solidFill>
                  <a:srgbClr val="CE9178"/>
                </a:solidFill>
                <a:latin typeface="Consolas" panose="020B0609020204030204" pitchFamily="49" charset="0"/>
              </a:rPr>
              <a:t> m, "</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569CD6"/>
                </a:solidFill>
                <a:latin typeface="Consolas" panose="020B0609020204030204" pitchFamily="49" charset="0"/>
              </a:rPr>
              <a:t>f</a:t>
            </a:r>
            <a:r>
              <a:rPr lang="pl-PL" sz="1000" dirty="0" err="1">
                <a:solidFill>
                  <a:srgbClr val="CE9178"/>
                </a:solidFill>
                <a:latin typeface="Consolas" panose="020B0609020204030204" pitchFamily="49" charset="0"/>
              </a:rPr>
              <a:t>"eta</a:t>
            </a:r>
            <a:r>
              <a:rPr lang="pl-PL" sz="1000" dirty="0">
                <a:solidFill>
                  <a:srgbClr val="CE9178"/>
                </a:solidFill>
                <a:latin typeface="Consolas" panose="020B0609020204030204" pitchFamily="49" charset="0"/>
              </a:rPr>
              <a:t>=</a:t>
            </a:r>
            <a:r>
              <a:rPr lang="pl-PL" sz="1000" dirty="0">
                <a:solidFill>
                  <a:srgbClr val="569CD6"/>
                </a:solidFill>
                <a:latin typeface="Consolas" panose="020B0609020204030204" pitchFamily="49" charset="0"/>
              </a:rPr>
              <a:t>{</a:t>
            </a:r>
            <a:r>
              <a:rPr lang="pl-PL" sz="1000" dirty="0" err="1">
                <a:solidFill>
                  <a:srgbClr val="9CDCFE"/>
                </a:solidFill>
                <a:latin typeface="Consolas" panose="020B0609020204030204" pitchFamily="49" charset="0"/>
              </a:rPr>
              <a:t>fb</a:t>
            </a:r>
            <a:r>
              <a:rPr lang="pl-PL" sz="1000" dirty="0" err="1">
                <a:solidFill>
                  <a:srgbClr val="CCCCCC"/>
                </a:solidFill>
                <a:latin typeface="Consolas" panose="020B0609020204030204" pitchFamily="49" charset="0"/>
              </a:rPr>
              <a:t>.estimated_time_remaining.sec</a:t>
            </a:r>
            <a:r>
              <a:rPr lang="pl-PL" sz="1000" dirty="0">
                <a:solidFill>
                  <a:srgbClr val="569CD6"/>
                </a:solidFill>
                <a:latin typeface="Consolas" panose="020B0609020204030204" pitchFamily="49" charset="0"/>
              </a:rPr>
              <a:t>}</a:t>
            </a:r>
            <a:r>
              <a:rPr lang="pl-PL" sz="1000" dirty="0">
                <a:solidFill>
                  <a:srgbClr val="CE9178"/>
                </a:solidFill>
                <a:latin typeface="Consolas" panose="020B0609020204030204" pitchFamily="49" charset="0"/>
              </a:rPr>
              <a:t>s"</a:t>
            </a:r>
            <a:r>
              <a:rPr lang="pl-PL" sz="1000" dirty="0">
                <a:solidFill>
                  <a:srgbClr val="CCCCCC"/>
                </a:solidFill>
                <a:latin typeface="Consolas" panose="020B0609020204030204" pitchFamily="49" charset="0"/>
              </a:rPr>
              <a:t>)</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spc="-50" dirty="0" smtClean="0">
                <a:solidFill>
                  <a:srgbClr val="94A3B8"/>
                </a:solidFill>
                <a:latin typeface="Calibri" pitchFamily="34" charset="0"/>
                <a:ea typeface="Calibri" pitchFamily="34" charset="-122"/>
                <a:cs typeface="Calibri" pitchFamily="34" charset="-120"/>
              </a:rPr>
              <a:t>Ten </a:t>
            </a:r>
            <a:r>
              <a:rPr lang="en-US" sz="1400" spc="-50" dirty="0">
                <a:solidFill>
                  <a:srgbClr val="94A3B8"/>
                </a:solidFill>
                <a:latin typeface="Calibri" pitchFamily="34" charset="0"/>
                <a:ea typeface="Calibri" pitchFamily="34" charset="-122"/>
                <a:cs typeface="Calibri" pitchFamily="34" charset="-120"/>
              </a:rPr>
              <a:t>wariant pokazuje surowy mechanizm ActionClient: pełna kontrola nad nagłówkiem, feedbackiem i obsługą odrzucenia celu.</a:t>
            </a:r>
            <a:endParaRPr lang="en-US" sz="1400" spc="-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Fragment własnego drzewa BehaviorTree dla Nav2</a:t>
            </a:r>
            <a:endParaRPr lang="en-US" sz="2200" dirty="0"/>
          </a:p>
        </p:txBody>
      </p:sp>
      <p:sp>
        <p:nvSpPr>
          <p:cNvPr id="6" name="Shape 4"/>
          <p:cNvSpPr/>
          <p:nvPr/>
        </p:nvSpPr>
        <p:spPr>
          <a:xfrm>
            <a:off x="256032" y="603504"/>
            <a:ext cx="8631936" cy="3820578"/>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765714"/>
          </a:xfrm>
          <a:prstGeom prst="rect">
            <a:avLst/>
          </a:prstGeom>
          <a:noFill/>
          <a:ln/>
        </p:spPr>
        <p:txBody>
          <a:bodyPr wrap="square" lIns="0" tIns="0" rIns="0" bIns="0" rtlCol="0" anchor="t"/>
          <a:lstStyle/>
          <a:p>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root</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main_tree_to_execute</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MainTree</a:t>
            </a:r>
            <a:r>
              <a:rPr lang="pl-PL" sz="1100" dirty="0">
                <a:solidFill>
                  <a:srgbClr val="CE9178"/>
                </a:solidFill>
                <a:latin typeface="Consolas" panose="020B0609020204030204" pitchFamily="49" charset="0"/>
              </a:rPr>
              <a:t>"</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BehaviorTree</a:t>
            </a:r>
            <a:r>
              <a:rPr lang="pl-PL" sz="1100" dirty="0">
                <a:solidFill>
                  <a:srgbClr val="CCCCCC"/>
                </a:solidFill>
                <a:latin typeface="Consolas" panose="020B0609020204030204" pitchFamily="49" charset="0"/>
              </a:rPr>
              <a:t> </a:t>
            </a:r>
            <a:r>
              <a:rPr lang="pl-PL" sz="1100" dirty="0">
                <a:solidFill>
                  <a:srgbClr val="9CDCFE"/>
                </a:solidFill>
                <a:latin typeface="Consolas" panose="020B0609020204030204" pitchFamily="49" charset="0"/>
              </a:rPr>
              <a:t>ID</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MainTree</a:t>
            </a:r>
            <a:r>
              <a:rPr lang="pl-PL" sz="1100" dirty="0">
                <a:solidFill>
                  <a:srgbClr val="CE9178"/>
                </a:solidFill>
                <a:latin typeface="Consolas" panose="020B0609020204030204" pitchFamily="49" charset="0"/>
              </a:rPr>
              <a:t>"</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RecoveryNode</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number_of_retries</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"3"</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name</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NavigateRecovery</a:t>
            </a:r>
            <a:r>
              <a:rPr lang="pl-PL" sz="1100" dirty="0">
                <a:solidFill>
                  <a:srgbClr val="CE9178"/>
                </a:solidFill>
                <a:latin typeface="Consolas" panose="020B0609020204030204" pitchFamily="49" charset="0"/>
              </a:rPr>
              <a:t>"</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PipelineSequence</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name</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NavigateWithReplanning</a:t>
            </a:r>
            <a:r>
              <a:rPr lang="pl-PL" sz="1100" dirty="0">
                <a:solidFill>
                  <a:srgbClr val="CE9178"/>
                </a:solidFill>
                <a:latin typeface="Consolas" panose="020B0609020204030204" pitchFamily="49" charset="0"/>
              </a:rPr>
              <a:t>"</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RateController</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hz</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"1.0"</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ComputePathToPose</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goal</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goal</a:t>
            </a:r>
            <a:r>
              <a:rPr lang="pl-PL" sz="1100" dirty="0">
                <a:solidFill>
                  <a:srgbClr val="CE9178"/>
                </a:solidFill>
                <a:latin typeface="Consolas" panose="020B0609020204030204" pitchFamily="49" charset="0"/>
              </a:rPr>
              <a:t>}"</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path</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path</a:t>
            </a:r>
            <a:r>
              <a:rPr lang="pl-PL" sz="1100" dirty="0">
                <a:solidFill>
                  <a:srgbClr val="CE9178"/>
                </a:solidFill>
                <a:latin typeface="Consolas" panose="020B0609020204030204" pitchFamily="49" charset="0"/>
              </a:rPr>
              <a: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planner_id</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GridBased</a:t>
            </a:r>
            <a:r>
              <a:rPr lang="pl-PL" sz="1100" dirty="0">
                <a:solidFill>
                  <a:srgbClr val="CE9178"/>
                </a:solidFill>
                <a:latin typeface="Consolas" panose="020B0609020204030204" pitchFamily="49" charset="0"/>
              </a:rPr>
              <a:t>"</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RateController</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FollowPath</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path</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path</a:t>
            </a:r>
            <a:r>
              <a:rPr lang="pl-PL" sz="1100" dirty="0">
                <a:solidFill>
                  <a:srgbClr val="CE9178"/>
                </a:solidFill>
                <a:latin typeface="Consolas" panose="020B0609020204030204" pitchFamily="49" charset="0"/>
              </a:rPr>
              <a:t>}"</a:t>
            </a:r>
            <a:r>
              <a:rPr lang="pl-PL" sz="1100" dirty="0">
                <a:solidFill>
                  <a:srgbClr val="CCCCCC"/>
                </a:solidFill>
                <a:latin typeface="Consolas" panose="020B0609020204030204" pitchFamily="49" charset="0"/>
              </a:rPr>
              <a:t> </a:t>
            </a:r>
            <a:r>
              <a:rPr lang="pl-PL" sz="1100" dirty="0" err="1">
                <a:solidFill>
                  <a:srgbClr val="9CDCFE"/>
                </a:solidFill>
                <a:latin typeface="Consolas" panose="020B0609020204030204" pitchFamily="49" charset="0"/>
              </a:rPr>
              <a:t>controller_id</a:t>
            </a:r>
            <a:r>
              <a:rPr lang="pl-PL" sz="1100" dirty="0">
                <a:solidFill>
                  <a:srgbClr val="CCCCCC"/>
                </a:solidFill>
                <a:latin typeface="Consolas" panose="020B0609020204030204" pitchFamily="49" charset="0"/>
              </a:rPr>
              <a:t>=</a:t>
            </a:r>
            <a:r>
              <a:rPr lang="pl-PL" sz="1100" dirty="0">
                <a:solidFill>
                  <a:srgbClr val="CE9178"/>
                </a:solidFill>
                <a:latin typeface="Consolas" panose="020B0609020204030204" pitchFamily="49" charset="0"/>
              </a:rPr>
              <a:t>"</a:t>
            </a:r>
            <a:r>
              <a:rPr lang="pl-PL" sz="1100" dirty="0" err="1">
                <a:solidFill>
                  <a:srgbClr val="CE9178"/>
                </a:solidFill>
                <a:latin typeface="Consolas" panose="020B0609020204030204" pitchFamily="49" charset="0"/>
              </a:rPr>
              <a:t>FollowPath</a:t>
            </a:r>
            <a:r>
              <a:rPr lang="pl-PL" sz="1100" dirty="0">
                <a:solidFill>
                  <a:srgbClr val="CE9178"/>
                </a:solidFill>
                <a:latin typeface="Consolas" panose="020B0609020204030204" pitchFamily="49" charset="0"/>
              </a:rPr>
              <a:t>"</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PipelineSequence</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CCCCCC"/>
                </a:solidFill>
                <a:latin typeface="Consolas" panose="020B0609020204030204" pitchFamily="49" charset="0"/>
              </a:rPr>
              <a:t/>
            </a:r>
            <a:br>
              <a:rPr lang="pl-PL" sz="1100" dirty="0">
                <a:solidFill>
                  <a:srgbClr val="CCCCCC"/>
                </a:solidFill>
                <a:latin typeface="Consolas" panose="020B0609020204030204" pitchFamily="49" charset="0"/>
              </a:rPr>
            </a:br>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ReactiveFallback</a:t>
            </a:r>
            <a:r>
              <a:rPr lang="pl-PL" sz="1100" dirty="0">
                <a:solidFill>
                  <a:srgbClr val="CCCCCC"/>
                </a:solidFill>
                <a:latin typeface="Consolas" panose="020B0609020204030204" pitchFamily="49" charset="0"/>
              </a:rPr>
              <a:t> </a:t>
            </a:r>
            <a:r>
              <a:rPr lang="pl-PL" sz="1100" dirty="0" err="1">
                <a:solidFill>
                  <a:srgbClr val="CCCCCC"/>
                </a:solidFill>
                <a:latin typeface="Consolas" panose="020B0609020204030204" pitchFamily="49" charset="0"/>
              </a:rPr>
              <a:t>name</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RecoveryFallback</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GoalUpdated</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Sequence</a:t>
            </a:r>
            <a:r>
              <a:rPr lang="pl-PL" sz="1100" dirty="0">
                <a:solidFill>
                  <a:srgbClr val="CCCCCC"/>
                </a:solidFill>
                <a:latin typeface="Consolas" panose="020B0609020204030204" pitchFamily="49" charset="0"/>
              </a:rPr>
              <a:t> </a:t>
            </a:r>
            <a:r>
              <a:rPr lang="pl-PL" sz="1100" dirty="0" err="1">
                <a:solidFill>
                  <a:srgbClr val="CCCCCC"/>
                </a:solidFill>
                <a:latin typeface="Consolas" panose="020B0609020204030204" pitchFamily="49" charset="0"/>
              </a:rPr>
              <a:t>name</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ClearingActions</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ClearEntireCostmap</a:t>
            </a:r>
            <a:r>
              <a:rPr lang="pl-PL" sz="1100" dirty="0">
                <a:solidFill>
                  <a:srgbClr val="CCCCCC"/>
                </a:solidFill>
                <a:latin typeface="Consolas" panose="020B0609020204030204" pitchFamily="49" charset="0"/>
              </a:rPr>
              <a:t> </a:t>
            </a:r>
            <a:r>
              <a:rPr lang="pl-PL" sz="1100" dirty="0" err="1">
                <a:solidFill>
                  <a:srgbClr val="CCCCCC"/>
                </a:solidFill>
                <a:latin typeface="Consolas" panose="020B0609020204030204" pitchFamily="49" charset="0"/>
              </a:rPr>
              <a:t>name</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ClearGlobal</a:t>
            </a:r>
            <a:r>
              <a:rPr lang="pl-PL" sz="1100" dirty="0">
                <a:solidFill>
                  <a:srgbClr val="CCCCCC"/>
                </a:solidFill>
                <a:latin typeface="Consolas" panose="020B0609020204030204" pitchFamily="49" charset="0"/>
              </a:rPr>
              <a:t>" </a:t>
            </a:r>
            <a:r>
              <a:rPr lang="pl-PL" sz="1100" dirty="0" err="1">
                <a:solidFill>
                  <a:srgbClr val="CCCCCC"/>
                </a:solidFill>
                <a:latin typeface="Consolas" panose="020B0609020204030204" pitchFamily="49" charset="0"/>
              </a:rPr>
              <a:t>service_name</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global_costmap</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clear_entirely_global_costmap</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ClearEntireCostmap</a:t>
            </a:r>
            <a:r>
              <a:rPr lang="pl-PL" sz="1100" dirty="0">
                <a:solidFill>
                  <a:srgbClr val="CCCCCC"/>
                </a:solidFill>
                <a:latin typeface="Consolas" panose="020B0609020204030204" pitchFamily="49" charset="0"/>
              </a:rPr>
              <a:t> </a:t>
            </a:r>
            <a:r>
              <a:rPr lang="pl-PL" sz="1100" dirty="0" err="1">
                <a:solidFill>
                  <a:srgbClr val="CCCCCC"/>
                </a:solidFill>
                <a:latin typeface="Consolas" panose="020B0609020204030204" pitchFamily="49" charset="0"/>
              </a:rPr>
              <a:t>name</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ClearLocal</a:t>
            </a:r>
            <a:r>
              <a:rPr lang="pl-PL" sz="1100" dirty="0">
                <a:solidFill>
                  <a:srgbClr val="CCCCCC"/>
                </a:solidFill>
                <a:latin typeface="Consolas" panose="020B0609020204030204" pitchFamily="49" charset="0"/>
              </a:rPr>
              <a:t>" </a:t>
            </a:r>
            <a:r>
              <a:rPr lang="pl-PL" sz="1100" dirty="0" err="1">
                <a:solidFill>
                  <a:srgbClr val="CCCCCC"/>
                </a:solidFill>
                <a:latin typeface="Consolas" panose="020B0609020204030204" pitchFamily="49" charset="0"/>
              </a:rPr>
              <a:t>service_name</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local_costmap</a:t>
            </a:r>
            <a:r>
              <a:rPr lang="pl-PL" sz="1100" dirty="0">
                <a:solidFill>
                  <a:srgbClr val="CCCCCC"/>
                </a:solidFill>
                <a:latin typeface="Consolas" panose="020B0609020204030204" pitchFamily="49" charset="0"/>
              </a:rPr>
              <a:t>/</a:t>
            </a:r>
            <a:r>
              <a:rPr lang="pl-PL" sz="1100" dirty="0" err="1">
                <a:solidFill>
                  <a:srgbClr val="CCCCCC"/>
                </a:solidFill>
                <a:latin typeface="Consolas" panose="020B0609020204030204" pitchFamily="49" charset="0"/>
              </a:rPr>
              <a:t>clear_entirely_local_costmap</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&lt;Spin </a:t>
            </a:r>
            <a:r>
              <a:rPr lang="pl-PL" sz="1100" dirty="0" err="1">
                <a:solidFill>
                  <a:srgbClr val="CCCCCC"/>
                </a:solidFill>
                <a:latin typeface="Consolas" panose="020B0609020204030204" pitchFamily="49" charset="0"/>
              </a:rPr>
              <a:t>spin_dist</a:t>
            </a:r>
            <a:r>
              <a:rPr lang="pl-PL" sz="1100" dirty="0">
                <a:solidFill>
                  <a:srgbClr val="CCCCCC"/>
                </a:solidFill>
                <a:latin typeface="Consolas" panose="020B0609020204030204" pitchFamily="49" charset="0"/>
              </a:rPr>
              <a:t>="1.57"/&gt;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Sequence</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ReactiveFallback</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&lt;/</a:t>
            </a:r>
            <a:r>
              <a:rPr lang="pl-PL" sz="1100" dirty="0" err="1">
                <a:solidFill>
                  <a:srgbClr val="CCCCCC"/>
                </a:solidFill>
                <a:latin typeface="Consolas" panose="020B0609020204030204" pitchFamily="49" charset="0"/>
              </a:rPr>
              <a:t>RecoveryNode</a:t>
            </a:r>
            <a:r>
              <a:rPr lang="pl-PL" sz="1100" dirty="0">
                <a:solidFill>
                  <a:srgbClr val="CCCCCC"/>
                </a:solidFill>
                <a:latin typeface="Consolas" panose="020B0609020204030204" pitchFamily="49" charset="0"/>
              </a:rPr>
              <a:t>&gt;</a:t>
            </a:r>
          </a:p>
          <a:p>
            <a:r>
              <a:rPr lang="pl-PL" sz="1100" dirty="0">
                <a:solidFill>
                  <a:srgbClr val="CCCCCC"/>
                </a:solidFill>
                <a:latin typeface="Consolas" panose="020B0609020204030204" pitchFamily="49" charset="0"/>
              </a:rPr>
              <a:t>  </a:t>
            </a:r>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BehaviorTree</a:t>
            </a:r>
            <a:r>
              <a:rPr lang="pl-PL" sz="1100" dirty="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a:p>
            <a:r>
              <a:rPr lang="pl-PL" sz="1100" dirty="0">
                <a:solidFill>
                  <a:srgbClr val="808080"/>
                </a:solidFill>
                <a:latin typeface="Consolas" panose="020B0609020204030204" pitchFamily="49" charset="0"/>
              </a:rPr>
              <a:t>&lt;/</a:t>
            </a:r>
            <a:r>
              <a:rPr lang="pl-PL" sz="1100" dirty="0" err="1">
                <a:solidFill>
                  <a:srgbClr val="569CD6"/>
                </a:solidFill>
                <a:latin typeface="Consolas" panose="020B0609020204030204" pitchFamily="49" charset="0"/>
              </a:rPr>
              <a:t>root</a:t>
            </a:r>
            <a:r>
              <a:rPr lang="pl-PL" sz="1100" dirty="0" smtClean="0">
                <a:solidFill>
                  <a:srgbClr val="808080"/>
                </a:solidFill>
                <a:latin typeface="Consolas" panose="020B0609020204030204" pitchFamily="49" charset="0"/>
              </a:rPr>
              <a:t>&gt;</a:t>
            </a:r>
            <a:endParaRPr lang="pl-PL" sz="1100" dirty="0">
              <a:solidFill>
                <a:srgbClr val="CCCCCC"/>
              </a:solidFill>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i="1" dirty="0" err="1" smtClean="0">
                <a:solidFill>
                  <a:srgbClr val="94A3B8"/>
                </a:solidFill>
                <a:latin typeface="Calibri" pitchFamily="34" charset="0"/>
                <a:ea typeface="Calibri" pitchFamily="34" charset="-122"/>
                <a:cs typeface="Calibri" pitchFamily="34" charset="-120"/>
              </a:rPr>
              <a:t>Drzewo</a:t>
            </a:r>
            <a:r>
              <a:rPr lang="en-US" sz="1400" i="1" dirty="0" smtClean="0">
                <a:solidFill>
                  <a:srgbClr val="94A3B8"/>
                </a:solidFill>
                <a:latin typeface="Calibri" pitchFamily="34" charset="0"/>
                <a:ea typeface="Calibri" pitchFamily="34" charset="-122"/>
                <a:cs typeface="Calibri" pitchFamily="34" charset="-120"/>
              </a:rPr>
              <a:t> </a:t>
            </a:r>
            <a:r>
              <a:rPr lang="en-US" sz="1400" i="1" dirty="0">
                <a:solidFill>
                  <a:srgbClr val="94A3B8"/>
                </a:solidFill>
                <a:latin typeface="Calibri" pitchFamily="34" charset="0"/>
                <a:ea typeface="Calibri" pitchFamily="34" charset="-122"/>
                <a:cs typeface="Calibri" pitchFamily="34" charset="-120"/>
              </a:rPr>
              <a:t>wymusza replan co 1 Hz, śledzi ścieżkę i uruchamia kontrolowaną sekwencję recovery </a:t>
            </a:r>
            <a:r>
              <a:rPr lang="en-US" sz="1400" i="1" dirty="0" err="1">
                <a:solidFill>
                  <a:srgbClr val="94A3B8"/>
                </a:solidFill>
                <a:latin typeface="Calibri" pitchFamily="34" charset="0"/>
                <a:ea typeface="Calibri" pitchFamily="34" charset="-122"/>
                <a:cs typeface="Calibri" pitchFamily="34" charset="-120"/>
              </a:rPr>
              <a:t>po</a:t>
            </a:r>
            <a:r>
              <a:rPr lang="en-US" sz="1400" i="1" dirty="0">
                <a:solidFill>
                  <a:srgbClr val="94A3B8"/>
                </a:solidFill>
                <a:latin typeface="Calibri" pitchFamily="34" charset="0"/>
                <a:ea typeface="Calibri" pitchFamily="34" charset="-122"/>
                <a:cs typeface="Calibri" pitchFamily="34" charset="-120"/>
              </a:rPr>
              <a:t> </a:t>
            </a:r>
            <a:r>
              <a:rPr lang="en-US" sz="1400" i="1" dirty="0" err="1" smtClean="0">
                <a:solidFill>
                  <a:srgbClr val="94A3B8"/>
                </a:solidFill>
                <a:latin typeface="Calibri" pitchFamily="34" charset="0"/>
                <a:ea typeface="Calibri" pitchFamily="34" charset="-122"/>
                <a:cs typeface="Calibri" pitchFamily="34" charset="-120"/>
              </a:rPr>
              <a:t>niepowodzeniu</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Konfiguracja własnej warstwy Social Layer w local_costmap</a:t>
            </a:r>
            <a:endParaRPr lang="en-US" sz="2200" dirty="0"/>
          </a:p>
        </p:txBody>
      </p:sp>
      <p:sp>
        <p:nvSpPr>
          <p:cNvPr id="6" name="Shape 4"/>
          <p:cNvSpPr/>
          <p:nvPr/>
        </p:nvSpPr>
        <p:spPr>
          <a:xfrm>
            <a:off x="256032" y="603504"/>
            <a:ext cx="8631936" cy="3571808"/>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516944"/>
          </a:xfrm>
          <a:prstGeom prst="rect">
            <a:avLst/>
          </a:prstGeom>
          <a:noFill/>
          <a:ln/>
        </p:spPr>
        <p:txBody>
          <a:bodyPr wrap="square" lIns="0" tIns="0" rIns="0" bIns="0" numCol="1" spcCol="144000" rtlCol="0" anchor="t"/>
          <a:lstStyle/>
          <a:p>
            <a:pPr>
              <a:lnSpc>
                <a:spcPts val="1000"/>
              </a:lnSpc>
            </a:pPr>
            <a:r>
              <a:rPr lang="pl-PL" sz="1000" dirty="0" err="1">
                <a:solidFill>
                  <a:srgbClr val="9CDCFE"/>
                </a:solidFill>
                <a:latin typeface="Consolas" panose="020B0609020204030204" pitchFamily="49" charset="0"/>
              </a:rPr>
              <a:t>local_costmap</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local_costmap</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ros__</a:t>
            </a:r>
            <a:r>
              <a:rPr lang="pl-PL" sz="1000" dirty="0" err="1">
                <a:solidFill>
                  <a:srgbClr val="9CDCFE"/>
                </a:solidFill>
                <a:latin typeface="Consolas" panose="020B0609020204030204" pitchFamily="49" charset="0"/>
              </a:rPr>
              <a:t>parameters</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update_frequency</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10.0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publish_frequency</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5.0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global_frame</a:t>
            </a:r>
            <a:r>
              <a:rPr lang="pl-PL" sz="1000" dirty="0">
                <a:solidFill>
                  <a:srgbClr val="CCCCCC"/>
                </a:solidFill>
                <a:latin typeface="Consolas" panose="020B0609020204030204" pitchFamily="49" charset="0"/>
              </a:rPr>
              <a:t>: odom</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robot_base_frame</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base_link</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rolling_window</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true</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width</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5</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height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5</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resolution</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0.05</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plugins</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obstacle_layer</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9CDCFE"/>
                </a:solidFill>
                <a:latin typeface="Consolas" panose="020B0609020204030204" pitchFamily="49" charset="0"/>
              </a:rPr>
              <a:t>social_layer</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9CDCFE"/>
                </a:solidFill>
                <a:latin typeface="Consolas" panose="020B0609020204030204" pitchFamily="49" charset="0"/>
              </a:rPr>
              <a:t>inflation_layer</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social_layer</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plugin</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"my_nav2_plugins::</a:t>
            </a:r>
            <a:r>
              <a:rPr lang="pl-PL" sz="1000" dirty="0" err="1">
                <a:solidFill>
                  <a:srgbClr val="CE9178"/>
                </a:solidFill>
                <a:latin typeface="Consolas" panose="020B0609020204030204" pitchFamily="49" charset="0"/>
              </a:rPr>
              <a:t>SocialLayer</a:t>
            </a:r>
            <a:r>
              <a:rPr lang="pl-PL" sz="1000" dirty="0">
                <a:solidFill>
                  <a:srgbClr val="CE9178"/>
                </a:solidFill>
                <a:latin typeface="Consolas" panose="020B0609020204030204" pitchFamily="49" charset="0"/>
              </a:rPr>
              <a:t>"</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enabled</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true</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people_topic</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err="1">
                <a:solidFill>
                  <a:srgbClr val="CCCCCC"/>
                </a:solidFill>
                <a:latin typeface="Consolas" panose="020B0609020204030204" pitchFamily="49" charset="0"/>
              </a:rPr>
              <a:t>people_tracked</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front_sigma</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1.2</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większy koszt przed człowiekiem</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rear_sigma</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0.45</a:t>
            </a:r>
            <a:r>
              <a:rPr lang="pl-PL" sz="1000" dirty="0">
                <a:solidFill>
                  <a:srgbClr val="CCCCCC"/>
                </a:solidFill>
                <a:latin typeface="Consolas" panose="020B0609020204030204" pitchFamily="49" charset="0"/>
              </a:rPr>
              <a:t>       </a:t>
            </a:r>
            <a:r>
              <a:rPr lang="pl-PL" sz="1000" dirty="0">
                <a:solidFill>
                  <a:srgbClr val="6A9955"/>
                </a:solidFill>
                <a:latin typeface="Consolas" panose="020B0609020204030204" pitchFamily="49" charset="0"/>
              </a:rPr>
              <a:t># mniejszy koszt za człowiekiem</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side_sigma</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0.65</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amplitude</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220.0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cutoff</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15.0</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inflation_layer</a:t>
            </a:r>
            <a:r>
              <a:rPr lang="pl-PL" sz="1000" dirty="0">
                <a:solidFill>
                  <a:srgbClr val="CCCCCC"/>
                </a:solidFill>
                <a:latin typeface="Consolas" panose="020B0609020204030204" pitchFamily="49" charset="0"/>
              </a:rPr>
              <a:t>:</a:t>
            </a: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plugin</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"nav2_costmap_2d::</a:t>
            </a:r>
            <a:r>
              <a:rPr lang="pl-PL" sz="1000" dirty="0" err="1">
                <a:solidFill>
                  <a:srgbClr val="CE9178"/>
                </a:solidFill>
                <a:latin typeface="Consolas" panose="020B0609020204030204" pitchFamily="49" charset="0"/>
              </a:rPr>
              <a:t>InflationLayer</a:t>
            </a:r>
            <a:r>
              <a:rPr lang="pl-PL" sz="1000" dirty="0">
                <a:solidFill>
                  <a:srgbClr val="CE9178"/>
                </a:solidFill>
                <a:latin typeface="Consolas" panose="020B0609020204030204" pitchFamily="49" charset="0"/>
              </a:rPr>
              <a:t>"</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inflation_radius</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0.65</a:t>
            </a:r>
            <a:endParaRPr lang="pl-PL" sz="1000" dirty="0">
              <a:solidFill>
                <a:srgbClr val="CCCCCC"/>
              </a:solidFill>
              <a:latin typeface="Consolas" panose="020B0609020204030204" pitchFamily="49" charset="0"/>
            </a:endParaRPr>
          </a:p>
          <a:p>
            <a:pPr>
              <a:lnSpc>
                <a:spcPts val="1000"/>
              </a:lnSpc>
            </a:pP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cost_scaling_factor</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3.0</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12480" cy="329184"/>
          </a:xfrm>
          <a:prstGeom prst="rect">
            <a:avLst/>
          </a:prstGeom>
          <a:noFill/>
          <a:ln/>
        </p:spPr>
        <p:txBody>
          <a:bodyPr wrap="square" lIns="0" tIns="0" rIns="0" bIns="0" rtlCol="0" anchor="ctr"/>
          <a:lstStyle/>
          <a:p>
            <a:pPr marL="0" indent="0" algn="ctr">
              <a:buNone/>
            </a:pPr>
            <a:r>
              <a:rPr lang="en-US" sz="1400" spc="-20" dirty="0" err="1" smtClean="0">
                <a:solidFill>
                  <a:srgbClr val="94A3B8"/>
                </a:solidFill>
                <a:latin typeface="Calibri" pitchFamily="34" charset="0"/>
                <a:ea typeface="Calibri" pitchFamily="34" charset="-122"/>
                <a:cs typeface="Calibri" pitchFamily="34" charset="-120"/>
              </a:rPr>
              <a:t>Warstwa</a:t>
            </a:r>
            <a:r>
              <a:rPr lang="en-US" sz="1400" spc="-20" dirty="0" smtClean="0">
                <a:solidFill>
                  <a:srgbClr val="94A3B8"/>
                </a:solidFill>
                <a:latin typeface="Calibri" pitchFamily="34" charset="0"/>
                <a:ea typeface="Calibri" pitchFamily="34" charset="-122"/>
                <a:cs typeface="Calibri" pitchFamily="34" charset="-120"/>
              </a:rPr>
              <a:t> </a:t>
            </a:r>
            <a:r>
              <a:rPr lang="en-US" sz="1400" spc="-20" dirty="0">
                <a:solidFill>
                  <a:srgbClr val="94A3B8"/>
                </a:solidFill>
                <a:latin typeface="Calibri" pitchFamily="34" charset="0"/>
                <a:ea typeface="Calibri" pitchFamily="34" charset="-122"/>
                <a:cs typeface="Calibri" pitchFamily="34" charset="-120"/>
              </a:rPr>
              <a:t>społeczna modyfikuje lokalną mapę kosztów: kontroler omija ludzi z większym marginesem z przodu niż z </a:t>
            </a:r>
            <a:r>
              <a:rPr lang="en-US" sz="1400" spc="-20" dirty="0" err="1" smtClean="0">
                <a:solidFill>
                  <a:srgbClr val="94A3B8"/>
                </a:solidFill>
                <a:latin typeface="Calibri" pitchFamily="34" charset="0"/>
                <a:ea typeface="Calibri" pitchFamily="34" charset="-122"/>
                <a:cs typeface="Calibri" pitchFamily="34" charset="-120"/>
              </a:rPr>
              <a:t>tyłu</a:t>
            </a:r>
            <a:endParaRPr lang="en-US" sz="1400" spc="-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Shape 1"/>
          <p:cNvSpPr/>
          <p:nvPr/>
        </p:nvSpPr>
        <p:spPr>
          <a:xfrm>
            <a:off x="164592" y="0"/>
            <a:ext cx="8979408" cy="530352"/>
          </a:xfrm>
          <a:prstGeom prst="rect">
            <a:avLst/>
          </a:prstGeom>
          <a:solidFill>
            <a:srgbClr val="1A3550"/>
          </a:solidFill>
          <a:ln w="12700">
            <a:solidFill>
              <a:srgbClr val="1A3550"/>
            </a:solidFill>
            <a:prstDash val="solid"/>
          </a:ln>
        </p:spPr>
      </p:sp>
      <p:sp>
        <p:nvSpPr>
          <p:cNvPr id="4" name="Text 2"/>
          <p:cNvSpPr/>
          <p:nvPr/>
        </p:nvSpPr>
        <p:spPr>
          <a:xfrm>
            <a:off x="320040" y="36576"/>
            <a:ext cx="228600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KOD PYTHON</a:t>
            </a:r>
            <a:endParaRPr lang="en-US" sz="800" dirty="0"/>
          </a:p>
        </p:txBody>
      </p:sp>
      <p:sp>
        <p:nvSpPr>
          <p:cNvPr id="5" name="Text 3"/>
          <p:cNvSpPr/>
          <p:nvPr/>
        </p:nvSpPr>
        <p:spPr>
          <a:xfrm>
            <a:off x="320040" y="256032"/>
            <a:ext cx="8503920" cy="25603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Analiza rosbag2: </a:t>
            </a:r>
            <a:r>
              <a:rPr lang="en-US" sz="2200" dirty="0">
                <a:solidFill>
                  <a:srgbClr val="FFFFFF"/>
                </a:solidFill>
                <a:latin typeface="Trebuchet MS" pitchFamily="34" charset="0"/>
                <a:ea typeface="Trebuchet MS" pitchFamily="34" charset="-122"/>
                <a:cs typeface="Trebuchet MS" pitchFamily="34" charset="-120"/>
              </a:rPr>
              <a:t>długość trasy, czas misji i komendy cmd_vel</a:t>
            </a:r>
            <a:endParaRPr lang="en-US" sz="2200" dirty="0"/>
          </a:p>
        </p:txBody>
      </p:sp>
      <p:sp>
        <p:nvSpPr>
          <p:cNvPr id="6" name="Shape 4"/>
          <p:cNvSpPr/>
          <p:nvPr/>
        </p:nvSpPr>
        <p:spPr>
          <a:xfrm>
            <a:off x="256032" y="603504"/>
            <a:ext cx="8631936" cy="3773514"/>
          </a:xfrm>
          <a:prstGeom prst="rect">
            <a:avLst/>
          </a:prstGeom>
          <a:solidFill>
            <a:srgbClr val="0F2335"/>
          </a:solidFill>
          <a:ln w="12700">
            <a:solidFill>
              <a:srgbClr val="4F46E5"/>
            </a:solidFill>
            <a:prstDash val="solid"/>
          </a:ln>
          <a:effectLst>
            <a:outerShdw blurRad="101600" dist="38100" dir="8100000" algn="bl" rotWithShape="0">
              <a:srgbClr val="000000">
                <a:alpha val="18000"/>
              </a:srgbClr>
            </a:outerShdw>
          </a:effectLst>
        </p:spPr>
      </p:sp>
      <p:sp>
        <p:nvSpPr>
          <p:cNvPr id="7" name="Text 5"/>
          <p:cNvSpPr/>
          <p:nvPr/>
        </p:nvSpPr>
        <p:spPr>
          <a:xfrm>
            <a:off x="347472" y="658368"/>
            <a:ext cx="8485632" cy="3772438"/>
          </a:xfrm>
          <a:prstGeom prst="rect">
            <a:avLst/>
          </a:prstGeom>
          <a:noFill/>
          <a:ln/>
        </p:spPr>
        <p:txBody>
          <a:bodyPr wrap="square" lIns="0" tIns="0" rIns="0" bIns="0" numCol="1" spcCol="72000" rtlCol="0" anchor="t"/>
          <a:lstStyle/>
          <a:p>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numpy</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as</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np</a:t>
            </a:r>
            <a:endParaRPr lang="pl-PL" sz="1000" dirty="0">
              <a:solidFill>
                <a:srgbClr val="CCCCCC"/>
              </a:solidFill>
              <a:latin typeface="Consolas" panose="020B0609020204030204" pitchFamily="49" charset="0"/>
            </a:endParaRPr>
          </a:p>
          <a:p>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rosbags.highlevel</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AnyReader</a:t>
            </a:r>
            <a:endParaRPr lang="pl-PL" sz="1000" dirty="0">
              <a:solidFill>
                <a:srgbClr val="CCCCCC"/>
              </a:solidFill>
              <a:latin typeface="Consolas" panose="020B0609020204030204" pitchFamily="49" charset="0"/>
            </a:endParaRPr>
          </a:p>
          <a:p>
            <a:r>
              <a:rPr lang="pl-PL" sz="1000" dirty="0">
                <a:solidFill>
                  <a:srgbClr val="C586C0"/>
                </a:solidFill>
                <a:latin typeface="Consolas" panose="020B0609020204030204" pitchFamily="49" charset="0"/>
              </a:rPr>
              <a:t>from</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pathlib</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import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Path</a:t>
            </a:r>
            <a:endParaRPr lang="pl-PL" sz="1000" dirty="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err="1">
                <a:solidFill>
                  <a:srgbClr val="9CDCFE"/>
                </a:solidFill>
                <a:latin typeface="Consolas" panose="020B0609020204030204" pitchFamily="49" charset="0"/>
              </a:rPr>
              <a:t>bag</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Path</a:t>
            </a:r>
            <a:r>
              <a:rPr lang="pl-PL" sz="1000" dirty="0">
                <a:solidFill>
                  <a:srgbClr val="CCCCCC"/>
                </a:solidFill>
                <a:latin typeface="Consolas" panose="020B0609020204030204" pitchFamily="49" charset="0"/>
              </a:rPr>
              <a:t>(</a:t>
            </a:r>
            <a:r>
              <a:rPr lang="pl-PL" sz="1000" dirty="0">
                <a:solidFill>
                  <a:srgbClr val="CE9178"/>
                </a:solidFill>
                <a:latin typeface="Consolas" panose="020B0609020204030204" pitchFamily="49" charset="0"/>
              </a:rPr>
              <a:t>'nav2_run_01'</a:t>
            </a:r>
            <a:r>
              <a:rPr lang="pl-PL" sz="1000" dirty="0">
                <a:solidFill>
                  <a:srgbClr val="CCCCCC"/>
                </a:solidFill>
                <a:latin typeface="Consolas" panose="020B0609020204030204" pitchFamily="49" charset="0"/>
              </a:rPr>
              <a:t>)</a:t>
            </a:r>
          </a:p>
          <a:p>
            <a:r>
              <a:rPr lang="pl-PL" sz="1000" dirty="0" err="1">
                <a:solidFill>
                  <a:srgbClr val="9CDCFE"/>
                </a:solidFill>
                <a:latin typeface="Consolas" panose="020B0609020204030204" pitchFamily="49" charset="0"/>
              </a:rPr>
              <a:t>poses</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speeds</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 []</a:t>
            </a:r>
          </a:p>
          <a:p>
            <a:r>
              <a:rPr lang="pl-PL" sz="1000" dirty="0">
                <a:solidFill>
                  <a:srgbClr val="C586C0"/>
                </a:solidFill>
                <a:latin typeface="Consolas" panose="020B0609020204030204" pitchFamily="49" charset="0"/>
              </a:rPr>
              <a:t>with</a:t>
            </a:r>
            <a:r>
              <a:rPr lang="pl-PL" sz="1000" dirty="0">
                <a:solidFill>
                  <a:srgbClr val="CCCCCC"/>
                </a:solidFill>
                <a:latin typeface="Consolas" panose="020B0609020204030204" pitchFamily="49" charset="0"/>
              </a:rPr>
              <a:t> </a:t>
            </a:r>
            <a:r>
              <a:rPr lang="pl-PL" sz="1000" dirty="0" err="1">
                <a:solidFill>
                  <a:srgbClr val="CCCCCC"/>
                </a:solidFill>
                <a:latin typeface="Consolas" panose="020B0609020204030204" pitchFamily="49" charset="0"/>
              </a:rPr>
              <a:t>AnyReader</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bag</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as</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reader</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conns</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c</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for</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c</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in</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reader</a:t>
            </a:r>
            <a:r>
              <a:rPr lang="pl-PL" sz="1000" dirty="0" err="1">
                <a:solidFill>
                  <a:srgbClr val="CCCCCC"/>
                </a:solidFill>
                <a:latin typeface="Consolas" panose="020B0609020204030204" pitchFamily="49" charset="0"/>
              </a:rPr>
              <a:t>.connections</a:t>
            </a:r>
            <a:r>
              <a:rPr lang="pl-PL" sz="1000" dirty="0">
                <a:solidFill>
                  <a:srgbClr val="CCCCCC"/>
                </a:solidFill>
                <a:latin typeface="Consolas" panose="020B0609020204030204" pitchFamily="49" charset="0"/>
              </a:rPr>
              <a:t> </a:t>
            </a:r>
            <a:r>
              <a:rPr lang="pl-PL" sz="1000" dirty="0" err="1">
                <a:solidFill>
                  <a:srgbClr val="C586C0"/>
                </a:solidFill>
                <a:latin typeface="Consolas" panose="020B0609020204030204" pitchFamily="49" charset="0"/>
              </a:rPr>
              <a:t>if</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a:t>
            </a:r>
            <a:r>
              <a:rPr lang="pl-PL" sz="1000" dirty="0" err="1">
                <a:solidFill>
                  <a:srgbClr val="CCCCCC"/>
                </a:solidFill>
                <a:latin typeface="Consolas" panose="020B0609020204030204" pitchFamily="49" charset="0"/>
              </a:rPr>
              <a:t>.topic</a:t>
            </a:r>
            <a:r>
              <a:rPr lang="pl-PL" sz="1000" dirty="0">
                <a:solidFill>
                  <a:srgbClr val="CCCCCC"/>
                </a:solidFill>
                <a:latin typeface="Consolas" panose="020B0609020204030204" pitchFamily="49" charset="0"/>
              </a:rPr>
              <a:t> </a:t>
            </a:r>
            <a:r>
              <a:rPr lang="pl-PL" sz="1000" dirty="0">
                <a:solidFill>
                  <a:srgbClr val="569CD6"/>
                </a:solidFill>
                <a:latin typeface="Consolas" panose="020B0609020204030204" pitchFamily="49" charset="0"/>
              </a:rPr>
              <a:t>in</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'/odom'</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cmd_vel</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for</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conn</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raw</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in</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reader</a:t>
            </a:r>
            <a:r>
              <a:rPr lang="pl-PL" sz="1000" dirty="0" err="1">
                <a:solidFill>
                  <a:srgbClr val="CCCCCC"/>
                </a:solidFill>
                <a:latin typeface="Consolas" panose="020B0609020204030204" pitchFamily="49" charset="0"/>
              </a:rPr>
              <a:t>.messages</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connections</a:t>
            </a:r>
            <a:r>
              <a:rPr lang="pl-PL" sz="1000" dirty="0">
                <a:solidFill>
                  <a:srgbClr val="D4D4D4"/>
                </a:solidFill>
                <a:latin typeface="Consolas" panose="020B0609020204030204" pitchFamily="49" charset="0"/>
              </a:rPr>
              <a:t>=</a:t>
            </a:r>
            <a:r>
              <a:rPr lang="pl-PL" sz="1000" dirty="0" err="1">
                <a:solidFill>
                  <a:srgbClr val="9CDCFE"/>
                </a:solidFill>
                <a:latin typeface="Consolas" panose="020B0609020204030204" pitchFamily="49" charset="0"/>
              </a:rPr>
              <a:t>conns</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msg</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reader</a:t>
            </a:r>
            <a:r>
              <a:rPr lang="pl-PL" sz="1000" dirty="0" err="1">
                <a:solidFill>
                  <a:srgbClr val="CCCCCC"/>
                </a:solidFill>
                <a:latin typeface="Consolas" panose="020B0609020204030204" pitchFamily="49" charset="0"/>
              </a:rPr>
              <a:t>.deserialize</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raw</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conn</a:t>
            </a:r>
            <a:r>
              <a:rPr lang="pl-PL" sz="1000" dirty="0" err="1">
                <a:solidFill>
                  <a:srgbClr val="CCCCCC"/>
                </a:solidFill>
                <a:latin typeface="Consolas" panose="020B0609020204030204" pitchFamily="49" charset="0"/>
              </a:rPr>
              <a:t>.msgtype</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C586C0"/>
                </a:solidFill>
                <a:latin typeface="Consolas" panose="020B0609020204030204" pitchFamily="49" charset="0"/>
              </a:rPr>
              <a:t>if</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conn</a:t>
            </a:r>
            <a:r>
              <a:rPr lang="pl-PL" sz="1000" dirty="0" err="1">
                <a:solidFill>
                  <a:srgbClr val="CCCCCC"/>
                </a:solidFill>
                <a:latin typeface="Consolas" panose="020B0609020204030204" pitchFamily="49" charset="0"/>
              </a:rPr>
              <a:t>.topic</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'/odom'</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p</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smtClean="0">
                <a:solidFill>
                  <a:srgbClr val="9CDCFE"/>
                </a:solidFill>
                <a:latin typeface="Consolas" panose="020B0609020204030204" pitchFamily="49" charset="0"/>
              </a:rPr>
              <a:t>msg</a:t>
            </a:r>
            <a:r>
              <a:rPr lang="pl-PL" sz="1000" dirty="0" err="1" smtClean="0">
                <a:solidFill>
                  <a:srgbClr val="CCCCCC"/>
                </a:solidFill>
                <a:latin typeface="Consolas" panose="020B0609020204030204" pitchFamily="49" charset="0"/>
              </a:rPr>
              <a:t>.pose.pose.position</a:t>
            </a:r>
            <a:endParaRPr lang="pl-PL" sz="1000" dirty="0" smtClean="0">
              <a:solidFill>
                <a:srgbClr val="CCCCCC"/>
              </a:solidFill>
              <a:latin typeface="Consolas" panose="020B0609020204030204" pitchFamily="49" charset="0"/>
            </a:endParaRPr>
          </a:p>
          <a:p>
            <a:r>
              <a:rPr lang="pl-PL" sz="1000" dirty="0">
                <a:solidFill>
                  <a:srgbClr val="CCCCCC"/>
                </a:solidFill>
                <a:latin typeface="Consolas" panose="020B0609020204030204" pitchFamily="49" charset="0"/>
              </a:rPr>
              <a:t> </a:t>
            </a:r>
            <a:r>
              <a:rPr lang="pl-PL" sz="1000" dirty="0" smtClean="0">
                <a:solidFill>
                  <a:srgbClr val="CCCCCC"/>
                </a:solidFill>
                <a:latin typeface="Consolas" panose="020B0609020204030204" pitchFamily="49" charset="0"/>
              </a:rPr>
              <a:t>           </a:t>
            </a:r>
            <a:r>
              <a:rPr lang="pl-PL" sz="1000" dirty="0" err="1" smtClean="0">
                <a:solidFill>
                  <a:srgbClr val="9CDCFE"/>
                </a:solidFill>
                <a:latin typeface="Consolas" panose="020B0609020204030204" pitchFamily="49" charset="0"/>
              </a:rPr>
              <a:t>poses</a:t>
            </a:r>
            <a:r>
              <a:rPr lang="pl-PL" sz="1000" dirty="0" err="1" smtClean="0">
                <a:solidFill>
                  <a:srgbClr val="CCCCCC"/>
                </a:solidFill>
                <a:latin typeface="Consolas" panose="020B0609020204030204" pitchFamily="49" charset="0"/>
              </a:rPr>
              <a:t>.</a:t>
            </a:r>
            <a:r>
              <a:rPr lang="pl-PL" sz="1000" dirty="0" err="1" smtClean="0">
                <a:solidFill>
                  <a:srgbClr val="DCDCAA"/>
                </a:solidFill>
                <a:latin typeface="Consolas" panose="020B0609020204030204" pitchFamily="49" charset="0"/>
              </a:rPr>
              <a:t>append</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t</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1e-9</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t>
            </a:r>
            <a:r>
              <a:rPr lang="pl-PL" sz="1000" dirty="0" err="1">
                <a:solidFill>
                  <a:srgbClr val="CCCCCC"/>
                </a:solidFill>
                <a:latin typeface="Consolas" panose="020B0609020204030204" pitchFamily="49" charset="0"/>
              </a:rPr>
              <a:t>.x</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a:t>
            </a:r>
            <a:r>
              <a:rPr lang="pl-PL" sz="1000" dirty="0" err="1">
                <a:solidFill>
                  <a:srgbClr val="CCCCCC"/>
                </a:solidFill>
                <a:latin typeface="Consolas" panose="020B0609020204030204" pitchFamily="49" charset="0"/>
              </a:rPr>
              <a:t>.y</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C586C0"/>
                </a:solidFill>
                <a:latin typeface="Consolas" panose="020B0609020204030204" pitchFamily="49" charset="0"/>
              </a:rPr>
              <a:t>elif</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conn</a:t>
            </a:r>
            <a:r>
              <a:rPr lang="pl-PL" sz="1000" dirty="0" err="1">
                <a:solidFill>
                  <a:srgbClr val="CCCCCC"/>
                </a:solidFill>
                <a:latin typeface="Consolas" panose="020B0609020204030204" pitchFamily="49" charset="0"/>
              </a:rPr>
              <a:t>.topic</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CE9178"/>
                </a:solidFill>
                <a:latin typeface="Consolas" panose="020B0609020204030204" pitchFamily="49" charset="0"/>
              </a:rPr>
              <a:t>'/</a:t>
            </a:r>
            <a:r>
              <a:rPr lang="pl-PL" sz="1000" dirty="0" err="1">
                <a:solidFill>
                  <a:srgbClr val="CE9178"/>
                </a:solidFill>
                <a:latin typeface="Consolas" panose="020B0609020204030204" pitchFamily="49" charset="0"/>
              </a:rPr>
              <a:t>cmd_vel</a:t>
            </a:r>
            <a:r>
              <a:rPr lang="pl-PL" sz="1000" dirty="0">
                <a:solidFill>
                  <a:srgbClr val="CE9178"/>
                </a:solidFill>
                <a:latin typeface="Consolas" panose="020B0609020204030204" pitchFamily="49" charset="0"/>
              </a:rPr>
              <a:t>'</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speeds</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append</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t</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a:solidFill>
                  <a:srgbClr val="B5CEA8"/>
                </a:solidFill>
                <a:latin typeface="Consolas" panose="020B0609020204030204" pitchFamily="49" charset="0"/>
              </a:rPr>
              <a:t>1e-9</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msg</a:t>
            </a:r>
            <a:r>
              <a:rPr lang="pl-PL" sz="1000" dirty="0" err="1">
                <a:solidFill>
                  <a:srgbClr val="CCCCCC"/>
                </a:solidFill>
                <a:latin typeface="Consolas" panose="020B0609020204030204" pitchFamily="49" charset="0"/>
              </a:rPr>
              <a:t>.linear.x</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msg</a:t>
            </a:r>
            <a:r>
              <a:rPr lang="pl-PL" sz="1000" dirty="0" err="1">
                <a:solidFill>
                  <a:srgbClr val="CCCCCC"/>
                </a:solidFill>
                <a:latin typeface="Consolas" panose="020B0609020204030204" pitchFamily="49" charset="0"/>
              </a:rPr>
              <a:t>.angular.z</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err="1">
                <a:solidFill>
                  <a:srgbClr val="9CDCFE"/>
                </a:solidFill>
                <a:latin typeface="Consolas" panose="020B0609020204030204" pitchFamily="49" charset="0"/>
              </a:rPr>
              <a:t>xy</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np</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array</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x</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y</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for</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_</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x</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y</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in</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poses</a:t>
            </a:r>
            <a:r>
              <a:rPr lang="pl-PL" sz="1000" dirty="0">
                <a:solidFill>
                  <a:srgbClr val="CCCCCC"/>
                </a:solidFill>
                <a:latin typeface="Consolas" panose="020B0609020204030204" pitchFamily="49" charset="0"/>
              </a:rPr>
              <a:t>])</a:t>
            </a:r>
          </a:p>
          <a:p>
            <a:r>
              <a:rPr lang="pl-PL" sz="1000" dirty="0" err="1">
                <a:solidFill>
                  <a:srgbClr val="9CDCFE"/>
                </a:solidFill>
                <a:latin typeface="Consolas" panose="020B0609020204030204" pitchFamily="49" charset="0"/>
              </a:rPr>
              <a:t>segments</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np</a:t>
            </a:r>
            <a:r>
              <a:rPr lang="pl-PL" sz="1000" dirty="0" err="1">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linalg</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norm</a:t>
            </a:r>
            <a:r>
              <a:rPr lang="pl-PL" sz="1000" dirty="0">
                <a:solidFill>
                  <a:srgbClr val="CCCCCC"/>
                </a:solidFill>
                <a:latin typeface="Consolas" panose="020B0609020204030204" pitchFamily="49" charset="0"/>
              </a:rPr>
              <a:t>(</a:t>
            </a:r>
            <a:r>
              <a:rPr lang="pl-PL" sz="1000" dirty="0" err="1">
                <a:solidFill>
                  <a:srgbClr val="4EC9B0"/>
                </a:solidFill>
                <a:latin typeface="Consolas" panose="020B0609020204030204" pitchFamily="49" charset="0"/>
              </a:rPr>
              <a:t>np</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diff</a:t>
            </a:r>
            <a:r>
              <a:rPr lang="pl-PL" sz="1000" dirty="0">
                <a:solidFill>
                  <a:srgbClr val="CCCCCC"/>
                </a:solidFill>
                <a:latin typeface="Consolas" panose="020B0609020204030204" pitchFamily="49" charset="0"/>
              </a:rPr>
              <a:t>(</a:t>
            </a:r>
            <a:r>
              <a:rPr lang="pl-PL" sz="1000" dirty="0" err="1">
                <a:solidFill>
                  <a:srgbClr val="9CDCFE"/>
                </a:solidFill>
                <a:latin typeface="Consolas" panose="020B0609020204030204" pitchFamily="49" charset="0"/>
              </a:rPr>
              <a:t>xy</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axis</a:t>
            </a:r>
            <a:r>
              <a:rPr lang="pl-PL" sz="1000" dirty="0">
                <a:solidFill>
                  <a:srgbClr val="D4D4D4"/>
                </a:solidFill>
                <a:latin typeface="Consolas" panose="020B0609020204030204" pitchFamily="49" charset="0"/>
              </a:rPr>
              <a:t>=</a:t>
            </a:r>
            <a:r>
              <a:rPr lang="pl-PL" sz="1000" dirty="0">
                <a:solidFill>
                  <a:srgbClr val="B5CEA8"/>
                </a:solidFill>
                <a:latin typeface="Consolas" panose="020B0609020204030204" pitchFamily="49" charset="0"/>
              </a:rPr>
              <a:t>0</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axis</a:t>
            </a:r>
            <a:r>
              <a:rPr lang="pl-PL" sz="1000" dirty="0">
                <a:solidFill>
                  <a:srgbClr val="D4D4D4"/>
                </a:solidFill>
                <a:latin typeface="Consolas" panose="020B0609020204030204" pitchFamily="49" charset="0"/>
              </a:rPr>
              <a:t>=</a:t>
            </a:r>
            <a:r>
              <a:rPr lang="pl-PL" sz="1000" dirty="0">
                <a:solidFill>
                  <a:srgbClr val="B5CEA8"/>
                </a:solidFill>
                <a:latin typeface="Consolas" panose="020B0609020204030204" pitchFamily="49" charset="0"/>
              </a:rPr>
              <a:t>1</a:t>
            </a:r>
            <a:r>
              <a:rPr lang="pl-PL" sz="1000" dirty="0">
                <a:solidFill>
                  <a:srgbClr val="CCCCCC"/>
                </a:solidFill>
                <a:latin typeface="Consolas" panose="020B0609020204030204" pitchFamily="49" charset="0"/>
              </a:rPr>
              <a:t>)</a:t>
            </a:r>
          </a:p>
          <a:p>
            <a:r>
              <a:rPr lang="pl-PL" sz="1000" dirty="0" err="1">
                <a:solidFill>
                  <a:srgbClr val="9CDCFE"/>
                </a:solidFill>
                <a:latin typeface="Consolas" panose="020B0609020204030204" pitchFamily="49" charset="0"/>
              </a:rPr>
              <a:t>path_len</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segments</a:t>
            </a:r>
            <a:r>
              <a:rPr lang="pl-PL" sz="1000" dirty="0" err="1">
                <a:solidFill>
                  <a:srgbClr val="CCCCCC"/>
                </a:solidFill>
                <a:latin typeface="Consolas" panose="020B0609020204030204" pitchFamily="49" charset="0"/>
              </a:rPr>
              <a:t>.sum</a:t>
            </a:r>
            <a:r>
              <a:rPr lang="pl-PL" sz="1000" dirty="0">
                <a:solidFill>
                  <a:srgbClr val="CCCCCC"/>
                </a:solidFill>
                <a:latin typeface="Consolas" panose="020B0609020204030204" pitchFamily="49" charset="0"/>
              </a:rPr>
              <a:t>()</a:t>
            </a:r>
          </a:p>
          <a:p>
            <a:r>
              <a:rPr lang="pl-PL" sz="1000" dirty="0" err="1">
                <a:solidFill>
                  <a:srgbClr val="9CDCFE"/>
                </a:solidFill>
                <a:latin typeface="Consolas" panose="020B0609020204030204" pitchFamily="49" charset="0"/>
              </a:rPr>
              <a:t>mission_time</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poses</a:t>
            </a:r>
            <a:r>
              <a:rPr lang="pl-PL" sz="1000" dirty="0">
                <a:solidFill>
                  <a:srgbClr val="CCCCCC"/>
                </a:solidFill>
                <a:latin typeface="Consolas" panose="020B0609020204030204" pitchFamily="49" charset="0"/>
              </a:rPr>
              <a:t>[</a:t>
            </a:r>
            <a:r>
              <a:rPr lang="pl-PL" sz="1000" dirty="0">
                <a:solidFill>
                  <a:srgbClr val="D4D4D4"/>
                </a:solidFill>
                <a:latin typeface="Consolas" panose="020B0609020204030204" pitchFamily="49" charset="0"/>
              </a:rPr>
              <a:t>-</a:t>
            </a:r>
            <a:r>
              <a:rPr lang="pl-PL" sz="1000" dirty="0">
                <a:solidFill>
                  <a:srgbClr val="B5CEA8"/>
                </a:solidFill>
                <a:latin typeface="Consolas" panose="020B0609020204030204" pitchFamily="49" charset="0"/>
              </a:rPr>
              <a:t>1</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0</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poses</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0</a:t>
            </a:r>
            <a:r>
              <a:rPr lang="pl-PL" sz="1000" dirty="0">
                <a:solidFill>
                  <a:srgbClr val="CCCCCC"/>
                </a:solidFill>
                <a:latin typeface="Consolas" panose="020B0609020204030204" pitchFamily="49" charset="0"/>
              </a:rPr>
              <a:t>][</a:t>
            </a:r>
            <a:r>
              <a:rPr lang="pl-PL" sz="1000" dirty="0">
                <a:solidFill>
                  <a:srgbClr val="B5CEA8"/>
                </a:solidFill>
                <a:latin typeface="Consolas" panose="020B0609020204030204" pitchFamily="49" charset="0"/>
              </a:rPr>
              <a:t>0</a:t>
            </a:r>
            <a:r>
              <a:rPr lang="pl-PL" sz="1000" dirty="0">
                <a:solidFill>
                  <a:srgbClr val="CCCCCC"/>
                </a:solidFill>
                <a:latin typeface="Consolas" panose="020B0609020204030204" pitchFamily="49" charset="0"/>
              </a:rPr>
              <a:t>]</a:t>
            </a:r>
          </a:p>
          <a:p>
            <a:r>
              <a:rPr lang="pl-PL" sz="1000" dirty="0" err="1">
                <a:solidFill>
                  <a:srgbClr val="9CDCFE"/>
                </a:solidFill>
                <a:latin typeface="Consolas" panose="020B0609020204030204" pitchFamily="49" charset="0"/>
              </a:rPr>
              <a:t>mean_v</a:t>
            </a:r>
            <a:r>
              <a:rPr lang="pl-PL" sz="1000" dirty="0">
                <a:solidFill>
                  <a:srgbClr val="CCCCCC"/>
                </a:solidFill>
                <a:latin typeface="Consolas" panose="020B0609020204030204" pitchFamily="49" charset="0"/>
              </a:rPr>
              <a:t> </a:t>
            </a:r>
            <a:r>
              <a:rPr lang="pl-PL" sz="1000" dirty="0">
                <a:solidFill>
                  <a:srgbClr val="D4D4D4"/>
                </a:solidFill>
                <a:latin typeface="Consolas" panose="020B0609020204030204" pitchFamily="49" charset="0"/>
              </a:rPr>
              <a:t>=</a:t>
            </a:r>
            <a:r>
              <a:rPr lang="pl-PL" sz="1000" dirty="0">
                <a:solidFill>
                  <a:srgbClr val="CCCCCC"/>
                </a:solidFill>
                <a:latin typeface="Consolas" panose="020B0609020204030204" pitchFamily="49" charset="0"/>
              </a:rPr>
              <a:t> </a:t>
            </a:r>
            <a:r>
              <a:rPr lang="pl-PL" sz="1000" dirty="0" err="1">
                <a:solidFill>
                  <a:srgbClr val="4EC9B0"/>
                </a:solidFill>
                <a:latin typeface="Consolas" panose="020B0609020204030204" pitchFamily="49" charset="0"/>
              </a:rPr>
              <a:t>np</a:t>
            </a:r>
            <a:r>
              <a:rPr lang="pl-PL" sz="1000" dirty="0" err="1">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mean</a:t>
            </a:r>
            <a:r>
              <a:rPr lang="pl-PL" sz="1000" dirty="0">
                <a:solidFill>
                  <a:srgbClr val="CCCCCC"/>
                </a:solidFill>
                <a:latin typeface="Consolas" panose="020B0609020204030204" pitchFamily="49" charset="0"/>
              </a:rPr>
              <a:t>([</a:t>
            </a:r>
            <a:r>
              <a:rPr lang="pl-PL" sz="1000" dirty="0" err="1">
                <a:solidFill>
                  <a:srgbClr val="DCDCAA"/>
                </a:solidFill>
                <a:latin typeface="Consolas" panose="020B0609020204030204" pitchFamily="49" charset="0"/>
              </a:rPr>
              <a:t>abs</a:t>
            </a:r>
            <a:r>
              <a:rPr lang="pl-PL" sz="1000" dirty="0">
                <a:solidFill>
                  <a:srgbClr val="CCCCCC"/>
                </a:solidFill>
                <a:latin typeface="Consolas" panose="020B0609020204030204" pitchFamily="49" charset="0"/>
              </a:rPr>
              <a:t>(</a:t>
            </a:r>
            <a:r>
              <a:rPr lang="pl-PL" sz="1000" dirty="0">
                <a:solidFill>
                  <a:srgbClr val="9CDCFE"/>
                </a:solidFill>
                <a:latin typeface="Consolas" panose="020B0609020204030204" pitchFamily="49" charset="0"/>
              </a:rPr>
              <a:t>v</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for</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_</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v</a:t>
            </a:r>
            <a:r>
              <a:rPr lang="pl-PL" sz="1000" dirty="0">
                <a:solidFill>
                  <a:srgbClr val="CCCCCC"/>
                </a:solidFill>
                <a:latin typeface="Consolas" panose="020B0609020204030204" pitchFamily="49" charset="0"/>
              </a:rPr>
              <a:t>, </a:t>
            </a:r>
            <a:r>
              <a:rPr lang="pl-PL" sz="1000" dirty="0">
                <a:solidFill>
                  <a:srgbClr val="9CDCFE"/>
                </a:solidFill>
                <a:latin typeface="Consolas" panose="020B0609020204030204" pitchFamily="49" charset="0"/>
              </a:rPr>
              <a:t>_</a:t>
            </a:r>
            <a:r>
              <a:rPr lang="pl-PL" sz="1000" dirty="0">
                <a:solidFill>
                  <a:srgbClr val="CCCCCC"/>
                </a:solidFill>
                <a:latin typeface="Consolas" panose="020B0609020204030204" pitchFamily="49" charset="0"/>
              </a:rPr>
              <a:t> </a:t>
            </a:r>
            <a:r>
              <a:rPr lang="pl-PL" sz="1000" dirty="0">
                <a:solidFill>
                  <a:srgbClr val="C586C0"/>
                </a:solidFill>
                <a:latin typeface="Consolas" panose="020B0609020204030204" pitchFamily="49" charset="0"/>
              </a:rPr>
              <a:t>in</a:t>
            </a:r>
            <a:r>
              <a:rPr lang="pl-PL" sz="1000" dirty="0">
                <a:solidFill>
                  <a:srgbClr val="CCCCCC"/>
                </a:solidFill>
                <a:latin typeface="Consolas" panose="020B0609020204030204" pitchFamily="49" charset="0"/>
              </a:rPr>
              <a:t> </a:t>
            </a:r>
            <a:r>
              <a:rPr lang="pl-PL" sz="1000" dirty="0" err="1">
                <a:solidFill>
                  <a:srgbClr val="9CDCFE"/>
                </a:solidFill>
                <a:latin typeface="Consolas" panose="020B0609020204030204" pitchFamily="49" charset="0"/>
              </a:rPr>
              <a:t>speeds</a:t>
            </a:r>
            <a:r>
              <a:rPr lang="pl-PL" sz="1000" dirty="0">
                <a:solidFill>
                  <a:srgbClr val="CCCCCC"/>
                </a:solidFill>
                <a:latin typeface="Consolas" panose="020B0609020204030204" pitchFamily="49" charset="0"/>
              </a:rPr>
              <a:t>])</a:t>
            </a:r>
          </a:p>
          <a:p>
            <a:r>
              <a:rPr lang="pl-PL" sz="1000" dirty="0">
                <a:solidFill>
                  <a:srgbClr val="CCCCCC"/>
                </a:solidFill>
                <a:latin typeface="Consolas" panose="020B0609020204030204" pitchFamily="49" charset="0"/>
              </a:rPr>
              <a:t/>
            </a:r>
            <a:br>
              <a:rPr lang="pl-PL" sz="1000" dirty="0">
                <a:solidFill>
                  <a:srgbClr val="CCCCCC"/>
                </a:solidFill>
                <a:latin typeface="Consolas" panose="020B0609020204030204" pitchFamily="49" charset="0"/>
              </a:rPr>
            </a:br>
            <a:r>
              <a:rPr lang="pl-PL" sz="1000" dirty="0" err="1">
                <a:solidFill>
                  <a:srgbClr val="DCDCAA"/>
                </a:solidFill>
                <a:latin typeface="Consolas" panose="020B0609020204030204" pitchFamily="49" charset="0"/>
              </a:rPr>
              <a:t>print</a:t>
            </a:r>
            <a:r>
              <a:rPr lang="pl-PL" sz="1000" dirty="0">
                <a:solidFill>
                  <a:srgbClr val="CCCCCC"/>
                </a:solidFill>
                <a:latin typeface="Consolas" panose="020B0609020204030204" pitchFamily="49" charset="0"/>
              </a:rPr>
              <a:t>(</a:t>
            </a:r>
            <a:r>
              <a:rPr lang="pl-PL" sz="1000" dirty="0" err="1">
                <a:solidFill>
                  <a:srgbClr val="569CD6"/>
                </a:solidFill>
                <a:latin typeface="Consolas" panose="020B0609020204030204" pitchFamily="49" charset="0"/>
              </a:rPr>
              <a:t>f</a:t>
            </a:r>
            <a:r>
              <a:rPr lang="pl-PL" sz="1000" dirty="0" err="1">
                <a:solidFill>
                  <a:srgbClr val="CE9178"/>
                </a:solidFill>
                <a:latin typeface="Consolas" panose="020B0609020204030204" pitchFamily="49" charset="0"/>
              </a:rPr>
              <a:t>"path</a:t>
            </a:r>
            <a:r>
              <a:rPr lang="pl-PL" sz="1000" dirty="0">
                <a:solidFill>
                  <a:srgbClr val="CE9178"/>
                </a:solidFill>
                <a:latin typeface="Consolas" panose="020B0609020204030204" pitchFamily="49" charset="0"/>
              </a:rPr>
              <a:t>=</a:t>
            </a:r>
            <a:r>
              <a:rPr lang="pl-PL" sz="1000" dirty="0">
                <a:solidFill>
                  <a:srgbClr val="569CD6"/>
                </a:solidFill>
                <a:latin typeface="Consolas" panose="020B0609020204030204" pitchFamily="49" charset="0"/>
              </a:rPr>
              <a:t>{</a:t>
            </a:r>
            <a:r>
              <a:rPr lang="pl-PL" sz="1000" dirty="0">
                <a:solidFill>
                  <a:srgbClr val="9CDCFE"/>
                </a:solidFill>
                <a:latin typeface="Consolas" panose="020B0609020204030204" pitchFamily="49" charset="0"/>
              </a:rPr>
              <a:t>path_len</a:t>
            </a:r>
            <a:r>
              <a:rPr lang="pl-PL" sz="1000" dirty="0">
                <a:solidFill>
                  <a:srgbClr val="569CD6"/>
                </a:solidFill>
                <a:latin typeface="Consolas" panose="020B0609020204030204" pitchFamily="49" charset="0"/>
              </a:rPr>
              <a:t>:.2f}</a:t>
            </a:r>
            <a:r>
              <a:rPr lang="pl-PL" sz="1000" dirty="0">
                <a:solidFill>
                  <a:srgbClr val="CE9178"/>
                </a:solidFill>
                <a:latin typeface="Consolas" panose="020B0609020204030204" pitchFamily="49" charset="0"/>
              </a:rPr>
              <a:t> m, </a:t>
            </a:r>
            <a:r>
              <a:rPr lang="pl-PL" sz="1000" dirty="0" err="1">
                <a:solidFill>
                  <a:srgbClr val="CE9178"/>
                </a:solidFill>
                <a:latin typeface="Consolas" panose="020B0609020204030204" pitchFamily="49" charset="0"/>
              </a:rPr>
              <a:t>time</a:t>
            </a:r>
            <a:r>
              <a:rPr lang="pl-PL" sz="1000" dirty="0">
                <a:solidFill>
                  <a:srgbClr val="CE9178"/>
                </a:solidFill>
                <a:latin typeface="Consolas" panose="020B0609020204030204" pitchFamily="49" charset="0"/>
              </a:rPr>
              <a:t>=</a:t>
            </a:r>
            <a:r>
              <a:rPr lang="pl-PL" sz="1000" dirty="0">
                <a:solidFill>
                  <a:srgbClr val="569CD6"/>
                </a:solidFill>
                <a:latin typeface="Consolas" panose="020B0609020204030204" pitchFamily="49" charset="0"/>
              </a:rPr>
              <a:t>{</a:t>
            </a:r>
            <a:r>
              <a:rPr lang="pl-PL" sz="1000" dirty="0">
                <a:solidFill>
                  <a:srgbClr val="9CDCFE"/>
                </a:solidFill>
                <a:latin typeface="Consolas" panose="020B0609020204030204" pitchFamily="49" charset="0"/>
              </a:rPr>
              <a:t>mission_time</a:t>
            </a:r>
            <a:r>
              <a:rPr lang="pl-PL" sz="1000" dirty="0">
                <a:solidFill>
                  <a:srgbClr val="569CD6"/>
                </a:solidFill>
                <a:latin typeface="Consolas" panose="020B0609020204030204" pitchFamily="49" charset="0"/>
              </a:rPr>
              <a:t>:.1f}</a:t>
            </a:r>
            <a:r>
              <a:rPr lang="pl-PL" sz="1000" dirty="0">
                <a:solidFill>
                  <a:srgbClr val="CE9178"/>
                </a:solidFill>
                <a:latin typeface="Consolas" panose="020B0609020204030204" pitchFamily="49" charset="0"/>
              </a:rPr>
              <a:t> s"</a:t>
            </a:r>
            <a:r>
              <a:rPr lang="pl-PL" sz="1000" dirty="0">
                <a:solidFill>
                  <a:srgbClr val="CCCCCC"/>
                </a:solidFill>
                <a:latin typeface="Consolas" panose="020B0609020204030204" pitchFamily="49" charset="0"/>
              </a:rPr>
              <a:t>)</a:t>
            </a:r>
          </a:p>
          <a:p>
            <a:r>
              <a:rPr lang="pl-PL" sz="1000" dirty="0" err="1">
                <a:solidFill>
                  <a:srgbClr val="DCDCAA"/>
                </a:solidFill>
                <a:latin typeface="Consolas" panose="020B0609020204030204" pitchFamily="49" charset="0"/>
              </a:rPr>
              <a:t>print</a:t>
            </a:r>
            <a:r>
              <a:rPr lang="pl-PL" sz="1000" dirty="0">
                <a:solidFill>
                  <a:srgbClr val="CCCCCC"/>
                </a:solidFill>
                <a:latin typeface="Consolas" panose="020B0609020204030204" pitchFamily="49" charset="0"/>
              </a:rPr>
              <a:t>(</a:t>
            </a:r>
            <a:r>
              <a:rPr lang="pl-PL" sz="1000" dirty="0" err="1">
                <a:solidFill>
                  <a:srgbClr val="569CD6"/>
                </a:solidFill>
                <a:latin typeface="Consolas" panose="020B0609020204030204" pitchFamily="49" charset="0"/>
              </a:rPr>
              <a:t>f</a:t>
            </a:r>
            <a:r>
              <a:rPr lang="pl-PL" sz="1000" dirty="0" err="1">
                <a:solidFill>
                  <a:srgbClr val="CE9178"/>
                </a:solidFill>
                <a:latin typeface="Consolas" panose="020B0609020204030204" pitchFamily="49" charset="0"/>
              </a:rPr>
              <a:t>"mean</a:t>
            </a:r>
            <a:r>
              <a:rPr lang="pl-PL" sz="1000" dirty="0">
                <a:solidFill>
                  <a:srgbClr val="CE9178"/>
                </a:solidFill>
                <a:latin typeface="Consolas" panose="020B0609020204030204" pitchFamily="49" charset="0"/>
              </a:rPr>
              <a:t> |v|=</a:t>
            </a:r>
            <a:r>
              <a:rPr lang="pl-PL" sz="1000" dirty="0">
                <a:solidFill>
                  <a:srgbClr val="569CD6"/>
                </a:solidFill>
                <a:latin typeface="Consolas" panose="020B0609020204030204" pitchFamily="49" charset="0"/>
              </a:rPr>
              <a:t>{</a:t>
            </a:r>
            <a:r>
              <a:rPr lang="pl-PL" sz="1000" dirty="0">
                <a:solidFill>
                  <a:srgbClr val="9CDCFE"/>
                </a:solidFill>
                <a:latin typeface="Consolas" panose="020B0609020204030204" pitchFamily="49" charset="0"/>
              </a:rPr>
              <a:t>mean_v</a:t>
            </a:r>
            <a:r>
              <a:rPr lang="pl-PL" sz="1000" dirty="0">
                <a:solidFill>
                  <a:srgbClr val="569CD6"/>
                </a:solidFill>
                <a:latin typeface="Consolas" panose="020B0609020204030204" pitchFamily="49" charset="0"/>
              </a:rPr>
              <a:t>:.2f}</a:t>
            </a:r>
            <a:r>
              <a:rPr lang="pl-PL" sz="1000" dirty="0">
                <a:solidFill>
                  <a:srgbClr val="CE9178"/>
                </a:solidFill>
                <a:latin typeface="Consolas" panose="020B0609020204030204" pitchFamily="49" charset="0"/>
              </a:rPr>
              <a:t> m/s"</a:t>
            </a:r>
            <a:r>
              <a:rPr lang="pl-PL" sz="1000" dirty="0">
                <a:solidFill>
                  <a:srgbClr val="CCCCCC"/>
                </a:solidFill>
                <a:latin typeface="Consolas" panose="020B0609020204030204" pitchFamily="49" charset="0"/>
              </a:rPr>
              <a:t>)</a:t>
            </a:r>
            <a:endParaRPr lang="pl-PL" sz="1000" b="0" dirty="0">
              <a:solidFill>
                <a:srgbClr val="CCCCCC"/>
              </a:solidFill>
              <a:effectLst/>
              <a:latin typeface="Consolas" panose="020B0609020204030204" pitchFamily="49" charset="0"/>
            </a:endParaRPr>
          </a:p>
        </p:txBody>
      </p:sp>
      <p:sp>
        <p:nvSpPr>
          <p:cNvPr id="8" name="Shape 6"/>
          <p:cNvSpPr/>
          <p:nvPr/>
        </p:nvSpPr>
        <p:spPr>
          <a:xfrm>
            <a:off x="256032" y="4690872"/>
            <a:ext cx="8631936" cy="329184"/>
          </a:xfrm>
          <a:prstGeom prst="rect">
            <a:avLst/>
          </a:prstGeom>
          <a:solidFill>
            <a:srgbClr val="1A3550"/>
          </a:solidFill>
          <a:ln w="12700">
            <a:solidFill>
              <a:srgbClr val="3730A3"/>
            </a:solidFill>
            <a:prstDash val="solid"/>
          </a:ln>
        </p:spPr>
      </p:sp>
      <p:sp>
        <p:nvSpPr>
          <p:cNvPr id="9" name="Text 7"/>
          <p:cNvSpPr/>
          <p:nvPr/>
        </p:nvSpPr>
        <p:spPr>
          <a:xfrm>
            <a:off x="347472" y="4690872"/>
            <a:ext cx="8485632" cy="329184"/>
          </a:xfrm>
          <a:prstGeom prst="rect">
            <a:avLst/>
          </a:prstGeom>
          <a:noFill/>
          <a:ln/>
        </p:spPr>
        <p:txBody>
          <a:bodyPr wrap="square" lIns="0" tIns="0" rIns="0" bIns="0" rtlCol="0" anchor="ctr"/>
          <a:lstStyle/>
          <a:p>
            <a:pPr marL="0" indent="0" algn="ctr">
              <a:buNone/>
            </a:pPr>
            <a:r>
              <a:rPr lang="en-US" sz="1400" spc="-30" dirty="0" err="1" smtClean="0">
                <a:solidFill>
                  <a:srgbClr val="94A3B8"/>
                </a:solidFill>
                <a:latin typeface="Calibri" pitchFamily="34" charset="0"/>
                <a:ea typeface="Calibri" pitchFamily="34" charset="-122"/>
                <a:cs typeface="Calibri" pitchFamily="34" charset="-120"/>
              </a:rPr>
              <a:t>Taki</a:t>
            </a:r>
            <a:r>
              <a:rPr lang="en-US" sz="1400" spc="-30" dirty="0" smtClean="0">
                <a:solidFill>
                  <a:srgbClr val="94A3B8"/>
                </a:solidFill>
                <a:latin typeface="Calibri" pitchFamily="34" charset="0"/>
                <a:ea typeface="Calibri" pitchFamily="34" charset="-122"/>
                <a:cs typeface="Calibri" pitchFamily="34" charset="-120"/>
              </a:rPr>
              <a:t> </a:t>
            </a:r>
            <a:r>
              <a:rPr lang="en-US" sz="1400" spc="-30" dirty="0">
                <a:solidFill>
                  <a:srgbClr val="94A3B8"/>
                </a:solidFill>
                <a:latin typeface="Calibri" pitchFamily="34" charset="0"/>
                <a:ea typeface="Calibri" pitchFamily="34" charset="-122"/>
                <a:cs typeface="Calibri" pitchFamily="34" charset="-120"/>
              </a:rPr>
              <a:t>skrypt zamienia zapis rosbag2 na metryki porównawcze dla DWB, RPP i MPPI po identycznym </a:t>
            </a:r>
            <a:r>
              <a:rPr lang="en-US" sz="1400" spc="-30" dirty="0" err="1">
                <a:solidFill>
                  <a:srgbClr val="94A3B8"/>
                </a:solidFill>
                <a:latin typeface="Calibri" pitchFamily="34" charset="0"/>
                <a:ea typeface="Calibri" pitchFamily="34" charset="-122"/>
                <a:cs typeface="Calibri" pitchFamily="34" charset="-120"/>
              </a:rPr>
              <a:t>scenariuszu</a:t>
            </a:r>
            <a:r>
              <a:rPr lang="en-US" sz="1400" spc="-30" dirty="0">
                <a:solidFill>
                  <a:srgbClr val="94A3B8"/>
                </a:solidFill>
                <a:latin typeface="Calibri" pitchFamily="34" charset="0"/>
                <a:ea typeface="Calibri" pitchFamily="34" charset="-122"/>
                <a:cs typeface="Calibri" pitchFamily="34" charset="-120"/>
              </a:rPr>
              <a:t> </a:t>
            </a:r>
            <a:r>
              <a:rPr lang="en-US" sz="1400" spc="-30" dirty="0" err="1" smtClean="0">
                <a:solidFill>
                  <a:srgbClr val="94A3B8"/>
                </a:solidFill>
                <a:latin typeface="Calibri" pitchFamily="34" charset="0"/>
                <a:ea typeface="Calibri" pitchFamily="34" charset="-122"/>
                <a:cs typeface="Calibri" pitchFamily="34" charset="-120"/>
              </a:rPr>
              <a:t>testowym</a:t>
            </a:r>
            <a:endParaRPr lang="en-US" sz="1400" spc="-3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4 | DEBUGOWANIE</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Debugowanie i monitoring Nav2</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703397"/>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89965" y="1207008"/>
            <a:ext cx="8370794" cy="3547872"/>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RViz2</a:t>
            </a:r>
            <a:r>
              <a:rPr lang="en-US" sz="1400" spc="-20" dirty="0">
                <a:solidFill>
                  <a:srgbClr val="0D1B2A"/>
                </a:solidFill>
                <a:latin typeface="Calibri" pitchFamily="34" charset="0"/>
                <a:ea typeface="Calibri" pitchFamily="34" charset="-122"/>
                <a:cs typeface="Calibri" pitchFamily="34" charset="-120"/>
              </a:rPr>
              <a:t>: wizualizacja global_costmap, local_costmap, globalnego planu, celu nawigacji i footprintu robota</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Groot2</a:t>
            </a:r>
            <a:r>
              <a:rPr lang="en-US" sz="1400" spc="-20" dirty="0">
                <a:solidFill>
                  <a:srgbClr val="0D1B2A"/>
                </a:solidFill>
                <a:latin typeface="Calibri" pitchFamily="34" charset="0"/>
                <a:ea typeface="Calibri" pitchFamily="34" charset="-122"/>
                <a:cs typeface="Calibri" pitchFamily="34" charset="-120"/>
              </a:rPr>
              <a:t>: graficzny monitor drzewa BehaviorTree w czasie rzeczywistym; połączenie przez ZMQ port 1667</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ros2 topic echo /local_costmap/costmap </a:t>
            </a:r>
            <a:r>
              <a:rPr lang="en-US" sz="1400" spc="-20" dirty="0">
                <a:solidFill>
                  <a:srgbClr val="0D1B2A"/>
                </a:solidFill>
                <a:latin typeface="Calibri" pitchFamily="34" charset="0"/>
                <a:ea typeface="Calibri" pitchFamily="34" charset="-122"/>
                <a:cs typeface="Calibri" pitchFamily="34" charset="-120"/>
              </a:rPr>
              <a:t>– wyświetla surowe wartości kosztów jako nav_msgs/OccupancyGrid</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ros2 topic echo /plan </a:t>
            </a:r>
            <a:r>
              <a:rPr lang="en-US" sz="1400" spc="-20" dirty="0">
                <a:solidFill>
                  <a:srgbClr val="0D1B2A"/>
                </a:solidFill>
                <a:latin typeface="Calibri" pitchFamily="34" charset="0"/>
                <a:ea typeface="Calibri" pitchFamily="34" charset="-122"/>
                <a:cs typeface="Calibri" pitchFamily="34" charset="-120"/>
              </a:rPr>
              <a:t>– globalny plan wyznaczony przez Planner Server (nav_msgs/Path)</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ros2 action list </a:t>
            </a:r>
            <a:r>
              <a:rPr lang="en-US" sz="1400" spc="-20" dirty="0">
                <a:solidFill>
                  <a:srgbClr val="0D1B2A"/>
                </a:solidFill>
                <a:latin typeface="Calibri" pitchFamily="34" charset="0"/>
                <a:ea typeface="Calibri" pitchFamily="34" charset="-122"/>
                <a:cs typeface="Calibri" pitchFamily="34" charset="-120"/>
              </a:rPr>
              <a:t>– wyświetla dostępne akcje Nav2; </a:t>
            </a:r>
            <a:r>
              <a:rPr lang="en-US" sz="1400" spc="-20" dirty="0" err="1" smtClean="0">
                <a:solidFill>
                  <a:srgbClr val="0D1B2A"/>
                </a:solidFill>
                <a:latin typeface="Calibri" pitchFamily="34" charset="0"/>
                <a:ea typeface="Calibri" pitchFamily="34" charset="-122"/>
                <a:cs typeface="Calibri" pitchFamily="34" charset="-120"/>
              </a:rPr>
              <a:t>send_goal</a:t>
            </a:r>
            <a:r>
              <a:rPr lang="en-US" sz="1400" spc="-20" dirty="0" smtClean="0">
                <a:solidFill>
                  <a:srgbClr val="0D1B2A"/>
                </a:solidFill>
                <a:latin typeface="Calibri" pitchFamily="34" charset="0"/>
                <a:ea typeface="Calibri" pitchFamily="34" charset="-122"/>
                <a:cs typeface="Calibri" pitchFamily="34" charset="-120"/>
              </a:rPr>
              <a:t> </a:t>
            </a:r>
            <a:r>
              <a:rPr lang="en-US" sz="1400" spc="-20" dirty="0">
                <a:solidFill>
                  <a:srgbClr val="0D1B2A"/>
                </a:solidFill>
                <a:latin typeface="Calibri" pitchFamily="34" charset="0"/>
                <a:ea typeface="Calibri" pitchFamily="34" charset="-122"/>
                <a:cs typeface="Calibri" pitchFamily="34" charset="-120"/>
              </a:rPr>
              <a:t>przez CLI: ros2 action send_goal /navigate_to_pose ...</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ros2 service call /clear_entirely_both_costmaps </a:t>
            </a:r>
            <a:r>
              <a:rPr lang="en-US" sz="1400" spc="-20" dirty="0">
                <a:solidFill>
                  <a:srgbClr val="0D1B2A"/>
                </a:solidFill>
                <a:latin typeface="Calibri" pitchFamily="34" charset="0"/>
                <a:ea typeface="Calibri" pitchFamily="34" charset="-122"/>
                <a:cs typeface="Calibri" pitchFamily="34" charset="-120"/>
              </a:rPr>
              <a:t>– czyści obie mapy kosztów w przypadku 'ghost obstacles'</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nav2_lifecycle_manager</a:t>
            </a:r>
            <a:r>
              <a:rPr lang="en-US" sz="1400" spc="-20" dirty="0">
                <a:solidFill>
                  <a:srgbClr val="0D1B2A"/>
                </a:solidFill>
                <a:latin typeface="Calibri" pitchFamily="34" charset="0"/>
                <a:ea typeface="Calibri" pitchFamily="34" charset="-122"/>
                <a:cs typeface="Calibri" pitchFamily="34" charset="-120"/>
              </a:rPr>
              <a:t>: ros2 service call /lifecycle_manager_navigation/manage_nodes – zmiana stanu nodes</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rosbag2 record</a:t>
            </a:r>
            <a:r>
              <a:rPr lang="en-US" sz="1400" spc="-20" dirty="0">
                <a:solidFill>
                  <a:srgbClr val="0D1B2A"/>
                </a:solidFill>
                <a:latin typeface="Calibri" pitchFamily="34" charset="0"/>
                <a:ea typeface="Calibri" pitchFamily="34" charset="-122"/>
                <a:cs typeface="Calibri" pitchFamily="34" charset="-120"/>
              </a:rPr>
              <a:t>: nagraj dane z sensorów i nawigacji; odtwórz w Gazebo do postmortem po incydencie</a:t>
            </a:r>
            <a:endParaRPr lang="en-US" sz="1400" spc="-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4 | PORÓWNANIE</a:t>
            </a:r>
            <a:endParaRPr lang="en-US" sz="800" dirty="0"/>
          </a:p>
        </p:txBody>
      </p:sp>
      <p:sp>
        <p:nvSpPr>
          <p:cNvPr id="4" name="Text 2"/>
          <p:cNvSpPr/>
          <p:nvPr/>
        </p:nvSpPr>
        <p:spPr>
          <a:xfrm>
            <a:off x="320040" y="420624"/>
            <a:ext cx="8503920" cy="457200"/>
          </a:xfrm>
          <a:prstGeom prst="rect">
            <a:avLst/>
          </a:prstGeom>
          <a:noFill/>
          <a:ln/>
        </p:spPr>
        <p:txBody>
          <a:bodyPr wrap="square" lIns="0" tIns="0" rIns="0" bIns="0" rtlCol="0" anchor="ctr"/>
          <a:lstStyle/>
          <a:p>
            <a:r>
              <a:rPr lang="en-US" sz="2400" b="1" dirty="0" err="1">
                <a:solidFill>
                  <a:srgbClr val="FFFFFF"/>
                </a:solidFill>
                <a:latin typeface="Trebuchet MS" pitchFamily="34" charset="0"/>
                <a:ea typeface="Trebuchet MS" pitchFamily="34" charset="-122"/>
                <a:cs typeface="Trebuchet MS" pitchFamily="34" charset="-120"/>
              </a:rPr>
              <a:t>Porównanie</a:t>
            </a:r>
            <a:r>
              <a:rPr lang="en-US" sz="2400" b="1" dirty="0">
                <a:solidFill>
                  <a:srgbClr val="FFFFFF"/>
                </a:solidFill>
                <a:latin typeface="Trebuchet MS" pitchFamily="34" charset="0"/>
                <a:ea typeface="Trebuchet MS" pitchFamily="34" charset="-122"/>
                <a:cs typeface="Trebuchet MS" pitchFamily="34" charset="-120"/>
              </a:rPr>
              <a:t> </a:t>
            </a:r>
            <a:r>
              <a:rPr lang="en-US" sz="2400" b="1" dirty="0" err="1">
                <a:solidFill>
                  <a:srgbClr val="FFFFFF"/>
                </a:solidFill>
                <a:latin typeface="Trebuchet MS" pitchFamily="34" charset="0"/>
                <a:ea typeface="Trebuchet MS" pitchFamily="34" charset="-122"/>
                <a:cs typeface="Trebuchet MS" pitchFamily="34" charset="-120"/>
              </a:rPr>
              <a:t>kontrolerów</a:t>
            </a:r>
            <a:r>
              <a:rPr lang="en-US" sz="2400" b="1" dirty="0">
                <a:solidFill>
                  <a:srgbClr val="FFFFFF"/>
                </a:solidFill>
                <a:latin typeface="Trebuchet MS" pitchFamily="34" charset="0"/>
                <a:ea typeface="Trebuchet MS" pitchFamily="34" charset="-122"/>
                <a:cs typeface="Trebuchet MS" pitchFamily="34" charset="-120"/>
              </a:rPr>
              <a:t> </a:t>
            </a:r>
            <a:r>
              <a:rPr lang="pl-PL" sz="2400" b="1" dirty="0" smtClean="0">
                <a:solidFill>
                  <a:srgbClr val="FFFFFF"/>
                </a:solidFill>
                <a:latin typeface="Trebuchet MS" pitchFamily="34" charset="0"/>
                <a:ea typeface="Trebuchet MS" pitchFamily="34" charset="-122"/>
                <a:cs typeface="Trebuchet MS" pitchFamily="34" charset="-120"/>
              </a:rPr>
              <a:t>i </a:t>
            </a:r>
            <a:r>
              <a:rPr lang="en-US" sz="2400" b="1" dirty="0" err="1" smtClean="0">
                <a:solidFill>
                  <a:srgbClr val="FFFFFF"/>
                </a:solidFill>
                <a:latin typeface="Trebuchet MS" pitchFamily="34" charset="0"/>
                <a:ea typeface="Trebuchet MS" pitchFamily="34" charset="-122"/>
                <a:cs typeface="Trebuchet MS" pitchFamily="34" charset="-120"/>
              </a:rPr>
              <a:t>globalnych</a:t>
            </a:r>
            <a:r>
              <a:rPr lang="en-US" sz="2400" b="1" dirty="0" smtClean="0">
                <a:solidFill>
                  <a:srgbClr val="FFFFFF"/>
                </a:solidFill>
                <a:latin typeface="Trebuchet MS" pitchFamily="34" charset="0"/>
                <a:ea typeface="Trebuchet MS" pitchFamily="34" charset="-122"/>
                <a:cs typeface="Trebuchet MS" pitchFamily="34" charset="-120"/>
              </a:rPr>
              <a:t> </a:t>
            </a:r>
            <a:r>
              <a:rPr lang="en-US" sz="2400" b="1" dirty="0" err="1" smtClean="0">
                <a:solidFill>
                  <a:srgbClr val="FFFFFF"/>
                </a:solidFill>
                <a:latin typeface="Trebuchet MS" pitchFamily="34" charset="0"/>
                <a:ea typeface="Trebuchet MS" pitchFamily="34" charset="-122"/>
                <a:cs typeface="Trebuchet MS" pitchFamily="34" charset="-120"/>
              </a:rPr>
              <a:t>planistów</a:t>
            </a:r>
            <a:endParaRPr lang="en-US" sz="2400" dirty="0"/>
          </a:p>
        </p:txBody>
      </p:sp>
      <p:sp>
        <p:nvSpPr>
          <p:cNvPr id="5" name="Shape 3"/>
          <p:cNvSpPr/>
          <p:nvPr/>
        </p:nvSpPr>
        <p:spPr>
          <a:xfrm>
            <a:off x="320040" y="932688"/>
            <a:ext cx="8503920" cy="22860"/>
          </a:xfrm>
          <a:prstGeom prst="rect">
            <a:avLst/>
          </a:prstGeom>
          <a:solidFill>
            <a:srgbClr val="3730A3"/>
          </a:solidFill>
          <a:ln w="12700">
            <a:solidFill>
              <a:srgbClr val="3730A3"/>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234090312"/>
              </p:ext>
            </p:extLst>
          </p:nvPr>
        </p:nvGraphicFramePr>
        <p:xfrm>
          <a:off x="320040" y="1005840"/>
          <a:ext cx="8503920" cy="3188208"/>
        </p:xfrm>
        <a:graphic>
          <a:graphicData uri="http://schemas.openxmlformats.org/drawingml/2006/table">
            <a:tbl>
              <a:tblPr/>
              <a:tblGrid>
                <a:gridCol w="1700784">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FFFFF"/>
                          </a:solidFill>
                        </a:rPr>
                        <a:t>Komponent</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3730A3"/>
                    </a:solidFill>
                  </a:tcPr>
                </a:tc>
                <a:tc>
                  <a:txBody>
                    <a:bodyPr/>
                    <a:lstStyle/>
                    <a:p>
                      <a:pPr marL="0" indent="0" algn="ctr">
                        <a:buNone/>
                      </a:pPr>
                      <a:r>
                        <a:rPr lang="en-US" sz="1400" b="1" dirty="0">
                          <a:solidFill>
                            <a:srgbClr val="FFFFFF"/>
                          </a:solidFill>
                        </a:rPr>
                        <a:t>Wtyczka</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3730A3"/>
                    </a:solidFill>
                  </a:tcPr>
                </a:tc>
                <a:tc>
                  <a:txBody>
                    <a:bodyPr/>
                    <a:lstStyle/>
                    <a:p>
                      <a:pPr marL="0" indent="0" algn="ctr">
                        <a:buNone/>
                      </a:pPr>
                      <a:r>
                        <a:rPr lang="en-US" sz="1400" b="1" dirty="0">
                          <a:solidFill>
                            <a:srgbClr val="FFFFFF"/>
                          </a:solidFill>
                        </a:rPr>
                        <a:t>Czas [ms]</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3730A3"/>
                    </a:solidFill>
                  </a:tcPr>
                </a:tc>
                <a:tc>
                  <a:txBody>
                    <a:bodyPr/>
                    <a:lstStyle/>
                    <a:p>
                      <a:pPr marL="0" indent="0" algn="ctr">
                        <a:buNone/>
                      </a:pPr>
                      <a:r>
                        <a:rPr lang="en-US" sz="1400" b="1" dirty="0">
                          <a:solidFill>
                            <a:srgbClr val="FFFFFF"/>
                          </a:solidFill>
                        </a:rPr>
                        <a:t>Kinematyka</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3730A3"/>
                    </a:solidFill>
                  </a:tcPr>
                </a:tc>
                <a:tc>
                  <a:txBody>
                    <a:bodyPr/>
                    <a:lstStyle/>
                    <a:p>
                      <a:pPr marL="0" indent="0" algn="ctr">
                        <a:buNone/>
                      </a:pPr>
                      <a:r>
                        <a:rPr lang="en-US" sz="1400" b="1" dirty="0">
                          <a:solidFill>
                            <a:srgbClr val="FFFFFF"/>
                          </a:solidFill>
                        </a:rPr>
                        <a:t>Najlepsze użycie</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3730A3"/>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chemeClr val="bg1"/>
                          </a:solidFill>
                        </a:rPr>
                        <a:t>NavFnPlanner</a:t>
                      </a:r>
                      <a:endParaRPr lang="en-US" sz="1400" dirty="0">
                        <a:solidFill>
                          <a:schemeClr val="bg1"/>
                        </a:solidFill>
                      </a:endParaRPr>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3550"/>
                    </a:solidFill>
                  </a:tcPr>
                </a:tc>
                <a:tc>
                  <a:txBody>
                    <a:bodyPr/>
                    <a:lstStyle/>
                    <a:p>
                      <a:pPr marL="0" indent="0">
                        <a:buNone/>
                      </a:pPr>
                      <a:r>
                        <a:rPr lang="en-US" sz="1400" dirty="0">
                          <a:solidFill>
                            <a:srgbClr val="F0F4F8"/>
                          </a:solidFill>
                        </a:rPr>
                        <a:t>nav2_navfn_planner</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~10</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Brak</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200" dirty="0">
                          <a:solidFill>
                            <a:srgbClr val="F0F4F8"/>
                          </a:solidFill>
                        </a:rPr>
                        <a:t>Proste środowiska, różnicowe roboty</a:t>
                      </a:r>
                      <a:endParaRPr lang="en-US" sz="12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extLst>
                  <a:ext uri="{0D108BD9-81ED-4DB2-BD59-A6C34878D82A}">
                    <a16:rowId xmlns:a16="http://schemas.microsoft.com/office/drawing/2014/main" val="10001"/>
                  </a:ext>
                </a:extLst>
              </a:tr>
              <a:tr h="384048">
                <a:tc>
                  <a:txBody>
                    <a:bodyPr/>
                    <a:lstStyle/>
                    <a:p>
                      <a:pPr marL="0" indent="0">
                        <a:buNone/>
                      </a:pPr>
                      <a:r>
                        <a:rPr lang="en-US" sz="1400" b="1" dirty="0">
                          <a:solidFill>
                            <a:schemeClr val="bg1"/>
                          </a:solidFill>
                        </a:rPr>
                        <a:t>SmacPlanner2D</a:t>
                      </a:r>
                      <a:endParaRPr lang="en-US" sz="1400" dirty="0">
                        <a:solidFill>
                          <a:schemeClr val="bg1"/>
                        </a:solidFill>
                      </a:endParaRPr>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3550"/>
                    </a:solidFill>
                  </a:tcPr>
                </a:tc>
                <a:tc>
                  <a:txBody>
                    <a:bodyPr/>
                    <a:lstStyle/>
                    <a:p>
                      <a:pPr marL="0" indent="0">
                        <a:buNone/>
                      </a:pPr>
                      <a:r>
                        <a:rPr lang="en-US" sz="1400" dirty="0">
                          <a:solidFill>
                            <a:srgbClr val="F0F4F8"/>
                          </a:solidFill>
                        </a:rPr>
                        <a:t>nav2_smac_planner</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~25</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Ograniczona</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200" dirty="0">
                          <a:solidFill>
                            <a:srgbClr val="F0F4F8"/>
                          </a:solidFill>
                        </a:rPr>
                        <a:t>Szybkie planowanie z pewną jakością</a:t>
                      </a:r>
                      <a:endParaRPr lang="en-US" sz="12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extLst>
                  <a:ext uri="{0D108BD9-81ED-4DB2-BD59-A6C34878D82A}">
                    <a16:rowId xmlns:a16="http://schemas.microsoft.com/office/drawing/2014/main" val="10002"/>
                  </a:ext>
                </a:extLst>
              </a:tr>
              <a:tr h="384048">
                <a:tc>
                  <a:txBody>
                    <a:bodyPr/>
                    <a:lstStyle/>
                    <a:p>
                      <a:pPr marL="0" indent="0">
                        <a:buNone/>
                      </a:pPr>
                      <a:r>
                        <a:rPr lang="en-US" sz="1400" b="1" dirty="0">
                          <a:solidFill>
                            <a:schemeClr val="bg1"/>
                          </a:solidFill>
                        </a:rPr>
                        <a:t>SmacPlannerHybrid</a:t>
                      </a:r>
                      <a:endParaRPr lang="en-US" sz="1400" dirty="0">
                        <a:solidFill>
                          <a:schemeClr val="bg1"/>
                        </a:solidFill>
                      </a:endParaRPr>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3550"/>
                    </a:solidFill>
                  </a:tcPr>
                </a:tc>
                <a:tc>
                  <a:txBody>
                    <a:bodyPr/>
                    <a:lstStyle/>
                    <a:p>
                      <a:pPr marL="0" indent="0">
                        <a:buNone/>
                      </a:pPr>
                      <a:r>
                        <a:rPr lang="en-US" sz="1400" dirty="0">
                          <a:solidFill>
                            <a:srgbClr val="F0F4F8"/>
                          </a:solidFill>
                        </a:rPr>
                        <a:t>nav2_smac_planner</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~50</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Pełna (SE2)</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200" dirty="0">
                          <a:solidFill>
                            <a:srgbClr val="F0F4F8"/>
                          </a:solidFill>
                        </a:rPr>
                        <a:t>Humanoidy, pojazdy autonomiczne</a:t>
                      </a:r>
                      <a:endParaRPr lang="en-US" sz="12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extLst>
                  <a:ext uri="{0D108BD9-81ED-4DB2-BD59-A6C34878D82A}">
                    <a16:rowId xmlns:a16="http://schemas.microsoft.com/office/drawing/2014/main" val="10003"/>
                  </a:ext>
                </a:extLst>
              </a:tr>
              <a:tr h="384048">
                <a:tc>
                  <a:txBody>
                    <a:bodyPr/>
                    <a:lstStyle/>
                    <a:p>
                      <a:pPr marL="0" indent="0">
                        <a:buNone/>
                      </a:pPr>
                      <a:r>
                        <a:rPr lang="en-US" sz="1400" b="1" dirty="0">
                          <a:solidFill>
                            <a:schemeClr val="bg1"/>
                          </a:solidFill>
                        </a:rPr>
                        <a:t>DWB Controller</a:t>
                      </a:r>
                      <a:endParaRPr lang="en-US" sz="1400" dirty="0">
                        <a:solidFill>
                          <a:schemeClr val="bg1"/>
                        </a:solidFill>
                      </a:endParaRPr>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3550"/>
                    </a:solidFill>
                  </a:tcPr>
                </a:tc>
                <a:tc>
                  <a:txBody>
                    <a:bodyPr/>
                    <a:lstStyle/>
                    <a:p>
                      <a:pPr marL="0" indent="0">
                        <a:buNone/>
                      </a:pPr>
                      <a:r>
                        <a:rPr lang="en-US" sz="1400" dirty="0">
                          <a:solidFill>
                            <a:srgbClr val="F0F4F8"/>
                          </a:solidFill>
                        </a:rPr>
                        <a:t>dwb_core</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~5</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Różnicowa</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200" dirty="0">
                          <a:solidFill>
                            <a:srgbClr val="F0F4F8"/>
                          </a:solidFill>
                        </a:rPr>
                        <a:t>Stabilne środowiska, prosta konfiguracja</a:t>
                      </a:r>
                      <a:endParaRPr lang="en-US" sz="12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extLst>
                  <a:ext uri="{0D108BD9-81ED-4DB2-BD59-A6C34878D82A}">
                    <a16:rowId xmlns:a16="http://schemas.microsoft.com/office/drawing/2014/main" val="10004"/>
                  </a:ext>
                </a:extLst>
              </a:tr>
              <a:tr h="384048">
                <a:tc>
                  <a:txBody>
                    <a:bodyPr/>
                    <a:lstStyle/>
                    <a:p>
                      <a:pPr marL="0" indent="0">
                        <a:buNone/>
                      </a:pPr>
                      <a:r>
                        <a:rPr lang="en-US" sz="1400" b="1" dirty="0">
                          <a:solidFill>
                            <a:schemeClr val="bg1"/>
                          </a:solidFill>
                        </a:rPr>
                        <a:t>Regulated PP</a:t>
                      </a:r>
                      <a:endParaRPr lang="en-US" sz="1400" dirty="0">
                        <a:solidFill>
                          <a:schemeClr val="bg1"/>
                        </a:solidFill>
                      </a:endParaRPr>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3550"/>
                    </a:solidFill>
                  </a:tcPr>
                </a:tc>
                <a:tc>
                  <a:txBody>
                    <a:bodyPr/>
                    <a:lstStyle/>
                    <a:p>
                      <a:pPr marL="0" indent="0">
                        <a:buNone/>
                      </a:pPr>
                      <a:r>
                        <a:rPr lang="en-US" sz="1400" dirty="0">
                          <a:solidFill>
                            <a:srgbClr val="F0F4F8"/>
                          </a:solidFill>
                        </a:rPr>
                        <a:t>nav2_regulated_pp</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~2</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Różnicowa</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200" dirty="0">
                          <a:solidFill>
                            <a:srgbClr val="F0F4F8"/>
                          </a:solidFill>
                        </a:rPr>
                        <a:t>Wąskie korytarze, precyzyjne śledzenie</a:t>
                      </a:r>
                      <a:endParaRPr lang="en-US" sz="12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extLst>
                  <a:ext uri="{0D108BD9-81ED-4DB2-BD59-A6C34878D82A}">
                    <a16:rowId xmlns:a16="http://schemas.microsoft.com/office/drawing/2014/main" val="10005"/>
                  </a:ext>
                </a:extLst>
              </a:tr>
              <a:tr h="384048">
                <a:tc>
                  <a:txBody>
                    <a:bodyPr/>
                    <a:lstStyle/>
                    <a:p>
                      <a:pPr marL="0" indent="0">
                        <a:buNone/>
                      </a:pPr>
                      <a:r>
                        <a:rPr lang="en-US" sz="1400" b="1" dirty="0">
                          <a:solidFill>
                            <a:schemeClr val="bg1"/>
                          </a:solidFill>
                        </a:rPr>
                        <a:t>MPPI Controller</a:t>
                      </a:r>
                      <a:endParaRPr lang="en-US" sz="1400" dirty="0">
                        <a:solidFill>
                          <a:schemeClr val="bg1"/>
                        </a:solidFill>
                      </a:endParaRPr>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3550"/>
                    </a:solidFill>
                  </a:tcPr>
                </a:tc>
                <a:tc>
                  <a:txBody>
                    <a:bodyPr/>
                    <a:lstStyle/>
                    <a:p>
                      <a:pPr marL="0" indent="0">
                        <a:buNone/>
                      </a:pPr>
                      <a:r>
                        <a:rPr lang="en-US" sz="1400" dirty="0">
                          <a:solidFill>
                            <a:srgbClr val="F0F4F8"/>
                          </a:solidFill>
                        </a:rPr>
                        <a:t>nav2_mppi_controller</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~15*</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400" dirty="0">
                          <a:solidFill>
                            <a:srgbClr val="F0F4F8"/>
                          </a:solidFill>
                        </a:rPr>
                        <a:t>Dowolna</a:t>
                      </a:r>
                      <a:endParaRPr lang="en-US" sz="14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tc>
                  <a:txBody>
                    <a:bodyPr/>
                    <a:lstStyle/>
                    <a:p>
                      <a:pPr marL="0" indent="0">
                        <a:buNone/>
                      </a:pPr>
                      <a:r>
                        <a:rPr lang="en-US" sz="1200" dirty="0">
                          <a:solidFill>
                            <a:srgbClr val="F0F4F8"/>
                          </a:solidFill>
                        </a:rPr>
                        <a:t>Złożone środowiska, dynamiczne przeszkody</a:t>
                      </a:r>
                      <a:endParaRPr lang="en-US" sz="1200" dirty="0"/>
                    </a:p>
                  </a:txBody>
                  <a:tcPr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5223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4 | SLAM + NAV2</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Integracja Nav2 z SLAM i lokalizacją</a:t>
            </a:r>
            <a:endParaRPr lang="en-US" sz="2200" dirty="0"/>
          </a:p>
        </p:txBody>
      </p:sp>
      <p:sp>
        <p:nvSpPr>
          <p:cNvPr id="5" name="Shape 3"/>
          <p:cNvSpPr/>
          <p:nvPr/>
        </p:nvSpPr>
        <p:spPr>
          <a:xfrm>
            <a:off x="320040" y="969264"/>
            <a:ext cx="8649148" cy="22860"/>
          </a:xfrm>
          <a:prstGeom prst="rect">
            <a:avLst/>
          </a:prstGeom>
          <a:solidFill>
            <a:srgbClr val="3730A3"/>
          </a:solidFill>
          <a:ln w="12700">
            <a:solidFill>
              <a:srgbClr val="3730A3"/>
            </a:solidFill>
            <a:prstDash val="solid"/>
          </a:ln>
        </p:spPr>
      </p:sp>
      <p:sp>
        <p:nvSpPr>
          <p:cNvPr id="6" name="Shape 4"/>
          <p:cNvSpPr/>
          <p:nvPr/>
        </p:nvSpPr>
        <p:spPr>
          <a:xfrm>
            <a:off x="320040" y="1060705"/>
            <a:ext cx="4185072" cy="245570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320040" y="1060704"/>
            <a:ext cx="4185072" cy="329184"/>
          </a:xfrm>
          <a:prstGeom prst="rect">
            <a:avLst/>
          </a:prstGeom>
          <a:solidFill>
            <a:srgbClr val="3730A3"/>
          </a:solidFill>
          <a:ln w="12700">
            <a:solidFill>
              <a:srgbClr val="3730A3"/>
            </a:solidFill>
            <a:prstDash val="solid"/>
          </a:ln>
        </p:spPr>
      </p:sp>
      <p:sp>
        <p:nvSpPr>
          <p:cNvPr id="8" name="Text 6"/>
          <p:cNvSpPr/>
          <p:nvPr/>
        </p:nvSpPr>
        <p:spPr>
          <a:xfrm>
            <a:off x="320040" y="1060704"/>
            <a:ext cx="4185072"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SLAM Toolbox (mapowanie online)</a:t>
            </a:r>
            <a:endParaRPr lang="en-US" sz="1600" dirty="0"/>
          </a:p>
        </p:txBody>
      </p:sp>
      <p:sp>
        <p:nvSpPr>
          <p:cNvPr id="9" name="Text 7"/>
          <p:cNvSpPr/>
          <p:nvPr/>
        </p:nvSpPr>
        <p:spPr>
          <a:xfrm>
            <a:off x="459541" y="1444752"/>
            <a:ext cx="3973083" cy="2125442"/>
          </a:xfrm>
          <a:prstGeom prst="rect">
            <a:avLst/>
          </a:prstGeom>
          <a:noFill/>
          <a:ln/>
        </p:spPr>
        <p:txBody>
          <a:bodyPr wrap="square" lIns="0" tIns="0" rIns="0" bIns="0" rtlCol="0" anchor="t"/>
          <a:lstStyle/>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async_slam_toolbox_node</a:t>
            </a:r>
            <a:r>
              <a:rPr lang="en-US" sz="1400" spc="-20" dirty="0">
                <a:solidFill>
                  <a:srgbClr val="0D1B2A"/>
                </a:solidFill>
                <a:latin typeface="Calibri" pitchFamily="34" charset="0"/>
                <a:ea typeface="Calibri" pitchFamily="34" charset="-122"/>
                <a:cs typeface="Calibri" pitchFamily="34" charset="-120"/>
              </a:rPr>
              <a:t>: SLAM online w ROS 2</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Publikuje</a:t>
            </a:r>
            <a:r>
              <a:rPr lang="en-US" sz="1400" spc="-20" dirty="0">
                <a:solidFill>
                  <a:srgbClr val="0D1B2A"/>
                </a:solidFill>
                <a:latin typeface="Calibri" pitchFamily="34" charset="0"/>
                <a:ea typeface="Calibri" pitchFamily="34" charset="-122"/>
                <a:cs typeface="Calibri" pitchFamily="34" charset="-120"/>
              </a:rPr>
              <a:t>: /map (OccupancyGrid) i TF map→odom</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Integracja</a:t>
            </a:r>
            <a:r>
              <a:rPr lang="en-US" sz="1400" spc="-20" dirty="0">
                <a:solidFill>
                  <a:srgbClr val="0D1B2A"/>
                </a:solidFill>
                <a:latin typeface="Calibri" pitchFamily="34" charset="0"/>
                <a:ea typeface="Calibri" pitchFamily="34" charset="-122"/>
                <a:cs typeface="Calibri" pitchFamily="34" charset="-120"/>
              </a:rPr>
              <a:t>: Nav2 costmap subskrybuje /map</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slam_toolbox_params.yaml</a:t>
            </a:r>
            <a:r>
              <a:rPr lang="en-US" sz="1400" spc="-20" dirty="0">
                <a:solidFill>
                  <a:srgbClr val="0D1B2A"/>
                </a:solidFill>
                <a:latin typeface="Calibri" pitchFamily="34" charset="0"/>
                <a:ea typeface="Calibri" pitchFamily="34" charset="-122"/>
                <a:cs typeface="Calibri" pitchFamily="34" charset="-120"/>
              </a:rPr>
              <a:t>: resolution=0.05 m</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Tryby</a:t>
            </a:r>
            <a:r>
              <a:rPr lang="en-US" sz="1400" spc="-20" dirty="0">
                <a:solidFill>
                  <a:srgbClr val="0D1B2A"/>
                </a:solidFill>
                <a:latin typeface="Calibri" pitchFamily="34" charset="0"/>
                <a:ea typeface="Calibri" pitchFamily="34" charset="-122"/>
                <a:cs typeface="Calibri" pitchFamily="34" charset="-120"/>
              </a:rPr>
              <a:t>: online (eksploracja) i localization (znana mapa)</a:t>
            </a:r>
            <a:endParaRPr lang="en-US" sz="1400" spc="-20" dirty="0"/>
          </a:p>
          <a:p>
            <a:pPr marL="144000" indent="-144000">
              <a:spcAft>
                <a:spcPts val="600"/>
              </a:spcAft>
              <a:buSzPct val="100000"/>
              <a:buChar char="•"/>
            </a:pPr>
            <a:r>
              <a:rPr lang="pl-PL" sz="1400" b="1" spc="-40" dirty="0" smtClean="0">
                <a:solidFill>
                  <a:srgbClr val="0D1B2A"/>
                </a:solidFill>
                <a:latin typeface="Calibri" pitchFamily="34" charset="0"/>
                <a:ea typeface="Calibri" pitchFamily="34" charset="-122"/>
                <a:cs typeface="Calibri" pitchFamily="34" charset="-120"/>
              </a:rPr>
              <a:t>Zapis mapy</a:t>
            </a:r>
            <a:r>
              <a:rPr lang="pl-PL" sz="1400" spc="-40" dirty="0" smtClean="0">
                <a:solidFill>
                  <a:srgbClr val="0D1B2A"/>
                </a:solidFill>
                <a:latin typeface="Calibri" pitchFamily="34" charset="0"/>
                <a:ea typeface="Calibri" pitchFamily="34" charset="-122"/>
                <a:cs typeface="Calibri" pitchFamily="34" charset="-120"/>
              </a:rPr>
              <a:t>: </a:t>
            </a:r>
            <a:r>
              <a:rPr lang="en-US" sz="1400" spc="-40" dirty="0" smtClean="0">
                <a:solidFill>
                  <a:srgbClr val="0D1B2A"/>
                </a:solidFill>
                <a:latin typeface="Calibri" pitchFamily="34" charset="0"/>
                <a:ea typeface="Calibri" pitchFamily="34" charset="-122"/>
                <a:cs typeface="Calibri" pitchFamily="34" charset="-120"/>
              </a:rPr>
              <a:t>ros2 </a:t>
            </a:r>
            <a:r>
              <a:rPr lang="en-US" sz="1400" spc="-40" dirty="0">
                <a:solidFill>
                  <a:srgbClr val="0D1B2A"/>
                </a:solidFill>
                <a:latin typeface="Calibri" pitchFamily="34" charset="0"/>
                <a:ea typeface="Calibri" pitchFamily="34" charset="-122"/>
                <a:cs typeface="Calibri" pitchFamily="34" charset="-120"/>
              </a:rPr>
              <a:t>service call /</a:t>
            </a:r>
            <a:r>
              <a:rPr lang="en-US" sz="1400" spc="-40" dirty="0" err="1" smtClean="0">
                <a:solidFill>
                  <a:srgbClr val="0D1B2A"/>
                </a:solidFill>
                <a:latin typeface="Calibri" pitchFamily="34" charset="0"/>
                <a:ea typeface="Calibri" pitchFamily="34" charset="-122"/>
                <a:cs typeface="Calibri" pitchFamily="34" charset="-120"/>
              </a:rPr>
              <a:t>slam_toolbox</a:t>
            </a:r>
            <a:r>
              <a:rPr lang="en-US" sz="1400" spc="-40" dirty="0" smtClean="0">
                <a:solidFill>
                  <a:srgbClr val="0D1B2A"/>
                </a:solidFill>
                <a:latin typeface="Calibri" pitchFamily="34" charset="0"/>
                <a:ea typeface="Calibri" pitchFamily="34" charset="-122"/>
                <a:cs typeface="Calibri" pitchFamily="34" charset="-120"/>
              </a:rPr>
              <a:t>/</a:t>
            </a:r>
            <a:r>
              <a:rPr lang="en-US" sz="1400" spc="-40" dirty="0" err="1" smtClean="0">
                <a:solidFill>
                  <a:srgbClr val="0D1B2A"/>
                </a:solidFill>
                <a:latin typeface="Calibri" pitchFamily="34" charset="0"/>
                <a:ea typeface="Calibri" pitchFamily="34" charset="-122"/>
                <a:cs typeface="Calibri" pitchFamily="34" charset="-120"/>
              </a:rPr>
              <a:t>save_map</a:t>
            </a:r>
            <a:endParaRPr lang="en-US" sz="1400" spc="-4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Kompatybilny z Nav2 bringup</a:t>
            </a:r>
            <a:r>
              <a:rPr lang="en-US" sz="1400" spc="-20" dirty="0">
                <a:solidFill>
                  <a:srgbClr val="0D1B2A"/>
                </a:solidFill>
                <a:latin typeface="Calibri" pitchFamily="34" charset="0"/>
                <a:ea typeface="Calibri" pitchFamily="34" charset="-122"/>
                <a:cs typeface="Calibri" pitchFamily="34" charset="-120"/>
              </a:rPr>
              <a:t>: use_slam:=True</a:t>
            </a:r>
            <a:endParaRPr lang="en-US" sz="1400" spc="-20" dirty="0"/>
          </a:p>
        </p:txBody>
      </p:sp>
      <p:sp>
        <p:nvSpPr>
          <p:cNvPr id="10" name="Shape 8"/>
          <p:cNvSpPr/>
          <p:nvPr/>
        </p:nvSpPr>
        <p:spPr>
          <a:xfrm>
            <a:off x="4765516" y="1060705"/>
            <a:ext cx="4185072" cy="245570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1" name="Shape 9"/>
          <p:cNvSpPr/>
          <p:nvPr/>
        </p:nvSpPr>
        <p:spPr>
          <a:xfrm>
            <a:off x="4765516" y="1060704"/>
            <a:ext cx="4185072" cy="329184"/>
          </a:xfrm>
          <a:prstGeom prst="rect">
            <a:avLst/>
          </a:prstGeom>
          <a:solidFill>
            <a:srgbClr val="3730A3"/>
          </a:solidFill>
          <a:ln w="12700">
            <a:solidFill>
              <a:srgbClr val="3730A3"/>
            </a:solidFill>
            <a:prstDash val="solid"/>
          </a:ln>
        </p:spPr>
      </p:sp>
      <p:sp>
        <p:nvSpPr>
          <p:cNvPr id="12" name="Text 10"/>
          <p:cNvSpPr/>
          <p:nvPr/>
        </p:nvSpPr>
        <p:spPr>
          <a:xfrm>
            <a:off x="4765516" y="1060704"/>
            <a:ext cx="4185072"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AMCL (lokalizacja w znana mapie)</a:t>
            </a:r>
            <a:endParaRPr lang="en-US" sz="1600" dirty="0"/>
          </a:p>
        </p:txBody>
      </p:sp>
      <p:sp>
        <p:nvSpPr>
          <p:cNvPr id="13" name="Text 11"/>
          <p:cNvSpPr/>
          <p:nvPr/>
        </p:nvSpPr>
        <p:spPr>
          <a:xfrm>
            <a:off x="4856603" y="1444752"/>
            <a:ext cx="4020951" cy="2125442"/>
          </a:xfrm>
          <a:prstGeom prst="rect">
            <a:avLst/>
          </a:prstGeom>
          <a:noFill/>
          <a:ln/>
        </p:spPr>
        <p:txBody>
          <a:bodyPr wrap="square" lIns="0" tIns="0" rIns="0" bIns="0" rtlCol="0" anchor="t"/>
          <a:lstStyle/>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Adaptive MCL</a:t>
            </a:r>
            <a:r>
              <a:rPr lang="en-US" sz="1400" spc="-40" dirty="0">
                <a:solidFill>
                  <a:srgbClr val="0D1B2A"/>
                </a:solidFill>
                <a:latin typeface="Calibri" pitchFamily="34" charset="0"/>
                <a:ea typeface="Calibri" pitchFamily="34" charset="-122"/>
                <a:cs typeface="Calibri" pitchFamily="34" charset="-120"/>
              </a:rPr>
              <a:t>: filtr cząsteczkowy z obserwacjami LiDAR</a:t>
            </a:r>
            <a:endParaRPr lang="en-US" sz="1400" spc="-4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Publikuje</a:t>
            </a:r>
            <a:r>
              <a:rPr lang="en-US" sz="1400" spc="-20" dirty="0">
                <a:solidFill>
                  <a:srgbClr val="0D1B2A"/>
                </a:solidFill>
                <a:latin typeface="Calibri" pitchFamily="34" charset="0"/>
                <a:ea typeface="Calibri" pitchFamily="34" charset="-122"/>
                <a:cs typeface="Calibri" pitchFamily="34" charset="-120"/>
              </a:rPr>
              <a:t>: TF map→odom (skokowa korekta SLAM)</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Parametry</a:t>
            </a:r>
            <a:r>
              <a:rPr lang="en-US" sz="1400" spc="-20" dirty="0">
                <a:solidFill>
                  <a:srgbClr val="0D1B2A"/>
                </a:solidFill>
                <a:latin typeface="Calibri" pitchFamily="34" charset="0"/>
                <a:ea typeface="Calibri" pitchFamily="34" charset="-122"/>
                <a:cs typeface="Calibri" pitchFamily="34" charset="-120"/>
              </a:rPr>
              <a:t>: max_particles=2000, min_particles=500</a:t>
            </a:r>
            <a:endParaRPr lang="en-US" sz="1400" spc="-2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laser_model_type</a:t>
            </a:r>
            <a:r>
              <a:rPr lang="en-US" sz="1400" spc="-20" dirty="0">
                <a:solidFill>
                  <a:srgbClr val="0D1B2A"/>
                </a:solidFill>
                <a:latin typeface="Calibri" pitchFamily="34" charset="0"/>
                <a:ea typeface="Calibri" pitchFamily="34" charset="-122"/>
                <a:cs typeface="Calibri" pitchFamily="34" charset="-120"/>
              </a:rPr>
              <a:t>: likelihood_field (zalecany)</a:t>
            </a:r>
            <a:endParaRPr lang="en-US" sz="1400" spc="-20" dirty="0"/>
          </a:p>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Inicjalizacja</a:t>
            </a:r>
            <a:r>
              <a:rPr lang="en-US" sz="1400" spc="-40" dirty="0">
                <a:solidFill>
                  <a:srgbClr val="0D1B2A"/>
                </a:solidFill>
                <a:latin typeface="Calibri" pitchFamily="34" charset="0"/>
                <a:ea typeface="Calibri" pitchFamily="34" charset="-122"/>
                <a:cs typeface="Calibri" pitchFamily="34" charset="-120"/>
              </a:rPr>
              <a:t>: set_initial_pose przez RViz2 lub Python API</a:t>
            </a:r>
            <a:endParaRPr lang="en-US" sz="1400" spc="-40" dirty="0"/>
          </a:p>
          <a:p>
            <a:pPr marL="144000" indent="-144000">
              <a:spcAft>
                <a:spcPts val="600"/>
              </a:spcAft>
              <a:buSzPct val="100000"/>
              <a:buChar char="•"/>
            </a:pPr>
            <a:r>
              <a:rPr lang="en-US" sz="1400" b="1" spc="-20" dirty="0">
                <a:solidFill>
                  <a:srgbClr val="0D1B2A"/>
                </a:solidFill>
                <a:latin typeface="Calibri" pitchFamily="34" charset="0"/>
                <a:ea typeface="Calibri" pitchFamily="34" charset="-122"/>
                <a:cs typeface="Calibri" pitchFamily="34" charset="-120"/>
              </a:rPr>
              <a:t>Wymagania</a:t>
            </a:r>
            <a:r>
              <a:rPr lang="en-US" sz="1400" spc="-20" dirty="0">
                <a:solidFill>
                  <a:srgbClr val="0D1B2A"/>
                </a:solidFill>
                <a:latin typeface="Calibri" pitchFamily="34" charset="0"/>
                <a:ea typeface="Calibri" pitchFamily="34" charset="-122"/>
                <a:cs typeface="Calibri" pitchFamily="34" charset="-120"/>
              </a:rPr>
              <a:t>: /scan (sensor_msgs/LaserScan) + /map</a:t>
            </a:r>
            <a:endParaRPr lang="en-US" sz="1400" spc="-20" dirty="0"/>
          </a:p>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Przy humanoidzie</a:t>
            </a:r>
            <a:r>
              <a:rPr lang="en-US" sz="1400" spc="-40" dirty="0">
                <a:solidFill>
                  <a:srgbClr val="0D1B2A"/>
                </a:solidFill>
                <a:latin typeface="Calibri" pitchFamily="34" charset="0"/>
                <a:ea typeface="Calibri" pitchFamily="34" charset="-122"/>
                <a:cs typeface="Calibri" pitchFamily="34" charset="-120"/>
              </a:rPr>
              <a:t>: lidar wyżej = mniej szumów podłogi</a:t>
            </a:r>
            <a:endParaRPr lang="en-US" sz="1400" spc="-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4 | HUMANOID</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Nav2 + Humanoid: specyfika integracji</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622714"/>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83241" y="1106151"/>
            <a:ext cx="8397688" cy="2477486"/>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Footprint</a:t>
            </a:r>
            <a:r>
              <a:rPr lang="en-US" sz="1400" dirty="0">
                <a:solidFill>
                  <a:srgbClr val="0D1B2A"/>
                </a:solidFill>
                <a:latin typeface="Calibri" pitchFamily="34" charset="0"/>
                <a:ea typeface="Calibri" pitchFamily="34" charset="-122"/>
                <a:cs typeface="Calibri" pitchFamily="34" charset="-120"/>
              </a:rPr>
              <a:t>: dla humanoida użyj polygon zamiast robot_radius; odwzorowuje rzeczywisty kształt ciała</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footprint</a:t>
            </a:r>
            <a:r>
              <a:rPr lang="en-US" sz="1400" dirty="0">
                <a:solidFill>
                  <a:srgbClr val="0D1B2A"/>
                </a:solidFill>
                <a:latin typeface="Calibri" pitchFamily="34" charset="0"/>
                <a:ea typeface="Calibri" pitchFamily="34" charset="-122"/>
                <a:cs typeface="Calibri" pitchFamily="34" charset="-120"/>
              </a:rPr>
              <a:t>: [[0.25, 0.15], [0.25, -0.15], [-0.25, -0.15], [-0.25, 0.15]] – prostokąt 50×30 cm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cmd_vel → WBC</a:t>
            </a:r>
            <a:r>
              <a:rPr lang="en-US" sz="1400" dirty="0">
                <a:solidFill>
                  <a:srgbClr val="0D1B2A"/>
                </a:solidFill>
                <a:latin typeface="Calibri" pitchFamily="34" charset="0"/>
                <a:ea typeface="Calibri" pitchFamily="34" charset="-122"/>
                <a:cs typeface="Calibri" pitchFamily="34" charset="-120"/>
              </a:rPr>
              <a:t>: node-przekaźnik konwertuje geometry_msgs/Twist z Nav2 na komendy footstep planera</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Częstość kontrolera</a:t>
            </a:r>
            <a:r>
              <a:rPr lang="en-US" sz="1400" dirty="0">
                <a:solidFill>
                  <a:srgbClr val="0D1B2A"/>
                </a:solidFill>
                <a:latin typeface="Calibri" pitchFamily="34" charset="0"/>
                <a:ea typeface="Calibri" pitchFamily="34" charset="-122"/>
                <a:cs typeface="Calibri" pitchFamily="34" charset="-120"/>
              </a:rPr>
              <a:t>: controller_frequency=10.0 Hz dla humanoida (vs 20 Hz dla kołowego); WBC działa 200 Hz</a:t>
            </a:r>
            <a:endParaRPr lang="en-US" sz="1400" dirty="0"/>
          </a:p>
          <a:p>
            <a:pPr marL="144000" indent="-144000">
              <a:spcAft>
                <a:spcPts val="600"/>
              </a:spcAft>
              <a:buSzPct val="100000"/>
              <a:buChar char="•"/>
            </a:pPr>
            <a:r>
              <a:rPr lang="en-US" sz="1400" b="1" spc="-60" dirty="0">
                <a:solidFill>
                  <a:srgbClr val="0D1B2A"/>
                </a:solidFill>
                <a:latin typeface="Calibri" pitchFamily="34" charset="0"/>
                <a:ea typeface="Calibri" pitchFamily="34" charset="-122"/>
                <a:cs typeface="Calibri" pitchFamily="34" charset="-120"/>
              </a:rPr>
              <a:t>velocity_smoother (Nav2 plugin): </a:t>
            </a:r>
            <a:r>
              <a:rPr lang="en-US" sz="1400" spc="-60" dirty="0">
                <a:solidFill>
                  <a:srgbClr val="0D1B2A"/>
                </a:solidFill>
                <a:latin typeface="Calibri" pitchFamily="34" charset="0"/>
                <a:ea typeface="Calibri" pitchFamily="34" charset="-122"/>
                <a:cs typeface="Calibri" pitchFamily="34" charset="-120"/>
              </a:rPr>
              <a:t>wygładza cmd_vel aby unikać gwałtownych zmian prędkości wywołujących niestabilność</a:t>
            </a:r>
            <a:endParaRPr lang="en-US" sz="1400" spc="-6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3D costmap</a:t>
            </a:r>
            <a:r>
              <a:rPr lang="en-US" sz="1400" dirty="0">
                <a:solidFill>
                  <a:srgbClr val="0D1B2A"/>
                </a:solidFill>
                <a:latin typeface="Calibri" pitchFamily="34" charset="0"/>
                <a:ea typeface="Calibri" pitchFamily="34" charset="-122"/>
                <a:cs typeface="Calibri" pitchFamily="34" charset="-120"/>
              </a:rPr>
              <a:t>: gdy humanoid chodzi po schodach → voxel_layer w local_costmap; max_obstacle_height=2.0 m</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Footstep server jako Behavior Tree Action node</a:t>
            </a:r>
            <a:r>
              <a:rPr lang="en-US" sz="1400" dirty="0">
                <a:solidFill>
                  <a:srgbClr val="0D1B2A"/>
                </a:solidFill>
                <a:latin typeface="Calibri" pitchFamily="34" charset="0"/>
                <a:ea typeface="Calibri" pitchFamily="34" charset="-122"/>
                <a:cs typeface="Calibri" pitchFamily="34" charset="-120"/>
              </a:rPr>
              <a:t>: BT wywołuje footstep planer zamiast bezpośrednio cmd_vel</a:t>
            </a:r>
            <a:endParaRPr lang="en-US" sz="1400" dirty="0"/>
          </a:p>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Stabilność</a:t>
            </a:r>
            <a:r>
              <a:rPr lang="en-US" sz="1400" spc="-40" dirty="0">
                <a:solidFill>
                  <a:srgbClr val="0D1B2A"/>
                </a:solidFill>
                <a:latin typeface="Calibri" pitchFamily="34" charset="0"/>
                <a:ea typeface="Calibri" pitchFamily="34" charset="-122"/>
                <a:cs typeface="Calibri" pitchFamily="34" charset="-120"/>
              </a:rPr>
              <a:t>: custom critic DWB/MPPI odrzuca trajektorie naruszające ZMP; safety_monitor vetuje cmd_vel (W9)</a:t>
            </a:r>
            <a:endParaRPr lang="en-US" sz="1400" spc="-4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28600"/>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SEKCJA 4 | PIPELINE</a:t>
            </a:r>
            <a:endParaRPr lang="en-US" sz="800" dirty="0"/>
          </a:p>
        </p:txBody>
      </p:sp>
      <p:sp>
        <p:nvSpPr>
          <p:cNvPr id="4" name="Text 2"/>
          <p:cNvSpPr/>
          <p:nvPr/>
        </p:nvSpPr>
        <p:spPr>
          <a:xfrm>
            <a:off x="320040" y="420624"/>
            <a:ext cx="850392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Kompletny pipeline wdrożenia Nav2 krok po kroku</a:t>
            </a:r>
            <a:endParaRPr lang="en-US" sz="2200" dirty="0"/>
          </a:p>
        </p:txBody>
      </p:sp>
      <p:sp>
        <p:nvSpPr>
          <p:cNvPr id="5" name="Shape 3"/>
          <p:cNvSpPr/>
          <p:nvPr/>
        </p:nvSpPr>
        <p:spPr>
          <a:xfrm>
            <a:off x="320040" y="969264"/>
            <a:ext cx="8503920" cy="22860"/>
          </a:xfrm>
          <a:prstGeom prst="rect">
            <a:avLst/>
          </a:prstGeom>
          <a:solidFill>
            <a:srgbClr val="3730A3"/>
          </a:solidFill>
          <a:ln w="12700">
            <a:solidFill>
              <a:srgbClr val="3730A3"/>
            </a:solidFill>
            <a:prstDash val="solid"/>
          </a:ln>
        </p:spPr>
      </p:sp>
      <p:sp>
        <p:nvSpPr>
          <p:cNvPr id="6" name="Shape 4"/>
          <p:cNvSpPr/>
          <p:nvPr/>
        </p:nvSpPr>
        <p:spPr>
          <a:xfrm>
            <a:off x="320039" y="1097280"/>
            <a:ext cx="1625775" cy="250653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7" name="Shape 5"/>
          <p:cNvSpPr/>
          <p:nvPr/>
        </p:nvSpPr>
        <p:spPr>
          <a:xfrm>
            <a:off x="871308" y="1225296"/>
            <a:ext cx="523238" cy="512064"/>
          </a:xfrm>
          <a:prstGeom prst="ellipse">
            <a:avLst/>
          </a:prstGeom>
          <a:solidFill>
            <a:srgbClr val="4F46E5"/>
          </a:solidFill>
          <a:ln w="12700">
            <a:solidFill>
              <a:srgbClr val="4F46E5"/>
            </a:solidFill>
            <a:prstDash val="solid"/>
          </a:ln>
        </p:spPr>
      </p:sp>
      <p:sp>
        <p:nvSpPr>
          <p:cNvPr id="8" name="Text 6"/>
          <p:cNvSpPr/>
          <p:nvPr/>
        </p:nvSpPr>
        <p:spPr>
          <a:xfrm>
            <a:off x="871308" y="1225296"/>
            <a:ext cx="523238" cy="512064"/>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1</a:t>
            </a:r>
            <a:endParaRPr lang="en-US" sz="2000" dirty="0">
              <a:solidFill>
                <a:schemeClr val="bg1"/>
              </a:solidFill>
            </a:endParaRPr>
          </a:p>
        </p:txBody>
      </p:sp>
      <p:sp>
        <p:nvSpPr>
          <p:cNvPr id="9" name="Text 7"/>
          <p:cNvSpPr/>
          <p:nvPr/>
        </p:nvSpPr>
        <p:spPr>
          <a:xfrm>
            <a:off x="394787" y="1810512"/>
            <a:ext cx="1476279" cy="402336"/>
          </a:xfrm>
          <a:prstGeom prst="rect">
            <a:avLst/>
          </a:prstGeom>
          <a:noFill/>
          <a:ln/>
        </p:spPr>
        <p:txBody>
          <a:bodyPr wrap="square" lIns="0" tIns="0" rIns="0" bIns="0" rtlCol="0" anchor="ctr"/>
          <a:lstStyle/>
          <a:p>
            <a:pPr marL="0" indent="0" algn="ctr">
              <a:buNone/>
            </a:pPr>
            <a:r>
              <a:rPr lang="en-US" sz="1400" b="1" dirty="0">
                <a:solidFill>
                  <a:srgbClr val="4F46E5"/>
                </a:solidFill>
                <a:latin typeface="Calibri" pitchFamily="34" charset="0"/>
                <a:ea typeface="Calibri" pitchFamily="34" charset="-122"/>
                <a:cs typeface="Calibri" pitchFamily="34" charset="-120"/>
              </a:rPr>
              <a:t>Środowisko i robot</a:t>
            </a:r>
            <a:endParaRPr lang="en-US" sz="1400" dirty="0"/>
          </a:p>
        </p:txBody>
      </p:sp>
      <p:sp>
        <p:nvSpPr>
          <p:cNvPr id="10" name="Text 8"/>
          <p:cNvSpPr/>
          <p:nvPr/>
        </p:nvSpPr>
        <p:spPr>
          <a:xfrm>
            <a:off x="388063" y="2249424"/>
            <a:ext cx="1503175" cy="1213194"/>
          </a:xfrm>
          <a:prstGeom prst="rect">
            <a:avLst/>
          </a:prstGeom>
          <a:noFill/>
          <a:ln/>
        </p:spPr>
        <p:txBody>
          <a:bodyPr wrap="square" lIns="0" tIns="0" rIns="0" bIns="0" rtlCol="0" anchor="t"/>
          <a:lstStyle/>
          <a:p>
            <a:pPr marL="0" indent="0" algn="l">
              <a:buNone/>
            </a:pPr>
            <a:r>
              <a:rPr lang="en-US" sz="1200" spc="-40" dirty="0">
                <a:solidFill>
                  <a:srgbClr val="0D1B2A"/>
                </a:solidFill>
                <a:latin typeface="Calibri" pitchFamily="34" charset="0"/>
                <a:ea typeface="Calibri" pitchFamily="34" charset="-122"/>
                <a:cs typeface="Calibri" pitchFamily="34" charset="-120"/>
              </a:rPr>
              <a:t>Zainstaluj ROS 2 + Nav2. Przygotuj URDF </a:t>
            </a:r>
            <a:r>
              <a:rPr lang="en-US" sz="1200" spc="-40" dirty="0" err="1">
                <a:solidFill>
                  <a:srgbClr val="0D1B2A"/>
                </a:solidFill>
                <a:latin typeface="Calibri" pitchFamily="34" charset="0"/>
                <a:ea typeface="Calibri" pitchFamily="34" charset="-122"/>
                <a:cs typeface="Calibri" pitchFamily="34" charset="-120"/>
              </a:rPr>
              <a:t>robota</a:t>
            </a:r>
            <a:r>
              <a:rPr lang="en-US" sz="1200" spc="-40" dirty="0">
                <a:solidFill>
                  <a:srgbClr val="0D1B2A"/>
                </a:solidFill>
                <a:latin typeface="Calibri" pitchFamily="34" charset="0"/>
                <a:ea typeface="Calibri" pitchFamily="34" charset="-122"/>
                <a:cs typeface="Calibri" pitchFamily="34" charset="-120"/>
              </a:rPr>
              <a:t>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smtClean="0">
                <a:solidFill>
                  <a:srgbClr val="0D1B2A"/>
                </a:solidFill>
                <a:latin typeface="Calibri" pitchFamily="34" charset="0"/>
                <a:ea typeface="Calibri" pitchFamily="34" charset="-122"/>
                <a:cs typeface="Calibri" pitchFamily="34" charset="-120"/>
              </a:rPr>
              <a:t>z </a:t>
            </a:r>
            <a:r>
              <a:rPr lang="en-US" sz="1200" spc="-40" dirty="0">
                <a:solidFill>
                  <a:srgbClr val="0D1B2A"/>
                </a:solidFill>
                <a:latin typeface="Calibri" pitchFamily="34" charset="0"/>
                <a:ea typeface="Calibri" pitchFamily="34" charset="-122"/>
                <a:cs typeface="Calibri" pitchFamily="34" charset="-120"/>
              </a:rPr>
              <a:t>poprawnymi </a:t>
            </a:r>
            <a:r>
              <a:rPr lang="en-US" sz="1200" spc="-40" dirty="0" err="1">
                <a:solidFill>
                  <a:srgbClr val="0D1B2A"/>
                </a:solidFill>
                <a:latin typeface="Calibri" pitchFamily="34" charset="0"/>
                <a:ea typeface="Calibri" pitchFamily="34" charset="-122"/>
                <a:cs typeface="Calibri" pitchFamily="34" charset="-120"/>
              </a:rPr>
              <a:t>wymiarami</a:t>
            </a:r>
            <a:r>
              <a:rPr lang="en-US" sz="1200" spc="-40" dirty="0">
                <a:solidFill>
                  <a:srgbClr val="0D1B2A"/>
                </a:solidFill>
                <a:latin typeface="Calibri" pitchFamily="34" charset="0"/>
                <a:ea typeface="Calibri" pitchFamily="34" charset="-122"/>
                <a:cs typeface="Calibri" pitchFamily="34" charset="-120"/>
              </a:rPr>
              <a:t>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err="1" smtClean="0">
                <a:solidFill>
                  <a:srgbClr val="0D1B2A"/>
                </a:solidFill>
                <a:latin typeface="Calibri" pitchFamily="34" charset="0"/>
                <a:ea typeface="Calibri" pitchFamily="34" charset="-122"/>
                <a:cs typeface="Calibri" pitchFamily="34" charset="-120"/>
              </a:rPr>
              <a:t>i</a:t>
            </a:r>
            <a:r>
              <a:rPr lang="en-US" sz="1200" spc="-40" dirty="0" smtClean="0">
                <a:solidFill>
                  <a:srgbClr val="0D1B2A"/>
                </a:solidFill>
                <a:latin typeface="Calibri" pitchFamily="34" charset="0"/>
                <a:ea typeface="Calibri" pitchFamily="34" charset="-122"/>
                <a:cs typeface="Calibri" pitchFamily="34" charset="-120"/>
              </a:rPr>
              <a:t> </a:t>
            </a:r>
            <a:r>
              <a:rPr lang="en-US" sz="1200" spc="-40" dirty="0">
                <a:solidFill>
                  <a:srgbClr val="0D1B2A"/>
                </a:solidFill>
                <a:latin typeface="Calibri" pitchFamily="34" charset="0"/>
                <a:ea typeface="Calibri" pitchFamily="34" charset="-122"/>
                <a:cs typeface="Calibri" pitchFamily="34" charset="-120"/>
              </a:rPr>
              <a:t>joint. Zweryfikuj TF2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err="1" smtClean="0">
                <a:solidFill>
                  <a:srgbClr val="0D1B2A"/>
                </a:solidFill>
                <a:latin typeface="Calibri" pitchFamily="34" charset="0"/>
                <a:ea typeface="Calibri" pitchFamily="34" charset="-122"/>
                <a:cs typeface="Calibri" pitchFamily="34" charset="-120"/>
              </a:rPr>
              <a:t>przez</a:t>
            </a:r>
            <a:r>
              <a:rPr lang="en-US" sz="1200" spc="-40" dirty="0" smtClean="0">
                <a:solidFill>
                  <a:srgbClr val="0D1B2A"/>
                </a:solidFill>
                <a:latin typeface="Calibri" pitchFamily="34" charset="0"/>
                <a:ea typeface="Calibri" pitchFamily="34" charset="-122"/>
                <a:cs typeface="Calibri" pitchFamily="34" charset="-120"/>
              </a:rPr>
              <a:t> </a:t>
            </a:r>
            <a:r>
              <a:rPr lang="en-US" sz="1200" spc="-40" dirty="0">
                <a:solidFill>
                  <a:srgbClr val="0D1B2A"/>
                </a:solidFill>
                <a:latin typeface="Calibri" pitchFamily="34" charset="0"/>
                <a:ea typeface="Calibri" pitchFamily="34" charset="-122"/>
                <a:cs typeface="Calibri" pitchFamily="34" charset="-120"/>
              </a:rPr>
              <a:t>view_frames.</a:t>
            </a:r>
            <a:endParaRPr lang="en-US" sz="1200" spc="-40" dirty="0"/>
          </a:p>
        </p:txBody>
      </p:sp>
      <p:sp>
        <p:nvSpPr>
          <p:cNvPr id="11" name="Shape 9"/>
          <p:cNvSpPr/>
          <p:nvPr/>
        </p:nvSpPr>
        <p:spPr>
          <a:xfrm>
            <a:off x="2085967" y="1097280"/>
            <a:ext cx="1625775" cy="250653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2" name="Shape 10"/>
          <p:cNvSpPr/>
          <p:nvPr/>
        </p:nvSpPr>
        <p:spPr>
          <a:xfrm>
            <a:off x="2637236" y="1225296"/>
            <a:ext cx="523238" cy="512064"/>
          </a:xfrm>
          <a:prstGeom prst="ellipse">
            <a:avLst/>
          </a:prstGeom>
          <a:solidFill>
            <a:srgbClr val="4F46E5"/>
          </a:solidFill>
          <a:ln w="12700">
            <a:solidFill>
              <a:srgbClr val="4F46E5"/>
            </a:solidFill>
            <a:prstDash val="solid"/>
          </a:ln>
        </p:spPr>
      </p:sp>
      <p:sp>
        <p:nvSpPr>
          <p:cNvPr id="13" name="Text 11"/>
          <p:cNvSpPr/>
          <p:nvPr/>
        </p:nvSpPr>
        <p:spPr>
          <a:xfrm>
            <a:off x="2637236" y="1225296"/>
            <a:ext cx="523238" cy="512064"/>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2</a:t>
            </a:r>
            <a:endParaRPr lang="en-US" sz="2000" dirty="0">
              <a:solidFill>
                <a:schemeClr val="bg1"/>
              </a:solidFill>
            </a:endParaRPr>
          </a:p>
        </p:txBody>
      </p:sp>
      <p:sp>
        <p:nvSpPr>
          <p:cNvPr id="14" name="Text 12"/>
          <p:cNvSpPr/>
          <p:nvPr/>
        </p:nvSpPr>
        <p:spPr>
          <a:xfrm>
            <a:off x="2160716" y="1810512"/>
            <a:ext cx="1476279" cy="402336"/>
          </a:xfrm>
          <a:prstGeom prst="rect">
            <a:avLst/>
          </a:prstGeom>
          <a:noFill/>
          <a:ln/>
        </p:spPr>
        <p:txBody>
          <a:bodyPr wrap="square" lIns="0" tIns="0" rIns="0" bIns="0" rtlCol="0" anchor="ctr"/>
          <a:lstStyle/>
          <a:p>
            <a:pPr marL="0" indent="0" algn="ctr">
              <a:buNone/>
            </a:pPr>
            <a:r>
              <a:rPr lang="en-US" sz="1400" b="1" dirty="0">
                <a:solidFill>
                  <a:srgbClr val="4F46E5"/>
                </a:solidFill>
                <a:latin typeface="Calibri" pitchFamily="34" charset="0"/>
                <a:ea typeface="Calibri" pitchFamily="34" charset="-122"/>
                <a:cs typeface="Calibri" pitchFamily="34" charset="-120"/>
              </a:rPr>
              <a:t>Mapa środowiska</a:t>
            </a:r>
            <a:endParaRPr lang="en-US" sz="1400" dirty="0"/>
          </a:p>
        </p:txBody>
      </p:sp>
      <p:sp>
        <p:nvSpPr>
          <p:cNvPr id="15" name="Text 13"/>
          <p:cNvSpPr/>
          <p:nvPr/>
        </p:nvSpPr>
        <p:spPr>
          <a:xfrm>
            <a:off x="2179403" y="2249424"/>
            <a:ext cx="1438905" cy="1213194"/>
          </a:xfrm>
          <a:prstGeom prst="rect">
            <a:avLst/>
          </a:prstGeom>
          <a:noFill/>
          <a:ln/>
        </p:spPr>
        <p:txBody>
          <a:bodyPr wrap="square" lIns="0" tIns="0" rIns="0" bIns="0" rtlCol="0" anchor="t"/>
          <a:lstStyle/>
          <a:p>
            <a:pPr marL="0" indent="0" algn="l">
              <a:buNone/>
            </a:pPr>
            <a:r>
              <a:rPr lang="en-US" sz="1200" spc="-40" dirty="0">
                <a:solidFill>
                  <a:srgbClr val="0D1B2A"/>
                </a:solidFill>
                <a:latin typeface="Calibri" pitchFamily="34" charset="0"/>
                <a:ea typeface="Calibri" pitchFamily="34" charset="-122"/>
                <a:cs typeface="Calibri" pitchFamily="34" charset="-120"/>
              </a:rPr>
              <a:t>Uruchom </a:t>
            </a:r>
            <a:r>
              <a:rPr lang="en-US" sz="1200" spc="-40" dirty="0" err="1">
                <a:solidFill>
                  <a:srgbClr val="0D1B2A"/>
                </a:solidFill>
                <a:latin typeface="Calibri" pitchFamily="34" charset="0"/>
                <a:ea typeface="Calibri" pitchFamily="34" charset="-122"/>
                <a:cs typeface="Calibri" pitchFamily="34" charset="-120"/>
              </a:rPr>
              <a:t>slam_toolbox</a:t>
            </a:r>
            <a:r>
              <a:rPr lang="en-US" sz="1200" spc="-40" dirty="0">
                <a:solidFill>
                  <a:srgbClr val="0D1B2A"/>
                </a:solidFill>
                <a:latin typeface="Calibri" pitchFamily="34" charset="0"/>
                <a:ea typeface="Calibri" pitchFamily="34" charset="-122"/>
                <a:cs typeface="Calibri" pitchFamily="34" charset="-120"/>
              </a:rPr>
              <a:t>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err="1" smtClean="0">
                <a:solidFill>
                  <a:srgbClr val="0D1B2A"/>
                </a:solidFill>
                <a:latin typeface="Calibri" pitchFamily="34" charset="0"/>
                <a:ea typeface="Calibri" pitchFamily="34" charset="-122"/>
                <a:cs typeface="Calibri" pitchFamily="34" charset="-120"/>
              </a:rPr>
              <a:t>i</a:t>
            </a:r>
            <a:r>
              <a:rPr lang="en-US" sz="1200" spc="-40" dirty="0" smtClean="0">
                <a:solidFill>
                  <a:srgbClr val="0D1B2A"/>
                </a:solidFill>
                <a:latin typeface="Calibri" pitchFamily="34" charset="0"/>
                <a:ea typeface="Calibri" pitchFamily="34" charset="-122"/>
                <a:cs typeface="Calibri" pitchFamily="34" charset="-120"/>
              </a:rPr>
              <a:t> </a:t>
            </a:r>
            <a:r>
              <a:rPr lang="en-US" sz="1200" spc="-40" dirty="0">
                <a:solidFill>
                  <a:srgbClr val="0D1B2A"/>
                </a:solidFill>
                <a:latin typeface="Calibri" pitchFamily="34" charset="0"/>
                <a:ea typeface="Calibri" pitchFamily="34" charset="-122"/>
                <a:cs typeface="Calibri" pitchFamily="34" charset="-120"/>
              </a:rPr>
              <a:t>przeprowadź robota przez całe środowisko. Zapisz mapę: save_map. Weryfikuj w RViz2.</a:t>
            </a:r>
            <a:endParaRPr lang="en-US" sz="1200" spc="-40" dirty="0"/>
          </a:p>
        </p:txBody>
      </p:sp>
      <p:sp>
        <p:nvSpPr>
          <p:cNvPr id="16" name="Shape 14"/>
          <p:cNvSpPr/>
          <p:nvPr/>
        </p:nvSpPr>
        <p:spPr>
          <a:xfrm>
            <a:off x="3851896" y="1097280"/>
            <a:ext cx="1625775" cy="250653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17" name="Shape 15"/>
          <p:cNvSpPr/>
          <p:nvPr/>
        </p:nvSpPr>
        <p:spPr>
          <a:xfrm>
            <a:off x="4403164" y="1225296"/>
            <a:ext cx="523238" cy="512064"/>
          </a:xfrm>
          <a:prstGeom prst="ellipse">
            <a:avLst/>
          </a:prstGeom>
          <a:solidFill>
            <a:srgbClr val="4F46E5"/>
          </a:solidFill>
          <a:ln w="12700">
            <a:solidFill>
              <a:srgbClr val="4F46E5"/>
            </a:solidFill>
            <a:prstDash val="solid"/>
          </a:ln>
        </p:spPr>
      </p:sp>
      <p:sp>
        <p:nvSpPr>
          <p:cNvPr id="18" name="Text 16"/>
          <p:cNvSpPr/>
          <p:nvPr/>
        </p:nvSpPr>
        <p:spPr>
          <a:xfrm>
            <a:off x="4403164" y="1225296"/>
            <a:ext cx="523238" cy="512064"/>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3</a:t>
            </a:r>
            <a:endParaRPr lang="en-US" sz="2000" dirty="0">
              <a:solidFill>
                <a:schemeClr val="bg1"/>
              </a:solidFill>
            </a:endParaRPr>
          </a:p>
        </p:txBody>
      </p:sp>
      <p:sp>
        <p:nvSpPr>
          <p:cNvPr id="19" name="Text 17"/>
          <p:cNvSpPr/>
          <p:nvPr/>
        </p:nvSpPr>
        <p:spPr>
          <a:xfrm>
            <a:off x="3926644" y="1810512"/>
            <a:ext cx="1476279" cy="402336"/>
          </a:xfrm>
          <a:prstGeom prst="rect">
            <a:avLst/>
          </a:prstGeom>
          <a:noFill/>
          <a:ln/>
        </p:spPr>
        <p:txBody>
          <a:bodyPr wrap="square" lIns="0" tIns="0" rIns="0" bIns="0" rtlCol="0" anchor="ctr"/>
          <a:lstStyle/>
          <a:p>
            <a:pPr marL="0" indent="0" algn="ctr">
              <a:buNone/>
            </a:pPr>
            <a:r>
              <a:rPr lang="en-US" sz="1400" b="1" dirty="0">
                <a:solidFill>
                  <a:srgbClr val="4F46E5"/>
                </a:solidFill>
                <a:latin typeface="Calibri" pitchFamily="34" charset="0"/>
                <a:ea typeface="Calibri" pitchFamily="34" charset="-122"/>
                <a:cs typeface="Calibri" pitchFamily="34" charset="-120"/>
              </a:rPr>
              <a:t>Konfiguracja YAML</a:t>
            </a:r>
            <a:endParaRPr lang="en-US" sz="1400" dirty="0"/>
          </a:p>
        </p:txBody>
      </p:sp>
      <p:sp>
        <p:nvSpPr>
          <p:cNvPr id="20" name="Text 18"/>
          <p:cNvSpPr/>
          <p:nvPr/>
        </p:nvSpPr>
        <p:spPr>
          <a:xfrm>
            <a:off x="3926644" y="2249424"/>
            <a:ext cx="1476279" cy="1213194"/>
          </a:xfrm>
          <a:prstGeom prst="rect">
            <a:avLst/>
          </a:prstGeom>
          <a:noFill/>
          <a:ln/>
        </p:spPr>
        <p:txBody>
          <a:bodyPr wrap="square" lIns="0" tIns="0" rIns="0" bIns="0" rtlCol="0" anchor="t"/>
          <a:lstStyle/>
          <a:p>
            <a:pPr marL="0" indent="0" algn="l">
              <a:buNone/>
            </a:pPr>
            <a:r>
              <a:rPr lang="en-US" sz="1200" spc="-40" dirty="0" err="1" smtClean="0">
                <a:solidFill>
                  <a:srgbClr val="0D1B2A"/>
                </a:solidFill>
                <a:latin typeface="Calibri" pitchFamily="34" charset="0"/>
                <a:ea typeface="Calibri" pitchFamily="34" charset="-122"/>
                <a:cs typeface="Calibri" pitchFamily="34" charset="-120"/>
              </a:rPr>
              <a:t>Utwórz</a:t>
            </a:r>
            <a:r>
              <a:rPr lang="pl-PL" sz="1200" spc="-40" dirty="0" smtClean="0">
                <a:solidFill>
                  <a:srgbClr val="0D1B2A"/>
                </a:solidFill>
                <a:latin typeface="Calibri" pitchFamily="34" charset="0"/>
                <a:ea typeface="Calibri" pitchFamily="34" charset="-122"/>
                <a:cs typeface="Calibri" pitchFamily="34" charset="-120"/>
              </a:rPr>
              <a:t> </a:t>
            </a:r>
            <a:r>
              <a:rPr lang="en-US" sz="1200" spc="-100" dirty="0" smtClean="0">
                <a:solidFill>
                  <a:srgbClr val="0D1B2A"/>
                </a:solidFill>
                <a:latin typeface="Calibri" pitchFamily="34" charset="0"/>
                <a:ea typeface="Calibri" pitchFamily="34" charset="-122"/>
                <a:cs typeface="Calibri" pitchFamily="34" charset="-120"/>
              </a:rPr>
              <a:t>nav2_params.yaml</a:t>
            </a:r>
            <a:r>
              <a:rPr lang="en-US" sz="1200" spc="-40" dirty="0">
                <a:solidFill>
                  <a:srgbClr val="0D1B2A"/>
                </a:solidFill>
                <a:latin typeface="Calibri" pitchFamily="34" charset="0"/>
                <a:ea typeface="Calibri" pitchFamily="34" charset="-122"/>
                <a:cs typeface="Calibri" pitchFamily="34" charset="-120"/>
              </a:rPr>
              <a:t>: dobierz footprint, inflation_radius, wybierz planistę (SmacHybrid)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err="1" smtClean="0">
                <a:solidFill>
                  <a:srgbClr val="0D1B2A"/>
                </a:solidFill>
                <a:latin typeface="Calibri" pitchFamily="34" charset="0"/>
                <a:ea typeface="Calibri" pitchFamily="34" charset="-122"/>
                <a:cs typeface="Calibri" pitchFamily="34" charset="-120"/>
              </a:rPr>
              <a:t>i</a:t>
            </a:r>
            <a:r>
              <a:rPr lang="en-US" sz="1200" spc="-40" dirty="0" smtClean="0">
                <a:solidFill>
                  <a:srgbClr val="0D1B2A"/>
                </a:solidFill>
                <a:latin typeface="Calibri" pitchFamily="34" charset="0"/>
                <a:ea typeface="Calibri" pitchFamily="34" charset="-122"/>
                <a:cs typeface="Calibri" pitchFamily="34" charset="-120"/>
              </a:rPr>
              <a:t> </a:t>
            </a:r>
            <a:r>
              <a:rPr lang="en-US" sz="1200" spc="-40" dirty="0">
                <a:solidFill>
                  <a:srgbClr val="0D1B2A"/>
                </a:solidFill>
                <a:latin typeface="Calibri" pitchFamily="34" charset="0"/>
                <a:ea typeface="Calibri" pitchFamily="34" charset="-122"/>
                <a:cs typeface="Calibri" pitchFamily="34" charset="-120"/>
              </a:rPr>
              <a:t>kontroler (MPPI). Zacznij od domyślnych wartości.</a:t>
            </a:r>
            <a:endParaRPr lang="en-US" sz="1200" spc="-40" dirty="0"/>
          </a:p>
        </p:txBody>
      </p:sp>
      <p:sp>
        <p:nvSpPr>
          <p:cNvPr id="21" name="Shape 19"/>
          <p:cNvSpPr/>
          <p:nvPr/>
        </p:nvSpPr>
        <p:spPr>
          <a:xfrm>
            <a:off x="5617824" y="1097280"/>
            <a:ext cx="1625775" cy="250653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22" name="Shape 20"/>
          <p:cNvSpPr/>
          <p:nvPr/>
        </p:nvSpPr>
        <p:spPr>
          <a:xfrm>
            <a:off x="6169093" y="1225296"/>
            <a:ext cx="523238" cy="512064"/>
          </a:xfrm>
          <a:prstGeom prst="ellipse">
            <a:avLst/>
          </a:prstGeom>
          <a:solidFill>
            <a:srgbClr val="4F46E5"/>
          </a:solidFill>
          <a:ln w="12700">
            <a:solidFill>
              <a:srgbClr val="4F46E5"/>
            </a:solidFill>
            <a:prstDash val="solid"/>
          </a:ln>
        </p:spPr>
      </p:sp>
      <p:sp>
        <p:nvSpPr>
          <p:cNvPr id="23" name="Text 21"/>
          <p:cNvSpPr/>
          <p:nvPr/>
        </p:nvSpPr>
        <p:spPr>
          <a:xfrm>
            <a:off x="6169093" y="1225296"/>
            <a:ext cx="523238" cy="512064"/>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4</a:t>
            </a:r>
            <a:endParaRPr lang="en-US" sz="2000" dirty="0">
              <a:solidFill>
                <a:schemeClr val="bg1"/>
              </a:solidFill>
            </a:endParaRPr>
          </a:p>
        </p:txBody>
      </p:sp>
      <p:sp>
        <p:nvSpPr>
          <p:cNvPr id="24" name="Text 22"/>
          <p:cNvSpPr/>
          <p:nvPr/>
        </p:nvSpPr>
        <p:spPr>
          <a:xfrm>
            <a:off x="5692573" y="1810512"/>
            <a:ext cx="1476279" cy="402336"/>
          </a:xfrm>
          <a:prstGeom prst="rect">
            <a:avLst/>
          </a:prstGeom>
          <a:noFill/>
          <a:ln/>
        </p:spPr>
        <p:txBody>
          <a:bodyPr wrap="square" lIns="0" tIns="0" rIns="0" bIns="0" rtlCol="0" anchor="ctr"/>
          <a:lstStyle/>
          <a:p>
            <a:pPr marL="0" indent="0" algn="ctr">
              <a:buNone/>
            </a:pPr>
            <a:r>
              <a:rPr lang="en-US" sz="1400" b="1" dirty="0" err="1">
                <a:solidFill>
                  <a:srgbClr val="4F46E5"/>
                </a:solidFill>
                <a:latin typeface="Calibri" pitchFamily="34" charset="0"/>
                <a:ea typeface="Calibri" pitchFamily="34" charset="-122"/>
                <a:cs typeface="Calibri" pitchFamily="34" charset="-120"/>
              </a:rPr>
              <a:t>Uruchomienie</a:t>
            </a:r>
            <a:r>
              <a:rPr lang="en-US" sz="1400" b="1" dirty="0">
                <a:solidFill>
                  <a:srgbClr val="4F46E5"/>
                </a:solidFill>
                <a:latin typeface="Calibri" pitchFamily="34" charset="0"/>
                <a:ea typeface="Calibri" pitchFamily="34" charset="-122"/>
                <a:cs typeface="Calibri" pitchFamily="34" charset="-120"/>
              </a:rPr>
              <a:t> </a:t>
            </a:r>
            <a:r>
              <a:rPr lang="pl-PL" sz="1400" b="1" dirty="0" smtClean="0">
                <a:solidFill>
                  <a:srgbClr val="4F46E5"/>
                </a:solidFill>
                <a:latin typeface="Calibri" pitchFamily="34" charset="0"/>
                <a:ea typeface="Calibri" pitchFamily="34" charset="-122"/>
                <a:cs typeface="Calibri" pitchFamily="34" charset="-120"/>
              </a:rPr>
              <a:t/>
            </a:r>
            <a:br>
              <a:rPr lang="pl-PL" sz="1400" b="1" dirty="0" smtClean="0">
                <a:solidFill>
                  <a:srgbClr val="4F46E5"/>
                </a:solidFill>
                <a:latin typeface="Calibri" pitchFamily="34" charset="0"/>
                <a:ea typeface="Calibri" pitchFamily="34" charset="-122"/>
                <a:cs typeface="Calibri" pitchFamily="34" charset="-120"/>
              </a:rPr>
            </a:br>
            <a:r>
              <a:rPr lang="en-US" sz="1400" b="1" dirty="0" err="1" smtClean="0">
                <a:solidFill>
                  <a:srgbClr val="4F46E5"/>
                </a:solidFill>
                <a:latin typeface="Calibri" pitchFamily="34" charset="0"/>
                <a:ea typeface="Calibri" pitchFamily="34" charset="-122"/>
                <a:cs typeface="Calibri" pitchFamily="34" charset="-120"/>
              </a:rPr>
              <a:t>i</a:t>
            </a:r>
            <a:r>
              <a:rPr lang="en-US" sz="1400" b="1" dirty="0" smtClean="0">
                <a:solidFill>
                  <a:srgbClr val="4F46E5"/>
                </a:solidFill>
                <a:latin typeface="Calibri" pitchFamily="34" charset="0"/>
                <a:ea typeface="Calibri" pitchFamily="34" charset="-122"/>
                <a:cs typeface="Calibri" pitchFamily="34" charset="-120"/>
              </a:rPr>
              <a:t> </a:t>
            </a:r>
            <a:r>
              <a:rPr lang="en-US" sz="1400" b="1" dirty="0">
                <a:solidFill>
                  <a:srgbClr val="4F46E5"/>
                </a:solidFill>
                <a:latin typeface="Calibri" pitchFamily="34" charset="0"/>
                <a:ea typeface="Calibri" pitchFamily="34" charset="-122"/>
                <a:cs typeface="Calibri" pitchFamily="34" charset="-120"/>
              </a:rPr>
              <a:t>testy SIL</a:t>
            </a:r>
            <a:endParaRPr lang="en-US" sz="1400" dirty="0"/>
          </a:p>
        </p:txBody>
      </p:sp>
      <p:sp>
        <p:nvSpPr>
          <p:cNvPr id="25" name="Text 23"/>
          <p:cNvSpPr/>
          <p:nvPr/>
        </p:nvSpPr>
        <p:spPr>
          <a:xfrm>
            <a:off x="5665090" y="2249424"/>
            <a:ext cx="1551027" cy="1213194"/>
          </a:xfrm>
          <a:prstGeom prst="rect">
            <a:avLst/>
          </a:prstGeom>
          <a:noFill/>
          <a:ln/>
        </p:spPr>
        <p:txBody>
          <a:bodyPr wrap="square" lIns="0" tIns="0" rIns="0" bIns="0" rtlCol="0" anchor="t"/>
          <a:lstStyle/>
          <a:p>
            <a:pPr marL="0" indent="0" algn="l">
              <a:buNone/>
            </a:pPr>
            <a:r>
              <a:rPr lang="en-US" sz="1200" spc="-40" dirty="0">
                <a:solidFill>
                  <a:srgbClr val="0D1B2A"/>
                </a:solidFill>
                <a:latin typeface="Calibri" pitchFamily="34" charset="0"/>
                <a:ea typeface="Calibri" pitchFamily="34" charset="-122"/>
                <a:cs typeface="Calibri" pitchFamily="34" charset="-120"/>
              </a:rPr>
              <a:t>Uruchom Nav2 w Gazebo </a:t>
            </a:r>
            <a:endParaRPr lang="pl-PL" sz="1200" spc="-40" dirty="0" smtClean="0">
              <a:solidFill>
                <a:srgbClr val="0D1B2A"/>
              </a:solidFill>
              <a:latin typeface="Calibri" pitchFamily="34" charset="0"/>
              <a:ea typeface="Calibri" pitchFamily="34" charset="-122"/>
              <a:cs typeface="Calibri" pitchFamily="34" charset="-120"/>
            </a:endParaRPr>
          </a:p>
          <a:p>
            <a:pPr marL="0" indent="0" algn="l">
              <a:buNone/>
            </a:pPr>
            <a:r>
              <a:rPr lang="en-US" sz="1200" spc="-40" dirty="0" smtClean="0">
                <a:solidFill>
                  <a:srgbClr val="0D1B2A"/>
                </a:solidFill>
                <a:latin typeface="Calibri" pitchFamily="34" charset="0"/>
                <a:ea typeface="Calibri" pitchFamily="34" charset="-122"/>
                <a:cs typeface="Calibri" pitchFamily="34" charset="-120"/>
              </a:rPr>
              <a:t>z </a:t>
            </a:r>
            <a:r>
              <a:rPr lang="en-US" sz="1200" spc="-40" dirty="0">
                <a:solidFill>
                  <a:srgbClr val="0D1B2A"/>
                </a:solidFill>
                <a:latin typeface="Calibri" pitchFamily="34" charset="0"/>
                <a:ea typeface="Calibri" pitchFamily="34" charset="-122"/>
                <a:cs typeface="Calibri" pitchFamily="34" charset="-120"/>
              </a:rPr>
              <a:t>przygotowaną mapą. Testuj trasy TC-01 do TC-04 (prosta trasa, </a:t>
            </a:r>
            <a:r>
              <a:rPr lang="en-US" sz="1200" spc="-40" dirty="0" err="1">
                <a:solidFill>
                  <a:srgbClr val="0D1B2A"/>
                </a:solidFill>
                <a:latin typeface="Calibri" pitchFamily="34" charset="0"/>
                <a:ea typeface="Calibri" pitchFamily="34" charset="-122"/>
                <a:cs typeface="Calibri" pitchFamily="34" charset="-120"/>
              </a:rPr>
              <a:t>statyczna</a:t>
            </a:r>
            <a:r>
              <a:rPr lang="en-US" sz="1200" spc="-40" dirty="0">
                <a:solidFill>
                  <a:srgbClr val="0D1B2A"/>
                </a:solidFill>
                <a:latin typeface="Calibri" pitchFamily="34" charset="0"/>
                <a:ea typeface="Calibri" pitchFamily="34" charset="-122"/>
                <a:cs typeface="Calibri" pitchFamily="34" charset="-120"/>
              </a:rPr>
              <a:t>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err="1" smtClean="0">
                <a:solidFill>
                  <a:srgbClr val="0D1B2A"/>
                </a:solidFill>
                <a:latin typeface="Calibri" pitchFamily="34" charset="0"/>
                <a:ea typeface="Calibri" pitchFamily="34" charset="-122"/>
                <a:cs typeface="Calibri" pitchFamily="34" charset="-120"/>
              </a:rPr>
              <a:t>i</a:t>
            </a:r>
            <a:r>
              <a:rPr lang="en-US" sz="1200" spc="-40" dirty="0" smtClean="0">
                <a:solidFill>
                  <a:srgbClr val="0D1B2A"/>
                </a:solidFill>
                <a:latin typeface="Calibri" pitchFamily="34" charset="0"/>
                <a:ea typeface="Calibri" pitchFamily="34" charset="-122"/>
                <a:cs typeface="Calibri" pitchFamily="34" charset="-120"/>
              </a:rPr>
              <a:t> </a:t>
            </a:r>
            <a:r>
              <a:rPr lang="en-US" sz="1200" spc="-40" dirty="0">
                <a:solidFill>
                  <a:srgbClr val="0D1B2A"/>
                </a:solidFill>
                <a:latin typeface="Calibri" pitchFamily="34" charset="0"/>
                <a:ea typeface="Calibri" pitchFamily="34" charset="-122"/>
                <a:cs typeface="Calibri" pitchFamily="34" charset="-120"/>
              </a:rPr>
              <a:t>dynamiczna przeszkoda, waypoints).</a:t>
            </a:r>
            <a:endParaRPr lang="en-US" sz="1200" spc="-40" dirty="0"/>
          </a:p>
        </p:txBody>
      </p:sp>
      <p:sp>
        <p:nvSpPr>
          <p:cNvPr id="26" name="Shape 24"/>
          <p:cNvSpPr/>
          <p:nvPr/>
        </p:nvSpPr>
        <p:spPr>
          <a:xfrm>
            <a:off x="7383753" y="1097280"/>
            <a:ext cx="1625775" cy="2506532"/>
          </a:xfrm>
          <a:prstGeom prst="rect">
            <a:avLst/>
          </a:prstGeom>
          <a:solidFill>
            <a:srgbClr val="FFFFFF"/>
          </a:solidFill>
          <a:ln w="12700">
            <a:solidFill>
              <a:srgbClr val="3730A3"/>
            </a:solidFill>
            <a:prstDash val="solid"/>
          </a:ln>
          <a:effectLst>
            <a:outerShdw blurRad="101600" dist="38100" dir="8100000" algn="bl" rotWithShape="0">
              <a:srgbClr val="000000">
                <a:alpha val="18000"/>
              </a:srgbClr>
            </a:outerShdw>
          </a:effectLst>
        </p:spPr>
      </p:sp>
      <p:sp>
        <p:nvSpPr>
          <p:cNvPr id="27" name="Shape 25"/>
          <p:cNvSpPr/>
          <p:nvPr/>
        </p:nvSpPr>
        <p:spPr>
          <a:xfrm>
            <a:off x="7935021" y="1225296"/>
            <a:ext cx="523238" cy="512064"/>
          </a:xfrm>
          <a:prstGeom prst="ellipse">
            <a:avLst/>
          </a:prstGeom>
          <a:solidFill>
            <a:srgbClr val="4F46E5"/>
          </a:solidFill>
          <a:ln w="12700">
            <a:solidFill>
              <a:srgbClr val="4F46E5"/>
            </a:solidFill>
            <a:prstDash val="solid"/>
          </a:ln>
        </p:spPr>
      </p:sp>
      <p:sp>
        <p:nvSpPr>
          <p:cNvPr id="28" name="Text 26"/>
          <p:cNvSpPr/>
          <p:nvPr/>
        </p:nvSpPr>
        <p:spPr>
          <a:xfrm>
            <a:off x="7935021" y="1225296"/>
            <a:ext cx="523238" cy="512064"/>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5</a:t>
            </a:r>
            <a:endParaRPr lang="en-US" sz="2000" dirty="0">
              <a:solidFill>
                <a:schemeClr val="bg1"/>
              </a:solidFill>
            </a:endParaRPr>
          </a:p>
        </p:txBody>
      </p:sp>
      <p:sp>
        <p:nvSpPr>
          <p:cNvPr id="29" name="Text 27"/>
          <p:cNvSpPr/>
          <p:nvPr/>
        </p:nvSpPr>
        <p:spPr>
          <a:xfrm>
            <a:off x="7458501" y="1810512"/>
            <a:ext cx="1476279" cy="402336"/>
          </a:xfrm>
          <a:prstGeom prst="rect">
            <a:avLst/>
          </a:prstGeom>
          <a:noFill/>
          <a:ln/>
        </p:spPr>
        <p:txBody>
          <a:bodyPr wrap="square" lIns="0" tIns="0" rIns="0" bIns="0" rtlCol="0" anchor="ctr"/>
          <a:lstStyle/>
          <a:p>
            <a:pPr marL="0" indent="0" algn="ctr">
              <a:buNone/>
            </a:pPr>
            <a:r>
              <a:rPr lang="en-US" sz="1400" b="1" dirty="0" err="1">
                <a:solidFill>
                  <a:srgbClr val="4F46E5"/>
                </a:solidFill>
                <a:latin typeface="Calibri" pitchFamily="34" charset="0"/>
                <a:ea typeface="Calibri" pitchFamily="34" charset="-122"/>
                <a:cs typeface="Calibri" pitchFamily="34" charset="-120"/>
              </a:rPr>
              <a:t>Strojenie</a:t>
            </a:r>
            <a:r>
              <a:rPr lang="en-US" sz="1400" b="1" dirty="0">
                <a:solidFill>
                  <a:srgbClr val="4F46E5"/>
                </a:solidFill>
                <a:latin typeface="Calibri" pitchFamily="34" charset="0"/>
                <a:ea typeface="Calibri" pitchFamily="34" charset="-122"/>
                <a:cs typeface="Calibri" pitchFamily="34" charset="-120"/>
              </a:rPr>
              <a:t> </a:t>
            </a:r>
            <a:r>
              <a:rPr lang="pl-PL" sz="1400" b="1" dirty="0" smtClean="0">
                <a:solidFill>
                  <a:srgbClr val="4F46E5"/>
                </a:solidFill>
                <a:latin typeface="Calibri" pitchFamily="34" charset="0"/>
                <a:ea typeface="Calibri" pitchFamily="34" charset="-122"/>
                <a:cs typeface="Calibri" pitchFamily="34" charset="-120"/>
              </a:rPr>
              <a:t/>
            </a:r>
            <a:br>
              <a:rPr lang="pl-PL" sz="1400" b="1" dirty="0" smtClean="0">
                <a:solidFill>
                  <a:srgbClr val="4F46E5"/>
                </a:solidFill>
                <a:latin typeface="Calibri" pitchFamily="34" charset="0"/>
                <a:ea typeface="Calibri" pitchFamily="34" charset="-122"/>
                <a:cs typeface="Calibri" pitchFamily="34" charset="-120"/>
              </a:rPr>
            </a:br>
            <a:r>
              <a:rPr lang="en-US" sz="1400" b="1" dirty="0" err="1" smtClean="0">
                <a:solidFill>
                  <a:srgbClr val="4F46E5"/>
                </a:solidFill>
                <a:latin typeface="Calibri" pitchFamily="34" charset="0"/>
                <a:ea typeface="Calibri" pitchFamily="34" charset="-122"/>
                <a:cs typeface="Calibri" pitchFamily="34" charset="-120"/>
              </a:rPr>
              <a:t>i</a:t>
            </a:r>
            <a:r>
              <a:rPr lang="en-US" sz="1400" b="1" dirty="0" smtClean="0">
                <a:solidFill>
                  <a:srgbClr val="4F46E5"/>
                </a:solidFill>
                <a:latin typeface="Calibri" pitchFamily="34" charset="0"/>
                <a:ea typeface="Calibri" pitchFamily="34" charset="-122"/>
                <a:cs typeface="Calibri" pitchFamily="34" charset="-120"/>
              </a:rPr>
              <a:t> </a:t>
            </a:r>
            <a:r>
              <a:rPr lang="en-US" sz="1400" b="1" dirty="0">
                <a:solidFill>
                  <a:srgbClr val="4F46E5"/>
                </a:solidFill>
                <a:latin typeface="Calibri" pitchFamily="34" charset="0"/>
                <a:ea typeface="Calibri" pitchFamily="34" charset="-122"/>
                <a:cs typeface="Calibri" pitchFamily="34" charset="-120"/>
              </a:rPr>
              <a:t>wdrożenie</a:t>
            </a:r>
            <a:endParaRPr lang="en-US" sz="1400" dirty="0"/>
          </a:p>
        </p:txBody>
      </p:sp>
      <p:sp>
        <p:nvSpPr>
          <p:cNvPr id="30" name="Text 28"/>
          <p:cNvSpPr/>
          <p:nvPr/>
        </p:nvSpPr>
        <p:spPr>
          <a:xfrm>
            <a:off x="7458501" y="2249424"/>
            <a:ext cx="1476279" cy="1213194"/>
          </a:xfrm>
          <a:prstGeom prst="rect">
            <a:avLst/>
          </a:prstGeom>
          <a:noFill/>
          <a:ln/>
        </p:spPr>
        <p:txBody>
          <a:bodyPr wrap="square" lIns="0" tIns="0" rIns="0" bIns="0" rtlCol="0" anchor="t"/>
          <a:lstStyle/>
          <a:p>
            <a:pPr marL="0" indent="0" algn="l">
              <a:buNone/>
            </a:pPr>
            <a:r>
              <a:rPr lang="en-US" sz="1200" spc="-40" dirty="0">
                <a:solidFill>
                  <a:srgbClr val="0D1B2A"/>
                </a:solidFill>
                <a:latin typeface="Calibri" pitchFamily="34" charset="0"/>
                <a:ea typeface="Calibri" pitchFamily="34" charset="-122"/>
                <a:cs typeface="Calibri" pitchFamily="34" charset="-120"/>
              </a:rPr>
              <a:t>Dostosuj parametry na podstawie wyników testów. Uruchom na prawdziwym robocie. Monitoruj RMSE, </a:t>
            </a:r>
            <a:r>
              <a:rPr lang="en-US" sz="1200" spc="-40" dirty="0" err="1">
                <a:solidFill>
                  <a:srgbClr val="0D1B2A"/>
                </a:solidFill>
                <a:latin typeface="Calibri" pitchFamily="34" charset="0"/>
                <a:ea typeface="Calibri" pitchFamily="34" charset="-122"/>
                <a:cs typeface="Calibri" pitchFamily="34" charset="-120"/>
              </a:rPr>
              <a:t>kolizje</a:t>
            </a:r>
            <a:r>
              <a:rPr lang="en-US" sz="1200" spc="-40" dirty="0">
                <a:solidFill>
                  <a:srgbClr val="0D1B2A"/>
                </a:solidFill>
                <a:latin typeface="Calibri" pitchFamily="34" charset="0"/>
                <a:ea typeface="Calibri" pitchFamily="34" charset="-122"/>
                <a:cs typeface="Calibri" pitchFamily="34" charset="-120"/>
              </a:rPr>
              <a:t> </a:t>
            </a:r>
            <a:r>
              <a:rPr lang="pl-PL" sz="1200" spc="-40" dirty="0" smtClean="0">
                <a:solidFill>
                  <a:srgbClr val="0D1B2A"/>
                </a:solidFill>
                <a:latin typeface="Calibri" pitchFamily="34" charset="0"/>
                <a:ea typeface="Calibri" pitchFamily="34" charset="-122"/>
                <a:cs typeface="Calibri" pitchFamily="34" charset="-120"/>
              </a:rPr>
              <a:t/>
            </a:r>
            <a:br>
              <a:rPr lang="pl-PL" sz="1200" spc="-40" dirty="0" smtClean="0">
                <a:solidFill>
                  <a:srgbClr val="0D1B2A"/>
                </a:solidFill>
                <a:latin typeface="Calibri" pitchFamily="34" charset="0"/>
                <a:ea typeface="Calibri" pitchFamily="34" charset="-122"/>
                <a:cs typeface="Calibri" pitchFamily="34" charset="-120"/>
              </a:rPr>
            </a:br>
            <a:r>
              <a:rPr lang="en-US" sz="1200" spc="-40" dirty="0" err="1" smtClean="0">
                <a:solidFill>
                  <a:srgbClr val="0D1B2A"/>
                </a:solidFill>
                <a:latin typeface="Calibri" pitchFamily="34" charset="0"/>
                <a:ea typeface="Calibri" pitchFamily="34" charset="-122"/>
                <a:cs typeface="Calibri" pitchFamily="34" charset="-120"/>
              </a:rPr>
              <a:t>i</a:t>
            </a:r>
            <a:r>
              <a:rPr lang="en-US" sz="1200" spc="-40" dirty="0" smtClean="0">
                <a:solidFill>
                  <a:srgbClr val="0D1B2A"/>
                </a:solidFill>
                <a:latin typeface="Calibri" pitchFamily="34" charset="0"/>
                <a:ea typeface="Calibri" pitchFamily="34" charset="-122"/>
                <a:cs typeface="Calibri" pitchFamily="34" charset="-120"/>
              </a:rPr>
              <a:t> </a:t>
            </a:r>
            <a:r>
              <a:rPr lang="en-US" sz="1200" spc="-40" dirty="0">
                <a:solidFill>
                  <a:srgbClr val="0D1B2A"/>
                </a:solidFill>
                <a:latin typeface="Calibri" pitchFamily="34" charset="0"/>
                <a:ea typeface="Calibri" pitchFamily="34" charset="-122"/>
                <a:cs typeface="Calibri" pitchFamily="34" charset="-120"/>
              </a:rPr>
              <a:t>zużycie energii przez rosbag2.</a:t>
            </a:r>
            <a:endParaRPr lang="en-US" sz="1200" spc="-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46E5"/>
          </a:solidFill>
          <a:ln w="12700">
            <a:solidFill>
              <a:srgbClr val="4F46E5"/>
            </a:solidFill>
            <a:prstDash val="solid"/>
          </a:ln>
        </p:spPr>
      </p:sp>
      <p:sp>
        <p:nvSpPr>
          <p:cNvPr id="3" name="Text 1"/>
          <p:cNvSpPr/>
          <p:nvPr/>
        </p:nvSpPr>
        <p:spPr>
          <a:xfrm>
            <a:off x="228600" y="73152"/>
            <a:ext cx="6400800" cy="256032"/>
          </a:xfrm>
          <a:prstGeom prst="rect">
            <a:avLst/>
          </a:prstGeom>
          <a:noFill/>
          <a:ln/>
        </p:spPr>
        <p:txBody>
          <a:bodyPr wrap="square" lIns="0" tIns="0" rIns="0" bIns="0" rtlCol="0" anchor="ctr"/>
          <a:lstStyle/>
          <a:p>
            <a:pPr marL="0" indent="0">
              <a:buNone/>
            </a:pPr>
            <a:r>
              <a:rPr lang="en-US" sz="850" b="1" kern="0" spc="250" dirty="0">
                <a:solidFill>
                  <a:srgbClr val="4F46E5"/>
                </a:solidFill>
                <a:latin typeface="Trebuchet MS" pitchFamily="34" charset="0"/>
                <a:ea typeface="Trebuchet MS" pitchFamily="34" charset="-122"/>
                <a:cs typeface="Trebuchet MS" pitchFamily="34" charset="-120"/>
              </a:rPr>
              <a:t>SEKCJA 4 | MONITORING</a:t>
            </a:r>
            <a:endParaRPr lang="en-US" sz="850" dirty="0"/>
          </a:p>
        </p:txBody>
      </p:sp>
      <p:sp>
        <p:nvSpPr>
          <p:cNvPr id="4" name="Text 2"/>
          <p:cNvSpPr/>
          <p:nvPr/>
        </p:nvSpPr>
        <p:spPr>
          <a:xfrm>
            <a:off x="228600" y="292608"/>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Monitoring jakości nawigacji Nav2 w produkcji</a:t>
            </a:r>
            <a:endParaRPr lang="en-US" sz="2200" dirty="0"/>
          </a:p>
        </p:txBody>
      </p:sp>
      <p:sp>
        <p:nvSpPr>
          <p:cNvPr id="5" name="Shape 3"/>
          <p:cNvSpPr/>
          <p:nvPr/>
        </p:nvSpPr>
        <p:spPr>
          <a:xfrm>
            <a:off x="64008" y="0"/>
            <a:ext cx="9079992" cy="960120"/>
          </a:xfrm>
          <a:prstGeom prst="rect">
            <a:avLst/>
          </a:prstGeom>
          <a:solidFill>
            <a:srgbClr val="0D1B2A"/>
          </a:solidFill>
          <a:ln w="12700">
            <a:solidFill>
              <a:srgbClr val="0D1B2A"/>
            </a:solidFill>
            <a:prstDash val="solid"/>
          </a:ln>
        </p:spPr>
      </p:sp>
      <p:sp>
        <p:nvSpPr>
          <p:cNvPr id="6" name="Shape 4"/>
          <p:cNvSpPr/>
          <p:nvPr/>
        </p:nvSpPr>
        <p:spPr>
          <a:xfrm>
            <a:off x="274320" y="1115568"/>
            <a:ext cx="8595360" cy="2615991"/>
          </a:xfrm>
          <a:prstGeom prst="rect">
            <a:avLst/>
          </a:prstGeom>
          <a:solidFill>
            <a:srgbClr val="FFFFFF"/>
          </a:solidFill>
          <a:ln w="12700">
            <a:solidFill>
              <a:srgbClr val="E2EBF3"/>
            </a:solidFill>
            <a:prstDash val="solid"/>
          </a:ln>
          <a:effectLst>
            <a:outerShdw blurRad="101600" dist="38100" dir="8100000" algn="bl" rotWithShape="0">
              <a:srgbClr val="000000">
                <a:alpha val="18000"/>
              </a:srgbClr>
            </a:outerShdw>
          </a:effectLst>
        </p:spPr>
      </p:sp>
      <p:sp>
        <p:nvSpPr>
          <p:cNvPr id="7" name="Text 5"/>
          <p:cNvSpPr/>
          <p:nvPr/>
        </p:nvSpPr>
        <p:spPr>
          <a:xfrm>
            <a:off x="369793" y="1207008"/>
            <a:ext cx="8390965" cy="2524551"/>
          </a:xfrm>
          <a:prstGeom prst="rect">
            <a:avLst/>
          </a:prstGeom>
          <a:noFill/>
          <a:ln/>
        </p:spPr>
        <p:txBody>
          <a:bodyPr wrap="square" lIns="127000" tIns="127000" rIns="127000" bIns="127000" rtlCol="0" anchor="t"/>
          <a:lstStyle/>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/navigate_to_pose/_action/feedback</a:t>
            </a:r>
            <a:r>
              <a:rPr lang="en-US" sz="1400" spc="-40" dirty="0">
                <a:solidFill>
                  <a:srgbClr val="0D1B2A"/>
                </a:solidFill>
                <a:latin typeface="Calibri" pitchFamily="34" charset="0"/>
                <a:ea typeface="Calibri" pitchFamily="34" charset="-122"/>
                <a:cs typeface="Calibri" pitchFamily="34" charset="-120"/>
              </a:rPr>
              <a:t>: distance_remaining, estimated_time_remaining, current_pose – co 100 ms</a:t>
            </a:r>
            <a:endParaRPr lang="en-US" sz="1400" spc="-40" dirty="0"/>
          </a:p>
          <a:p>
            <a:pPr marL="144000" indent="-144000">
              <a:spcAft>
                <a:spcPts val="600"/>
              </a:spcAft>
              <a:buSzPct val="100000"/>
              <a:buChar char="•"/>
            </a:pPr>
            <a:r>
              <a:rPr lang="en-US" sz="1400" b="1" spc="-40" dirty="0">
                <a:solidFill>
                  <a:srgbClr val="0D1B2A"/>
                </a:solidFill>
                <a:latin typeface="Calibri" pitchFamily="34" charset="0"/>
                <a:ea typeface="Calibri" pitchFamily="34" charset="-122"/>
                <a:cs typeface="Calibri" pitchFamily="34" charset="-120"/>
              </a:rPr>
              <a:t>/local_costmap/costmap_updates i /global_costmap/costmap_updates</a:t>
            </a:r>
            <a:r>
              <a:rPr lang="en-US" sz="1400" spc="-40" dirty="0">
                <a:solidFill>
                  <a:srgbClr val="0D1B2A"/>
                </a:solidFill>
                <a:latin typeface="Calibri" pitchFamily="34" charset="0"/>
                <a:ea typeface="Calibri" pitchFamily="34" charset="-122"/>
                <a:cs typeface="Calibri" pitchFamily="34" charset="-120"/>
              </a:rPr>
              <a:t>: weryfikacja aktualizacji warstw kosztów</a:t>
            </a:r>
            <a:endParaRPr lang="en-US" sz="1400" spc="-4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/plan</a:t>
            </a:r>
            <a:r>
              <a:rPr lang="en-US" sz="1400" dirty="0">
                <a:solidFill>
                  <a:srgbClr val="0D1B2A"/>
                </a:solidFill>
                <a:latin typeface="Calibri" pitchFamily="34" charset="0"/>
                <a:ea typeface="Calibri" pitchFamily="34" charset="-122"/>
                <a:cs typeface="Calibri" pitchFamily="34" charset="-120"/>
              </a:rPr>
              <a:t>: globalny plan wyznaczony przez Planner Server; liczba punktów i długość trasy</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/cmd_vel</a:t>
            </a:r>
            <a:r>
              <a:rPr lang="en-US" sz="1400" dirty="0">
                <a:solidFill>
                  <a:srgbClr val="0D1B2A"/>
                </a:solidFill>
                <a:latin typeface="Calibri" pitchFamily="34" charset="0"/>
                <a:ea typeface="Calibri" pitchFamily="34" charset="-122"/>
                <a:cs typeface="Calibri" pitchFamily="34" charset="-120"/>
              </a:rPr>
              <a:t>: aktualna komenda prędkości; logujesz do rosbag2 i analizujesz energię (integral τ*dq)</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Nav2 diagnostics topic /diagnostics</a:t>
            </a:r>
            <a:r>
              <a:rPr lang="en-US" sz="1400" dirty="0">
                <a:solidFill>
                  <a:srgbClr val="0D1B2A"/>
                </a:solidFill>
                <a:latin typeface="Calibri" pitchFamily="34" charset="0"/>
                <a:ea typeface="Calibri" pitchFamily="34" charset="-122"/>
                <a:cs typeface="Calibri" pitchFamily="34" charset="-120"/>
              </a:rPr>
              <a:t>: stan lifecycle nodes, częstość planowania, czas odpowiedzi serwera</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rqt_robot_monitor</a:t>
            </a:r>
            <a:r>
              <a:rPr lang="en-US" sz="1400" dirty="0">
                <a:solidFill>
                  <a:srgbClr val="0D1B2A"/>
                </a:solidFill>
                <a:latin typeface="Calibri" pitchFamily="34" charset="0"/>
                <a:ea typeface="Calibri" pitchFamily="34" charset="-122"/>
                <a:cs typeface="Calibri" pitchFamily="34" charset="-120"/>
              </a:rPr>
              <a:t>: graficzna wizualizacja /diagnostics; wbudowany w nav2_bringup</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Custom metrics node</a:t>
            </a:r>
            <a:r>
              <a:rPr lang="en-US" sz="1400" dirty="0">
                <a:solidFill>
                  <a:srgbClr val="0D1B2A"/>
                </a:solidFill>
                <a:latin typeface="Calibri" pitchFamily="34" charset="0"/>
                <a:ea typeface="Calibri" pitchFamily="34" charset="-122"/>
                <a:cs typeface="Calibri" pitchFamily="34" charset="-120"/>
              </a:rPr>
              <a:t>: subskrybuje /odom i cel; liczy RMSE pozycji, czas misji i liczbę replanu online</a:t>
            </a:r>
            <a:endParaRPr lang="en-US" sz="1400" dirty="0"/>
          </a:p>
          <a:p>
            <a:pPr marL="144000" indent="-144000">
              <a:spcAft>
                <a:spcPts val="600"/>
              </a:spcAft>
              <a:buSzPct val="100000"/>
              <a:buChar char="•"/>
            </a:pPr>
            <a:r>
              <a:rPr lang="en-US" sz="1400" b="1" dirty="0">
                <a:solidFill>
                  <a:srgbClr val="0D1B2A"/>
                </a:solidFill>
                <a:latin typeface="Calibri" pitchFamily="34" charset="0"/>
                <a:ea typeface="Calibri" pitchFamily="34" charset="-122"/>
                <a:cs typeface="Calibri" pitchFamily="34" charset="-120"/>
              </a:rPr>
              <a:t>Grafana + ROSBridge</a:t>
            </a:r>
            <a:r>
              <a:rPr lang="en-US" sz="1400" dirty="0">
                <a:solidFill>
                  <a:srgbClr val="0D1B2A"/>
                </a:solidFill>
                <a:latin typeface="Calibri" pitchFamily="34" charset="0"/>
                <a:ea typeface="Calibri" pitchFamily="34" charset="-122"/>
                <a:cs typeface="Calibri" pitchFamily="34" charset="-120"/>
              </a:rPr>
              <a:t>: eksport metryk Nav2 do dashboardu Grafana dla monitorowania floty robotów</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82880"/>
            <a:ext cx="8503920" cy="329184"/>
          </a:xfrm>
          <a:prstGeom prst="rect">
            <a:avLst/>
          </a:prstGeom>
          <a:noFill/>
          <a:ln/>
        </p:spPr>
        <p:txBody>
          <a:bodyPr wrap="square" lIns="0" tIns="0" rIns="0" bIns="0" rtlCol="0" anchor="ctr"/>
          <a:lstStyle/>
          <a:p>
            <a:pPr marL="0" indent="0">
              <a:buNone/>
            </a:pPr>
            <a:r>
              <a:rPr lang="en-US" sz="900" b="1" kern="0" spc="400" dirty="0">
                <a:solidFill>
                  <a:srgbClr val="4F46E5"/>
                </a:solidFill>
                <a:latin typeface="Calibri" pitchFamily="34" charset="0"/>
                <a:ea typeface="Calibri" pitchFamily="34" charset="-122"/>
                <a:cs typeface="Calibri" pitchFamily="34" charset="-120"/>
              </a:rPr>
              <a:t>PODSUMOWANIE</a:t>
            </a:r>
            <a:endParaRPr lang="en-US" sz="900" dirty="0"/>
          </a:p>
        </p:txBody>
      </p:sp>
      <p:sp>
        <p:nvSpPr>
          <p:cNvPr id="4" name="Shape 2"/>
          <p:cNvSpPr/>
          <p:nvPr/>
        </p:nvSpPr>
        <p:spPr>
          <a:xfrm>
            <a:off x="320040" y="694944"/>
            <a:ext cx="8485632" cy="694944"/>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5" name="Shape 3"/>
          <p:cNvSpPr/>
          <p:nvPr/>
        </p:nvSpPr>
        <p:spPr>
          <a:xfrm>
            <a:off x="320040" y="694944"/>
            <a:ext cx="548640" cy="694944"/>
          </a:xfrm>
          <a:prstGeom prst="rect">
            <a:avLst/>
          </a:prstGeom>
          <a:solidFill>
            <a:srgbClr val="3730A3"/>
          </a:solidFill>
          <a:ln w="12700">
            <a:solidFill>
              <a:srgbClr val="3730A3"/>
            </a:solidFill>
            <a:prstDash val="solid"/>
          </a:ln>
        </p:spPr>
      </p:sp>
      <p:sp>
        <p:nvSpPr>
          <p:cNvPr id="6" name="Text 4"/>
          <p:cNvSpPr/>
          <p:nvPr/>
        </p:nvSpPr>
        <p:spPr>
          <a:xfrm>
            <a:off x="320040" y="694944"/>
            <a:ext cx="548640" cy="69494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1005840" y="731520"/>
            <a:ext cx="7680960" cy="621792"/>
          </a:xfrm>
          <a:prstGeom prst="rect">
            <a:avLst/>
          </a:prstGeom>
          <a:noFill/>
          <a:ln/>
        </p:spPr>
        <p:txBody>
          <a:bodyPr wrap="square" lIns="0" tIns="0" rIns="0" bIns="0" rtlCol="0" anchor="ctr"/>
          <a:lstStyle/>
          <a:p>
            <a:pPr marL="0" indent="0">
              <a:buNone/>
            </a:pPr>
            <a:r>
              <a:rPr lang="en-US" sz="1400" b="1" dirty="0">
                <a:solidFill>
                  <a:srgbClr val="F0F4F8"/>
                </a:solidFill>
                <a:latin typeface="Calibri" pitchFamily="34" charset="0"/>
                <a:ea typeface="Calibri" pitchFamily="34" charset="-122"/>
                <a:cs typeface="Calibri" pitchFamily="34" charset="-120"/>
              </a:rPr>
              <a:t>Nav2</a:t>
            </a:r>
            <a:r>
              <a:rPr lang="en-US" sz="1400" dirty="0">
                <a:solidFill>
                  <a:srgbClr val="F0F4F8"/>
                </a:solidFill>
                <a:latin typeface="Calibri" pitchFamily="34" charset="0"/>
                <a:ea typeface="Calibri" pitchFamily="34" charset="-122"/>
                <a:cs typeface="Calibri" pitchFamily="34" charset="-120"/>
              </a:rPr>
              <a:t> to modularny stos nawigacyjny ROS 2 oparty na BehaviorTree, lifecycle management i architekturze wtyczek.</a:t>
            </a:r>
            <a:endParaRPr lang="en-US" sz="1400" dirty="0"/>
          </a:p>
        </p:txBody>
      </p:sp>
      <p:sp>
        <p:nvSpPr>
          <p:cNvPr id="8" name="Shape 6"/>
          <p:cNvSpPr/>
          <p:nvPr/>
        </p:nvSpPr>
        <p:spPr>
          <a:xfrm>
            <a:off x="320040" y="1499616"/>
            <a:ext cx="8485632" cy="694944"/>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9" name="Shape 7"/>
          <p:cNvSpPr/>
          <p:nvPr/>
        </p:nvSpPr>
        <p:spPr>
          <a:xfrm>
            <a:off x="320040" y="1499616"/>
            <a:ext cx="548640" cy="694944"/>
          </a:xfrm>
          <a:prstGeom prst="rect">
            <a:avLst/>
          </a:prstGeom>
          <a:solidFill>
            <a:srgbClr val="3730A3"/>
          </a:solidFill>
          <a:ln w="12700">
            <a:solidFill>
              <a:srgbClr val="3730A3"/>
            </a:solidFill>
            <a:prstDash val="solid"/>
          </a:ln>
        </p:spPr>
      </p:sp>
      <p:sp>
        <p:nvSpPr>
          <p:cNvPr id="10" name="Text 8"/>
          <p:cNvSpPr/>
          <p:nvPr/>
        </p:nvSpPr>
        <p:spPr>
          <a:xfrm>
            <a:off x="320040" y="1499616"/>
            <a:ext cx="548640" cy="69494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1" name="Text 9"/>
          <p:cNvSpPr/>
          <p:nvPr/>
        </p:nvSpPr>
        <p:spPr>
          <a:xfrm>
            <a:off x="1005840" y="1536192"/>
            <a:ext cx="7680960" cy="621792"/>
          </a:xfrm>
          <a:prstGeom prst="rect">
            <a:avLst/>
          </a:prstGeom>
          <a:noFill/>
          <a:ln/>
        </p:spPr>
        <p:txBody>
          <a:bodyPr wrap="square" lIns="0" tIns="0" rIns="0" bIns="0" rtlCol="0" anchor="ctr"/>
          <a:lstStyle/>
          <a:p>
            <a:pPr marL="0" indent="0">
              <a:buNone/>
            </a:pPr>
            <a:r>
              <a:rPr lang="en-US" sz="1400" b="1" dirty="0">
                <a:solidFill>
                  <a:srgbClr val="F0F4F8"/>
                </a:solidFill>
                <a:latin typeface="Calibri" pitchFamily="34" charset="0"/>
                <a:ea typeface="Calibri" pitchFamily="34" charset="-122"/>
                <a:cs typeface="Calibri" pitchFamily="34" charset="-120"/>
              </a:rPr>
              <a:t>Dwa poziomy map: </a:t>
            </a:r>
            <a:r>
              <a:rPr lang="en-US" sz="1400" dirty="0">
                <a:solidFill>
                  <a:srgbClr val="F0F4F8"/>
                </a:solidFill>
                <a:latin typeface="Calibri" pitchFamily="34" charset="0"/>
                <a:ea typeface="Calibri" pitchFamily="34" charset="-122"/>
                <a:cs typeface="Calibri" pitchFamily="34" charset="-120"/>
              </a:rPr>
              <a:t>global costmap (trasa A*) i local costmap (śledzenie z unikaniem przeszkód dynamicznych).</a:t>
            </a:r>
            <a:endParaRPr lang="en-US" sz="1400" dirty="0"/>
          </a:p>
        </p:txBody>
      </p:sp>
      <p:sp>
        <p:nvSpPr>
          <p:cNvPr id="12" name="Shape 10"/>
          <p:cNvSpPr/>
          <p:nvPr/>
        </p:nvSpPr>
        <p:spPr>
          <a:xfrm>
            <a:off x="320040" y="2304288"/>
            <a:ext cx="8485632" cy="694944"/>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13" name="Shape 11"/>
          <p:cNvSpPr/>
          <p:nvPr/>
        </p:nvSpPr>
        <p:spPr>
          <a:xfrm>
            <a:off x="320040" y="2304288"/>
            <a:ext cx="548640" cy="694944"/>
          </a:xfrm>
          <a:prstGeom prst="rect">
            <a:avLst/>
          </a:prstGeom>
          <a:solidFill>
            <a:srgbClr val="3730A3"/>
          </a:solidFill>
          <a:ln w="12700">
            <a:solidFill>
              <a:srgbClr val="3730A3"/>
            </a:solidFill>
            <a:prstDash val="solid"/>
          </a:ln>
        </p:spPr>
      </p:sp>
      <p:sp>
        <p:nvSpPr>
          <p:cNvPr id="14" name="Text 12"/>
          <p:cNvSpPr/>
          <p:nvPr/>
        </p:nvSpPr>
        <p:spPr>
          <a:xfrm>
            <a:off x="320040" y="2304288"/>
            <a:ext cx="548640" cy="69494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5" name="Text 13"/>
          <p:cNvSpPr/>
          <p:nvPr/>
        </p:nvSpPr>
        <p:spPr>
          <a:xfrm>
            <a:off x="1005840" y="2340864"/>
            <a:ext cx="7680960" cy="621792"/>
          </a:xfrm>
          <a:prstGeom prst="rect">
            <a:avLst/>
          </a:prstGeom>
          <a:noFill/>
          <a:ln/>
        </p:spPr>
        <p:txBody>
          <a:bodyPr wrap="square" lIns="0" tIns="0" rIns="0" bIns="0" rtlCol="0" anchor="ctr"/>
          <a:lstStyle/>
          <a:p>
            <a:pPr marL="0" indent="0">
              <a:buNone/>
            </a:pPr>
            <a:r>
              <a:rPr lang="en-US" sz="1400" b="1" dirty="0">
                <a:solidFill>
                  <a:srgbClr val="F0F4F8"/>
                </a:solidFill>
                <a:latin typeface="Calibri" pitchFamily="34" charset="0"/>
                <a:ea typeface="Calibri" pitchFamily="34" charset="-122"/>
                <a:cs typeface="Calibri" pitchFamily="34" charset="-120"/>
              </a:rPr>
              <a:t>Planiści globalni </a:t>
            </a:r>
            <a:r>
              <a:rPr lang="en-US" sz="1400" dirty="0">
                <a:solidFill>
                  <a:srgbClr val="F0F4F8"/>
                </a:solidFill>
                <a:latin typeface="Calibri" pitchFamily="34" charset="0"/>
                <a:ea typeface="Calibri" pitchFamily="34" charset="-122"/>
                <a:cs typeface="Calibri" pitchFamily="34" charset="-120"/>
              </a:rPr>
              <a:t>(NavFn, SmacHybrid) i lokalni (DWB, RPP, MPPI) są wymieniane przez plik YAML bez rekompilacji.</a:t>
            </a:r>
            <a:endParaRPr lang="en-US" sz="1400" dirty="0"/>
          </a:p>
        </p:txBody>
      </p:sp>
      <p:sp>
        <p:nvSpPr>
          <p:cNvPr id="16" name="Shape 14"/>
          <p:cNvSpPr/>
          <p:nvPr/>
        </p:nvSpPr>
        <p:spPr>
          <a:xfrm>
            <a:off x="320040" y="3108960"/>
            <a:ext cx="8485632" cy="694944"/>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17" name="Shape 15"/>
          <p:cNvSpPr/>
          <p:nvPr/>
        </p:nvSpPr>
        <p:spPr>
          <a:xfrm>
            <a:off x="320040" y="3108960"/>
            <a:ext cx="548640" cy="694944"/>
          </a:xfrm>
          <a:prstGeom prst="rect">
            <a:avLst/>
          </a:prstGeom>
          <a:solidFill>
            <a:srgbClr val="3730A3"/>
          </a:solidFill>
          <a:ln w="12700">
            <a:solidFill>
              <a:srgbClr val="3730A3"/>
            </a:solidFill>
            <a:prstDash val="solid"/>
          </a:ln>
        </p:spPr>
      </p:sp>
      <p:sp>
        <p:nvSpPr>
          <p:cNvPr id="18" name="Text 16"/>
          <p:cNvSpPr/>
          <p:nvPr/>
        </p:nvSpPr>
        <p:spPr>
          <a:xfrm>
            <a:off x="320040" y="3108960"/>
            <a:ext cx="548640" cy="69494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9" name="Text 17"/>
          <p:cNvSpPr/>
          <p:nvPr/>
        </p:nvSpPr>
        <p:spPr>
          <a:xfrm>
            <a:off x="1005840" y="3145536"/>
            <a:ext cx="7680960" cy="621792"/>
          </a:xfrm>
          <a:prstGeom prst="rect">
            <a:avLst/>
          </a:prstGeom>
          <a:noFill/>
          <a:ln/>
        </p:spPr>
        <p:txBody>
          <a:bodyPr wrap="square" lIns="0" tIns="0" rIns="0" bIns="0" rtlCol="0" anchor="ctr"/>
          <a:lstStyle/>
          <a:p>
            <a:pPr marL="0" indent="0">
              <a:buNone/>
            </a:pPr>
            <a:r>
              <a:rPr lang="en-US" sz="1400" b="1" dirty="0">
                <a:solidFill>
                  <a:srgbClr val="F0F4F8"/>
                </a:solidFill>
                <a:latin typeface="Calibri" pitchFamily="34" charset="0"/>
                <a:ea typeface="Calibri" pitchFamily="34" charset="-122"/>
                <a:cs typeface="Calibri" pitchFamily="34" charset="-120"/>
              </a:rPr>
              <a:t>Integracja z humanoidem wymaga</a:t>
            </a:r>
            <a:r>
              <a:rPr lang="en-US" sz="1400" dirty="0">
                <a:solidFill>
                  <a:srgbClr val="F0F4F8"/>
                </a:solidFill>
                <a:latin typeface="Calibri" pitchFamily="34" charset="0"/>
                <a:ea typeface="Calibri" pitchFamily="34" charset="-122"/>
                <a:cs typeface="Calibri" pitchFamily="34" charset="-120"/>
              </a:rPr>
              <a:t>: polygon footprint, cmd_vel→WBC bridge, ZMP critic i dostosowanej częstości kontrolera.</a:t>
            </a:r>
            <a:endParaRPr lang="en-US" sz="1400" dirty="0"/>
          </a:p>
        </p:txBody>
      </p:sp>
      <p:sp>
        <p:nvSpPr>
          <p:cNvPr id="20" name="Shape 18"/>
          <p:cNvSpPr/>
          <p:nvPr/>
        </p:nvSpPr>
        <p:spPr>
          <a:xfrm>
            <a:off x="320040" y="3913632"/>
            <a:ext cx="8485632" cy="694944"/>
          </a:xfrm>
          <a:prstGeom prst="rect">
            <a:avLst/>
          </a:prstGeom>
          <a:solidFill>
            <a:srgbClr val="1A3550"/>
          </a:solidFill>
          <a:ln w="12700">
            <a:solidFill>
              <a:srgbClr val="3730A3"/>
            </a:solidFill>
            <a:prstDash val="solid"/>
          </a:ln>
          <a:effectLst>
            <a:outerShdw blurRad="101600" dist="38100" dir="8100000" algn="bl" rotWithShape="0">
              <a:srgbClr val="000000">
                <a:alpha val="18000"/>
              </a:srgbClr>
            </a:outerShdw>
          </a:effectLst>
        </p:spPr>
      </p:sp>
      <p:sp>
        <p:nvSpPr>
          <p:cNvPr id="21" name="Shape 19"/>
          <p:cNvSpPr/>
          <p:nvPr/>
        </p:nvSpPr>
        <p:spPr>
          <a:xfrm>
            <a:off x="320040" y="3913632"/>
            <a:ext cx="548640" cy="694944"/>
          </a:xfrm>
          <a:prstGeom prst="rect">
            <a:avLst/>
          </a:prstGeom>
          <a:solidFill>
            <a:srgbClr val="3730A3"/>
          </a:solidFill>
          <a:ln w="12700">
            <a:solidFill>
              <a:srgbClr val="3730A3"/>
            </a:solidFill>
            <a:prstDash val="solid"/>
          </a:ln>
        </p:spPr>
      </p:sp>
      <p:sp>
        <p:nvSpPr>
          <p:cNvPr id="22" name="Text 20"/>
          <p:cNvSpPr/>
          <p:nvPr/>
        </p:nvSpPr>
        <p:spPr>
          <a:xfrm>
            <a:off x="320040" y="3913632"/>
            <a:ext cx="548640" cy="69494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3" name="Text 21"/>
          <p:cNvSpPr/>
          <p:nvPr/>
        </p:nvSpPr>
        <p:spPr>
          <a:xfrm>
            <a:off x="1005840" y="3950208"/>
            <a:ext cx="7680960" cy="621792"/>
          </a:xfrm>
          <a:prstGeom prst="rect">
            <a:avLst/>
          </a:prstGeom>
          <a:noFill/>
          <a:ln/>
        </p:spPr>
        <p:txBody>
          <a:bodyPr wrap="square" lIns="0" tIns="0" rIns="0" bIns="0" rtlCol="0" anchor="ctr"/>
          <a:lstStyle/>
          <a:p>
            <a:pPr marL="0" indent="0">
              <a:buNone/>
            </a:pPr>
            <a:r>
              <a:rPr lang="en-US" sz="1400" b="1" dirty="0">
                <a:solidFill>
                  <a:srgbClr val="F0F4F8"/>
                </a:solidFill>
                <a:latin typeface="Calibri" pitchFamily="34" charset="0"/>
                <a:ea typeface="Calibri" pitchFamily="34" charset="-122"/>
                <a:cs typeface="Calibri" pitchFamily="34" charset="-120"/>
              </a:rPr>
              <a:t>Pipeline wdrożenia</a:t>
            </a:r>
            <a:r>
              <a:rPr lang="en-US" sz="1400" dirty="0">
                <a:solidFill>
                  <a:srgbClr val="F0F4F8"/>
                </a:solidFill>
                <a:latin typeface="Calibri" pitchFamily="34" charset="0"/>
                <a:ea typeface="Calibri" pitchFamily="34" charset="-122"/>
                <a:cs typeface="Calibri" pitchFamily="34" charset="-120"/>
              </a:rPr>
              <a:t>: URDF → SLAM (mapa) → nav2_params.yaml → testy SIL/Gazebo → strojenie → robot rzeczywisty.</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46E5"/>
          </a:solidFill>
          <a:ln w="12700">
            <a:solidFill>
              <a:srgbClr val="4F46E5"/>
            </a:solidFill>
            <a:prstDash val="solid"/>
          </a:ln>
        </p:spPr>
      </p:sp>
      <p:sp>
        <p:nvSpPr>
          <p:cNvPr id="3" name="Text 1"/>
          <p:cNvSpPr/>
          <p:nvPr/>
        </p:nvSpPr>
        <p:spPr>
          <a:xfrm>
            <a:off x="320040" y="146304"/>
            <a:ext cx="8503920" cy="256032"/>
          </a:xfrm>
          <a:prstGeom prst="rect">
            <a:avLst/>
          </a:prstGeom>
          <a:noFill/>
          <a:ln/>
        </p:spPr>
        <p:txBody>
          <a:bodyPr wrap="square" lIns="0" tIns="0" rIns="0" bIns="0" rtlCol="0" anchor="ctr"/>
          <a:lstStyle/>
          <a:p>
            <a:pPr marL="0" indent="0">
              <a:buNone/>
            </a:pPr>
            <a:r>
              <a:rPr lang="en-US" sz="800" b="1" kern="0" spc="300" dirty="0">
                <a:solidFill>
                  <a:srgbClr val="4F46E5"/>
                </a:solidFill>
                <a:latin typeface="Calibri" pitchFamily="34" charset="0"/>
                <a:ea typeface="Calibri" pitchFamily="34" charset="-122"/>
                <a:cs typeface="Calibri" pitchFamily="34" charset="-120"/>
              </a:rPr>
              <a:t>PYTANIA I ZADANIE</a:t>
            </a:r>
            <a:endParaRPr lang="en-US" sz="800" dirty="0"/>
          </a:p>
        </p:txBody>
      </p:sp>
      <p:sp>
        <p:nvSpPr>
          <p:cNvPr id="4" name="Text 2"/>
          <p:cNvSpPr/>
          <p:nvPr/>
        </p:nvSpPr>
        <p:spPr>
          <a:xfrm>
            <a:off x="320040" y="438912"/>
            <a:ext cx="8503920" cy="384048"/>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Pytania problemowe i zadanie do analizy</a:t>
            </a:r>
            <a:endParaRPr lang="en-US" sz="1800" dirty="0"/>
          </a:p>
        </p:txBody>
      </p:sp>
      <p:sp>
        <p:nvSpPr>
          <p:cNvPr id="5" name="Shape 3"/>
          <p:cNvSpPr/>
          <p:nvPr/>
        </p:nvSpPr>
        <p:spPr>
          <a:xfrm>
            <a:off x="320040" y="914400"/>
            <a:ext cx="8485632" cy="22860"/>
          </a:xfrm>
          <a:prstGeom prst="rect">
            <a:avLst/>
          </a:prstGeom>
          <a:solidFill>
            <a:srgbClr val="3730A3"/>
          </a:solidFill>
          <a:ln w="12700">
            <a:solidFill>
              <a:srgbClr val="3730A3"/>
            </a:solidFill>
            <a:prstDash val="solid"/>
          </a:ln>
        </p:spPr>
      </p:sp>
      <p:sp>
        <p:nvSpPr>
          <p:cNvPr id="6" name="Text 4"/>
          <p:cNvSpPr/>
          <p:nvPr/>
        </p:nvSpPr>
        <p:spPr>
          <a:xfrm>
            <a:off x="457200" y="969264"/>
            <a:ext cx="7772400" cy="2377440"/>
          </a:xfrm>
          <a:prstGeom prst="rect">
            <a:avLst/>
          </a:prstGeom>
          <a:noFill/>
          <a:ln/>
        </p:spPr>
        <p:txBody>
          <a:bodyPr wrap="square" lIns="0" tIns="0" rIns="0" bIns="0" rtlCol="0" anchor="t"/>
          <a:lstStyle/>
          <a:p>
            <a:pPr marL="0" indent="0">
              <a:spcAft>
                <a:spcPts val="1200"/>
              </a:spcAft>
              <a:buNone/>
            </a:pPr>
            <a:r>
              <a:rPr lang="en-US" sz="1400" dirty="0">
                <a:solidFill>
                  <a:srgbClr val="F0F4F8"/>
                </a:solidFill>
                <a:latin typeface="Calibri" pitchFamily="34" charset="0"/>
                <a:ea typeface="Calibri" pitchFamily="34" charset="-122"/>
                <a:cs typeface="Calibri" pitchFamily="34" charset="-120"/>
              </a:rPr>
              <a:t>1. Dlaczego MPPI Controller generuje lepsze trajektorie niż DWB w zatłoczonym korytarzu? </a:t>
            </a:r>
            <a:r>
              <a:rPr lang="pl-PL" sz="1400" dirty="0" smtClean="0">
                <a:solidFill>
                  <a:srgbClr val="F0F4F8"/>
                </a:solidFill>
                <a:latin typeface="Calibri" pitchFamily="34" charset="0"/>
                <a:ea typeface="Calibri" pitchFamily="34" charset="-122"/>
                <a:cs typeface="Calibri" pitchFamily="34" charset="-120"/>
              </a:rPr>
              <a:t/>
            </a:r>
            <a:br>
              <a:rPr lang="pl-PL" sz="1400" dirty="0" smtClean="0">
                <a:solidFill>
                  <a:srgbClr val="F0F4F8"/>
                </a:solidFill>
                <a:latin typeface="Calibri" pitchFamily="34" charset="0"/>
                <a:ea typeface="Calibri" pitchFamily="34" charset="-122"/>
                <a:cs typeface="Calibri" pitchFamily="34" charset="-120"/>
              </a:rPr>
            </a:br>
            <a:r>
              <a:rPr lang="en-US" sz="1400" dirty="0" err="1" smtClean="0">
                <a:solidFill>
                  <a:srgbClr val="F0F4F8"/>
                </a:solidFill>
                <a:latin typeface="Calibri" pitchFamily="34" charset="0"/>
                <a:ea typeface="Calibri" pitchFamily="34" charset="-122"/>
                <a:cs typeface="Calibri" pitchFamily="34" charset="-120"/>
              </a:rPr>
              <a:t>Jakie</a:t>
            </a:r>
            <a:r>
              <a:rPr lang="en-US" sz="1400" dirty="0" smtClean="0">
                <a:solidFill>
                  <a:srgbClr val="F0F4F8"/>
                </a:solidFill>
                <a:latin typeface="Calibri" pitchFamily="34" charset="0"/>
                <a:ea typeface="Calibri" pitchFamily="34" charset="-122"/>
                <a:cs typeface="Calibri" pitchFamily="34" charset="-120"/>
              </a:rPr>
              <a:t> </a:t>
            </a:r>
            <a:r>
              <a:rPr lang="en-US" sz="1400" dirty="0">
                <a:solidFill>
                  <a:srgbClr val="F0F4F8"/>
                </a:solidFill>
                <a:latin typeface="Calibri" pitchFamily="34" charset="0"/>
                <a:ea typeface="Calibri" pitchFamily="34" charset="-122"/>
                <a:cs typeface="Calibri" pitchFamily="34" charset="-120"/>
              </a:rPr>
              <a:t>parametry mają kluczowy wpływ?</a:t>
            </a:r>
            <a:endParaRPr lang="en-US" sz="1400" dirty="0"/>
          </a:p>
          <a:p>
            <a:pPr marL="0" indent="0">
              <a:spcAft>
                <a:spcPts val="1200"/>
              </a:spcAft>
              <a:buNone/>
            </a:pPr>
            <a:r>
              <a:rPr lang="en-US" sz="1400" dirty="0">
                <a:solidFill>
                  <a:srgbClr val="F0F4F8"/>
                </a:solidFill>
                <a:latin typeface="Calibri" pitchFamily="34" charset="0"/>
                <a:ea typeface="Calibri" pitchFamily="34" charset="-122"/>
                <a:cs typeface="Calibri" pitchFamily="34" charset="-120"/>
              </a:rPr>
              <a:t>2. Co się stanie, gdy transformacja map→odom nie będzie dostępna przez &gt;500 ms podczas nawigacji? Opisz zachowanie Nav2.</a:t>
            </a:r>
            <a:endParaRPr lang="en-US" sz="1400" dirty="0"/>
          </a:p>
          <a:p>
            <a:pPr marL="0" indent="0">
              <a:spcAft>
                <a:spcPts val="1200"/>
              </a:spcAft>
              <a:buNone/>
            </a:pPr>
            <a:r>
              <a:rPr lang="en-US" sz="1400" dirty="0">
                <a:solidFill>
                  <a:srgbClr val="F0F4F8"/>
                </a:solidFill>
                <a:latin typeface="Calibri" pitchFamily="34" charset="0"/>
                <a:ea typeface="Calibri" pitchFamily="34" charset="-122"/>
                <a:cs typeface="Calibri" pitchFamily="34" charset="-120"/>
              </a:rPr>
              <a:t>3. Jak skonfigurować Nav2, aby robot humanoidalny zatrzymał się 0.5 m przed człowiekiem i czekał na ruch? Które komponenty zmienisz?</a:t>
            </a:r>
            <a:endParaRPr lang="en-US" sz="1400" dirty="0"/>
          </a:p>
          <a:p>
            <a:pPr marL="0" indent="0">
              <a:spcAft>
                <a:spcPts val="1200"/>
              </a:spcAft>
              <a:buNone/>
            </a:pPr>
            <a:r>
              <a:rPr lang="en-US" sz="1400" dirty="0">
                <a:solidFill>
                  <a:srgbClr val="F0F4F8"/>
                </a:solidFill>
                <a:latin typeface="Calibri" pitchFamily="34" charset="0"/>
                <a:ea typeface="Calibri" pitchFamily="34" charset="-122"/>
                <a:cs typeface="Calibri" pitchFamily="34" charset="-120"/>
              </a:rPr>
              <a:t>4. Porównaj SmacPlannerHybrid i NavFnPlanner pod kątem czasu obliczenia, jakości trasy i uwzględnienia kinematyki humanoida.</a:t>
            </a:r>
            <a:endParaRPr lang="en-US" sz="1400" dirty="0"/>
          </a:p>
        </p:txBody>
      </p:sp>
      <p:sp>
        <p:nvSpPr>
          <p:cNvPr id="7" name="Shape 5"/>
          <p:cNvSpPr/>
          <p:nvPr/>
        </p:nvSpPr>
        <p:spPr>
          <a:xfrm>
            <a:off x="320040" y="3438144"/>
            <a:ext cx="8485632" cy="1499616"/>
          </a:xfrm>
          <a:prstGeom prst="rect">
            <a:avLst/>
          </a:prstGeom>
          <a:solidFill>
            <a:srgbClr val="1A3550"/>
          </a:solidFill>
          <a:ln w="12700">
            <a:solidFill>
              <a:srgbClr val="4F46E5"/>
            </a:solidFill>
            <a:prstDash val="solid"/>
          </a:ln>
          <a:effectLst>
            <a:outerShdw blurRad="101600" dist="38100" dir="8100000" algn="bl" rotWithShape="0">
              <a:srgbClr val="000000">
                <a:alpha val="18000"/>
              </a:srgbClr>
            </a:outerShdw>
          </a:effectLst>
        </p:spPr>
      </p:sp>
      <p:sp>
        <p:nvSpPr>
          <p:cNvPr id="8" name="Text 6"/>
          <p:cNvSpPr/>
          <p:nvPr/>
        </p:nvSpPr>
        <p:spPr>
          <a:xfrm>
            <a:off x="457200" y="3493008"/>
            <a:ext cx="1371600" cy="274320"/>
          </a:xfrm>
          <a:prstGeom prst="rect">
            <a:avLst/>
          </a:prstGeom>
          <a:noFill/>
          <a:ln/>
        </p:spPr>
        <p:txBody>
          <a:bodyPr wrap="square" lIns="0" tIns="0" rIns="0" bIns="0" rtlCol="0" anchor="ctr"/>
          <a:lstStyle/>
          <a:p>
            <a:pPr marL="0" indent="0">
              <a:buNone/>
            </a:pPr>
            <a:r>
              <a:rPr lang="en-US" sz="1600" b="1" dirty="0">
                <a:solidFill>
                  <a:schemeClr val="accent5">
                    <a:lumMod val="20000"/>
                    <a:lumOff val="80000"/>
                  </a:schemeClr>
                </a:solidFill>
                <a:latin typeface="Calibri" pitchFamily="34" charset="0"/>
                <a:ea typeface="Calibri" pitchFamily="34" charset="-122"/>
                <a:cs typeface="Calibri" pitchFamily="34" charset="-120"/>
              </a:rPr>
              <a:t>Zadanie</a:t>
            </a:r>
            <a:endParaRPr lang="en-US" sz="1600" dirty="0">
              <a:solidFill>
                <a:schemeClr val="accent5">
                  <a:lumMod val="20000"/>
                  <a:lumOff val="80000"/>
                </a:schemeClr>
              </a:solidFill>
            </a:endParaRPr>
          </a:p>
        </p:txBody>
      </p:sp>
      <p:sp>
        <p:nvSpPr>
          <p:cNvPr id="9" name="Text 7"/>
          <p:cNvSpPr/>
          <p:nvPr/>
        </p:nvSpPr>
        <p:spPr>
          <a:xfrm>
            <a:off x="457200" y="3785616"/>
            <a:ext cx="8229600" cy="1060704"/>
          </a:xfrm>
          <a:prstGeom prst="rect">
            <a:avLst/>
          </a:prstGeom>
          <a:noFill/>
          <a:ln/>
        </p:spPr>
        <p:txBody>
          <a:bodyPr wrap="square" lIns="0" tIns="0" rIns="0" bIns="0" rtlCol="0" anchor="t"/>
          <a:lstStyle/>
          <a:p>
            <a:pPr marL="0" indent="0" algn="just">
              <a:buNone/>
            </a:pPr>
            <a:r>
              <a:rPr lang="en-US" sz="1400" dirty="0">
                <a:solidFill>
                  <a:srgbClr val="F0F4F8"/>
                </a:solidFill>
                <a:latin typeface="Calibri" pitchFamily="34" charset="0"/>
                <a:ea typeface="Calibri" pitchFamily="34" charset="-122"/>
                <a:cs typeface="Calibri" pitchFamily="34" charset="-120"/>
              </a:rPr>
              <a:t>Zaimplementuj kompletny launch file uruchamiający Nav2 z mapą biura, skonfiguruj MPPI jako kontroler </a:t>
            </a:r>
            <a:r>
              <a:rPr lang="en-US" sz="1400" dirty="0" err="1">
                <a:solidFill>
                  <a:srgbClr val="F0F4F8"/>
                </a:solidFill>
                <a:latin typeface="Calibri" pitchFamily="34" charset="0"/>
                <a:ea typeface="Calibri" pitchFamily="34" charset="-122"/>
                <a:cs typeface="Calibri" pitchFamily="34" charset="-120"/>
              </a:rPr>
              <a:t>lokalny</a:t>
            </a:r>
            <a:r>
              <a:rPr lang="en-US" sz="1400" dirty="0">
                <a:solidFill>
                  <a:srgbClr val="F0F4F8"/>
                </a:solidFill>
                <a:latin typeface="Calibri" pitchFamily="34" charset="0"/>
                <a:ea typeface="Calibri" pitchFamily="34" charset="-122"/>
                <a:cs typeface="Calibri" pitchFamily="34" charset="-120"/>
              </a:rPr>
              <a:t> </a:t>
            </a:r>
            <a:r>
              <a:rPr lang="pl-PL" sz="1400" dirty="0" smtClean="0">
                <a:solidFill>
                  <a:srgbClr val="F0F4F8"/>
                </a:solidFill>
                <a:latin typeface="Calibri" pitchFamily="34" charset="0"/>
                <a:ea typeface="Calibri" pitchFamily="34" charset="-122"/>
                <a:cs typeface="Calibri" pitchFamily="34" charset="-120"/>
              </a:rPr>
              <a:t/>
            </a:r>
            <a:br>
              <a:rPr lang="pl-PL" sz="1400" dirty="0" smtClean="0">
                <a:solidFill>
                  <a:srgbClr val="F0F4F8"/>
                </a:solidFill>
                <a:latin typeface="Calibri" pitchFamily="34" charset="0"/>
                <a:ea typeface="Calibri" pitchFamily="34" charset="-122"/>
                <a:cs typeface="Calibri" pitchFamily="34" charset="-120"/>
              </a:rPr>
            </a:br>
            <a:r>
              <a:rPr lang="en-US" sz="1400" dirty="0" err="1" smtClean="0">
                <a:solidFill>
                  <a:srgbClr val="F0F4F8"/>
                </a:solidFill>
                <a:latin typeface="Calibri" pitchFamily="34" charset="0"/>
                <a:ea typeface="Calibri" pitchFamily="34" charset="-122"/>
                <a:cs typeface="Calibri" pitchFamily="34" charset="-120"/>
              </a:rPr>
              <a:t>i</a:t>
            </a:r>
            <a:r>
              <a:rPr lang="en-US" sz="1400" dirty="0" smtClean="0">
                <a:solidFill>
                  <a:srgbClr val="F0F4F8"/>
                </a:solidFill>
                <a:latin typeface="Calibri" pitchFamily="34" charset="0"/>
                <a:ea typeface="Calibri" pitchFamily="34" charset="-122"/>
                <a:cs typeface="Calibri" pitchFamily="34" charset="-120"/>
              </a:rPr>
              <a:t> </a:t>
            </a:r>
            <a:r>
              <a:rPr lang="en-US" sz="1400" dirty="0">
                <a:solidFill>
                  <a:srgbClr val="F0F4F8"/>
                </a:solidFill>
                <a:latin typeface="Calibri" pitchFamily="34" charset="0"/>
                <a:ea typeface="Calibri" pitchFamily="34" charset="-122"/>
                <a:cs typeface="Calibri" pitchFamily="34" charset="-120"/>
              </a:rPr>
              <a:t>przetestuj nawigację do 3 waypoints w Gazebo. Zmierz RMSE pozycji i czas dotarcia. Porównaj MPPI z DWB na mapie z 3 dynamicznymi przeszkodami. Bonus: dodaj niestandardową warstwę Social Cost w local_costmap integrując SocialCostmap z Wykładu 7.</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7213</Words>
  <Application>Microsoft Office PowerPoint</Application>
  <PresentationFormat>Pokaz na ekranie (16:9)</PresentationFormat>
  <Paragraphs>687</Paragraphs>
  <Slides>36</Slides>
  <Notes>36</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36</vt:i4>
      </vt:variant>
    </vt:vector>
  </HeadingPairs>
  <TitlesOfParts>
    <vt:vector size="42" baseType="lpstr">
      <vt:lpstr>Arial</vt:lpstr>
      <vt:lpstr>Bodoni MT Condensed</vt:lpstr>
      <vt:lpstr>Calibri</vt:lpstr>
      <vt:lpstr>Consolas</vt:lpstr>
      <vt:lpstr>Trebuchet MS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Nawigacja Robotów Humanoidalnych – W10: Nav2</dc:title>
  <dc:subject>PptxGenJS Presentation</dc:subject>
  <dc:creator>dr inż. Mateusz Pomianek</dc:creator>
  <cp:lastModifiedBy>Mateusz Pomianek</cp:lastModifiedBy>
  <cp:revision>64</cp:revision>
  <dcterms:created xsi:type="dcterms:W3CDTF">2026-05-04T08:27:50Z</dcterms:created>
  <dcterms:modified xsi:type="dcterms:W3CDTF">2026-05-04T09:19:51Z</dcterms:modified>
</cp:coreProperties>
</file>