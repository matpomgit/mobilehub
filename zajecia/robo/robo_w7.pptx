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7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0" y="1210310"/>
            <a:ext cx="1511300" cy="1511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ROBOTOW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</a:t>
            </a:r>
            <a:r>
              <a:rPr lang="pl-PL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</a:t>
            </a:r>
            <a:r>
              <a:rPr lang="en-US" sz="4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9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spoleczna:
</a:t>
            </a:r>
            <a:r>
              <a:rPr lang="en-US" sz="16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tlumy, normy kulturowe, interakcja z czlowiekiem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0040" y="2907792"/>
            <a:ext cx="5760720" cy="2743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997708"/>
            <a:ext cx="576072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E05C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tlumu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B33D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Proksemika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Normy kulturowe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114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HRI / personalizacja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wykladu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3784" y="1234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1815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ruchu tłumu: </a:t>
            </a:r>
            <a:r>
              <a:rPr lang="pl-PL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Model, ORCA, modele oparte na danych, predykcja trajektorii</a:t>
            </a:r>
            <a:endParaRPr lang="pl-PL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8624" y="1234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18888" y="1815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Proksemika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normy kulturowe: strefy Halla, różnice kultur, kontekst sytuacyjny, sygnały społeczne</a:t>
            </a:r>
            <a:endParaRPr lang="pl-PL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667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670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784" y="2758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" y="3339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Personalizacja interakcji człowiek-robot: profil użytkownika, uczenie preferencji, komunikacja, ewaluacja</a:t>
            </a:r>
            <a:endParaRPr lang="pl-PL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667000"/>
            <a:ext cx="416052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670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8624" y="2758440"/>
            <a:ext cx="2644995" cy="427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18888" y="3339389"/>
            <a:ext cx="3941064" cy="56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 Model, ORCA, predykcja Transformer, klasyfikator profilu, mapa społecznych kosztów</a:t>
            </a:r>
            <a:endParaRPr lang="pl-PL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E05C4B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ruchu tlumu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Force Model, ORCA, modele predykcji trajektorii, detekcja grup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MOTYWACJA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nawigacja społeczna jest potrzebna?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2830"/>
            <a:ext cx="8595360" cy="2655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9870" y="1106170"/>
            <a:ext cx="7974330" cy="2516073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>
            <a:spAutoFit/>
          </a:bodyPr>
          <a:lstStyle/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 poruszający się tylko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wedlug geometrii (A* + DWA) jest postrzegany jako nieprzewidywalny i nieprzyjemny</a:t>
            </a:r>
            <a:endParaRPr lang="en-US" sz="1400" spc="-50" dirty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en-US" sz="1400" b="1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Badania 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(Kruse et al., 2013): 70%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użytkowników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odczuwa dyskomfort, gdy robot nie respektuje nienawigacyjnych norm społecznych</a:t>
            </a:r>
            <a:endParaRPr lang="pl-PL" sz="1400" spc="-5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Normy społeczne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nie wchodzić miedzy rozmawiające osoby, nie ścigać pieszych, utrzymywać właściwy dystans</a:t>
            </a:r>
            <a:endParaRPr lang="pl-PL" sz="1400" spc="-5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Nawigacja społeczna rozszerza klasyczne planowanie o model agentów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smtClean="0"/>
              <a:t>każdy</a:t>
            </a:r>
            <a:r>
              <a:rPr lang="en-US" sz="1400" spc="-40" dirty="0" smtClean="0"/>
              <a:t> </a:t>
            </a:r>
            <a:r>
              <a:rPr lang="pl-PL" sz="1400" spc="-40" dirty="0" smtClean="0"/>
              <a:t>człowiek ma intencje</a:t>
            </a:r>
            <a:r>
              <a:rPr lang="en-US" sz="1400" spc="-40" dirty="0" smtClean="0"/>
              <a:t>, </a:t>
            </a:r>
            <a:r>
              <a:rPr lang="pl-PL" sz="1400" spc="-40" dirty="0"/>
              <a:t>prędkość</a:t>
            </a:r>
            <a:r>
              <a:rPr lang="en-US" sz="1400" spc="-40" dirty="0"/>
              <a:t> </a:t>
            </a:r>
            <a:r>
              <a:rPr lang="pl-PL" sz="1400" spc="-40" dirty="0" smtClean="0"/>
              <a:t/>
            </a:r>
            <a:br>
              <a:rPr lang="pl-PL" sz="1400" spc="-40" dirty="0" smtClean="0"/>
            </a:br>
            <a:r>
              <a:rPr lang="pl-PL" sz="1400" spc="-40" dirty="0" smtClean="0"/>
              <a:t>i strefę</a:t>
            </a:r>
            <a:r>
              <a:rPr lang="en-US" sz="1400" spc="-40" dirty="0" smtClean="0"/>
              <a:t> </a:t>
            </a:r>
            <a:r>
              <a:rPr lang="pl-PL" sz="1400" spc="-40" dirty="0" smtClean="0"/>
              <a:t>prywatności</a:t>
            </a:r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en-US" sz="1400" b="1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Standard </a:t>
            </a:r>
            <a:r>
              <a:rPr lang="en-US" sz="1400" b="1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ISO 13482:2014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roboty opiekuncze musza spelniac minimalne wymagania dotyczace bezpiecznej interakcji z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człowiekiem</a:t>
            </a:r>
            <a:endParaRPr lang="pl-PL" sz="1400" spc="-50" dirty="0" smtClean="0"/>
          </a:p>
          <a:p>
            <a:pPr marL="144000" indent="-144000">
              <a:spcAft>
                <a:spcPts val="900"/>
              </a:spcAft>
              <a:buSzPct val="100000"/>
              <a:buChar char="•"/>
            </a:pPr>
            <a:r>
              <a:rPr lang="pl-PL" sz="1400" b="1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Cel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robot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postrzegany jako naturalny uczestnik przestrzeni społecznej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spc="-5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400" spc="-5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przeszkoda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czy</a:t>
            </a:r>
            <a:r>
              <a:rPr lang="en-US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50" dirty="0" smtClean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zagrożenie</a:t>
            </a:r>
            <a:endParaRPr lang="pl-PL" sz="1400"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SOCIAL FORCE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Force Model (SFM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;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Helbing i Molnar (1995)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575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0520" y="1109980"/>
            <a:ext cx="8496300" cy="2467786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 pieszego modelowany jako suma sił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docelowa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odpychanie od przeszkod +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odpychanie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innych ludzi</a:t>
            </a:r>
            <a:endParaRPr lang="en-US" sz="14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Siła własna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pl-PL" sz="1400" spc="-60" baseline="-250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^self </a:t>
            </a:r>
            <a:r>
              <a:rPr lang="en-US" sz="14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= (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pl-PL" sz="1400" spc="-60" baseline="-250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^</a:t>
            </a:r>
            <a:r>
              <a:rPr lang="en-US" sz="14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0 * 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pl-PL" sz="1400" spc="-60" baseline="-250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^</a:t>
            </a:r>
            <a:r>
              <a:rPr lang="en-US" sz="14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0 - 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pl-PL" sz="1400" spc="-60" baseline="-250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i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4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tau</a:t>
            </a:r>
            <a:r>
              <a:rPr lang="pl-PL" sz="1400" spc="-60" baseline="-25000" dirty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i</a:t>
            </a:r>
            <a:r>
              <a:rPr lang="en-US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FF0000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powrot do pozadanej predkosci i kierunku)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Siła społeczna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odpychanie): </a:t>
            </a:r>
            <a:r>
              <a:rPr lang="pl-PL" sz="1400" spc="-60" dirty="0" err="1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pl-PL" sz="1400" spc="-60" baseline="-25000" dirty="0" err="1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400" dirty="0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= A * </a:t>
            </a:r>
            <a:r>
              <a:rPr lang="en-US" sz="1400" dirty="0" err="1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exp</a:t>
            </a:r>
            <a:r>
              <a:rPr lang="en-US" sz="1400" dirty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((</a:t>
            </a:r>
            <a:r>
              <a:rPr lang="en-US" sz="1400" dirty="0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pl-PL" sz="1400" spc="-60" baseline="-25000" dirty="0" err="1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400" dirty="0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– d</a:t>
            </a:r>
            <a:r>
              <a:rPr lang="pl-PL" sz="1400" spc="-60" baseline="-25000" dirty="0" err="1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400" dirty="0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)/</a:t>
            </a:r>
            <a:r>
              <a:rPr lang="en-US" sz="1400" dirty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B) * </a:t>
            </a:r>
            <a:r>
              <a:rPr lang="en-US" sz="1400" dirty="0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pl-PL" sz="1400" spc="-60" baseline="-25000" dirty="0" err="1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400" dirty="0" smtClean="0">
                <a:solidFill>
                  <a:schemeClr val="accent2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 blizej, tym silniej)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Siła od przeszkód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analogiczna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społecznej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prostopadły do powierzchni ściany</a:t>
            </a:r>
            <a:endParaRPr lang="pl-PL" sz="1400" dirty="0" smtClean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pl-PL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Wynikowa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pl-PL" sz="1400" spc="-60" baseline="-25000" dirty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baseline="-25000" dirty="0" smtClean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(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</a:t>
            </a:r>
            <a:r>
              <a:rPr lang="pl-PL" sz="1400" spc="-60" baseline="-25000" dirty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dt) = 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pl-PL" sz="1400" spc="-60" baseline="-25000" dirty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</a:t>
            </a: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+ 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sum(F</a:t>
            </a:r>
            <a:r>
              <a:rPr lang="pl-PL" sz="1400" spc="-60" baseline="-25000" dirty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baseline="-25000" dirty="0" err="1" smtClean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sum(F</a:t>
            </a:r>
            <a:r>
              <a:rPr lang="pl-PL" sz="1400" spc="-60" baseline="-25000" dirty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baseline="-25000" dirty="0" smtClean="0">
                <a:solidFill>
                  <a:schemeClr val="accent1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iw</a:t>
            </a:r>
            <a:r>
              <a:rPr lang="en-US" sz="1400" dirty="0" smtClean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>
              <a:solidFill>
                <a:schemeClr val="accent1"/>
              </a:solidFill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 implementacja, przewidywalne zachowanie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w czasie rzeczywistym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 / agent)</a:t>
            </a:r>
            <a:endParaRPr lang="en-US" sz="14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kalibracja parametrów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tau) wymaga danych pomiarowych;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modeluje intencji długookresowych</a:t>
            </a:r>
            <a:endParaRPr lang="pl-PL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Force 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implementacja dla planisty lokalnego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216910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3522" y="1099820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9554" y="1099820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5586" y="1099820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850" y="1068070"/>
            <a:ext cx="8454390" cy="3046730"/>
          </a:xfrm>
          <a:prstGeom prst="rect">
            <a:avLst/>
          </a:prstGeom>
          <a:noFill/>
          <a:ln/>
        </p:spPr>
        <p:txBody>
          <a:bodyPr wrap="square" lIns="108000" tIns="0" rIns="127000" bIns="0" rtlCol="0" anchor="t"/>
          <a:lstStyle/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social_force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robot_vel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0.3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v0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"""Wyznacza wypadkowa </a:t>
            </a:r>
            <a:r>
              <a:rPr lang="pl-PL" sz="1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siłę społeczną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dla robota."""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goal_pos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linalg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norm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 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kierunek do celu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Siła własna: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robot chce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iść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do celu z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prędkością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v0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v0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e0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robot_vel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tau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Siły odpychające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od pieszych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f_social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zeros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robot_pos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pos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           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wektor od pieszego do robota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linalg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norm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r_ij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0.3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'radius'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0.25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 </a:t>
            </a:r>
            <a:r>
              <a:rPr lang="pl-PL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suma promieni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n_ij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diff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dist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      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wektor normalny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f_social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smtClean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l-PL" sz="1000" dirty="0" smtClean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 smtClean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 smtClean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exp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0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r_ij</a:t>
            </a:r>
            <a:r>
              <a:rPr lang="pl-PL" sz="1000" dirty="0" err="1" smtClean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dist</a:t>
            </a:r>
            <a:r>
              <a:rPr lang="pl-PL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 smtClean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 smtClean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pl-PL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 smtClean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n_ij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f_social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           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[m/s^2]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spcAft>
                <a:spcPts val="100"/>
              </a:spcAft>
            </a:pPr>
            <a:endParaRPr lang="pl-PL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59300"/>
            <a:ext cx="8595360" cy="378459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19600"/>
            <a:ext cx="8321040" cy="518159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Wywolywac co 50 ms; scalkuj sile przez dt aby uzyskac nowa predkosc; clampuj do v_max.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ORCA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ORCA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Reciprocal Collision Avoidance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299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206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ORCA (van den Berg et al., 2011)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384048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ORCA dla robota wposrod pieszych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1539240"/>
            <a:ext cx="3992880" cy="2749915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Kazdy agent </a:t>
            </a:r>
            <a:r>
              <a:rPr lang="en-US" sz="13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przyjmuje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pl-PL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</a:t>
            </a:r>
            <a:r>
              <a:rPr lang="pl-PL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ę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odpowiedzialnosci za unikniecie kolizji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kazdej pary </a:t>
            </a:r>
            <a:r>
              <a:rPr lang="en-US" sz="1300" b="1" spc="-40" dirty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(i, j)</a:t>
            </a: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wyznaczana jest half-plane bezpiecznych predkosci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 predkosc agenta </a:t>
            </a:r>
            <a:r>
              <a:rPr lang="en-US" sz="1300" b="1" spc="-40" dirty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najblizszy punkt do predkosci preferencji w zbiorze bezpiecznych predkosci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Warunek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przy wzajemnym stosowaniu ORCA przez wszystkich agentow brak kolizji jest gwarantowany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Zlo</a:t>
            </a:r>
            <a:r>
              <a:rPr lang="pl-PL" sz="13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</a:t>
            </a:r>
            <a:r>
              <a:rPr lang="en-US" sz="13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ono</a:t>
            </a:r>
            <a:r>
              <a:rPr lang="pl-PL" sz="13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spc="-40" dirty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O(n)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 per krok; praktyczne dla n &lt; 500 agentow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Popularny w symulatorach: CrowdSim, MENGE, PedSim</a:t>
            </a:r>
            <a:endParaRPr lang="en-US" sz="1300" spc="-40" dirty="0"/>
          </a:p>
        </p:txBody>
      </p:sp>
      <p:sp>
        <p:nvSpPr>
          <p:cNvPr id="13" name="Text 11"/>
          <p:cNvSpPr/>
          <p:nvPr/>
        </p:nvSpPr>
        <p:spPr>
          <a:xfrm>
            <a:off x="4795520" y="1600200"/>
            <a:ext cx="4053840" cy="1949696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zna swoja predkosc </a:t>
            </a:r>
            <a:r>
              <a:rPr lang="en-US" sz="13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preferencji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 err="1" smtClean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300" spc="-60" baseline="-25000" dirty="0" err="1" smtClean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pref</a:t>
            </a:r>
            <a:r>
              <a:rPr lang="en-US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 DWA lub WMA)</a:t>
            </a:r>
            <a:endParaRPr lang="en-US" sz="130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kazdego wykrytego pieszego wyznacza half-plane ORCA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Wynikowa</a:t>
            </a:r>
            <a:r>
              <a:rPr lang="en-US" sz="13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predko</a:t>
            </a:r>
            <a:r>
              <a:rPr lang="pl-PL" sz="130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r>
              <a:rPr lang="en-US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projekcja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 err="1" smtClean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300" spc="-60" baseline="-25000" dirty="0" err="1" smtClean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pref</a:t>
            </a:r>
            <a:r>
              <a:rPr lang="en-US" sz="1300" spc="-60" dirty="0" smtClean="0">
                <a:solidFill>
                  <a:srgbClr val="0D1B2A"/>
                </a:solidFill>
                <a:latin typeface="Graduate" panose="02000503000000020004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przeciecie half-planes</a:t>
            </a:r>
            <a:endParaRPr lang="en-US" sz="130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Pieszy nie stosuje ORCA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</a:t>
            </a:r>
            <a:r>
              <a:rPr lang="en-US" sz="13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bierze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r>
              <a:rPr lang="pl-PL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pl-PL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</a:t>
            </a:r>
            <a:r>
              <a:rPr lang="en-US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odpowiedzialno</a:t>
            </a:r>
            <a:r>
              <a:rPr lang="pl-PL" sz="13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endParaRPr lang="en-US" sz="130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Rozszerzenie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RVO2 library (C++/Python); dziala w czasie rzeczywistym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nie przewiduje intencji; zakresla </a:t>
            </a:r>
            <a:r>
              <a:rPr lang="en-US" sz="13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</a:t>
            </a:r>
            <a:r>
              <a:rPr lang="pl-PL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spc="-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PREDYKCJA TRAJEKTORII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Predykcja trajektorii pieszych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7838" cy="2385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7838" cy="41148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024" y="1161288"/>
            <a:ext cx="2520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kinematyczne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9445" y="1627632"/>
            <a:ext cx="2634134" cy="1751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</a:t>
            </a:r>
            <a:r>
              <a:rPr lang="pl-PL" sz="11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łość</a:t>
            </a:r>
            <a:r>
              <a:rPr lang="en-US" sz="11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pl-PL" sz="11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ę</a:t>
            </a:r>
            <a:r>
              <a:rPr lang="en-US" sz="11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dko</a:t>
            </a:r>
            <a:r>
              <a:rPr lang="pl-PL" sz="11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</a:t>
            </a:r>
            <a:r>
              <a:rPr lang="en-US" sz="11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</a:t>
            </a:r>
            <a:r>
              <a:rPr lang="en-US" sz="11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(CV): 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x_{t+1} = x_t + v*dt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</a:t>
            </a:r>
            <a:r>
              <a:rPr lang="pl-PL" sz="115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łość</a:t>
            </a:r>
            <a:r>
              <a:rPr lang="en-US" sz="115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przyspieszenia (CA): </a:t>
            </a:r>
            <a:r>
              <a:rPr lang="en-US" sz="11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uwzglednia inercje</a:t>
            </a:r>
            <a:endParaRPr lang="en-US" sz="11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 Kalmana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estymacja + predykcja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Prosta, szybka, dziala krotkoterminowo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Zawodzi przy zmianie kierunku lub zatrzymaniu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Horyzont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 ~1 s</a:t>
            </a:r>
            <a:endParaRPr lang="en-US" sz="1150" spc="-40" dirty="0"/>
          </a:p>
        </p:txBody>
      </p:sp>
      <p:sp>
        <p:nvSpPr>
          <p:cNvPr id="10" name="Shape 8"/>
          <p:cNvSpPr/>
          <p:nvPr/>
        </p:nvSpPr>
        <p:spPr>
          <a:xfrm>
            <a:off x="3259041" y="1143000"/>
            <a:ext cx="2747838" cy="2385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59041" y="1143000"/>
            <a:ext cx="2747838" cy="41148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2745" y="1161288"/>
            <a:ext cx="2520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Force / ORCA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72745" y="1627632"/>
            <a:ext cx="2520431" cy="1751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interakcji miedzy agentami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</a:t>
            </a:r>
            <a:r>
              <a:rPr lang="pl-PL" sz="11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uwzglednieniem dynamiki tlumu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pozycji wszystkich pieszych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</a:t>
            </a:r>
            <a:r>
              <a:rPr lang="en-US" sz="11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rednio</a:t>
            </a:r>
            <a:r>
              <a:rPr lang="en-US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skuteczny na krotkim horyzoncie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lang="pl-PL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</a:t>
            </a:r>
            <a:r>
              <a:rPr lang="en-US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1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propagowa</a:t>
            </a:r>
            <a:r>
              <a:rPr lang="pl-PL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r>
              <a:rPr lang="pl-PL" sz="11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pl-PL" sz="115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ę</a:t>
            </a:r>
            <a:r>
              <a:rPr lang="en-US" sz="11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</a:t>
            </a:r>
            <a:r>
              <a:rPr lang="en-US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pl-PL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1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spolecznej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Horyzont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1–3 s</a:t>
            </a:r>
            <a:endParaRPr lang="en-US" sz="1150" spc="-40" dirty="0"/>
          </a:p>
        </p:txBody>
      </p:sp>
      <p:sp>
        <p:nvSpPr>
          <p:cNvPr id="14" name="Shape 12"/>
          <p:cNvSpPr/>
          <p:nvPr/>
        </p:nvSpPr>
        <p:spPr>
          <a:xfrm>
            <a:off x="6243762" y="1143000"/>
            <a:ext cx="2747838" cy="2385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3762" y="1143000"/>
            <a:ext cx="2747838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7465" y="1161288"/>
            <a:ext cx="2520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 danych (DL)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7465" y="1627632"/>
            <a:ext cx="2520431" cy="1574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LSTM / Social GAN (Alahi 2016)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Trajectron++ (Salzmann 2021)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AgentFormer, Wayformer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Uwzgledniaja kontekst i interakcje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Wymagaja treningu na danych (UCY, ETH)</a:t>
            </a:r>
            <a:endParaRPr lang="en-US" sz="11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1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Horyzont</a:t>
            </a:r>
            <a:r>
              <a:rPr lang="en-US" sz="11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3–5 s; SoTA na benchmarkach</a:t>
            </a:r>
            <a:endParaRPr lang="en-US" sz="1150" spc="-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GRUPY I FORMACJE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Detekcja grup i zachowan zbiorowych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612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Ludzie czesto poruszaja sie w grupach (dyady, triady, rodziny); robot nie moze wejsc miedzy czonkow grupy</a:t>
            </a:r>
            <a:endParaRPr lang="en-US" sz="14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grupy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clustering pieszych wedlug wspolnej predkosci i bliskosci; DBSCAN lub hierarchical clustering</a:t>
            </a:r>
            <a:endParaRPr lang="en-US" sz="14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Formacja grupy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trojkat, linia, V-ksztalt; kazda ma strefe chroniona miedzy czlonkami (O-space)</a:t>
            </a:r>
            <a:endParaRPr lang="en-US" sz="14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O-space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(Kendon 1990): </a:t>
            </a:r>
            <a:r>
              <a:rPr lang="en-US" sz="14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przestrze</a:t>
            </a:r>
            <a:r>
              <a:rPr lang="pl-PL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ń</a:t>
            </a:r>
            <a:r>
              <a:rPr lang="en-US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miedzy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</a:t>
            </a:r>
            <a:r>
              <a:rPr lang="pl-PL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4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onkami</a:t>
            </a:r>
            <a:r>
              <a:rPr lang="en-US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grupy; robot </a:t>
            </a:r>
            <a:r>
              <a:rPr lang="en-US" sz="145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pl-PL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</a:t>
            </a:r>
            <a:r>
              <a:rPr lang="en-US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omin</a:t>
            </a:r>
            <a:r>
              <a:rPr lang="pl-PL" sz="14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ąć</a:t>
            </a:r>
            <a:r>
              <a:rPr lang="en-US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</a:t>
            </a:r>
            <a:r>
              <a:rPr lang="pl-PL" sz="14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r>
              <a:rPr lang="en-US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wprost</a:t>
            </a:r>
            <a:endParaRPr lang="en-US" sz="14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F-formation detection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detekcja wspolnej orientacji i pola widzenia; robot planuje objazd z zewnatrz</a:t>
            </a:r>
            <a:endParaRPr lang="en-US" sz="14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chcacy podejsc do osoby czeka na rozejscie sie grupy lub sygnalizuje chec dolaczenia</a:t>
            </a:r>
            <a:endParaRPr lang="en-US" sz="14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Social NavMesh uwzgledniajacy O-spaces jako dynamiczne przeszkody kosztowe w cost map</a:t>
            </a:r>
            <a:endParaRPr lang="en-US" sz="1450" spc="-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ł</a:t>
            </a:r>
            <a:r>
              <a:rPr lang="en-US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eczna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koszt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ó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integracja z Nav2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75660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9872" y="1106424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5904" y="1106424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1936" y="1106424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28954"/>
            <a:ext cx="8503920" cy="3077766"/>
          </a:xfrm>
          <a:prstGeom prst="rect">
            <a:avLst/>
          </a:prstGeom>
          <a:noFill/>
          <a:ln/>
        </p:spPr>
        <p:txBody>
          <a:bodyPr wrap="square" lIns="108000" tIns="0" rIns="127000" bIns="0" rtlCol="0" anchor="t">
            <a:spAutoFit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build_social_costmap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resolution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sigma_pos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sigma_vel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"""Buduje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mape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kosztow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uwzgledniajaca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pieszych (Gaussowy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potencjal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)."""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zeros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dtype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float32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cx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srodek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mapy = pozycja robota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pedestrians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cx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'x'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resolution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'y'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resolution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vy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grid_size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Wydluzony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Gauss w kierunku ruchu (anizotropowy)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fwd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vy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1e-6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skladowa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w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przod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dx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sigma_pos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dy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sigma_pos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max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fwd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sigma_vel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gy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gx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100.0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exp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d2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clip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cost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astype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>
                <a:solidFill>
                  <a:srgbClr val="4EC9B0"/>
                </a:solidFill>
                <a:latin typeface="Consolas" panose="020B0609020204030204" pitchFamily="49" charset="0"/>
              </a:rPr>
              <a:t>uint8</a:t>
            </a:r>
            <a:r>
              <a:rPr lang="pl-PL" sz="1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660900"/>
            <a:ext cx="8595360" cy="276860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52950"/>
            <a:ext cx="8321040" cy="38481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Anizotropowy Gauss: wiekszy koszt z przodu pieszego (w kierunku ruchu) niz z boku lub tylu.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B33D2E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B33D2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Proksemika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normy kulturowe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Strefy osobiste, roznice kulturowe, kontekst sytuacyjny, sygnaly spoleczne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PROKSEMIKA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Strefy proksemiczne E. </a:t>
            </a:r>
            <a:r>
              <a:rPr lang="en-US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Halla</a:t>
            </a:r>
            <a:r>
              <a:rPr lang="pl-PL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przestrzeń osobista człowieka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33272"/>
            <a:ext cx="4206240" cy="3785616"/>
          </a:xfrm>
          <a:prstGeom prst="ellipse">
            <a:avLst/>
          </a:prstGeom>
          <a:solidFill>
            <a:srgbClr val="FEE2E2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527048"/>
            <a:ext cx="3108960" cy="2798064"/>
          </a:xfrm>
          <a:prstGeom prst="ellipse">
            <a:avLst/>
          </a:prstGeom>
          <a:solidFill>
            <a:srgbClr val="FCA5A5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020824"/>
            <a:ext cx="2011680" cy="1810512"/>
          </a:xfrm>
          <a:prstGeom prst="ellipse">
            <a:avLst/>
          </a:prstGeom>
          <a:solidFill>
            <a:srgbClr val="F87171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473452"/>
            <a:ext cx="1005840" cy="905256"/>
          </a:xfrm>
          <a:prstGeom prst="ellipse">
            <a:avLst/>
          </a:prstGeom>
          <a:solidFill>
            <a:srgbClr val="F43F5E"/>
          </a:solidFill>
          <a:ln w="6350">
            <a:solidFill>
              <a:srgbClr val="E8E0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2670048"/>
            <a:ext cx="219456" cy="21945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889504"/>
            <a:ext cx="219456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16152"/>
            <a:ext cx="18745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Publiczna  &gt; 3,6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" y="1676400"/>
            <a:ext cx="18745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Spoleczna  1,2 – 3,6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" y="2171700"/>
            <a:ext cx="201168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Osobista   0,45 – 1,2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" y="2724912"/>
            <a:ext cx="18745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Intymna    &lt; 0,45 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99760" y="1143000"/>
            <a:ext cx="3169920" cy="2927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99760" y="1143000"/>
            <a:ext cx="3169920" cy="41148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1200" y="1161288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Implikacje dla robota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1200" y="1627632"/>
            <a:ext cx="3017520" cy="2463258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powinien utrzymywać </a:t>
            </a:r>
            <a:r>
              <a:rPr lang="en-US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dystans</a:t>
            </a:r>
            <a:r>
              <a:rPr lang="en-US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spoleczny (1,2 m) </a:t>
            </a:r>
            <a:r>
              <a:rPr lang="en-US" sz="12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</a:t>
            </a:r>
            <a:r>
              <a:rPr lang="en-US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</a:t>
            </a:r>
            <a:r>
              <a:rPr lang="en-US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nieznanej osoby</a:t>
            </a:r>
            <a:endParaRPr lang="en-US" sz="12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Wejscie w </a:t>
            </a:r>
            <a:r>
              <a:rPr lang="en-US" sz="12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</a:t>
            </a: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ę</a:t>
            </a:r>
            <a:r>
              <a:rPr lang="en-US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osobist</a:t>
            </a:r>
            <a:r>
              <a:rPr lang="pl-PL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</a:t>
            </a:r>
            <a:r>
              <a:rPr lang="en-US" sz="12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zaproszenia lub wyraznej </a:t>
            </a:r>
            <a:r>
              <a:rPr lang="en-US" sz="12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zgody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pl-PL" sz="12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</a:t>
            </a:r>
            <a:r>
              <a:rPr lang="en-US" sz="12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ytkownika</a:t>
            </a:r>
            <a:endParaRPr lang="en-US" sz="12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Strefa intymna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tylko w przypadku asystencji medycznej lub dostepu do dozownika lekow</a:t>
            </a:r>
            <a:endParaRPr lang="en-US" sz="12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omija ludzi z marginesem 0,5 m = strefa bezpieczna powyzej osobistej</a:t>
            </a:r>
            <a:endParaRPr lang="en-US" sz="12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12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czujnik F/T lub detekcja YOLO jako trigger zatrzymania przy nadmiernym zblizeniu</a:t>
            </a:r>
            <a:endParaRPr lang="en-US" sz="1200" spc="-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ROZNICE KULTUROWE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Roznice kulturowe w przestrzeni osobistej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3380" y="1188720"/>
            <a:ext cx="8420100" cy="2213871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Kultury kontaktowe 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(Ameryka Poludniowa, Bliski Wschod, Europa Poludniowa): dystans konwersacyjny 0,5–0,9 m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Kultury zdystansowane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(Europa Polnocna, Japonia, USA): dystans konwersacyjny 0,9–1,5 m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Kultury Azji Wschodniej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</a:t>
            </a:r>
            <a:r>
              <a:rPr lang="pl-PL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ą</a:t>
            </a:r>
            <a:r>
              <a:rPr lang="en-US" sz="145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tkowo</a:t>
            </a:r>
            <a:r>
              <a:rPr lang="en-US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</a:t>
            </a:r>
            <a:r>
              <a:rPr lang="pl-PL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</a:t>
            </a:r>
            <a:r>
              <a:rPr lang="en-US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dystans w kontekscie formalnym; </a:t>
            </a:r>
            <a:r>
              <a:rPr lang="en-US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r>
              <a:rPr lang="pl-PL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dystans w </a:t>
            </a:r>
            <a:r>
              <a:rPr lang="en-US" sz="145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</a:t>
            </a:r>
            <a:r>
              <a:rPr lang="pl-PL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45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oczonej</a:t>
            </a:r>
            <a:r>
              <a:rPr lang="en-US" sz="145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przestrzeni publicznej</a:t>
            </a:r>
            <a:endParaRPr lang="en-US" sz="1450" spc="-8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wspolpracujacy globalnie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 adaptowac parametry stref do kontekstu kulturowego uzytkownika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badawcze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Hall (1966), Beaulieu (2004), meta-analiza Sorokowska et al. (2017) na 42 krajach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baza danych norm kulturowych + modul detekcji jezyka / regionu z konta uzytkownika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Ostrozno</a:t>
            </a:r>
            <a:r>
              <a:rPr lang="pl-PL" sz="145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r>
              <a:rPr lang="en-US" sz="14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stereotypizacja kulturowa jest ryzykowna; preferencje indywidualne maja priorytet nad normami grupowymi</a:t>
            </a:r>
            <a:endParaRPr lang="en-US" sz="1450" spc="-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KONTEKST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Kontekst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sytuacyjny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normy nawigacyjne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2346960"/>
          </a:xfrm>
          <a:prstGeom prst="rect">
            <a:avLst/>
          </a:prstGeom>
          <a:solidFill>
            <a:srgbClr val="FFF5F5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2346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Srodowiska o wysokiej gestosc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(public)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Srodowiska opieki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(szpital, dom opieki)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7660" y="1554480"/>
            <a:ext cx="4023360" cy="1703475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Dworce, lotniska, centra handlowe</a:t>
            </a:r>
            <a:r>
              <a:rPr lang="en-US" sz="12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tlum &gt; 1 os/m^2</a:t>
            </a:r>
            <a:endParaRPr lang="en-US" sz="12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Akceptowalny kontakt fizyczny 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(ramie w ramie</a:t>
            </a:r>
            <a:r>
              <a:rPr lang="en-US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pl-PL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kulturowa</a:t>
            </a:r>
            <a:endParaRPr lang="en-US" sz="12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tryb zwarty; waska trasa, mniejszy dystans bezpieczny</a:t>
            </a:r>
            <a:r>
              <a:rPr lang="en-US" sz="1250" spc="-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(0,4 m)</a:t>
            </a:r>
            <a:endParaRPr lang="en-US" sz="1250" spc="-1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Predkosc zredukowana 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max 0,6 m/s; czeste zatrzymania</a:t>
            </a:r>
            <a:endParaRPr lang="en-US" sz="12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przepuszczanie grup idacych w tym samym kierunku</a:t>
            </a:r>
            <a:endParaRPr lang="en-US" sz="12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Sygnalizacja</a:t>
            </a:r>
            <a:r>
              <a:rPr lang="en-US" sz="12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oswietlenie LED i dzwiek </a:t>
            </a:r>
            <a:r>
              <a:rPr lang="en-US" sz="125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</a:t>
            </a:r>
            <a:r>
              <a:rPr lang="en-US" sz="12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zblizan</a:t>
            </a:r>
            <a:r>
              <a:rPr lang="pl-PL" sz="1250" spc="-2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</a:t>
            </a:r>
            <a:endParaRPr lang="en-US" sz="1250" spc="-2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4114800" cy="1703475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Pacjenci, osoby starsze, dzieci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wzmocniona strefa bezpieczna </a:t>
            </a:r>
            <a:r>
              <a:rPr lang="en-US" sz="1250" spc="-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(+50%)</a:t>
            </a:r>
            <a:endParaRPr lang="en-US" sz="1250" spc="-1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Predkosc</a:t>
            </a:r>
            <a:r>
              <a:rPr lang="en-US" sz="12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 0,4 m/s; plynne przyspieszenia i hamowania</a:t>
            </a:r>
            <a:endParaRPr lang="en-US" sz="12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naglych ruchow</a:t>
            </a:r>
            <a:r>
              <a:rPr lang="en-US" sz="12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robot nie powinien pojawisc sie od tylu</a:t>
            </a:r>
            <a:endParaRPr lang="en-US" sz="125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 przewidywalne 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komunikowane z wyprzedzeniem</a:t>
            </a:r>
            <a:endParaRPr lang="en-US" sz="12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Pierwszenstwo</a:t>
            </a:r>
            <a:r>
              <a:rPr lang="en-US" sz="12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personelu medycznego niezaleznie od sciezki</a:t>
            </a:r>
            <a:endParaRPr lang="en-US" sz="12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Dzwiek sygnalizacyjny</a:t>
            </a:r>
            <a:r>
              <a:rPr lang="en-US" sz="12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male natezenie, przyjazny ton</a:t>
            </a:r>
            <a:endParaRPr lang="en-US" sz="1250" spc="-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SYGNALY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Sygnały społeczne: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robot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rozpoznawać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23819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030" y="12344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Gesty i mowa ciala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7030" y="18534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Wyciagnieta reka = stop; kiwnecie glowa = zgoda;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odwrocenie sie = koniec interakcji.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MediaPipe Pose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32951" y="11430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2951" y="1143000"/>
            <a:ext cx="2723819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5660" y="12344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Kontakt wzrokowy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07560" y="1853489"/>
            <a:ext cx="2649210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Wzrok skierowany na robota = oczekiwanie interakcji;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kontaktu = nie przeszkadzac.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gaze estimation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1581" y="11430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581" y="1143000"/>
            <a:ext cx="2723819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4291" y="12344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Mowa i prosodia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4291" y="18534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Komenda glosowa; ton i tempo sygnalizuja stan emocjonalny.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klasyfikator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sentymentu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czasie rzeczywistym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2723819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030" y="28346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Orientacja ciala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7030" y="34536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Zwrot frontem do robota = zaproszenie;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tyl = brak zainteresowania.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decyzji o podejsciu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32951" y="27432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32951" y="2743200"/>
            <a:ext cx="2723819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5660" y="28346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Ekspresja twarzy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45660" y="34536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Dezorientacja, niezadowolenie, panika.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modele AU (Action Units)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(AffectNet, FER2013)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1581" y="2743200"/>
            <a:ext cx="2723819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1581" y="2743200"/>
            <a:ext cx="2723819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4291" y="2834640"/>
            <a:ext cx="2498399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Czynniki sytuacyjne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4291" y="3453689"/>
            <a:ext cx="2498399" cy="584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 smieciaca z tornistrem: zajeta.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stojaca i patrzaca: czeka. </a:t>
            </a:r>
            <a: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wnioskowany z polozenia i gestow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MAPA KOSZTOW SPOLECZNYCH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Kodowanie norm 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społecznych w mapie kosztów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0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000" y="1143000"/>
            <a:ext cx="8404860" cy="2213871"/>
          </a:xfrm>
          <a:prstGeom prst="rect">
            <a:avLst/>
          </a:prstGeom>
          <a:noFill/>
          <a:ln/>
        </p:spPr>
        <p:txBody>
          <a:bodyPr wrap="square" lIns="3600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geometryczna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klasyczne przeszkody statyczne (sciany, meble) z inflacja 0,3 m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pieszych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anizotropowy Gauss wokol kazdej osoby; wiekszy koszt w kierunku ruchu i z przodu twarzy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grup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O-space miedzy czlonkami grupy kodowany jako strefa zakazana (koszt = 100)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konwersacji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obszar miedzy rozmawiajacymi osobami; robot nie moze go przeciac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kulturowa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globalny mnoznik kosztow (x1.0 – x1.5) zaleznie od profilu kulturowego srodowiska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kontekstowa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szpital: +30% kosztu wszedzie; ruchliwy korytarz biurowy: -10% kosztow bocznych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Aktualizacja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wszystkie warstwy odswiezane co 100 ms na podstawie detekcji pieszych z LiDAR + kamery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6A34A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07136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07135" y="1600200"/>
            <a:ext cx="41437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Personalizacja interakcji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czlowiek-robot (HRI)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136" y="2697480"/>
            <a:ext cx="393192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57500" y="2834640"/>
            <a:ext cx="4000500" cy="592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uzytkownika, uczenie preferencji, komunikacja, ewaluacja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PERSONALIZACJA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personalizacja w nawigacji spolecznej?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805940"/>
            <a:ext cx="8595360" cy="208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3380" y="1851660"/>
            <a:ext cx="8328660" cy="1952261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pl-PL" sz="1450" b="1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Wymiary personalizacji</a:t>
            </a:r>
            <a:r>
              <a:rPr lang="en-US" sz="145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dystans fizyczny, styl komunikacji, prędkosc ruchu, poziom proaktywnosci</a:t>
            </a:r>
            <a:endParaRPr lang="en-US" sz="1450" spc="-2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Uzytkownik 1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osoba starsza z trudnosciami w chodzeniu; oczekuje wolnego robota i wyraznych sygnalow</a:t>
            </a:r>
            <a:endParaRPr lang="en-US" sz="1450" spc="-2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Uzytkownik 2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pracownik biura; oczekuje robota ktory nie przeszkadza i nie blokuje drogi</a:t>
            </a:r>
            <a:endParaRPr lang="en-US" sz="1450" spc="-2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Uzytkownik 3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dziecko; robot powinien byc bardziej ostrozosc i uzywac prostszych komunikatow</a:t>
            </a:r>
            <a:endParaRPr lang="en-US" sz="1450" spc="-20" dirty="0"/>
          </a:p>
          <a:p>
            <a:pPr>
              <a:spcAft>
                <a:spcPts val="900"/>
              </a:spcAft>
              <a:buSzPct val="100000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minimalizacja zaklocen i maksymalizacja poczucia komfortu konkretnej osoby, nie sredniej uzytkownikow</a:t>
            </a:r>
            <a:endParaRPr lang="en-US" sz="1450" spc="-20" dirty="0"/>
          </a:p>
          <a:p>
            <a:pPr>
              <a:spcAft>
                <a:spcPts val="900"/>
              </a:spcAft>
              <a:buSzPct val="100000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profil explict (preferencje podane przez uzytkownika) + profil implicit (wnioskowany z zachowania)</a:t>
            </a:r>
            <a:endParaRPr lang="en-US" sz="1450" spc="-20" dirty="0"/>
          </a:p>
        </p:txBody>
      </p:sp>
      <p:sp>
        <p:nvSpPr>
          <p:cNvPr id="8" name="Prostokąt 7"/>
          <p:cNvSpPr/>
          <p:nvPr/>
        </p:nvSpPr>
        <p:spPr>
          <a:xfrm>
            <a:off x="693420" y="1101090"/>
            <a:ext cx="3375660" cy="563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</a:t>
            </a:r>
            <a:r>
              <a:rPr lang="en-US" sz="1600" b="1" spc="-4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generyczny</a:t>
            </a:r>
            <a:r>
              <a:rPr lang="en-US" sz="1600" b="1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</a:t>
            </a:r>
            <a:r>
              <a:rPr lang="en-US" sz="1600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</a:t>
            </a:r>
            <a:r>
              <a:rPr lang="en-US" sz="1600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</a:t>
            </a:r>
            <a:r>
              <a:rPr lang="en-US" sz="1600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600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wobec</a:t>
            </a:r>
            <a:r>
              <a:rPr lang="en-US" sz="1600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kazdego</a:t>
            </a:r>
            <a:endParaRPr lang="pl-PL" sz="1600" dirty="0">
              <a:solidFill>
                <a:schemeClr val="bg1"/>
              </a:solidFill>
            </a:endParaRPr>
          </a:p>
        </p:txBody>
      </p:sp>
      <p:sp>
        <p:nvSpPr>
          <p:cNvPr id="9" name="Prostokąt 8"/>
          <p:cNvSpPr/>
          <p:nvPr/>
        </p:nvSpPr>
        <p:spPr>
          <a:xfrm>
            <a:off x="5170170" y="1101090"/>
            <a:ext cx="3375660" cy="563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spc="-4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</a:t>
            </a:r>
            <a:r>
              <a:rPr lang="pl-PL" sz="1600" b="1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spersonalizowany </a:t>
            </a:r>
            <a:r>
              <a:rPr lang="pl-PL" sz="1600" spc="-4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adaptuje zachowanie do konkretnej osoby</a:t>
            </a:r>
          </a:p>
        </p:txBody>
      </p:sp>
      <p:cxnSp>
        <p:nvCxnSpPr>
          <p:cNvPr id="11" name="Łącznik prosty ze strzałką 10"/>
          <p:cNvCxnSpPr/>
          <p:nvPr/>
        </p:nvCxnSpPr>
        <p:spPr>
          <a:xfrm>
            <a:off x="4236720" y="1383030"/>
            <a:ext cx="73152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PROFIL UZYTKOWNIKA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użytkownika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składowe i źródła</a:t>
            </a:r>
            <a:endParaRPr lang="pl-PL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2537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2537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Cechy stale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(explicit)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Cechy dynamiczne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(implicit)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20" y="1546860"/>
            <a:ext cx="4030980" cy="1749641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Wiek i mobilność </a:t>
            </a:r>
            <a:r>
              <a:rPr lang="en-US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poruszanie sie z 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laską</a:t>
            </a:r>
            <a:r>
              <a:rPr lang="en-US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pl-PL" sz="13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óz</a:t>
            </a:r>
            <a:r>
              <a:rPr lang="en-US" sz="13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Preferencje kulturowe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(kraj pochodzenia, jezyk)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Znane fobie lub lęki</a:t>
            </a:r>
            <a:r>
              <a:rPr lang="en-US" sz="13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(np. 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lęki</a:t>
            </a:r>
            <a:r>
              <a:rPr lang="en-US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maszynami)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Preferowany styl komunikacji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(werbalny / niewerbalny)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interakcji z robotami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(nowicjusz / doswiadczony)</a:t>
            </a:r>
            <a:endParaRPr lang="en-US" sz="13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w organizacji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(pacjent, personel, 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gość</a:t>
            </a:r>
            <a:r>
              <a:rPr lang="en-US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0120" y="1546860"/>
            <a:ext cx="4030980" cy="1949696"/>
          </a:xfrm>
          <a:prstGeom prst="rect">
            <a:avLst/>
          </a:prstGeom>
          <a:noFill/>
          <a:ln/>
        </p:spPr>
        <p:txBody>
          <a:bodyPr wrap="square" lIns="0" tIns="3600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Aktualny stan emocjonalny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(ekspresja twarzy, tempo mowy)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</a:t>
            </a:r>
            <a:r>
              <a:rPr lang="en-US" sz="13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3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pospiechu</a:t>
            </a:r>
            <a:r>
              <a:rPr lang="en-US" sz="13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pl-PL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prędkość chodzenia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l-PL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</a:t>
            </a:r>
            <a:r>
              <a:rPr lang="pl-PL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kontaktu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 na poprzednie zachowania robota</a:t>
            </a:r>
            <a:r>
              <a:rPr lang="en-US" sz="13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(wycofanie, </a:t>
            </a:r>
            <a:r>
              <a:rPr lang="pl-PL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kiwnięcie</a:t>
            </a:r>
            <a:r>
              <a:rPr lang="en-US" sz="13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pl-PL" sz="13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Zajętość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pl-PL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</a:t>
            </a:r>
            <a:r>
              <a:rPr lang="en-US" sz="13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ucha</a:t>
            </a:r>
            <a:r>
              <a:rPr lang="en-US" sz="13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muzyki, rozmawia przez telefon)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Pozycja i orientacja ciala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wzgledem robota</a:t>
            </a:r>
            <a:endParaRPr lang="en-US" sz="13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3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dzisiejszej sesji </a:t>
            </a:r>
            <a:r>
              <a:rPr lang="en-US" sz="13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(akceptacje, odrzucenia propozycji)</a:t>
            </a:r>
            <a:endParaRPr lang="en-US" sz="1300" spc="-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UCZENIE PREFERENCJI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preferencji uzytkownika w czasie rzeczywistym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43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5280" y="1188720"/>
            <a:ext cx="8458200" cy="2177519"/>
          </a:xfrm>
          <a:prstGeom prst="rect">
            <a:avLst/>
          </a:prstGeom>
          <a:noFill/>
          <a:ln/>
        </p:spPr>
        <p:txBody>
          <a:bodyPr wrap="square" lIns="72000" tIns="0" rIns="0" bIns="0" rtlCol="0" anchor="t">
            <a:spAutoFit/>
          </a:bodyPr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aktywnie aktualizuje model preferencji na podstawie sygnalu zwrotnego uzytkownika</a:t>
            </a:r>
            <a:endParaRPr lang="en-US" sz="145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Sygnaly zwrotne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wycofanie sie (zbyt blisko), kiwniec (OK), komenda slowa (szybciej / wlnniej), styl chodzenia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Regresja Bayesowska</a:t>
            </a:r>
            <a:r>
              <a:rPr lang="en-US" sz="14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 dystansu preferowanego d* ~ N(mu, sigma^2); aktualizacja mu i sigma po kazdej obserwacji</a:t>
            </a:r>
            <a:endParaRPr lang="en-US" sz="1450" spc="-6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RL (IRL): 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obserwacji ludzkich zachowan wnioskuj funkcje nagrody; zastosuj do polityki robota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Regression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interpolacja preferencji dystansu dla roznych kontekstow (korytarz, winda, sala)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Prywatnosc</a:t>
            </a:r>
            <a:r>
              <a:rPr lang="en-US" sz="145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dane profilowe przechowywane lokalnie; opcja reset profilu przez uzytkownika w dowolnej chwili</a:t>
            </a:r>
            <a:endParaRPr lang="en-US" sz="145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5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r>
              <a:rPr lang="en-US" sz="145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nowy uzytkownik startuje z domyslnymi parametrami kulturowymi; personalizacja po ~5 minutach interakcji</a:t>
            </a:r>
            <a:endParaRPr lang="en-US" sz="1450" spc="-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Bayesowska aktualizacja preferencji dystansu (online)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29940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19872" y="1156716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5904" y="115671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1936" y="115671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30968"/>
            <a:ext cx="6382512" cy="3221736"/>
          </a:xfrm>
          <a:prstGeom prst="rect">
            <a:avLst/>
          </a:prstGeom>
          <a:noFill/>
          <a:ln/>
        </p:spPr>
        <p:txBody>
          <a:bodyPr wrap="square" lIns="36000" tIns="0" rIns="0" bIns="0" rtlCol="0" anchor="t">
            <a:normAutofit lnSpcReduction="10000"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DistancePreferenceModel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"""Gaussowski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prior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 nad preferowanym dystansem d* [m]."""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mu0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sigma0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0.4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mu0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wartość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oczekiwana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początkowa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sigma0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odchylenie standardowe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(niepewność)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obs_sigma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0.15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szum pomiaru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(gęstość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obserwacji)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CDCAA"/>
                </a:solidFill>
                <a:latin typeface="Consolas" panose="020B0609020204030204" pitchFamily="49" charset="0"/>
              </a:rPr>
              <a:t>update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feedback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"""Aktualizacja po obserwacji; feedback: "ok"/"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too_close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"/"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too_far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feedback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too_close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0.3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użytkownik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chce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większy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dystans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feedback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too_far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użytkownik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akceptuje mniejszy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observed_distance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    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OK – to jest d*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Kalman update: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posterior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6A9955"/>
                </a:solidFill>
                <a:latin typeface="Consolas" panose="020B0609020204030204" pitchFamily="49" charset="0"/>
              </a:rPr>
              <a:t>Gaussian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obs_sigma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z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sqrt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K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mu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sigma</a:t>
            </a:r>
            <a:endParaRPr lang="pl-PL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5–10 interakcjach sigma spada do ~0,05 m; mu zbiezna do prawdziwej preferencji uzytkownika.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KOMUNIKACJA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Komunikacja robota z </a:t>
            </a:r>
            <a:r>
              <a:rPr lang="en-US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człowiekiem</a:t>
            </a: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sz="22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kanaly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783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024" y="123444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Mowa (TTS)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8024" y="185348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Synteza mowy: przyjazny glos, odpowiednia glosnosc. Robot informuje o zamiarach: 'Przechodze po lewej stronie'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9041" y="114300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59041" y="1143000"/>
            <a:ext cx="2747838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2745" y="123444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Swiatla LED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72745" y="185348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sygnalizuja stan: zielony = gotowy, zolty = zatrzymanie, czerwony = ostrozenie, niebieski = naladowanie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3762" y="114300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3762" y="1143000"/>
            <a:ext cx="2747838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7465" y="123444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Gestykulacja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57465" y="185348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Ramie wskazuje kierunek lub zaprasza; kiwnicie glowy potwierdza. Wymaga platformy z ramionami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88920"/>
            <a:ext cx="2747838" cy="54864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024" y="288036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Wyswietlacz twarzy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8024" y="349940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Animowane oczy lub emotikonki: przekazuja stan emocjonalny (zdziwienie, zaproszenie, przepraszam)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59041" y="278892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59041" y="2788920"/>
            <a:ext cx="274783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2745" y="288036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Ruch anticipacyjny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2745" y="349940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zaczyna skrecac wczesniej niz wymagane, sygnalizujac zamiar. Badania: anticipatory motion zmniejsza konflikty o 40%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43762" y="2788920"/>
            <a:ext cx="2747838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43762" y="2788920"/>
            <a:ext cx="274783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7465" y="2880360"/>
            <a:ext cx="2520431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Personalizacja głosu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57465" y="3499409"/>
            <a:ext cx="2520431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Ton, tempo i jezyk dopasowane do profilu uzytkownika. Dziecko: wolniej, prostsze slowa. Senior: wieksze natezenie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3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r>
              <a:rPr lang="pl-PL" sz="23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personalizacji HRI:</a:t>
            </a:r>
            <a:r>
              <a:rPr lang="en-US" sz="23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kontaktu do adaptacji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0684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0684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8726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Identyfikacja uzytkownika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8726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Rozpoznawanie twarzy / tokenu RFID / konta; ladowanie lub tworzenie profilu uzytkownika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92852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9216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9216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87258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Ocena kontekstu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87258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</a:t>
            </a:r>
            <a:r>
              <a:rPr lang="en-US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rodowisko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(szpital/biuro), godzina dnia, tlok; wybor bazowej polityki nawigacyjnej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11384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7748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7748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05790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Inicjacja interakcji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5790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wzrokowy, </a:t>
            </a:r>
            <a:r>
              <a:rPr lang="en-US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kiwni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ę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glos; robot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sygnalizuje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gotowo</a:t>
            </a:r>
            <a:r>
              <a:rPr lang="pl-PL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ść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zamiar ruchu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29916" y="1097280"/>
            <a:ext cx="2076924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66280" y="1188720"/>
            <a:ext cx="60419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6280" y="1188720"/>
            <a:ext cx="6041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24322" y="1874520"/>
            <a:ext cx="188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Wykonanie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b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monitoringiem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24322" y="2551176"/>
            <a:ext cx="1888112" cy="97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z aktywna obserwacja sygnalizacji zwrotnej; rejestracja odleglosci, reakcji ciala, slow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EWALUACJA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Ewaluacja nawigacji społecznej:</a:t>
            </a:r>
            <a:r>
              <a:rPr lang="en-US" sz="2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metryki i benchmarki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5222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8620" y="1173480"/>
            <a:ext cx="8427720" cy="2254463"/>
          </a:xfrm>
          <a:prstGeom prst="rect">
            <a:avLst/>
          </a:prstGeom>
          <a:noFill/>
          <a:ln/>
        </p:spPr>
        <p:txBody>
          <a:bodyPr wrap="square" lIns="72000" tIns="0" rIns="0" bIns="0" rtlCol="0" anchor="t">
            <a:spAutoFit/>
          </a:bodyPr>
          <a:lstStyle/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into Personal Space (IPS): </a:t>
            </a:r>
            <a:r>
              <a:rPr lang="en-US" sz="145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procent czasu, gdy robot narusza strefe osobista (&lt; 1,2 m) bez zaproszenia</a:t>
            </a:r>
            <a:endParaRPr lang="en-US" sz="1450" spc="-2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Irregularity (PI):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odchylenie trasy robota od trajektorii bez pieszych; wskaznik zaklocen w nawigacji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Space Violation (SSV):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wejsc w O-space grupy lub strefe konwersacji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Time-to-pass (TTP):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potrzebny robotowi do mineciia pieszego; im krotszy tym mniej ograniczen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Safety Rating (PSR):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subiektywna ocena bezpieczenstwa przez pieszych (kwestionariusz Likerta)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Score (CS):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srednio oceniana wygoda interakcji; zbierany przez aplikacje mobilna lub kiosk</a:t>
            </a:r>
            <a:endParaRPr lang="en-US" sz="1450" dirty="0"/>
          </a:p>
          <a:p>
            <a:pPr marL="180000" indent="-1800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SocNav1/2 (Manso et al.), SEAN-EP (Tsoi et al.), CrowdNav (Chen et al.); porownywalne wyniki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Klasyfikator profilu uzytkownika i adaptacja parametrow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32048"/>
          </a:xfrm>
          <a:prstGeom prst="rect">
            <a:avLst/>
          </a:prstGeom>
          <a:solidFill>
            <a:srgbClr val="071520"/>
          </a:solidFill>
          <a:ln w="12700">
            <a:solidFill>
              <a:srgbClr val="B33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54340" y="1115569"/>
            <a:ext cx="146304" cy="146304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0372" y="1115569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6404" y="1115569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668" y="1115568"/>
            <a:ext cx="8321040" cy="3204972"/>
          </a:xfrm>
          <a:prstGeom prst="rect">
            <a:avLst/>
          </a:prstGeom>
          <a:noFill/>
          <a:ln/>
        </p:spPr>
        <p:txBody>
          <a:bodyPr wrap="square" lIns="63500" tIns="0" rIns="127000" bIns="0" rtlCol="0" anchor="t">
            <a:normAutofit fontScale="92500" lnSpcReduction="10000"/>
          </a:bodyPr>
          <a:lstStyle/>
          <a:p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PROFILE_PARAMS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'senior'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0.4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child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 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0.9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adult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 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0.8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worker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 {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v_max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tts_speed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1.1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classify_user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face_age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walking_speed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uses_aid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bool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"""Prosty klasyfikator profilu 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uzytkownika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."""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uses_aid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569CD6"/>
                </a:solidFill>
                <a:latin typeface="Consolas" panose="020B0609020204030204" pitchFamily="49" charset="0"/>
              </a:rPr>
              <a:t>or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face_age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65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'senior'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face_age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14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child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walking_speed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B5CEA8"/>
                </a:solidFill>
                <a:latin typeface="Consolas" panose="020B0609020204030204" pitchFamily="49" charset="0"/>
              </a:rPr>
              <a:t>1.2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worker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adult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get_nav_params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profile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pref_model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dict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base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>
                <a:solidFill>
                  <a:srgbClr val="4FC1FF"/>
                </a:solidFill>
                <a:latin typeface="Consolas" panose="020B0609020204030204" pitchFamily="49" charset="0"/>
              </a:rPr>
              <a:t>PROFILE_PARAMS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9CDCFE"/>
                </a:solidFill>
                <a:latin typeface="Consolas" panose="020B0609020204030204" pitchFamily="49" charset="0"/>
              </a:rPr>
              <a:t>profile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pl-PL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copy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6A9955"/>
                </a:solidFill>
                <a:latin typeface="Consolas" panose="020B0609020204030204" pitchFamily="49" charset="0"/>
              </a:rPr>
              <a:t># Nadpisz dystans z modelu Bayesowskiego (z Kodu 3)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base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 err="1">
                <a:solidFill>
                  <a:srgbClr val="CE9178"/>
                </a:solidFill>
                <a:latin typeface="Consolas" panose="020B0609020204030204" pitchFamily="49" charset="0"/>
              </a:rPr>
              <a:t>dist_safe</a:t>
            </a:r>
            <a:r>
              <a:rPr lang="pl-PL" sz="10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pl-PL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pref_model</a:t>
            </a:r>
            <a:r>
              <a:rPr lang="pl-PL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.mu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0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base</a:t>
            </a:r>
            <a:endParaRPr lang="pl-PL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11040"/>
            <a:ext cx="8595360" cy="426720"/>
          </a:xfrm>
          <a:prstGeom prst="rect">
            <a:avLst/>
          </a:prstGeom>
          <a:solidFill>
            <a:srgbClr val="1A3550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11040"/>
            <a:ext cx="832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wstepna z szybkich cech; model Bayesowski (Kod 3) nastepnie personalizuje dist_safe online.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STUDIUM PRZYPADKU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Studium przypadku: robot w szpitalu wielokulturowym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3050" y="1137920"/>
            <a:ext cx="852805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</a:t>
            </a:r>
            <a:r>
              <a:rPr lang="pl-PL" sz="145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usługowy na korytarzach szpitalnych; personel z 12 krajów, pacjenci różnych kultur i grup wiekowych</a:t>
            </a:r>
            <a:endParaRPr lang="pl-PL" sz="1450" spc="-60" dirty="0" smtClean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detekcji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YOLO dla pieszych +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orientacji +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dla kontaktu wzrokowego</a:t>
            </a:r>
            <a:endParaRPr lang="pl-PL" sz="1450" spc="-40" dirty="0" smtClean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domyślny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strefa 1,5 m, prędkość max 0,5 m/s, komunikacja głosowa po polsku lub angielsku</a:t>
            </a:r>
            <a:endParaRPr lang="pl-PL" sz="1450" spc="-40" dirty="0" smtClean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kulturowa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detekcja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jezyka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(ASR) uaktywnia moduł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proksemiki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(+20% dystansu dla kultur nordyckich)</a:t>
            </a:r>
            <a:endParaRPr lang="pl-PL" sz="1450" spc="-40" dirty="0" smtClean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do seniora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twarz + laska / wózek -&gt; tryb senior: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v_max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0,4 m/s, dystans 1,8 m, glos wolniejszy</a:t>
            </a:r>
            <a:endParaRPr lang="pl-PL" sz="1450" spc="-40" dirty="0" smtClean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do dziecka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wiek &lt; 14 z rozpoznania twarzy -&gt; tryb dziecko: jeszcze większy dystans, komunikacja prostsza</a:t>
            </a:r>
            <a:endParaRPr lang="pl-PL" sz="1450" spc="-40" dirty="0" smtClean="0"/>
          </a:p>
          <a:p>
            <a:pPr marL="144000" indent="-144000">
              <a:spcAft>
                <a:spcPts val="1800"/>
              </a:spcAft>
              <a:buSzPct val="100000"/>
              <a:buChar char="•"/>
            </a:pPr>
            <a:r>
              <a:rPr lang="pl-PL" sz="145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</a:t>
            </a:r>
            <a:r>
              <a:rPr lang="pl-PL" sz="145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IPS zredukowane o 62% względem klasycznej nawigacji, PSR wzrost o 1,8 pkt (skala 1–7), TTP o 8% </a:t>
            </a:r>
            <a:r>
              <a:rPr lang="pl-PL" sz="145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dluzszy</a:t>
            </a:r>
            <a:endParaRPr lang="pl-PL" sz="1450" spc="-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3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WYZWANIA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0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 i kierunki badań w nawigacji społecznej</a:t>
            </a:r>
            <a:endParaRPr lang="pl-PL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79"/>
            <a:ext cx="4160520" cy="3687589"/>
          </a:xfrm>
          <a:prstGeom prst="rect">
            <a:avLst/>
          </a:prstGeom>
          <a:solidFill>
            <a:srgbClr val="FFF5F5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79"/>
            <a:ext cx="4160520" cy="3687589"/>
          </a:xfrm>
          <a:prstGeom prst="rect">
            <a:avLst/>
          </a:prstGeom>
          <a:solidFill>
            <a:srgbClr val="F0FDF4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B33D2E"/>
          </a:solidFill>
          <a:ln w="12700">
            <a:solidFill>
              <a:srgbClr val="B33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 techniczne i spoleczne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Kierunki badan (2024-2026)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5750" y="1563030"/>
            <a:ext cx="4149090" cy="3006395"/>
          </a:xfrm>
          <a:prstGeom prst="rect">
            <a:avLst/>
          </a:prstGeom>
          <a:noFill/>
          <a:ln/>
        </p:spPr>
        <p:txBody>
          <a:bodyPr wrap="square" lIns="63500" tIns="36000" rIns="101600" bIns="0" rtlCol="0" anchor="t">
            <a:spAutoFit/>
          </a:bodyPr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Niezawodność detekcji emocji i gestów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różnych warunkach oświetlenia i katach widzenia</a:t>
            </a:r>
            <a:endParaRPr lang="pl-PL" sz="1400" spc="-6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Translacja norm kulturowych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parametry numeryczne bez </a:t>
            </a:r>
            <a:r>
              <a:rPr lang="pl-PL" sz="14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stereotypizacji</a:t>
            </a:r>
            <a:endParaRPr lang="pl-PL" sz="1400" spc="-6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Zimny start nowego użytkownika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brak danych historycznych utrudnia personalizacje</a:t>
            </a:r>
            <a:endParaRPr lang="pl-PL" sz="1400" spc="-6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Konflikty norm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jedna osoba prosi o szybszy ruch, druga </a:t>
            </a:r>
            <a:b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tej samej chwili o zwolnienie</a:t>
            </a:r>
            <a:endParaRPr lang="pl-PL" sz="1400" spc="-6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Prywatność: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biometryczna</a:t>
            </a:r>
            <a:r>
              <a:rPr lang="pl-PL" sz="14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identyfikacja użytkownika wymaga zgody i zasad RODO</a:t>
            </a:r>
            <a:endParaRPr lang="pl-PL" sz="1400" spc="-60" dirty="0" smtClean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pl-PL" sz="14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Obliczenia w czasie rzeczywistym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wielowarstwowa mapa kosztów społecznych musi być odświeżana &lt; 100 ms</a:t>
            </a:r>
            <a:endParaRPr lang="pl-PL" sz="1400" spc="-60" dirty="0"/>
          </a:p>
        </p:txBody>
      </p:sp>
      <p:sp>
        <p:nvSpPr>
          <p:cNvPr id="13" name="Text 11"/>
          <p:cNvSpPr/>
          <p:nvPr/>
        </p:nvSpPr>
        <p:spPr>
          <a:xfrm>
            <a:off x="4720590" y="1563030"/>
            <a:ext cx="4149090" cy="2806341"/>
          </a:xfrm>
          <a:prstGeom prst="rect">
            <a:avLst/>
          </a:prstGeom>
          <a:noFill/>
          <a:ln/>
        </p:spPr>
        <p:txBody>
          <a:bodyPr wrap="square" lIns="63500" tIns="36000" rIns="101600" bIns="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dla HRI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jako zrozumialy interpreter sygnałow spolecznych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przez demonstracje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uczy sie norm z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filmów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ń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pieszych bez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ręcznie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zdefiniowanych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Teorie umyslu (ToM):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wnioskuje o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intencjach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stanach psychicznych ludzi z obserwacji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Swoj tlum vs obcy tlum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wielorobotowe systemy spolecznej nawigacji z konsensusem norm grupowych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 dlugookresowa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badania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wielomiesięczne</a:t>
            </a: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4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szpitalach i biurach; mierzenie zaufania w czasie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1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840740"/>
            <a:ext cx="3657600" cy="36576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1539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Force Model i ORCA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daja deterministyczne podstawy unikania tlumu; modele danych (Transformer) przewiduja intencje.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7434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Proksemika Halla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definiuje strefy, ktore robot musi szanowac; naruszenie strefy osobistej </a:t>
            </a:r>
            <a:r>
              <a:rPr lang="en-US" sz="1600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niszczy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zaufanie</a:t>
            </a:r>
            <a:r>
              <a:rPr lang="en-US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uzytkownik</a:t>
            </a:r>
            <a:r>
              <a:rPr lang="pl-PL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6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3329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Normy kulturowe istotnie roznia sie w skali global; robot dzialajacy w wielu krajach wymaga modulu adaptacji kontekstu kulturowego.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465576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49224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Personalizacja HRI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opiera sie na profilu uzytkownika, uczeniu online preferencji i wielokanalowej komunikacji niewerbalnej.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502920" cy="502920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5119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 nawigacji spolecznej </a:t>
            </a: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metryk jakosci HRI (ITT, PSR, PFC) obok klasycznych wskaznikow nawigacji (RMSE, sukces).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SFM moze generowac oscylacje w waskim korytarzu? Zaproponuj modyfikacje parametrow lub dodatkowe ograniczenie, ktore usuwa ten problem.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wchodzi miedzy dwie osoby rozmawiajace (O-space). Jakie sygnaly zachowania powinny temu zapobiec i jak je zakodowac w mapie kosztow?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Uzytkownik z Japonii oczekuje dystansu 1,5 m, a uzytkownik z Brazylii 0,7 m. Jak w jednym systemie obs luzyc obie preferencje bez recznie wprowadzonych warunkow?</a:t>
            </a:r>
            <a:endParaRPr lang="en-US" sz="1450" dirty="0"/>
          </a:p>
          <a:p>
            <a:pPr>
              <a:spcAft>
                <a:spcPts val="900"/>
              </a:spcAft>
              <a:buSzPct val="100000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zaimplementuj klase SocialCostmap z anizotropowym Gaussem (Kod 2) i przetestuj ja na symulowanej scenie z 5 pieszymi poruszajacymi sie w roznych kierunkach. Zwizualizuj wynikowa mape kosztow i sprawdz, ze planista A* omija ludzi z boku, nie z przodu.</a:t>
            </a:r>
            <a:endParaRPr lang="en-US" sz="1450" dirty="0"/>
          </a:p>
          <a:p>
            <a:pPr>
              <a:spcAft>
                <a:spcPts val="900"/>
              </a:spcAft>
              <a:buSzPct val="100000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zintegruj DistancePreferenceModel (Kod 3) z Nav2 jako dynamiczny mnoznik strefy inflacji i pokaz zbieznosc preferencji dla 3 roznych profilow uzytkownikow w symulacji.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4268</Words>
  <Application>Microsoft Office PowerPoint</Application>
  <PresentationFormat>Pokaz na ekranie (16:9)</PresentationFormat>
  <Paragraphs>390</Paragraphs>
  <Slides>29</Slides>
  <Notes>29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5" baseType="lpstr">
      <vt:lpstr>Arial</vt:lpstr>
      <vt:lpstr>Calibri</vt:lpstr>
      <vt:lpstr>Consolas</vt:lpstr>
      <vt:lpstr>Graduate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Wyklad 7 – Nawigacja spoleczna: tlumy, normy kulturowe, HRI</dc:title>
  <dc:subject>PptxGenJS Presentation</dc:subject>
  <dc:creator>Politechnika – Katedra Robotyki</dc:creator>
  <cp:lastModifiedBy>Mateusz Pomianek</cp:lastModifiedBy>
  <cp:revision>72</cp:revision>
  <dcterms:created xsi:type="dcterms:W3CDTF">2026-04-23T20:52:38Z</dcterms:created>
  <dcterms:modified xsi:type="dcterms:W3CDTF">2026-04-28T17:07:19Z</dcterms:modified>
</cp:coreProperties>
</file>