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B5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4390" autoAdjust="0"/>
  </p:normalViewPr>
  <p:slideViewPr>
    <p:cSldViewPr snapToGrid="0" snapToObjects="1">
      <p:cViewPr varScale="1">
        <p:scale>
          <a:sx n="127" d="100"/>
          <a:sy n="127" d="100"/>
        </p:scale>
        <p:origin x="116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365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drugiego wykładu. Tym razem skupimy się na lokalizacji, </a:t>
            </a:r>
            <a:r>
              <a:rPr lang="pl-PL" dirty="0" err="1" smtClean="0"/>
              <a:t>odometrii</a:t>
            </a:r>
            <a:r>
              <a:rPr lang="pl-PL" dirty="0" smtClean="0"/>
              <a:t> i fuzji sensorycznej, czyli na tym, w jaki sposób robot estymuje własny stan i jak łączy różne źródła informacji, żeby nie zgubić się podczas ruchu.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Plan tego wykładu obejmuje trzy główne bloki. Najpierw omówimy estymację stanu, </a:t>
            </a:r>
            <a:r>
              <a:rPr lang="pl-PL" dirty="0" err="1" smtClean="0"/>
              <a:t>odometrię</a:t>
            </a:r>
            <a:r>
              <a:rPr lang="pl-PL" dirty="0" smtClean="0"/>
              <a:t> </a:t>
            </a:r>
            <a:r>
              <a:rPr lang="pl-PL" dirty="0" err="1" smtClean="0"/>
              <a:t>humanoida</a:t>
            </a:r>
            <a:r>
              <a:rPr lang="pl-PL" dirty="0" smtClean="0"/>
              <a:t>, dryft, </a:t>
            </a:r>
            <a:r>
              <a:rPr lang="pl-PL" dirty="0" err="1" smtClean="0"/>
              <a:t>dead</a:t>
            </a:r>
            <a:r>
              <a:rPr lang="pl-PL" dirty="0" smtClean="0"/>
              <a:t> </a:t>
            </a:r>
            <a:r>
              <a:rPr lang="pl-PL" dirty="0" err="1" smtClean="0"/>
              <a:t>reckoning</a:t>
            </a:r>
            <a:r>
              <a:rPr lang="pl-PL" dirty="0" smtClean="0"/>
              <a:t> i układy transformacji. Następnie przejdziemy do filtrów estymacyjnych, takich jak filtr komplementarny, EKF, UKF i filtr cząsteczkowy, oraz do fuzji IMU, </a:t>
            </a:r>
            <a:r>
              <a:rPr lang="pl-PL" dirty="0" err="1" smtClean="0"/>
              <a:t>enkoderów</a:t>
            </a:r>
            <a:r>
              <a:rPr lang="pl-PL" dirty="0" smtClean="0"/>
              <a:t> i wzroku. Na końcu zajmiemy się lokalizacją globalną i SLAM-em, w tym </a:t>
            </a:r>
            <a:r>
              <a:rPr lang="pl-PL" dirty="0" err="1" smtClean="0"/>
              <a:t>pose</a:t>
            </a:r>
            <a:r>
              <a:rPr lang="pl-PL" dirty="0" smtClean="0"/>
              <a:t> </a:t>
            </a:r>
            <a:r>
              <a:rPr lang="pl-PL" dirty="0" err="1" smtClean="0"/>
              <a:t>graphem</a:t>
            </a:r>
            <a:r>
              <a:rPr lang="pl-PL" dirty="0" smtClean="0"/>
              <a:t>, domykaniem pętli i doborem metody do zadania.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Zaczynamy od estymacji stanu robota. To jest fundament całej lokalizacji, bo zanim robot zacznie cokolwiek planować, musi w sensowny sposób odpowiedzieć sobie na pytanie: gdzie jestem i w jakim stanie dynamicznym się znajduję.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a:t>
            </a:r>
            <a:r>
              <a:rPr lang="pl-PL" dirty="0" err="1" smtClean="0"/>
              <a:t>humanoida</a:t>
            </a:r>
            <a:r>
              <a:rPr lang="pl-PL" dirty="0" smtClean="0"/>
              <a:t> jest trudniejsza niż </a:t>
            </a:r>
            <a:r>
              <a:rPr lang="pl-PL" dirty="0" err="1" smtClean="0"/>
              <a:t>odometria</a:t>
            </a:r>
            <a:r>
              <a:rPr lang="pl-PL" dirty="0" smtClean="0"/>
              <a:t> platformy kołowej. W robocie kołowym liczymy impulsy </a:t>
            </a:r>
            <a:r>
              <a:rPr lang="pl-PL" dirty="0" err="1" smtClean="0"/>
              <a:t>enkoderów</a:t>
            </a:r>
            <a:r>
              <a:rPr lang="pl-PL" dirty="0" smtClean="0"/>
              <a:t> i stosujemy proste równania kinematyczne. W </a:t>
            </a:r>
            <a:r>
              <a:rPr lang="pl-PL" dirty="0" err="1" smtClean="0"/>
              <a:t>humanoidzie</a:t>
            </a:r>
            <a:r>
              <a:rPr lang="pl-PL" dirty="0" smtClean="0"/>
              <a:t> musimy integrować kroki, IMU i kontakty stóp. Dryft wynika nie tylko z poślizgu, ale też z asymetrii kroków, wibracji tułowia i ugięć struktury. Dlatego </a:t>
            </a:r>
            <a:r>
              <a:rPr lang="pl-PL" dirty="0" err="1" smtClean="0"/>
              <a:t>odometria</a:t>
            </a:r>
            <a:r>
              <a:rPr lang="pl-PL" dirty="0" smtClean="0"/>
              <a:t> </a:t>
            </a:r>
            <a:r>
              <a:rPr lang="pl-PL" dirty="0" err="1" smtClean="0"/>
              <a:t>humanoida</a:t>
            </a:r>
            <a:r>
              <a:rPr lang="pl-PL" dirty="0" smtClean="0"/>
              <a:t> niemal zawsze wymaga korekcji zewnętrznej, na przykład przez wizję albo </a:t>
            </a:r>
            <a:r>
              <a:rPr lang="pl-PL" dirty="0" err="1" smtClean="0"/>
              <a:t>LiDAR</a:t>
            </a:r>
            <a:r>
              <a:rPr lang="pl-PL"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Dead </a:t>
            </a:r>
            <a:r>
              <a:rPr lang="pl-PL" dirty="0" err="1" smtClean="0"/>
              <a:t>reckoning</a:t>
            </a:r>
            <a:r>
              <a:rPr lang="pl-PL" dirty="0" smtClean="0"/>
              <a:t> to estymacja pozycji wyłącznie na podstawie modelu ruchu i pomiarów wewnętrznych, takich jak IMU i </a:t>
            </a:r>
            <a:r>
              <a:rPr lang="pl-PL" dirty="0" err="1" smtClean="0"/>
              <a:t>enkodery</a:t>
            </a:r>
            <a:r>
              <a:rPr lang="pl-PL" dirty="0" smtClean="0"/>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dirty="0" err="1" smtClean="0"/>
              <a:t>dead</a:t>
            </a:r>
            <a:r>
              <a:rPr lang="pl-PL" dirty="0" smtClean="0"/>
              <a:t> </a:t>
            </a:r>
            <a:r>
              <a:rPr lang="pl-PL" dirty="0" err="1" smtClean="0"/>
              <a:t>reckoning</a:t>
            </a:r>
            <a:r>
              <a:rPr lang="pl-PL" dirty="0" smtClean="0"/>
              <a:t> samo w sobie nie wystarcza i musi być wspierane przez zewnętrzne punkty odniesienia, SLAM albo znaczniki.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systemie lokalizacji kluczowe są trzy ramki: map, odom i </a:t>
            </a:r>
            <a:r>
              <a:rPr lang="pl-PL" dirty="0" err="1" smtClean="0"/>
              <a:t>base</a:t>
            </a:r>
            <a:r>
              <a:rPr lang="pl-PL" dirty="0" smtClean="0"/>
              <a:t>. Ramka map jest związana z mapą SLAM i może być korygowana skokowo przy domknięciu pętli. Ramka odom jest ciągła, ale dryfuje. Ramka </a:t>
            </a:r>
            <a:r>
              <a:rPr lang="pl-PL" dirty="0" err="1" smtClean="0"/>
              <a:t>base</a:t>
            </a:r>
            <a:r>
              <a:rPr lang="pl-PL" dirty="0" smtClean="0"/>
              <a:t> opisuje aktualne położenie bazy robota. Relacja odom do map to korekta globalna, a relacja </a:t>
            </a:r>
            <a:r>
              <a:rPr lang="pl-PL" dirty="0" err="1" smtClean="0"/>
              <a:t>base</a:t>
            </a:r>
            <a:r>
              <a:rPr lang="pl-PL" dirty="0" smtClean="0"/>
              <a:t> do odom to bieżąca </a:t>
            </a:r>
            <a:r>
              <a:rPr lang="pl-PL" dirty="0" err="1" smtClean="0"/>
              <a:t>odometria</a:t>
            </a:r>
            <a:r>
              <a:rPr lang="pl-PL" dirty="0" smtClean="0"/>
              <a:t>. W ROS-</a:t>
            </a:r>
            <a:r>
              <a:rPr lang="pl-PL" dirty="0" err="1" smtClean="0"/>
              <a:t>ie</a:t>
            </a:r>
            <a:r>
              <a:rPr lang="pl-PL" dirty="0" smtClean="0"/>
              <a:t> każda transformacja ma znacznik czasu i jest buforowana. Niespójne drzewo TF to jeden z najczęstszych praktycznych powodów awarii lokalizacji.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Kontakt stopy jest bardzo cennym źródłem informacji. Gdy stopa jest w fazie podparcia, może pełnić funkcję punktu odniesienia dla </a:t>
            </a:r>
            <a:r>
              <a:rPr lang="pl-PL" dirty="0" err="1" smtClean="0"/>
              <a:t>odometrii</a:t>
            </a:r>
            <a:r>
              <a:rPr lang="pl-PL" dirty="0" smtClean="0"/>
              <a:t>. Gdy jest w fazie przenoszenia, tej informacji nie mamy. Czujniki sił i momentów w stopach pozwalają wykryć kontakt przez próg siły pionowej. Na tej podstawie możemy budować kinematyczną </a:t>
            </a:r>
            <a:r>
              <a:rPr lang="pl-PL" dirty="0" err="1" smtClean="0"/>
              <a:t>odometrię</a:t>
            </a:r>
            <a:r>
              <a:rPr lang="pl-PL" dirty="0" smtClean="0"/>
              <a:t> kroków i korygować estymację bazy. W połączeniu z IMU daje to istotne ograniczenie dryftu translacji i orientacji.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przykład pokazuje najprostsze całkowanie prędkości kątowej z IMU. W każdej iteracji aktualizujemy </a:t>
            </a:r>
            <a:r>
              <a:rPr lang="pl-PL" dirty="0" err="1" smtClean="0"/>
              <a:t>roll</a:t>
            </a:r>
            <a:r>
              <a:rPr lang="pl-PL" dirty="0" smtClean="0"/>
              <a:t>, </a:t>
            </a:r>
            <a:r>
              <a:rPr lang="pl-PL" dirty="0" err="1" smtClean="0"/>
              <a:t>pitch</a:t>
            </a:r>
            <a:r>
              <a:rPr lang="pl-PL" dirty="0" smtClean="0"/>
              <a:t> i </a:t>
            </a:r>
            <a:r>
              <a:rPr lang="pl-PL" dirty="0" err="1" smtClean="0"/>
              <a:t>yaw</a:t>
            </a:r>
            <a:r>
              <a:rPr lang="pl-PL" dirty="0" smtClean="0"/>
              <a:t>, dodając iloczyn prędkości kątowej i kroku czasowego. To rozwiązanie jest bardzo szybkie i bardzo proste, ale ma jedną fundamentalną wadę: bez zewnętrznej korekty orientacja będzie dryfować. Ten kod dobrze ilustruje, dlaczego sam żyroskop nie wystarcza w dłuższym horyzoncie.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Prosty model </a:t>
            </a:r>
            <a:r>
              <a:rPr lang="pl-PL" dirty="0" err="1" smtClean="0"/>
              <a:t>odometrii</a:t>
            </a:r>
            <a:r>
              <a:rPr lang="pl-PL" dirty="0" smtClean="0"/>
              <a:t> kroku. Każdy krok aktualizuje orientację o delta </a:t>
            </a:r>
            <a:r>
              <a:rPr lang="pl-PL" dirty="0" err="1" smtClean="0"/>
              <a:t>yaw</a:t>
            </a:r>
            <a:r>
              <a:rPr lang="pl-PL" dirty="0" smtClean="0"/>
              <a:t>, a następnie pozycję x i y o długość kroku przemnożoną przez cosinus i sinus aktualnego kąta. To planarne uproszczenie, ale dobrze pokazuje zasadę, że trajektoria </a:t>
            </a:r>
            <a:r>
              <a:rPr lang="pl-PL" dirty="0" err="1" smtClean="0"/>
              <a:t>humanoida</a:t>
            </a:r>
            <a:r>
              <a:rPr lang="pl-PL" dirty="0" smtClean="0"/>
              <a:t> może być składana z kolejnych kroków. Jednocześnie łatwo zauważyć, jak nawet mały błąd </a:t>
            </a:r>
            <a:r>
              <a:rPr lang="pl-PL" dirty="0" err="1" smtClean="0"/>
              <a:t>yaw</a:t>
            </a:r>
            <a:r>
              <a:rPr lang="pl-PL" dirty="0" smtClean="0"/>
              <a:t> będzie z każdym krokiem wypychał pozycję coraz dalej od prawdy.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filtrów estymacyjnych i fuzji sensorycznej. To właśnie tutaj surowe źródła informacji są zamieniane w jedną spójną </a:t>
            </a:r>
            <a:r>
              <a:rPr lang="pl-PL" dirty="0" err="1" smtClean="0"/>
              <a:t>estymatę</a:t>
            </a:r>
            <a:r>
              <a:rPr lang="pl-PL" dirty="0" smtClean="0"/>
              <a:t> stanu robota.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dirty="0" err="1" smtClean="0"/>
              <a:t>estymata</a:t>
            </a:r>
            <a:r>
              <a:rPr lang="pl-PL" dirty="0" smtClean="0"/>
              <a:t> może mieć mniejszą niepewność niż każdy sensor osobno.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 brak jawnej obsługi kowariancji i ograniczona możliwość modelowania pełnej dynamiki układu.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kodzie filtr komplementarny działa bardzo prosto. Najpierw wyznaczamy predykcję </a:t>
            </a:r>
            <a:r>
              <a:rPr lang="pl-PL" dirty="0" err="1" smtClean="0"/>
              <a:t>pitch</a:t>
            </a:r>
            <a:r>
              <a:rPr lang="pl-PL" dirty="0" smtClean="0"/>
              <a:t> z żyroskopu, potem niezależny pomiar kąta z akcelerometru i na końcu bierzemy ich ważoną średnią. Przy alfa około zero dziewięćdziesiąt osiem większość krótkoterminowej dynamiki bierze się z żyroskopu, a tylko niewielka domieszka pochodzi z akcelerometru, który stabilizuje wynik w dłuższym czasie.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dirty="0" err="1" smtClean="0"/>
              <a:t>Jacobianów</a:t>
            </a:r>
            <a:r>
              <a:rPr lang="pl-PL" dirty="0" smtClean="0"/>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kod pokazuje uproszczony EKF dla pozycji 2D. W kroku </a:t>
            </a:r>
            <a:r>
              <a:rPr lang="pl-PL" dirty="0" err="1" smtClean="0"/>
              <a:t>predict</a:t>
            </a:r>
            <a:r>
              <a:rPr lang="pl-PL" dirty="0" smtClean="0"/>
              <a:t> model jednośladowy aktualizuje stan x, y i </a:t>
            </a:r>
            <a:r>
              <a:rPr lang="pl-PL" dirty="0" err="1" smtClean="0"/>
              <a:t>yaw</a:t>
            </a:r>
            <a:r>
              <a:rPr lang="pl-PL" dirty="0" smtClean="0"/>
              <a:t> na podstawie prędkości liniowej oraz kątowej, a macierz F linearyzuje wpływ </a:t>
            </a:r>
            <a:r>
              <a:rPr lang="pl-PL" dirty="0" err="1" smtClean="0"/>
              <a:t>yaw</a:t>
            </a:r>
            <a:r>
              <a:rPr lang="pl-PL" dirty="0" smtClean="0"/>
              <a:t> na ruch. W kroku </a:t>
            </a:r>
            <a:r>
              <a:rPr lang="pl-PL" dirty="0" err="1" smtClean="0"/>
              <a:t>correct</a:t>
            </a:r>
            <a:r>
              <a:rPr lang="pl-PL" dirty="0" smtClean="0"/>
              <a:t> używamy pomiaru pozycji, na przykład z GPS albo znacznika, aby skorygować przewidywanie. Właśnie tak w praktyce łączy się model ruchu z informacją pomiarową.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pełnym systemie </a:t>
            </a:r>
            <a:r>
              <a:rPr lang="pl-PL" dirty="0" err="1" smtClean="0"/>
              <a:t>humanoida</a:t>
            </a:r>
            <a:r>
              <a:rPr lang="pl-PL" dirty="0" smtClean="0"/>
              <a:t> typowa architektura wygląda tak: IMU pracuje bardzo szybko i służy do predykcji stanu, </a:t>
            </a:r>
            <a:r>
              <a:rPr lang="pl-PL" dirty="0" err="1" smtClean="0"/>
              <a:t>enkodery</a:t>
            </a:r>
            <a:r>
              <a:rPr lang="pl-PL" dirty="0" smtClean="0"/>
              <a:t> wraz z kontaktami stóp korygują translację przez </a:t>
            </a:r>
            <a:r>
              <a:rPr lang="pl-PL" dirty="0" err="1" smtClean="0"/>
              <a:t>odometrię</a:t>
            </a:r>
            <a:r>
              <a:rPr lang="pl-PL" dirty="0" smtClean="0"/>
              <a:t> kroków, a kamera albo </a:t>
            </a:r>
            <a:r>
              <a:rPr lang="pl-PL" dirty="0" err="1" smtClean="0"/>
              <a:t>LiDAR</a:t>
            </a:r>
            <a:r>
              <a:rPr lang="pl-PL" dirty="0" smtClean="0"/>
              <a:t> dostarczają rzadszych, ale absolutnie kluczowych obserwacji pozycyjnych, które kasują skumulowany dryft. Można to spiąć architekturą </a:t>
            </a:r>
            <a:r>
              <a:rPr lang="pl-PL" dirty="0" err="1" smtClean="0"/>
              <a:t>loosely</a:t>
            </a:r>
            <a:r>
              <a:rPr lang="pl-PL" dirty="0" smtClean="0"/>
              <a:t> </a:t>
            </a:r>
            <a:r>
              <a:rPr lang="pl-PL" dirty="0" err="1" smtClean="0"/>
              <a:t>coupled</a:t>
            </a:r>
            <a:r>
              <a:rPr lang="pl-PL" dirty="0" smtClean="0"/>
              <a:t>, gdzie źródła dają osobne </a:t>
            </a:r>
            <a:r>
              <a:rPr lang="pl-PL" dirty="0" err="1" smtClean="0"/>
              <a:t>estymaty</a:t>
            </a:r>
            <a:r>
              <a:rPr lang="pl-PL" dirty="0" smtClean="0"/>
              <a:t>, albo </a:t>
            </a:r>
            <a:r>
              <a:rPr lang="pl-PL" dirty="0" err="1" smtClean="0"/>
              <a:t>tightly</a:t>
            </a:r>
            <a:r>
              <a:rPr lang="pl-PL" dirty="0" smtClean="0"/>
              <a:t> </a:t>
            </a:r>
            <a:r>
              <a:rPr lang="pl-PL" dirty="0" err="1" smtClean="0"/>
              <a:t>coupled</a:t>
            </a:r>
            <a:r>
              <a:rPr lang="pl-PL" dirty="0" smtClean="0"/>
              <a:t>, gdzie do jednego filtru trafiają surowe pomiary. Przy tym trzeba jeszcze uwzględnić opóźnienia i </a:t>
            </a:r>
            <a:r>
              <a:rPr lang="pl-PL" dirty="0" err="1" smtClean="0"/>
              <a:t>biasy</a:t>
            </a:r>
            <a:r>
              <a:rPr lang="pl-PL" dirty="0" smtClean="0"/>
              <a:t> 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dirty="0" err="1" smtClean="0"/>
              <a:t>odometrię</a:t>
            </a:r>
            <a:r>
              <a:rPr lang="pl-PL" dirty="0" smtClean="0"/>
              <a:t> jednej stopy. Jednocześnie rośnie niepewność estymacji, co powinno znaleźć odbicie w macierzach Q i 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lokalizacji globalnej i SLAM-u. Teraz interesuje nas już nie tylko śledzenie ruchu lokalnie, ale również odnajdywanie się w znanym lub jednocześnie budowanym środowisku.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Lokalizacja względem znanej mapy polega na znalezieniu pozycji robota w już istniejącym modelu środowiska. Można to robić filtrem cząsteczkowym AMCL z obserwacjami </a:t>
            </a:r>
            <a:r>
              <a:rPr lang="pl-PL" dirty="0" err="1" smtClean="0"/>
              <a:t>LiDAR</a:t>
            </a:r>
            <a:r>
              <a:rPr lang="pl-PL" dirty="0" smtClean="0"/>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dirty="0" err="1" smtClean="0"/>
              <a:t>kidnapped</a:t>
            </a:r>
            <a:r>
              <a:rPr lang="pl-PL" dirty="0" smtClean="0"/>
              <a:t> robot i wtedy potrzebna jest inicjalizacja globalna.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ICP, czyli </a:t>
            </a:r>
            <a:r>
              <a:rPr lang="pl-PL" dirty="0" err="1" smtClean="0"/>
              <a:t>Iterative</a:t>
            </a:r>
            <a:r>
              <a:rPr lang="pl-PL" dirty="0" smtClean="0"/>
              <a:t> </a:t>
            </a:r>
            <a:r>
              <a:rPr lang="pl-PL" dirty="0" err="1" smtClean="0"/>
              <a:t>Closest</a:t>
            </a:r>
            <a:r>
              <a:rPr lang="pl-PL" dirty="0" smtClean="0"/>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dirty="0" err="1" smtClean="0"/>
              <a:t>plane</a:t>
            </a:r>
            <a:r>
              <a:rPr lang="pl-PL" dirty="0" smtClean="0"/>
              <a:t> ICP albo GICP.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wizyjna może być </a:t>
            </a:r>
            <a:r>
              <a:rPr lang="pl-PL" dirty="0" err="1" smtClean="0"/>
              <a:t>monokularna</a:t>
            </a:r>
            <a:r>
              <a:rPr lang="pl-PL" dirty="0" smtClean="0"/>
              <a:t> albo stereofoniczna, ewentualnie RGB-D. W wersji </a:t>
            </a:r>
            <a:r>
              <a:rPr lang="pl-PL" dirty="0" err="1" smtClean="0"/>
              <a:t>monokularnej</a:t>
            </a:r>
            <a:r>
              <a:rPr lang="pl-PL" dirty="0" smtClean="0"/>
              <a:t> śledzimy cechy między klatkami i odzyskujemy ruch kamery, ale tracimy metryczną skalę. W stereo albo RGB-D skala jest bezpośrednio dostępna, więc dryft jest zwykle mniejszy. To właśnie dlatego systemy </a:t>
            </a:r>
            <a:r>
              <a:rPr lang="pl-PL" dirty="0" err="1" smtClean="0"/>
              <a:t>visual-inertial</a:t>
            </a:r>
            <a:r>
              <a:rPr lang="pl-PL" dirty="0" smtClean="0"/>
              <a:t> </a:t>
            </a:r>
            <a:r>
              <a:rPr lang="pl-PL" dirty="0" err="1" smtClean="0"/>
              <a:t>odometry</a:t>
            </a:r>
            <a:r>
              <a:rPr lang="pl-PL" dirty="0" smtClean="0"/>
              <a:t> tak często opierają się na stereo lub głębi, szczególnie wtedy, gdy zależy nam na stabilnej estymacji metrycznej.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SLAM to jednoczesna lokalizacja i mapowanie. Jest to problem sprzężony, bo dobra mapa wymaga dobrej lokalizacji, a dobra lokalizacja wymaga dobrej mapy. W wersji online system estymuje bieżącą pozycję i buduje mapę w czasie rzeczywistym. W wersji </a:t>
            </a:r>
            <a:r>
              <a:rPr lang="pl-PL" dirty="0" err="1" smtClean="0"/>
              <a:t>full</a:t>
            </a:r>
            <a:r>
              <a:rPr lang="pl-PL" dirty="0" smtClean="0"/>
              <a:t> SLAM optymalizujemy całą trajektorię i mapę również po zakończeniu przejazdu. Możemy robić to na danych z </a:t>
            </a:r>
            <a:r>
              <a:rPr lang="pl-PL" dirty="0" err="1" smtClean="0"/>
              <a:t>LiDAR</a:t>
            </a:r>
            <a:r>
              <a:rPr lang="pl-PL" dirty="0" smtClean="0"/>
              <a:t>-u albo kamery, a wynik trafia potem do planisty globalnego. Bez domknięcia pętli błąd rośnie wraz z odległością i może stać się bardzo duży.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Pose</a:t>
            </a:r>
            <a:r>
              <a:rPr lang="pl-PL" dirty="0" smtClean="0"/>
              <a:t> </a:t>
            </a:r>
            <a:r>
              <a:rPr lang="pl-PL" dirty="0" err="1" smtClean="0"/>
              <a:t>Graph</a:t>
            </a:r>
            <a:r>
              <a:rPr lang="pl-PL" dirty="0" smtClean="0"/>
              <a:t> SLAM ujmuje problem w formie grafu. Węzły reprezentują kolejne pozy robota, a krawędzie relacje między nimi: </a:t>
            </a:r>
            <a:r>
              <a:rPr lang="pl-PL" dirty="0" err="1" smtClean="0"/>
              <a:t>odometrię</a:t>
            </a:r>
            <a:r>
              <a:rPr lang="pl-PL" dirty="0" smtClean="0"/>
              <a:t>, dopasowanie ICP albo ograniczenia z wizji. Każda krawędź niesie też informację o niepewności. Optymalizacja grafu polega na minimalizacji sumy błędów wszystkich ograniczeń. Gdy wykryjemy powrót do wcześniej odwiedzonego miejsca, dodajemy nową krawędź i globalnie korygujemy cały przebieg trajektorii.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Domykanie pętli składa się z dwóch etapów. Najpierw trzeba wykryć, że wróciliśmy do znanego miejsca, na przykład przez </a:t>
            </a:r>
            <a:r>
              <a:rPr lang="pl-PL" dirty="0" err="1" smtClean="0"/>
              <a:t>bag</a:t>
            </a:r>
            <a:r>
              <a:rPr lang="pl-PL" dirty="0" smtClean="0"/>
              <a:t> of </a:t>
            </a:r>
            <a:r>
              <a:rPr lang="pl-PL" dirty="0" err="1" smtClean="0"/>
              <a:t>words</a:t>
            </a:r>
            <a:r>
              <a:rPr lang="pl-PL" dirty="0" smtClean="0"/>
              <a:t>, </a:t>
            </a:r>
            <a:r>
              <a:rPr lang="pl-PL" dirty="0" err="1" smtClean="0"/>
              <a:t>scan</a:t>
            </a:r>
            <a:r>
              <a:rPr lang="pl-PL" dirty="0" smtClean="0"/>
              <a:t> </a:t>
            </a:r>
            <a:r>
              <a:rPr lang="pl-PL" dirty="0" err="1" smtClean="0"/>
              <a:t>matching</a:t>
            </a:r>
            <a:r>
              <a:rPr lang="pl-PL" dirty="0" smtClean="0"/>
              <a:t> albo dopasowanie deskryptorów cech. Potem trzeba to jeszcze zweryfikować geometrycznie, często przez RANSAC. Jeśli wynik jest wiarygodny, dodajemy mocne ograniczenie do grafu i uruchamiamy optymalizację. Efekt jest taki, że skumulowany dryft rozkłada się po całej pętli, a mapa staje się globalnie spójna.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prostą korektę pozycji po detekcji znacznika. Zakładamy, że pozycja znacznika jest znana, porównujemy pomiar z przewidywaniem, obliczamy innowację, wzmocnienie Kalmana i aktualizujemy stan oraz kowariancję. To klasyczny przykład tego, jak pojedyncza, ale wiarygodna obserwacja zewnętrzna może wyzerować sporą część dryftu narosłego w </a:t>
            </a:r>
            <a:r>
              <a:rPr lang="pl-PL" dirty="0" err="1" smtClean="0"/>
              <a:t>odometrii</a:t>
            </a:r>
            <a:r>
              <a:rPr lang="pl-PL" dirty="0" smtClean="0"/>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Dobór metody lokalizacji zależy od zadania. W laboratorium zwykle wystarcza AMCL z </a:t>
            </a:r>
            <a:r>
              <a:rPr lang="pl-PL" dirty="0" err="1" smtClean="0"/>
              <a:t>LiDAR</a:t>
            </a:r>
            <a:r>
              <a:rPr lang="pl-PL" dirty="0" smtClean="0"/>
              <a:t>-em 2D. W biurze, gdzie środowisko się zmienia, lepiej sprawdza się SLAM online z dodatkowym wsparciem. W magazynie przydaje się </a:t>
            </a:r>
            <a:r>
              <a:rPr lang="pl-PL" dirty="0" err="1" smtClean="0"/>
              <a:t>visual</a:t>
            </a:r>
            <a:r>
              <a:rPr lang="pl-PL" dirty="0" smtClean="0"/>
              <a:t> SLAM i znaczniki na regałach. Na schodach potrzebujemy już 3D </a:t>
            </a:r>
            <a:r>
              <a:rPr lang="pl-PL" dirty="0" err="1" smtClean="0"/>
              <a:t>LiDAR</a:t>
            </a:r>
            <a:r>
              <a:rPr lang="pl-PL" dirty="0" smtClean="0"/>
              <a:t> SLAM albo RGB-D SLAM wraz z aktywną </a:t>
            </a:r>
            <a:r>
              <a:rPr lang="pl-PL" dirty="0" err="1" smtClean="0"/>
              <a:t>height</a:t>
            </a:r>
            <a:r>
              <a:rPr lang="pl-PL" dirty="0" smtClean="0"/>
              <a:t> mapą. W dynamicznym otoczeniu trzeba odrzucać ruchome obiekty, a na zewnątrz połączyć GPS z IMU i </a:t>
            </a:r>
            <a:r>
              <a:rPr lang="pl-PL" dirty="0" err="1" smtClean="0"/>
              <a:t>LiDAR</a:t>
            </a:r>
            <a:r>
              <a:rPr lang="pl-PL" dirty="0" smtClean="0"/>
              <a:t>-em. Nie istnieje jedna uniwersalna metoda dobra do wszystkiego.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Podsumowując, dryft </a:t>
            </a:r>
            <a:r>
              <a:rPr lang="pl-PL" dirty="0" err="1" smtClean="0"/>
              <a:t>odometrii</a:t>
            </a:r>
            <a:r>
              <a:rPr lang="pl-PL" dirty="0" smtClean="0"/>
              <a:t> jest nieunikniony, więc potrzebujemy korekty z zewnętrznych sensorów albo ze SLAM-u. EKF i UKF pozostają podstawowymi narzędziami fuzji sensorycznej. Filtr cząsteczkowy jest bardzo silny przy wielomodalności i lokalizacji globalnej, choć droższy obliczeniowo. SLAM pozwala jednocześnie budować i korygować mapę, a domykanie pętli jest kluczowe dla eliminacji skumulowanego dryftu. Awarie sensorów wykrywamy przez analizę innowacji.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Na zakończenie proszę przemyśleć, dlaczego filtr komplementarny nie zastąpi EKF w pełnym systemie lokalizacji, jak zachowuje się wzmocnienie Kalmana przy bardzo dużym szumie pomiaru, czym jest NIS i jak wykrywa awarie sensora. Zadanie polega na implementacji </a:t>
            </a:r>
            <a:r>
              <a:rPr lang="pl-PL" dirty="0" err="1" smtClean="0"/>
              <a:t>odometrii</a:t>
            </a:r>
            <a:r>
              <a:rPr lang="pl-PL" dirty="0" smtClean="0"/>
              <a:t> kroku z pierwszej sekcji i porównaniu dryftu z oraz bez korekty EKF przy zaszumionym </a:t>
            </a:r>
            <a:r>
              <a:rPr lang="pl-PL" dirty="0" err="1" smtClean="0"/>
              <a:t>yaw</a:t>
            </a:r>
            <a:r>
              <a:rPr lang="pl-PL" dirty="0" smtClean="0"/>
              <a:t>. </a:t>
            </a:r>
            <a:r>
              <a:rPr lang="pl-PL" smtClean="0"/>
              <a:t>To bardzo dobre ćwiczenie, bo pokazuje różnicę między samą integracją a rzeczywistą fuzją sensoryczną.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0B4D8"/>
          </a:solidFill>
          <a:ln w="12700">
            <a:solidFill>
              <a:srgbClr val="00B4D8"/>
            </a:solidFill>
            <a:prstDash val="solid"/>
          </a:ln>
        </p:spPr>
      </p:sp>
      <p:sp>
        <p:nvSpPr>
          <p:cNvPr id="3" name="Shape 1"/>
          <p:cNvSpPr/>
          <p:nvPr/>
        </p:nvSpPr>
        <p:spPr>
          <a:xfrm>
            <a:off x="73152" y="0"/>
            <a:ext cx="9070848" cy="54864"/>
          </a:xfrm>
          <a:prstGeom prst="rect">
            <a:avLst/>
          </a:prstGeom>
          <a:solidFill>
            <a:srgbClr val="0077A8"/>
          </a:solidFill>
          <a:ln w="12700">
            <a:solidFill>
              <a:srgbClr val="0077A8"/>
            </a:solidFill>
            <a:prstDash val="solid"/>
          </a:ln>
        </p:spPr>
      </p:sp>
      <p:sp>
        <p:nvSpPr>
          <p:cNvPr id="4" name="Shape 2"/>
          <p:cNvSpPr/>
          <p:nvPr/>
        </p:nvSpPr>
        <p:spPr>
          <a:xfrm>
            <a:off x="6400800" y="914400"/>
            <a:ext cx="2194560" cy="219456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5" name="Image 0" descr="preencoded.png"/>
          <p:cNvPicPr>
            <a:picLocks noChangeAspect="1"/>
          </p:cNvPicPr>
          <p:nvPr/>
        </p:nvPicPr>
        <p:blipFill>
          <a:blip r:embed="rId3">
            <a:duotone>
              <a:schemeClr val="accent4">
                <a:shade val="45000"/>
                <a:satMod val="135000"/>
              </a:schemeClr>
              <a:prstClr val="white"/>
            </a:duotone>
          </a:blip>
          <a:stretch>
            <a:fillRect/>
          </a:stretch>
        </p:blipFill>
        <p:spPr>
          <a:xfrm>
            <a:off x="6894405" y="1405606"/>
            <a:ext cx="1269958" cy="1269958"/>
          </a:xfrm>
          <a:prstGeom prst="rect">
            <a:avLst/>
          </a:prstGeom>
        </p:spPr>
      </p:pic>
      <p:sp>
        <p:nvSpPr>
          <p:cNvPr id="6" name="Text 3"/>
          <p:cNvSpPr/>
          <p:nvPr/>
        </p:nvSpPr>
        <p:spPr>
          <a:xfrm>
            <a:off x="320040" y="822960"/>
            <a:ext cx="5760720" cy="365760"/>
          </a:xfrm>
          <a:prstGeom prst="rect">
            <a:avLst/>
          </a:prstGeom>
          <a:noFill/>
          <a:ln/>
        </p:spPr>
        <p:txBody>
          <a:bodyPr wrap="square" lIns="0" tIns="0" rIns="0" bIns="0" rtlCol="0" anchor="ctr"/>
          <a:lstStyle/>
          <a:p>
            <a:pPr marL="0" indent="0">
              <a:buNone/>
            </a:pPr>
            <a:r>
              <a:rPr lang="en-US" sz="1100" b="1" kern="0" spc="300" dirty="0">
                <a:solidFill>
                  <a:srgbClr val="00B4D8"/>
                </a:solidFill>
                <a:latin typeface="Trebuchet MS" pitchFamily="34" charset="0"/>
                <a:ea typeface="Trebuchet MS" pitchFamily="34" charset="-122"/>
                <a:cs typeface="Trebuchet MS" pitchFamily="34" charset="-120"/>
              </a:rPr>
              <a:t>NAWIGACJA ROBOTÓW HUMANOIDALNYCH</a:t>
            </a:r>
            <a:endParaRPr lang="en-US" sz="1100" dirty="0"/>
          </a:p>
        </p:txBody>
      </p:sp>
      <p:sp>
        <p:nvSpPr>
          <p:cNvPr id="7" name="Text 4"/>
          <p:cNvSpPr/>
          <p:nvPr/>
        </p:nvSpPr>
        <p:spPr>
          <a:xfrm>
            <a:off x="320040" y="1280160"/>
            <a:ext cx="5760720" cy="64008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WYKŁAD 2</a:t>
            </a:r>
            <a:endParaRPr lang="en-US" sz="4400" dirty="0"/>
          </a:p>
        </p:txBody>
      </p:sp>
      <p:sp>
        <p:nvSpPr>
          <p:cNvPr id="8" name="Text 5"/>
          <p:cNvSpPr/>
          <p:nvPr/>
        </p:nvSpPr>
        <p:spPr>
          <a:xfrm>
            <a:off x="320040" y="1965960"/>
            <a:ext cx="5760720" cy="914400"/>
          </a:xfrm>
          <a:prstGeom prst="rect">
            <a:avLst/>
          </a:prstGeom>
          <a:noFill/>
          <a:ln/>
        </p:spPr>
        <p:txBody>
          <a:bodyPr wrap="square" lIns="0" tIns="0" rIns="0" bIns="0" rtlCol="0" anchor="ctr"/>
          <a:lstStyle/>
          <a:p>
            <a:pPr marL="0" indent="0">
              <a:buNone/>
            </a:pPr>
            <a:r>
              <a:rPr lang="en-US" sz="2800" b="1" dirty="0">
                <a:solidFill>
                  <a:srgbClr val="90E0EF"/>
                </a:solidFill>
                <a:latin typeface="Trebuchet MS" pitchFamily="34" charset="0"/>
                <a:ea typeface="Trebuchet MS" pitchFamily="34" charset="-122"/>
                <a:cs typeface="Trebuchet MS" pitchFamily="34" charset="-120"/>
              </a:rPr>
              <a:t>Lokalizacja, odometria
i fuzja sensoryczna</a:t>
            </a:r>
            <a:endParaRPr lang="en-US" sz="2800" dirty="0"/>
          </a:p>
        </p:txBody>
      </p:sp>
      <p:sp>
        <p:nvSpPr>
          <p:cNvPr id="9" name="Shape 6"/>
          <p:cNvSpPr/>
          <p:nvPr/>
        </p:nvSpPr>
        <p:spPr>
          <a:xfrm>
            <a:off x="320040" y="3017520"/>
            <a:ext cx="5760720" cy="27432"/>
          </a:xfrm>
          <a:prstGeom prst="rect">
            <a:avLst/>
          </a:prstGeom>
          <a:solidFill>
            <a:srgbClr val="00B4D8"/>
          </a:solidFill>
          <a:ln w="12700">
            <a:solidFill>
              <a:srgbClr val="00B4D8"/>
            </a:solidFill>
            <a:prstDash val="solid"/>
          </a:ln>
        </p:spPr>
      </p:sp>
      <p:sp>
        <p:nvSpPr>
          <p:cNvPr id="10" name="Text 7"/>
          <p:cNvSpPr/>
          <p:nvPr/>
        </p:nvSpPr>
        <p:spPr>
          <a:xfrm>
            <a:off x="320040" y="3118849"/>
            <a:ext cx="5760720" cy="184666"/>
          </a:xfrm>
          <a:prstGeom prst="rect">
            <a:avLst/>
          </a:prstGeom>
          <a:noFill/>
          <a:ln/>
        </p:spPr>
        <p:txBody>
          <a:bodyPr wrap="square" lIns="0" tIns="0" rIns="0" bIns="0" rtlCol="0" anchor="ctr">
            <a:spAutoFit/>
          </a:bodyPr>
          <a:lstStyle/>
          <a:p>
            <a:pPr marL="0" indent="0">
              <a:buNone/>
            </a:pPr>
            <a:r>
              <a:rPr lang="pl-PL" sz="1200" b="1" dirty="0" smtClean="0">
                <a:solidFill>
                  <a:srgbClr val="00B4D8"/>
                </a:solidFill>
                <a:latin typeface="Calibri" pitchFamily="34" charset="0"/>
                <a:ea typeface="Calibri" pitchFamily="34" charset="-122"/>
                <a:cs typeface="Calibri" pitchFamily="34" charset="-120"/>
              </a:rPr>
              <a:t>dr inż. Mateusz Pomianek</a:t>
            </a:r>
            <a:endParaRPr lang="en-US" sz="1200" dirty="0"/>
          </a:p>
        </p:txBody>
      </p:sp>
      <p:grpSp>
        <p:nvGrpSpPr>
          <p:cNvPr id="20" name="Grupa 19"/>
          <p:cNvGrpSpPr/>
          <p:nvPr/>
        </p:nvGrpSpPr>
        <p:grpSpPr>
          <a:xfrm>
            <a:off x="320040" y="4114800"/>
            <a:ext cx="8275320" cy="548640"/>
            <a:chOff x="320040" y="4114800"/>
            <a:chExt cx="5715000" cy="548640"/>
          </a:xfrm>
        </p:grpSpPr>
        <p:sp>
          <p:nvSpPr>
            <p:cNvPr id="11" name="Shape 8"/>
            <p:cNvSpPr/>
            <p:nvPr/>
          </p:nvSpPr>
          <p:spPr>
            <a:xfrm>
              <a:off x="320040" y="4114800"/>
              <a:ext cx="1325880" cy="548640"/>
            </a:xfrm>
            <a:prstGeom prst="rect">
              <a:avLst/>
            </a:prstGeom>
            <a:solidFill>
              <a:srgbClr val="1A3550"/>
            </a:solidFill>
            <a:ln w="12700">
              <a:solidFill>
                <a:srgbClr val="00B4D8"/>
              </a:solidFill>
              <a:prstDash val="solid"/>
            </a:ln>
          </p:spPr>
        </p:sp>
        <p:sp>
          <p:nvSpPr>
            <p:cNvPr id="12" name="Text 9"/>
            <p:cNvSpPr/>
            <p:nvPr/>
          </p:nvSpPr>
          <p:spPr>
            <a:xfrm>
              <a:off x="320040" y="4114800"/>
              <a:ext cx="1325880" cy="548640"/>
            </a:xfrm>
            <a:prstGeom prst="rect">
              <a:avLst/>
            </a:prstGeom>
            <a:noFill/>
            <a:ln/>
          </p:spPr>
          <p:txBody>
            <a:bodyPr wrap="square" lIns="0" tIns="0" rIns="0" bIns="0" rtlCol="0" anchor="ctr"/>
            <a:lstStyle/>
            <a:p>
              <a:pPr marL="0" indent="0" algn="ctr">
                <a:buNone/>
              </a:pPr>
              <a:r>
                <a:rPr lang="en-US" sz="1400" b="1" dirty="0">
                  <a:solidFill>
                    <a:srgbClr val="90E0EF"/>
                  </a:solidFill>
                  <a:latin typeface="Trebuchet MS" pitchFamily="34" charset="0"/>
                  <a:ea typeface="Trebuchet MS" pitchFamily="34" charset="-122"/>
                  <a:cs typeface="Trebuchet MS" pitchFamily="34" charset="-120"/>
                </a:rPr>
                <a:t>Estymacja stanu</a:t>
              </a:r>
              <a:endParaRPr lang="en-US" sz="1400" dirty="0"/>
            </a:p>
          </p:txBody>
        </p:sp>
        <p:sp>
          <p:nvSpPr>
            <p:cNvPr id="13" name="Shape 10"/>
            <p:cNvSpPr/>
            <p:nvPr/>
          </p:nvSpPr>
          <p:spPr>
            <a:xfrm>
              <a:off x="1783080" y="4114800"/>
              <a:ext cx="1325880" cy="548640"/>
            </a:xfrm>
            <a:prstGeom prst="rect">
              <a:avLst/>
            </a:prstGeom>
            <a:solidFill>
              <a:srgbClr val="1A3550"/>
            </a:solidFill>
            <a:ln w="12700">
              <a:solidFill>
                <a:srgbClr val="00B4D8"/>
              </a:solidFill>
              <a:prstDash val="solid"/>
            </a:ln>
          </p:spPr>
        </p:sp>
        <p:sp>
          <p:nvSpPr>
            <p:cNvPr id="14" name="Text 11"/>
            <p:cNvSpPr/>
            <p:nvPr/>
          </p:nvSpPr>
          <p:spPr>
            <a:xfrm>
              <a:off x="1783080" y="4114800"/>
              <a:ext cx="1325880" cy="548640"/>
            </a:xfrm>
            <a:prstGeom prst="rect">
              <a:avLst/>
            </a:prstGeom>
            <a:noFill/>
            <a:ln/>
          </p:spPr>
          <p:txBody>
            <a:bodyPr wrap="square" lIns="0" tIns="0" rIns="0" bIns="0" rtlCol="0" anchor="ctr"/>
            <a:lstStyle/>
            <a:p>
              <a:pPr marL="0" indent="0" algn="ctr">
                <a:buNone/>
              </a:pPr>
              <a:r>
                <a:rPr lang="en-US" sz="1400" b="1" dirty="0">
                  <a:solidFill>
                    <a:srgbClr val="90E0EF"/>
                  </a:solidFill>
                  <a:latin typeface="Trebuchet MS" pitchFamily="34" charset="0"/>
                  <a:ea typeface="Trebuchet MS" pitchFamily="34" charset="-122"/>
                  <a:cs typeface="Trebuchet MS" pitchFamily="34" charset="-120"/>
                </a:rPr>
                <a:t>Filtry EKF/UKF</a:t>
              </a:r>
              <a:endParaRPr lang="en-US" sz="1400" dirty="0"/>
            </a:p>
          </p:txBody>
        </p:sp>
        <p:sp>
          <p:nvSpPr>
            <p:cNvPr id="15" name="Shape 12"/>
            <p:cNvSpPr/>
            <p:nvPr/>
          </p:nvSpPr>
          <p:spPr>
            <a:xfrm>
              <a:off x="3246120" y="4114800"/>
              <a:ext cx="1325880" cy="548640"/>
            </a:xfrm>
            <a:prstGeom prst="rect">
              <a:avLst/>
            </a:prstGeom>
            <a:solidFill>
              <a:srgbClr val="1A3550"/>
            </a:solidFill>
            <a:ln w="12700">
              <a:solidFill>
                <a:srgbClr val="00B4D8"/>
              </a:solidFill>
              <a:prstDash val="solid"/>
            </a:ln>
          </p:spPr>
        </p:sp>
        <p:sp>
          <p:nvSpPr>
            <p:cNvPr id="16" name="Text 13"/>
            <p:cNvSpPr/>
            <p:nvPr/>
          </p:nvSpPr>
          <p:spPr>
            <a:xfrm>
              <a:off x="324612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Fuzja sensoryczna</a:t>
              </a:r>
              <a:endParaRPr lang="en-US" sz="1600" dirty="0"/>
            </a:p>
          </p:txBody>
        </p:sp>
        <p:sp>
          <p:nvSpPr>
            <p:cNvPr id="17" name="Shape 14"/>
            <p:cNvSpPr/>
            <p:nvPr/>
          </p:nvSpPr>
          <p:spPr>
            <a:xfrm>
              <a:off x="4709160" y="4114800"/>
              <a:ext cx="1325880" cy="548640"/>
            </a:xfrm>
            <a:prstGeom prst="rect">
              <a:avLst/>
            </a:prstGeom>
            <a:solidFill>
              <a:srgbClr val="1A3550"/>
            </a:solidFill>
            <a:ln w="12700">
              <a:solidFill>
                <a:srgbClr val="00B4D8"/>
              </a:solidFill>
              <a:prstDash val="solid"/>
            </a:ln>
          </p:spPr>
        </p:sp>
        <p:sp>
          <p:nvSpPr>
            <p:cNvPr id="18" name="Text 15"/>
            <p:cNvSpPr/>
            <p:nvPr/>
          </p:nvSpPr>
          <p:spPr>
            <a:xfrm>
              <a:off x="4709160" y="4114800"/>
              <a:ext cx="1325880" cy="548640"/>
            </a:xfrm>
            <a:prstGeom prst="rect">
              <a:avLst/>
            </a:prstGeom>
            <a:noFill/>
            <a:ln/>
          </p:spPr>
          <p:txBody>
            <a:bodyPr wrap="square" lIns="0" tIns="0" rIns="0" bIns="0" rtlCol="0" anchor="ctr"/>
            <a:lstStyle/>
            <a:p>
              <a:pPr marL="0" indent="0" algn="ctr">
                <a:buNone/>
              </a:pPr>
              <a:r>
                <a:rPr lang="en-US" b="1" dirty="0">
                  <a:solidFill>
                    <a:srgbClr val="90E0EF"/>
                  </a:solidFill>
                  <a:latin typeface="Trebuchet MS" pitchFamily="34" charset="0"/>
                  <a:ea typeface="Trebuchet MS" pitchFamily="34" charset="-122"/>
                  <a:cs typeface="Trebuchet MS" pitchFamily="34" charset="-120"/>
                </a:rPr>
                <a:t>SLAM</a:t>
              </a:r>
              <a:endParaRPr lang="en-US" dirty="0"/>
            </a:p>
          </p:txBody>
        </p:sp>
      </p:grpSp>
      <p:sp>
        <p:nvSpPr>
          <p:cNvPr id="19" name="Text 7"/>
          <p:cNvSpPr/>
          <p:nvPr/>
        </p:nvSpPr>
        <p:spPr>
          <a:xfrm>
            <a:off x="130624" y="4951731"/>
            <a:ext cx="1988263" cy="153888"/>
          </a:xfrm>
          <a:prstGeom prst="rect">
            <a:avLst/>
          </a:prstGeom>
          <a:noFill/>
          <a:ln/>
        </p:spPr>
        <p:txBody>
          <a:bodyPr wrap="square" lIns="0" tIns="0" rIns="0" bIns="0" rtlCol="0" anchor="ctr">
            <a:spAutoFit/>
          </a:bodyPr>
          <a:lstStyle/>
          <a:p>
            <a:pPr marL="0" indent="0">
              <a:buNone/>
            </a:pPr>
            <a:r>
              <a:rPr lang="pl-PL" sz="1000" smtClean="0">
                <a:solidFill>
                  <a:schemeClr val="accent1">
                    <a:lumMod val="50000"/>
                  </a:schemeClr>
                </a:solidFill>
                <a:latin typeface="Calibri" pitchFamily="34" charset="0"/>
                <a:ea typeface="Calibri" pitchFamily="34" charset="-122"/>
                <a:cs typeface="Calibri" pitchFamily="34" charset="-120"/>
              </a:rPr>
              <a:t>v1.0.3</a:t>
            </a:r>
            <a:endParaRPr lang="en-US" sz="1000" dirty="0">
              <a:solidFill>
                <a:schemeClr val="accent1">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WPROWADZENIE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Plan wykładu</a:t>
            </a:r>
            <a:endParaRPr lang="en-US" sz="2800" dirty="0"/>
          </a:p>
        </p:txBody>
      </p:sp>
      <p:grpSp>
        <p:nvGrpSpPr>
          <p:cNvPr id="22" name="Grupa 21"/>
          <p:cNvGrpSpPr/>
          <p:nvPr/>
        </p:nvGrpSpPr>
        <p:grpSpPr>
          <a:xfrm>
            <a:off x="274320" y="1082544"/>
            <a:ext cx="8595360" cy="3020921"/>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1</a:t>
              </a:r>
              <a:endParaRPr lang="en-US" sz="2400" dirty="0"/>
            </a:p>
          </p:txBody>
        </p:sp>
        <p:sp>
          <p:nvSpPr>
            <p:cNvPr id="9" name="Text 7"/>
            <p:cNvSpPr/>
            <p:nvPr/>
          </p:nvSpPr>
          <p:spPr>
            <a:xfrm>
              <a:off x="605511" y="1808885"/>
              <a:ext cx="364199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Estymacja stanu: odometria humanoida, dryft, dead reckoning, układy transformacji</a:t>
              </a:r>
              <a:endParaRPr lang="en-US" sz="1600" spc="-4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2</a:t>
              </a:r>
              <a:endParaRPr lang="en-US" sz="2400" dirty="0"/>
            </a:p>
          </p:txBody>
        </p:sp>
        <p:sp>
          <p:nvSpPr>
            <p:cNvPr id="13" name="Text 11"/>
            <p:cNvSpPr/>
            <p:nvPr/>
          </p:nvSpPr>
          <p:spPr>
            <a:xfrm>
              <a:off x="4809895" y="1808885"/>
              <a:ext cx="3875049"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Filtry estymacyjne: komplementarny, EKF, UKF, cząsteczkowy, fuzja IMU+enkodery+wzrok</a:t>
              </a:r>
              <a:endParaRPr lang="en-US" sz="1600" spc="-4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3</a:t>
              </a:r>
              <a:endParaRPr lang="en-US" sz="2400" dirty="0"/>
            </a:p>
          </p:txBody>
        </p:sp>
        <p:sp>
          <p:nvSpPr>
            <p:cNvPr id="17" name="Text 15"/>
            <p:cNvSpPr/>
            <p:nvPr/>
          </p:nvSpPr>
          <p:spPr>
            <a:xfrm>
              <a:off x="605511" y="3637685"/>
              <a:ext cx="336767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Lokalizacja globalna, SLAM, pose graph, domykanie pętli, dobór metody</a:t>
              </a:r>
              <a:endParaRPr lang="en-US" sz="1600" spc="-4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Kody Python</a:t>
              </a:r>
              <a:endParaRPr lang="en-US" sz="2400" dirty="0"/>
            </a:p>
          </p:txBody>
        </p:sp>
        <p:sp>
          <p:nvSpPr>
            <p:cNvPr id="21" name="Text 19"/>
            <p:cNvSpPr/>
            <p:nvPr/>
          </p:nvSpPr>
          <p:spPr>
            <a:xfrm>
              <a:off x="4854500" y="3637685"/>
              <a:ext cx="3905452"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Całkowanie IMU, odometria kroku, filtr komplementarny, EKF 2D, korekta z landmarkiem</a:t>
              </a:r>
              <a:endParaRPr lang="en-US" sz="1600" spc="-40" dirty="0"/>
            </a:p>
          </p:txBody>
        </p:sp>
      </p:grpSp>
      <p:sp>
        <p:nvSpPr>
          <p:cNvPr id="23" name="Prostokąt 22"/>
          <p:cNvSpPr/>
          <p:nvPr/>
        </p:nvSpPr>
        <p:spPr>
          <a:xfrm>
            <a:off x="274320" y="426422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Plan tego wykładu obejmuje trzy główne bloki. Najpierw omówimy estymację stanu, </a:t>
            </a:r>
            <a:r>
              <a:rPr lang="pl-PL" sz="1400" dirty="0" err="1">
                <a:solidFill>
                  <a:schemeClr val="bg1"/>
                </a:solidFill>
              </a:rPr>
              <a:t>odometrię</a:t>
            </a:r>
            <a:r>
              <a:rPr lang="pl-PL" sz="1400" dirty="0">
                <a:solidFill>
                  <a:schemeClr val="bg1"/>
                </a:solidFill>
              </a:rPr>
              <a:t> </a:t>
            </a:r>
            <a:r>
              <a:rPr lang="pl-PL" sz="1400" dirty="0" err="1">
                <a:solidFill>
                  <a:schemeClr val="bg1"/>
                </a:solidFill>
              </a:rPr>
              <a:t>humanoida</a:t>
            </a:r>
            <a:r>
              <a:rPr lang="pl-PL" sz="1400" dirty="0">
                <a:solidFill>
                  <a:schemeClr val="bg1"/>
                </a:solidFill>
              </a:rPr>
              <a:t>, dryft,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i układy transformacji. Następnie przejdziemy do filtrów estymacyjnych, takich jak filtr komplementarny, EKF, UKF i filtr cząsteczkowy, oraz do fuzji IMU, </a:t>
            </a:r>
            <a:r>
              <a:rPr lang="pl-PL" sz="1400" dirty="0" err="1">
                <a:solidFill>
                  <a:schemeClr val="bg1"/>
                </a:solidFill>
              </a:rPr>
              <a:t>enkoderów</a:t>
            </a:r>
            <a:r>
              <a:rPr lang="pl-PL" sz="1400" dirty="0">
                <a:solidFill>
                  <a:schemeClr val="bg1"/>
                </a:solidFill>
              </a:rPr>
              <a:t> i wzroku. Na końcu zajmiemy się lokalizacją globalną i SLAM-em, w tym </a:t>
            </a:r>
            <a:r>
              <a:rPr lang="pl-PL" sz="1400" dirty="0" err="1">
                <a:solidFill>
                  <a:schemeClr val="bg1"/>
                </a:solidFill>
              </a:rPr>
              <a:t>pose</a:t>
            </a:r>
            <a:r>
              <a:rPr lang="pl-PL" sz="1400" dirty="0">
                <a:solidFill>
                  <a:schemeClr val="bg1"/>
                </a:solidFill>
              </a:rPr>
              <a:t> </a:t>
            </a:r>
            <a:r>
              <a:rPr lang="pl-PL" sz="1400" dirty="0" err="1">
                <a:solidFill>
                  <a:schemeClr val="bg1"/>
                </a:solidFill>
              </a:rPr>
              <a:t>graphem</a:t>
            </a:r>
            <a:r>
              <a:rPr lang="pl-PL" sz="1400" dirty="0">
                <a:solidFill>
                  <a:schemeClr val="bg1"/>
                </a:solidFill>
              </a:rPr>
              <a:t>, domykaniem pętli i doborem metody do zadania.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01</a:t>
            </a:r>
            <a:endParaRPr lang="en-US" sz="12000" dirty="0"/>
          </a:p>
        </p:txBody>
      </p:sp>
      <p:sp>
        <p:nvSpPr>
          <p:cNvPr id="5" name="Shape 3"/>
          <p:cNvSpPr/>
          <p:nvPr/>
        </p:nvSpPr>
        <p:spPr>
          <a:xfrm>
            <a:off x="7132320" y="1371600"/>
            <a:ext cx="1645920" cy="164592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56170" y="1695450"/>
            <a:ext cx="998220" cy="99822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600" b="1" dirty="0">
                <a:solidFill>
                  <a:srgbClr val="FFFFFF"/>
                </a:solidFill>
                <a:latin typeface="Trebuchet MS" pitchFamily="34" charset="0"/>
                <a:ea typeface="Trebuchet MS" pitchFamily="34" charset="-122"/>
                <a:cs typeface="Trebuchet MS" pitchFamily="34" charset="-120"/>
              </a:rPr>
              <a:t>Estymacja stanu</a:t>
            </a:r>
            <a:endParaRPr lang="en-US" sz="3600" dirty="0"/>
          </a:p>
          <a:p>
            <a:pPr marL="0" indent="0">
              <a:buNone/>
            </a:pPr>
            <a:r>
              <a:rPr lang="en-US" sz="3600" b="1" dirty="0">
                <a:solidFill>
                  <a:srgbClr val="FFFFFF"/>
                </a:solidFill>
                <a:latin typeface="Trebuchet MS" pitchFamily="34" charset="0"/>
                <a:ea typeface="Trebuchet MS" pitchFamily="34" charset="-122"/>
                <a:cs typeface="Trebuchet MS" pitchFamily="34" charset="-120"/>
              </a:rPr>
              <a:t>robota</a:t>
            </a:r>
            <a:endParaRPr lang="en-US" sz="36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Odometria, dryft, dead reckoning i układy transformacji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STAN ROBOTA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Czym jest stan robota humanoidalnego?</a:t>
            </a:r>
            <a:endParaRPr lang="en-US" sz="2800" dirty="0"/>
          </a:p>
        </p:txBody>
      </p:sp>
      <p:grpSp>
        <p:nvGrpSpPr>
          <p:cNvPr id="30" name="Grupa 29"/>
          <p:cNvGrpSpPr/>
          <p:nvPr/>
        </p:nvGrpSpPr>
        <p:grpSpPr>
          <a:xfrm>
            <a:off x="274320" y="1143000"/>
            <a:ext cx="8412480" cy="2945350"/>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Pozycja i orientacja</a:t>
              </a:r>
              <a:endParaRPr lang="en-US" sz="2000" dirty="0"/>
            </a:p>
          </p:txBody>
        </p:sp>
        <p:sp>
          <p:nvSpPr>
            <p:cNvPr id="9" name="Text 7"/>
            <p:cNvSpPr/>
            <p:nvPr/>
          </p:nvSpPr>
          <p:spPr>
            <a:xfrm>
              <a:off x="38404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x, y, z [m] oraz kąty roll, pitch, yaw [rad] w przestrzeni 3D</a:t>
              </a:r>
              <a:endParaRPr lang="en-US" sz="1400" spc="-2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Prędkości</a:t>
              </a:r>
              <a:endParaRPr lang="en-US" sz="2000" dirty="0"/>
            </a:p>
          </p:txBody>
        </p:sp>
        <p:sp>
          <p:nvSpPr>
            <p:cNvPr id="13" name="Text 11"/>
            <p:cNvSpPr/>
            <p:nvPr/>
          </p:nvSpPr>
          <p:spPr>
            <a:xfrm>
              <a:off x="326440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liniowa v [m/s] i kątowa ω [rad/s</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wejście do modelu predykcji</a:t>
              </a:r>
              <a:endParaRPr lang="en-US" sz="1400" spc="-2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Konfiguracja stawów</a:t>
              </a:r>
              <a:endParaRPr lang="en-US" sz="2000" dirty="0"/>
            </a:p>
          </p:txBody>
        </p:sp>
        <p:sp>
          <p:nvSpPr>
            <p:cNvPr id="17" name="Text 15"/>
            <p:cNvSpPr/>
            <p:nvPr/>
          </p:nvSpPr>
          <p:spPr>
            <a:xfrm>
              <a:off x="614476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Kąty q(t) [rad</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kinematyka prosta, Jacobian, zakres ruchu nóg</a:t>
              </a:r>
              <a:endParaRPr lang="en-US" sz="1400" spc="-2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Stan kontaktu stóp</a:t>
              </a:r>
              <a:endParaRPr lang="en-US" sz="2000" dirty="0"/>
            </a:p>
          </p:txBody>
        </p:sp>
        <p:sp>
          <p:nvSpPr>
            <p:cNvPr id="21" name="Text 19"/>
            <p:cNvSpPr/>
            <p:nvPr/>
          </p:nvSpPr>
          <p:spPr>
            <a:xfrm>
              <a:off x="384048" y="36822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Lewa/prawa stopa: </a:t>
              </a:r>
              <a:r>
                <a:rPr lang="en-US" sz="1400" spc="-20" dirty="0" err="1" smtClean="0">
                  <a:solidFill>
                    <a:srgbClr val="475569"/>
                  </a:solidFill>
                  <a:latin typeface="Calibri" pitchFamily="34" charset="0"/>
                  <a:ea typeface="Calibri" pitchFamily="34" charset="-122"/>
                  <a:cs typeface="Calibri" pitchFamily="34" charset="-120"/>
                </a:rPr>
                <a:t>podparta</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a:solidFill>
                    <a:srgbClr val="475569"/>
                  </a:solidFill>
                  <a:latin typeface="Calibri" pitchFamily="34" charset="0"/>
                  <a:ea typeface="Calibri" pitchFamily="34" charset="-122"/>
                  <a:cs typeface="Calibri" pitchFamily="34" charset="-120"/>
                </a:rPr>
                <a:t>czy</a:t>
              </a:r>
              <a:r>
                <a:rPr lang="en-US" sz="1400" spc="-20" dirty="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
              </a:r>
              <a:br>
                <a:rPr lang="pl-PL" sz="1400" spc="-20" dirty="0" smtClean="0">
                  <a:solidFill>
                    <a:srgbClr val="475569"/>
                  </a:solidFill>
                  <a:latin typeface="Calibri" pitchFamily="34" charset="0"/>
                  <a:ea typeface="Calibri" pitchFamily="34" charset="-122"/>
                  <a:cs typeface="Calibri" pitchFamily="34" charset="-120"/>
                </a:rPr>
              </a:br>
              <a:r>
                <a:rPr lang="en-US" sz="1400" spc="-20" dirty="0" smtClean="0">
                  <a:solidFill>
                    <a:srgbClr val="475569"/>
                  </a:solidFill>
                  <a:latin typeface="Calibri" pitchFamily="34" charset="0"/>
                  <a:ea typeface="Calibri" pitchFamily="34" charset="-122"/>
                  <a:cs typeface="Calibri" pitchFamily="34" charset="-120"/>
                </a:rPr>
                <a:t>w </a:t>
              </a:r>
              <a:r>
                <a:rPr lang="en-US" sz="1400" spc="-20" dirty="0">
                  <a:solidFill>
                    <a:srgbClr val="475569"/>
                  </a:solidFill>
                  <a:latin typeface="Calibri" pitchFamily="34" charset="0"/>
                  <a:ea typeface="Calibri" pitchFamily="34" charset="-122"/>
                  <a:cs typeface="Calibri" pitchFamily="34" charset="-120"/>
                </a:rPr>
                <a:t>locie? Kluczowe dla odometrii</a:t>
              </a:r>
              <a:endParaRPr lang="en-US" sz="1400" spc="-2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6440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Środek masy </a:t>
              </a:r>
              <a:r>
                <a:rPr lang="en-US" sz="2000" b="1" i="1" dirty="0">
                  <a:solidFill>
                    <a:srgbClr val="0D1B2A"/>
                  </a:solidFill>
                  <a:latin typeface="Trebuchet MS" pitchFamily="34" charset="0"/>
                  <a:ea typeface="Trebuchet MS" pitchFamily="34" charset="-122"/>
                  <a:cs typeface="Trebuchet MS" pitchFamily="34" charset="-120"/>
                </a:rPr>
                <a:t>(CoM)</a:t>
              </a:r>
              <a:endParaRPr lang="en-US" sz="2000" i="1" dirty="0"/>
            </a:p>
          </p:txBody>
        </p:sp>
        <p:sp>
          <p:nvSpPr>
            <p:cNvPr id="25" name="Text 23"/>
            <p:cNvSpPr/>
            <p:nvPr/>
          </p:nvSpPr>
          <p:spPr>
            <a:xfrm>
              <a:off x="3227238" y="3682289"/>
              <a:ext cx="2542032" cy="930402"/>
            </a:xfrm>
            <a:prstGeom prst="rect">
              <a:avLst/>
            </a:prstGeom>
            <a:noFill/>
            <a:ln/>
          </p:spPr>
          <p:txBody>
            <a:bodyPr wrap="square" lIns="0" tIns="0" rIns="0" bIns="0" rtlCol="0" anchor="ctr"/>
            <a:lstStyle/>
            <a:p>
              <a:pPr marL="0" indent="0">
                <a:buNone/>
              </a:pPr>
              <a:r>
                <a:rPr lang="en-US" sz="1400" spc="-40" dirty="0">
                  <a:solidFill>
                    <a:srgbClr val="475569"/>
                  </a:solidFill>
                  <a:latin typeface="Calibri" pitchFamily="34" charset="0"/>
                  <a:ea typeface="Calibri" pitchFamily="34" charset="-122"/>
                  <a:cs typeface="Calibri" pitchFamily="34" charset="-120"/>
                </a:rPr>
                <a:t>Pozycja CoM w przestrzeni; związana z warunkiem stabilności ZMP</a:t>
              </a:r>
              <a:endParaRPr lang="en-US" sz="1400" spc="-4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Niepewność estymacji</a:t>
              </a:r>
              <a:endParaRPr lang="en-US" sz="2000" dirty="0"/>
            </a:p>
          </p:txBody>
        </p:sp>
        <p:sp>
          <p:nvSpPr>
            <p:cNvPr id="29" name="Text 27"/>
            <p:cNvSpPr/>
            <p:nvPr/>
          </p:nvSpPr>
          <p:spPr>
            <a:xfrm>
              <a:off x="6144768" y="3682289"/>
              <a:ext cx="2432304" cy="930402"/>
            </a:xfrm>
            <a:prstGeom prst="rect">
              <a:avLst/>
            </a:prstGeom>
            <a:noFill/>
            <a:ln/>
          </p:spPr>
          <p:txBody>
            <a:bodyPr wrap="square" lIns="0" tIns="0" rIns="0" bIns="0" rtlCol="0" anchor="ctr"/>
            <a:lstStyle/>
            <a:p>
              <a:pPr marL="0" indent="0">
                <a:buNone/>
              </a:pPr>
              <a:r>
                <a:rPr lang="pl-PL" sz="1400" spc="-20" dirty="0" smtClean="0">
                  <a:solidFill>
                    <a:srgbClr val="475569"/>
                  </a:solidFill>
                  <a:latin typeface="Calibri" pitchFamily="34" charset="0"/>
                  <a:ea typeface="Calibri" pitchFamily="34" charset="-122"/>
                  <a:cs typeface="Calibri" pitchFamily="34" charset="-120"/>
                </a:rPr>
                <a:t>Macierz</a:t>
              </a:r>
              <a:r>
                <a:rPr lang="en-US" sz="1400" spc="-20" dirty="0" smtClean="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kowariancji</a:t>
              </a:r>
              <a:r>
                <a:rPr lang="en-US" sz="1400" spc="-20" dirty="0" smtClean="0">
                  <a:solidFill>
                    <a:srgbClr val="475569"/>
                  </a:solidFill>
                  <a:latin typeface="Calibri" pitchFamily="34" charset="0"/>
                  <a:ea typeface="Calibri" pitchFamily="34" charset="-122"/>
                  <a:cs typeface="Calibri" pitchFamily="34" charset="-120"/>
                </a:rPr>
                <a:t> P</a:t>
              </a:r>
              <a:r>
                <a:rPr lang="pl-PL" sz="1400" spc="-20" dirty="0" smtClean="0">
                  <a:solidFill>
                    <a:srgbClr val="475569"/>
                  </a:solidFill>
                  <a:latin typeface="Calibri" pitchFamily="34" charset="0"/>
                  <a:ea typeface="Calibri" pitchFamily="34" charset="-122"/>
                  <a:cs typeface="Calibri" pitchFamily="34" charset="-120"/>
                </a:rPr>
                <a:t>, czyli</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smtClean="0">
                  <a:solidFill>
                    <a:srgbClr val="475569"/>
                  </a:solidFill>
                  <a:latin typeface="Calibri" pitchFamily="34" charset="0"/>
                  <a:ea typeface="Calibri" pitchFamily="34" charset="-122"/>
                  <a:cs typeface="Calibri" pitchFamily="34" charset="-120"/>
                </a:rPr>
                <a:t>miar</a:t>
              </a:r>
              <a:r>
                <a:rPr lang="pl-PL" sz="1400" spc="-20" dirty="0" smtClean="0">
                  <a:solidFill>
                    <a:srgbClr val="475569"/>
                  </a:solidFill>
                  <a:latin typeface="Calibri" pitchFamily="34" charset="0"/>
                  <a:ea typeface="Calibri" pitchFamily="34" charset="-122"/>
                  <a:cs typeface="Calibri" pitchFamily="34" charset="-120"/>
                </a:rPr>
                <a:t>y</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zaufania do szacowanego stanu</a:t>
              </a:r>
              <a:endParaRPr lang="en-US" sz="1400" spc="-20" dirty="0"/>
            </a:p>
          </p:txBody>
        </p:sp>
      </p:grpSp>
      <p:sp>
        <p:nvSpPr>
          <p:cNvPr id="31" name="Prostokąt 30"/>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a:t>
            </a:r>
            <a:r>
              <a:rPr lang="pl-PL" sz="1400" dirty="0" smtClean="0">
                <a:solidFill>
                  <a:schemeClr val="bg1"/>
                </a:solidFill>
              </a:rPr>
              <a:t>.</a:t>
            </a:r>
            <a:endParaRPr lang="pl-PL" sz="14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ODOMETRIA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humanoida</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smtClean="0">
                <a:solidFill>
                  <a:srgbClr val="FFFFFF"/>
                </a:solidFill>
                <a:latin typeface="Trebuchet MS" pitchFamily="34" charset="0"/>
                <a:ea typeface="Trebuchet MS" pitchFamily="34" charset="-122"/>
                <a:cs typeface="Trebuchet MS" pitchFamily="34" charset="-120"/>
              </a:rPr>
              <a:t>vs </a:t>
            </a:r>
            <a:r>
              <a:rPr lang="en-US" sz="2800" b="1" dirty="0">
                <a:solidFill>
                  <a:srgbClr val="FFFFFF"/>
                </a:solidFill>
                <a:latin typeface="Trebuchet MS" pitchFamily="34" charset="0"/>
                <a:ea typeface="Trebuchet MS" pitchFamily="34" charset="-122"/>
                <a:cs typeface="Trebuchet MS" pitchFamily="34" charset="-120"/>
              </a:rPr>
              <a:t>odometria kołowa</a:t>
            </a:r>
            <a:endParaRPr lang="en-US" sz="2800" dirty="0"/>
          </a:p>
        </p:txBody>
      </p:sp>
      <p:sp>
        <p:nvSpPr>
          <p:cNvPr id="6" name="Shape 4"/>
          <p:cNvSpPr/>
          <p:nvPr/>
        </p:nvSpPr>
        <p:spPr>
          <a:xfrm>
            <a:off x="27432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kołowa (AGV)</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humanoida</a:t>
            </a:r>
            <a:endParaRPr lang="en-US" dirty="0"/>
          </a:p>
        </p:txBody>
      </p:sp>
      <p:sp>
        <p:nvSpPr>
          <p:cNvPr id="12" name="Text 10"/>
          <p:cNvSpPr/>
          <p:nvPr/>
        </p:nvSpPr>
        <p:spPr>
          <a:xfrm>
            <a:off x="374072" y="1569972"/>
            <a:ext cx="3969327" cy="2259593"/>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Zliczanie impulsów enkoderów napędowych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Proste równania kinematyczne (v, ω)</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głównie z poślizgu i nierówności kół</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Przewidywalny, mały błąd na krótkich dystansach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Dojrzałe algorytmy korekcji (AMCL, EKF)</a:t>
            </a:r>
            <a:endParaRPr lang="en-US" sz="1600" dirty="0"/>
          </a:p>
        </p:txBody>
      </p:sp>
      <p:sp>
        <p:nvSpPr>
          <p:cNvPr id="13" name="Text 11"/>
          <p:cNvSpPr/>
          <p:nvPr/>
        </p:nvSpPr>
        <p:spPr>
          <a:xfrm>
            <a:off x="4846697" y="1569972"/>
            <a:ext cx="3874109" cy="2013372"/>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Integracja kroków + IMU + kontakty stóp</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Stan kontaktu: stopa oparta = referencyjna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ze śliskich podłóg, wibracji tułowia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Niesymetria kroków i ugięcie struktury</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Wymagana fuzja z wizją lub LiDAR-em</a:t>
            </a:r>
            <a:endParaRPr lang="en-US" sz="1600" dirty="0"/>
          </a:p>
        </p:txBody>
      </p:sp>
      <p:sp>
        <p:nvSpPr>
          <p:cNvPr id="14" name="Prostokąt 13"/>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a:t>
            </a:r>
            <a:r>
              <a:rPr lang="pl-PL" sz="1400" dirty="0" err="1">
                <a:solidFill>
                  <a:schemeClr val="bg1"/>
                </a:solidFill>
              </a:rPr>
              <a:t>humanoida</a:t>
            </a:r>
            <a:r>
              <a:rPr lang="pl-PL" sz="1400" dirty="0">
                <a:solidFill>
                  <a:schemeClr val="bg1"/>
                </a:solidFill>
              </a:rPr>
              <a:t> jest trudniejsza niż </a:t>
            </a:r>
            <a:r>
              <a:rPr lang="pl-PL" sz="1400" dirty="0" err="1">
                <a:solidFill>
                  <a:schemeClr val="bg1"/>
                </a:solidFill>
              </a:rPr>
              <a:t>odometria</a:t>
            </a:r>
            <a:r>
              <a:rPr lang="pl-PL" sz="1400" dirty="0">
                <a:solidFill>
                  <a:schemeClr val="bg1"/>
                </a:solidFill>
              </a:rPr>
              <a:t> platformy kołowej. W robocie kołowym liczymy impulsy </a:t>
            </a:r>
            <a:r>
              <a:rPr lang="pl-PL" sz="1400" dirty="0" err="1">
                <a:solidFill>
                  <a:schemeClr val="bg1"/>
                </a:solidFill>
              </a:rPr>
              <a:t>enkoderów</a:t>
            </a:r>
            <a:r>
              <a:rPr lang="pl-PL" sz="1400" dirty="0">
                <a:solidFill>
                  <a:schemeClr val="bg1"/>
                </a:solidFill>
              </a:rPr>
              <a:t> i stosujemy proste równania kinematyczne. W </a:t>
            </a:r>
            <a:r>
              <a:rPr lang="pl-PL" sz="1400" dirty="0" err="1">
                <a:solidFill>
                  <a:schemeClr val="bg1"/>
                </a:solidFill>
              </a:rPr>
              <a:t>humanoidzie</a:t>
            </a:r>
            <a:r>
              <a:rPr lang="pl-PL" sz="1400" dirty="0">
                <a:solidFill>
                  <a:schemeClr val="bg1"/>
                </a:solidFill>
              </a:rPr>
              <a:t> musimy integrować kroki, IMU i kontakty stóp. Dryft wynika nie tylko z poślizgu, ale też z asymetrii kroków, wibracji tułowia i ugięć struktury. Dlatego </a:t>
            </a:r>
            <a:r>
              <a:rPr lang="pl-PL" sz="1400" dirty="0" err="1">
                <a:solidFill>
                  <a:schemeClr val="bg1"/>
                </a:solidFill>
              </a:rPr>
              <a:t>odometria</a:t>
            </a:r>
            <a:r>
              <a:rPr lang="pl-PL" sz="1400" dirty="0">
                <a:solidFill>
                  <a:schemeClr val="bg1"/>
                </a:solidFill>
              </a:rPr>
              <a:t> </a:t>
            </a:r>
            <a:r>
              <a:rPr lang="pl-PL" sz="1400" dirty="0" err="1">
                <a:solidFill>
                  <a:schemeClr val="bg1"/>
                </a:solidFill>
              </a:rPr>
              <a:t>humanoida</a:t>
            </a:r>
            <a:r>
              <a:rPr lang="pl-PL" sz="1400" dirty="0">
                <a:solidFill>
                  <a:schemeClr val="bg1"/>
                </a:solidFill>
              </a:rPr>
              <a:t> niemal zawsze wymaga korekcji zewnętrznej, na przykład przez wizję albo </a:t>
            </a:r>
            <a:r>
              <a:rPr lang="pl-PL" sz="1400" dirty="0" err="1">
                <a:solidFill>
                  <a:schemeClr val="bg1"/>
                </a:solidFill>
              </a:rPr>
              <a:t>LiDAR</a:t>
            </a:r>
            <a:r>
              <a:rPr lang="pl-PL" sz="1400" dirty="0">
                <a:solidFill>
                  <a:schemeClr val="bg1"/>
                </a:solidFil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BŁĘDY ESTYMACJI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Dryft i błędy estymacji</a:t>
            </a:r>
            <a:endParaRPr lang="en-US" sz="2800" dirty="0"/>
          </a:p>
        </p:txBody>
      </p:sp>
      <p:sp>
        <p:nvSpPr>
          <p:cNvPr id="6" name="Shape 4"/>
          <p:cNvSpPr/>
          <p:nvPr/>
        </p:nvSpPr>
        <p:spPr>
          <a:xfrm>
            <a:off x="274320" y="1059495"/>
            <a:ext cx="8595360" cy="293948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1000" y="1098036"/>
            <a:ext cx="8382000" cy="2755933"/>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Kumulacja błędów</a:t>
            </a:r>
            <a:r>
              <a:rPr lang="en-US" sz="1600" spc="-40" dirty="0">
                <a:solidFill>
                  <a:srgbClr val="0D1B2A"/>
                </a:solidFill>
                <a:latin typeface="Calibri" pitchFamily="34" charset="0"/>
                <a:ea typeface="Calibri" pitchFamily="34" charset="-122"/>
                <a:cs typeface="Calibri" pitchFamily="34" charset="-120"/>
              </a:rPr>
              <a:t>: każde całkowanie dodaje szum; po 100 krokach błąd pozycji może wynosić &gt;</a:t>
            </a:r>
            <a:r>
              <a:rPr lang="en-US" sz="1600" spc="-40" dirty="0" smtClean="0">
                <a:solidFill>
                  <a:srgbClr val="0D1B2A"/>
                </a:solidFill>
                <a:latin typeface="Calibri" pitchFamily="34" charset="0"/>
                <a:ea typeface="Calibri" pitchFamily="34" charset="-122"/>
                <a:cs typeface="Calibri" pitchFamily="34" charset="-120"/>
              </a:rPr>
              <a:t>0,5m</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Poślizg stopy</a:t>
            </a:r>
            <a:r>
              <a:rPr lang="en-US" sz="1600" spc="-40" dirty="0">
                <a:solidFill>
                  <a:srgbClr val="0D1B2A"/>
                </a:solidFill>
                <a:latin typeface="Calibri" pitchFamily="34" charset="0"/>
                <a:ea typeface="Calibri" pitchFamily="34" charset="-122"/>
                <a:cs typeface="Calibri" pitchFamily="34" charset="-120"/>
              </a:rPr>
              <a:t>: nagła zmiana kontaktu stopy powoduje skok w estymowanej pozycji bazowej</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Błędy kalibracji</a:t>
            </a:r>
            <a:r>
              <a:rPr lang="en-US" sz="1600" spc="-40" dirty="0">
                <a:solidFill>
                  <a:srgbClr val="0D1B2A"/>
                </a:solidFill>
                <a:latin typeface="Calibri" pitchFamily="34" charset="0"/>
                <a:ea typeface="Calibri" pitchFamily="34" charset="-122"/>
                <a:cs typeface="Calibri" pitchFamily="34" charset="-120"/>
              </a:rPr>
              <a:t>: nieprecyzyjne IMU (niezrównoważenie osi) lub enkodery (luz w przekładni)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Szum żyroskopu</a:t>
            </a:r>
            <a:r>
              <a:rPr lang="en-US" sz="1600" spc="-40" dirty="0">
                <a:solidFill>
                  <a:srgbClr val="0D1B2A"/>
                </a:solidFill>
                <a:latin typeface="Calibri" pitchFamily="34" charset="0"/>
                <a:ea typeface="Calibri" pitchFamily="34" charset="-122"/>
                <a:cs typeface="Calibri" pitchFamily="34" charset="-120"/>
              </a:rPr>
              <a:t>: dryft yaw przy całkowaniu prędkości kątowej – typowo 0,1–1°/s</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 transmisji</a:t>
            </a:r>
            <a:r>
              <a:rPr lang="en-US" sz="1600" spc="-40" dirty="0">
                <a:solidFill>
                  <a:srgbClr val="0D1B2A"/>
                </a:solidFill>
                <a:latin typeface="Calibri" pitchFamily="34" charset="0"/>
                <a:ea typeface="Calibri" pitchFamily="34" charset="-122"/>
                <a:cs typeface="Calibri" pitchFamily="34" charset="-120"/>
              </a:rPr>
              <a:t>: przesunięcie fazowe między sensorami zakłóca fuzję</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Model kinematyczny</a:t>
            </a:r>
            <a:r>
              <a:rPr lang="en-US" sz="1600" spc="-40" dirty="0">
                <a:solidFill>
                  <a:srgbClr val="0D1B2A"/>
                </a:solidFill>
                <a:latin typeface="Calibri" pitchFamily="34" charset="0"/>
                <a:ea typeface="Calibri" pitchFamily="34" charset="-122"/>
                <a:cs typeface="Calibri" pitchFamily="34" charset="-120"/>
              </a:rPr>
              <a:t>: uproszczenia (sztywne ogniwa, brak ugięcia) powodują systematyczny błąd</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Zmiana środowiska</a:t>
            </a:r>
            <a:r>
              <a:rPr lang="en-US" sz="1600" spc="-40" dirty="0">
                <a:solidFill>
                  <a:srgbClr val="0D1B2A"/>
                </a:solidFill>
                <a:latin typeface="Calibri" pitchFamily="34" charset="0"/>
                <a:ea typeface="Calibri" pitchFamily="34" charset="-122"/>
                <a:cs typeface="Calibri" pitchFamily="34" charset="-120"/>
              </a:rPr>
              <a:t>: ruchome podłoże (dywan, rampa) nie jest uwzględnione w modelu</a:t>
            </a:r>
            <a:endParaRPr lang="en-US" sz="1600" spc="-40" dirty="0"/>
          </a:p>
        </p:txBody>
      </p:sp>
      <p:sp>
        <p:nvSpPr>
          <p:cNvPr id="8" name="Prostokąt 7"/>
          <p:cNvSpPr/>
          <p:nvPr/>
        </p:nvSpPr>
        <p:spPr>
          <a:xfrm>
            <a:off x="274320" y="4203771"/>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1 | DEAD RECKONING</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err="1" smtClean="0">
                <a:solidFill>
                  <a:srgbClr val="FFFFFF"/>
                </a:solidFill>
                <a:latin typeface="Trebuchet MS" pitchFamily="34" charset="0"/>
                <a:ea typeface="Trebuchet MS" pitchFamily="34" charset="-122"/>
                <a:cs typeface="Trebuchet MS" pitchFamily="34" charset="-120"/>
              </a:rPr>
              <a:t>dea</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err="1">
                <a:solidFill>
                  <a:srgbClr val="FFFFFF"/>
                </a:solidFill>
                <a:latin typeface="Trebuchet MS" pitchFamily="34" charset="0"/>
                <a:ea typeface="Trebuchet MS" pitchFamily="34" charset="-122"/>
                <a:cs typeface="Trebuchet MS" pitchFamily="34" charset="-120"/>
              </a:rPr>
              <a:t>i</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ograniczenia</a:t>
            </a:r>
            <a:r>
              <a:rPr lang="pl-PL"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Dead reckoning </a:t>
            </a:r>
            <a:endParaRPr lang="en-US" sz="2800" dirty="0"/>
          </a:p>
        </p:txBody>
      </p:sp>
      <p:sp>
        <p:nvSpPr>
          <p:cNvPr id="6" name="Shape 4"/>
          <p:cNvSpPr/>
          <p:nvPr/>
        </p:nvSpPr>
        <p:spPr>
          <a:xfrm>
            <a:off x="274320" y="1097281"/>
            <a:ext cx="4160520" cy="2795246"/>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795246"/>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65760"/>
          </a:xfrm>
          <a:prstGeom prst="rect">
            <a:avLst/>
          </a:prstGeom>
          <a:solidFill>
            <a:srgbClr val="0077A8"/>
          </a:solidFill>
          <a:ln w="12700">
            <a:solidFill>
              <a:srgbClr val="0077A8"/>
            </a:solidFill>
            <a:prstDash val="solid"/>
          </a:ln>
        </p:spPr>
      </p:sp>
      <p:sp>
        <p:nvSpPr>
          <p:cNvPr id="9" name="Text 7"/>
          <p:cNvSpPr/>
          <p:nvPr/>
        </p:nvSpPr>
        <p:spPr>
          <a:xfrm>
            <a:off x="45720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Na czym polega</a:t>
            </a:r>
            <a:endParaRPr lang="en-US" sz="1600" dirty="0"/>
          </a:p>
        </p:txBody>
      </p:sp>
      <p:sp>
        <p:nvSpPr>
          <p:cNvPr id="10" name="Shape 8"/>
          <p:cNvSpPr/>
          <p:nvPr/>
        </p:nvSpPr>
        <p:spPr>
          <a:xfrm>
            <a:off x="4709160" y="1097280"/>
            <a:ext cx="4160520" cy="36576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Dlaczego nie wystarczy</a:t>
            </a:r>
            <a:endParaRPr lang="en-US" sz="1600" dirty="0"/>
          </a:p>
        </p:txBody>
      </p:sp>
      <p:sp>
        <p:nvSpPr>
          <p:cNvPr id="12" name="Text 10"/>
          <p:cNvSpPr/>
          <p:nvPr/>
        </p:nvSpPr>
        <p:spPr>
          <a:xfrm>
            <a:off x="327878" y="1494402"/>
            <a:ext cx="4092094" cy="2375453"/>
          </a:xfrm>
          <a:prstGeom prst="rect">
            <a:avLst/>
          </a:prstGeom>
          <a:noFill/>
          <a:ln/>
        </p:spPr>
        <p:txBody>
          <a:bodyPr wrap="square" lIns="63500" tIns="36000" rIns="101600" bIns="0" rtlCol="0" anchor="t">
            <a:spAutoFit/>
          </a:bodyPr>
          <a:lstStyle/>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Estymacja pozycji wyłącznie z </a:t>
            </a:r>
            <a:r>
              <a:rPr lang="pl-PL" sz="1600" spc="-60" dirty="0" smtClean="0">
                <a:solidFill>
                  <a:srgbClr val="0D1B2A"/>
                </a:solidFill>
                <a:latin typeface="Calibri" pitchFamily="34" charset="0"/>
                <a:ea typeface="Calibri" pitchFamily="34" charset="-122"/>
                <a:cs typeface="Calibri" pitchFamily="34" charset="-120"/>
              </a:rPr>
              <a:t>modelu</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
            </a:r>
            <a:br>
              <a:rPr lang="pl-PL" sz="1600" spc="-60" dirty="0" smtClean="0">
                <a:solidFill>
                  <a:srgbClr val="0D1B2A"/>
                </a:solidFill>
                <a:latin typeface="Calibri" pitchFamily="34" charset="0"/>
                <a:ea typeface="Calibri" pitchFamily="34" charset="-122"/>
                <a:cs typeface="Calibri" pitchFamily="34" charset="-120"/>
              </a:rPr>
            </a:br>
            <a:r>
              <a:rPr lang="en-US" sz="1600" spc="-60" dirty="0" err="1" smtClean="0">
                <a:solidFill>
                  <a:srgbClr val="0D1B2A"/>
                </a:solidFill>
                <a:latin typeface="Calibri" pitchFamily="34" charset="0"/>
                <a:ea typeface="Calibri" pitchFamily="34" charset="-122"/>
                <a:cs typeface="Calibri" pitchFamily="34" charset="-120"/>
              </a:rPr>
              <a:t>i</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pomiarów wewnętrznych </a:t>
            </a:r>
            <a:r>
              <a:rPr lang="en-US" sz="1600" i="1" spc="-60" dirty="0">
                <a:solidFill>
                  <a:srgbClr val="0D1B2A"/>
                </a:solidFill>
                <a:latin typeface="Calibri" pitchFamily="34" charset="0"/>
                <a:ea typeface="Calibri" pitchFamily="34" charset="-122"/>
                <a:cs typeface="Calibri" pitchFamily="34" charset="-120"/>
              </a:rPr>
              <a:t>(IMU, enkodery)</a:t>
            </a:r>
            <a:endParaRPr lang="en-US" sz="1600" i="1"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Brak korekty z </a:t>
            </a:r>
            <a:r>
              <a:rPr lang="en-US" sz="1600" spc="-60" dirty="0" err="1">
                <a:solidFill>
                  <a:srgbClr val="0D1B2A"/>
                </a:solidFill>
                <a:latin typeface="Calibri" pitchFamily="34" charset="0"/>
                <a:ea typeface="Calibri" pitchFamily="34" charset="-122"/>
                <a:cs typeface="Calibri" pitchFamily="34" charset="-120"/>
              </a:rPr>
              <a:t>zewnętrznych</a:t>
            </a:r>
            <a:r>
              <a:rPr lang="en-US" sz="1600" spc="-60" dirty="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punktów</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o</a:t>
            </a:r>
            <a:r>
              <a:rPr lang="en-US" sz="1600" spc="-60" dirty="0" err="1" smtClean="0">
                <a:solidFill>
                  <a:srgbClr val="0D1B2A"/>
                </a:solidFill>
                <a:latin typeface="Calibri" pitchFamily="34" charset="0"/>
                <a:ea typeface="Calibri" pitchFamily="34" charset="-122"/>
                <a:cs typeface="Calibri" pitchFamily="34" charset="-120"/>
              </a:rPr>
              <a:t>dniesienia</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Całkowanie prędkości: x(t) = x₀ + ∫v(τ)dτ</a:t>
            </a:r>
            <a:endParaRPr lang="en-US" sz="1600" spc="-60" dirty="0"/>
          </a:p>
          <a:p>
            <a:pPr marL="180000" indent="-180000">
              <a:spcAft>
                <a:spcPts val="1200"/>
              </a:spcAft>
              <a:buSzPct val="100000"/>
              <a:buChar char="•"/>
            </a:pPr>
            <a:r>
              <a:rPr lang="en-US" sz="1600" spc="-60" dirty="0" smtClean="0">
                <a:solidFill>
                  <a:srgbClr val="0D1B2A"/>
                </a:solidFill>
                <a:latin typeface="Calibri" pitchFamily="34" charset="0"/>
                <a:ea typeface="Calibri" pitchFamily="34" charset="-122"/>
                <a:cs typeface="Calibri" pitchFamily="34" charset="-120"/>
              </a:rPr>
              <a:t>W</a:t>
            </a:r>
            <a:r>
              <a:rPr lang="pl-PL" sz="1600" spc="-60" dirty="0" err="1" smtClean="0">
                <a:solidFill>
                  <a:srgbClr val="0D1B2A"/>
                </a:solidFill>
                <a:latin typeface="Calibri" pitchFamily="34" charset="0"/>
                <a:ea typeface="Calibri" pitchFamily="34" charset="-122"/>
                <a:cs typeface="Calibri" pitchFamily="34" charset="-120"/>
              </a:rPr>
              <a:t>ystarczające</a:t>
            </a:r>
            <a:r>
              <a:rPr lang="pl-PL" sz="1600" spc="-60" dirty="0" smtClean="0">
                <a:solidFill>
                  <a:srgbClr val="0D1B2A"/>
                </a:solidFill>
                <a:latin typeface="Calibri" pitchFamily="34" charset="0"/>
                <a:ea typeface="Calibri" pitchFamily="34" charset="-122"/>
                <a:cs typeface="Calibri" pitchFamily="34" charset="-120"/>
              </a:rPr>
              <a:t> w</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krótkim </a:t>
            </a:r>
            <a:r>
              <a:rPr lang="en-US" sz="1600" spc="-60" dirty="0" err="1">
                <a:solidFill>
                  <a:srgbClr val="0D1B2A"/>
                </a:solidFill>
                <a:latin typeface="Calibri" pitchFamily="34" charset="0"/>
                <a:ea typeface="Calibri" pitchFamily="34" charset="-122"/>
                <a:cs typeface="Calibri" pitchFamily="34" charset="-120"/>
              </a:rPr>
              <a:t>horyzoncie</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czasowym</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Zastosowanie: awaryjne przejście przez strefę bez GPS/LiDAR</a:t>
            </a:r>
            <a:endParaRPr lang="en-US" sz="1600" spc="-60" dirty="0"/>
          </a:p>
        </p:txBody>
      </p:sp>
      <p:sp>
        <p:nvSpPr>
          <p:cNvPr id="13" name="Text 11"/>
          <p:cNvSpPr/>
          <p:nvPr/>
        </p:nvSpPr>
        <p:spPr>
          <a:xfrm>
            <a:off x="4773249" y="1517073"/>
            <a:ext cx="4036213" cy="2124547"/>
          </a:xfrm>
          <a:prstGeom prst="rect">
            <a:avLst/>
          </a:prstGeom>
          <a:noFill/>
          <a:ln/>
        </p:spPr>
        <p:txBody>
          <a:bodyPr wrap="square" lIns="63500" tIns="72000" rIns="101600" bIns="0" rtlCol="0" anchor="t">
            <a:spAutoFit/>
          </a:bodyPr>
          <a:lstStyle/>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Błąd rośnie z </a:t>
            </a:r>
            <a:r>
              <a:rPr lang="en-US" sz="1600" spc="-100" dirty="0" err="1">
                <a:solidFill>
                  <a:srgbClr val="0D1B2A"/>
                </a:solidFill>
                <a:latin typeface="Calibri" pitchFamily="34" charset="0"/>
                <a:ea typeface="Calibri" pitchFamily="34" charset="-122"/>
                <a:cs typeface="Calibri" pitchFamily="34" charset="-120"/>
              </a:rPr>
              <a:t>kwadratem</a:t>
            </a:r>
            <a:r>
              <a:rPr lang="en-US" sz="1600" spc="-100" dirty="0">
                <a:solidFill>
                  <a:srgbClr val="0D1B2A"/>
                </a:solidFill>
                <a:latin typeface="Calibri" pitchFamily="34" charset="0"/>
                <a:ea typeface="Calibri" pitchFamily="34" charset="-122"/>
                <a:cs typeface="Calibri" pitchFamily="34" charset="-120"/>
              </a:rPr>
              <a:t> </a:t>
            </a:r>
            <a:r>
              <a:rPr lang="pl-PL" sz="1600" spc="-100" dirty="0" smtClean="0">
                <a:solidFill>
                  <a:srgbClr val="0D1B2A"/>
                </a:solidFill>
                <a:latin typeface="Calibri" pitchFamily="34" charset="0"/>
                <a:ea typeface="Calibri" pitchFamily="34" charset="-122"/>
                <a:cs typeface="Calibri" pitchFamily="34" charset="-120"/>
              </a:rPr>
              <a:t>czasu</a:t>
            </a:r>
            <a:r>
              <a:rPr lang="en-US" sz="1600" spc="-100" dirty="0" smtClean="0">
                <a:solidFill>
                  <a:srgbClr val="0D1B2A"/>
                </a:solidFill>
                <a:latin typeface="Calibri" pitchFamily="34" charset="0"/>
                <a:ea typeface="Calibri" pitchFamily="34" charset="-122"/>
                <a:cs typeface="Calibri" pitchFamily="34" charset="-120"/>
              </a:rPr>
              <a:t> </a:t>
            </a:r>
            <a:r>
              <a:rPr lang="en-US" sz="1600" i="1" spc="-100" dirty="0" smtClean="0">
                <a:solidFill>
                  <a:srgbClr val="0D1B2A"/>
                </a:solidFill>
                <a:latin typeface="Calibri" pitchFamily="34" charset="0"/>
                <a:ea typeface="Calibri" pitchFamily="34" charset="-122"/>
                <a:cs typeface="Calibri" pitchFamily="34" charset="-120"/>
              </a:rPr>
              <a:t>(</a:t>
            </a:r>
            <a:r>
              <a:rPr lang="en-US" sz="1600" i="1" spc="-100" dirty="0">
                <a:solidFill>
                  <a:srgbClr val="0D1B2A"/>
                </a:solidFill>
                <a:latin typeface="Calibri" pitchFamily="34" charset="0"/>
                <a:ea typeface="Calibri" pitchFamily="34" charset="-122"/>
                <a:cs typeface="Calibri" pitchFamily="34" charset="-120"/>
              </a:rPr>
              <a:t>całkowanie szumu)</a:t>
            </a:r>
            <a:endParaRPr lang="en-US" sz="1600" i="1" spc="-100" dirty="0"/>
          </a:p>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Bez korekty dryft yaw na </a:t>
            </a:r>
            <a:r>
              <a:rPr lang="en-US" sz="1600" spc="-100" dirty="0" err="1">
                <a:solidFill>
                  <a:srgbClr val="0D1B2A"/>
                </a:solidFill>
                <a:latin typeface="Calibri" pitchFamily="34" charset="0"/>
                <a:ea typeface="Calibri" pitchFamily="34" charset="-122"/>
                <a:cs typeface="Calibri" pitchFamily="34" charset="-120"/>
              </a:rPr>
              <a:t>poziomie</a:t>
            </a:r>
            <a:r>
              <a:rPr lang="en-US" sz="1600" spc="-100" dirty="0">
                <a:solidFill>
                  <a:srgbClr val="0D1B2A"/>
                </a:solidFill>
                <a:latin typeface="Calibri" pitchFamily="34" charset="0"/>
                <a:ea typeface="Calibri" pitchFamily="34" charset="-122"/>
                <a:cs typeface="Calibri" pitchFamily="34" charset="-120"/>
              </a:rPr>
              <a:t> </a:t>
            </a:r>
            <a:r>
              <a:rPr lang="en-US" sz="1600" spc="-100" dirty="0" err="1" smtClean="0">
                <a:solidFill>
                  <a:srgbClr val="0D1B2A"/>
                </a:solidFill>
                <a:latin typeface="Calibri" pitchFamily="34" charset="0"/>
                <a:ea typeface="Calibri" pitchFamily="34" charset="-122"/>
                <a:cs typeface="Calibri" pitchFamily="34" charset="-120"/>
              </a:rPr>
              <a:t>kilku</a:t>
            </a:r>
            <a:r>
              <a:rPr lang="en-US" sz="1600" spc="-100" dirty="0" smtClean="0">
                <a:solidFill>
                  <a:srgbClr val="0D1B2A"/>
                </a:solidFill>
                <a:latin typeface="Calibri" pitchFamily="34" charset="0"/>
                <a:ea typeface="Calibri" pitchFamily="34" charset="-122"/>
                <a:cs typeface="Calibri" pitchFamily="34" charset="-120"/>
              </a:rPr>
              <a:t> </a:t>
            </a:r>
            <a:r>
              <a:rPr lang="en-US" sz="1600" spc="-100" dirty="0">
                <a:solidFill>
                  <a:srgbClr val="0D1B2A"/>
                </a:solidFill>
                <a:latin typeface="Calibri" pitchFamily="34" charset="0"/>
                <a:ea typeface="Calibri" pitchFamily="34" charset="-122"/>
                <a:cs typeface="Calibri" pitchFamily="34" charset="-120"/>
              </a:rPr>
              <a:t>stopni/min</a:t>
            </a:r>
            <a:endParaRPr lang="en-US" sz="1600" spc="-10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Po 30 s marszu błąd pozycji </a:t>
            </a:r>
            <a:r>
              <a:rPr lang="en-US" sz="1600" spc="-80" dirty="0" err="1">
                <a:solidFill>
                  <a:srgbClr val="0D1B2A"/>
                </a:solidFill>
                <a:latin typeface="Calibri" pitchFamily="34" charset="0"/>
                <a:ea typeface="Calibri" pitchFamily="34" charset="-122"/>
                <a:cs typeface="Calibri" pitchFamily="34" charset="-120"/>
              </a:rPr>
              <a:t>może</a:t>
            </a:r>
            <a:r>
              <a:rPr lang="en-US" sz="1600" spc="-80" dirty="0">
                <a:solidFill>
                  <a:srgbClr val="0D1B2A"/>
                </a:solidFill>
                <a:latin typeface="Calibri" pitchFamily="34" charset="0"/>
                <a:ea typeface="Calibri" pitchFamily="34" charset="-122"/>
                <a:cs typeface="Calibri" pitchFamily="34" charset="-120"/>
              </a:rPr>
              <a:t> </a:t>
            </a:r>
            <a:r>
              <a:rPr lang="en-US" sz="1600" spc="-80" dirty="0" smtClean="0">
                <a:solidFill>
                  <a:srgbClr val="0D1B2A"/>
                </a:solidFill>
                <a:latin typeface="Calibri" pitchFamily="34" charset="0"/>
                <a:ea typeface="Calibri" pitchFamily="34" charset="-122"/>
                <a:cs typeface="Calibri" pitchFamily="34" charset="-120"/>
              </a:rPr>
              <a:t>przekroczyć 1m</a:t>
            </a:r>
            <a:endParaRPr lang="en-US" sz="1600"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Nie wykrywa zakłóceń środowiskowych </a:t>
            </a:r>
            <a:r>
              <a:rPr lang="en-US" sz="1600" i="1" spc="-80" dirty="0">
                <a:solidFill>
                  <a:srgbClr val="0D1B2A"/>
                </a:solidFill>
                <a:latin typeface="Calibri" pitchFamily="34" charset="0"/>
                <a:ea typeface="Calibri" pitchFamily="34" charset="-122"/>
                <a:cs typeface="Calibri" pitchFamily="34" charset="-120"/>
              </a:rPr>
              <a:t>(poślizg)</a:t>
            </a:r>
            <a:endParaRPr lang="en-US" sz="1600" i="1"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Konieczna fuzja z SLAM, GPS lub znacznikami</a:t>
            </a:r>
            <a:endParaRPr lang="en-US" sz="1600" spc="-80" dirty="0"/>
          </a:p>
        </p:txBody>
      </p:sp>
      <p:sp>
        <p:nvSpPr>
          <p:cNvPr id="14" name="Prostokąt 13"/>
          <p:cNvSpPr/>
          <p:nvPr/>
        </p:nvSpPr>
        <p:spPr>
          <a:xfrm>
            <a:off x="274320" y="4045074"/>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Dead </a:t>
            </a:r>
            <a:r>
              <a:rPr lang="pl-PL" sz="1400" dirty="0" err="1">
                <a:solidFill>
                  <a:schemeClr val="bg1"/>
                </a:solidFill>
              </a:rPr>
              <a:t>reckoning</a:t>
            </a:r>
            <a:r>
              <a:rPr lang="pl-PL" sz="1400" dirty="0">
                <a:solidFill>
                  <a:schemeClr val="bg1"/>
                </a:solidFill>
              </a:rPr>
              <a:t> to estymacja pozycji wyłącznie na podstawie modelu ruchu i pomiarów wewnętrznych, takich jak IMU i </a:t>
            </a:r>
            <a:r>
              <a:rPr lang="pl-PL" sz="1400" dirty="0" err="1">
                <a:solidFill>
                  <a:schemeClr val="bg1"/>
                </a:solidFill>
              </a:rPr>
              <a:t>enkodery</a:t>
            </a:r>
            <a:r>
              <a:rPr lang="pl-PL" sz="1400" dirty="0">
                <a:solidFill>
                  <a:schemeClr val="bg1"/>
                </a:solidFill>
              </a:rPr>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samo w sobie nie wystarcza i musi być wspierane przez zewnętrzne punkty odniesienia, SLAM albo znaczniki.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TRANSFORMACJE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Referencyjne układy: map, odom, base</a:t>
            </a:r>
            <a:endParaRPr lang="en-US" sz="2800" dirty="0"/>
          </a:p>
        </p:txBody>
      </p:sp>
      <p:sp>
        <p:nvSpPr>
          <p:cNvPr id="6" name="Shape 4"/>
          <p:cNvSpPr/>
          <p:nvPr/>
        </p:nvSpPr>
        <p:spPr>
          <a:xfrm>
            <a:off x="274320" y="1127508"/>
            <a:ext cx="8595360" cy="2714214"/>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30200" y="1128264"/>
            <a:ext cx="8502650" cy="2683230"/>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world</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absolutna ramka inercjalna; stała; punkt odniesienia misji</a:t>
            </a:r>
            <a:endParaRPr lang="en-US" sz="1600" spc="-40" dirty="0"/>
          </a:p>
          <a:p>
            <a:pPr marL="216000" indent="-216000">
              <a:spcAft>
                <a:spcPts val="1200"/>
              </a:spcAft>
              <a:buSzPct val="100000"/>
              <a:buChar char="•"/>
            </a:pPr>
            <a:r>
              <a:rPr lang="en-US" sz="1600" b="1" spc="-40" dirty="0" smtClean="0">
                <a:solidFill>
                  <a:srgbClr val="0D1B2A"/>
                </a:solidFill>
                <a:latin typeface="Calibri" pitchFamily="34" charset="0"/>
                <a:ea typeface="Calibri" pitchFamily="34" charset="-122"/>
                <a:cs typeface="Calibri" pitchFamily="34" charset="-120"/>
              </a:rPr>
              <a:t>map</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 ramka mapy SLAM; skokowe korekty przy domknięciu pętli; world ≈ map w małych środowiskach</a:t>
            </a:r>
            <a:endParaRPr lang="en-US" sz="1600" spc="-40" dirty="0"/>
          </a:p>
          <a:p>
            <a:pPr marL="216000" indent="-216000">
              <a:spcAft>
                <a:spcPts val="1200"/>
              </a:spcAft>
              <a:buSzPct val="100000"/>
              <a:buChar char="•"/>
            </a:pPr>
            <a:r>
              <a:rPr lang="en-US" sz="1600" b="1" spc="-40" dirty="0" err="1">
                <a:solidFill>
                  <a:srgbClr val="0D1B2A"/>
                </a:solidFill>
                <a:latin typeface="Calibri" pitchFamily="34" charset="0"/>
                <a:ea typeface="Calibri" pitchFamily="34" charset="-122"/>
                <a:cs typeface="Calibri" pitchFamily="34" charset="-120"/>
              </a:rPr>
              <a:t>odom</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ramka odometrii; ciągła, ale dryfuje; baza dla planisty lokalnego</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base</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miednica / CoM robota; centrum drzewa kinematyki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Relacja kluczowa</a:t>
            </a:r>
            <a:r>
              <a:rPr lang="en-US" sz="1600" spc="-40" dirty="0">
                <a:solidFill>
                  <a:srgbClr val="0D1B2A"/>
                </a:solidFill>
                <a:latin typeface="Calibri" pitchFamily="34" charset="0"/>
                <a:ea typeface="Calibri" pitchFamily="34" charset="-122"/>
                <a:cs typeface="Calibri" pitchFamily="34" charset="-120"/>
              </a:rPr>
              <a:t>: </a:t>
            </a:r>
            <a:r>
              <a:rPr lang="en-US" sz="1600" spc="-40" dirty="0">
                <a:solidFill>
                  <a:srgbClr val="FF0000"/>
                </a:solidFill>
                <a:latin typeface="Calibri" pitchFamily="34" charset="0"/>
                <a:ea typeface="Calibri" pitchFamily="34" charset="-122"/>
                <a:cs typeface="Calibri" pitchFamily="34" charset="-120"/>
              </a:rPr>
              <a:t>odom→map </a:t>
            </a:r>
            <a:r>
              <a:rPr lang="en-US" sz="1600" spc="-40" dirty="0">
                <a:solidFill>
                  <a:srgbClr val="0D1B2A"/>
                </a:solidFill>
                <a:latin typeface="Calibri" pitchFamily="34" charset="0"/>
                <a:ea typeface="Calibri" pitchFamily="34" charset="-122"/>
                <a:cs typeface="Calibri" pitchFamily="34" charset="-120"/>
              </a:rPr>
              <a:t>to korekta SLAM; </a:t>
            </a:r>
            <a:r>
              <a:rPr lang="en-US" sz="1600" spc="-40" dirty="0">
                <a:solidFill>
                  <a:srgbClr val="FF0000"/>
                </a:solidFill>
                <a:latin typeface="Calibri" pitchFamily="34" charset="0"/>
                <a:ea typeface="Calibri" pitchFamily="34" charset="-122"/>
                <a:cs typeface="Calibri" pitchFamily="34" charset="-120"/>
              </a:rPr>
              <a:t>base→odom </a:t>
            </a:r>
            <a:r>
              <a:rPr lang="en-US" sz="1600" spc="-40" dirty="0">
                <a:solidFill>
                  <a:srgbClr val="0D1B2A"/>
                </a:solidFill>
                <a:latin typeface="Calibri" pitchFamily="34" charset="0"/>
                <a:ea typeface="Calibri" pitchFamily="34" charset="-122"/>
                <a:cs typeface="Calibri" pitchFamily="34" charset="-120"/>
              </a:rPr>
              <a:t>to bieżąca odometria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ROS 2 tf2</a:t>
            </a:r>
            <a:r>
              <a:rPr lang="en-US" sz="1600" spc="-40" dirty="0">
                <a:solidFill>
                  <a:srgbClr val="0D1B2A"/>
                </a:solidFill>
                <a:latin typeface="Calibri" pitchFamily="34" charset="0"/>
                <a:ea typeface="Calibri" pitchFamily="34" charset="-122"/>
                <a:cs typeface="Calibri" pitchFamily="34" charset="-120"/>
              </a:rPr>
              <a:t>: każda transformacja niesie timestamp; stare transformacje są buforowane</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Niespójne drzewo TF </a:t>
            </a:r>
            <a:r>
              <a:rPr lang="en-US" sz="1600" spc="-40" dirty="0">
                <a:solidFill>
                  <a:srgbClr val="0D1B2A"/>
                </a:solidFill>
                <a:latin typeface="Calibri" pitchFamily="34" charset="0"/>
                <a:ea typeface="Calibri" pitchFamily="34" charset="-122"/>
                <a:cs typeface="Calibri" pitchFamily="34" charset="-120"/>
              </a:rPr>
              <a:t>jest najczęstszą </a:t>
            </a:r>
            <a:r>
              <a:rPr lang="en-US" sz="1600" b="1" spc="-40" dirty="0">
                <a:solidFill>
                  <a:srgbClr val="0D1B2A"/>
                </a:solidFill>
                <a:latin typeface="Calibri" pitchFamily="34" charset="0"/>
                <a:ea typeface="Calibri" pitchFamily="34" charset="-122"/>
                <a:cs typeface="Calibri" pitchFamily="34" charset="-120"/>
              </a:rPr>
              <a:t>przyczyną błędów nawigacji w ROS-ie</a:t>
            </a:r>
            <a:endParaRPr lang="en-US" sz="1600" b="1" spc="-40" dirty="0"/>
          </a:p>
        </p:txBody>
      </p:sp>
      <p:sp>
        <p:nvSpPr>
          <p:cNvPr id="8" name="Prostokąt 7"/>
          <p:cNvSpPr/>
          <p:nvPr/>
        </p:nvSpPr>
        <p:spPr>
          <a:xfrm>
            <a:off x="274320" y="4045074"/>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systemie lokalizacji kluczowe są trzy ramki: map, odom i </a:t>
            </a:r>
            <a:r>
              <a:rPr lang="pl-PL" sz="1400" dirty="0" err="1">
                <a:solidFill>
                  <a:schemeClr val="bg1"/>
                </a:solidFill>
              </a:rPr>
              <a:t>base</a:t>
            </a:r>
            <a:r>
              <a:rPr lang="pl-PL" sz="1400" dirty="0">
                <a:solidFill>
                  <a:schemeClr val="bg1"/>
                </a:solidFill>
              </a:rPr>
              <a:t>. Ramka map jest związana z mapą SLAM i może być korygowana skokowo przy domknięciu pętli. Ramka odom jest ciągła, ale dryfuje. Ramka </a:t>
            </a:r>
            <a:r>
              <a:rPr lang="pl-PL" sz="1400" dirty="0" err="1">
                <a:solidFill>
                  <a:schemeClr val="bg1"/>
                </a:solidFill>
              </a:rPr>
              <a:t>base</a:t>
            </a:r>
            <a:r>
              <a:rPr lang="pl-PL" sz="1400" dirty="0">
                <a:solidFill>
                  <a:schemeClr val="bg1"/>
                </a:solidFill>
              </a:rPr>
              <a:t> opisuje aktualne położenie bazy robota. Relacja </a:t>
            </a:r>
            <a:r>
              <a:rPr lang="pl-PL" sz="1400" dirty="0" smtClean="0">
                <a:solidFill>
                  <a:schemeClr val="bg1"/>
                </a:solidFill>
              </a:rPr>
              <a:t>odom</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map </a:t>
            </a:r>
            <a:r>
              <a:rPr lang="pl-PL" sz="1400" dirty="0">
                <a:solidFill>
                  <a:schemeClr val="bg1"/>
                </a:solidFill>
              </a:rPr>
              <a:t>to korekta globalna, a relacja </a:t>
            </a:r>
            <a:r>
              <a:rPr lang="pl-PL" sz="1400" dirty="0" err="1" smtClean="0">
                <a:solidFill>
                  <a:schemeClr val="bg1"/>
                </a:solidFill>
              </a:rPr>
              <a:t>base</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odom </a:t>
            </a:r>
            <a:r>
              <a:rPr lang="pl-PL" sz="1400" dirty="0">
                <a:solidFill>
                  <a:schemeClr val="bg1"/>
                </a:solidFill>
              </a:rPr>
              <a:t>to bieżąca </a:t>
            </a:r>
            <a:r>
              <a:rPr lang="pl-PL" sz="1400" dirty="0" err="1">
                <a:solidFill>
                  <a:schemeClr val="bg1"/>
                </a:solidFill>
              </a:rPr>
              <a:t>odometria</a:t>
            </a:r>
            <a:r>
              <a:rPr lang="pl-PL" sz="1400" dirty="0">
                <a:solidFill>
                  <a:schemeClr val="bg1"/>
                </a:solidFill>
              </a:rPr>
              <a:t>. </a:t>
            </a:r>
            <a:r>
              <a:rPr lang="pl-PL" sz="1400" dirty="0" smtClean="0">
                <a:solidFill>
                  <a:schemeClr val="bg1"/>
                </a:solidFill>
              </a:rPr>
              <a:t/>
            </a:r>
            <a:br>
              <a:rPr lang="pl-PL" sz="1400" dirty="0" smtClean="0">
                <a:solidFill>
                  <a:schemeClr val="bg1"/>
                </a:solidFill>
              </a:rPr>
            </a:br>
            <a:r>
              <a:rPr lang="pl-PL" sz="1400" dirty="0" smtClean="0">
                <a:solidFill>
                  <a:schemeClr val="bg1"/>
                </a:solidFill>
              </a:rPr>
              <a:t>W ROS-</a:t>
            </a:r>
            <a:r>
              <a:rPr lang="pl-PL" sz="1400" dirty="0" err="1" smtClean="0">
                <a:solidFill>
                  <a:schemeClr val="bg1"/>
                </a:solidFill>
              </a:rPr>
              <a:t>ie</a:t>
            </a:r>
            <a:r>
              <a:rPr lang="pl-PL" sz="1400" dirty="0" smtClean="0">
                <a:solidFill>
                  <a:schemeClr val="bg1"/>
                </a:solidFill>
              </a:rPr>
              <a:t> </a:t>
            </a:r>
            <a:r>
              <a:rPr lang="pl-PL" sz="1400" dirty="0">
                <a:solidFill>
                  <a:schemeClr val="bg1"/>
                </a:solidFill>
              </a:rPr>
              <a:t>każda transformacja ma znacznik czasu i jest buforowana. Niespójne drzewo TF to jeden z najczęstszych praktycznych powodów awarii lokalizacji.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KONTAKT STOPY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Kontakt stopy jako źródło informacji</a:t>
            </a:r>
            <a:endParaRPr lang="en-US" sz="2800" dirty="0"/>
          </a:p>
        </p:txBody>
      </p:sp>
      <p:sp>
        <p:nvSpPr>
          <p:cNvPr id="6" name="Shape 4"/>
          <p:cNvSpPr/>
          <p:nvPr/>
        </p:nvSpPr>
        <p:spPr>
          <a:xfrm>
            <a:off x="274320" y="1067052"/>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2860" y="1158492"/>
            <a:ext cx="8367130" cy="2755933"/>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podparcia</a:t>
            </a:r>
            <a:r>
              <a:rPr lang="en-US" sz="1600" spc="-40" dirty="0">
                <a:solidFill>
                  <a:srgbClr val="0D1B2A"/>
                </a:solidFill>
                <a:latin typeface="Calibri" pitchFamily="34" charset="0"/>
                <a:ea typeface="Calibri" pitchFamily="34" charset="-122"/>
                <a:cs typeface="Calibri" pitchFamily="34" charset="-120"/>
              </a:rPr>
              <a:t>: stopa oparta na </a:t>
            </a:r>
            <a:r>
              <a:rPr lang="en-US" sz="1600" spc="-40" dirty="0" err="1">
                <a:solidFill>
                  <a:srgbClr val="0D1B2A"/>
                </a:solidFill>
                <a:latin typeface="Calibri" pitchFamily="34" charset="0"/>
                <a:ea typeface="Calibri" pitchFamily="34" charset="-122"/>
                <a:cs typeface="Calibri" pitchFamily="34" charset="-120"/>
              </a:rPr>
              <a:t>podłożu</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może</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służyć jako punkt </a:t>
            </a:r>
            <a:r>
              <a:rPr lang="en-US" sz="1600" spc="-40" dirty="0" err="1">
                <a:solidFill>
                  <a:srgbClr val="0D1B2A"/>
                </a:solidFill>
                <a:latin typeface="Calibri" pitchFamily="34" charset="0"/>
                <a:ea typeface="Calibri" pitchFamily="34" charset="-122"/>
                <a:cs typeface="Calibri" pitchFamily="34" charset="-120"/>
              </a:rPr>
              <a:t>odniesienia</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odometrii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przenoszenia</a:t>
            </a:r>
            <a:r>
              <a:rPr lang="en-US" sz="1600" spc="-40" dirty="0">
                <a:solidFill>
                  <a:srgbClr val="0D1B2A"/>
                </a:solidFill>
                <a:latin typeface="Calibri" pitchFamily="34" charset="0"/>
                <a:ea typeface="Calibri" pitchFamily="34" charset="-122"/>
                <a:cs typeface="Calibri" pitchFamily="34" charset="-120"/>
              </a:rPr>
              <a:t>: stopa w </a:t>
            </a:r>
            <a:r>
              <a:rPr lang="en-US" sz="1600" spc="-40" dirty="0" err="1">
                <a:solidFill>
                  <a:srgbClr val="0D1B2A"/>
                </a:solidFill>
                <a:latin typeface="Calibri" pitchFamily="34" charset="0"/>
                <a:ea typeface="Calibri" pitchFamily="34" charset="-122"/>
                <a:cs typeface="Calibri" pitchFamily="34" charset="-120"/>
              </a:rPr>
              <a:t>locie</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brak</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danych pozycyjnych z </a:t>
            </a:r>
            <a:r>
              <a:rPr lang="en-US" sz="1600" spc="-40" dirty="0" err="1">
                <a:solidFill>
                  <a:srgbClr val="0D1B2A"/>
                </a:solidFill>
                <a:latin typeface="Calibri" pitchFamily="34" charset="0"/>
                <a:ea typeface="Calibri" pitchFamily="34" charset="-122"/>
                <a:cs typeface="Calibri" pitchFamily="34" charset="-120"/>
              </a:rPr>
              <a:t>tej</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nogi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Czujniki F/T w stopie mierzą 6-DoF</a:t>
            </a:r>
            <a:r>
              <a:rPr lang="en-US" sz="1600" spc="-40" dirty="0">
                <a:solidFill>
                  <a:srgbClr val="0D1B2A"/>
                </a:solidFill>
                <a:latin typeface="Calibri" pitchFamily="34" charset="0"/>
                <a:ea typeface="Calibri" pitchFamily="34" charset="-122"/>
                <a:cs typeface="Calibri" pitchFamily="34" charset="-120"/>
              </a:rPr>
              <a:t>: Fx, Fy, Fz, Mx, My, Mz</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Detekcja kontaktu</a:t>
            </a:r>
            <a:r>
              <a:rPr lang="en-US" sz="1600" spc="-40" dirty="0">
                <a:solidFill>
                  <a:srgbClr val="0D1B2A"/>
                </a:solidFill>
                <a:latin typeface="Calibri" pitchFamily="34" charset="0"/>
                <a:ea typeface="Calibri" pitchFamily="34" charset="-122"/>
                <a:cs typeface="Calibri" pitchFamily="34" charset="-120"/>
              </a:rPr>
              <a:t>: Fz &gt; próg (np. 30 N) → stopa oparta; przydatne przy miękkich nawierzchniach</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Kinematyczna odometria kroków</a:t>
            </a:r>
            <a:r>
              <a:rPr lang="en-US" sz="1600" spc="-40" dirty="0">
                <a:solidFill>
                  <a:srgbClr val="0D1B2A"/>
                </a:solidFill>
                <a:latin typeface="Calibri" pitchFamily="34" charset="0"/>
                <a:ea typeface="Calibri" pitchFamily="34" charset="-122"/>
                <a:cs typeface="Calibri" pitchFamily="34" charset="-120"/>
              </a:rPr>
              <a:t>: pozycja bazy = pozycja stopy + FK⁻¹</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Brak kontaktu obu stóp jednocześnie</a:t>
            </a:r>
            <a:r>
              <a:rPr lang="en-US" sz="1600" spc="-40" dirty="0">
                <a:solidFill>
                  <a:srgbClr val="0D1B2A"/>
                </a:solidFill>
                <a:latin typeface="Calibri" pitchFamily="34" charset="0"/>
                <a:ea typeface="Calibri" pitchFamily="34" charset="-122"/>
                <a:cs typeface="Calibri" pitchFamily="34" charset="-120"/>
              </a:rPr>
              <a:t>: skok lub upadek – należy zresetować estymator</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Fuzja z IMU</a:t>
            </a:r>
            <a:r>
              <a:rPr lang="en-US" sz="1600" spc="-40" dirty="0">
                <a:solidFill>
                  <a:srgbClr val="0D1B2A"/>
                </a:solidFill>
                <a:latin typeface="Calibri" pitchFamily="34" charset="0"/>
                <a:ea typeface="Calibri" pitchFamily="34" charset="-122"/>
                <a:cs typeface="Calibri" pitchFamily="34" charset="-120"/>
              </a:rPr>
              <a:t>: stopa jako warunek brzegowy do korekcji dryftu yaw i translacji</a:t>
            </a:r>
            <a:endParaRPr lang="en-US" sz="1600" spc="-40" dirty="0"/>
          </a:p>
        </p:txBody>
      </p:sp>
      <p:sp>
        <p:nvSpPr>
          <p:cNvPr id="8" name="Prostokąt 7"/>
          <p:cNvSpPr/>
          <p:nvPr/>
        </p:nvSpPr>
        <p:spPr>
          <a:xfrm>
            <a:off x="274320" y="4211328"/>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Kontakt stopy jest bardzo cennym źródłem informacji. Gdy stopa jest w fazie podparcia, może pełnić funkcję punktu odniesienia dla </a:t>
            </a:r>
            <a:r>
              <a:rPr lang="pl-PL" sz="1400" dirty="0" err="1">
                <a:solidFill>
                  <a:schemeClr val="bg1"/>
                </a:solidFill>
              </a:rPr>
              <a:t>odometrii</a:t>
            </a:r>
            <a:r>
              <a:rPr lang="pl-PL" sz="1400" dirty="0">
                <a:solidFill>
                  <a:schemeClr val="bg1"/>
                </a:solidFill>
              </a:rPr>
              <a:t>. Gdy jest w fazie przenoszenia, tej informacji nie mamy. Czujniki sił i momentów w stopach pozwalają wykryć kontakt przez próg siły pionowej. Na tej podstawie możemy budować kinematyczną </a:t>
            </a:r>
            <a:r>
              <a:rPr lang="pl-PL" sz="1400" dirty="0" err="1">
                <a:solidFill>
                  <a:schemeClr val="bg1"/>
                </a:solidFill>
              </a:rPr>
              <a:t>odometrię</a:t>
            </a:r>
            <a:r>
              <a:rPr lang="pl-PL" sz="1400" dirty="0">
                <a:solidFill>
                  <a:schemeClr val="bg1"/>
                </a:solidFill>
              </a:rPr>
              <a:t> kroków i korygować estymację bazy. W połączeniu z IMU daje to istotne ograniczenie dryftu translacji i orientacji.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METRYKI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Metryki jakości lokalizacji</a:t>
            </a:r>
            <a:endParaRPr lang="en-US" sz="2800" dirty="0"/>
          </a:p>
        </p:txBody>
      </p:sp>
      <p:grpSp>
        <p:nvGrpSpPr>
          <p:cNvPr id="22" name="Grupa 21"/>
          <p:cNvGrpSpPr/>
          <p:nvPr/>
        </p:nvGrpSpPr>
        <p:grpSpPr>
          <a:xfrm>
            <a:off x="274320" y="1097658"/>
            <a:ext cx="8595360" cy="3049759"/>
            <a:chOff x="274320" y="1143000"/>
            <a:chExt cx="8595360" cy="3335649"/>
          </a:xfrm>
        </p:grpSpPr>
        <p:sp>
          <p:nvSpPr>
            <p:cNvPr id="6" name="Shape 4"/>
            <p:cNvSpPr/>
            <p:nvPr/>
          </p:nvSpPr>
          <p:spPr>
            <a:xfrm>
              <a:off x="27432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RMSE pozycji</a:t>
              </a:r>
              <a:endParaRPr lang="en-US" sz="2000" dirty="0"/>
            </a:p>
          </p:txBody>
        </p:sp>
        <p:sp>
          <p:nvSpPr>
            <p:cNvPr id="9" name="Text 7"/>
            <p:cNvSpPr/>
            <p:nvPr/>
          </p:nvSpPr>
          <p:spPr>
            <a:xfrm>
              <a:off x="38404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Pierwiastek </a:t>
              </a:r>
              <a:r>
                <a:rPr lang="en-US" sz="1600" dirty="0" err="1">
                  <a:solidFill>
                    <a:srgbClr val="475569"/>
                  </a:solidFill>
                  <a:latin typeface="Calibri" pitchFamily="34" charset="0"/>
                  <a:ea typeface="Calibri" pitchFamily="34" charset="-122"/>
                  <a:cs typeface="Calibri" pitchFamily="34" charset="-120"/>
                </a:rPr>
                <a:t>średniokwadratowego</a:t>
              </a:r>
              <a:r>
                <a:rPr lang="en-US" sz="1600" dirty="0">
                  <a:solidFill>
                    <a:srgbClr val="475569"/>
                  </a:solidFill>
                  <a:latin typeface="Calibri" pitchFamily="34" charset="0"/>
                  <a:ea typeface="Calibri" pitchFamily="34" charset="-122"/>
                  <a:cs typeface="Calibri" pitchFamily="34" charset="-120"/>
                </a:rPr>
                <a:t>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błędu</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xy [m] względem ścieżki referencyjnej</a:t>
              </a:r>
              <a:endParaRPr lang="en-US" sz="1600" dirty="0"/>
            </a:p>
          </p:txBody>
        </p:sp>
        <p:sp>
          <p:nvSpPr>
            <p:cNvPr id="10" name="Shape 8"/>
            <p:cNvSpPr/>
            <p:nvPr/>
          </p:nvSpPr>
          <p:spPr>
            <a:xfrm>
              <a:off x="470916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Błąd orientacji</a:t>
              </a:r>
              <a:endParaRPr lang="en-US" sz="2000" dirty="0"/>
            </a:p>
          </p:txBody>
        </p:sp>
        <p:sp>
          <p:nvSpPr>
            <p:cNvPr id="13" name="Text 11"/>
            <p:cNvSpPr/>
            <p:nvPr/>
          </p:nvSpPr>
          <p:spPr>
            <a:xfrm>
              <a:off x="481888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Średni błąd kąta yaw [°];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krytyczny</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dla planowania kroków</a:t>
              </a:r>
              <a:endParaRPr lang="en-US" sz="1600" dirty="0"/>
            </a:p>
          </p:txBody>
        </p:sp>
        <p:sp>
          <p:nvSpPr>
            <p:cNvPr id="14" name="Shape 12"/>
            <p:cNvSpPr/>
            <p:nvPr/>
          </p:nvSpPr>
          <p:spPr>
            <a:xfrm>
              <a:off x="27432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Dryft na minutę</a:t>
              </a:r>
              <a:endParaRPr lang="en-US" sz="2000" dirty="0"/>
            </a:p>
          </p:txBody>
        </p:sp>
        <p:sp>
          <p:nvSpPr>
            <p:cNvPr id="17" name="Text 15"/>
            <p:cNvSpPr/>
            <p:nvPr/>
          </p:nvSpPr>
          <p:spPr>
            <a:xfrm>
              <a:off x="38404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Narastanie błędu pozycji bez korekty zewnętrznej [m/min]</a:t>
              </a:r>
              <a:endParaRPr lang="en-US" sz="1600" dirty="0"/>
            </a:p>
          </p:txBody>
        </p:sp>
        <p:sp>
          <p:nvSpPr>
            <p:cNvPr id="18" name="Shape 16"/>
            <p:cNvSpPr/>
            <p:nvPr/>
          </p:nvSpPr>
          <p:spPr>
            <a:xfrm>
              <a:off x="470916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Spójność estymatora</a:t>
              </a:r>
              <a:endParaRPr lang="en-US" sz="2000" dirty="0"/>
            </a:p>
          </p:txBody>
        </p:sp>
        <p:sp>
          <p:nvSpPr>
            <p:cNvPr id="21" name="Text 19"/>
            <p:cNvSpPr/>
            <p:nvPr/>
          </p:nvSpPr>
          <p:spPr>
            <a:xfrm>
              <a:off x="481888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Czy kowariancja P odpowiada rzeczywistemu błędowi? (test NIS/NEES)</a:t>
              </a:r>
              <a:endParaRPr lang="en-US" sz="1600" dirty="0"/>
            </a:p>
          </p:txBody>
        </p:sp>
      </p:grpSp>
      <p:sp>
        <p:nvSpPr>
          <p:cNvPr id="23" name="Prostokąt 22"/>
          <p:cNvSpPr/>
          <p:nvPr/>
        </p:nvSpPr>
        <p:spPr>
          <a:xfrm>
            <a:off x="274320" y="4392696"/>
            <a:ext cx="8595360" cy="669414"/>
          </a:xfrm>
          <a:prstGeom prst="rect">
            <a:avLst/>
          </a:prstGeom>
          <a:solidFill>
            <a:srgbClr val="0D1B2A"/>
          </a:solidFill>
        </p:spPr>
        <p:txBody>
          <a:bodyPr wrap="square">
            <a:spAutoFit/>
          </a:bodyPr>
          <a:lstStyle/>
          <a:p>
            <a:pPr algn="just">
              <a:lnSpc>
                <a:spcPts val="1500"/>
              </a:lnSpc>
            </a:pPr>
            <a:r>
              <a:rPr lang="pl-PL" sz="1400" dirty="0">
                <a:solidFill>
                  <a:schemeClr val="bg1"/>
                </a:solidFill>
              </a:rPr>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Całkowanie prędkości kątowej z IMU</a:t>
            </a:r>
            <a:endParaRPr lang="en-US" sz="2800" dirty="0"/>
          </a:p>
        </p:txBody>
      </p:sp>
      <p:sp>
        <p:nvSpPr>
          <p:cNvPr id="6" name="Shape 4"/>
          <p:cNvSpPr/>
          <p:nvPr/>
        </p:nvSpPr>
        <p:spPr>
          <a:xfrm>
            <a:off x="274320" y="1005840"/>
            <a:ext cx="8595360" cy="301912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69180" y="1035872"/>
            <a:ext cx="7346542" cy="2989088"/>
          </a:xfrm>
          <a:prstGeom prst="rect">
            <a:avLst/>
          </a:prstGeom>
          <a:noFill/>
          <a:ln/>
        </p:spPr>
        <p:txBody>
          <a:bodyPr wrap="square" lIns="108000" tIns="0" rIns="127000" bIns="63500" rtlCol="0" anchor="t">
            <a:spAutoFit/>
          </a:bodyPr>
          <a:lstStyle/>
          <a:p>
            <a:pPr>
              <a:lnSpc>
                <a:spcPts val="12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gyro_xyz</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"""Aktualizacja orientacji przez całkowanie żyroskopu"""</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gyro_xyz</a:t>
            </a:r>
            <a:r>
              <a:rPr lang="pl-PL" sz="1200" dirty="0">
                <a:solidFill>
                  <a:srgbClr val="6A9955"/>
                </a:solidFill>
                <a:latin typeface="Consolas" panose="020B0609020204030204" pitchFamily="49" charset="0"/>
              </a:rPr>
              <a:t> = [</a:t>
            </a:r>
            <a:r>
              <a:rPr lang="pl-PL" sz="1200" dirty="0" err="1">
                <a:solidFill>
                  <a:srgbClr val="6A9955"/>
                </a:solidFill>
                <a:latin typeface="Consolas" panose="020B0609020204030204" pitchFamily="49" charset="0"/>
              </a:rPr>
              <a:t>omega_x</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omega_y</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omega_z</a:t>
            </a:r>
            <a:r>
              <a:rPr lang="pl-PL" sz="1200" dirty="0">
                <a:solidFill>
                  <a:srgbClr val="6A9955"/>
                </a:solidFill>
                <a:latin typeface="Consolas" panose="020B0609020204030204" pitchFamily="49" charset="0"/>
              </a:rPr>
              <a:t>] w rad/s</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6A9955"/>
                </a:solidFill>
                <a:latin typeface="Consolas" panose="020B0609020204030204" pitchFamily="49" charset="0"/>
              </a:rPr>
              <a:t># Przykład użycia:</a:t>
            </a:r>
            <a:endParaRPr lang="pl-PL" sz="1200" dirty="0">
              <a:solidFill>
                <a:srgbClr val="CCCCCC"/>
              </a:solidFill>
              <a:latin typeface="Consolas" panose="020B0609020204030204" pitchFamily="49" charset="0"/>
            </a:endParaRPr>
          </a:p>
          <a:p>
            <a:pPr>
              <a:lnSpc>
                <a:spcPts val="1200"/>
              </a:lnSpc>
            </a:pPr>
            <a:r>
              <a:rPr lang="pl-PL" sz="1200" dirty="0">
                <a:solidFill>
                  <a:srgbClr val="9CDCFE"/>
                </a:solidFill>
                <a:latin typeface="Consolas" panose="020B0609020204030204" pitchFamily="49" charset="0"/>
              </a:rPr>
              <a:t>integrator</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err="1">
                <a:solidFill>
                  <a:srgbClr val="9CDCFE"/>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integrator</a:t>
            </a:r>
            <a:r>
              <a:rPr lang="pl-PL" sz="1200" dirty="0" err="1">
                <a:solidFill>
                  <a:srgbClr val="CCCCCC"/>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0.02</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0.15</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0.005</a:t>
            </a:r>
            <a:r>
              <a:rPr lang="pl-PL" sz="1200" dirty="0">
                <a:solidFill>
                  <a:srgbClr val="CCCCCC"/>
                </a:solidFill>
                <a:latin typeface="Consolas" panose="020B0609020204030204" pitchFamily="49" charset="0"/>
              </a:rPr>
              <a:t>)</a:t>
            </a:r>
            <a:endParaRPr lang="pl-PL" sz="1200" b="0" dirty="0">
              <a:solidFill>
                <a:srgbClr val="CCCCCC"/>
              </a:solidFill>
              <a:effectLst/>
              <a:latin typeface="Consolas" panose="020B0609020204030204" pitchFamily="49" charset="0"/>
            </a:endParaRPr>
          </a:p>
        </p:txBody>
      </p:sp>
      <p:sp>
        <p:nvSpPr>
          <p:cNvPr id="11" name="Shape 9"/>
          <p:cNvSpPr/>
          <p:nvPr/>
        </p:nvSpPr>
        <p:spPr>
          <a:xfrm>
            <a:off x="274320" y="4505092"/>
            <a:ext cx="8595360" cy="432668"/>
          </a:xfrm>
          <a:prstGeom prst="rect">
            <a:avLst/>
          </a:prstGeom>
          <a:solidFill>
            <a:srgbClr val="1A3550"/>
          </a:solidFill>
          <a:ln w="12700">
            <a:solidFill>
              <a:srgbClr val="0077A8"/>
            </a:solidFill>
            <a:prstDash val="solid"/>
          </a:ln>
        </p:spPr>
      </p:sp>
      <p:sp>
        <p:nvSpPr>
          <p:cNvPr id="12" name="Text 10"/>
          <p:cNvSpPr/>
          <p:nvPr/>
        </p:nvSpPr>
        <p:spPr>
          <a:xfrm>
            <a:off x="457200" y="4505092"/>
            <a:ext cx="8321040" cy="432667"/>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Proste całkowanie </a:t>
            </a:r>
            <a:r>
              <a:rPr lang="en-US" sz="1600" dirty="0" err="1">
                <a:solidFill>
                  <a:srgbClr val="E2EBF3"/>
                </a:solidFill>
                <a:latin typeface="Calibri" pitchFamily="34" charset="0"/>
                <a:ea typeface="Calibri" pitchFamily="34" charset="-122"/>
                <a:cs typeface="Calibri" pitchFamily="34" charset="-120"/>
              </a:rPr>
              <a:t>żyroskopu</a:t>
            </a:r>
            <a:r>
              <a:rPr lang="en-US" sz="1600" dirty="0">
                <a:solidFill>
                  <a:srgbClr val="E2EBF3"/>
                </a:solidFill>
                <a:latin typeface="Calibri" pitchFamily="34" charset="0"/>
                <a:ea typeface="Calibri" pitchFamily="34" charset="-122"/>
                <a:cs typeface="Calibri" pitchFamily="34" charset="-120"/>
              </a:rPr>
              <a:t> </a:t>
            </a:r>
            <a:r>
              <a:rPr lang="en-US" sz="1600" dirty="0" smtClean="0">
                <a:solidFill>
                  <a:srgbClr val="E2EBF3"/>
                </a:solidFill>
                <a:latin typeface="Calibri" pitchFamily="34" charset="0"/>
                <a:ea typeface="Calibri" pitchFamily="34" charset="-122"/>
                <a:cs typeface="Calibri" pitchFamily="34" charset="-120"/>
              </a:rPr>
              <a:t>–</a:t>
            </a:r>
            <a:r>
              <a:rPr lang="pl-PL" sz="1600" dirty="0" smtClean="0">
                <a:solidFill>
                  <a:srgbClr val="E2EBF3"/>
                </a:solidFill>
                <a:latin typeface="Calibri" pitchFamily="34" charset="0"/>
                <a:ea typeface="Calibri" pitchFamily="34" charset="-122"/>
                <a:cs typeface="Calibri" pitchFamily="34" charset="-120"/>
              </a:rPr>
              <a:t>&gt;</a:t>
            </a:r>
            <a:r>
              <a:rPr lang="en-US" sz="1600" dirty="0" smtClean="0">
                <a:solidFill>
                  <a:srgbClr val="E2EBF3"/>
                </a:solidFill>
                <a:latin typeface="Calibri" pitchFamily="34" charset="0"/>
                <a:ea typeface="Calibri" pitchFamily="34" charset="-122"/>
                <a:cs typeface="Calibri" pitchFamily="34" charset="-120"/>
              </a:rPr>
              <a:t> </a:t>
            </a:r>
            <a:r>
              <a:rPr lang="en-US" sz="1600" dirty="0">
                <a:solidFill>
                  <a:srgbClr val="E2EBF3"/>
                </a:solidFill>
                <a:latin typeface="Calibri" pitchFamily="34" charset="0"/>
                <a:ea typeface="Calibri" pitchFamily="34" charset="-122"/>
                <a:cs typeface="Calibri" pitchFamily="34" charset="-120"/>
              </a:rPr>
              <a:t>szybkie, lecz podatne na dryft bez </a:t>
            </a:r>
            <a:r>
              <a:rPr lang="pl-PL" sz="1600" dirty="0" smtClean="0">
                <a:solidFill>
                  <a:srgbClr val="E2EBF3"/>
                </a:solidFill>
                <a:latin typeface="Calibri" pitchFamily="34" charset="0"/>
                <a:ea typeface="Calibri" pitchFamily="34" charset="-122"/>
                <a:cs typeface="Calibri" pitchFamily="34" charset="-120"/>
              </a:rPr>
              <a:t>korekty</a:t>
            </a:r>
            <a:r>
              <a:rPr lang="en-US" sz="1600" dirty="0" smtClean="0">
                <a:solidFill>
                  <a:srgbClr val="E2EBF3"/>
                </a:solidFill>
                <a:latin typeface="Calibri" pitchFamily="34" charset="0"/>
                <a:ea typeface="Calibri" pitchFamily="34" charset="-122"/>
                <a:cs typeface="Calibri" pitchFamily="34" charset="-120"/>
              </a:rPr>
              <a:t> </a:t>
            </a:r>
            <a:r>
              <a:rPr lang="pl-PL" sz="1600" dirty="0" smtClean="0">
                <a:solidFill>
                  <a:srgbClr val="E2EBF3"/>
                </a:solidFill>
                <a:latin typeface="Calibri" pitchFamily="34" charset="0"/>
                <a:ea typeface="Calibri" pitchFamily="34" charset="-122"/>
                <a:cs typeface="Calibri" pitchFamily="34" charset="-120"/>
              </a:rPr>
              <a:t>zewnętrznej</a:t>
            </a:r>
            <a:endParaRPr lang="pl-PL"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kroku</a:t>
            </a:r>
            <a:r>
              <a:rPr lang="en-US" sz="2800" b="1" dirty="0">
                <a:solidFill>
                  <a:srgbClr val="FFFFFF"/>
                </a:solidFill>
                <a:latin typeface="Trebuchet MS" pitchFamily="34" charset="0"/>
                <a:ea typeface="Trebuchet MS" pitchFamily="34" charset="-122"/>
                <a:cs typeface="Trebuchet MS" pitchFamily="34" charset="-120"/>
              </a:rPr>
              <a:t> </a:t>
            </a:r>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aktualizacja pozycji robota</a:t>
            </a:r>
            <a:endParaRPr lang="en-US" sz="2800" dirty="0"/>
          </a:p>
        </p:txBody>
      </p:sp>
      <p:sp>
        <p:nvSpPr>
          <p:cNvPr id="6" name="Shape 4"/>
          <p:cNvSpPr/>
          <p:nvPr/>
        </p:nvSpPr>
        <p:spPr>
          <a:xfrm>
            <a:off x="274320" y="1005839"/>
            <a:ext cx="8595360" cy="3416809"/>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457200" y="1051559"/>
            <a:ext cx="8321040" cy="3297056"/>
          </a:xfrm>
          <a:prstGeom prst="rect">
            <a:avLst/>
          </a:prstGeom>
          <a:noFill/>
          <a:ln/>
        </p:spPr>
        <p:txBody>
          <a:bodyPr wrap="square" lIns="108000" tIns="0" rIns="127000" bIns="63500" rtlCol="0" anchor="t">
            <a:spAutoFit/>
          </a:bodyPr>
          <a:lstStyle/>
          <a:p>
            <a:pPr>
              <a:lnSpc>
                <a:spcPts val="1400"/>
              </a:lnSpc>
            </a:pPr>
            <a:r>
              <a:rPr lang="pl-PL" sz="1400" dirty="0">
                <a:solidFill>
                  <a:srgbClr val="C586C0"/>
                </a:solidFill>
                <a:latin typeface="Consolas" panose="020B0609020204030204" pitchFamily="49" charset="0"/>
              </a:rPr>
              <a:t>import</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numpy</a:t>
            </a: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as</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np</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err="1">
                <a:solidFill>
                  <a:srgbClr val="569CD6"/>
                </a:solidFill>
                <a:latin typeface="Consolas" panose="020B0609020204030204" pitchFamily="49" charset="0"/>
              </a:rPr>
              <a:t>class</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StepOdometry</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569CD6"/>
                </a:solidFill>
                <a:latin typeface="Consolas" panose="020B0609020204030204" pitchFamily="49" charset="0"/>
              </a:rPr>
              <a:t>def</a:t>
            </a:r>
            <a:r>
              <a:rPr lang="pl-PL" sz="1400" dirty="0">
                <a:solidFill>
                  <a:srgbClr val="CCCCCC"/>
                </a:solidFill>
                <a:latin typeface="Consolas" panose="020B0609020204030204" pitchFamily="49" charset="0"/>
              </a:rPr>
              <a:t> </a:t>
            </a:r>
            <a:r>
              <a:rPr lang="pl-PL" sz="1400" dirty="0">
                <a:solidFill>
                  <a:srgbClr val="DCDCAA"/>
                </a:solidFill>
                <a:latin typeface="Consolas" panose="020B0609020204030204" pitchFamily="49" charset="0"/>
              </a:rPr>
              <a:t>__</a:t>
            </a:r>
            <a:r>
              <a:rPr lang="pl-PL" sz="1400" dirty="0" err="1">
                <a:solidFill>
                  <a:srgbClr val="DCDCAA"/>
                </a:solidFill>
                <a:latin typeface="Consolas" panose="020B0609020204030204" pitchFamily="49" charset="0"/>
              </a:rPr>
              <a:t>init</a:t>
            </a:r>
            <a:r>
              <a:rPr lang="pl-PL" sz="1400" dirty="0">
                <a:solidFill>
                  <a:srgbClr val="DCDCAA"/>
                </a:solidFill>
                <a:latin typeface="Consolas" panose="020B0609020204030204" pitchFamily="49" charset="0"/>
              </a:rPr>
              <a:t>__</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self</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[m]</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[m]</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[rad]</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a:solidFill>
                  <a:srgbClr val="CCCCCC"/>
                </a:solidFill>
                <a:latin typeface="Consolas" panose="020B0609020204030204" pitchFamily="49" charset="0"/>
              </a:rPr>
              <a:t>   </a:t>
            </a:r>
            <a:r>
              <a:rPr lang="pl-PL" sz="1400" dirty="0">
                <a:solidFill>
                  <a:srgbClr val="569CD6"/>
                </a:solidFill>
                <a:latin typeface="Consolas" panose="020B0609020204030204" pitchFamily="49" charset="0"/>
              </a:rPr>
              <a:t>def</a:t>
            </a:r>
            <a:r>
              <a:rPr lang="pl-PL" sz="1400" dirty="0">
                <a:solidFill>
                  <a:srgbClr val="CCCCCC"/>
                </a:solidFill>
                <a:latin typeface="Consolas" panose="020B0609020204030204" pitchFamily="49" charset="0"/>
              </a:rPr>
              <a:t> </a:t>
            </a:r>
            <a:r>
              <a:rPr lang="pl-PL" sz="1400" dirty="0">
                <a:solidFill>
                  <a:srgbClr val="DCDCAA"/>
                </a:solidFill>
                <a:latin typeface="Consolas" panose="020B0609020204030204" pitchFamily="49" charset="0"/>
              </a:rPr>
              <a:t>step</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self</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delta_yaw</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CCCCCC"/>
                </a:solidFill>
                <a:latin typeface="Consolas" panose="020B0609020204030204" pitchFamily="49" charset="0"/>
              </a:rPr>
              <a:t>) -&gt; </a:t>
            </a:r>
            <a:r>
              <a:rPr lang="pl-PL" sz="1400" dirty="0" err="1">
                <a:solidFill>
                  <a:srgbClr val="4EC9B0"/>
                </a:solidFill>
                <a:latin typeface="Consolas" panose="020B0609020204030204" pitchFamily="49" charset="0"/>
              </a:rPr>
              <a:t>tuple</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CE9178"/>
                </a:solidFill>
                <a:latin typeface="Consolas" panose="020B0609020204030204" pitchFamily="49" charset="0"/>
              </a:rPr>
              <a:t>"""Aktualizacja pozycji po jednym kroku (</a:t>
            </a:r>
            <a:r>
              <a:rPr lang="pl-PL" sz="1400" dirty="0" err="1">
                <a:solidFill>
                  <a:srgbClr val="CE9178"/>
                </a:solidFill>
                <a:latin typeface="Consolas" panose="020B0609020204030204" pitchFamily="49" charset="0"/>
              </a:rPr>
              <a:t>stride</a:t>
            </a:r>
            <a:r>
              <a:rPr lang="pl-PL" sz="1400" dirty="0">
                <a:solidFill>
                  <a:srgbClr val="CE9178"/>
                </a:solidFill>
                <a:latin typeface="Consolas" panose="020B0609020204030204" pitchFamily="49" charset="0"/>
              </a:rPr>
              <a:t>)."""</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delta_yaw</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np.cos</a:t>
            </a:r>
            <a:r>
              <a:rPr lang="pl-PL" sz="1400" dirty="0">
                <a:solidFill>
                  <a:srgbClr val="CCCCCC"/>
                </a:solidFill>
                <a:latin typeface="Consolas" panose="020B0609020204030204" pitchFamily="49" charset="0"/>
              </a:rPr>
              <a:t>(</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np.sin</a:t>
            </a:r>
            <a:r>
              <a:rPr lang="pl-PL" sz="1400" dirty="0">
                <a:solidFill>
                  <a:srgbClr val="CCCCCC"/>
                </a:solidFill>
                <a:latin typeface="Consolas" panose="020B0609020204030204" pitchFamily="49" charset="0"/>
              </a:rPr>
              <a:t>(</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return</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a:solidFill>
                  <a:srgbClr val="CCCCCC"/>
                </a:solidFill>
                <a:latin typeface="Consolas" panose="020B0609020204030204" pitchFamily="49" charset="0"/>
              </a:rPr>
              <a:t>odo</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StepOdometry</a:t>
            </a:r>
            <a:r>
              <a:rPr lang="pl-PL" sz="1400" dirty="0">
                <a:solidFill>
                  <a:srgbClr val="CCCCCC"/>
                </a:solidFill>
                <a:latin typeface="Consolas" panose="020B0609020204030204" pitchFamily="49" charset="0"/>
              </a:rPr>
              <a:t>()</a:t>
            </a:r>
          </a:p>
          <a:p>
            <a:pPr>
              <a:lnSpc>
                <a:spcPts val="1400"/>
              </a:lnSpc>
            </a:pPr>
            <a:r>
              <a:rPr lang="pl-PL" sz="1400" dirty="0">
                <a:solidFill>
                  <a:srgbClr val="C586C0"/>
                </a:solidFill>
                <a:latin typeface="Consolas" panose="020B0609020204030204" pitchFamily="49" charset="0"/>
              </a:rPr>
              <a:t>for</a:t>
            </a:r>
            <a:r>
              <a:rPr lang="pl-PL" sz="1400" dirty="0">
                <a:solidFill>
                  <a:srgbClr val="CCCCCC"/>
                </a:solidFill>
                <a:latin typeface="Consolas" panose="020B0609020204030204" pitchFamily="49" charset="0"/>
              </a:rPr>
              <a:t> </a:t>
            </a:r>
            <a:r>
              <a:rPr lang="pl-PL" sz="1400" dirty="0">
                <a:solidFill>
                  <a:srgbClr val="9CDCFE"/>
                </a:solidFill>
                <a:latin typeface="Consolas" panose="020B0609020204030204" pitchFamily="49" charset="0"/>
              </a:rPr>
              <a:t>_</a:t>
            </a: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in</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range</a:t>
            </a:r>
            <a:r>
              <a:rPr lang="pl-PL" sz="1400" dirty="0">
                <a:solidFill>
                  <a:srgbClr val="CCCCCC"/>
                </a:solidFill>
                <a:latin typeface="Consolas" panose="020B0609020204030204" pitchFamily="49" charset="0"/>
              </a:rPr>
              <a:t>(</a:t>
            </a:r>
            <a:r>
              <a:rPr lang="pl-PL" sz="1400" dirty="0">
                <a:solidFill>
                  <a:srgbClr val="B5CEA8"/>
                </a:solidFill>
                <a:latin typeface="Consolas" panose="020B0609020204030204" pitchFamily="49" charset="0"/>
              </a:rPr>
              <a:t>10</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x, y, </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odo.step</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stride_len</a:t>
            </a:r>
            <a:r>
              <a:rPr lang="pl-PL" sz="1400" dirty="0">
                <a:solidFill>
                  <a:srgbClr val="D4D4D4"/>
                </a:solidFill>
                <a:latin typeface="Consolas" panose="020B0609020204030204" pitchFamily="49" charset="0"/>
              </a:rPr>
              <a:t>=</a:t>
            </a:r>
            <a:r>
              <a:rPr lang="pl-PL" sz="1400" dirty="0">
                <a:solidFill>
                  <a:srgbClr val="B5CEA8"/>
                </a:solidFill>
                <a:latin typeface="Consolas" panose="020B0609020204030204" pitchFamily="49" charset="0"/>
              </a:rPr>
              <a:t>0.35</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delta_yaw</a:t>
            </a:r>
            <a:r>
              <a:rPr lang="pl-PL" sz="1400" dirty="0">
                <a:solidFill>
                  <a:srgbClr val="D4D4D4"/>
                </a:solidFill>
                <a:latin typeface="Consolas" panose="020B0609020204030204" pitchFamily="49" charset="0"/>
              </a:rPr>
              <a:t>=</a:t>
            </a:r>
            <a:r>
              <a:rPr lang="pl-PL" sz="1400" dirty="0">
                <a:solidFill>
                  <a:srgbClr val="B5CEA8"/>
                </a:solidFill>
                <a:latin typeface="Consolas" panose="020B0609020204030204" pitchFamily="49" charset="0"/>
              </a:rPr>
              <a:t>0.02</a:t>
            </a:r>
            <a:r>
              <a:rPr lang="pl-PL" sz="1400" dirty="0" smtClean="0">
                <a:solidFill>
                  <a:srgbClr val="CCCCCC"/>
                </a:solidFill>
                <a:latin typeface="Consolas" panose="020B0609020204030204" pitchFamily="49" charset="0"/>
              </a:rPr>
              <a:t>)</a:t>
            </a:r>
            <a:endParaRPr lang="pl-PL" sz="1400" dirty="0">
              <a:solidFill>
                <a:srgbClr val="CCCCCC"/>
              </a:solidFill>
              <a:latin typeface="Consolas" panose="020B0609020204030204" pitchFamily="49" charset="0"/>
            </a:endParaRPr>
          </a:p>
        </p:txBody>
      </p:sp>
      <p:sp>
        <p:nvSpPr>
          <p:cNvPr id="11" name="Shape 9"/>
          <p:cNvSpPr/>
          <p:nvPr/>
        </p:nvSpPr>
        <p:spPr>
          <a:xfrm>
            <a:off x="274320" y="4495800"/>
            <a:ext cx="8595360" cy="441960"/>
          </a:xfrm>
          <a:prstGeom prst="rect">
            <a:avLst/>
          </a:prstGeom>
          <a:solidFill>
            <a:srgbClr val="1A3550"/>
          </a:solidFill>
          <a:ln w="12700">
            <a:solidFill>
              <a:srgbClr val="0077A8"/>
            </a:solidFill>
            <a:prstDash val="solid"/>
          </a:ln>
        </p:spPr>
      </p:sp>
      <p:sp>
        <p:nvSpPr>
          <p:cNvPr id="12" name="Text 10"/>
          <p:cNvSpPr/>
          <p:nvPr/>
        </p:nvSpPr>
        <p:spPr>
          <a:xfrm>
            <a:off x="457200" y="4495800"/>
            <a:ext cx="8321040" cy="44196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Każdy krok aktualizuje pozycję bazy przez kinematykę planarną; </a:t>
            </a:r>
            <a:r>
              <a:rPr lang="en-US" sz="1600" b="1" dirty="0">
                <a:solidFill>
                  <a:schemeClr val="accent2"/>
                </a:solidFill>
                <a:latin typeface="Calibri" pitchFamily="34" charset="0"/>
                <a:ea typeface="Calibri" pitchFamily="34" charset="-122"/>
                <a:cs typeface="Calibri" pitchFamily="34" charset="-120"/>
              </a:rPr>
              <a:t>delta_yaw</a:t>
            </a:r>
            <a:r>
              <a:rPr lang="en-US" sz="1600" dirty="0">
                <a:solidFill>
                  <a:srgbClr val="E2EBF3"/>
                </a:solidFill>
                <a:latin typeface="Calibri" pitchFamily="34" charset="0"/>
                <a:ea typeface="Calibri" pitchFamily="34" charset="-122"/>
                <a:cs typeface="Calibri" pitchFamily="34" charset="-120"/>
              </a:rPr>
              <a:t> pochodzi z </a:t>
            </a:r>
            <a:r>
              <a:rPr lang="en-US" sz="1600" dirty="0" smtClean="0">
                <a:solidFill>
                  <a:srgbClr val="E2EBF3"/>
                </a:solidFill>
                <a:latin typeface="Calibri" pitchFamily="34" charset="0"/>
                <a:ea typeface="Calibri" pitchFamily="34" charset="-122"/>
                <a:cs typeface="Calibri" pitchFamily="34" charset="-120"/>
              </a:rPr>
              <a:t>IMU</a:t>
            </a:r>
            <a:endParaRPr lang="en-US"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02</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46645" y="1685925"/>
            <a:ext cx="1017270" cy="101727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Filtry estymacyjne</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fuzja sensoryczna</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EKF, UKF, filtr cząsteczkowy, fuzja IMU+enkodery+wzrok</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 co łączyć sensory?</a:t>
            </a:r>
            <a:endParaRPr lang="en-US" sz="2800" dirty="0"/>
          </a:p>
        </p:txBody>
      </p:sp>
      <p:grpSp>
        <p:nvGrpSpPr>
          <p:cNvPr id="22" name="Grupa 21"/>
          <p:cNvGrpSpPr/>
          <p:nvPr/>
        </p:nvGrpSpPr>
        <p:grpSpPr>
          <a:xfrm>
            <a:off x="274320" y="1082544"/>
            <a:ext cx="8595360" cy="2915122"/>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Komplementarność</a:t>
              </a:r>
              <a:endParaRPr lang="en-US" sz="2000" dirty="0"/>
            </a:p>
          </p:txBody>
        </p:sp>
        <p:sp>
          <p:nvSpPr>
            <p:cNvPr id="9" name="Text 7"/>
            <p:cNvSpPr/>
            <p:nvPr/>
          </p:nvSpPr>
          <p:spPr>
            <a:xfrm>
              <a:off x="384048" y="1853489"/>
              <a:ext cx="3941064" cy="930402"/>
            </a:xfrm>
            <a:prstGeom prst="rect">
              <a:avLst/>
            </a:prstGeom>
            <a:noFill/>
            <a:ln/>
          </p:spPr>
          <p:txBody>
            <a:bodyPr wrap="square" lIns="0" tIns="0" rIns="0" bIns="0" rtlCol="0" anchor="ctr"/>
            <a:lstStyle/>
            <a:p>
              <a:pPr marL="0" indent="0">
                <a:buNone/>
              </a:pPr>
              <a:r>
                <a:rPr lang="en-US" sz="1600" dirty="0" err="1" smtClean="0">
                  <a:solidFill>
                    <a:srgbClr val="475569"/>
                  </a:solidFill>
                  <a:latin typeface="Calibri" pitchFamily="34" charset="0"/>
                  <a:ea typeface="Calibri" pitchFamily="34" charset="-122"/>
                  <a:cs typeface="Calibri" pitchFamily="34" charset="-120"/>
                </a:rPr>
                <a:t>Żyroskop</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szybki, dryfuje. </a:t>
              </a:r>
              <a:r>
                <a:rPr lang="en-US" sz="1600" dirty="0" err="1" smtClean="0">
                  <a:solidFill>
                    <a:srgbClr val="475569"/>
                  </a:solidFill>
                  <a:latin typeface="Calibri" pitchFamily="34" charset="0"/>
                  <a:ea typeface="Calibri" pitchFamily="34" charset="-122"/>
                  <a:cs typeface="Calibri" pitchFamily="34" charset="-120"/>
                </a:rPr>
                <a:t>Akcelerometr</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wolny, stabilny kąt. </a:t>
              </a:r>
              <a:r>
                <a:rPr lang="en-US" sz="1600" dirty="0" err="1" smtClean="0">
                  <a:solidFill>
                    <a:srgbClr val="475569"/>
                  </a:solidFill>
                  <a:latin typeface="Calibri" pitchFamily="34" charset="0"/>
                  <a:ea typeface="Calibri" pitchFamily="34" charset="-122"/>
                  <a:cs typeface="Calibri" pitchFamily="34" charset="-120"/>
                </a:rPr>
                <a:t>Razem</a:t>
              </a:r>
              <a:r>
                <a:rPr lang="en-US" sz="1600" dirty="0">
                  <a:solidFill>
                    <a:srgbClr val="475569"/>
                  </a:solidFill>
                  <a:latin typeface="Calibri" pitchFamily="34" charset="0"/>
                  <a:ea typeface="Calibri" pitchFamily="34" charset="-122"/>
                  <a:cs typeface="Calibri" pitchFamily="34" charset="-120"/>
                </a:rPr>
                <a:t>: lepiej.</a:t>
              </a:r>
              <a:endParaRPr lang="en-US" sz="160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Redundancja</a:t>
              </a:r>
              <a:endParaRPr lang="en-US" sz="2000" dirty="0"/>
            </a:p>
          </p:txBody>
        </p:sp>
        <p:sp>
          <p:nvSpPr>
            <p:cNvPr id="13" name="Text 11"/>
            <p:cNvSpPr/>
            <p:nvPr/>
          </p:nvSpPr>
          <p:spPr>
            <a:xfrm>
              <a:off x="4818888" y="18534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Awaria jednego sensora nie blokuje estymacji, jeśli mamy zapas informacji.</a:t>
              </a:r>
              <a:endParaRPr lang="en-US" sz="160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Wzajemna korekta</a:t>
              </a:r>
              <a:endParaRPr lang="en-US" sz="2000" dirty="0"/>
            </a:p>
          </p:txBody>
        </p:sp>
        <p:sp>
          <p:nvSpPr>
            <p:cNvPr id="17" name="Text 15"/>
            <p:cNvSpPr/>
            <p:nvPr/>
          </p:nvSpPr>
          <p:spPr>
            <a:xfrm>
              <a:off x="38404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Kamera koryguje skumulowany dryft IMU;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smtClean="0">
                  <a:solidFill>
                    <a:srgbClr val="475569"/>
                  </a:solidFill>
                  <a:latin typeface="Calibri" pitchFamily="34" charset="0"/>
                  <a:ea typeface="Calibri" pitchFamily="34" charset="-122"/>
                  <a:cs typeface="Calibri" pitchFamily="34" charset="-120"/>
                </a:rPr>
                <a:t>IMU </a:t>
              </a:r>
              <a:r>
                <a:rPr lang="en-US" sz="1600" dirty="0">
                  <a:solidFill>
                    <a:srgbClr val="475569"/>
                  </a:solidFill>
                  <a:latin typeface="Calibri" pitchFamily="34" charset="0"/>
                  <a:ea typeface="Calibri" pitchFamily="34" charset="-122"/>
                  <a:cs typeface="Calibri" pitchFamily="34" charset="-120"/>
                </a:rPr>
                <a:t>stabilizuje estymację przy rozmazaniu</a:t>
              </a:r>
              <a:endParaRPr lang="en-US" sz="160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Pewność statystyczna</a:t>
              </a:r>
              <a:endParaRPr lang="en-US" sz="2000" dirty="0"/>
            </a:p>
          </p:txBody>
        </p:sp>
        <p:sp>
          <p:nvSpPr>
            <p:cNvPr id="21" name="Text 19"/>
            <p:cNvSpPr/>
            <p:nvPr/>
          </p:nvSpPr>
          <p:spPr>
            <a:xfrm>
              <a:off x="481888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Kowariancja złożona &lt; kowariancja pojedynczego sensora </a:t>
              </a:r>
              <a:r>
                <a:rPr lang="en-US" sz="1600" i="1" dirty="0">
                  <a:solidFill>
                    <a:srgbClr val="475569"/>
                  </a:solidFill>
                  <a:latin typeface="Calibri" pitchFamily="34" charset="0"/>
                  <a:ea typeface="Calibri" pitchFamily="34" charset="-122"/>
                  <a:cs typeface="Calibri" pitchFamily="34" charset="-120"/>
                </a:rPr>
                <a:t>(reguła filtracji)</a:t>
              </a:r>
              <a:endParaRPr lang="en-US" sz="1600" i="1" dirty="0"/>
            </a:p>
          </p:txBody>
        </p:sp>
      </p:grpSp>
      <p:sp>
        <p:nvSpPr>
          <p:cNvPr id="23" name="Prostokąt 22"/>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sz="1400" dirty="0" err="1">
                <a:solidFill>
                  <a:schemeClr val="bg1"/>
                </a:solidFill>
              </a:rPr>
              <a:t>estymata</a:t>
            </a:r>
            <a:r>
              <a:rPr lang="pl-PL" sz="1400" dirty="0">
                <a:solidFill>
                  <a:schemeClr val="bg1"/>
                </a:solidFill>
              </a:rPr>
              <a:t> może mieć mniejszą niepewność niż każdy sensor osobno.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FILTR KOMPLEMENTARNY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 intuicja</a:t>
            </a:r>
            <a:endParaRPr lang="en-US" sz="2800" dirty="0"/>
          </a:p>
        </p:txBody>
      </p:sp>
      <p:sp>
        <p:nvSpPr>
          <p:cNvPr id="6" name="Shape 4"/>
          <p:cNvSpPr/>
          <p:nvPr/>
        </p:nvSpPr>
        <p:spPr>
          <a:xfrm>
            <a:off x="274320" y="1097280"/>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903359"/>
          </a:xfrm>
          <a:prstGeom prst="rect">
            <a:avLst/>
          </a:prstGeom>
          <a:noFill/>
          <a:ln/>
        </p:spPr>
        <p:txBody>
          <a:bodyPr wrap="square" lIns="127000" tIns="127000" rIns="127000" bIns="127000" rtlCol="0" anchor="t">
            <a:spAutoFit/>
          </a:bodyPr>
          <a:lstStyle/>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Idea</a:t>
            </a:r>
            <a:r>
              <a:rPr lang="en-US" sz="1600" dirty="0">
                <a:solidFill>
                  <a:srgbClr val="0D1B2A"/>
                </a:solidFill>
                <a:latin typeface="Calibri" pitchFamily="34" charset="0"/>
                <a:ea typeface="Calibri" pitchFamily="34" charset="-122"/>
                <a:cs typeface="Calibri" pitchFamily="34" charset="-120"/>
              </a:rPr>
              <a:t>: połącz żyroskop (szybki, dryfuje) z akcelerometrem (wolny, stabilny w długim czasie)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Wzór</a:t>
            </a:r>
            <a:r>
              <a:rPr lang="en-US" sz="1600" dirty="0">
                <a:solidFill>
                  <a:srgbClr val="0D1B2A"/>
                </a:solidFill>
                <a:latin typeface="Calibri" pitchFamily="34" charset="0"/>
                <a:ea typeface="Calibri" pitchFamily="34" charset="-122"/>
                <a:cs typeface="Calibri" pitchFamily="34" charset="-120"/>
              </a:rPr>
              <a:t>: θ(t) = 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prev</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ω</a:t>
            </a:r>
            <a:r>
              <a:rPr lang="en-US" sz="1600" baseline="-25000" dirty="0" err="1" smtClean="0">
                <a:solidFill>
                  <a:srgbClr val="0D1B2A"/>
                </a:solidFill>
                <a:latin typeface="Calibri" pitchFamily="34" charset="0"/>
                <a:ea typeface="Calibri" pitchFamily="34" charset="-122"/>
                <a:cs typeface="Calibri" pitchFamily="34" charset="-120"/>
              </a:rPr>
              <a:t>gyro</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dt) + (1–α)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accel</a:t>
            </a:r>
            <a:endParaRPr lang="en-US" sz="1600" baseline="-250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Parametr α</a:t>
            </a:r>
            <a:r>
              <a:rPr lang="en-US" sz="1600" dirty="0">
                <a:solidFill>
                  <a:srgbClr val="0D1B2A"/>
                </a:solidFill>
                <a:latin typeface="Calibri" pitchFamily="34" charset="0"/>
                <a:ea typeface="Calibri" pitchFamily="34" charset="-122"/>
                <a:cs typeface="Calibri" pitchFamily="34" charset="-120"/>
              </a:rPr>
              <a:t>: blisko 1 (np. 0,98) – większe zaufanie do żyroskopu na krótkich interwałach</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Działanie</a:t>
            </a:r>
            <a:r>
              <a:rPr lang="en-US" sz="1600" dirty="0">
                <a:solidFill>
                  <a:srgbClr val="0D1B2A"/>
                </a:solidFill>
                <a:latin typeface="Calibri" pitchFamily="34" charset="0"/>
                <a:ea typeface="Calibri" pitchFamily="34" charset="-122"/>
                <a:cs typeface="Calibri" pitchFamily="34" charset="-120"/>
              </a:rPr>
              <a:t>: żyroskop śledzi szybkie zmiany; akcelerometr koryguje powolny dryft</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Zalety</a:t>
            </a:r>
            <a:r>
              <a:rPr lang="en-US" sz="1600" dirty="0">
                <a:solidFill>
                  <a:srgbClr val="0D1B2A"/>
                </a:solidFill>
                <a:latin typeface="Calibri" pitchFamily="34" charset="0"/>
                <a:ea typeface="Calibri" pitchFamily="34" charset="-122"/>
                <a:cs typeface="Calibri" pitchFamily="34" charset="-120"/>
              </a:rPr>
              <a:t>: niska złożoność obliczeniowa, brak macierzy – działa na mikrokontrolerze IMU</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Wada</a:t>
            </a:r>
            <a:r>
              <a:rPr lang="en-US" sz="1600" dirty="0">
                <a:solidFill>
                  <a:srgbClr val="0D1B2A"/>
                </a:solidFill>
                <a:latin typeface="Calibri" pitchFamily="34" charset="0"/>
                <a:ea typeface="Calibri" pitchFamily="34" charset="-122"/>
                <a:cs typeface="Calibri" pitchFamily="34" charset="-120"/>
              </a:rPr>
              <a:t>: nie uwzględnia niepewności pomiarowych (brak kowariancji) ani dynamiki zewnętrznej</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Zastosowanie</a:t>
            </a:r>
            <a:r>
              <a:rPr lang="en-US" sz="1600" dirty="0">
                <a:solidFill>
                  <a:srgbClr val="0D1B2A"/>
                </a:solidFill>
                <a:latin typeface="Calibri" pitchFamily="34" charset="0"/>
                <a:ea typeface="Calibri" pitchFamily="34" charset="-122"/>
                <a:cs typeface="Calibri" pitchFamily="34" charset="-120"/>
              </a:rPr>
              <a:t>: pochylenie tułowia robota w czasie rzeczywistym (roll i pitch)</a:t>
            </a:r>
            <a:endParaRPr lang="en-US" sz="1600" dirty="0"/>
          </a:p>
        </p:txBody>
      </p:sp>
      <p:sp>
        <p:nvSpPr>
          <p:cNvPr id="8" name="Prostokąt 7"/>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a:t>
            </a:r>
            <a:r>
              <a:rPr lang="pl-PL" sz="1400" dirty="0" smtClean="0">
                <a:solidFill>
                  <a:schemeClr val="bg1"/>
                </a:solidFill>
              </a:rPr>
              <a:t>jest </a:t>
            </a:r>
            <a:r>
              <a:rPr lang="pl-PL" sz="1400" dirty="0">
                <a:solidFill>
                  <a:schemeClr val="bg1"/>
                </a:solidFill>
              </a:rPr>
              <a:t>brak jawnej obsługi kowariancji i ograniczona możliwość modelowania pełnej dynamiki układu.</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dla kąta pochylenia</a:t>
            </a:r>
            <a:endParaRPr lang="en-US" sz="2800" dirty="0"/>
          </a:p>
        </p:txBody>
      </p:sp>
      <p:sp>
        <p:nvSpPr>
          <p:cNvPr id="6" name="Shape 4"/>
          <p:cNvSpPr/>
          <p:nvPr/>
        </p:nvSpPr>
        <p:spPr>
          <a:xfrm>
            <a:off x="274320" y="1005840"/>
            <a:ext cx="8595360" cy="312204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617068"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10896" y="1051182"/>
            <a:ext cx="8050140" cy="295656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ComplementaryFilter</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0.98</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estymowany </a:t>
            </a:r>
            <a:r>
              <a:rPr lang="pl-PL" sz="1200" dirty="0" smtClean="0">
                <a:solidFill>
                  <a:srgbClr val="6A9955"/>
                </a:solidFill>
                <a:latin typeface="Consolas" panose="020B0609020204030204" pitchFamily="49" charset="0"/>
              </a:rPr>
              <a:t>kąt </a:t>
            </a:r>
            <a:r>
              <a:rPr lang="pl-PL" sz="1200" dirty="0">
                <a:solidFill>
                  <a:srgbClr val="6A9955"/>
                </a:solidFill>
                <a:latin typeface="Consolas" panose="020B0609020204030204" pitchFamily="49" charset="0"/>
              </a:rPr>
              <a:t>pochylenia [rad]</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"""Estymacja </a:t>
            </a:r>
            <a:r>
              <a:rPr lang="pl-PL" sz="1200" dirty="0" err="1">
                <a:solidFill>
                  <a:srgbClr val="CE9178"/>
                </a:solidFill>
                <a:latin typeface="Consolas" panose="020B0609020204030204" pitchFamily="49" charset="0"/>
              </a:rPr>
              <a:t>pitch</a:t>
            </a:r>
            <a:r>
              <a:rPr lang="pl-PL" sz="1200" dirty="0">
                <a:solidFill>
                  <a:srgbClr val="CE9178"/>
                </a:solidFill>
                <a:latin typeface="Consolas" panose="020B0609020204030204" pitchFamily="49" charset="0"/>
              </a:rPr>
              <a:t> z </a:t>
            </a:r>
            <a:r>
              <a:rPr lang="pl-PL" sz="1200" dirty="0" err="1">
                <a:solidFill>
                  <a:srgbClr val="CE9178"/>
                </a:solidFill>
                <a:latin typeface="Consolas" panose="020B0609020204030204" pitchFamily="49" charset="0"/>
              </a:rPr>
              <a:t>gyro</a:t>
            </a:r>
            <a:r>
              <a:rPr lang="pl-PL" sz="1200" dirty="0">
                <a:solidFill>
                  <a:srgbClr val="CE9178"/>
                </a:solidFill>
                <a:latin typeface="Consolas" panose="020B0609020204030204" pitchFamily="49" charset="0"/>
              </a:rPr>
              <a:t> i akcelerometru."""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Predykcja z żyroskopu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Pomiar kata z akcelerometru (</a:t>
            </a:r>
            <a:r>
              <a:rPr lang="pl-PL" sz="1200" dirty="0" err="1">
                <a:solidFill>
                  <a:srgbClr val="6A9955"/>
                </a:solidFill>
                <a:latin typeface="Consolas" panose="020B0609020204030204" pitchFamily="49" charset="0"/>
              </a:rPr>
              <a:t>g_x</a:t>
            </a:r>
            <a:r>
              <a:rPr lang="pl-PL" sz="1200" dirty="0">
                <a:solidFill>
                  <a:srgbClr val="6A9955"/>
                </a:solidFill>
                <a:latin typeface="Consolas" panose="020B0609020204030204" pitchFamily="49" charset="0"/>
              </a:rPr>
              <a:t> i </a:t>
            </a:r>
            <a:r>
              <a:rPr lang="pl-PL" sz="1200" dirty="0" err="1">
                <a:solidFill>
                  <a:srgbClr val="6A9955"/>
                </a:solidFill>
                <a:latin typeface="Consolas" panose="020B0609020204030204" pitchFamily="49" charset="0"/>
              </a:rPr>
              <a:t>g_z</a:t>
            </a:r>
            <a:r>
              <a:rPr lang="pl-PL" sz="1200" dirty="0">
                <a:solidFill>
                  <a:srgbClr val="6A9955"/>
                </a:solidFill>
                <a:latin typeface="Consolas" panose="020B0609020204030204" pitchFamily="49" charset="0"/>
              </a:rPr>
              <a: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4EC9B0"/>
                </a:solidFill>
                <a:latin typeface="Consolas" panose="020B0609020204030204" pitchFamily="49" charset="0"/>
              </a:rPr>
              <a:t>np</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arctan2</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Fuzja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smtClean="0">
                <a:solidFill>
                  <a:srgbClr val="9CDCFE"/>
                </a:solidFill>
                <a:latin typeface="Consolas" panose="020B0609020204030204" pitchFamily="49" charset="0"/>
              </a:rPr>
              <a:t>self</a:t>
            </a:r>
            <a:r>
              <a:rPr lang="pl-PL" sz="1200" dirty="0" err="1" smtClean="0">
                <a:solidFill>
                  <a:srgbClr val="CCCCCC"/>
                </a:solidFill>
                <a:latin typeface="Consolas" panose="020B0609020204030204" pitchFamily="49" charset="0"/>
              </a:rPr>
              <a:t>.</a:t>
            </a:r>
            <a:r>
              <a:rPr lang="pl-PL" sz="1200" dirty="0" err="1" smtClean="0">
                <a:solidFill>
                  <a:srgbClr val="9CDCFE"/>
                </a:solidFill>
                <a:latin typeface="Consolas" panose="020B0609020204030204" pitchFamily="49" charset="0"/>
              </a:rPr>
              <a:t>pitch</a:t>
            </a:r>
            <a:endParaRPr lang="pl-PL" sz="1200" dirty="0">
              <a:solidFill>
                <a:srgbClr val="CCCCCC"/>
              </a:solidFill>
              <a:latin typeface="Consolas" panose="020B0609020204030204" pitchFamily="49" charset="0"/>
            </a:endParaRPr>
          </a:p>
        </p:txBody>
      </p:sp>
      <p:sp>
        <p:nvSpPr>
          <p:cNvPr id="11" name="Shape 9"/>
          <p:cNvSpPr/>
          <p:nvPr/>
        </p:nvSpPr>
        <p:spPr>
          <a:xfrm>
            <a:off x="274320" y="4475356"/>
            <a:ext cx="8595360" cy="462404"/>
          </a:xfrm>
          <a:prstGeom prst="rect">
            <a:avLst/>
          </a:prstGeom>
          <a:solidFill>
            <a:srgbClr val="1A3550"/>
          </a:solidFill>
          <a:ln w="12700">
            <a:solidFill>
              <a:srgbClr val="0077A8"/>
            </a:solidFill>
            <a:prstDash val="solid"/>
          </a:ln>
        </p:spPr>
      </p:sp>
      <p:sp>
        <p:nvSpPr>
          <p:cNvPr id="12" name="Text 10"/>
          <p:cNvSpPr/>
          <p:nvPr/>
        </p:nvSpPr>
        <p:spPr>
          <a:xfrm>
            <a:off x="457200" y="4475356"/>
            <a:ext cx="8321040" cy="462404"/>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alpha ≈ 0,98: 98% z żyroskopu </a:t>
            </a:r>
            <a:r>
              <a:rPr lang="en-US" sz="1600" i="1" dirty="0">
                <a:solidFill>
                  <a:srgbClr val="E2EBF3"/>
                </a:solidFill>
                <a:latin typeface="Calibri" pitchFamily="34" charset="0"/>
                <a:ea typeface="Calibri" pitchFamily="34" charset="-122"/>
                <a:cs typeface="Calibri" pitchFamily="34" charset="-120"/>
              </a:rPr>
              <a:t>(szybkość) </a:t>
            </a:r>
            <a:r>
              <a:rPr lang="en-US" sz="1600" dirty="0">
                <a:solidFill>
                  <a:srgbClr val="E2EBF3"/>
                </a:solidFill>
                <a:latin typeface="Calibri" pitchFamily="34" charset="0"/>
                <a:ea typeface="Calibri" pitchFamily="34" charset="-122"/>
                <a:cs typeface="Calibri" pitchFamily="34" charset="-120"/>
              </a:rPr>
              <a:t>i 2% z akcelerometru </a:t>
            </a:r>
            <a:r>
              <a:rPr lang="en-US" sz="1600" i="1" dirty="0">
                <a:solidFill>
                  <a:srgbClr val="E2EBF3"/>
                </a:solidFill>
                <a:latin typeface="Calibri" pitchFamily="34" charset="0"/>
                <a:ea typeface="Calibri" pitchFamily="34" charset="-122"/>
                <a:cs typeface="Calibri" pitchFamily="34" charset="-120"/>
              </a:rPr>
              <a:t>(długoterminowa </a:t>
            </a:r>
            <a:r>
              <a:rPr lang="en-US" sz="1600" i="1" dirty="0" err="1">
                <a:solidFill>
                  <a:srgbClr val="E2EBF3"/>
                </a:solidFill>
                <a:latin typeface="Calibri" pitchFamily="34" charset="0"/>
                <a:ea typeface="Calibri" pitchFamily="34" charset="-122"/>
                <a:cs typeface="Calibri" pitchFamily="34" charset="-120"/>
              </a:rPr>
              <a:t>stabilność</a:t>
            </a:r>
            <a:r>
              <a:rPr lang="en-US" sz="1600" i="1" dirty="0" smtClean="0">
                <a:solidFill>
                  <a:srgbClr val="E2EBF3"/>
                </a:solidFill>
                <a:latin typeface="Calibri" pitchFamily="34" charset="0"/>
                <a:ea typeface="Calibri" pitchFamily="34" charset="-122"/>
                <a:cs typeface="Calibri" pitchFamily="34" charset="-120"/>
              </a:rPr>
              <a:t>)</a:t>
            </a:r>
            <a:endParaRPr lang="en-US" sz="1600" i="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PORÓWNANIE FILTRÓW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Porównanie filtrów: EKF, UKF, cząsteczkowy</a:t>
            </a:r>
            <a:endParaRPr lang="en-US" sz="2800" dirty="0"/>
          </a:p>
        </p:txBody>
      </p:sp>
      <p:sp>
        <p:nvSpPr>
          <p:cNvPr id="6" name="Shape 4"/>
          <p:cNvSpPr/>
          <p:nvPr/>
        </p:nvSpPr>
        <p:spPr>
          <a:xfrm>
            <a:off x="229870" y="1143001"/>
            <a:ext cx="276499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29870" y="1143000"/>
            <a:ext cx="2764990" cy="411480"/>
          </a:xfrm>
          <a:prstGeom prst="rect">
            <a:avLst/>
          </a:prstGeom>
          <a:solidFill>
            <a:srgbClr val="00B4D8"/>
          </a:solidFill>
          <a:ln w="12700">
            <a:solidFill>
              <a:srgbClr val="00B4D8"/>
            </a:solidFill>
            <a:prstDash val="solid"/>
          </a:ln>
        </p:spPr>
      </p:sp>
      <p:sp>
        <p:nvSpPr>
          <p:cNvPr id="8" name="Text 6"/>
          <p:cNvSpPr/>
          <p:nvPr/>
        </p:nvSpPr>
        <p:spPr>
          <a:xfrm>
            <a:off x="29484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EKF – Extended Kalman Filter</a:t>
            </a:r>
            <a:endParaRPr lang="en-US" sz="1600" spc="-110" dirty="0"/>
          </a:p>
        </p:txBody>
      </p:sp>
      <p:sp>
        <p:nvSpPr>
          <p:cNvPr id="9" name="Text 7"/>
          <p:cNvSpPr/>
          <p:nvPr/>
        </p:nvSpPr>
        <p:spPr>
          <a:xfrm>
            <a:off x="259992" y="1627632"/>
            <a:ext cx="2670270" cy="2262158"/>
          </a:xfrm>
          <a:prstGeom prst="rect">
            <a:avLst/>
          </a:prstGeom>
          <a:noFill/>
          <a:ln/>
          <a:effectLst>
            <a:glow rad="63500">
              <a:schemeClr val="accent2">
                <a:satMod val="175000"/>
                <a:alpha val="40000"/>
              </a:schemeClr>
            </a:glow>
          </a:effectLst>
        </p:spPr>
        <p:txBody>
          <a:bodyPr wrap="square" lIns="50800" tIns="76200" rIns="50800" bIns="50800" rtlCol="0" anchor="t">
            <a:spAutoFit/>
          </a:bodyPr>
          <a:lstStyle/>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Linearyzacja Jacobianem </a:t>
            </a:r>
            <a:r>
              <a:rPr lang="en-US" sz="1400" spc="-80" dirty="0">
                <a:solidFill>
                  <a:srgbClr val="0D1B2A"/>
                </a:solidFill>
                <a:latin typeface="Calibri" pitchFamily="34" charset="0"/>
                <a:ea typeface="Calibri" pitchFamily="34" charset="-122"/>
                <a:cs typeface="Calibri" pitchFamily="34" charset="-120"/>
              </a:rPr>
              <a:t>wokół aktualnego stanu</a:t>
            </a:r>
            <a:endParaRPr lang="en-US" sz="1400"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Niski koszt O(n²</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err="1">
                <a:solidFill>
                  <a:srgbClr val="0D1B2A"/>
                </a:solidFill>
                <a:latin typeface="Calibri" pitchFamily="34" charset="0"/>
                <a:ea typeface="Calibri" pitchFamily="34" charset="-122"/>
                <a:cs typeface="Calibri" pitchFamily="34" charset="-120"/>
              </a:rPr>
              <a:t>działa</a:t>
            </a:r>
            <a:r>
              <a:rPr lang="en-US" sz="1400" spc="-80" dirty="0">
                <a:solidFill>
                  <a:srgbClr val="0D1B2A"/>
                </a:solidFill>
                <a:latin typeface="Calibri" pitchFamily="34" charset="0"/>
                <a:ea typeface="Calibri" pitchFamily="34" charset="-122"/>
                <a:cs typeface="Calibri" pitchFamily="34" charset="-120"/>
              </a:rPr>
              <a:t> </a:t>
            </a:r>
            <a:r>
              <a:rPr lang="en-US" sz="1400" spc="-80" dirty="0" smtClean="0">
                <a:solidFill>
                  <a:srgbClr val="0D1B2A"/>
                </a:solidFill>
                <a:latin typeface="Calibri" pitchFamily="34" charset="0"/>
                <a:ea typeface="Calibri" pitchFamily="34" charset="-122"/>
                <a:cs typeface="Calibri" pitchFamily="34" charset="-120"/>
              </a:rPr>
              <a:t>w </a:t>
            </a:r>
            <a:r>
              <a:rPr lang="en-US" sz="1400" spc="-80" dirty="0">
                <a:solidFill>
                  <a:srgbClr val="0D1B2A"/>
                </a:solidFill>
                <a:latin typeface="Calibri" pitchFamily="34" charset="0"/>
                <a:ea typeface="Calibri" pitchFamily="34" charset="-122"/>
                <a:cs typeface="Calibri" pitchFamily="34" charset="-120"/>
              </a:rPr>
              <a:t>czasie rzeczywistym</a:t>
            </a:r>
            <a:endParaRPr lang="en-US" sz="1400" spc="-80" dirty="0"/>
          </a:p>
          <a:p>
            <a:pPr marL="144000" indent="-144000">
              <a:spcAft>
                <a:spcPts val="800"/>
              </a:spcAft>
              <a:buSzPct val="100000"/>
              <a:buChar char="•"/>
            </a:pPr>
            <a:r>
              <a:rPr lang="en-US" sz="1400" spc="-80" dirty="0" err="1">
                <a:solidFill>
                  <a:srgbClr val="0D1B2A"/>
                </a:solidFill>
                <a:latin typeface="Calibri" pitchFamily="34" charset="0"/>
                <a:ea typeface="Calibri" pitchFamily="34" charset="-122"/>
                <a:cs typeface="Calibri" pitchFamily="34" charset="-120"/>
              </a:rPr>
              <a:t>Zakłada</a:t>
            </a:r>
            <a:r>
              <a:rPr lang="en-US" sz="1400" spc="-80" dirty="0">
                <a:solidFill>
                  <a:srgbClr val="0D1B2A"/>
                </a:solidFill>
                <a:latin typeface="Calibri" pitchFamily="34" charset="0"/>
                <a:ea typeface="Calibri" pitchFamily="34" charset="-122"/>
                <a:cs typeface="Calibri" pitchFamily="34" charset="-120"/>
              </a:rPr>
              <a:t> </a:t>
            </a:r>
            <a:r>
              <a:rPr lang="en-US" sz="1400" b="1" spc="-80" dirty="0" err="1" smtClean="0">
                <a:solidFill>
                  <a:srgbClr val="0D1B2A"/>
                </a:solidFill>
                <a:latin typeface="Calibri" pitchFamily="34" charset="0"/>
                <a:ea typeface="Calibri" pitchFamily="34" charset="-122"/>
                <a:cs typeface="Calibri" pitchFamily="34" charset="-120"/>
              </a:rPr>
              <a:t>Gaussowski</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rozkład</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szumu</a:t>
            </a:r>
            <a:endParaRPr lang="en-US" sz="1400" b="1"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Zawodzi</a:t>
            </a:r>
            <a:r>
              <a:rPr lang="en-US" sz="1400" spc="-80" dirty="0">
                <a:solidFill>
                  <a:srgbClr val="0D1B2A"/>
                </a:solidFill>
                <a:latin typeface="Calibri" pitchFamily="34" charset="0"/>
                <a:ea typeface="Calibri" pitchFamily="34" charset="-122"/>
                <a:cs typeface="Calibri" pitchFamily="34" charset="-120"/>
              </a:rPr>
              <a:t> przy silnej </a:t>
            </a:r>
            <a:r>
              <a:rPr lang="en-US" sz="1400" b="1" spc="-80" dirty="0">
                <a:solidFill>
                  <a:srgbClr val="0D1B2A"/>
                </a:solidFill>
                <a:latin typeface="Calibri" pitchFamily="34" charset="0"/>
                <a:ea typeface="Calibri" pitchFamily="34" charset="-122"/>
                <a:cs typeface="Calibri" pitchFamily="34" charset="-120"/>
              </a:rPr>
              <a:t>nieliniowości modelu</a:t>
            </a:r>
            <a:endParaRPr lang="en-US" sz="1400" b="1" spc="-80" dirty="0"/>
          </a:p>
          <a:p>
            <a:pPr marL="144000" indent="-144000">
              <a:spcAft>
                <a:spcPts val="800"/>
              </a:spcAft>
              <a:buSzPct val="100000"/>
              <a:buChar char="•"/>
            </a:pPr>
            <a:r>
              <a:rPr lang="en-US" sz="1400" b="1" spc="-80" dirty="0">
                <a:solidFill>
                  <a:srgbClr val="EEB500"/>
                </a:solidFill>
                <a:latin typeface="Calibri" pitchFamily="34" charset="0"/>
                <a:ea typeface="Calibri" pitchFamily="34" charset="-122"/>
                <a:cs typeface="Calibri" pitchFamily="34" charset="-120"/>
              </a:rPr>
              <a:t>Złoty standard w robotyce mobilnej</a:t>
            </a:r>
            <a:endParaRPr lang="en-US" sz="1400" b="1" spc="-80" dirty="0">
              <a:solidFill>
                <a:srgbClr val="EEB500"/>
              </a:solidFill>
            </a:endParaRPr>
          </a:p>
        </p:txBody>
      </p:sp>
      <p:sp>
        <p:nvSpPr>
          <p:cNvPr id="10" name="Shape 8"/>
          <p:cNvSpPr/>
          <p:nvPr/>
        </p:nvSpPr>
        <p:spPr>
          <a:xfrm>
            <a:off x="3180452" y="1143001"/>
            <a:ext cx="2813948"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80452" y="1143000"/>
            <a:ext cx="2813948" cy="411480"/>
          </a:xfrm>
          <a:prstGeom prst="rect">
            <a:avLst/>
          </a:prstGeom>
          <a:solidFill>
            <a:srgbClr val="0077A8"/>
          </a:solidFill>
          <a:ln w="12700">
            <a:solidFill>
              <a:srgbClr val="0077A8"/>
            </a:solidFill>
            <a:prstDash val="solid"/>
          </a:ln>
        </p:spPr>
      </p:sp>
      <p:sp>
        <p:nvSpPr>
          <p:cNvPr id="12" name="Text 10"/>
          <p:cNvSpPr/>
          <p:nvPr/>
        </p:nvSpPr>
        <p:spPr>
          <a:xfrm>
            <a:off x="327045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UKF – Unscented Kalman Filter</a:t>
            </a:r>
            <a:endParaRPr lang="en-US" sz="1600" spc="-110" dirty="0"/>
          </a:p>
        </p:txBody>
      </p:sp>
      <p:sp>
        <p:nvSpPr>
          <p:cNvPr id="13" name="Text 11"/>
          <p:cNvSpPr/>
          <p:nvPr/>
        </p:nvSpPr>
        <p:spPr>
          <a:xfrm>
            <a:off x="3276600" y="1627632"/>
            <a:ext cx="2628900"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Sigma-points</a:t>
            </a:r>
            <a:r>
              <a:rPr lang="en-US" sz="1400" spc="-80" dirty="0">
                <a:solidFill>
                  <a:srgbClr val="0D1B2A"/>
                </a:solidFill>
                <a:latin typeface="Calibri" pitchFamily="34" charset="0"/>
                <a:ea typeface="Calibri" pitchFamily="34" charset="-122"/>
                <a:cs typeface="Calibri" pitchFamily="34" charset="-120"/>
              </a:rPr>
              <a:t> zamiast </a:t>
            </a:r>
            <a:r>
              <a:rPr lang="en-US" sz="1400" b="1" spc="-80" dirty="0">
                <a:solidFill>
                  <a:srgbClr val="0D1B2A"/>
                </a:solidFill>
                <a:latin typeface="Calibri" pitchFamily="34" charset="0"/>
                <a:ea typeface="Calibri" pitchFamily="34" charset="-122"/>
                <a:cs typeface="Calibri" pitchFamily="34" charset="-120"/>
              </a:rPr>
              <a:t>linearyzacji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Lepsza</a:t>
            </a:r>
            <a:r>
              <a:rPr lang="en-US" sz="1400" spc="-80" dirty="0">
                <a:solidFill>
                  <a:srgbClr val="0D1B2A"/>
                </a:solidFill>
                <a:latin typeface="Calibri" pitchFamily="34" charset="0"/>
                <a:ea typeface="Calibri" pitchFamily="34" charset="-122"/>
                <a:cs typeface="Calibri" pitchFamily="34" charset="-120"/>
              </a:rPr>
              <a:t> aproksymacja </a:t>
            </a:r>
            <a:r>
              <a:rPr lang="en-US" sz="1400" b="1" spc="-80" dirty="0">
                <a:solidFill>
                  <a:srgbClr val="0D1B2A"/>
                </a:solidFill>
                <a:latin typeface="Calibri" pitchFamily="34" charset="0"/>
                <a:ea typeface="Calibri" pitchFamily="34" charset="-122"/>
                <a:cs typeface="Calibri" pitchFamily="34" charset="-120"/>
              </a:rPr>
              <a:t>nieliniowości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Bez</a:t>
            </a:r>
            <a:r>
              <a:rPr lang="en-US" sz="1400" spc="-80" dirty="0">
                <a:solidFill>
                  <a:srgbClr val="0D1B2A"/>
                </a:solidFill>
                <a:latin typeface="Calibri" pitchFamily="34" charset="0"/>
                <a:ea typeface="Calibri" pitchFamily="34" charset="-122"/>
                <a:cs typeface="Calibri" pitchFamily="34" charset="-120"/>
              </a:rPr>
              <a:t> konieczności wyliczania </a:t>
            </a:r>
            <a:r>
              <a:rPr lang="en-US" sz="1400" b="1" spc="-80" dirty="0">
                <a:solidFill>
                  <a:srgbClr val="0D1B2A"/>
                </a:solidFill>
                <a:latin typeface="Calibri" pitchFamily="34" charset="0"/>
                <a:ea typeface="Calibri" pitchFamily="34" charset="-122"/>
                <a:cs typeface="Calibri" pitchFamily="34" charset="-120"/>
              </a:rPr>
              <a:t>Jacobiana</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Większy koszt </a:t>
            </a:r>
            <a:r>
              <a:rPr lang="en-US" sz="1400" spc="-80" dirty="0">
                <a:solidFill>
                  <a:srgbClr val="0D1B2A"/>
                </a:solidFill>
                <a:latin typeface="Calibri" pitchFamily="34" charset="0"/>
                <a:ea typeface="Calibri" pitchFamily="34" charset="-122"/>
                <a:cs typeface="Calibri" pitchFamily="34" charset="-120"/>
              </a:rPr>
              <a:t>niż EKF </a:t>
            </a:r>
            <a:r>
              <a:rPr lang="en-US" sz="1400" i="1" spc="-80" dirty="0">
                <a:solidFill>
                  <a:srgbClr val="0D1B2A"/>
                </a:solidFill>
                <a:latin typeface="Calibri" pitchFamily="34" charset="0"/>
                <a:ea typeface="Calibri" pitchFamily="34" charset="-122"/>
                <a:cs typeface="Calibri" pitchFamily="34" charset="-120"/>
              </a:rPr>
              <a:t>(2n+1 punktów)</a:t>
            </a:r>
            <a:endParaRPr lang="en-US" sz="1400" i="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Zalecany</a:t>
            </a:r>
            <a:r>
              <a:rPr lang="en-US" sz="1400" spc="-80" dirty="0">
                <a:solidFill>
                  <a:srgbClr val="0D1B2A"/>
                </a:solidFill>
                <a:latin typeface="Calibri" pitchFamily="34" charset="0"/>
                <a:ea typeface="Calibri" pitchFamily="34" charset="-122"/>
                <a:cs typeface="Calibri" pitchFamily="34" charset="-120"/>
              </a:rPr>
              <a:t> przy mocno </a:t>
            </a:r>
            <a:r>
              <a:rPr lang="en-US" sz="1400" b="1" spc="-80" dirty="0">
                <a:solidFill>
                  <a:srgbClr val="0D1B2A"/>
                </a:solidFill>
                <a:latin typeface="Calibri" pitchFamily="34" charset="0"/>
                <a:ea typeface="Calibri" pitchFamily="34" charset="-122"/>
                <a:cs typeface="Calibri" pitchFamily="34" charset="-120"/>
              </a:rPr>
              <a:t>nieliniowych dynamikach</a:t>
            </a:r>
            <a:endParaRPr lang="en-US" sz="1400" b="1" spc="-80" dirty="0"/>
          </a:p>
        </p:txBody>
      </p:sp>
      <p:sp>
        <p:nvSpPr>
          <p:cNvPr id="14" name="Shape 12"/>
          <p:cNvSpPr/>
          <p:nvPr/>
        </p:nvSpPr>
        <p:spPr>
          <a:xfrm>
            <a:off x="6174740" y="1143001"/>
            <a:ext cx="277241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174740" y="1143000"/>
            <a:ext cx="2772410" cy="411480"/>
          </a:xfrm>
          <a:prstGeom prst="rect">
            <a:avLst/>
          </a:prstGeom>
          <a:solidFill>
            <a:srgbClr val="1A3550"/>
          </a:solidFill>
          <a:ln w="12700">
            <a:solidFill>
              <a:srgbClr val="1A3550"/>
            </a:solidFill>
            <a:prstDash val="solid"/>
          </a:ln>
        </p:spPr>
      </p:sp>
      <p:sp>
        <p:nvSpPr>
          <p:cNvPr id="16" name="Text 14"/>
          <p:cNvSpPr/>
          <p:nvPr/>
        </p:nvSpPr>
        <p:spPr>
          <a:xfrm>
            <a:off x="6278118" y="1161288"/>
            <a:ext cx="2432304" cy="365760"/>
          </a:xfrm>
          <a:prstGeom prst="rect">
            <a:avLst/>
          </a:prstGeom>
          <a:noFill/>
          <a:ln/>
        </p:spPr>
        <p:txBody>
          <a:bodyPr wrap="square" lIns="0" tIns="0" rIns="0" bIns="0" rtlCol="0" anchor="ctr"/>
          <a:lstStyle/>
          <a:p>
            <a:pPr marL="0" indent="0">
              <a:buNone/>
            </a:pPr>
            <a:r>
              <a:rPr lang="en-US" sz="1600" b="1" spc="-70" dirty="0">
                <a:solidFill>
                  <a:srgbClr val="FFFFFF"/>
                </a:solidFill>
                <a:latin typeface="Trebuchet MS" pitchFamily="34" charset="0"/>
                <a:ea typeface="Trebuchet MS" pitchFamily="34" charset="-122"/>
                <a:cs typeface="Trebuchet MS" pitchFamily="34" charset="-120"/>
              </a:rPr>
              <a:t>Filtr cząsteczkowy (PF)</a:t>
            </a:r>
            <a:endParaRPr lang="en-US" sz="1600" spc="-70" dirty="0"/>
          </a:p>
        </p:txBody>
      </p:sp>
      <p:sp>
        <p:nvSpPr>
          <p:cNvPr id="17" name="Text 15"/>
          <p:cNvSpPr/>
          <p:nvPr/>
        </p:nvSpPr>
        <p:spPr>
          <a:xfrm>
            <a:off x="6199596" y="1627632"/>
            <a:ext cx="2722154"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Wielomodalny</a:t>
            </a:r>
            <a:r>
              <a:rPr lang="en-US" sz="1400" spc="-80" dirty="0">
                <a:solidFill>
                  <a:srgbClr val="0D1B2A"/>
                </a:solidFill>
                <a:latin typeface="Calibri" pitchFamily="34" charset="0"/>
                <a:ea typeface="Calibri" pitchFamily="34" charset="-122"/>
                <a:cs typeface="Calibri" pitchFamily="34" charset="-120"/>
              </a:rPr>
              <a:t> rozkład prawdopodobieństwa</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N cząsteczek </a:t>
            </a:r>
            <a:r>
              <a:rPr lang="en-US" sz="1400" spc="-80" dirty="0">
                <a:solidFill>
                  <a:srgbClr val="0D1B2A"/>
                </a:solidFill>
                <a:latin typeface="Calibri" pitchFamily="34" charset="0"/>
                <a:ea typeface="Calibri" pitchFamily="34" charset="-122"/>
                <a:cs typeface="Calibri" pitchFamily="34" charset="-120"/>
              </a:rPr>
              <a:t>jako hipotezy stanu</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Resampling</a:t>
            </a:r>
            <a:r>
              <a:rPr lang="en-US" sz="1400" spc="-80" dirty="0">
                <a:solidFill>
                  <a:srgbClr val="0D1B2A"/>
                </a:solidFill>
                <a:latin typeface="Calibri" pitchFamily="34" charset="0"/>
                <a:ea typeface="Calibri" pitchFamily="34" charset="-122"/>
                <a:cs typeface="Calibri" pitchFamily="34" charset="-120"/>
              </a:rPr>
              <a:t>: eliminacja słabych hipotez</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Koszt O(N</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a:solidFill>
                  <a:srgbClr val="0D1B2A"/>
                </a:solidFill>
                <a:latin typeface="Calibri" pitchFamily="34" charset="0"/>
                <a:ea typeface="Calibri" pitchFamily="34" charset="-122"/>
                <a:cs typeface="Calibri" pitchFamily="34" charset="-120"/>
              </a:rPr>
              <a:t>wymaga wielu cząsteczek</a:t>
            </a:r>
            <a:endParaRPr lang="en-US" sz="1400" spc="-80" dirty="0"/>
          </a:p>
          <a:p>
            <a:pPr marL="144000" indent="-144000">
              <a:spcAft>
                <a:spcPts val="1200"/>
              </a:spcAft>
              <a:buSzPct val="100000"/>
              <a:buChar char="•"/>
            </a:pPr>
            <a:r>
              <a:rPr lang="en-US" sz="1400" spc="-80" dirty="0">
                <a:solidFill>
                  <a:srgbClr val="0D1B2A"/>
                </a:solidFill>
                <a:latin typeface="Calibri" pitchFamily="34" charset="0"/>
                <a:ea typeface="Calibri" pitchFamily="34" charset="-122"/>
                <a:cs typeface="Calibri" pitchFamily="34" charset="-120"/>
              </a:rPr>
              <a:t>Idealny do lokalizacji globalnej (AMCL)</a:t>
            </a:r>
            <a:endParaRPr lang="en-US" sz="1400" spc="-80" dirty="0"/>
          </a:p>
        </p:txBody>
      </p:sp>
      <p:sp>
        <p:nvSpPr>
          <p:cNvPr id="18" name="Prostokąt 17"/>
          <p:cNvSpPr/>
          <p:nvPr/>
        </p:nvSpPr>
        <p:spPr>
          <a:xfrm>
            <a:off x="274320" y="40828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sz="1400" dirty="0" err="1">
                <a:solidFill>
                  <a:schemeClr val="bg1"/>
                </a:solidFill>
              </a:rPr>
              <a:t>Jacobianów</a:t>
            </a:r>
            <a:r>
              <a:rPr lang="pl-PL" sz="1400" dirty="0">
                <a:solidFill>
                  <a:schemeClr val="bg1"/>
                </a:solidFill>
              </a:rPr>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2 | FILTR KALMANA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err="1">
                <a:solidFill>
                  <a:srgbClr val="FFFFFF"/>
                </a:solidFill>
                <a:latin typeface="Trebuchet MS" pitchFamily="34" charset="0"/>
                <a:ea typeface="Trebuchet MS" pitchFamily="34" charset="-122"/>
                <a:cs typeface="Trebuchet MS" pitchFamily="34" charset="-120"/>
              </a:rPr>
              <a:t>Filtr</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Kalmana</a:t>
            </a:r>
            <a:r>
              <a:rPr lang="pl-PL" sz="2800" b="1" dirty="0" smtClean="0">
                <a:solidFill>
                  <a:srgbClr val="FFFFFF"/>
                </a:solidFill>
                <a:latin typeface="Trebuchet MS" pitchFamily="34" charset="0"/>
                <a:ea typeface="Trebuchet MS" pitchFamily="34" charset="-122"/>
                <a:cs typeface="Trebuchet MS" pitchFamily="34" charset="-120"/>
              </a:rPr>
              <a:t>:</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cykl predykcja–korekcja</a:t>
            </a:r>
            <a:endParaRPr lang="en-US" sz="2800" dirty="0"/>
          </a:p>
        </p:txBody>
      </p:sp>
      <p:sp>
        <p:nvSpPr>
          <p:cNvPr id="6" name="Shape 4"/>
          <p:cNvSpPr/>
          <p:nvPr/>
        </p:nvSpPr>
        <p:spPr>
          <a:xfrm>
            <a:off x="27432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3332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1</a:t>
            </a:r>
            <a:endParaRPr lang="en-US" sz="32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Predykcja</a:t>
            </a:r>
            <a:endParaRPr lang="en-US" dirty="0"/>
          </a:p>
        </p:txBody>
      </p:sp>
      <p:sp>
        <p:nvSpPr>
          <p:cNvPr id="10" name="Text 8"/>
          <p:cNvSpPr/>
          <p:nvPr/>
        </p:nvSpPr>
        <p:spPr>
          <a:xfrm>
            <a:off x="36576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Model ruchu propaguje stan x̂ i kowariancję P do przodu w czasie.</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F·x̂ + B·u</a:t>
            </a:r>
            <a:endParaRPr lang="en-US" sz="1400" b="1" dirty="0"/>
          </a:p>
        </p:txBody>
      </p:sp>
      <p:sp>
        <p:nvSpPr>
          <p:cNvPr id="11" name="Shape 9"/>
          <p:cNvSpPr/>
          <p:nvPr/>
        </p:nvSpPr>
        <p:spPr>
          <a:xfrm>
            <a:off x="242316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3332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2</a:t>
            </a:r>
            <a:endParaRPr lang="en-US" sz="32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Pomiar</a:t>
            </a:r>
            <a:endParaRPr lang="en-US" dirty="0"/>
          </a:p>
        </p:txBody>
      </p:sp>
      <p:sp>
        <p:nvSpPr>
          <p:cNvPr id="15" name="Text 13"/>
          <p:cNvSpPr/>
          <p:nvPr/>
        </p:nvSpPr>
        <p:spPr>
          <a:xfrm>
            <a:off x="251460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Sensor dostarcza nową obserwację z – zawierającą szum R.</a:t>
            </a:r>
            <a:endParaRPr lang="en-US" sz="1400" dirty="0"/>
          </a:p>
          <a:p>
            <a:pPr marL="0" indent="0" algn="ctr">
              <a:buNone/>
            </a:pPr>
            <a:r>
              <a:rPr lang="en-US" sz="1400" dirty="0">
                <a:solidFill>
                  <a:srgbClr val="475569"/>
                </a:solidFill>
                <a:latin typeface="Calibri" pitchFamily="34" charset="0"/>
                <a:ea typeface="Calibri" pitchFamily="34" charset="-122"/>
                <a:cs typeface="Calibri" pitchFamily="34" charset="-120"/>
              </a:rPr>
              <a:t>Innowacja: </a:t>
            </a:r>
            <a:r>
              <a:rPr lang="en-US" sz="1400" b="1" dirty="0">
                <a:solidFill>
                  <a:srgbClr val="475569"/>
                </a:solidFill>
                <a:latin typeface="Calibri" pitchFamily="34" charset="0"/>
                <a:ea typeface="Calibri" pitchFamily="34" charset="-122"/>
                <a:cs typeface="Calibri" pitchFamily="34" charset="-120"/>
              </a:rPr>
              <a:t>ν = z – H·x̂⁻</a:t>
            </a:r>
            <a:endParaRPr lang="en-US" sz="1400" b="1" dirty="0"/>
          </a:p>
        </p:txBody>
      </p:sp>
      <p:sp>
        <p:nvSpPr>
          <p:cNvPr id="16" name="Shape 14"/>
          <p:cNvSpPr/>
          <p:nvPr/>
        </p:nvSpPr>
        <p:spPr>
          <a:xfrm>
            <a:off x="457200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3332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3</a:t>
            </a:r>
            <a:endParaRPr lang="en-US" sz="32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Wzmocnienie K</a:t>
            </a:r>
            <a:endParaRPr lang="en-US" dirty="0"/>
          </a:p>
        </p:txBody>
      </p:sp>
      <p:sp>
        <p:nvSpPr>
          <p:cNvPr id="20" name="Text 18"/>
          <p:cNvSpPr/>
          <p:nvPr/>
        </p:nvSpPr>
        <p:spPr>
          <a:xfrm>
            <a:off x="466344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Wagi Kalmana wyznaczają optymalny kompromis </a:t>
            </a:r>
            <a:r>
              <a:rPr lang="en-US" sz="1400" dirty="0" err="1">
                <a:solidFill>
                  <a:srgbClr val="475569"/>
                </a:solidFill>
                <a:latin typeface="Calibri" pitchFamily="34" charset="0"/>
                <a:ea typeface="Calibri" pitchFamily="34" charset="-122"/>
                <a:cs typeface="Calibri" pitchFamily="34" charset="-120"/>
              </a:rPr>
              <a:t>między</a:t>
            </a:r>
            <a:r>
              <a:rPr lang="en-US" sz="1400" dirty="0">
                <a:solidFill>
                  <a:srgbClr val="475569"/>
                </a:solidFill>
                <a:latin typeface="Calibri" pitchFamily="34" charset="0"/>
                <a:ea typeface="Calibri" pitchFamily="34" charset="-122"/>
                <a:cs typeface="Calibri" pitchFamily="34" charset="-120"/>
              </a:rPr>
              <a:t> </a:t>
            </a:r>
            <a:r>
              <a:rPr lang="en-US" sz="1400" dirty="0" err="1" smtClean="0">
                <a:solidFill>
                  <a:srgbClr val="475569"/>
                </a:solidFill>
                <a:latin typeface="Calibri" pitchFamily="34" charset="0"/>
                <a:ea typeface="Calibri" pitchFamily="34" charset="-122"/>
                <a:cs typeface="Calibri" pitchFamily="34" charset="-120"/>
              </a:rPr>
              <a:t>modelem</a:t>
            </a:r>
            <a:r>
              <a:rPr lang="pl-PL" sz="1400" dirty="0" smtClean="0">
                <a:solidFill>
                  <a:srgbClr val="475569"/>
                </a:solidFill>
                <a:latin typeface="Calibri" pitchFamily="34" charset="0"/>
                <a:ea typeface="Calibri" pitchFamily="34" charset="-122"/>
                <a:cs typeface="Calibri" pitchFamily="34" charset="-120"/>
              </a:rPr>
              <a:t>,</a:t>
            </a:r>
            <a:r>
              <a:rPr lang="en-US" sz="1400" dirty="0" smtClean="0">
                <a:solidFill>
                  <a:srgbClr val="475569"/>
                </a:solidFill>
                <a:latin typeface="Calibri" pitchFamily="34" charset="0"/>
                <a:ea typeface="Calibri" pitchFamily="34" charset="-122"/>
                <a:cs typeface="Calibri" pitchFamily="34" charset="-120"/>
              </a:rPr>
              <a:t> </a:t>
            </a:r>
            <a:r>
              <a:rPr lang="en-US" sz="1400" dirty="0">
                <a:solidFill>
                  <a:srgbClr val="475569"/>
                </a:solidFill>
                <a:latin typeface="Calibri" pitchFamily="34" charset="0"/>
                <a:ea typeface="Calibri" pitchFamily="34" charset="-122"/>
                <a:cs typeface="Calibri" pitchFamily="34" charset="-120"/>
              </a:rPr>
              <a:t>a pomiarem.</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K = P⁻·Hᵀ·(H·P⁻·Hᵀ+R)⁻¹</a:t>
            </a:r>
            <a:endParaRPr lang="en-US" sz="1400" b="1" dirty="0"/>
          </a:p>
        </p:txBody>
      </p:sp>
      <p:sp>
        <p:nvSpPr>
          <p:cNvPr id="21" name="Shape 19"/>
          <p:cNvSpPr/>
          <p:nvPr/>
        </p:nvSpPr>
        <p:spPr>
          <a:xfrm>
            <a:off x="672084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3332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4</a:t>
            </a:r>
            <a:endParaRPr lang="en-US" sz="32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Korekcja</a:t>
            </a:r>
            <a:endParaRPr lang="en-US" dirty="0"/>
          </a:p>
        </p:txBody>
      </p:sp>
      <p:sp>
        <p:nvSpPr>
          <p:cNvPr id="25" name="Text 23"/>
          <p:cNvSpPr/>
          <p:nvPr/>
        </p:nvSpPr>
        <p:spPr>
          <a:xfrm>
            <a:off x="681228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Stan i kowariancja </a:t>
            </a:r>
            <a:r>
              <a:rPr lang="en-US" sz="1400" dirty="0" err="1">
                <a:solidFill>
                  <a:srgbClr val="475569"/>
                </a:solidFill>
                <a:latin typeface="Calibri" pitchFamily="34" charset="0"/>
                <a:ea typeface="Calibri" pitchFamily="34" charset="-122"/>
                <a:cs typeface="Calibri" pitchFamily="34" charset="-120"/>
              </a:rPr>
              <a:t>zaktualizowane</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o </a:t>
            </a:r>
            <a:r>
              <a:rPr lang="en-US" sz="1400" dirty="0">
                <a:solidFill>
                  <a:srgbClr val="475569"/>
                </a:solidFill>
                <a:latin typeface="Calibri" pitchFamily="34" charset="0"/>
                <a:ea typeface="Calibri" pitchFamily="34" charset="-122"/>
                <a:cs typeface="Calibri" pitchFamily="34" charset="-120"/>
              </a:rPr>
              <a:t>innowację.</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x̂⁻ + K·ν</a:t>
            </a:r>
            <a:endParaRPr lang="en-US" sz="1400" b="1" dirty="0"/>
          </a:p>
          <a:p>
            <a:pPr marL="0" indent="0" algn="ctr">
              <a:buNone/>
            </a:pPr>
            <a:r>
              <a:rPr lang="en-US" sz="1400" b="1" dirty="0">
                <a:solidFill>
                  <a:srgbClr val="475569"/>
                </a:solidFill>
                <a:latin typeface="Calibri" pitchFamily="34" charset="0"/>
                <a:ea typeface="Calibri" pitchFamily="34" charset="-122"/>
                <a:cs typeface="Calibri" pitchFamily="34" charset="-120"/>
              </a:rPr>
              <a:t>P = (I–K·H)·P⁻</a:t>
            </a:r>
            <a:endParaRPr lang="en-US" sz="1400" b="1" dirty="0"/>
          </a:p>
        </p:txBody>
      </p:sp>
      <p:sp>
        <p:nvSpPr>
          <p:cNvPr id="26" name="Prostokąt 25"/>
          <p:cNvSpPr/>
          <p:nvPr/>
        </p:nvSpPr>
        <p:spPr>
          <a:xfrm>
            <a:off x="274320" y="4210114"/>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Uproszczony EKF dla pozycji 2D</a:t>
            </a:r>
            <a:endParaRPr lang="en-US" sz="2800" dirty="0"/>
          </a:p>
        </p:txBody>
      </p:sp>
      <p:sp>
        <p:nvSpPr>
          <p:cNvPr id="6" name="Shape 4"/>
          <p:cNvSpPr/>
          <p:nvPr/>
        </p:nvSpPr>
        <p:spPr>
          <a:xfrm>
            <a:off x="274320" y="1005840"/>
            <a:ext cx="8595360" cy="335057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33856"/>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33856"/>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33856"/>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26728"/>
            <a:ext cx="8321040" cy="3255339"/>
          </a:xfrm>
          <a:prstGeom prst="rect">
            <a:avLst/>
          </a:prstGeom>
          <a:noFill/>
          <a:ln/>
        </p:spPr>
        <p:txBody>
          <a:bodyPr wrap="square" lIns="108000" tIns="0" rIns="127000" bIns="63500" rtlCol="0" anchor="t"/>
          <a:lstStyle/>
          <a:p>
            <a:pPr>
              <a:lnSpc>
                <a:spcPts val="12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a:solidFill>
                  <a:srgbClr val="4EC9B0"/>
                </a:solidFill>
                <a:latin typeface="Consolas" panose="020B0609020204030204" pitchFamily="49" charset="0"/>
              </a:rPr>
              <a:t>EKF2D</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np.zeros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[x, y, </a:t>
            </a:r>
            <a:r>
              <a:rPr lang="pl-PL" sz="1200" dirty="0" err="1">
                <a:solidFill>
                  <a:srgbClr val="6A9955"/>
                </a:solidFill>
                <a:latin typeface="Consolas" panose="020B0609020204030204" pitchFamily="49" charset="0"/>
              </a:rPr>
              <a:t>yaw</a:t>
            </a:r>
            <a:r>
              <a:rPr lang="pl-PL" sz="1200" dirty="0">
                <a:solidFill>
                  <a:srgbClr val="6A9955"/>
                </a:solidFill>
                <a:latin typeface="Consolas" panose="020B0609020204030204" pitchFamily="49" charset="0"/>
              </a:rPr>
              <a: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0.5</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kowariancja początkowa</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.Q</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np.diag</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0.005</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szum procesu</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np.diag</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0.1</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szum pomiaru (x, y)</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predict</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omega</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np.array</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np.cos</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np.sin</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omega</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F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F[</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np.sin</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F[</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np.cos</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F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F.T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.Q</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correct</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z_xy</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np.array</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S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np.linalg.inv</a:t>
            </a:r>
            <a:r>
              <a:rPr lang="pl-PL" sz="1200" dirty="0">
                <a:solidFill>
                  <a:srgbClr val="CCCCCC"/>
                </a:solidFill>
                <a:latin typeface="Consolas" panose="020B0609020204030204" pitchFamily="49" charset="0"/>
              </a:rPr>
              <a:t>(S)</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z_xy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smtClean="0">
                <a:solidFill>
                  <a:srgbClr val="569CD6"/>
                </a:solidFill>
                <a:latin typeface="Consolas" panose="020B0609020204030204" pitchFamily="49" charset="0"/>
              </a:rPr>
              <a:t>self</a:t>
            </a:r>
            <a:r>
              <a:rPr lang="pl-PL" sz="1200" dirty="0" err="1" smtClean="0">
                <a:solidFill>
                  <a:srgbClr val="CCCCCC"/>
                </a:solidFill>
                <a:latin typeface="Consolas" panose="020B0609020204030204" pitchFamily="49" charset="0"/>
              </a:rPr>
              <a:t>.P</a:t>
            </a:r>
            <a:endParaRPr lang="pl-PL" sz="1200" dirty="0">
              <a:solidFill>
                <a:srgbClr val="CCCCCC"/>
              </a:solidFill>
              <a:latin typeface="Consolas" panose="020B0609020204030204" pitchFamily="49" charset="0"/>
            </a:endParaRPr>
          </a:p>
        </p:txBody>
      </p:sp>
      <p:sp>
        <p:nvSpPr>
          <p:cNvPr id="11" name="Shape 9"/>
          <p:cNvSpPr/>
          <p:nvPr/>
        </p:nvSpPr>
        <p:spPr>
          <a:xfrm>
            <a:off x="274320" y="4512526"/>
            <a:ext cx="8595360" cy="425233"/>
          </a:xfrm>
          <a:prstGeom prst="rect">
            <a:avLst/>
          </a:prstGeom>
          <a:solidFill>
            <a:srgbClr val="1A3550"/>
          </a:solidFill>
          <a:ln w="12700">
            <a:solidFill>
              <a:srgbClr val="0077A8"/>
            </a:solidFill>
            <a:prstDash val="solid"/>
          </a:ln>
        </p:spPr>
      </p:sp>
      <p:sp>
        <p:nvSpPr>
          <p:cNvPr id="12" name="Text 10"/>
          <p:cNvSpPr/>
          <p:nvPr/>
        </p:nvSpPr>
        <p:spPr>
          <a:xfrm>
            <a:off x="327102" y="4512526"/>
            <a:ext cx="8451138" cy="425234"/>
          </a:xfrm>
          <a:prstGeom prst="rect">
            <a:avLst/>
          </a:prstGeom>
          <a:noFill/>
          <a:ln/>
        </p:spPr>
        <p:txBody>
          <a:bodyPr wrap="square" lIns="0" tIns="0" rIns="127000" bIns="0" rtlCol="0" anchor="ctr"/>
          <a:lstStyle/>
          <a:p>
            <a:pPr marL="0" indent="0" algn="ctr">
              <a:buNone/>
            </a:pPr>
            <a:r>
              <a:rPr lang="en-US" sz="1600" b="1" spc="-40" dirty="0">
                <a:solidFill>
                  <a:srgbClr val="00B4D8"/>
                </a:solidFill>
                <a:latin typeface="Calibri" pitchFamily="34" charset="0"/>
                <a:ea typeface="Calibri" pitchFamily="34" charset="-122"/>
                <a:cs typeface="Calibri" pitchFamily="34" charset="-120"/>
              </a:rPr>
              <a:t>Opis: </a:t>
            </a:r>
            <a:r>
              <a:rPr lang="en-US" sz="1600" spc="-40" dirty="0">
                <a:solidFill>
                  <a:srgbClr val="E2EBF3"/>
                </a:solidFill>
                <a:latin typeface="Calibri" pitchFamily="34" charset="0"/>
                <a:ea typeface="Calibri" pitchFamily="34" charset="-122"/>
                <a:cs typeface="Calibri" pitchFamily="34" charset="-120"/>
              </a:rPr>
              <a:t>predict() używa modelu jednośladowego (unicycle); correct() koryguje pomiar GPS </a:t>
            </a:r>
            <a:r>
              <a:rPr lang="en-US" sz="1600" spc="-40" dirty="0" err="1">
                <a:solidFill>
                  <a:srgbClr val="E2EBF3"/>
                </a:solidFill>
                <a:latin typeface="Calibri" pitchFamily="34" charset="0"/>
                <a:ea typeface="Calibri" pitchFamily="34" charset="-122"/>
                <a:cs typeface="Calibri" pitchFamily="34" charset="-120"/>
              </a:rPr>
              <a:t>lub</a:t>
            </a:r>
            <a:r>
              <a:rPr lang="en-US" sz="1600" spc="-40" dirty="0">
                <a:solidFill>
                  <a:srgbClr val="E2EBF3"/>
                </a:solidFill>
                <a:latin typeface="Calibri" pitchFamily="34" charset="0"/>
                <a:ea typeface="Calibri" pitchFamily="34" charset="-122"/>
                <a:cs typeface="Calibri" pitchFamily="34" charset="-120"/>
              </a:rPr>
              <a:t> </a:t>
            </a:r>
            <a:r>
              <a:rPr lang="en-US" sz="1600" spc="-40" dirty="0" err="1" smtClean="0">
                <a:solidFill>
                  <a:srgbClr val="E2EBF3"/>
                </a:solidFill>
                <a:latin typeface="Calibri" pitchFamily="34" charset="0"/>
                <a:ea typeface="Calibri" pitchFamily="34" charset="-122"/>
                <a:cs typeface="Calibri" pitchFamily="34" charset="-120"/>
              </a:rPr>
              <a:t>znacznika</a:t>
            </a:r>
            <a:endParaRPr lang="en-US" sz="1600" spc="-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 IMU+ENKODERY+WIZJA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Fuzja IMU, enkoderów i wizji</a:t>
            </a:r>
            <a:endParaRPr lang="en-US" sz="2800" dirty="0"/>
          </a:p>
        </p:txBody>
      </p:sp>
      <p:sp>
        <p:nvSpPr>
          <p:cNvPr id="6" name="Shape 4"/>
          <p:cNvSpPr/>
          <p:nvPr/>
        </p:nvSpPr>
        <p:spPr>
          <a:xfrm>
            <a:off x="274320" y="1097280"/>
            <a:ext cx="8595360" cy="284748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35821"/>
            <a:ext cx="8229600" cy="2755933"/>
          </a:xfrm>
          <a:prstGeom prst="rect">
            <a:avLst/>
          </a:prstGeom>
          <a:noFill/>
          <a:ln/>
        </p:spPr>
        <p:txBody>
          <a:bodyPr wrap="square" lIns="127000" tIns="72000" rIns="127000" bIns="3600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IMU </a:t>
            </a:r>
            <a:r>
              <a:rPr lang="en-US" sz="1600" b="1" i="1" spc="-40" dirty="0">
                <a:solidFill>
                  <a:srgbClr val="0D1B2A"/>
                </a:solidFill>
                <a:latin typeface="Calibri" pitchFamily="34" charset="0"/>
                <a:ea typeface="Calibri" pitchFamily="34" charset="-122"/>
                <a:cs typeface="Calibri" pitchFamily="34" charset="-120"/>
              </a:rPr>
              <a:t>(200 Hz): </a:t>
            </a:r>
            <a:r>
              <a:rPr lang="en-US" sz="1600" spc="-40" dirty="0">
                <a:solidFill>
                  <a:srgbClr val="0D1B2A"/>
                </a:solidFill>
                <a:latin typeface="Calibri" pitchFamily="34" charset="0"/>
                <a:ea typeface="Calibri" pitchFamily="34" charset="-122"/>
                <a:cs typeface="Calibri" pitchFamily="34" charset="-120"/>
              </a:rPr>
              <a:t>predykcja stanu – szybka propagacja orientacji i przyspieszenia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Enkodery + kontakty stóp </a:t>
            </a:r>
            <a:r>
              <a:rPr lang="en-US" sz="1600" b="1" i="1" spc="-40" dirty="0">
                <a:solidFill>
                  <a:srgbClr val="0D1B2A"/>
                </a:solidFill>
                <a:latin typeface="Calibri" pitchFamily="34" charset="0"/>
                <a:ea typeface="Calibri" pitchFamily="34" charset="-122"/>
                <a:cs typeface="Calibri" pitchFamily="34" charset="-120"/>
              </a:rPr>
              <a:t>(100–500 Hz): </a:t>
            </a:r>
            <a:r>
              <a:rPr lang="en-US" sz="1600" spc="-40" dirty="0">
                <a:solidFill>
                  <a:srgbClr val="0D1B2A"/>
                </a:solidFill>
                <a:latin typeface="Calibri" pitchFamily="34" charset="0"/>
                <a:ea typeface="Calibri" pitchFamily="34" charset="-122"/>
                <a:cs typeface="Calibri" pitchFamily="34" charset="-120"/>
              </a:rPr>
              <a:t>kinematyczna odometria kroków – korekta translacji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Kamera </a:t>
            </a:r>
            <a:r>
              <a:rPr lang="en-US" sz="1600" b="1" i="1" spc="-40" dirty="0">
                <a:solidFill>
                  <a:srgbClr val="0D1B2A"/>
                </a:solidFill>
                <a:latin typeface="Calibri" pitchFamily="34" charset="0"/>
                <a:ea typeface="Calibri" pitchFamily="34" charset="-122"/>
                <a:cs typeface="Calibri" pitchFamily="34" charset="-120"/>
              </a:rPr>
              <a:t>(30 Hz) </a:t>
            </a:r>
            <a:r>
              <a:rPr lang="en-US" sz="1600" b="1" spc="-40" dirty="0">
                <a:solidFill>
                  <a:srgbClr val="0D1B2A"/>
                </a:solidFill>
                <a:latin typeface="Calibri" pitchFamily="34" charset="0"/>
                <a:ea typeface="Calibri" pitchFamily="34" charset="-122"/>
                <a:cs typeface="Calibri" pitchFamily="34" charset="-120"/>
              </a:rPr>
              <a:t>/ LiDAR </a:t>
            </a:r>
            <a:r>
              <a:rPr lang="en-US" sz="1600" b="1" i="1" spc="-40" dirty="0">
                <a:solidFill>
                  <a:srgbClr val="0D1B2A"/>
                </a:solidFill>
                <a:latin typeface="Calibri" pitchFamily="34" charset="0"/>
                <a:ea typeface="Calibri" pitchFamily="34" charset="-122"/>
                <a:cs typeface="Calibri" pitchFamily="34" charset="-120"/>
              </a:rPr>
              <a:t>(10 Hz): </a:t>
            </a:r>
            <a:r>
              <a:rPr lang="en-US" sz="1600" spc="-40" dirty="0">
                <a:solidFill>
                  <a:srgbClr val="0D1B2A"/>
                </a:solidFill>
                <a:latin typeface="Calibri" pitchFamily="34" charset="0"/>
                <a:ea typeface="Calibri" pitchFamily="34" charset="-122"/>
                <a:cs typeface="Calibri" pitchFamily="34" charset="-120"/>
              </a:rPr>
              <a:t>obserwacje pozycyjne – usuwanie skumulowanego dryfu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looselycoupled</a:t>
            </a:r>
            <a:r>
              <a:rPr lang="en-US" sz="1600" spc="-40" dirty="0">
                <a:solidFill>
                  <a:srgbClr val="0D1B2A"/>
                </a:solidFill>
                <a:latin typeface="Calibri" pitchFamily="34" charset="0"/>
                <a:ea typeface="Calibri" pitchFamily="34" charset="-122"/>
                <a:cs typeface="Calibri" pitchFamily="34" charset="-120"/>
              </a:rPr>
              <a:t>: każde źródło dostarcza niezależnej estymatę pozycji do EKF</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tightly coupled</a:t>
            </a:r>
            <a:r>
              <a:rPr lang="en-US" sz="1600" spc="-40" dirty="0">
                <a:solidFill>
                  <a:srgbClr val="0D1B2A"/>
                </a:solidFill>
                <a:latin typeface="Calibri" pitchFamily="34" charset="0"/>
                <a:ea typeface="Calibri" pitchFamily="34" charset="-122"/>
                <a:cs typeface="Calibri" pitchFamily="34" charset="-120"/>
              </a:rPr>
              <a:t>: surowe pomiary sensorów trafiają bezpośrednio do jednego filtru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a:t>
            </a:r>
            <a:r>
              <a:rPr lang="en-US" sz="1600" spc="-40" dirty="0">
                <a:solidFill>
                  <a:srgbClr val="0D1B2A"/>
                </a:solidFill>
                <a:latin typeface="Calibri" pitchFamily="34" charset="0"/>
                <a:ea typeface="Calibri" pitchFamily="34" charset="-122"/>
                <a:cs typeface="Calibri" pitchFamily="34" charset="-120"/>
              </a:rPr>
              <a:t>: pomiar z kamery z 33 ms opóźnieniem wymaga cofnięcia stanu (state rewinding)</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Stan złożony</a:t>
            </a:r>
            <a:r>
              <a:rPr lang="en-US" sz="1600" spc="-40" dirty="0">
                <a:solidFill>
                  <a:srgbClr val="0D1B2A"/>
                </a:solidFill>
                <a:latin typeface="Calibri" pitchFamily="34" charset="0"/>
                <a:ea typeface="Calibri" pitchFamily="34" charset="-122"/>
                <a:cs typeface="Calibri" pitchFamily="34" charset="-120"/>
              </a:rPr>
              <a:t>: x = [pos, vel, orient, biasy IMU] – typowo 15–21 zmiennych stanu</a:t>
            </a:r>
            <a:endParaRPr lang="en-US" sz="1600" spc="-40" dirty="0"/>
          </a:p>
        </p:txBody>
      </p:sp>
      <p:sp>
        <p:nvSpPr>
          <p:cNvPr id="8" name="Prostokąt 7"/>
          <p:cNvSpPr/>
          <p:nvPr/>
        </p:nvSpPr>
        <p:spPr>
          <a:xfrm>
            <a:off x="274320" y="40967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pełnym systemie </a:t>
            </a:r>
            <a:r>
              <a:rPr lang="pl-PL" sz="1400" dirty="0" err="1">
                <a:solidFill>
                  <a:schemeClr val="bg1"/>
                </a:solidFill>
              </a:rPr>
              <a:t>humanoida</a:t>
            </a:r>
            <a:r>
              <a:rPr lang="pl-PL" sz="1400" dirty="0">
                <a:solidFill>
                  <a:schemeClr val="bg1"/>
                </a:solidFill>
              </a:rPr>
              <a:t> typowa architektura wygląda tak: IMU pracuje bardzo szybko i służy do predykcji stanu, </a:t>
            </a:r>
            <a:r>
              <a:rPr lang="pl-PL" sz="1400" dirty="0" err="1">
                <a:solidFill>
                  <a:schemeClr val="bg1"/>
                </a:solidFill>
              </a:rPr>
              <a:t>enkodery</a:t>
            </a:r>
            <a:r>
              <a:rPr lang="pl-PL" sz="1400" dirty="0">
                <a:solidFill>
                  <a:schemeClr val="bg1"/>
                </a:solidFill>
              </a:rPr>
              <a:t> wraz z kontaktami stóp korygują translację przez </a:t>
            </a:r>
            <a:r>
              <a:rPr lang="pl-PL" sz="1400" dirty="0" err="1">
                <a:solidFill>
                  <a:schemeClr val="bg1"/>
                </a:solidFill>
              </a:rPr>
              <a:t>odometrię</a:t>
            </a:r>
            <a:r>
              <a:rPr lang="pl-PL" sz="1400" dirty="0">
                <a:solidFill>
                  <a:schemeClr val="bg1"/>
                </a:solidFill>
              </a:rPr>
              <a:t> kroków, a kamera albo </a:t>
            </a:r>
            <a:r>
              <a:rPr lang="pl-PL" sz="1400" dirty="0" err="1">
                <a:solidFill>
                  <a:schemeClr val="bg1"/>
                </a:solidFill>
              </a:rPr>
              <a:t>LiDAR</a:t>
            </a:r>
            <a:r>
              <a:rPr lang="pl-PL" sz="1400" dirty="0">
                <a:solidFill>
                  <a:schemeClr val="bg1"/>
                </a:solidFill>
              </a:rPr>
              <a:t> dostarczają rzadszych, ale absolutnie kluczowych obserwacji pozycyjnych, które kasują skumulowany dryft. Można to spiąć architekturą </a:t>
            </a:r>
            <a:r>
              <a:rPr lang="pl-PL" sz="1400" dirty="0" err="1">
                <a:solidFill>
                  <a:schemeClr val="bg1"/>
                </a:solidFill>
              </a:rPr>
              <a:t>loosely</a:t>
            </a:r>
            <a:r>
              <a:rPr lang="pl-PL" sz="1400" dirty="0">
                <a:solidFill>
                  <a:schemeClr val="bg1"/>
                </a:solidFill>
              </a:rPr>
              <a:t> </a:t>
            </a:r>
            <a:r>
              <a:rPr lang="pl-PL" sz="1400" dirty="0" err="1">
                <a:solidFill>
                  <a:schemeClr val="bg1"/>
                </a:solidFill>
              </a:rPr>
              <a:t>coupled</a:t>
            </a:r>
            <a:r>
              <a:rPr lang="pl-PL" sz="1400" dirty="0">
                <a:solidFill>
                  <a:schemeClr val="bg1"/>
                </a:solidFill>
              </a:rPr>
              <a:t>, gdzie źródła dają osobne </a:t>
            </a:r>
            <a:r>
              <a:rPr lang="pl-PL" sz="1400" dirty="0" err="1">
                <a:solidFill>
                  <a:schemeClr val="bg1"/>
                </a:solidFill>
              </a:rPr>
              <a:t>estymaty</a:t>
            </a:r>
            <a:r>
              <a:rPr lang="pl-PL" sz="1400" dirty="0">
                <a:solidFill>
                  <a:schemeClr val="bg1"/>
                </a:solidFill>
              </a:rPr>
              <a:t>, albo </a:t>
            </a:r>
            <a:r>
              <a:rPr lang="pl-PL" sz="1400" dirty="0" err="1">
                <a:solidFill>
                  <a:schemeClr val="bg1"/>
                </a:solidFill>
              </a:rPr>
              <a:t>tightly</a:t>
            </a:r>
            <a:r>
              <a:rPr lang="pl-PL" sz="1400" dirty="0">
                <a:solidFill>
                  <a:schemeClr val="bg1"/>
                </a:solidFill>
              </a:rPr>
              <a:t> </a:t>
            </a:r>
            <a:r>
              <a:rPr lang="pl-PL" sz="1400" dirty="0" err="1">
                <a:solidFill>
                  <a:schemeClr val="bg1"/>
                </a:solidFill>
              </a:rPr>
              <a:t>coupled</a:t>
            </a:r>
            <a:r>
              <a:rPr lang="pl-PL" sz="1400" dirty="0">
                <a:solidFill>
                  <a:schemeClr val="bg1"/>
                </a:solidFill>
              </a:rPr>
              <a:t>, gdzie do jednego filtru trafiają surowe pomiary. Przy tym trzeba jeszcze uwzględnić opóźnienia i </a:t>
            </a:r>
            <a:r>
              <a:rPr lang="pl-PL" sz="1400" dirty="0" err="1">
                <a:solidFill>
                  <a:schemeClr val="bg1"/>
                </a:solidFill>
              </a:rPr>
              <a:t>biasy</a:t>
            </a:r>
            <a:r>
              <a:rPr lang="pl-PL" sz="1400" dirty="0">
                <a:solidFill>
                  <a:schemeClr val="bg1"/>
                </a:solidFill>
              </a:rPr>
              <a:t> IMU.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2 | AWARIE SENSORÓW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Wykrywanie awarii sensora</a:t>
            </a:r>
            <a:endParaRPr lang="en-US" sz="2800" dirty="0"/>
          </a:p>
        </p:txBody>
      </p:sp>
      <p:sp>
        <p:nvSpPr>
          <p:cNvPr id="6" name="Shape 4"/>
          <p:cNvSpPr/>
          <p:nvPr/>
        </p:nvSpPr>
        <p:spPr>
          <a:xfrm>
            <a:off x="274320" y="1097280"/>
            <a:ext cx="4160520" cy="2947179"/>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947179"/>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Test innowacji </a:t>
            </a:r>
            <a:r>
              <a:rPr lang="en-US" sz="1600" dirty="0">
                <a:solidFill>
                  <a:srgbClr val="FFFFFF"/>
                </a:solidFill>
                <a:latin typeface="Trebuchet MS" pitchFamily="34" charset="0"/>
                <a:ea typeface="Trebuchet MS" pitchFamily="34" charset="-122"/>
                <a:cs typeface="Trebuchet MS" pitchFamily="34" charset="-120"/>
              </a:rPr>
              <a:t>(chi-squared)</a:t>
            </a:r>
            <a:endParaRPr lang="en-US" sz="1600" dirty="0"/>
          </a:p>
        </p:txBody>
      </p:sp>
      <p:sp>
        <p:nvSpPr>
          <p:cNvPr id="10" name="Shape 8"/>
          <p:cNvSpPr/>
          <p:nvPr/>
        </p:nvSpPr>
        <p:spPr>
          <a:xfrm>
            <a:off x="4709160"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Tryb degradacji </a:t>
            </a:r>
            <a:r>
              <a:rPr lang="en-US" sz="1600" dirty="0">
                <a:solidFill>
                  <a:srgbClr val="FFFFFF"/>
                </a:solidFill>
                <a:latin typeface="Trebuchet MS" pitchFamily="34" charset="0"/>
                <a:ea typeface="Trebuchet MS" pitchFamily="34" charset="-122"/>
                <a:cs typeface="Trebuchet MS" pitchFamily="34" charset="-120"/>
              </a:rPr>
              <a:t>(graceful degradation)</a:t>
            </a:r>
            <a:endParaRPr lang="en-US" sz="1600" dirty="0"/>
          </a:p>
        </p:txBody>
      </p:sp>
      <p:sp>
        <p:nvSpPr>
          <p:cNvPr id="12" name="Text 10"/>
          <p:cNvSpPr/>
          <p:nvPr/>
        </p:nvSpPr>
        <p:spPr>
          <a:xfrm>
            <a:off x="457200" y="1600200"/>
            <a:ext cx="3794760" cy="2351926"/>
          </a:xfrm>
          <a:prstGeom prst="rect">
            <a:avLst/>
          </a:prstGeom>
          <a:noFill/>
          <a:ln/>
        </p:spPr>
        <p:txBody>
          <a:bodyPr wrap="square" lIns="63500" tIns="101600" rIns="101600" bIns="63500" rtlCol="0" anchor="t">
            <a:spAutoFit/>
          </a:bodyPr>
          <a:lstStyle/>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Innowacja ν = z – H·x̂⁻ powinna być zbliżona do zera</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Statystyka χ²: ν⁻¹·S⁻¹·ν &gt; próg → sensor awaryjny</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Zaimplementowane w bibliotekach iSAM2, GTSAM</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Działa online, bez zatrzymywania robota</a:t>
            </a:r>
            <a:endParaRPr lang="en-US" sz="1600" dirty="0"/>
          </a:p>
        </p:txBody>
      </p:sp>
      <p:sp>
        <p:nvSpPr>
          <p:cNvPr id="13" name="Text 11"/>
          <p:cNvSpPr/>
          <p:nvPr/>
        </p:nvSpPr>
        <p:spPr>
          <a:xfrm>
            <a:off x="4892040" y="1600200"/>
            <a:ext cx="3794760" cy="2444259"/>
          </a:xfrm>
          <a:prstGeom prst="rect">
            <a:avLst/>
          </a:prstGeom>
          <a:noFill/>
          <a:ln/>
        </p:spPr>
        <p:txBody>
          <a:bodyPr wrap="square" lIns="63500" tIns="101600" rIns="101600" bIns="63500" rtlCol="0" anchor="t">
            <a:spAutoFit/>
          </a:bodyPr>
          <a:lstStyle/>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kamery → nawigacja tylko na IMU + enkodery</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LiDAR → zmniejszony zasięg planowania</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jednej stopy F/T → wyłącz kinematyczną odo dla tej nogi</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Zwiększenie macierzy Q i P → większy obszar niepewności</a:t>
            </a:r>
            <a:endParaRPr lang="en-US" sz="1600" dirty="0"/>
          </a:p>
        </p:txBody>
      </p:sp>
      <p:sp>
        <p:nvSpPr>
          <p:cNvPr id="14" name="Prostokąt 13"/>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sz="1400" dirty="0" err="1">
                <a:solidFill>
                  <a:schemeClr val="bg1"/>
                </a:solidFill>
              </a:rPr>
              <a:t>odometrię</a:t>
            </a:r>
            <a:r>
              <a:rPr lang="pl-PL" sz="1400" dirty="0">
                <a:solidFill>
                  <a:schemeClr val="bg1"/>
                </a:solidFill>
              </a:rPr>
              <a:t> jednej stopy. Jednocześnie rośnie niepewność estymacji, co powinno znaleźć odbicie w macierzach Q i P.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03</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06640" y="1645920"/>
            <a:ext cx="1097280" cy="1097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Lokalizacja globalna</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SLAM</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ICP, visual odometry, pose graph, domykanie pętli</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LOKALIZACJA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Lokalizacja względem znanych map</a:t>
            </a:r>
            <a:endParaRPr lang="en-US" sz="2800" dirty="0"/>
          </a:p>
        </p:txBody>
      </p:sp>
      <p:sp>
        <p:nvSpPr>
          <p:cNvPr id="6" name="Shape 4"/>
          <p:cNvSpPr/>
          <p:nvPr/>
        </p:nvSpPr>
        <p:spPr>
          <a:xfrm>
            <a:off x="274320" y="1097281"/>
            <a:ext cx="8595360" cy="290038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Cel</a:t>
            </a:r>
            <a:r>
              <a:rPr lang="en-US" sz="1600" spc="-20" dirty="0">
                <a:solidFill>
                  <a:srgbClr val="0D1B2A"/>
                </a:solidFill>
                <a:latin typeface="Calibri" pitchFamily="34" charset="0"/>
                <a:ea typeface="Calibri" pitchFamily="34" charset="-122"/>
                <a:cs typeface="Calibri" pitchFamily="34" charset="-120"/>
              </a:rPr>
              <a:t>: wyznaczenie pozycji robota w już zbudowanej mapie środowiska</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Monte Carlo Localization </a:t>
            </a:r>
            <a:r>
              <a:rPr lang="en-US" sz="1600" b="1" i="1" spc="-20" dirty="0">
                <a:solidFill>
                  <a:srgbClr val="0D1B2A"/>
                </a:solidFill>
                <a:latin typeface="Calibri" pitchFamily="34" charset="0"/>
                <a:ea typeface="Calibri" pitchFamily="34" charset="-122"/>
                <a:cs typeface="Calibri" pitchFamily="34" charset="-120"/>
              </a:rPr>
              <a:t>(MCL / AMCL): </a:t>
            </a:r>
            <a:r>
              <a:rPr lang="en-US" sz="1600" spc="-20" dirty="0">
                <a:solidFill>
                  <a:srgbClr val="0D1B2A"/>
                </a:solidFill>
                <a:latin typeface="Calibri" pitchFamily="34" charset="0"/>
                <a:ea typeface="Calibri" pitchFamily="34" charset="-122"/>
                <a:cs typeface="Calibri" pitchFamily="34" charset="-120"/>
              </a:rPr>
              <a:t>filtr cząsteczkowy z obserwacjami LiDAR</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2D</a:t>
            </a:r>
            <a:r>
              <a:rPr lang="en-US" sz="1600" spc="-20" dirty="0">
                <a:solidFill>
                  <a:srgbClr val="0D1B2A"/>
                </a:solidFill>
                <a:latin typeface="Calibri" pitchFamily="34" charset="0"/>
                <a:ea typeface="Calibri" pitchFamily="34" charset="-122"/>
                <a:cs typeface="Calibri" pitchFamily="34" charset="-120"/>
              </a:rPr>
              <a:t>: porównanie aktualnego skanu z mapą zajętości – scoring hipotez</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3D </a:t>
            </a:r>
            <a:r>
              <a:rPr lang="en-US" sz="1600" b="1" i="1" spc="-20" dirty="0">
                <a:solidFill>
                  <a:srgbClr val="0D1B2A"/>
                </a:solidFill>
                <a:latin typeface="Calibri" pitchFamily="34" charset="0"/>
                <a:ea typeface="Calibri" pitchFamily="34" charset="-122"/>
                <a:cs typeface="Calibri" pitchFamily="34" charset="-120"/>
              </a:rPr>
              <a:t>(ICP): </a:t>
            </a:r>
            <a:r>
              <a:rPr lang="en-US" sz="1600" spc="-20" dirty="0">
                <a:solidFill>
                  <a:srgbClr val="0D1B2A"/>
                </a:solidFill>
                <a:latin typeface="Calibri" pitchFamily="34" charset="0"/>
                <a:ea typeface="Calibri" pitchFamily="34" charset="-122"/>
                <a:cs typeface="Calibri" pitchFamily="34" charset="-120"/>
              </a:rPr>
              <a:t>dopasowanie chmury punktów do globalnej mapy PCL</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Histogram Filter </a:t>
            </a:r>
            <a:r>
              <a:rPr lang="en-US" sz="1600" b="1" i="1" spc="-20" dirty="0">
                <a:solidFill>
                  <a:srgbClr val="0D1B2A"/>
                </a:solidFill>
                <a:latin typeface="Calibri" pitchFamily="34" charset="0"/>
                <a:ea typeface="Calibri" pitchFamily="34" charset="-122"/>
                <a:cs typeface="Calibri" pitchFamily="34" charset="-120"/>
              </a:rPr>
              <a:t>(HMM): </a:t>
            </a:r>
            <a:r>
              <a:rPr lang="en-US" sz="1600" spc="-20" dirty="0">
                <a:solidFill>
                  <a:srgbClr val="0D1B2A"/>
                </a:solidFill>
                <a:latin typeface="Calibri" pitchFamily="34" charset="0"/>
                <a:ea typeface="Calibri" pitchFamily="34" charset="-122"/>
                <a:cs typeface="Calibri" pitchFamily="34" charset="-120"/>
              </a:rPr>
              <a:t>dyskretne komórki mapy jako hipotezy lokalizacji</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Warunek dobrej lokalizacji</a:t>
            </a:r>
            <a:r>
              <a:rPr lang="en-US" sz="1600" spc="-20" dirty="0">
                <a:solidFill>
                  <a:srgbClr val="0D1B2A"/>
                </a:solidFill>
                <a:latin typeface="Calibri" pitchFamily="34" charset="0"/>
                <a:ea typeface="Calibri" pitchFamily="34" charset="-122"/>
                <a:cs typeface="Calibri" pitchFamily="34" charset="-120"/>
              </a:rPr>
              <a:t>: mapa aktualna i środowisko o charakterystycznych elementach</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Kidnapped robot problem</a:t>
            </a:r>
            <a:r>
              <a:rPr lang="en-US" sz="1600" spc="-20" dirty="0">
                <a:solidFill>
                  <a:srgbClr val="0D1B2A"/>
                </a:solidFill>
                <a:latin typeface="Calibri" pitchFamily="34" charset="0"/>
                <a:ea typeface="Calibri" pitchFamily="34" charset="-122"/>
                <a:cs typeface="Calibri" pitchFamily="34" charset="-120"/>
              </a:rPr>
              <a:t>: wymagana inicjalizacja globalna, gdy pozycja startowa jest nieznana</a:t>
            </a:r>
            <a:endParaRPr lang="en-US" sz="1600" spc="-20" dirty="0"/>
          </a:p>
        </p:txBody>
      </p:sp>
      <p:sp>
        <p:nvSpPr>
          <p:cNvPr id="8" name="Prostokąt 7"/>
          <p:cNvSpPr/>
          <p:nvPr/>
        </p:nvSpPr>
        <p:spPr>
          <a:xfrm>
            <a:off x="274320" y="4066531"/>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Lokalizacja względem znanej mapy polega na znalezieniu pozycji robota w już istniejącym modelu środowiska. Można to robić filtrem cząsteczkowym AMCL z obserwacjami </a:t>
            </a:r>
            <a:r>
              <a:rPr lang="pl-PL" sz="1400" dirty="0" err="1">
                <a:solidFill>
                  <a:schemeClr val="bg1"/>
                </a:solidFill>
              </a:rPr>
              <a:t>LiDAR</a:t>
            </a:r>
            <a:r>
              <a:rPr lang="pl-PL" sz="1400" dirty="0">
                <a:solidFill>
                  <a:schemeClr val="bg1"/>
                </a:solidFill>
              </a:rPr>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sz="1400" dirty="0" err="1">
                <a:solidFill>
                  <a:schemeClr val="bg1"/>
                </a:solidFill>
              </a:rPr>
              <a:t>kidnapped</a:t>
            </a:r>
            <a:r>
              <a:rPr lang="pl-PL" sz="1400" dirty="0">
                <a:solidFill>
                  <a:schemeClr val="bg1"/>
                </a:solidFill>
              </a:rPr>
              <a:t> robot i wtedy potrzebna jest inicjalizacja globalna.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ICP</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ICP – Iterative Closest Point</a:t>
            </a:r>
            <a:endParaRPr lang="en-US" sz="2800" dirty="0"/>
          </a:p>
        </p:txBody>
      </p:sp>
      <p:sp>
        <p:nvSpPr>
          <p:cNvPr id="6" name="Shape 4"/>
          <p:cNvSpPr/>
          <p:nvPr/>
        </p:nvSpPr>
        <p:spPr>
          <a:xfrm>
            <a:off x="274320" y="1097280"/>
            <a:ext cx="8595360" cy="2950195"/>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97727" y="1144116"/>
            <a:ext cx="8382000" cy="2903359"/>
          </a:xfrm>
          <a:prstGeom prst="rect">
            <a:avLst/>
          </a:prstGeom>
          <a:noFill/>
          <a:ln/>
        </p:spPr>
        <p:txBody>
          <a:bodyPr wrap="square" lIns="127000" tIns="127000" rIns="127000" bIns="12700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Cel</a:t>
            </a:r>
            <a:r>
              <a:rPr lang="en-US" sz="1600" spc="-40" dirty="0">
                <a:solidFill>
                  <a:srgbClr val="0D1B2A"/>
                </a:solidFill>
                <a:latin typeface="Calibri" pitchFamily="34" charset="0"/>
                <a:ea typeface="Calibri" pitchFamily="34" charset="-122"/>
                <a:cs typeface="Calibri" pitchFamily="34" charset="-120"/>
              </a:rPr>
              <a:t>: znalezienie transformacji (R, t) minimalizującej odległości między dwoma chmurami punktów</a:t>
            </a:r>
            <a:endParaRPr lang="en-US" sz="1600" spc="-40" dirty="0"/>
          </a:p>
          <a:p>
            <a:pPr marL="144000" indent="-144000">
              <a:spcAft>
                <a:spcPts val="1200"/>
              </a:spcAft>
              <a:buSzPct val="100000"/>
              <a:buChar char="•"/>
            </a:pPr>
            <a:r>
              <a:rPr lang="en-US" sz="1600" b="1" spc="-60" dirty="0">
                <a:solidFill>
                  <a:srgbClr val="0D1B2A"/>
                </a:solidFill>
                <a:latin typeface="Calibri" pitchFamily="34" charset="0"/>
                <a:ea typeface="Calibri" pitchFamily="34" charset="-122"/>
                <a:cs typeface="Calibri" pitchFamily="34" charset="-120"/>
              </a:rPr>
              <a:t>Krok 1 </a:t>
            </a:r>
            <a:r>
              <a:rPr lang="en-US" sz="1600" spc="-60" dirty="0">
                <a:solidFill>
                  <a:srgbClr val="0D1B2A"/>
                </a:solidFill>
                <a:latin typeface="Calibri" pitchFamily="34" charset="0"/>
                <a:ea typeface="Calibri" pitchFamily="34" charset="-122"/>
                <a:cs typeface="Calibri" pitchFamily="34" charset="-120"/>
              </a:rPr>
              <a:t>– </a:t>
            </a:r>
            <a:r>
              <a:rPr lang="en-US" sz="1600" b="1" spc="-60" dirty="0">
                <a:solidFill>
                  <a:srgbClr val="0D1B2A"/>
                </a:solidFill>
                <a:latin typeface="Calibri" pitchFamily="34" charset="0"/>
                <a:ea typeface="Calibri" pitchFamily="34" charset="-122"/>
                <a:cs typeface="Calibri" pitchFamily="34" charset="-120"/>
              </a:rPr>
              <a:t>Korespondencja</a:t>
            </a:r>
            <a:r>
              <a:rPr lang="en-US" sz="1600" spc="-60" dirty="0">
                <a:solidFill>
                  <a:srgbClr val="0D1B2A"/>
                </a:solidFill>
                <a:latin typeface="Calibri" pitchFamily="34" charset="0"/>
                <a:ea typeface="Calibri" pitchFamily="34" charset="-122"/>
                <a:cs typeface="Calibri" pitchFamily="34" charset="-120"/>
              </a:rPr>
              <a:t>: dla każdego punktu źródłowego znajdź najbliższy punkt w chmurze docelowej</a:t>
            </a:r>
            <a:endParaRPr lang="en-US" sz="1600" spc="-6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2 – Estymacja</a:t>
            </a:r>
            <a:r>
              <a:rPr lang="en-US" sz="1600" spc="-40" dirty="0">
                <a:solidFill>
                  <a:srgbClr val="0D1B2A"/>
                </a:solidFill>
                <a:latin typeface="Calibri" pitchFamily="34" charset="0"/>
                <a:ea typeface="Calibri" pitchFamily="34" charset="-122"/>
                <a:cs typeface="Calibri" pitchFamily="34" charset="-120"/>
              </a:rPr>
              <a:t>: oblicz optymalną transformację (metoda SVD lub minimalizacja MLS)</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3 – Aktualizacja</a:t>
            </a:r>
            <a:r>
              <a:rPr lang="en-US" sz="1600" spc="-40" dirty="0">
                <a:solidFill>
                  <a:srgbClr val="0D1B2A"/>
                </a:solidFill>
                <a:latin typeface="Calibri" pitchFamily="34" charset="0"/>
                <a:ea typeface="Calibri" pitchFamily="34" charset="-122"/>
                <a:cs typeface="Calibri" pitchFamily="34" charset="-120"/>
              </a:rPr>
              <a:t>: zastosuj transformację i oblicz błąd residualny</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Iteruj do zbieżności </a:t>
            </a:r>
            <a:r>
              <a:rPr lang="en-US" sz="1600" spc="-40" dirty="0">
                <a:solidFill>
                  <a:srgbClr val="0D1B2A"/>
                </a:solidFill>
                <a:latin typeface="Calibri" pitchFamily="34" charset="0"/>
                <a:ea typeface="Calibri" pitchFamily="34" charset="-122"/>
                <a:cs typeface="Calibri" pitchFamily="34" charset="-120"/>
              </a:rPr>
              <a:t>(błąd &lt; próg) lub </a:t>
            </a:r>
            <a:r>
              <a:rPr lang="en-US" sz="1600" b="1" spc="-40" dirty="0">
                <a:solidFill>
                  <a:srgbClr val="0D1B2A"/>
                </a:solidFill>
                <a:latin typeface="Calibri" pitchFamily="34" charset="0"/>
                <a:ea typeface="Calibri" pitchFamily="34" charset="-122"/>
                <a:cs typeface="Calibri" pitchFamily="34" charset="-120"/>
              </a:rPr>
              <a:t>osiągnięcia max. iteracji</a:t>
            </a:r>
            <a:endParaRPr lang="en-US" sz="1600" b="1"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Wady</a:t>
            </a:r>
            <a:r>
              <a:rPr lang="en-US" sz="1600" spc="-40" dirty="0">
                <a:solidFill>
                  <a:srgbClr val="0D1B2A"/>
                </a:solidFill>
                <a:latin typeface="Calibri" pitchFamily="34" charset="0"/>
                <a:ea typeface="Calibri" pitchFamily="34" charset="-122"/>
                <a:cs typeface="Calibri" pitchFamily="34" charset="-120"/>
              </a:rPr>
              <a:t>: wolna zbieżność, wrażliwość na punkt startowy (koniecznie dobre wstępne wyrównanie)</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Warianty</a:t>
            </a:r>
            <a:r>
              <a:rPr lang="en-US" sz="1600" spc="-40" dirty="0">
                <a:solidFill>
                  <a:srgbClr val="0D1B2A"/>
                </a:solidFill>
                <a:latin typeface="Calibri" pitchFamily="34" charset="0"/>
                <a:ea typeface="Calibri" pitchFamily="34" charset="-122"/>
                <a:cs typeface="Calibri" pitchFamily="34" charset="-120"/>
              </a:rPr>
              <a:t>: Point-to-Plane ICP, GICP – znacznie szybsze i bardziej niezawodne</a:t>
            </a:r>
            <a:endParaRPr lang="en-US" sz="1600" spc="-40" dirty="0"/>
          </a:p>
        </p:txBody>
      </p:sp>
      <p:sp>
        <p:nvSpPr>
          <p:cNvPr id="8" name="Prostokąt 7"/>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ICP, czyli </a:t>
            </a:r>
            <a:r>
              <a:rPr lang="pl-PL" sz="1400" dirty="0" err="1">
                <a:solidFill>
                  <a:schemeClr val="bg1"/>
                </a:solidFill>
              </a:rPr>
              <a:t>Iterative</a:t>
            </a:r>
            <a:r>
              <a:rPr lang="pl-PL" sz="1400" dirty="0">
                <a:solidFill>
                  <a:schemeClr val="bg1"/>
                </a:solidFill>
              </a:rPr>
              <a:t> </a:t>
            </a:r>
            <a:r>
              <a:rPr lang="pl-PL" sz="1400" dirty="0" err="1">
                <a:solidFill>
                  <a:schemeClr val="bg1"/>
                </a:solidFill>
              </a:rPr>
              <a:t>Closest</a:t>
            </a:r>
            <a:r>
              <a:rPr lang="pl-PL" sz="1400" dirty="0">
                <a:solidFill>
                  <a:schemeClr val="bg1"/>
                </a:solidFill>
              </a:rPr>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sz="1400" dirty="0" err="1">
                <a:solidFill>
                  <a:schemeClr val="bg1"/>
                </a:solidFill>
              </a:rPr>
              <a:t>plane</a:t>
            </a:r>
            <a:r>
              <a:rPr lang="pl-PL" sz="1400" dirty="0">
                <a:solidFill>
                  <a:schemeClr val="bg1"/>
                </a:solidFill>
              </a:rPr>
              <a:t> ICP albo GICP.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VISUAL ODOMETRY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wizyjna (Visual Odometry)</a:t>
            </a:r>
            <a:endParaRPr lang="en-US" sz="2800" dirty="0"/>
          </a:p>
        </p:txBody>
      </p:sp>
      <p:sp>
        <p:nvSpPr>
          <p:cNvPr id="6" name="Shape 4"/>
          <p:cNvSpPr/>
          <p:nvPr/>
        </p:nvSpPr>
        <p:spPr>
          <a:xfrm>
            <a:off x="27432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Monokularna VO</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Stereofoniczna / RGB-D VO</a:t>
            </a:r>
            <a:endParaRPr lang="en-US" dirty="0"/>
          </a:p>
        </p:txBody>
      </p:sp>
      <p:sp>
        <p:nvSpPr>
          <p:cNvPr id="12" name="Text 10"/>
          <p:cNvSpPr/>
          <p:nvPr/>
        </p:nvSpPr>
        <p:spPr>
          <a:xfrm>
            <a:off x="457200" y="1600200"/>
            <a:ext cx="379476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Śledzenie cech ORB/SIFT między klatkami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Essential Matrix → ruch kamery R, t</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Skala ruchu nieznana (do 5-punktowego)</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Skumulowany dryft bez domknięcia pętli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Niska cena – jedna kamera wystarczy</a:t>
            </a:r>
            <a:endParaRPr lang="en-US" sz="1600" dirty="0"/>
          </a:p>
        </p:txBody>
      </p:sp>
      <p:sp>
        <p:nvSpPr>
          <p:cNvPr id="13" name="Text 11"/>
          <p:cNvSpPr/>
          <p:nvPr/>
        </p:nvSpPr>
        <p:spPr>
          <a:xfrm>
            <a:off x="4862304" y="1600200"/>
            <a:ext cx="388620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Bezpośrednia metryczna skala ruchu</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Głębia z paralaksy lub strukturowanego światła</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Mniejszy dryft niż mono VO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Wymagana synchronizacja i kalibracja stereo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Podstawa Visual-Inertial Odometry (VIO)</a:t>
            </a:r>
            <a:endParaRPr lang="en-US" sz="1600" spc="-50" dirty="0"/>
          </a:p>
        </p:txBody>
      </p:sp>
      <p:sp>
        <p:nvSpPr>
          <p:cNvPr id="14" name="Prostokąt 13"/>
          <p:cNvSpPr/>
          <p:nvPr/>
        </p:nvSpPr>
        <p:spPr>
          <a:xfrm>
            <a:off x="274320" y="4225228"/>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wizyjna może być </a:t>
            </a:r>
            <a:r>
              <a:rPr lang="pl-PL" sz="1400" dirty="0" err="1">
                <a:solidFill>
                  <a:schemeClr val="bg1"/>
                </a:solidFill>
              </a:rPr>
              <a:t>monokularna</a:t>
            </a:r>
            <a:r>
              <a:rPr lang="pl-PL" sz="1400" dirty="0">
                <a:solidFill>
                  <a:schemeClr val="bg1"/>
                </a:solidFill>
              </a:rPr>
              <a:t> albo stereofoniczna, ewentualnie RGB-D. W wersji </a:t>
            </a:r>
            <a:r>
              <a:rPr lang="pl-PL" sz="1400" dirty="0" err="1">
                <a:solidFill>
                  <a:schemeClr val="bg1"/>
                </a:solidFill>
              </a:rPr>
              <a:t>monokularnej</a:t>
            </a:r>
            <a:r>
              <a:rPr lang="pl-PL" sz="1400" dirty="0">
                <a:solidFill>
                  <a:schemeClr val="bg1"/>
                </a:solidFill>
              </a:rPr>
              <a:t> śledzimy cechy między klatkami i odzyskujemy ruch kamery, ale tracimy metryczną skalę. W stereo albo RGB-D skala jest bezpośrednio dostępna, więc dryft jest zwykle mniejszy. To właśnie dlatego systemy </a:t>
            </a:r>
            <a:r>
              <a:rPr lang="pl-PL" sz="1400" dirty="0" err="1">
                <a:solidFill>
                  <a:schemeClr val="bg1"/>
                </a:solidFill>
              </a:rPr>
              <a:t>visual-inertial</a:t>
            </a:r>
            <a:r>
              <a:rPr lang="pl-PL" sz="1400" dirty="0">
                <a:solidFill>
                  <a:schemeClr val="bg1"/>
                </a:solidFill>
              </a:rPr>
              <a:t> </a:t>
            </a:r>
            <a:r>
              <a:rPr lang="pl-PL" sz="1400" dirty="0" err="1">
                <a:solidFill>
                  <a:schemeClr val="bg1"/>
                </a:solidFill>
              </a:rPr>
              <a:t>odometry</a:t>
            </a:r>
            <a:r>
              <a:rPr lang="pl-PL" sz="1400" dirty="0">
                <a:solidFill>
                  <a:schemeClr val="bg1"/>
                </a:solidFill>
              </a:rPr>
              <a:t> tak często opierają się na stereo lub głębi, szczególnie wtedy, gdy zależy nam na stabilnej estymacji metrycznej.</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SLAM</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SLAM – Simultaneous Localization and Mapping</a:t>
            </a:r>
            <a:endParaRPr lang="en-US" sz="2800" dirty="0"/>
          </a:p>
        </p:txBody>
      </p:sp>
      <p:sp>
        <p:nvSpPr>
          <p:cNvPr id="6" name="Shape 4"/>
          <p:cNvSpPr/>
          <p:nvPr/>
        </p:nvSpPr>
        <p:spPr>
          <a:xfrm>
            <a:off x="274320" y="1097280"/>
            <a:ext cx="8595360" cy="284737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Problem sprzężony</a:t>
            </a:r>
            <a:r>
              <a:rPr lang="en-US" sz="1600" dirty="0">
                <a:solidFill>
                  <a:srgbClr val="0D1B2A"/>
                </a:solidFill>
                <a:latin typeface="Calibri" pitchFamily="34" charset="0"/>
                <a:ea typeface="Calibri" pitchFamily="34" charset="-122"/>
                <a:cs typeface="Calibri" pitchFamily="34" charset="-120"/>
              </a:rPr>
              <a:t>: mapa zależy od dobrej lokalizacji; lokalizacja zależy od dobrej mapy</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Online SLAM</a:t>
            </a:r>
            <a:r>
              <a:rPr lang="en-US" sz="1600" dirty="0">
                <a:solidFill>
                  <a:srgbClr val="0D1B2A"/>
                </a:solidFill>
                <a:latin typeface="Calibri" pitchFamily="34" charset="0"/>
                <a:ea typeface="Calibri" pitchFamily="34" charset="-122"/>
                <a:cs typeface="Calibri" pitchFamily="34" charset="-120"/>
              </a:rPr>
              <a:t>: estymacja bieżącej pozycji i mapy w czasie rzeczywistym</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Full SLAM</a:t>
            </a:r>
            <a:r>
              <a:rPr lang="en-US" sz="1600" dirty="0">
                <a:solidFill>
                  <a:srgbClr val="0D1B2A"/>
                </a:solidFill>
                <a:latin typeface="Calibri" pitchFamily="34" charset="0"/>
                <a:ea typeface="Calibri" pitchFamily="34" charset="-122"/>
                <a:cs typeface="Calibri" pitchFamily="34" charset="-120"/>
              </a:rPr>
              <a:t>: pełna trajektoria i mapa (post-processing </a:t>
            </a:r>
            <a:r>
              <a:rPr lang="pl-PL" sz="1600" dirty="0" smtClean="0">
                <a:solidFill>
                  <a:srgbClr val="0D1B2A"/>
                </a:solidFill>
                <a:latin typeface="Calibri" pitchFamily="34" charset="0"/>
                <a:ea typeface="Calibri" pitchFamily="34" charset="-122"/>
                <a:cs typeface="Calibri" pitchFamily="34" charset="-120"/>
              </a:rPr>
              <a:t>w</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np. Google Cartographer)</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Dane obserwacyjne</a:t>
            </a:r>
            <a:r>
              <a:rPr lang="en-US" sz="1600" dirty="0">
                <a:solidFill>
                  <a:srgbClr val="0D1B2A"/>
                </a:solidFill>
                <a:latin typeface="Calibri" pitchFamily="34" charset="0"/>
                <a:ea typeface="Calibri" pitchFamily="34" charset="-122"/>
                <a:cs typeface="Calibri" pitchFamily="34" charset="-120"/>
              </a:rPr>
              <a:t>: LiDAR (2D/3D SLAM), kamera (Visual SLAM – ORB-SLAM3, RTAB-Map)</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Reprezentacja mapy</a:t>
            </a:r>
            <a:r>
              <a:rPr lang="en-US" sz="1600" dirty="0">
                <a:solidFill>
                  <a:srgbClr val="0D1B2A"/>
                </a:solidFill>
                <a:latin typeface="Calibri" pitchFamily="34" charset="0"/>
                <a:ea typeface="Calibri" pitchFamily="34" charset="-122"/>
                <a:cs typeface="Calibri" pitchFamily="34" charset="-120"/>
              </a:rPr>
              <a:t>: chmura punktów, mapa cech (deskryptory), submapa siatek</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Współdziałanie z planistą</a:t>
            </a:r>
            <a:r>
              <a:rPr lang="en-US" sz="1600" dirty="0">
                <a:solidFill>
                  <a:srgbClr val="0D1B2A"/>
                </a:solidFill>
                <a:latin typeface="Calibri" pitchFamily="34" charset="0"/>
                <a:ea typeface="Calibri" pitchFamily="34" charset="-122"/>
                <a:cs typeface="Calibri" pitchFamily="34" charset="-120"/>
              </a:rPr>
              <a:t>: gotowa mapa przekazywana do globalnego planisty ścieżki</a:t>
            </a:r>
            <a:endParaRPr lang="en-US" sz="1600" dirty="0"/>
          </a:p>
          <a:p>
            <a:pPr marL="180000" indent="-180000">
              <a:spcAft>
                <a:spcPts val="1200"/>
              </a:spcAft>
              <a:buSzPct val="100000"/>
              <a:buChar char="•"/>
            </a:pPr>
            <a:r>
              <a:rPr lang="en-US" sz="1600" b="1" dirty="0" err="1">
                <a:solidFill>
                  <a:srgbClr val="0D1B2A"/>
                </a:solidFill>
                <a:latin typeface="Calibri" pitchFamily="34" charset="0"/>
                <a:ea typeface="Calibri" pitchFamily="34" charset="-122"/>
                <a:cs typeface="Calibri" pitchFamily="34" charset="-120"/>
              </a:rPr>
              <a:t>Błąd</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rośnie</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liniowo</a:t>
            </a:r>
            <a:r>
              <a:rPr lang="en-US" sz="1600" b="1" dirty="0">
                <a:solidFill>
                  <a:srgbClr val="0D1B2A"/>
                </a:solidFill>
                <a:latin typeface="Calibri" pitchFamily="34" charset="0"/>
                <a:ea typeface="Calibri" pitchFamily="34" charset="-122"/>
                <a:cs typeface="Calibri" pitchFamily="34" charset="-120"/>
              </a:rPr>
              <a:t> </a:t>
            </a:r>
            <a:r>
              <a:rPr lang="en-US" sz="1600" b="1" dirty="0" smtClean="0">
                <a:solidFill>
                  <a:srgbClr val="0D1B2A"/>
                </a:solidFill>
                <a:latin typeface="Calibri" pitchFamily="34" charset="0"/>
                <a:ea typeface="Calibri" pitchFamily="34" charset="-122"/>
                <a:cs typeface="Calibri" pitchFamily="34" charset="-120"/>
              </a:rPr>
              <a:t>z </a:t>
            </a:r>
            <a:r>
              <a:rPr lang="en-US" sz="1600" b="1" dirty="0">
                <a:solidFill>
                  <a:srgbClr val="0D1B2A"/>
                </a:solidFill>
                <a:latin typeface="Calibri" pitchFamily="34" charset="0"/>
                <a:ea typeface="Calibri" pitchFamily="34" charset="-122"/>
                <a:cs typeface="Calibri" pitchFamily="34" charset="-120"/>
              </a:rPr>
              <a:t>odległością </a:t>
            </a:r>
            <a:r>
              <a:rPr lang="en-US" sz="1600" dirty="0">
                <a:solidFill>
                  <a:srgbClr val="0D1B2A"/>
                </a:solidFill>
                <a:latin typeface="Calibri" pitchFamily="34" charset="0"/>
                <a:ea typeface="Calibri" pitchFamily="34" charset="-122"/>
                <a:cs typeface="Calibri" pitchFamily="34" charset="-120"/>
              </a:rPr>
              <a:t>bez </a:t>
            </a:r>
            <a:r>
              <a:rPr lang="en-US" sz="1600" dirty="0" err="1">
                <a:solidFill>
                  <a:srgbClr val="0D1B2A"/>
                </a:solidFill>
                <a:latin typeface="Calibri" pitchFamily="34" charset="0"/>
                <a:ea typeface="Calibri" pitchFamily="34" charset="-122"/>
                <a:cs typeface="Calibri" pitchFamily="34" charset="-120"/>
              </a:rPr>
              <a:t>domknięcia</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pętli</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po 100 m może sięgnąć kilku metrów</a:t>
            </a:r>
            <a:endParaRPr lang="en-US" sz="1600" dirty="0"/>
          </a:p>
        </p:txBody>
      </p:sp>
      <p:sp>
        <p:nvSpPr>
          <p:cNvPr id="8" name="Prostokąt 7"/>
          <p:cNvSpPr/>
          <p:nvPr/>
        </p:nvSpPr>
        <p:spPr>
          <a:xfrm>
            <a:off x="274320" y="4089202"/>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SLAM to jednoczesna lokalizacja i mapowanie. Jest to problem sprzężony, bo dobra mapa wymaga dobrej lokalizacji, a dobra lokalizacja wymaga dobrej mapy. W wersji online system estymuje bieżącą pozycję i buduje mapę w czasie rzeczywistym. W wersji </a:t>
            </a:r>
            <a:r>
              <a:rPr lang="pl-PL" sz="1400" dirty="0" err="1">
                <a:solidFill>
                  <a:schemeClr val="bg1"/>
                </a:solidFill>
              </a:rPr>
              <a:t>full</a:t>
            </a:r>
            <a:r>
              <a:rPr lang="pl-PL" sz="1400" dirty="0">
                <a:solidFill>
                  <a:schemeClr val="bg1"/>
                </a:solidFill>
              </a:rPr>
              <a:t> SLAM optymalizujemy całą trajektorię i mapę również po zakończeniu przejazdu. Możemy robić to na danych z </a:t>
            </a:r>
            <a:r>
              <a:rPr lang="pl-PL" sz="1400" dirty="0" err="1">
                <a:solidFill>
                  <a:schemeClr val="bg1"/>
                </a:solidFill>
              </a:rPr>
              <a:t>LiDAR</a:t>
            </a:r>
            <a:r>
              <a:rPr lang="pl-PL" sz="1400" dirty="0">
                <a:solidFill>
                  <a:schemeClr val="bg1"/>
                </a:solidFill>
              </a:rPr>
              <a:t>-u albo kamery, a wynik trafia potem do planisty globalnego. Bez domknięcia pętli błąd rośnie wraz z odległością i może stać się bardzo duży.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3 | POSE GRAPH</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Pose Graph </a:t>
            </a:r>
            <a:r>
              <a:rPr lang="en-US" sz="2800" b="1" dirty="0" smtClean="0">
                <a:solidFill>
                  <a:srgbClr val="FFFFFF"/>
                </a:solidFill>
                <a:latin typeface="Trebuchet MS" pitchFamily="34" charset="0"/>
                <a:ea typeface="Trebuchet MS" pitchFamily="34" charset="-122"/>
                <a:cs typeface="Trebuchet MS" pitchFamily="34" charset="-120"/>
              </a:rPr>
              <a:t>SLAM</a:t>
            </a:r>
            <a:r>
              <a:rPr lang="pl-PL" sz="2800" b="1" dirty="0" smtClean="0">
                <a:solidFill>
                  <a:srgbClr val="FFFFFF"/>
                </a:solidFill>
                <a:latin typeface="Trebuchet MS" pitchFamily="34" charset="0"/>
                <a:ea typeface="Trebuchet MS" pitchFamily="34" charset="-122"/>
                <a:cs typeface="Trebuchet MS" pitchFamily="34" charset="-120"/>
              </a:rPr>
              <a:t>, czyli </a:t>
            </a:r>
            <a:r>
              <a:rPr lang="en-US" sz="2800" b="1" dirty="0" smtClean="0">
                <a:solidFill>
                  <a:srgbClr val="FFFFFF"/>
                </a:solidFill>
                <a:latin typeface="Trebuchet MS" pitchFamily="34" charset="0"/>
                <a:ea typeface="Trebuchet MS" pitchFamily="34" charset="-122"/>
                <a:cs typeface="Trebuchet MS" pitchFamily="34" charset="-120"/>
              </a:rPr>
              <a:t>idea </a:t>
            </a:r>
            <a:r>
              <a:rPr lang="en-US" sz="2800" b="1" dirty="0" err="1" smtClean="0">
                <a:solidFill>
                  <a:srgbClr val="FFFFFF"/>
                </a:solidFill>
                <a:latin typeface="Trebuchet MS" pitchFamily="34" charset="0"/>
                <a:ea typeface="Trebuchet MS" pitchFamily="34" charset="-122"/>
                <a:cs typeface="Trebuchet MS" pitchFamily="34" charset="-120"/>
              </a:rPr>
              <a:t>grafowa</a:t>
            </a:r>
            <a:r>
              <a:rPr lang="pl-PL" sz="2800" b="1" dirty="0" smtClean="0">
                <a:solidFill>
                  <a:srgbClr val="FFFFFF"/>
                </a:solidFill>
                <a:latin typeface="Trebuchet MS" pitchFamily="34" charset="0"/>
                <a:ea typeface="Trebuchet MS" pitchFamily="34" charset="-122"/>
                <a:cs typeface="Trebuchet MS" pitchFamily="34" charset="-120"/>
              </a:rPr>
              <a:t> SLAM-u</a:t>
            </a:r>
            <a:endParaRPr lang="en-US" sz="2800" dirty="0"/>
          </a:p>
        </p:txBody>
      </p:sp>
      <p:grpSp>
        <p:nvGrpSpPr>
          <p:cNvPr id="27" name="Grupa 26"/>
          <p:cNvGrpSpPr/>
          <p:nvPr/>
        </p:nvGrpSpPr>
        <p:grpSpPr>
          <a:xfrm>
            <a:off x="274320" y="1097280"/>
            <a:ext cx="8717280" cy="2628333"/>
            <a:chOff x="274320" y="1097280"/>
            <a:chExt cx="8458200" cy="2628333"/>
          </a:xfrm>
        </p:grpSpPr>
        <p:sp>
          <p:nvSpPr>
            <p:cNvPr id="6" name="Shape 4"/>
            <p:cNvSpPr/>
            <p:nvPr/>
          </p:nvSpPr>
          <p:spPr>
            <a:xfrm>
              <a:off x="27432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7049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1</a:t>
              </a:r>
              <a:endParaRPr lang="en-US" sz="28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Węzły </a:t>
              </a:r>
              <a:r>
                <a:rPr lang="en-US" i="1" dirty="0">
                  <a:solidFill>
                    <a:srgbClr val="0D1B2A"/>
                  </a:solidFill>
                  <a:latin typeface="Trebuchet MS" pitchFamily="34" charset="0"/>
                  <a:ea typeface="Trebuchet MS" pitchFamily="34" charset="-122"/>
                  <a:cs typeface="Trebuchet MS" pitchFamily="34" charset="-120"/>
                </a:rPr>
                <a:t>(poses)</a:t>
              </a:r>
              <a:endParaRPr lang="en-US" i="1" dirty="0"/>
            </a:p>
          </p:txBody>
        </p:sp>
        <p:sp>
          <p:nvSpPr>
            <p:cNvPr id="10" name="Text 8"/>
            <p:cNvSpPr/>
            <p:nvPr/>
          </p:nvSpPr>
          <p:spPr>
            <a:xfrm>
              <a:off x="36576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Każda pozycja robota x₁, x₂, …, xₙ to wierzchołek w grafie; zazwyczaj SE(2) lub SE(3)</a:t>
              </a:r>
              <a:endParaRPr lang="en-US" sz="1400" dirty="0"/>
            </a:p>
          </p:txBody>
        </p:sp>
        <p:sp>
          <p:nvSpPr>
            <p:cNvPr id="11" name="Shape 9"/>
            <p:cNvSpPr/>
            <p:nvPr/>
          </p:nvSpPr>
          <p:spPr>
            <a:xfrm>
              <a:off x="242316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7049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2</a:t>
              </a:r>
              <a:endParaRPr lang="en-US" sz="28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Krawędzie </a:t>
              </a:r>
              <a:r>
                <a:rPr lang="en-US" i="1" dirty="0">
                  <a:solidFill>
                    <a:srgbClr val="0D1B2A"/>
                  </a:solidFill>
                  <a:latin typeface="Trebuchet MS" pitchFamily="34" charset="0"/>
                  <a:ea typeface="Trebuchet MS" pitchFamily="34" charset="-122"/>
                  <a:cs typeface="Trebuchet MS" pitchFamily="34" charset="-120"/>
                </a:rPr>
                <a:t>(constraints)</a:t>
              </a:r>
              <a:endParaRPr lang="en-US" i="1" dirty="0"/>
            </a:p>
          </p:txBody>
        </p:sp>
        <p:sp>
          <p:nvSpPr>
            <p:cNvPr id="15" name="Text 13"/>
            <p:cNvSpPr/>
            <p:nvPr/>
          </p:nvSpPr>
          <p:spPr>
            <a:xfrm>
              <a:off x="251460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Relacja między dwoma pozycjami: odometria, ICP, wizja. Niesie kowariancję błędu.</a:t>
              </a:r>
              <a:endParaRPr lang="en-US" sz="1400" dirty="0"/>
            </a:p>
          </p:txBody>
        </p:sp>
        <p:sp>
          <p:nvSpPr>
            <p:cNvPr id="16" name="Shape 14"/>
            <p:cNvSpPr/>
            <p:nvPr/>
          </p:nvSpPr>
          <p:spPr>
            <a:xfrm>
              <a:off x="457200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7049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3</a:t>
              </a:r>
              <a:endParaRPr lang="en-US" sz="28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Optymalizacja</a:t>
              </a:r>
              <a:endParaRPr lang="en-US" dirty="0"/>
            </a:p>
          </p:txBody>
        </p:sp>
        <p:sp>
          <p:nvSpPr>
            <p:cNvPr id="20" name="Text 18"/>
            <p:cNvSpPr/>
            <p:nvPr/>
          </p:nvSpPr>
          <p:spPr>
            <a:xfrm>
              <a:off x="466344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Minimalizacja sumy błędów kwadratowych (least squares): g2o, GTSAM, iSAM2</a:t>
              </a:r>
              <a:endParaRPr lang="en-US" sz="1400" dirty="0"/>
            </a:p>
          </p:txBody>
        </p:sp>
        <p:sp>
          <p:nvSpPr>
            <p:cNvPr id="21" name="Shape 19"/>
            <p:cNvSpPr/>
            <p:nvPr/>
          </p:nvSpPr>
          <p:spPr>
            <a:xfrm>
              <a:off x="672084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7049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4</a:t>
              </a:r>
              <a:endParaRPr lang="en-US" sz="28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Domknięcie pętli</a:t>
              </a:r>
              <a:endParaRPr lang="en-US" dirty="0"/>
            </a:p>
          </p:txBody>
        </p:sp>
        <p:sp>
          <p:nvSpPr>
            <p:cNvPr id="25" name="Text 23"/>
            <p:cNvSpPr/>
            <p:nvPr/>
          </p:nvSpPr>
          <p:spPr>
            <a:xfrm>
              <a:off x="681228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Detekcja </a:t>
              </a:r>
              <a:r>
                <a:rPr lang="en-US" sz="1400" dirty="0" err="1">
                  <a:solidFill>
                    <a:srgbClr val="475569"/>
                  </a:solidFill>
                  <a:latin typeface="Calibri" pitchFamily="34" charset="0"/>
                  <a:ea typeface="Calibri" pitchFamily="34" charset="-122"/>
                  <a:cs typeface="Calibri" pitchFamily="34" charset="-120"/>
                </a:rPr>
                <a:t>powrotu</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do </a:t>
              </a:r>
              <a:r>
                <a:rPr lang="en-US" sz="1400" dirty="0">
                  <a:solidFill>
                    <a:srgbClr val="475569"/>
                  </a:solidFill>
                  <a:latin typeface="Calibri" pitchFamily="34" charset="0"/>
                  <a:ea typeface="Calibri" pitchFamily="34" charset="-122"/>
                  <a:cs typeface="Calibri" pitchFamily="34" charset="-120"/>
                </a:rPr>
                <a:t>miejsca; dodanie krawędzi pogrubionej; jednorazowa korekta dryfu</a:t>
              </a:r>
              <a:endParaRPr lang="en-US" sz="1400" dirty="0"/>
            </a:p>
          </p:txBody>
        </p:sp>
      </p:grpSp>
      <p:sp>
        <p:nvSpPr>
          <p:cNvPr id="26" name="Prostokąt 25"/>
          <p:cNvSpPr/>
          <p:nvPr/>
        </p:nvSpPr>
        <p:spPr>
          <a:xfrm>
            <a:off x="274320" y="4024495"/>
            <a:ext cx="8717280" cy="913070"/>
          </a:xfrm>
          <a:prstGeom prst="rect">
            <a:avLst/>
          </a:prstGeom>
          <a:solidFill>
            <a:srgbClr val="0D1B2A"/>
          </a:solidFill>
        </p:spPr>
        <p:txBody>
          <a:bodyPr wrap="square">
            <a:spAutoFit/>
          </a:bodyPr>
          <a:lstStyle/>
          <a:p>
            <a:pPr algn="just">
              <a:lnSpc>
                <a:spcPts val="1600"/>
              </a:lnSpc>
            </a:pPr>
            <a:r>
              <a:rPr lang="pl-PL" sz="1400" b="1" dirty="0" err="1">
                <a:solidFill>
                  <a:schemeClr val="bg1"/>
                </a:solidFill>
              </a:rPr>
              <a:t>Pose</a:t>
            </a:r>
            <a:r>
              <a:rPr lang="pl-PL" sz="1400" b="1" dirty="0">
                <a:solidFill>
                  <a:schemeClr val="bg1"/>
                </a:solidFill>
              </a:rPr>
              <a:t> </a:t>
            </a:r>
            <a:r>
              <a:rPr lang="pl-PL" sz="1400" b="1" dirty="0" err="1">
                <a:solidFill>
                  <a:schemeClr val="bg1"/>
                </a:solidFill>
              </a:rPr>
              <a:t>Graph</a:t>
            </a:r>
            <a:r>
              <a:rPr lang="pl-PL" sz="1400" b="1" dirty="0">
                <a:solidFill>
                  <a:schemeClr val="bg1"/>
                </a:solidFill>
              </a:rPr>
              <a:t> </a:t>
            </a:r>
            <a:r>
              <a:rPr lang="pl-PL" sz="1400" dirty="0">
                <a:solidFill>
                  <a:schemeClr val="bg1"/>
                </a:solidFill>
              </a:rPr>
              <a:t>SLAM ujmuje problem w formie grafu. Węzły reprezentują kolejne pozy robota, a krawędzie relacje między nimi: </a:t>
            </a:r>
            <a:r>
              <a:rPr lang="pl-PL" sz="1400" dirty="0" err="1">
                <a:solidFill>
                  <a:schemeClr val="bg1"/>
                </a:solidFill>
              </a:rPr>
              <a:t>odometrię</a:t>
            </a:r>
            <a:r>
              <a:rPr lang="pl-PL" sz="1400" dirty="0">
                <a:solidFill>
                  <a:schemeClr val="bg1"/>
                </a:solidFill>
              </a:rPr>
              <a:t>, dopasowanie ICP albo ograniczenia z wizji. Każda krawędź niesie też informację </a:t>
            </a:r>
            <a:r>
              <a:rPr lang="pl-PL" sz="1400" dirty="0" smtClean="0">
                <a:solidFill>
                  <a:schemeClr val="bg1"/>
                </a:solidFill>
              </a:rPr>
              <a:t/>
            </a:r>
            <a:br>
              <a:rPr lang="pl-PL" sz="1400" dirty="0" smtClean="0">
                <a:solidFill>
                  <a:schemeClr val="bg1"/>
                </a:solidFill>
              </a:rPr>
            </a:br>
            <a:r>
              <a:rPr lang="pl-PL" sz="1400" dirty="0" smtClean="0">
                <a:solidFill>
                  <a:schemeClr val="bg1"/>
                </a:solidFill>
              </a:rPr>
              <a:t>o </a:t>
            </a:r>
            <a:r>
              <a:rPr lang="pl-PL" sz="1400" dirty="0">
                <a:solidFill>
                  <a:schemeClr val="bg1"/>
                </a:solidFill>
              </a:rPr>
              <a:t>niepewności. Optymalizacja grafu polega na minimalizacji sumy błędów wszystkich ograniczeń. Gdy wykryjemy powrót do wcześniej odwiedzonego miejsca, dodajemy nową krawędź i globalnie korygujemy cały przebieg trajektorii.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3 | LOOP CLOSURE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Domykanie pętli </a:t>
            </a:r>
            <a:r>
              <a:rPr lang="en-US" sz="2800" i="1" dirty="0">
                <a:solidFill>
                  <a:srgbClr val="FFFFFF"/>
                </a:solidFill>
                <a:latin typeface="Trebuchet MS" pitchFamily="34" charset="0"/>
                <a:ea typeface="Trebuchet MS" pitchFamily="34" charset="-122"/>
                <a:cs typeface="Trebuchet MS" pitchFamily="34" charset="-120"/>
              </a:rPr>
              <a:t>(loop closure)</a:t>
            </a:r>
            <a:endParaRPr lang="en-US" sz="2800" i="1" dirty="0"/>
          </a:p>
        </p:txBody>
      </p:sp>
      <p:sp>
        <p:nvSpPr>
          <p:cNvPr id="6" name="Shape 4"/>
          <p:cNvSpPr/>
          <p:nvPr/>
        </p:nvSpPr>
        <p:spPr>
          <a:xfrm>
            <a:off x="274320" y="1097280"/>
            <a:ext cx="4251960" cy="3089407"/>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69616" y="1097280"/>
            <a:ext cx="4160520" cy="3089407"/>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25196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Detekcja powrotu do miejsca</a:t>
            </a:r>
            <a:endParaRPr lang="en-US" dirty="0"/>
          </a:p>
        </p:txBody>
      </p:sp>
      <p:sp>
        <p:nvSpPr>
          <p:cNvPr id="10" name="Shape 8"/>
          <p:cNvSpPr/>
          <p:nvPr/>
        </p:nvSpPr>
        <p:spPr>
          <a:xfrm>
            <a:off x="4769616"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Korekta dryfu po domknięciu</a:t>
            </a:r>
            <a:endParaRPr lang="en-US" dirty="0"/>
          </a:p>
        </p:txBody>
      </p:sp>
      <p:sp>
        <p:nvSpPr>
          <p:cNvPr id="12" name="Text 10"/>
          <p:cNvSpPr/>
          <p:nvPr/>
        </p:nvSpPr>
        <p:spPr>
          <a:xfrm>
            <a:off x="290945" y="1562415"/>
            <a:ext cx="4228533" cy="2596471"/>
          </a:xfrm>
          <a:prstGeom prst="rect">
            <a:avLst/>
          </a:prstGeom>
          <a:noFill/>
          <a:ln/>
        </p:spPr>
        <p:txBody>
          <a:bodyPr wrap="square" lIns="36000" tIns="36000" rIns="36000" bIns="36000" rtlCol="0" anchor="t">
            <a:spAutoFit/>
          </a:bodyPr>
          <a:lstStyle/>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Bag-of-Words</a:t>
            </a:r>
            <a:r>
              <a:rPr lang="en-US" sz="1600" spc="-20" dirty="0">
                <a:solidFill>
                  <a:srgbClr val="0D1B2A"/>
                </a:solidFill>
                <a:latin typeface="Calibri" pitchFamily="34" charset="0"/>
                <a:ea typeface="Calibri" pitchFamily="34" charset="-122"/>
                <a:cs typeface="Calibri" pitchFamily="34" charset="-120"/>
              </a:rPr>
              <a:t> (DBoW2): histogram deskryptorów wizualnych</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Scan matching</a:t>
            </a:r>
            <a:r>
              <a:rPr lang="en-US" sz="1600" spc="-20" dirty="0">
                <a:solidFill>
                  <a:srgbClr val="0D1B2A"/>
                </a:solidFill>
                <a:latin typeface="Calibri" pitchFamily="34" charset="0"/>
                <a:ea typeface="Calibri" pitchFamily="34" charset="-122"/>
                <a:cs typeface="Calibri" pitchFamily="34" charset="-120"/>
              </a:rPr>
              <a:t>: ICP </a:t>
            </a:r>
            <a:r>
              <a:rPr lang="en-US" sz="1600" spc="-20" dirty="0" err="1">
                <a:solidFill>
                  <a:srgbClr val="0D1B2A"/>
                </a:solidFill>
                <a:latin typeface="Calibri" pitchFamily="34" charset="0"/>
                <a:ea typeface="Calibri" pitchFamily="34" charset="-122"/>
                <a:cs typeface="Calibri" pitchFamily="34" charset="-120"/>
              </a:rPr>
              <a:t>między</a:t>
            </a:r>
            <a:r>
              <a:rPr lang="en-US" sz="1600" spc="-20" dirty="0">
                <a:solidFill>
                  <a:srgbClr val="0D1B2A"/>
                </a:solidFill>
                <a:latin typeface="Calibri" pitchFamily="34" charset="0"/>
                <a:ea typeface="Calibri" pitchFamily="34" charset="-122"/>
                <a:cs typeface="Calibri" pitchFamily="34" charset="-120"/>
              </a:rPr>
              <a:t> </a:t>
            </a:r>
            <a:r>
              <a:rPr lang="en-US" sz="1600" spc="-20" dirty="0" err="1" smtClean="0">
                <a:solidFill>
                  <a:srgbClr val="0D1B2A"/>
                </a:solidFill>
                <a:latin typeface="Calibri" pitchFamily="34" charset="0"/>
                <a:ea typeface="Calibri" pitchFamily="34" charset="-122"/>
                <a:cs typeface="Calibri" pitchFamily="34" charset="-120"/>
              </a:rPr>
              <a:t>bieżącym</a:t>
            </a:r>
            <a:r>
              <a:rPr lang="pl-PL" sz="1600" spc="-20" dirty="0" smtClean="0">
                <a:solidFill>
                  <a:srgbClr val="0D1B2A"/>
                </a:solidFill>
                <a:latin typeface="Calibri" pitchFamily="34" charset="0"/>
                <a:ea typeface="Calibri" pitchFamily="34" charset="-122"/>
                <a:cs typeface="Calibri" pitchFamily="34" charset="-120"/>
              </a:rPr>
              <a:t>,</a:t>
            </a:r>
            <a:r>
              <a:rPr lang="en-US" sz="1600" spc="-20" dirty="0" smtClean="0">
                <a:solidFill>
                  <a:srgbClr val="0D1B2A"/>
                </a:solidFill>
                <a:latin typeface="Calibri" pitchFamily="34" charset="0"/>
                <a:ea typeface="Calibri" pitchFamily="34" charset="-122"/>
                <a:cs typeface="Calibri" pitchFamily="34" charset="-120"/>
              </a:rPr>
              <a:t> </a:t>
            </a:r>
            <a:r>
              <a:rPr lang="pl-PL" sz="1600" spc="-20" dirty="0" smtClean="0">
                <a:solidFill>
                  <a:srgbClr val="0D1B2A"/>
                </a:solidFill>
                <a:latin typeface="Calibri" pitchFamily="34" charset="0"/>
                <a:ea typeface="Calibri" pitchFamily="34" charset="-122"/>
                <a:cs typeface="Calibri" pitchFamily="34" charset="-120"/>
              </a:rPr>
              <a:t/>
            </a:r>
            <a:br>
              <a:rPr lang="pl-PL" sz="1600" spc="-20" dirty="0" smtClean="0">
                <a:solidFill>
                  <a:srgbClr val="0D1B2A"/>
                </a:solidFill>
                <a:latin typeface="Calibri" pitchFamily="34" charset="0"/>
                <a:ea typeface="Calibri" pitchFamily="34" charset="-122"/>
                <a:cs typeface="Calibri" pitchFamily="34" charset="-120"/>
              </a:rPr>
            </a:br>
            <a:r>
              <a:rPr lang="en-US" sz="1600" spc="-20" dirty="0" smtClean="0">
                <a:solidFill>
                  <a:srgbClr val="0D1B2A"/>
                </a:solidFill>
                <a:latin typeface="Calibri" pitchFamily="34" charset="0"/>
                <a:ea typeface="Calibri" pitchFamily="34" charset="-122"/>
                <a:cs typeface="Calibri" pitchFamily="34" charset="-120"/>
              </a:rPr>
              <a:t>a </a:t>
            </a:r>
            <a:r>
              <a:rPr lang="en-US" sz="1600" spc="-20" dirty="0">
                <a:solidFill>
                  <a:srgbClr val="0D1B2A"/>
                </a:solidFill>
                <a:latin typeface="Calibri" pitchFamily="34" charset="0"/>
                <a:ea typeface="Calibri" pitchFamily="34" charset="-122"/>
                <a:cs typeface="Calibri" pitchFamily="34" charset="-120"/>
              </a:rPr>
              <a:t>historycznym skanem</a:t>
            </a:r>
            <a:endParaRPr lang="en-US" sz="1600" spc="-20" dirty="0"/>
          </a:p>
          <a:p>
            <a:pPr marL="180000" indent="-180000">
              <a:spcAft>
                <a:spcPts val="600"/>
              </a:spcAft>
              <a:buSzPct val="100000"/>
              <a:buChar char="•"/>
            </a:pPr>
            <a:r>
              <a:rPr lang="en-US" sz="1600" b="1" spc="-40" dirty="0">
                <a:solidFill>
                  <a:srgbClr val="0D1B2A"/>
                </a:solidFill>
                <a:latin typeface="Calibri" pitchFamily="34" charset="0"/>
                <a:ea typeface="Calibri" pitchFamily="34" charset="-122"/>
                <a:cs typeface="Calibri" pitchFamily="34" charset="-120"/>
              </a:rPr>
              <a:t>Mapa cech</a:t>
            </a:r>
            <a:r>
              <a:rPr lang="en-US" sz="1600" spc="-40" dirty="0">
                <a:solidFill>
                  <a:srgbClr val="0D1B2A"/>
                </a:solidFill>
                <a:latin typeface="Calibri" pitchFamily="34" charset="0"/>
                <a:ea typeface="Calibri" pitchFamily="34" charset="-122"/>
                <a:cs typeface="Calibri" pitchFamily="34" charset="-120"/>
              </a:rPr>
              <a:t>: dopasowanie deskryptorów ORB/SIFT</a:t>
            </a:r>
            <a:endParaRPr lang="en-US" sz="1600" spc="-4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Próg podobieństwa</a:t>
            </a:r>
            <a:r>
              <a:rPr lang="en-US" sz="1600" spc="-20" dirty="0">
                <a:solidFill>
                  <a:srgbClr val="0D1B2A"/>
                </a:solidFill>
                <a:latin typeface="Calibri" pitchFamily="34" charset="0"/>
                <a:ea typeface="Calibri" pitchFamily="34" charset="-122"/>
                <a:cs typeface="Calibri" pitchFamily="34" charset="-120"/>
              </a:rPr>
              <a:t>: zapobiega fałszywym detekcjom</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Weryfikacja geometryczna</a:t>
            </a:r>
            <a:r>
              <a:rPr lang="en-US" sz="1600" spc="-20" dirty="0">
                <a:solidFill>
                  <a:srgbClr val="0D1B2A"/>
                </a:solidFill>
                <a:latin typeface="Calibri" pitchFamily="34" charset="0"/>
                <a:ea typeface="Calibri" pitchFamily="34" charset="-122"/>
                <a:cs typeface="Calibri" pitchFamily="34" charset="-120"/>
              </a:rPr>
              <a:t>: RANSAC na korespondencjach</a:t>
            </a:r>
            <a:endParaRPr lang="en-US" sz="1600" spc="-20" dirty="0"/>
          </a:p>
        </p:txBody>
      </p:sp>
      <p:sp>
        <p:nvSpPr>
          <p:cNvPr id="13" name="Text 11"/>
          <p:cNvSpPr/>
          <p:nvPr/>
        </p:nvSpPr>
        <p:spPr>
          <a:xfrm>
            <a:off x="4816469" y="1600200"/>
            <a:ext cx="3964793" cy="2411805"/>
          </a:xfrm>
          <a:prstGeom prst="rect">
            <a:avLst/>
          </a:prstGeom>
          <a:noFill/>
          <a:ln/>
        </p:spPr>
        <p:txBody>
          <a:bodyPr wrap="square" lIns="63500" tIns="36000" rIns="101600" bIns="36000" rtlCol="0" anchor="t">
            <a:spAutoFit/>
          </a:bodyPr>
          <a:lstStyle/>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Nowa krawędź </a:t>
            </a:r>
            <a:r>
              <a:rPr lang="en-US" sz="1600" spc="-20" dirty="0">
                <a:solidFill>
                  <a:srgbClr val="0D1B2A"/>
                </a:solidFill>
                <a:latin typeface="Calibri" pitchFamily="34" charset="0"/>
                <a:ea typeface="Calibri" pitchFamily="34" charset="-122"/>
                <a:cs typeface="Calibri" pitchFamily="34" charset="-120"/>
              </a:rPr>
              <a:t>w pose graph z małą kowariancją</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Optymalizator</a:t>
            </a:r>
            <a:r>
              <a:rPr lang="en-US" sz="1600" spc="-20" dirty="0">
                <a:solidFill>
                  <a:srgbClr val="0D1B2A"/>
                </a:solidFill>
                <a:latin typeface="Calibri" pitchFamily="34" charset="0"/>
                <a:ea typeface="Calibri" pitchFamily="34" charset="-122"/>
                <a:cs typeface="Calibri" pitchFamily="34" charset="-120"/>
              </a:rPr>
              <a:t> (g2o) przelicza cały graf</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Błąd dryfu </a:t>
            </a:r>
            <a:r>
              <a:rPr lang="en-US" sz="1600" spc="-20" dirty="0">
                <a:solidFill>
                  <a:srgbClr val="0D1B2A"/>
                </a:solidFill>
                <a:latin typeface="Calibri" pitchFamily="34" charset="0"/>
                <a:ea typeface="Calibri" pitchFamily="34" charset="-122"/>
                <a:cs typeface="Calibri" pitchFamily="34" charset="-120"/>
              </a:rPr>
              <a:t>rozłożony wzdłuż zamkniętej pętli</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Efekt</a:t>
            </a:r>
            <a:r>
              <a:rPr lang="en-US" sz="1600" spc="-20" dirty="0">
                <a:solidFill>
                  <a:srgbClr val="0D1B2A"/>
                </a:solidFill>
                <a:latin typeface="Calibri" pitchFamily="34" charset="0"/>
                <a:ea typeface="Calibri" pitchFamily="34" charset="-122"/>
                <a:cs typeface="Calibri" pitchFamily="34" charset="-120"/>
              </a:rPr>
              <a:t>: mapa globalna spójana bez artefaktów</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Częstość</a:t>
            </a:r>
            <a:r>
              <a:rPr lang="en-US" sz="1600" spc="-20" dirty="0">
                <a:solidFill>
                  <a:srgbClr val="0D1B2A"/>
                </a:solidFill>
                <a:latin typeface="Calibri" pitchFamily="34" charset="0"/>
                <a:ea typeface="Calibri" pitchFamily="34" charset="-122"/>
                <a:cs typeface="Calibri" pitchFamily="34" charset="-120"/>
              </a:rPr>
              <a:t>: co kilka sekund dla środowisk cyklicznych</a:t>
            </a:r>
            <a:endParaRPr lang="en-US" sz="1600" spc="-20" dirty="0"/>
          </a:p>
        </p:txBody>
      </p:sp>
      <p:sp>
        <p:nvSpPr>
          <p:cNvPr id="14" name="Prostokąt 13"/>
          <p:cNvSpPr/>
          <p:nvPr/>
        </p:nvSpPr>
        <p:spPr>
          <a:xfrm>
            <a:off x="274320" y="4278127"/>
            <a:ext cx="8595360" cy="812979"/>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Domykanie pętli składa się z dwóch etapów. Najpierw trzeba wykryć, że wróciliśmy do znanego miejsca, na przykład przez </a:t>
            </a:r>
            <a:r>
              <a:rPr lang="pl-PL" sz="1400" spc="-40" dirty="0" err="1">
                <a:solidFill>
                  <a:schemeClr val="bg1"/>
                </a:solidFill>
              </a:rPr>
              <a:t>bag</a:t>
            </a:r>
            <a:r>
              <a:rPr lang="pl-PL" sz="1400" spc="-40" dirty="0">
                <a:solidFill>
                  <a:schemeClr val="bg1"/>
                </a:solidFill>
              </a:rPr>
              <a:t> of </a:t>
            </a:r>
            <a:r>
              <a:rPr lang="pl-PL" sz="1400" spc="-40" dirty="0" err="1">
                <a:solidFill>
                  <a:schemeClr val="bg1"/>
                </a:solidFill>
              </a:rPr>
              <a:t>words</a:t>
            </a:r>
            <a:r>
              <a:rPr lang="pl-PL" sz="1400" spc="-40" dirty="0">
                <a:solidFill>
                  <a:schemeClr val="bg1"/>
                </a:solidFill>
              </a:rPr>
              <a:t>, </a:t>
            </a:r>
            <a:r>
              <a:rPr lang="pl-PL" sz="1400" spc="-40" dirty="0" err="1">
                <a:solidFill>
                  <a:schemeClr val="bg1"/>
                </a:solidFill>
              </a:rPr>
              <a:t>scan</a:t>
            </a:r>
            <a:r>
              <a:rPr lang="pl-PL" sz="1400" spc="-40" dirty="0">
                <a:solidFill>
                  <a:schemeClr val="bg1"/>
                </a:solidFill>
              </a:rPr>
              <a:t> </a:t>
            </a:r>
            <a:r>
              <a:rPr lang="pl-PL" sz="1400" spc="-40" dirty="0" err="1">
                <a:solidFill>
                  <a:schemeClr val="bg1"/>
                </a:solidFill>
              </a:rPr>
              <a:t>matching</a:t>
            </a:r>
            <a:r>
              <a:rPr lang="pl-PL" sz="1400" spc="-40" dirty="0">
                <a:solidFill>
                  <a:schemeClr val="bg1"/>
                </a:solidFill>
              </a:rPr>
              <a:t> albo dopasowanie deskryptorów cech. Potem trzeba to jeszcze zweryfikować geometrycznie, często przez RANSAC. Jeśli wynik jest wiarygodny, dodajemy mocne ograniczenie do </a:t>
            </a:r>
            <a:r>
              <a:rPr lang="pl-PL" sz="1400" spc="-40" dirty="0" smtClean="0">
                <a:solidFill>
                  <a:schemeClr val="bg1"/>
                </a:solidFill>
              </a:rPr>
              <a:t>grafu i </a:t>
            </a:r>
            <a:r>
              <a:rPr lang="pl-PL" sz="1400" spc="-40" dirty="0">
                <a:solidFill>
                  <a:schemeClr val="bg1"/>
                </a:solidFill>
              </a:rPr>
              <a:t>uruchamiamy optymalizację. Efekt jest taki, że skumulowany dryft rozkłada się po całej pętli, a mapa staje się globalnie spójna.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Prosta korekta pozycji po detekcji znacznika</a:t>
            </a:r>
            <a:endParaRPr lang="en-US" sz="2800" dirty="0"/>
          </a:p>
        </p:txBody>
      </p:sp>
      <p:sp>
        <p:nvSpPr>
          <p:cNvPr id="6" name="Shape 4"/>
          <p:cNvSpPr/>
          <p:nvPr/>
        </p:nvSpPr>
        <p:spPr>
          <a:xfrm>
            <a:off x="274320" y="1005839"/>
            <a:ext cx="8595360" cy="3127545"/>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06424"/>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06424"/>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06424"/>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60704"/>
            <a:ext cx="8321040" cy="307268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correct_with_landmark</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state</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landmark_pos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measured_pos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R_meas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"""Korekta EKF po pomiarze pozycji znajomego znacznika."""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obserwujemy tylko x, y</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predicted_z</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landmark_pos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innovation</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measured_pos</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predicted_z</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S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R_meas</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np.linalg.inv</a:t>
            </a:r>
            <a:r>
              <a:rPr lang="pl-PL" sz="1200" dirty="0">
                <a:solidFill>
                  <a:srgbClr val="CCCCCC"/>
                </a:solidFill>
                <a:latin typeface="Consolas" panose="020B0609020204030204" pitchFamily="49" charset="0"/>
              </a:rPr>
              <a:t>(S)                       </a:t>
            </a:r>
            <a:r>
              <a:rPr lang="pl-PL" sz="1200" dirty="0">
                <a:solidFill>
                  <a:srgbClr val="6A9955"/>
                </a:solidFill>
                <a:latin typeface="Consolas" panose="020B0609020204030204" pitchFamily="49" charset="0"/>
              </a:rPr>
              <a:t># wzmocnienie Kalmana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state_new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innovation</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P_new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a:t>
            </a: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state_new</a:t>
            </a:r>
            <a:r>
              <a:rPr lang="pl-PL" sz="1200" dirty="0">
                <a:solidFill>
                  <a:srgbClr val="CCCCCC"/>
                </a:solidFill>
                <a:latin typeface="Consolas" panose="020B0609020204030204" pitchFamily="49" charset="0"/>
              </a:rPr>
              <a:t>, </a:t>
            </a:r>
            <a:r>
              <a:rPr lang="pl-PL" sz="1200" dirty="0" err="1" smtClean="0">
                <a:solidFill>
                  <a:srgbClr val="CCCCCC"/>
                </a:solidFill>
                <a:latin typeface="Consolas" panose="020B0609020204030204" pitchFamily="49" charset="0"/>
              </a:rPr>
              <a:t>P_new</a:t>
            </a:r>
            <a:endParaRPr lang="pl-PL" sz="1200" dirty="0">
              <a:solidFill>
                <a:srgbClr val="CCCCCC"/>
              </a:solidFill>
              <a:latin typeface="Consolas" panose="020B0609020204030204" pitchFamily="49" charset="0"/>
            </a:endParaRPr>
          </a:p>
        </p:txBody>
      </p:sp>
      <p:sp>
        <p:nvSpPr>
          <p:cNvPr id="11" name="Shape 9"/>
          <p:cNvSpPr/>
          <p:nvPr/>
        </p:nvSpPr>
        <p:spPr>
          <a:xfrm>
            <a:off x="274320" y="4397760"/>
            <a:ext cx="8595360" cy="540000"/>
          </a:xfrm>
          <a:prstGeom prst="rect">
            <a:avLst/>
          </a:prstGeom>
          <a:solidFill>
            <a:srgbClr val="1A3550"/>
          </a:solidFill>
          <a:ln w="12700">
            <a:solidFill>
              <a:srgbClr val="0077A8"/>
            </a:solidFill>
            <a:prstDash val="solid"/>
          </a:ln>
        </p:spPr>
      </p:sp>
      <p:sp>
        <p:nvSpPr>
          <p:cNvPr id="12" name="Text 10"/>
          <p:cNvSpPr/>
          <p:nvPr/>
        </p:nvSpPr>
        <p:spPr>
          <a:xfrm>
            <a:off x="457200" y="4397760"/>
            <a:ext cx="8321040" cy="54000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Korekta EKF: innowacja z detekcji ArUco/AprilTag eliminuje skumulowany </a:t>
            </a:r>
            <a:r>
              <a:rPr lang="en-US" sz="1600" dirty="0" err="1">
                <a:solidFill>
                  <a:srgbClr val="E2EBF3"/>
                </a:solidFill>
                <a:latin typeface="Calibri" pitchFamily="34" charset="0"/>
                <a:ea typeface="Calibri" pitchFamily="34" charset="-122"/>
                <a:cs typeface="Calibri" pitchFamily="34" charset="-120"/>
              </a:rPr>
              <a:t>dryft</a:t>
            </a:r>
            <a:r>
              <a:rPr lang="en-US" sz="1600" dirty="0">
                <a:solidFill>
                  <a:srgbClr val="E2EBF3"/>
                </a:solidFill>
                <a:latin typeface="Calibri" pitchFamily="34" charset="0"/>
                <a:ea typeface="Calibri" pitchFamily="34" charset="-122"/>
                <a:cs typeface="Calibri" pitchFamily="34" charset="-120"/>
              </a:rPr>
              <a:t> </a:t>
            </a:r>
            <a:r>
              <a:rPr lang="en-US" sz="1600" dirty="0" err="1" smtClean="0">
                <a:solidFill>
                  <a:srgbClr val="E2EBF3"/>
                </a:solidFill>
                <a:latin typeface="Calibri" pitchFamily="34" charset="0"/>
                <a:ea typeface="Calibri" pitchFamily="34" charset="-122"/>
                <a:cs typeface="Calibri" pitchFamily="34" charset="-120"/>
              </a:rPr>
              <a:t>odometrii</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DOBÓR METODY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Dobór metody lokalizacji do zadania</a:t>
            </a:r>
            <a:endParaRPr lang="en-US" sz="2800" dirty="0"/>
          </a:p>
        </p:txBody>
      </p:sp>
      <p:grpSp>
        <p:nvGrpSpPr>
          <p:cNvPr id="30" name="Grupa 29"/>
          <p:cNvGrpSpPr/>
          <p:nvPr/>
        </p:nvGrpSpPr>
        <p:grpSpPr>
          <a:xfrm>
            <a:off x="274320" y="1090101"/>
            <a:ext cx="8641080" cy="2847109"/>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Laboratorium</a:t>
              </a:r>
              <a:endParaRPr lang="en-US" sz="2000" spc="-40" dirty="0"/>
            </a:p>
          </p:txBody>
        </p:sp>
        <p:sp>
          <p:nvSpPr>
            <p:cNvPr id="9" name="Text 7"/>
            <p:cNvSpPr/>
            <p:nvPr/>
          </p:nvSpPr>
          <p:spPr>
            <a:xfrm>
              <a:off x="38404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Znana, statyczna mapa; AMCL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z </a:t>
              </a:r>
              <a:r>
                <a:rPr lang="en-US" sz="1500" spc="-80" dirty="0">
                  <a:solidFill>
                    <a:srgbClr val="475569"/>
                  </a:solidFill>
                  <a:latin typeface="Calibri" pitchFamily="34" charset="0"/>
                  <a:ea typeface="Calibri" pitchFamily="34" charset="-122"/>
                  <a:cs typeface="Calibri" pitchFamily="34" charset="-120"/>
                </a:rPr>
                <a:t>LiDAR-em 2D wystarczy; opcjonalnie znaczniki ArUco</a:t>
              </a:r>
              <a:endParaRPr lang="en-US" sz="1500" spc="-8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Biuro</a:t>
              </a:r>
              <a:endParaRPr lang="en-US" sz="2000" spc="-40" dirty="0"/>
            </a:p>
          </p:txBody>
        </p:sp>
        <p:sp>
          <p:nvSpPr>
            <p:cNvPr id="13" name="Text 11"/>
            <p:cNvSpPr/>
            <p:nvPr/>
          </p:nvSpPr>
          <p:spPr>
            <a:xfrm>
              <a:off x="326440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Zmienna mapa (meble);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SLAM </a:t>
              </a:r>
              <a:r>
                <a:rPr lang="en-US" sz="1500" spc="-80" dirty="0">
                  <a:solidFill>
                    <a:srgbClr val="475569"/>
                  </a:solidFill>
                  <a:latin typeface="Calibri" pitchFamily="34" charset="0"/>
                  <a:ea typeface="Calibri" pitchFamily="34" charset="-122"/>
                  <a:cs typeface="Calibri" pitchFamily="34" charset="-120"/>
                </a:rPr>
                <a:t>online (Cartographer)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MCL; UWB jako wsparcie</a:t>
              </a:r>
              <a:endParaRPr lang="en-US" sz="1500" spc="-8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Magazyn</a:t>
              </a:r>
              <a:endParaRPr lang="en-US" sz="2000" spc="-40" dirty="0"/>
            </a:p>
          </p:txBody>
        </p:sp>
        <p:sp>
          <p:nvSpPr>
            <p:cNvPr id="17" name="Text 15"/>
            <p:cNvSpPr/>
            <p:nvPr/>
          </p:nvSpPr>
          <p:spPr>
            <a:xfrm>
              <a:off x="614476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Pojazdy AGV i regały;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Visual </a:t>
              </a:r>
              <a:r>
                <a:rPr lang="en-US" sz="1500" spc="-80" dirty="0">
                  <a:solidFill>
                    <a:srgbClr val="475569"/>
                  </a:solidFill>
                  <a:latin typeface="Calibri" pitchFamily="34" charset="0"/>
                  <a:ea typeface="Calibri" pitchFamily="34" charset="-122"/>
                  <a:cs typeface="Calibri" pitchFamily="34" charset="-120"/>
                </a:rPr>
                <a:t>SLAM z kamerami panoramicznymi; QR na półkach</a:t>
              </a:r>
              <a:endParaRPr lang="en-US" sz="1500" spc="-8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Schody</a:t>
              </a:r>
              <a:endParaRPr lang="en-US" sz="2000" spc="-40" dirty="0"/>
            </a:p>
          </p:txBody>
        </p:sp>
        <p:sp>
          <p:nvSpPr>
            <p:cNvPr id="21" name="Text 19"/>
            <p:cNvSpPr/>
            <p:nvPr/>
          </p:nvSpPr>
          <p:spPr>
            <a:xfrm>
              <a:off x="38404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3D LiDAR SLAM (LeGO-LOAM) lub RGB-D SLAM (RTAB-Map); height map aktywna</a:t>
              </a:r>
              <a:endParaRPr lang="en-US" sz="1500" spc="-8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13608" y="3075941"/>
              <a:ext cx="2539492" cy="376275"/>
            </a:xfrm>
            <a:prstGeom prst="rect">
              <a:avLst/>
            </a:prstGeom>
            <a:noFill/>
            <a:ln/>
          </p:spPr>
          <p:txBody>
            <a:bodyPr wrap="square" lIns="0" tIns="0" rIns="0" bIns="0" rtlCol="0" anchor="ctr"/>
            <a:lstStyle/>
            <a:p>
              <a:pPr algn="ctr"/>
              <a:r>
                <a:rPr lang="pl-PL" b="1" spc="-60" dirty="0" err="1" smtClean="0">
                  <a:solidFill>
                    <a:srgbClr val="0D1B2A"/>
                  </a:solidFill>
                  <a:latin typeface="Trebuchet MS" pitchFamily="34" charset="0"/>
                  <a:ea typeface="Trebuchet MS" pitchFamily="34" charset="-122"/>
                  <a:cs typeface="Trebuchet MS" pitchFamily="34" charset="-120"/>
                </a:rPr>
                <a:t>D</a:t>
              </a:r>
              <a:r>
                <a:rPr lang="en-US" b="1" spc="-60" dirty="0" err="1" smtClean="0">
                  <a:solidFill>
                    <a:srgbClr val="0D1B2A"/>
                  </a:solidFill>
                  <a:latin typeface="Trebuchet MS" pitchFamily="34" charset="0"/>
                  <a:ea typeface="Trebuchet MS" pitchFamily="34" charset="-122"/>
                  <a:cs typeface="Trebuchet MS" pitchFamily="34" charset="-120"/>
                </a:rPr>
                <a:t>ynamiczne</a:t>
              </a:r>
              <a:r>
                <a:rPr lang="en-US" b="1" spc="-60" dirty="0" smtClean="0">
                  <a:solidFill>
                    <a:srgbClr val="0D1B2A"/>
                  </a:solidFill>
                  <a:latin typeface="Trebuchet MS" pitchFamily="34" charset="0"/>
                  <a:ea typeface="Trebuchet MS" pitchFamily="34" charset="-122"/>
                  <a:cs typeface="Trebuchet MS" pitchFamily="34" charset="-120"/>
                </a:rPr>
                <a:t> </a:t>
              </a:r>
              <a:r>
                <a:rPr lang="pl-PL" b="1" spc="-60" dirty="0" smtClean="0">
                  <a:solidFill>
                    <a:srgbClr val="0D1B2A"/>
                  </a:solidFill>
                  <a:latin typeface="Trebuchet MS" pitchFamily="34" charset="0"/>
                  <a:ea typeface="Trebuchet MS" pitchFamily="34" charset="-122"/>
                  <a:cs typeface="Trebuchet MS" pitchFamily="34" charset="-120"/>
                </a:rPr>
                <a:t>o</a:t>
              </a:r>
              <a:r>
                <a:rPr lang="en-US" b="1" spc="-60" dirty="0" err="1" smtClean="0">
                  <a:solidFill>
                    <a:srgbClr val="0D1B2A"/>
                  </a:solidFill>
                  <a:latin typeface="Trebuchet MS" pitchFamily="34" charset="0"/>
                  <a:ea typeface="Trebuchet MS" pitchFamily="34" charset="-122"/>
                  <a:cs typeface="Trebuchet MS" pitchFamily="34" charset="-120"/>
                </a:rPr>
                <a:t>toczenie</a:t>
              </a:r>
              <a:endParaRPr lang="en-US" spc="-60" dirty="0"/>
            </a:p>
          </p:txBody>
        </p:sp>
        <p:sp>
          <p:nvSpPr>
            <p:cNvPr id="25" name="Text 23"/>
            <p:cNvSpPr/>
            <p:nvPr/>
          </p:nvSpPr>
          <p:spPr>
            <a:xfrm>
              <a:off x="326440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EKF + filtr cząsteczkowy; odrzucanie ruchomych obiektów ze skanów mapowania</a:t>
              </a:r>
              <a:endParaRPr lang="en-US" sz="1500" spc="-8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75941"/>
              <a:ext cx="2432304" cy="376275"/>
            </a:xfrm>
            <a:prstGeom prst="rect">
              <a:avLst/>
            </a:prstGeom>
            <a:noFill/>
            <a:ln/>
          </p:spPr>
          <p:txBody>
            <a:bodyPr wrap="square" lIns="0" tIns="0" rIns="0" bIns="0" rtlCol="0" anchor="ctr"/>
            <a:lstStyle/>
            <a:p>
              <a:pPr marL="0" indent="0" algn="ctr">
                <a:buNone/>
              </a:pPr>
              <a:r>
                <a:rPr lang="en-US" b="1" spc="-40" dirty="0" err="1" smtClean="0">
                  <a:solidFill>
                    <a:srgbClr val="0D1B2A"/>
                  </a:solidFill>
                  <a:latin typeface="Trebuchet MS" pitchFamily="34" charset="0"/>
                  <a:ea typeface="Trebuchet MS" pitchFamily="34" charset="-122"/>
                  <a:cs typeface="Trebuchet MS" pitchFamily="34" charset="-120"/>
                </a:rPr>
                <a:t>Zewnętrzne</a:t>
              </a:r>
              <a:r>
                <a:rPr lang="pl-PL" b="1" spc="-40" dirty="0" smtClean="0">
                  <a:solidFill>
                    <a:srgbClr val="0D1B2A"/>
                  </a:solidFill>
                  <a:latin typeface="Trebuchet MS" pitchFamily="34" charset="0"/>
                  <a:ea typeface="Trebuchet MS" pitchFamily="34" charset="-122"/>
                  <a:cs typeface="Trebuchet MS" pitchFamily="34" charset="-120"/>
                </a:rPr>
                <a:t> warunki</a:t>
              </a:r>
              <a:endParaRPr lang="en-US" spc="-40" dirty="0"/>
            </a:p>
          </p:txBody>
        </p:sp>
        <p:sp>
          <p:nvSpPr>
            <p:cNvPr id="29" name="Text 27"/>
            <p:cNvSpPr/>
            <p:nvPr/>
          </p:nvSpPr>
          <p:spPr>
            <a:xfrm>
              <a:off x="6062218" y="3626224"/>
              <a:ext cx="2599182"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GPS + IMU (EKF) jako baza;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LiDAR </a:t>
              </a:r>
              <a:r>
                <a:rPr lang="en-US" sz="1500" spc="-80" dirty="0">
                  <a:solidFill>
                    <a:srgbClr val="475569"/>
                  </a:solidFill>
                  <a:latin typeface="Calibri" pitchFamily="34" charset="0"/>
                  <a:ea typeface="Calibri" pitchFamily="34" charset="-122"/>
                  <a:cs typeface="Calibri" pitchFamily="34" charset="-120"/>
                </a:rPr>
                <a:t>do refinement; </a:t>
              </a:r>
              <a:r>
                <a:rPr lang="en-US" sz="1500" spc="-80" dirty="0" err="1" smtClean="0">
                  <a:solidFill>
                    <a:srgbClr val="475569"/>
                  </a:solidFill>
                  <a:latin typeface="Calibri" pitchFamily="34" charset="0"/>
                  <a:ea typeface="Calibri" pitchFamily="34" charset="-122"/>
                  <a:cs typeface="Calibri" pitchFamily="34" charset="-120"/>
                </a:rPr>
                <a:t>odporność</a:t>
              </a:r>
              <a:r>
                <a:rPr lang="en-US" sz="1500" spc="-80" dirty="0" smtClean="0">
                  <a:solidFill>
                    <a:srgbClr val="475569"/>
                  </a:solidFill>
                  <a:latin typeface="Calibri" pitchFamily="34" charset="0"/>
                  <a:ea typeface="Calibri" pitchFamily="34" charset="-122"/>
                  <a:cs typeface="Calibri" pitchFamily="34" charset="-120"/>
                </a:rPr>
                <a:t>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err="1" smtClean="0">
                  <a:solidFill>
                    <a:srgbClr val="475569"/>
                  </a:solidFill>
                  <a:latin typeface="Calibri" pitchFamily="34" charset="0"/>
                  <a:ea typeface="Calibri" pitchFamily="34" charset="-122"/>
                  <a:cs typeface="Calibri" pitchFamily="34" charset="-120"/>
                </a:rPr>
                <a:t>na</a:t>
              </a: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warunki pogodowe</a:t>
              </a:r>
              <a:endParaRPr lang="en-US" sz="1500" spc="-80" dirty="0"/>
            </a:p>
          </p:txBody>
        </p:sp>
      </p:grpSp>
      <p:sp>
        <p:nvSpPr>
          <p:cNvPr id="31" name="Prostokąt 30"/>
          <p:cNvSpPr/>
          <p:nvPr/>
        </p:nvSpPr>
        <p:spPr>
          <a:xfrm>
            <a:off x="274320" y="4081645"/>
            <a:ext cx="8595360" cy="992516"/>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Dobór metody lokalizacji zależy od zadania. W laboratorium zwykle wystarcza AMCL z </a:t>
            </a:r>
            <a:r>
              <a:rPr lang="pl-PL" sz="1400" spc="-40" dirty="0" err="1">
                <a:solidFill>
                  <a:schemeClr val="bg1"/>
                </a:solidFill>
              </a:rPr>
              <a:t>LiDAR</a:t>
            </a:r>
            <a:r>
              <a:rPr lang="pl-PL" sz="1400" spc="-40" dirty="0">
                <a:solidFill>
                  <a:schemeClr val="bg1"/>
                </a:solidFill>
              </a:rPr>
              <a:t>-em 2D. W biurze, gdzie środowisko się zmienia, lepiej sprawdza się SLAM online z dodatkowym wsparciem. W magazynie przydaje się </a:t>
            </a:r>
            <a:r>
              <a:rPr lang="pl-PL" sz="1400" spc="-40" dirty="0" err="1">
                <a:solidFill>
                  <a:schemeClr val="bg1"/>
                </a:solidFill>
              </a:rPr>
              <a:t>visual</a:t>
            </a:r>
            <a:r>
              <a:rPr lang="pl-PL" sz="1400" spc="-40" dirty="0">
                <a:solidFill>
                  <a:schemeClr val="bg1"/>
                </a:solidFill>
              </a:rPr>
              <a:t> SLAM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znaczniki na regałach. Na schodach potrzebujemy już 3D </a:t>
            </a:r>
            <a:r>
              <a:rPr lang="pl-PL" sz="1400" spc="-40" dirty="0" err="1">
                <a:solidFill>
                  <a:schemeClr val="bg1"/>
                </a:solidFill>
              </a:rPr>
              <a:t>LiDAR</a:t>
            </a:r>
            <a:r>
              <a:rPr lang="pl-PL" sz="1400" spc="-40" dirty="0">
                <a:solidFill>
                  <a:schemeClr val="bg1"/>
                </a:solidFill>
              </a:rPr>
              <a:t> SLAM albo RGB-D SLAM wraz z aktywną </a:t>
            </a:r>
            <a:r>
              <a:rPr lang="pl-PL" sz="1400" spc="-40" dirty="0" err="1">
                <a:solidFill>
                  <a:schemeClr val="bg1"/>
                </a:solidFill>
              </a:rPr>
              <a:t>height</a:t>
            </a:r>
            <a:r>
              <a:rPr lang="pl-PL" sz="1400" spc="-40" dirty="0">
                <a:solidFill>
                  <a:schemeClr val="bg1"/>
                </a:solidFill>
              </a:rPr>
              <a:t> mapą.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W </a:t>
            </a:r>
            <a:r>
              <a:rPr lang="pl-PL" sz="1400" spc="-40" dirty="0">
                <a:solidFill>
                  <a:schemeClr val="bg1"/>
                </a:solidFill>
              </a:rPr>
              <a:t>dynamicznym otoczeniu trzeba odrzucać ruchome obiekty, a na zewnątrz połączyć GPS z IMU i </a:t>
            </a:r>
            <a:r>
              <a:rPr lang="pl-PL" sz="1400" spc="-40" dirty="0" err="1">
                <a:solidFill>
                  <a:schemeClr val="bg1"/>
                </a:solidFill>
              </a:rPr>
              <a:t>LiDAR</a:t>
            </a:r>
            <a:r>
              <a:rPr lang="pl-PL" sz="1400" spc="-40" dirty="0">
                <a:solidFill>
                  <a:schemeClr val="bg1"/>
                </a:solidFill>
              </a:rPr>
              <a:t>-em. Nie istnieje jedna uniwersalna metoda dobra do wszystkiego.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54864"/>
          </a:xfrm>
          <a:prstGeom prst="rect">
            <a:avLst/>
          </a:prstGeom>
          <a:solidFill>
            <a:srgbClr val="00B4D8"/>
          </a:solidFill>
          <a:ln w="12700">
            <a:solidFill>
              <a:srgbClr val="00B4D8"/>
            </a:solidFill>
            <a:prstDash val="solid"/>
          </a:ln>
        </p:spPr>
      </p:sp>
      <p:sp>
        <p:nvSpPr>
          <p:cNvPr id="4" name="Text 2"/>
          <p:cNvSpPr/>
          <p:nvPr/>
        </p:nvSpPr>
        <p:spPr>
          <a:xfrm>
            <a:off x="320040" y="457200"/>
            <a:ext cx="8503920" cy="502920"/>
          </a:xfrm>
          <a:prstGeom prst="rect">
            <a:avLst/>
          </a:prstGeom>
          <a:noFill/>
          <a:ln/>
        </p:spPr>
        <p:txBody>
          <a:bodyPr wrap="square" lIns="0" tIns="0" rIns="0" bIns="0" rtlCol="0" anchor="ctr"/>
          <a:lstStyle/>
          <a:p>
            <a:pPr marL="0" indent="0" algn="ctr">
              <a:buNone/>
            </a:pPr>
            <a:r>
              <a:rPr lang="en-US" sz="3600" b="1" dirty="0" smtClean="0">
                <a:solidFill>
                  <a:srgbClr val="FFFFFF"/>
                </a:solidFill>
                <a:latin typeface="Trebuchet MS" pitchFamily="34" charset="0"/>
                <a:ea typeface="Trebuchet MS" pitchFamily="34" charset="-122"/>
                <a:cs typeface="Trebuchet MS" pitchFamily="34" charset="-120"/>
              </a:rPr>
              <a:t>PODSUMOWANIE</a:t>
            </a:r>
            <a:endParaRPr lang="en-US" sz="3600" dirty="0"/>
          </a:p>
        </p:txBody>
      </p:sp>
      <p:sp>
        <p:nvSpPr>
          <p:cNvPr id="5" name="Shape 3"/>
          <p:cNvSpPr/>
          <p:nvPr/>
        </p:nvSpPr>
        <p:spPr>
          <a:xfrm>
            <a:off x="2743200" y="1005840"/>
            <a:ext cx="3657600" cy="36576"/>
          </a:xfrm>
          <a:prstGeom prst="rect">
            <a:avLst/>
          </a:prstGeom>
          <a:solidFill>
            <a:srgbClr val="00B4D8"/>
          </a:solidFill>
          <a:ln w="12700">
            <a:solidFill>
              <a:srgbClr val="00B4D8"/>
            </a:solidFill>
            <a:prstDash val="solid"/>
          </a:ln>
        </p:spPr>
      </p:sp>
      <p:sp>
        <p:nvSpPr>
          <p:cNvPr id="6" name="Shape 4"/>
          <p:cNvSpPr/>
          <p:nvPr/>
        </p:nvSpPr>
        <p:spPr>
          <a:xfrm>
            <a:off x="365760" y="1188720"/>
            <a:ext cx="502920" cy="502920"/>
          </a:xfrm>
          <a:prstGeom prst="ellipse">
            <a:avLst/>
          </a:prstGeom>
          <a:solidFill>
            <a:srgbClr val="00B4D8"/>
          </a:solidFill>
          <a:ln w="12700">
            <a:solidFill>
              <a:srgbClr val="00B4D8"/>
            </a:solidFill>
            <a:prstDash val="solid"/>
          </a:ln>
        </p:spPr>
      </p:sp>
      <p:sp>
        <p:nvSpPr>
          <p:cNvPr id="7" name="Text 5"/>
          <p:cNvSpPr/>
          <p:nvPr/>
        </p:nvSpPr>
        <p:spPr>
          <a:xfrm>
            <a:off x="365760" y="1188720"/>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01</a:t>
            </a:r>
            <a:endParaRPr lang="en-US" dirty="0"/>
          </a:p>
        </p:txBody>
      </p:sp>
      <p:sp>
        <p:nvSpPr>
          <p:cNvPr id="8" name="Text 6"/>
          <p:cNvSpPr/>
          <p:nvPr/>
        </p:nvSpPr>
        <p:spPr>
          <a:xfrm>
            <a:off x="1005840" y="1164590"/>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Dryft odometrii jest </a:t>
            </a:r>
            <a:r>
              <a:rPr lang="en-US" sz="1600" b="1" spc="-50" dirty="0" err="1" smtClean="0">
                <a:solidFill>
                  <a:srgbClr val="E2EBF3"/>
                </a:solidFill>
                <a:latin typeface="Calibri" pitchFamily="34" charset="0"/>
                <a:ea typeface="Calibri" pitchFamily="34" charset="-122"/>
                <a:cs typeface="Calibri" pitchFamily="34" charset="-120"/>
              </a:rPr>
              <a:t>nieunikniony</a:t>
            </a:r>
            <a:r>
              <a:rPr lang="pl-PL" sz="1600" b="1" spc="-50" dirty="0" smtClean="0">
                <a:solidFill>
                  <a:srgbClr val="E2EBF3"/>
                </a:solidFill>
                <a:latin typeface="Calibri" pitchFamily="34" charset="0"/>
                <a:ea typeface="Calibri" pitchFamily="34" charset="-122"/>
                <a:cs typeface="Calibri" pitchFamily="34" charset="-120"/>
              </a:rPr>
              <a:t>:</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konieczna jest korekta z zewnętrznych sensorów </a:t>
            </a:r>
            <a:r>
              <a:rPr lang="en-US" sz="1600" spc="-50" dirty="0" err="1">
                <a:solidFill>
                  <a:srgbClr val="E2EBF3"/>
                </a:solidFill>
                <a:latin typeface="Calibri" pitchFamily="34" charset="0"/>
                <a:ea typeface="Calibri" pitchFamily="34" charset="-122"/>
                <a:cs typeface="Calibri" pitchFamily="34" charset="-120"/>
              </a:rPr>
              <a:t>lub</a:t>
            </a:r>
            <a:r>
              <a:rPr lang="en-US" sz="1600" spc="-50" dirty="0">
                <a:solidFill>
                  <a:srgbClr val="E2EBF3"/>
                </a:solidFill>
                <a:latin typeface="Calibri" pitchFamily="34" charset="0"/>
                <a:ea typeface="Calibri" pitchFamily="34" charset="-122"/>
                <a:cs typeface="Calibri" pitchFamily="34" charset="-120"/>
              </a:rPr>
              <a:t> </a:t>
            </a:r>
            <a:r>
              <a:rPr lang="en-US" sz="1600" spc="-50" dirty="0" smtClean="0">
                <a:solidFill>
                  <a:srgbClr val="E2EBF3"/>
                </a:solidFill>
                <a:latin typeface="Calibri" pitchFamily="34" charset="0"/>
                <a:ea typeface="Calibri" pitchFamily="34" charset="-122"/>
                <a:cs typeface="Calibri" pitchFamily="34" charset="-120"/>
              </a:rPr>
              <a:t>SLAM</a:t>
            </a:r>
            <a:endParaRPr lang="en-US" sz="1600" spc="-50" dirty="0"/>
          </a:p>
        </p:txBody>
      </p:sp>
      <p:sp>
        <p:nvSpPr>
          <p:cNvPr id="9" name="Shape 7"/>
          <p:cNvSpPr/>
          <p:nvPr/>
        </p:nvSpPr>
        <p:spPr>
          <a:xfrm>
            <a:off x="365760" y="1947672"/>
            <a:ext cx="502920" cy="502920"/>
          </a:xfrm>
          <a:prstGeom prst="ellipse">
            <a:avLst/>
          </a:prstGeom>
          <a:solidFill>
            <a:srgbClr val="00B4D8"/>
          </a:solidFill>
          <a:ln w="12700">
            <a:solidFill>
              <a:srgbClr val="00B4D8"/>
            </a:solidFill>
            <a:prstDash val="solid"/>
          </a:ln>
        </p:spPr>
      </p:sp>
      <p:sp>
        <p:nvSpPr>
          <p:cNvPr id="10" name="Text 8"/>
          <p:cNvSpPr/>
          <p:nvPr/>
        </p:nvSpPr>
        <p:spPr>
          <a:xfrm>
            <a:off x="365760" y="1947672"/>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02</a:t>
            </a:r>
            <a:endParaRPr lang="en-US" dirty="0"/>
          </a:p>
        </p:txBody>
      </p:sp>
      <p:sp>
        <p:nvSpPr>
          <p:cNvPr id="11" name="Text 9"/>
          <p:cNvSpPr/>
          <p:nvPr/>
        </p:nvSpPr>
        <p:spPr>
          <a:xfrm>
            <a:off x="1005840" y="1923542"/>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Filtr Kalmana </a:t>
            </a:r>
            <a:r>
              <a:rPr lang="en-US" sz="1600" spc="-50" dirty="0">
                <a:solidFill>
                  <a:srgbClr val="E2EBF3"/>
                </a:solidFill>
                <a:latin typeface="Calibri" pitchFamily="34" charset="0"/>
                <a:ea typeface="Calibri" pitchFamily="34" charset="-122"/>
                <a:cs typeface="Calibri" pitchFamily="34" charset="-120"/>
              </a:rPr>
              <a:t>(EKF/UKF) to złoty standard fuzji IMU, enkoderów i </a:t>
            </a:r>
            <a:r>
              <a:rPr lang="en-US" sz="1600" spc="-50" dirty="0" err="1">
                <a:solidFill>
                  <a:srgbClr val="E2EBF3"/>
                </a:solidFill>
                <a:latin typeface="Calibri" pitchFamily="34" charset="0"/>
                <a:ea typeface="Calibri" pitchFamily="34" charset="-122"/>
                <a:cs typeface="Calibri" pitchFamily="34" charset="-120"/>
              </a:rPr>
              <a:t>danych</a:t>
            </a:r>
            <a:r>
              <a:rPr lang="en-US" sz="1600" spc="-50" dirty="0">
                <a:solidFill>
                  <a:srgbClr val="E2EBF3"/>
                </a:solidFill>
                <a:latin typeface="Calibri" pitchFamily="34" charset="0"/>
                <a:ea typeface="Calibri" pitchFamily="34" charset="-122"/>
                <a:cs typeface="Calibri" pitchFamily="34" charset="-120"/>
              </a:rPr>
              <a:t> </a:t>
            </a:r>
            <a:r>
              <a:rPr lang="pl-PL" sz="1600" spc="-50" dirty="0" smtClean="0">
                <a:solidFill>
                  <a:srgbClr val="E2EBF3"/>
                </a:solidFill>
                <a:latin typeface="Calibri" pitchFamily="34" charset="0"/>
                <a:ea typeface="Calibri" pitchFamily="34" charset="-122"/>
                <a:cs typeface="Calibri" pitchFamily="34" charset="-120"/>
              </a:rPr>
              <a:t>wizyjnych</a:t>
            </a:r>
            <a:endParaRPr lang="pl-PL" sz="1600" spc="-50" dirty="0"/>
          </a:p>
        </p:txBody>
      </p:sp>
      <p:sp>
        <p:nvSpPr>
          <p:cNvPr id="12" name="Shape 10"/>
          <p:cNvSpPr/>
          <p:nvPr/>
        </p:nvSpPr>
        <p:spPr>
          <a:xfrm>
            <a:off x="365760" y="2706624"/>
            <a:ext cx="502920" cy="502920"/>
          </a:xfrm>
          <a:prstGeom prst="ellipse">
            <a:avLst/>
          </a:prstGeom>
          <a:solidFill>
            <a:srgbClr val="00B4D8"/>
          </a:solidFill>
          <a:ln w="12700">
            <a:solidFill>
              <a:srgbClr val="00B4D8"/>
            </a:solidFill>
            <a:prstDash val="solid"/>
          </a:ln>
        </p:spPr>
      </p:sp>
      <p:sp>
        <p:nvSpPr>
          <p:cNvPr id="13" name="Text 11"/>
          <p:cNvSpPr/>
          <p:nvPr/>
        </p:nvSpPr>
        <p:spPr>
          <a:xfrm>
            <a:off x="365760" y="2706624"/>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03</a:t>
            </a:r>
            <a:endParaRPr lang="en-US" dirty="0"/>
          </a:p>
        </p:txBody>
      </p:sp>
      <p:sp>
        <p:nvSpPr>
          <p:cNvPr id="14" name="Text 12"/>
          <p:cNvSpPr/>
          <p:nvPr/>
        </p:nvSpPr>
        <p:spPr>
          <a:xfrm>
            <a:off x="1005840" y="2682494"/>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Filtr cząsteczkowy </a:t>
            </a:r>
            <a:r>
              <a:rPr lang="en-US" sz="1600" spc="-50" dirty="0">
                <a:solidFill>
                  <a:srgbClr val="E2EBF3"/>
                </a:solidFill>
                <a:latin typeface="Calibri" pitchFamily="34" charset="0"/>
                <a:ea typeface="Calibri" pitchFamily="34" charset="-122"/>
                <a:cs typeface="Calibri" pitchFamily="34" charset="-120"/>
              </a:rPr>
              <a:t>radzi sobie z wielomodalnością, lecz wymaga większych </a:t>
            </a:r>
            <a:r>
              <a:rPr lang="en-US" sz="1600" spc="-50" dirty="0" err="1">
                <a:solidFill>
                  <a:srgbClr val="E2EBF3"/>
                </a:solidFill>
                <a:latin typeface="Calibri" pitchFamily="34" charset="0"/>
                <a:ea typeface="Calibri" pitchFamily="34" charset="-122"/>
                <a:cs typeface="Calibri" pitchFamily="34" charset="-120"/>
              </a:rPr>
              <a:t>zasobów</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obliczeniowych</a:t>
            </a:r>
            <a:endParaRPr lang="en-US" sz="1600" spc="-50" dirty="0"/>
          </a:p>
        </p:txBody>
      </p:sp>
      <p:sp>
        <p:nvSpPr>
          <p:cNvPr id="15" name="Shape 13"/>
          <p:cNvSpPr/>
          <p:nvPr/>
        </p:nvSpPr>
        <p:spPr>
          <a:xfrm>
            <a:off x="365760" y="3465576"/>
            <a:ext cx="502920" cy="502920"/>
          </a:xfrm>
          <a:prstGeom prst="ellipse">
            <a:avLst/>
          </a:prstGeom>
          <a:solidFill>
            <a:srgbClr val="00B4D8"/>
          </a:solidFill>
          <a:ln w="12700">
            <a:solidFill>
              <a:srgbClr val="00B4D8"/>
            </a:solidFill>
            <a:prstDash val="solid"/>
          </a:ln>
        </p:spPr>
      </p:sp>
      <p:sp>
        <p:nvSpPr>
          <p:cNvPr id="16" name="Text 14"/>
          <p:cNvSpPr/>
          <p:nvPr/>
        </p:nvSpPr>
        <p:spPr>
          <a:xfrm>
            <a:off x="365760" y="3465576"/>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04</a:t>
            </a:r>
            <a:endParaRPr lang="en-US" dirty="0"/>
          </a:p>
        </p:txBody>
      </p:sp>
      <p:sp>
        <p:nvSpPr>
          <p:cNvPr id="17" name="Text 15"/>
          <p:cNvSpPr/>
          <p:nvPr/>
        </p:nvSpPr>
        <p:spPr>
          <a:xfrm>
            <a:off x="1005840" y="3441446"/>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SLAM</a:t>
            </a:r>
            <a:r>
              <a:rPr lang="en-US" sz="1600" spc="-50" dirty="0">
                <a:solidFill>
                  <a:srgbClr val="E2EBF3"/>
                </a:solidFill>
                <a:latin typeface="Calibri" pitchFamily="34" charset="0"/>
                <a:ea typeface="Calibri" pitchFamily="34" charset="-122"/>
                <a:cs typeface="Calibri" pitchFamily="34" charset="-120"/>
              </a:rPr>
              <a:t> </a:t>
            </a:r>
            <a:r>
              <a:rPr lang="pl-PL" sz="1600" spc="-50" dirty="0" smtClean="0">
                <a:solidFill>
                  <a:srgbClr val="E2EBF3"/>
                </a:solidFill>
                <a:latin typeface="Calibri" pitchFamily="34" charset="0"/>
                <a:ea typeface="Calibri" pitchFamily="34" charset="-122"/>
                <a:cs typeface="Calibri" pitchFamily="34" charset="-120"/>
              </a:rPr>
              <a:t>(</a:t>
            </a:r>
            <a:r>
              <a:rPr lang="en-US" sz="1600" spc="-50" dirty="0" err="1" smtClean="0">
                <a:solidFill>
                  <a:srgbClr val="E2EBF3"/>
                </a:solidFill>
                <a:latin typeface="Calibri" pitchFamily="34" charset="0"/>
                <a:ea typeface="Calibri" pitchFamily="34" charset="-122"/>
                <a:cs typeface="Calibri" pitchFamily="34" charset="-120"/>
              </a:rPr>
              <a:t>jednoczesne</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mapowanie </a:t>
            </a:r>
            <a:r>
              <a:rPr lang="en-US" sz="1600" spc="-50" dirty="0" err="1">
                <a:solidFill>
                  <a:srgbClr val="E2EBF3"/>
                </a:solidFill>
                <a:latin typeface="Calibri" pitchFamily="34" charset="0"/>
                <a:ea typeface="Calibri" pitchFamily="34" charset="-122"/>
                <a:cs typeface="Calibri" pitchFamily="34" charset="-120"/>
              </a:rPr>
              <a:t>i</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lokalizacja</a:t>
            </a:r>
            <a:r>
              <a:rPr lang="pl-PL" sz="1600" spc="-50" dirty="0" smtClean="0">
                <a:solidFill>
                  <a:srgbClr val="E2EBF3"/>
                </a:solidFill>
                <a:latin typeface="Calibri" pitchFamily="34" charset="0"/>
                <a:ea typeface="Calibri" pitchFamily="34" charset="-122"/>
                <a:cs typeface="Calibri" pitchFamily="34" charset="-120"/>
              </a:rPr>
              <a:t>)</a:t>
            </a:r>
            <a:r>
              <a:rPr lang="pl-PL" sz="1600" spc="-50" dirty="0">
                <a:solidFill>
                  <a:srgbClr val="E2EBF3"/>
                </a:solidFill>
                <a:latin typeface="Calibri" pitchFamily="34" charset="0"/>
                <a:ea typeface="Calibri" pitchFamily="34" charset="-122"/>
                <a:cs typeface="Calibri" pitchFamily="34" charset="-120"/>
              </a:rPr>
              <a:t>:</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pozwala robotowi budować i korygować mapę w </a:t>
            </a:r>
            <a:r>
              <a:rPr lang="en-US" sz="1600" spc="-50" dirty="0" err="1" smtClean="0">
                <a:solidFill>
                  <a:srgbClr val="E2EBF3"/>
                </a:solidFill>
                <a:latin typeface="Calibri" pitchFamily="34" charset="0"/>
                <a:ea typeface="Calibri" pitchFamily="34" charset="-122"/>
                <a:cs typeface="Calibri" pitchFamily="34" charset="-120"/>
              </a:rPr>
              <a:t>locie</a:t>
            </a:r>
            <a:endParaRPr lang="en-US" sz="1600" spc="-50" dirty="0"/>
          </a:p>
        </p:txBody>
      </p:sp>
      <p:sp>
        <p:nvSpPr>
          <p:cNvPr id="18" name="Shape 16"/>
          <p:cNvSpPr/>
          <p:nvPr/>
        </p:nvSpPr>
        <p:spPr>
          <a:xfrm>
            <a:off x="365760" y="4224528"/>
            <a:ext cx="502920" cy="502920"/>
          </a:xfrm>
          <a:prstGeom prst="ellipse">
            <a:avLst/>
          </a:prstGeom>
          <a:solidFill>
            <a:srgbClr val="00B4D8"/>
          </a:solidFill>
          <a:ln w="12700">
            <a:solidFill>
              <a:srgbClr val="00B4D8"/>
            </a:solidFill>
            <a:prstDash val="solid"/>
          </a:ln>
        </p:spPr>
      </p:sp>
      <p:sp>
        <p:nvSpPr>
          <p:cNvPr id="19" name="Text 17"/>
          <p:cNvSpPr/>
          <p:nvPr/>
        </p:nvSpPr>
        <p:spPr>
          <a:xfrm>
            <a:off x="365760" y="4224528"/>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05</a:t>
            </a:r>
            <a:endParaRPr lang="en-US" dirty="0"/>
          </a:p>
        </p:txBody>
      </p:sp>
      <p:sp>
        <p:nvSpPr>
          <p:cNvPr id="20" name="Text 18"/>
          <p:cNvSpPr/>
          <p:nvPr/>
        </p:nvSpPr>
        <p:spPr>
          <a:xfrm>
            <a:off x="1005840" y="4200398"/>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Domykanie pętli </a:t>
            </a:r>
            <a:r>
              <a:rPr lang="en-US" sz="1600" spc="-50" dirty="0">
                <a:solidFill>
                  <a:srgbClr val="E2EBF3"/>
                </a:solidFill>
                <a:latin typeface="Calibri" pitchFamily="34" charset="0"/>
                <a:ea typeface="Calibri" pitchFamily="34" charset="-122"/>
                <a:cs typeface="Calibri" pitchFamily="34" charset="-120"/>
              </a:rPr>
              <a:t>eliminuje skumulowany dryft; awarię sensora wykrywa się przez test </a:t>
            </a:r>
            <a:r>
              <a:rPr lang="en-US" sz="1600" spc="-50" dirty="0" err="1" smtClean="0">
                <a:solidFill>
                  <a:srgbClr val="E2EBF3"/>
                </a:solidFill>
                <a:latin typeface="Calibri" pitchFamily="34" charset="0"/>
                <a:ea typeface="Calibri" pitchFamily="34" charset="-122"/>
                <a:cs typeface="Calibri" pitchFamily="34" charset="-120"/>
              </a:rPr>
              <a:t>innowacji</a:t>
            </a:r>
            <a:endParaRPr lang="en-US" sz="1600" spc="-50"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PYTANIA I ZADANIE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Pytania i mini-studium przypadku</a:t>
            </a:r>
            <a:endParaRPr lang="en-US" sz="2800" dirty="0"/>
          </a:p>
        </p:txBody>
      </p:sp>
      <p:sp>
        <p:nvSpPr>
          <p:cNvPr id="6" name="Shape 4"/>
          <p:cNvSpPr/>
          <p:nvPr/>
        </p:nvSpPr>
        <p:spPr>
          <a:xfrm>
            <a:off x="274320" y="1097280"/>
            <a:ext cx="8595360" cy="37490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04301" y="1188720"/>
            <a:ext cx="8361848" cy="3041858"/>
          </a:xfrm>
          <a:prstGeom prst="rect">
            <a:avLst/>
          </a:prstGeom>
          <a:noFill/>
          <a:ln/>
        </p:spPr>
        <p:txBody>
          <a:bodyPr wrap="square" lIns="127000" tIns="127000" rIns="127000" bIns="127000" rtlCol="0" anchor="t">
            <a:spAutoFit/>
          </a:bodyPr>
          <a:lstStyle/>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Dlaczego filtr komplementarny nie może zastąpić EKF w pełnym systemie lokalizacji?</a:t>
            </a:r>
            <a:endParaRPr lang="en-US" sz="1600" spc="-40" dirty="0"/>
          </a:p>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Jak wzmocnienie Kalmana K zmienia się, gdy macierz szumu pomiaru R jest bardzo duża?</a:t>
            </a:r>
            <a:endParaRPr lang="en-US" sz="1600" spc="-40" dirty="0"/>
          </a:p>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Co to jest NIS (Normalized Innovation Squared) i jak wykrywa awarię sensora?</a:t>
            </a:r>
            <a:endParaRPr lang="en-US" sz="1600" spc="-40" dirty="0"/>
          </a:p>
          <a:p>
            <a:pPr marL="342900" indent="-342900">
              <a:spcAft>
                <a:spcPts val="900"/>
              </a:spcAft>
              <a:buSzPct val="100000"/>
              <a:buFont typeface="+mj-lt"/>
              <a:buAutoNum type="arabicPeriod"/>
            </a:pPr>
            <a:r>
              <a:rPr lang="en-US" sz="1600" spc="-60" dirty="0" err="1" smtClean="0">
                <a:solidFill>
                  <a:srgbClr val="0D1B2A"/>
                </a:solidFill>
                <a:latin typeface="Calibri" pitchFamily="34" charset="0"/>
                <a:ea typeface="Calibri" pitchFamily="34" charset="-122"/>
                <a:cs typeface="Calibri" pitchFamily="34" charset="-120"/>
              </a:rPr>
              <a:t>Opisz</a:t>
            </a:r>
            <a:r>
              <a:rPr lang="en-US" sz="1600" spc="-60" dirty="0">
                <a:solidFill>
                  <a:srgbClr val="0D1B2A"/>
                </a:solidFill>
                <a:latin typeface="Calibri" pitchFamily="34" charset="0"/>
                <a:ea typeface="Calibri" pitchFamily="34" charset="-122"/>
                <a:cs typeface="Calibri" pitchFamily="34" charset="-120"/>
              </a:rPr>
              <a:t>, jakie sensory i jakie filtry </a:t>
            </a:r>
            <a:r>
              <a:rPr lang="en-US" sz="1600" spc="-60" dirty="0" err="1">
                <a:solidFill>
                  <a:srgbClr val="0D1B2A"/>
                </a:solidFill>
                <a:latin typeface="Calibri" pitchFamily="34" charset="0"/>
                <a:ea typeface="Calibri" pitchFamily="34" charset="-122"/>
                <a:cs typeface="Calibri" pitchFamily="34" charset="-120"/>
              </a:rPr>
              <a:t>wybrać</a:t>
            </a:r>
            <a:r>
              <a:rPr lang="en-US" sz="1600" spc="-60" dirty="0" smtClean="0">
                <a:solidFill>
                  <a:srgbClr val="0D1B2A"/>
                </a:solidFill>
                <a:latin typeface="Calibri" pitchFamily="34" charset="0"/>
                <a:ea typeface="Calibri" pitchFamily="34" charset="-122"/>
                <a:cs typeface="Calibri" pitchFamily="34" charset="-120"/>
              </a:rPr>
              <a:t>,</a:t>
            </a:r>
            <a:r>
              <a:rPr lang="pl-PL" sz="1600" spc="-60" dirty="0" smtClean="0">
                <a:solidFill>
                  <a:srgbClr val="0D1B2A"/>
                </a:solidFill>
                <a:latin typeface="Calibri" pitchFamily="34" charset="0"/>
                <a:ea typeface="Calibri" pitchFamily="34" charset="-122"/>
                <a:cs typeface="Calibri" pitchFamily="34" charset="-120"/>
              </a:rPr>
              <a:t> dla </a:t>
            </a:r>
            <a:r>
              <a:rPr lang="en-US" sz="1600" spc="-60" dirty="0" smtClean="0">
                <a:solidFill>
                  <a:srgbClr val="0D1B2A"/>
                </a:solidFill>
                <a:latin typeface="Calibri" pitchFamily="34" charset="0"/>
                <a:ea typeface="Calibri" pitchFamily="34" charset="-122"/>
                <a:cs typeface="Calibri" pitchFamily="34" charset="-120"/>
              </a:rPr>
              <a:t>humanoid</a:t>
            </a:r>
            <a:r>
              <a:rPr lang="pl-PL" sz="1600" spc="-60" dirty="0" smtClean="0">
                <a:solidFill>
                  <a:srgbClr val="0D1B2A"/>
                </a:solidFill>
                <a:latin typeface="Calibri" pitchFamily="34" charset="0"/>
                <a:ea typeface="Calibri" pitchFamily="34" charset="-122"/>
                <a:cs typeface="Calibri" pitchFamily="34" charset="-120"/>
              </a:rPr>
              <a:t>a</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smtClean="0">
                <a:solidFill>
                  <a:srgbClr val="0D1B2A"/>
                </a:solidFill>
                <a:latin typeface="Calibri" pitchFamily="34" charset="0"/>
                <a:ea typeface="Calibri" pitchFamily="34" charset="-122"/>
                <a:cs typeface="Calibri" pitchFamily="34" charset="-120"/>
              </a:rPr>
              <a:t>patroluj</a:t>
            </a:r>
            <a:r>
              <a:rPr lang="pl-PL" sz="1600" spc="-60" dirty="0" err="1" smtClean="0">
                <a:solidFill>
                  <a:srgbClr val="0D1B2A"/>
                </a:solidFill>
                <a:latin typeface="Calibri" pitchFamily="34" charset="0"/>
                <a:ea typeface="Calibri" pitchFamily="34" charset="-122"/>
                <a:cs typeface="Calibri" pitchFamily="34" charset="-120"/>
              </a:rPr>
              <a:t>acego</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budynek</a:t>
            </a:r>
            <a:r>
              <a:rPr lang="en-US" sz="1600" spc="-60" dirty="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przez</a:t>
            </a:r>
            <a:r>
              <a:rPr lang="en-US" sz="1600" spc="-60" dirty="0">
                <a:solidFill>
                  <a:srgbClr val="0D1B2A"/>
                </a:solidFill>
                <a:latin typeface="Calibri" pitchFamily="34" charset="0"/>
                <a:ea typeface="Calibri" pitchFamily="34" charset="-122"/>
                <a:cs typeface="Calibri" pitchFamily="34" charset="-120"/>
              </a:rPr>
              <a:t> 30 </a:t>
            </a:r>
            <a:r>
              <a:rPr lang="en-US" sz="1600" spc="-60" dirty="0" smtClean="0">
                <a:solidFill>
                  <a:srgbClr val="0D1B2A"/>
                </a:solidFill>
                <a:latin typeface="Calibri" pitchFamily="34" charset="0"/>
                <a:ea typeface="Calibri" pitchFamily="34" charset="-122"/>
                <a:cs typeface="Calibri" pitchFamily="34" charset="-120"/>
              </a:rPr>
              <a:t>min</a:t>
            </a:r>
            <a:r>
              <a:rPr lang="pl-PL" sz="1600" spc="-60" dirty="0" smtClean="0">
                <a:solidFill>
                  <a:srgbClr val="0D1B2A"/>
                </a:solidFill>
                <a:latin typeface="Calibri" pitchFamily="34" charset="0"/>
                <a:ea typeface="Calibri" pitchFamily="34" charset="-122"/>
                <a:cs typeface="Calibri" pitchFamily="34" charset="-120"/>
              </a:rPr>
              <a:t>,</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aby błąd pozycji nie </a:t>
            </a:r>
            <a:r>
              <a:rPr lang="en-US" sz="1600" spc="-60" dirty="0" err="1">
                <a:solidFill>
                  <a:srgbClr val="0D1B2A"/>
                </a:solidFill>
                <a:latin typeface="Calibri" pitchFamily="34" charset="0"/>
                <a:ea typeface="Calibri" pitchFamily="34" charset="-122"/>
                <a:cs typeface="Calibri" pitchFamily="34" charset="-120"/>
              </a:rPr>
              <a:t>przekroczył</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0,3m</a:t>
            </a:r>
            <a:r>
              <a:rPr lang="en-US" sz="1600" spc="-60" dirty="0">
                <a:solidFill>
                  <a:srgbClr val="0D1B2A"/>
                </a:solidFill>
                <a:latin typeface="Calibri" pitchFamily="34" charset="0"/>
                <a:ea typeface="Calibri" pitchFamily="34" charset="-122"/>
                <a:cs typeface="Calibri" pitchFamily="34" charset="-120"/>
              </a:rPr>
              <a:t>. Jakie jest minimalne wymaganie na częstotliwość domknięcia pętli?</a:t>
            </a:r>
            <a:endParaRPr lang="en-US" sz="1600" spc="-60" dirty="0"/>
          </a:p>
          <a:p>
            <a:pPr>
              <a:spcAft>
                <a:spcPts val="900"/>
              </a:spcAft>
              <a:buSzPct val="100000"/>
            </a:pPr>
            <a:endParaRPr lang="pl-PL" sz="1050" b="1" dirty="0" smtClean="0">
              <a:solidFill>
                <a:srgbClr val="0D1B2A"/>
              </a:solidFill>
              <a:latin typeface="Calibri" pitchFamily="34" charset="0"/>
              <a:ea typeface="Calibri" pitchFamily="34" charset="-122"/>
              <a:cs typeface="Calibri" pitchFamily="34" charset="-120"/>
            </a:endParaRPr>
          </a:p>
          <a:p>
            <a:pPr>
              <a:spcAft>
                <a:spcPts val="600"/>
              </a:spcAft>
              <a:buSzPct val="100000"/>
            </a:pPr>
            <a:r>
              <a:rPr lang="en-US" sz="1600" b="1" dirty="0" err="1" smtClean="0">
                <a:solidFill>
                  <a:srgbClr val="0D1B2A"/>
                </a:solidFill>
                <a:latin typeface="Calibri" pitchFamily="34" charset="0"/>
                <a:ea typeface="Calibri" pitchFamily="34" charset="-122"/>
                <a:cs typeface="Calibri" pitchFamily="34" charset="-120"/>
              </a:rPr>
              <a:t>Zadanie</a:t>
            </a:r>
            <a:r>
              <a:rPr lang="en-US" sz="1600" dirty="0" smtClean="0">
                <a:solidFill>
                  <a:srgbClr val="0D1B2A"/>
                </a:solidFill>
                <a:latin typeface="Calibri" pitchFamily="34" charset="0"/>
                <a:ea typeface="Calibri" pitchFamily="34" charset="-122"/>
                <a:cs typeface="Calibri" pitchFamily="34" charset="-120"/>
              </a:rPr>
              <a:t> </a:t>
            </a:r>
            <a:endParaRPr lang="pl-PL" sz="1600" dirty="0" smtClean="0">
              <a:solidFill>
                <a:srgbClr val="0D1B2A"/>
              </a:solidFill>
              <a:latin typeface="Calibri" pitchFamily="34" charset="0"/>
              <a:ea typeface="Calibri" pitchFamily="34" charset="-122"/>
              <a:cs typeface="Calibri" pitchFamily="34" charset="-120"/>
            </a:endParaRPr>
          </a:p>
          <a:p>
            <a:pPr>
              <a:spcAft>
                <a:spcPts val="900"/>
              </a:spcAft>
              <a:buSzPct val="100000"/>
            </a:pPr>
            <a:r>
              <a:rPr lang="pl-PL" sz="1600" dirty="0" smtClean="0">
                <a:solidFill>
                  <a:srgbClr val="0D1B2A"/>
                </a:solidFill>
                <a:latin typeface="Calibri" pitchFamily="34" charset="0"/>
                <a:ea typeface="Calibri" pitchFamily="34" charset="-122"/>
                <a:cs typeface="Calibri" pitchFamily="34" charset="-120"/>
              </a:rPr>
              <a:t>Z</a:t>
            </a:r>
            <a:r>
              <a:rPr lang="en-US" sz="1600" dirty="0" err="1" smtClean="0">
                <a:solidFill>
                  <a:srgbClr val="0D1B2A"/>
                </a:solidFill>
                <a:latin typeface="Calibri" pitchFamily="34" charset="0"/>
                <a:ea typeface="Calibri" pitchFamily="34" charset="-122"/>
                <a:cs typeface="Calibri" pitchFamily="34" charset="-120"/>
              </a:rPr>
              <a:t>aimplementuj</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StepOdometry z Sekcji 1 i porównaj dryft z i bez korekty z EKF przy symulowanym szumie yaw = 0,02 rad/krok.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7295</Words>
  <Application>Microsoft Office PowerPoint</Application>
  <PresentationFormat>Pokaz na ekranie (16:9)</PresentationFormat>
  <Paragraphs>473</Paragraphs>
  <Slides>32</Slides>
  <Notes>32</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32</vt:i4>
      </vt:variant>
    </vt:vector>
  </HeadingPairs>
  <TitlesOfParts>
    <vt:vector size="37" baseType="lpstr">
      <vt:lpstr>Arial</vt:lpstr>
      <vt:lpstr>Calibri</vt:lpstr>
      <vt:lpstr>Consolas</vt:lpstr>
      <vt:lpstr>Trebuchet MS</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Wykład 2 – Lokalizacja, odometria i fuzja sensoryczna</dc:title>
  <dc:subject>Nawigacja robotyczna</dc:subject>
  <dc:creator>Politechnika – Katedra Robotyki</dc:creator>
  <cp:lastModifiedBy>Mateusz Pomianek</cp:lastModifiedBy>
  <cp:revision>149</cp:revision>
  <dcterms:created xsi:type="dcterms:W3CDTF">2026-04-13T11:35:45Z</dcterms:created>
  <dcterms:modified xsi:type="dcterms:W3CDTF">2026-04-29T14:54:05Z</dcterms:modified>
</cp:coreProperties>
</file>