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EB5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84390" autoAdjust="0"/>
  </p:normalViewPr>
  <p:slideViewPr>
    <p:cSldViewPr snapToGrid="0" snapToObjects="1">
      <p:cViewPr varScale="1">
        <p:scale>
          <a:sx n="127" d="100"/>
          <a:sy n="127" d="100"/>
        </p:scale>
        <p:origin x="1164" y="11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14536552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dirty="0" smtClean="0"/>
              <a:t>Przechodzimy do drugiego wykładu. Tym razem skupimy się na lokalizacji, </a:t>
            </a:r>
            <a:r>
              <a:rPr lang="pl-PL" dirty="0" err="1" smtClean="0"/>
              <a:t>odometrii</a:t>
            </a:r>
            <a:r>
              <a:rPr lang="pl-PL" dirty="0" smtClean="0"/>
              <a:t> i fuzji sensorycznej, czyli na tym, w jaki sposób robot estymuje własny stan i jak łączy różne źródła informacji, żeby nie zgubić się podczas ruchu.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dirty="0" smtClean="0"/>
              <a:t>Plan tego wykładu obejmuje trzy główne bloki. Najpierw omówimy estymację stanu, </a:t>
            </a:r>
            <a:r>
              <a:rPr lang="pl-PL" dirty="0" err="1" smtClean="0"/>
              <a:t>odometrię</a:t>
            </a:r>
            <a:r>
              <a:rPr lang="pl-PL" dirty="0" smtClean="0"/>
              <a:t> </a:t>
            </a:r>
            <a:r>
              <a:rPr lang="pl-PL" dirty="0" err="1" smtClean="0"/>
              <a:t>humanoida</a:t>
            </a:r>
            <a:r>
              <a:rPr lang="pl-PL" dirty="0" smtClean="0"/>
              <a:t>, dryft, </a:t>
            </a:r>
            <a:r>
              <a:rPr lang="pl-PL" dirty="0" err="1" smtClean="0"/>
              <a:t>dead</a:t>
            </a:r>
            <a:r>
              <a:rPr lang="pl-PL" dirty="0" smtClean="0"/>
              <a:t> </a:t>
            </a:r>
            <a:r>
              <a:rPr lang="pl-PL" dirty="0" err="1" smtClean="0"/>
              <a:t>reckoning</a:t>
            </a:r>
            <a:r>
              <a:rPr lang="pl-PL" dirty="0" smtClean="0"/>
              <a:t> i układy transformacji. Następnie przejdziemy do filtrów estymacyjnych, takich jak filtr komplementarny, EKF, UKF i filtr cząsteczkowy, oraz do fuzji IMU, </a:t>
            </a:r>
            <a:r>
              <a:rPr lang="pl-PL" dirty="0" err="1" smtClean="0"/>
              <a:t>enkoderów</a:t>
            </a:r>
            <a:r>
              <a:rPr lang="pl-PL" dirty="0" smtClean="0"/>
              <a:t> i wzroku. Na końcu zajmiemy się lokalizacją globalną i SLAM-em, w tym </a:t>
            </a:r>
            <a:r>
              <a:rPr lang="pl-PL" dirty="0" err="1" smtClean="0"/>
              <a:t>pose</a:t>
            </a:r>
            <a:r>
              <a:rPr lang="pl-PL" dirty="0" smtClean="0"/>
              <a:t> </a:t>
            </a:r>
            <a:r>
              <a:rPr lang="pl-PL" dirty="0" err="1" smtClean="0"/>
              <a:t>graphem</a:t>
            </a:r>
            <a:r>
              <a:rPr lang="pl-PL" dirty="0" smtClean="0"/>
              <a:t>, domykaniem pętli i doborem metody do zadania.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dirty="0" smtClean="0"/>
              <a:t>Zaczynamy od estymacji stanu robota. To jest fundament całej lokalizacji, bo zanim robot zacznie cokolwiek planować, musi w sensowny sposób odpowiedzieć sobie na pytanie: gdzie jestem i w jakim stanie dynamicznym się znajduję.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dirty="0" smtClean="0"/>
              <a:t>Stan robota humanoidalnego jest wielowymiarowy. Obejmuje pozycję i orientację w przestrzeni 3D, prędkości liniowe i kątowe, konfigurację stawów, stan kontaktu obu stóp, położenie środka masy oraz niepewność estymacji opisaną macierzą kowariancji. To bardzo ważne: w praktyce nie estymujemy tylko samej pozycji, ale cały pakiet zmiennych potrzebnych do stabilnego sterowania i wiarygodnego planowania.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dirty="0" smtClean="0"/>
              <a:t>Odometria </a:t>
            </a:r>
            <a:r>
              <a:rPr lang="pl-PL" dirty="0" err="1" smtClean="0"/>
              <a:t>humanoida</a:t>
            </a:r>
            <a:r>
              <a:rPr lang="pl-PL" dirty="0" smtClean="0"/>
              <a:t> jest trudniejsza niż </a:t>
            </a:r>
            <a:r>
              <a:rPr lang="pl-PL" dirty="0" err="1" smtClean="0"/>
              <a:t>odometria</a:t>
            </a:r>
            <a:r>
              <a:rPr lang="pl-PL" dirty="0" smtClean="0"/>
              <a:t> platformy kołowej. W robocie kołowym liczymy impulsy </a:t>
            </a:r>
            <a:r>
              <a:rPr lang="pl-PL" dirty="0" err="1" smtClean="0"/>
              <a:t>enkoderów</a:t>
            </a:r>
            <a:r>
              <a:rPr lang="pl-PL" dirty="0" smtClean="0"/>
              <a:t> i stosujemy proste równania kinematyczne. W </a:t>
            </a:r>
            <a:r>
              <a:rPr lang="pl-PL" dirty="0" err="1" smtClean="0"/>
              <a:t>humanoidzie</a:t>
            </a:r>
            <a:r>
              <a:rPr lang="pl-PL" dirty="0" smtClean="0"/>
              <a:t> musimy integrować kroki, IMU i kontakty stóp. Dryft wynika nie tylko z poślizgu, ale też z asymetrii kroków, wibracji tułowia i ugięć struktury. Dlatego </a:t>
            </a:r>
            <a:r>
              <a:rPr lang="pl-PL" dirty="0" err="1" smtClean="0"/>
              <a:t>odometria</a:t>
            </a:r>
            <a:r>
              <a:rPr lang="pl-PL" dirty="0" smtClean="0"/>
              <a:t> </a:t>
            </a:r>
            <a:r>
              <a:rPr lang="pl-PL" dirty="0" err="1" smtClean="0"/>
              <a:t>humanoida</a:t>
            </a:r>
            <a:r>
              <a:rPr lang="pl-PL" dirty="0" smtClean="0"/>
              <a:t> niemal zawsze wymaga korekcji zewnętrznej, na przykład przez wizję albo </a:t>
            </a:r>
            <a:r>
              <a:rPr lang="pl-PL" dirty="0" err="1" smtClean="0"/>
              <a:t>LiDAR</a:t>
            </a:r>
            <a:r>
              <a:rPr lang="pl-PL" dirty="0" smtClean="0"/>
              <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dirty="0" smtClean="0"/>
              <a:t>Główne źródła błędów estymacji to kumulacja szumu przy całkowaniu, poślizg stopy, błędy kalibracji, szum żyroskopu, opóźnienia transmisji i uproszczenia modelu kinematycznego. Dochodzi też wpływ środowiska, na przykład miękkiej nawierzchni albo rampy, których model nie uwzględnia. Wszystkie te zjawiska powodują, że błąd lokalizacji narasta z czasem i bez korekty zewnętrznej nie da się go zatrzymać.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dirty="0" smtClean="0"/>
              <a:t>Dead </a:t>
            </a:r>
            <a:r>
              <a:rPr lang="pl-PL" dirty="0" err="1" smtClean="0"/>
              <a:t>reckoning</a:t>
            </a:r>
            <a:r>
              <a:rPr lang="pl-PL" dirty="0" smtClean="0"/>
              <a:t> to estymacja pozycji wyłącznie na podstawie modelu ruchu i pomiarów wewnętrznych, takich jak IMU i </a:t>
            </a:r>
            <a:r>
              <a:rPr lang="pl-PL" dirty="0" err="1" smtClean="0"/>
              <a:t>enkodery</a:t>
            </a:r>
            <a:r>
              <a:rPr lang="pl-PL" dirty="0" smtClean="0"/>
              <a:t>. W krótkim horyzoncie działa zaskakująco dobrze i bywa użyteczne jako rozwiązanie awaryjne. Problem polega na tym, że błąd rośnie wraz z czasem, szczególnie przez dryft orientacji. Po kilkudziesięciu sekundach marszu odchylenie pozycji może być już bardzo duże. Dlatego </a:t>
            </a:r>
            <a:r>
              <a:rPr lang="pl-PL" dirty="0" err="1" smtClean="0"/>
              <a:t>dead</a:t>
            </a:r>
            <a:r>
              <a:rPr lang="pl-PL" dirty="0" smtClean="0"/>
              <a:t> </a:t>
            </a:r>
            <a:r>
              <a:rPr lang="pl-PL" dirty="0" err="1" smtClean="0"/>
              <a:t>reckoning</a:t>
            </a:r>
            <a:r>
              <a:rPr lang="pl-PL" dirty="0" smtClean="0"/>
              <a:t> samo w sobie nie wystarcza i musi być wspierane przez zewnętrzne punkty odniesienia, SLAM albo znaczniki.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dirty="0" smtClean="0"/>
              <a:t>W systemie lokalizacji kluczowe są trzy ramki: map, odom i </a:t>
            </a:r>
            <a:r>
              <a:rPr lang="pl-PL" dirty="0" err="1" smtClean="0"/>
              <a:t>base</a:t>
            </a:r>
            <a:r>
              <a:rPr lang="pl-PL" dirty="0" smtClean="0"/>
              <a:t>. Ramka map jest związana z mapą SLAM i może być korygowana skokowo przy domknięciu pętli. Ramka odom jest ciągła, ale dryfuje. Ramka </a:t>
            </a:r>
            <a:r>
              <a:rPr lang="pl-PL" dirty="0" err="1" smtClean="0"/>
              <a:t>base</a:t>
            </a:r>
            <a:r>
              <a:rPr lang="pl-PL" dirty="0" smtClean="0"/>
              <a:t> opisuje aktualne położenie bazy robota. Relacja odom do map to korekta globalna, a relacja </a:t>
            </a:r>
            <a:r>
              <a:rPr lang="pl-PL" dirty="0" err="1" smtClean="0"/>
              <a:t>base</a:t>
            </a:r>
            <a:r>
              <a:rPr lang="pl-PL" dirty="0" smtClean="0"/>
              <a:t> do odom to bieżąca </a:t>
            </a:r>
            <a:r>
              <a:rPr lang="pl-PL" dirty="0" err="1" smtClean="0"/>
              <a:t>odometria</a:t>
            </a:r>
            <a:r>
              <a:rPr lang="pl-PL" dirty="0" smtClean="0"/>
              <a:t>. W ROS-</a:t>
            </a:r>
            <a:r>
              <a:rPr lang="pl-PL" dirty="0" err="1" smtClean="0"/>
              <a:t>ie</a:t>
            </a:r>
            <a:r>
              <a:rPr lang="pl-PL" dirty="0" smtClean="0"/>
              <a:t> każda transformacja ma znacznik czasu i jest buforowana. Niespójne drzewo TF to jeden z najczęstszych praktycznych powodów awarii lokalizacji.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dirty="0" smtClean="0"/>
              <a:t>Kontakt stopy jest bardzo cennym źródłem informacji. Gdy stopa jest w fazie podparcia, może pełnić funkcję punktu odniesienia dla </a:t>
            </a:r>
            <a:r>
              <a:rPr lang="pl-PL" dirty="0" err="1" smtClean="0"/>
              <a:t>odometrii</a:t>
            </a:r>
            <a:r>
              <a:rPr lang="pl-PL" dirty="0" smtClean="0"/>
              <a:t>. Gdy jest w fazie przenoszenia, tej informacji nie mamy. Czujniki sił i momentów w stopach pozwalają wykryć kontakt przez próg siły pionowej. Na tej podstawie możemy budować kinematyczną </a:t>
            </a:r>
            <a:r>
              <a:rPr lang="pl-PL" dirty="0" err="1" smtClean="0"/>
              <a:t>odometrię</a:t>
            </a:r>
            <a:r>
              <a:rPr lang="pl-PL" dirty="0" smtClean="0"/>
              <a:t> kroków i korygować estymację bazy. W połączeniu z IMU daje to istotne ograniczenie dryftu translacji i orientacji.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dirty="0" smtClean="0"/>
              <a:t>Jakość lokalizacji oceniamy przez RMSE pozycji, błąd orientacji, dryft na minutę oraz spójność estymatora. Ta ostatnia cecha jest bardzo ważna, bo nie wystarczy mieć mały błąd. Estymator musi też poprawnie oceniać własną niepewność, a to sprawdzamy testami takimi jak NIS czy NEES.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dirty="0" smtClean="0"/>
              <a:t>Ten przykład pokazuje najprostsze całkowanie prędkości kątowej z IMU. W każdej iteracji aktualizujemy </a:t>
            </a:r>
            <a:r>
              <a:rPr lang="pl-PL" dirty="0" err="1" smtClean="0"/>
              <a:t>roll</a:t>
            </a:r>
            <a:r>
              <a:rPr lang="pl-PL" dirty="0" smtClean="0"/>
              <a:t>, </a:t>
            </a:r>
            <a:r>
              <a:rPr lang="pl-PL" dirty="0" err="1" smtClean="0"/>
              <a:t>pitch</a:t>
            </a:r>
            <a:r>
              <a:rPr lang="pl-PL" dirty="0" smtClean="0"/>
              <a:t> i </a:t>
            </a:r>
            <a:r>
              <a:rPr lang="pl-PL" dirty="0" err="1" smtClean="0"/>
              <a:t>yaw</a:t>
            </a:r>
            <a:r>
              <a:rPr lang="pl-PL" dirty="0" smtClean="0"/>
              <a:t>, dodając iloczyn prędkości kątowej i kroku czasowego. To rozwiązanie jest bardzo szybkie i bardzo proste, ale ma jedną fundamentalną wadę: bez zewnętrznej korekty orientacja będzie dryfować. Ten kod dobrze ilustruje, dlaczego sam żyroskop nie wystarcza w dłuższym horyzoncie.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dirty="0" smtClean="0"/>
              <a:t>Prosty model </a:t>
            </a:r>
            <a:r>
              <a:rPr lang="pl-PL" dirty="0" err="1" smtClean="0"/>
              <a:t>odometrii</a:t>
            </a:r>
            <a:r>
              <a:rPr lang="pl-PL" dirty="0" smtClean="0"/>
              <a:t> kroku. Każdy krok aktualizuje orientację o delta </a:t>
            </a:r>
            <a:r>
              <a:rPr lang="pl-PL" dirty="0" err="1" smtClean="0"/>
              <a:t>yaw</a:t>
            </a:r>
            <a:r>
              <a:rPr lang="pl-PL" dirty="0" smtClean="0"/>
              <a:t>, a następnie pozycję x i y o długość kroku przemnożoną przez cosinus i sinus aktualnego kąta. To planarne uproszczenie, ale dobrze pokazuje zasadę, że trajektoria </a:t>
            </a:r>
            <a:r>
              <a:rPr lang="pl-PL" dirty="0" err="1" smtClean="0"/>
              <a:t>humanoida</a:t>
            </a:r>
            <a:r>
              <a:rPr lang="pl-PL" dirty="0" smtClean="0"/>
              <a:t> może być składana z kolejnych kroków. Jednocześnie łatwo zauważyć, jak nawet mały błąd </a:t>
            </a:r>
            <a:r>
              <a:rPr lang="pl-PL" dirty="0" err="1" smtClean="0"/>
              <a:t>yaw</a:t>
            </a:r>
            <a:r>
              <a:rPr lang="pl-PL" dirty="0" smtClean="0"/>
              <a:t> będzie z każdym krokiem wypychał pozycję coraz dalej od prawdy.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dirty="0" smtClean="0"/>
              <a:t>Przechodzimy do filtrów estymacyjnych i fuzji sensorycznej. To właśnie tutaj surowe źródła informacji są zamieniane w jedną spójną </a:t>
            </a:r>
            <a:r>
              <a:rPr lang="pl-PL" dirty="0" err="1" smtClean="0"/>
              <a:t>estymatę</a:t>
            </a:r>
            <a:r>
              <a:rPr lang="pl-PL" dirty="0" smtClean="0"/>
              <a:t> stanu robota.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dirty="0" smtClean="0"/>
              <a:t>Sensory łączymy z czterech głównych powodów. Po pierwsze komplementarność, bo jeden sensor jest szybki, a drugi stabilny. Po drugie redundancja, bo awaria pojedynczego źródła nie powinna zatrzymać całej lokalizacji. Po trzecie wzajemna korekta, na przykład kamera koryguje dryft IMU, a IMU stabilizuje estymację obrazu. Po czwarte pewność statystyczna, bo połączona </a:t>
            </a:r>
            <a:r>
              <a:rPr lang="pl-PL" dirty="0" err="1" smtClean="0"/>
              <a:t>estymata</a:t>
            </a:r>
            <a:r>
              <a:rPr lang="pl-PL" dirty="0" smtClean="0"/>
              <a:t> może mieć mniejszą niepewność niż każdy sensor osobno.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dirty="0" smtClean="0"/>
              <a:t>Filtr komplementarny jest intuicyjny i bardzo użyteczny. Łączy szybki, ale dryfujący żyroskop z wolniejszym, lecz stabilnym akcelerometrem. Parametr alfa ustala proporcję zaufania do obu źródeł. Dzięki temu żyroskop śledzi szybkie zmiany, a akcelerometr powoli koryguje dryft. Zaletą jest prostota i mały koszt obliczeniowy. Wadą — brak jawnej obsługi kowariancji i ograniczona możliwość modelowania pełnej dynamiki układu.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dirty="0" smtClean="0"/>
              <a:t>W kodzie filtr komplementarny działa bardzo prosto. Najpierw wyznaczamy predykcję </a:t>
            </a:r>
            <a:r>
              <a:rPr lang="pl-PL" dirty="0" err="1" smtClean="0"/>
              <a:t>pitch</a:t>
            </a:r>
            <a:r>
              <a:rPr lang="pl-PL" dirty="0" smtClean="0"/>
              <a:t> z żyroskopu, potem niezależny pomiar kąta z akcelerometru i na końcu bierzemy ich ważoną średnią. Przy alfa około zero dziewięćdziesiąt osiem większość krótkoterminowej dynamiki bierze się z żyroskopu, a tylko niewielka domieszka pochodzi z akcelerometru, który stabilizuje wynik w dłuższym czasie.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dirty="0" smtClean="0"/>
              <a:t>Jeżeli porównamy EKF, UKF i filtr cząsteczkowy, to każdy z nich ma inny profil zastosowań. EKF jest szybki i od lat stanowi standard w robotyce mobilnej, ale opiera się na linearyzacji. UKF lepiej radzi sobie z nieliniowością, bo używa punktów sigma zamiast </a:t>
            </a:r>
            <a:r>
              <a:rPr lang="pl-PL" dirty="0" err="1" smtClean="0"/>
              <a:t>Jacobianów</a:t>
            </a:r>
            <a:r>
              <a:rPr lang="pl-PL" dirty="0" smtClean="0"/>
              <a:t>, lecz jest droższy obliczeniowo. Filtr cząsteczkowy reprezentuje rozkład przez wiele hipotez stanu i świetnie nadaje się do lokalizacji globalnej, jednak wymaga znacznie większych zasobów. Wybór filtru zawsze jest kompromisem między kosztem a jakością modelowania.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dirty="0" smtClean="0"/>
              <a:t>Filtr Kalmana pracuje w cyklu predykcja–korekcja. Najpierw model ruchu propaguje stan i kowariancję w przyszłość. Następnie przychodzi nowy pomiar obarczony szumem. Z różnicy między pomiarem a przewidywaniem powstaje innowacja. Potem liczymy wzmocnienie Kalmana, które określa, jak bardzo zaufać modelowi, a jak bardzo sensorowi. Na końcu aktualizujemy stan i kowariancję. To jest centralny mechanizm nowoczesnej fuzji sensorycznej.</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dirty="0" smtClean="0"/>
              <a:t>Ten kod pokazuje uproszczony EKF dla pozycji 2D. W kroku </a:t>
            </a:r>
            <a:r>
              <a:rPr lang="pl-PL" dirty="0" err="1" smtClean="0"/>
              <a:t>predict</a:t>
            </a:r>
            <a:r>
              <a:rPr lang="pl-PL" dirty="0" smtClean="0"/>
              <a:t> model jednośladowy aktualizuje stan x, y i </a:t>
            </a:r>
            <a:r>
              <a:rPr lang="pl-PL" dirty="0" err="1" smtClean="0"/>
              <a:t>yaw</a:t>
            </a:r>
            <a:r>
              <a:rPr lang="pl-PL" dirty="0" smtClean="0"/>
              <a:t> na podstawie prędkości liniowej oraz kątowej, a macierz F linearyzuje wpływ </a:t>
            </a:r>
            <a:r>
              <a:rPr lang="pl-PL" dirty="0" err="1" smtClean="0"/>
              <a:t>yaw</a:t>
            </a:r>
            <a:r>
              <a:rPr lang="pl-PL" dirty="0" smtClean="0"/>
              <a:t> na ruch. W kroku </a:t>
            </a:r>
            <a:r>
              <a:rPr lang="pl-PL" dirty="0" err="1" smtClean="0"/>
              <a:t>correct</a:t>
            </a:r>
            <a:r>
              <a:rPr lang="pl-PL" dirty="0" smtClean="0"/>
              <a:t> używamy pomiaru pozycji, na przykład z GPS albo znacznika, aby skorygować przewidywanie. Właśnie tak w praktyce łączy się model ruchu z informacją pomiarową.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dirty="0" smtClean="0"/>
              <a:t>W pełnym systemie </a:t>
            </a:r>
            <a:r>
              <a:rPr lang="pl-PL" dirty="0" err="1" smtClean="0"/>
              <a:t>humanoida</a:t>
            </a:r>
            <a:r>
              <a:rPr lang="pl-PL" dirty="0" smtClean="0"/>
              <a:t> typowa architektura wygląda tak: IMU pracuje bardzo szybko i służy do predykcji stanu, </a:t>
            </a:r>
            <a:r>
              <a:rPr lang="pl-PL" dirty="0" err="1" smtClean="0"/>
              <a:t>enkodery</a:t>
            </a:r>
            <a:r>
              <a:rPr lang="pl-PL" dirty="0" smtClean="0"/>
              <a:t> wraz z kontaktami stóp korygują translację przez </a:t>
            </a:r>
            <a:r>
              <a:rPr lang="pl-PL" dirty="0" err="1" smtClean="0"/>
              <a:t>odometrię</a:t>
            </a:r>
            <a:r>
              <a:rPr lang="pl-PL" dirty="0" smtClean="0"/>
              <a:t> kroków, a kamera albo </a:t>
            </a:r>
            <a:r>
              <a:rPr lang="pl-PL" dirty="0" err="1" smtClean="0"/>
              <a:t>LiDAR</a:t>
            </a:r>
            <a:r>
              <a:rPr lang="pl-PL" dirty="0" smtClean="0"/>
              <a:t> dostarczają rzadszych, ale absolutnie kluczowych obserwacji pozycyjnych, które kasują skumulowany dryft. Można to spiąć architekturą </a:t>
            </a:r>
            <a:r>
              <a:rPr lang="pl-PL" dirty="0" err="1" smtClean="0"/>
              <a:t>loosely</a:t>
            </a:r>
            <a:r>
              <a:rPr lang="pl-PL" dirty="0" smtClean="0"/>
              <a:t> </a:t>
            </a:r>
            <a:r>
              <a:rPr lang="pl-PL" dirty="0" err="1" smtClean="0"/>
              <a:t>coupled</a:t>
            </a:r>
            <a:r>
              <a:rPr lang="pl-PL" dirty="0" smtClean="0"/>
              <a:t>, gdzie źródła dają osobne </a:t>
            </a:r>
            <a:r>
              <a:rPr lang="pl-PL" dirty="0" err="1" smtClean="0"/>
              <a:t>estymaty</a:t>
            </a:r>
            <a:r>
              <a:rPr lang="pl-PL" dirty="0" smtClean="0"/>
              <a:t>, albo </a:t>
            </a:r>
            <a:r>
              <a:rPr lang="pl-PL" dirty="0" err="1" smtClean="0"/>
              <a:t>tightly</a:t>
            </a:r>
            <a:r>
              <a:rPr lang="pl-PL" dirty="0" smtClean="0"/>
              <a:t> </a:t>
            </a:r>
            <a:r>
              <a:rPr lang="pl-PL" dirty="0" err="1" smtClean="0"/>
              <a:t>coupled</a:t>
            </a:r>
            <a:r>
              <a:rPr lang="pl-PL" dirty="0" smtClean="0"/>
              <a:t>, gdzie do jednego filtru trafiają surowe pomiary. Przy tym trzeba jeszcze uwzględnić opóźnienia i </a:t>
            </a:r>
            <a:r>
              <a:rPr lang="pl-PL" dirty="0" err="1" smtClean="0"/>
              <a:t>biasy</a:t>
            </a:r>
            <a:r>
              <a:rPr lang="pl-PL" dirty="0" smtClean="0"/>
              <a:t> IMU.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dirty="0" smtClean="0"/>
              <a:t>Dobry system lokalizacji musi również wykrywać awarie sensorów. Robi się to między innymi przez analizę innowacji. Jeśli różnica między pomiarem a przewidywaniem staje się statystycznie zbyt duża, uznajemy sensor za niewiarygodny. Wtedy system przechodzi w tryb degradacji, na przykład jedzie bez kamery albo wyłącza </a:t>
            </a:r>
            <a:r>
              <a:rPr lang="pl-PL" dirty="0" err="1" smtClean="0"/>
              <a:t>odometrię</a:t>
            </a:r>
            <a:r>
              <a:rPr lang="pl-PL" dirty="0" smtClean="0"/>
              <a:t> jednej stopy. Jednocześnie rośnie niepewność estymacji, co powinno znaleźć odbicie w macierzach Q i P.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dirty="0" smtClean="0"/>
              <a:t>Przechodzimy do lokalizacji globalnej i SLAM-u. Teraz interesuje nas już nie tylko śledzenie ruchu lokalnie, ale również odnajdywanie się w znanym lub jednocześnie budowanym środowisku.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dirty="0" smtClean="0"/>
              <a:t>Lokalizacja względem znanej mapy polega na znalezieniu pozycji robota w już istniejącym modelu środowiska. Można to robić filtrem cząsteczkowym AMCL z obserwacjami </a:t>
            </a:r>
            <a:r>
              <a:rPr lang="pl-PL" dirty="0" err="1" smtClean="0"/>
              <a:t>LiDAR</a:t>
            </a:r>
            <a:r>
              <a:rPr lang="pl-PL" dirty="0" smtClean="0"/>
              <a:t>, dopasowaniem skanu 2D do mapy zajętości, ICP dla chmur 3D albo filtrem histogramowym. Warunkiem sukcesu jest aktualna mapa i środowisko z wystarczająco charakterystycznymi elementami. Jeśli robot zostanie przeniesiony w nieznane miejsce, pojawia się problem </a:t>
            </a:r>
            <a:r>
              <a:rPr lang="pl-PL" dirty="0" err="1" smtClean="0"/>
              <a:t>kidnapped</a:t>
            </a:r>
            <a:r>
              <a:rPr lang="pl-PL" dirty="0" smtClean="0"/>
              <a:t> robot i wtedy potrzebna jest inicjalizacja globalna.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dirty="0" smtClean="0"/>
              <a:t>ICP, czyli </a:t>
            </a:r>
            <a:r>
              <a:rPr lang="pl-PL" dirty="0" err="1" smtClean="0"/>
              <a:t>Iterative</a:t>
            </a:r>
            <a:r>
              <a:rPr lang="pl-PL" dirty="0" smtClean="0"/>
              <a:t> </a:t>
            </a:r>
            <a:r>
              <a:rPr lang="pl-PL" dirty="0" err="1" smtClean="0"/>
              <a:t>Closest</a:t>
            </a:r>
            <a:r>
              <a:rPr lang="pl-PL" dirty="0" smtClean="0"/>
              <a:t> Point, służy do znajdowania transformacji między dwiema chmurami punktów. Najpierw wyznaczamy korespondencje, potem obliczamy transformację minimalizującą błąd, aktualizujemy położenie i iterujemy do zbieżności. Metoda jest bardzo ważna, ale ma też swoje ograniczenia: bywa wolna i jest czuła na punkt startowy. Dlatego w praktyce stosuje się też warianty takie jak point-to-</a:t>
            </a:r>
            <a:r>
              <a:rPr lang="pl-PL" dirty="0" err="1" smtClean="0"/>
              <a:t>plane</a:t>
            </a:r>
            <a:r>
              <a:rPr lang="pl-PL" dirty="0" smtClean="0"/>
              <a:t> ICP albo GICP.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dirty="0" smtClean="0"/>
              <a:t>Odometria wizyjna może być </a:t>
            </a:r>
            <a:r>
              <a:rPr lang="pl-PL" dirty="0" err="1" smtClean="0"/>
              <a:t>monokularna</a:t>
            </a:r>
            <a:r>
              <a:rPr lang="pl-PL" dirty="0" smtClean="0"/>
              <a:t> albo stereofoniczna, ewentualnie RGB-D. W wersji </a:t>
            </a:r>
            <a:r>
              <a:rPr lang="pl-PL" dirty="0" err="1" smtClean="0"/>
              <a:t>monokularnej</a:t>
            </a:r>
            <a:r>
              <a:rPr lang="pl-PL" dirty="0" smtClean="0"/>
              <a:t> śledzimy cechy między klatkami i odzyskujemy ruch kamery, ale tracimy metryczną skalę. W stereo albo RGB-D skala jest bezpośrednio dostępna, więc dryft jest zwykle mniejszy. To właśnie dlatego systemy </a:t>
            </a:r>
            <a:r>
              <a:rPr lang="pl-PL" dirty="0" err="1" smtClean="0"/>
              <a:t>visual-inertial</a:t>
            </a:r>
            <a:r>
              <a:rPr lang="pl-PL" dirty="0" smtClean="0"/>
              <a:t> </a:t>
            </a:r>
            <a:r>
              <a:rPr lang="pl-PL" dirty="0" err="1" smtClean="0"/>
              <a:t>odometry</a:t>
            </a:r>
            <a:r>
              <a:rPr lang="pl-PL" dirty="0" smtClean="0"/>
              <a:t> tak często opierają się na stereo lub głębi, szczególnie wtedy, gdy zależy nam na stabilnej estymacji metrycznej.</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dirty="0" smtClean="0"/>
              <a:t>SLAM to jednoczesna lokalizacja i mapowanie. Jest to problem sprzężony, bo dobra mapa wymaga dobrej lokalizacji, a dobra lokalizacja wymaga dobrej mapy. W wersji online system estymuje bieżącą pozycję i buduje mapę w czasie rzeczywistym. W wersji </a:t>
            </a:r>
            <a:r>
              <a:rPr lang="pl-PL" dirty="0" err="1" smtClean="0"/>
              <a:t>full</a:t>
            </a:r>
            <a:r>
              <a:rPr lang="pl-PL" dirty="0" smtClean="0"/>
              <a:t> SLAM optymalizujemy całą trajektorię i mapę również po zakończeniu przejazdu. Możemy robić to na danych z </a:t>
            </a:r>
            <a:r>
              <a:rPr lang="pl-PL" dirty="0" err="1" smtClean="0"/>
              <a:t>LiDAR</a:t>
            </a:r>
            <a:r>
              <a:rPr lang="pl-PL" dirty="0" smtClean="0"/>
              <a:t>-u albo kamery, a wynik trafia potem do planisty globalnego. Bez domknięcia pętli błąd rośnie wraz z odległością i może stać się bardzo duży.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dirty="0" err="1" smtClean="0"/>
              <a:t>Pose</a:t>
            </a:r>
            <a:r>
              <a:rPr lang="pl-PL" dirty="0" smtClean="0"/>
              <a:t> </a:t>
            </a:r>
            <a:r>
              <a:rPr lang="pl-PL" dirty="0" err="1" smtClean="0"/>
              <a:t>Graph</a:t>
            </a:r>
            <a:r>
              <a:rPr lang="pl-PL" dirty="0" smtClean="0"/>
              <a:t> SLAM ujmuje problem w formie grafu. Węzły reprezentują kolejne pozy robota, a krawędzie relacje między nimi: </a:t>
            </a:r>
            <a:r>
              <a:rPr lang="pl-PL" dirty="0" err="1" smtClean="0"/>
              <a:t>odometrię</a:t>
            </a:r>
            <a:r>
              <a:rPr lang="pl-PL" dirty="0" smtClean="0"/>
              <a:t>, dopasowanie ICP albo ograniczenia z wizji. Każda krawędź niesie też informację o niepewności. Optymalizacja grafu polega na minimalizacji sumy błędów wszystkich ograniczeń. Gdy wykryjemy powrót do wcześniej odwiedzonego miejsca, dodajemy nową krawędź i globalnie korygujemy cały przebieg trajektorii.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dirty="0" smtClean="0"/>
              <a:t>Domykanie pętli składa się z dwóch etapów. Najpierw trzeba wykryć, że wróciliśmy do znanego miejsca, na przykład przez </a:t>
            </a:r>
            <a:r>
              <a:rPr lang="pl-PL" dirty="0" err="1" smtClean="0"/>
              <a:t>bag</a:t>
            </a:r>
            <a:r>
              <a:rPr lang="pl-PL" dirty="0" smtClean="0"/>
              <a:t> of </a:t>
            </a:r>
            <a:r>
              <a:rPr lang="pl-PL" dirty="0" err="1" smtClean="0"/>
              <a:t>words</a:t>
            </a:r>
            <a:r>
              <a:rPr lang="pl-PL" dirty="0" smtClean="0"/>
              <a:t>, </a:t>
            </a:r>
            <a:r>
              <a:rPr lang="pl-PL" dirty="0" err="1" smtClean="0"/>
              <a:t>scan</a:t>
            </a:r>
            <a:r>
              <a:rPr lang="pl-PL" dirty="0" smtClean="0"/>
              <a:t> </a:t>
            </a:r>
            <a:r>
              <a:rPr lang="pl-PL" dirty="0" err="1" smtClean="0"/>
              <a:t>matching</a:t>
            </a:r>
            <a:r>
              <a:rPr lang="pl-PL" dirty="0" smtClean="0"/>
              <a:t> albo dopasowanie deskryptorów cech. Potem trzeba to jeszcze zweryfikować geometrycznie, często przez RANSAC. Jeśli wynik jest wiarygodny, dodajemy mocne ograniczenie do grafu i uruchamiamy optymalizację. Efekt jest taki, że skumulowany dryft rozkłada się po całej pętli, a mapa staje się globalnie spójna.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dirty="0" smtClean="0"/>
              <a:t>Tutaj widzą Państwo prostą korektę pozycji po detekcji znacznika. Zakładamy, że pozycja znacznika jest znana, porównujemy pomiar z przewidywaniem, obliczamy innowację, wzmocnienie Kalmana i aktualizujemy stan oraz kowariancję. To klasyczny przykład tego, jak pojedyncza, ale wiarygodna obserwacja zewnętrzna może wyzerować sporą część dryftu narosłego w </a:t>
            </a:r>
            <a:r>
              <a:rPr lang="pl-PL" dirty="0" err="1" smtClean="0"/>
              <a:t>odometrii</a:t>
            </a:r>
            <a:r>
              <a:rPr lang="pl-PL" dirty="0" smtClean="0"/>
              <a: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dirty="0" smtClean="0"/>
              <a:t>Dobór metody lokalizacji zależy od zadania. W laboratorium zwykle wystarcza AMCL z </a:t>
            </a:r>
            <a:r>
              <a:rPr lang="pl-PL" dirty="0" err="1" smtClean="0"/>
              <a:t>LiDAR</a:t>
            </a:r>
            <a:r>
              <a:rPr lang="pl-PL" dirty="0" smtClean="0"/>
              <a:t>-em 2D. W biurze, gdzie środowisko się zmienia, lepiej sprawdza się SLAM online z dodatkowym wsparciem. W magazynie przydaje się </a:t>
            </a:r>
            <a:r>
              <a:rPr lang="pl-PL" dirty="0" err="1" smtClean="0"/>
              <a:t>visual</a:t>
            </a:r>
            <a:r>
              <a:rPr lang="pl-PL" dirty="0" smtClean="0"/>
              <a:t> SLAM i znaczniki na regałach. Na schodach potrzebujemy już 3D </a:t>
            </a:r>
            <a:r>
              <a:rPr lang="pl-PL" dirty="0" err="1" smtClean="0"/>
              <a:t>LiDAR</a:t>
            </a:r>
            <a:r>
              <a:rPr lang="pl-PL" dirty="0" smtClean="0"/>
              <a:t> SLAM albo RGB-D SLAM wraz z aktywną </a:t>
            </a:r>
            <a:r>
              <a:rPr lang="pl-PL" dirty="0" err="1" smtClean="0"/>
              <a:t>height</a:t>
            </a:r>
            <a:r>
              <a:rPr lang="pl-PL" dirty="0" smtClean="0"/>
              <a:t> mapą. W dynamicznym otoczeniu trzeba odrzucać ruchome obiekty, a na zewnątrz połączyć GPS z IMU i </a:t>
            </a:r>
            <a:r>
              <a:rPr lang="pl-PL" dirty="0" err="1" smtClean="0"/>
              <a:t>LiDAR</a:t>
            </a:r>
            <a:r>
              <a:rPr lang="pl-PL" dirty="0" smtClean="0"/>
              <a:t>-em. Nie istnieje jedna uniwersalna metoda dobra do wszystkiego.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dirty="0" smtClean="0"/>
              <a:t>Podsumowując, dryft </a:t>
            </a:r>
            <a:r>
              <a:rPr lang="pl-PL" dirty="0" err="1" smtClean="0"/>
              <a:t>odometrii</a:t>
            </a:r>
            <a:r>
              <a:rPr lang="pl-PL" dirty="0" smtClean="0"/>
              <a:t> jest nieunikniony, więc potrzebujemy korekty z zewnętrznych sensorów albo ze SLAM-u. EKF i UKF pozostają podstawowymi narzędziami fuzji sensorycznej. Filtr cząsteczkowy jest bardzo silny przy wielomodalności i lokalizacji globalnej, choć droższy obliczeniowo. SLAM pozwala jednocześnie budować i korygować mapę, a domykanie pętli jest kluczowe dla eliminacji skumulowanego dryftu. Awarie sensorów wykrywamy przez analizę innowacji.</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l-PL" dirty="0" smtClean="0"/>
              <a:t>Na zakończenie proszę przemyśleć, dlaczego filtr komplementarny nie zastąpi EKF w pełnym systemie lokalizacji, jak zachowuje się wzmocnienie Kalmana przy bardzo dużym szumie pomiaru, czym jest NIS i jak wykrywa awarie sensora. Zadanie polega na implementacji </a:t>
            </a:r>
            <a:r>
              <a:rPr lang="pl-PL" dirty="0" err="1" smtClean="0"/>
              <a:t>odometrii</a:t>
            </a:r>
            <a:r>
              <a:rPr lang="pl-PL" dirty="0" smtClean="0"/>
              <a:t> kroku z pierwszej sekcji i porównaniu dryftu z oraz bez korekty EKF przy zaszumionym </a:t>
            </a:r>
            <a:r>
              <a:rPr lang="pl-PL" dirty="0" err="1" smtClean="0"/>
              <a:t>yaw</a:t>
            </a:r>
            <a:r>
              <a:rPr lang="pl-PL" dirty="0" smtClean="0"/>
              <a:t>. </a:t>
            </a:r>
            <a:r>
              <a:rPr lang="pl-PL" smtClean="0"/>
              <a:t>To bardzo dobre ćwiczenie, bo pokazuje różnicę między samą integracją a rzeczywistą fuzją sensoryczną. </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B2A"/>
        </a:solidFill>
        <a:effectLst/>
      </p:bgPr>
    </p:bg>
    <p:spTree>
      <p:nvGrpSpPr>
        <p:cNvPr id="1" name=""/>
        <p:cNvGrpSpPr/>
        <p:nvPr/>
      </p:nvGrpSpPr>
      <p:grpSpPr>
        <a:xfrm>
          <a:off x="0" y="0"/>
          <a:ext cx="0" cy="0"/>
          <a:chOff x="0" y="0"/>
          <a:chExt cx="0" cy="0"/>
        </a:xfrm>
      </p:grpSpPr>
      <p:sp>
        <p:nvSpPr>
          <p:cNvPr id="2" name="Shape 0"/>
          <p:cNvSpPr/>
          <p:nvPr/>
        </p:nvSpPr>
        <p:spPr>
          <a:xfrm>
            <a:off x="0" y="0"/>
            <a:ext cx="73152" cy="5143500"/>
          </a:xfrm>
          <a:prstGeom prst="rect">
            <a:avLst/>
          </a:prstGeom>
          <a:solidFill>
            <a:srgbClr val="00B4D8"/>
          </a:solidFill>
          <a:ln w="12700">
            <a:solidFill>
              <a:srgbClr val="00B4D8"/>
            </a:solidFill>
            <a:prstDash val="solid"/>
          </a:ln>
        </p:spPr>
      </p:sp>
      <p:sp>
        <p:nvSpPr>
          <p:cNvPr id="3" name="Shape 1"/>
          <p:cNvSpPr/>
          <p:nvPr/>
        </p:nvSpPr>
        <p:spPr>
          <a:xfrm>
            <a:off x="73152" y="0"/>
            <a:ext cx="9070848" cy="54864"/>
          </a:xfrm>
          <a:prstGeom prst="rect">
            <a:avLst/>
          </a:prstGeom>
          <a:solidFill>
            <a:srgbClr val="0077A8"/>
          </a:solidFill>
          <a:ln w="12700">
            <a:solidFill>
              <a:srgbClr val="0077A8"/>
            </a:solidFill>
            <a:prstDash val="solid"/>
          </a:ln>
        </p:spPr>
      </p:sp>
      <p:sp>
        <p:nvSpPr>
          <p:cNvPr id="4" name="Shape 2"/>
          <p:cNvSpPr/>
          <p:nvPr/>
        </p:nvSpPr>
        <p:spPr>
          <a:xfrm>
            <a:off x="6400800" y="914400"/>
            <a:ext cx="2194560" cy="2194560"/>
          </a:xfrm>
          <a:prstGeom prst="ellipse">
            <a:avLst/>
          </a:prstGeom>
          <a:solidFill>
            <a:schemeClr val="bg1"/>
          </a:solidFill>
          <a:ln w="76200">
            <a:solidFill>
              <a:srgbClr val="00B4D8"/>
            </a:solidFill>
            <a:prstDash val="solid"/>
          </a:ln>
          <a:effectLst>
            <a:outerShdw blurRad="50800" dist="38100" dir="2700000" algn="tl" rotWithShape="0">
              <a:prstClr val="black">
                <a:alpha val="40000"/>
              </a:prstClr>
            </a:outerShdw>
          </a:effectLst>
        </p:spPr>
      </p:sp>
      <p:pic>
        <p:nvPicPr>
          <p:cNvPr id="5" name="Image 0" descr="preencoded.png"/>
          <p:cNvPicPr>
            <a:picLocks noChangeAspect="1"/>
          </p:cNvPicPr>
          <p:nvPr/>
        </p:nvPicPr>
        <p:blipFill>
          <a:blip r:embed="rId3">
            <a:duotone>
              <a:schemeClr val="accent4">
                <a:shade val="45000"/>
                <a:satMod val="135000"/>
              </a:schemeClr>
              <a:prstClr val="white"/>
            </a:duotone>
          </a:blip>
          <a:stretch>
            <a:fillRect/>
          </a:stretch>
        </p:blipFill>
        <p:spPr>
          <a:xfrm>
            <a:off x="6894405" y="1405606"/>
            <a:ext cx="1269958" cy="1269958"/>
          </a:xfrm>
          <a:prstGeom prst="rect">
            <a:avLst/>
          </a:prstGeom>
        </p:spPr>
      </p:pic>
      <p:sp>
        <p:nvSpPr>
          <p:cNvPr id="6" name="Text 3"/>
          <p:cNvSpPr/>
          <p:nvPr/>
        </p:nvSpPr>
        <p:spPr>
          <a:xfrm>
            <a:off x="320040" y="822960"/>
            <a:ext cx="5760720" cy="365760"/>
          </a:xfrm>
          <a:prstGeom prst="rect">
            <a:avLst/>
          </a:prstGeom>
          <a:noFill/>
          <a:ln/>
        </p:spPr>
        <p:txBody>
          <a:bodyPr wrap="square" lIns="0" tIns="0" rIns="0" bIns="0" rtlCol="0" anchor="ctr"/>
          <a:lstStyle/>
          <a:p>
            <a:pPr marL="0" indent="0">
              <a:buNone/>
            </a:pPr>
            <a:r>
              <a:rPr lang="en-US" sz="1100" b="1" kern="0" spc="300" dirty="0">
                <a:solidFill>
                  <a:srgbClr val="00B4D8"/>
                </a:solidFill>
                <a:latin typeface="Trebuchet MS" pitchFamily="34" charset="0"/>
                <a:ea typeface="Trebuchet MS" pitchFamily="34" charset="-122"/>
                <a:cs typeface="Trebuchet MS" pitchFamily="34" charset="-120"/>
              </a:rPr>
              <a:t>NAWIGACJA ROBOTÓW HUMANOIDALNYCH</a:t>
            </a:r>
            <a:endParaRPr lang="en-US" sz="1100" dirty="0"/>
          </a:p>
        </p:txBody>
      </p:sp>
      <p:sp>
        <p:nvSpPr>
          <p:cNvPr id="7" name="Text 4"/>
          <p:cNvSpPr/>
          <p:nvPr/>
        </p:nvSpPr>
        <p:spPr>
          <a:xfrm>
            <a:off x="320040" y="1280160"/>
            <a:ext cx="5760720" cy="640080"/>
          </a:xfrm>
          <a:prstGeom prst="rect">
            <a:avLst/>
          </a:prstGeom>
          <a:noFill/>
          <a:ln/>
          <a:effectLst>
            <a:outerShdw blurRad="50800" dist="38100" dir="2700000" algn="tl" rotWithShape="0">
              <a:prstClr val="black">
                <a:alpha val="40000"/>
              </a:prstClr>
            </a:outerShdw>
          </a:effectLst>
        </p:spPr>
        <p:txBody>
          <a:bodyPr wrap="square" lIns="0" tIns="0" rIns="0" bIns="0" rtlCol="0" anchor="ctr"/>
          <a:lstStyle/>
          <a:p>
            <a:pPr marL="0" indent="0">
              <a:buNone/>
            </a:pPr>
            <a:r>
              <a:rPr lang="en-US" sz="4400" b="1" dirty="0">
                <a:solidFill>
                  <a:srgbClr val="FFFFFF"/>
                </a:solidFill>
                <a:latin typeface="Trebuchet MS" pitchFamily="34" charset="0"/>
                <a:ea typeface="Trebuchet MS" pitchFamily="34" charset="-122"/>
                <a:cs typeface="Trebuchet MS" pitchFamily="34" charset="-120"/>
              </a:rPr>
              <a:t>WYKŁAD 2</a:t>
            </a:r>
            <a:endParaRPr lang="en-US" sz="4400" dirty="0"/>
          </a:p>
        </p:txBody>
      </p:sp>
      <p:sp>
        <p:nvSpPr>
          <p:cNvPr id="8" name="Text 5"/>
          <p:cNvSpPr/>
          <p:nvPr/>
        </p:nvSpPr>
        <p:spPr>
          <a:xfrm>
            <a:off x="320040" y="1965960"/>
            <a:ext cx="5760720" cy="914400"/>
          </a:xfrm>
          <a:prstGeom prst="rect">
            <a:avLst/>
          </a:prstGeom>
          <a:noFill/>
          <a:ln/>
        </p:spPr>
        <p:txBody>
          <a:bodyPr wrap="square" lIns="0" tIns="0" rIns="0" bIns="0" rtlCol="0" anchor="ctr"/>
          <a:lstStyle/>
          <a:p>
            <a:pPr marL="0" indent="0">
              <a:buNone/>
            </a:pPr>
            <a:r>
              <a:rPr lang="en-US" sz="2800" b="1" dirty="0">
                <a:solidFill>
                  <a:srgbClr val="90E0EF"/>
                </a:solidFill>
                <a:latin typeface="Trebuchet MS" pitchFamily="34" charset="0"/>
                <a:ea typeface="Trebuchet MS" pitchFamily="34" charset="-122"/>
                <a:cs typeface="Trebuchet MS" pitchFamily="34" charset="-120"/>
              </a:rPr>
              <a:t>Lokalizacja, odometria
i fuzja sensoryczna</a:t>
            </a:r>
            <a:endParaRPr lang="en-US" sz="2800" dirty="0"/>
          </a:p>
        </p:txBody>
      </p:sp>
      <p:sp>
        <p:nvSpPr>
          <p:cNvPr id="9" name="Shape 6"/>
          <p:cNvSpPr/>
          <p:nvPr/>
        </p:nvSpPr>
        <p:spPr>
          <a:xfrm>
            <a:off x="320040" y="3017520"/>
            <a:ext cx="5760720" cy="27432"/>
          </a:xfrm>
          <a:prstGeom prst="rect">
            <a:avLst/>
          </a:prstGeom>
          <a:solidFill>
            <a:srgbClr val="00B4D8"/>
          </a:solidFill>
          <a:ln w="12700">
            <a:solidFill>
              <a:srgbClr val="00B4D8"/>
            </a:solidFill>
            <a:prstDash val="solid"/>
          </a:ln>
        </p:spPr>
      </p:sp>
      <p:sp>
        <p:nvSpPr>
          <p:cNvPr id="10" name="Text 7"/>
          <p:cNvSpPr/>
          <p:nvPr/>
        </p:nvSpPr>
        <p:spPr>
          <a:xfrm>
            <a:off x="320040" y="3118849"/>
            <a:ext cx="5760720" cy="184666"/>
          </a:xfrm>
          <a:prstGeom prst="rect">
            <a:avLst/>
          </a:prstGeom>
          <a:noFill/>
          <a:ln/>
        </p:spPr>
        <p:txBody>
          <a:bodyPr wrap="square" lIns="0" tIns="0" rIns="0" bIns="0" rtlCol="0" anchor="ctr">
            <a:spAutoFit/>
          </a:bodyPr>
          <a:lstStyle/>
          <a:p>
            <a:pPr marL="0" indent="0">
              <a:buNone/>
            </a:pPr>
            <a:r>
              <a:rPr lang="pl-PL" sz="1200" b="1" dirty="0" smtClean="0">
                <a:solidFill>
                  <a:srgbClr val="00B4D8"/>
                </a:solidFill>
                <a:latin typeface="Calibri" pitchFamily="34" charset="0"/>
                <a:ea typeface="Calibri" pitchFamily="34" charset="-122"/>
                <a:cs typeface="Calibri" pitchFamily="34" charset="-120"/>
              </a:rPr>
              <a:t>dr inż. Mateusz Pomianek</a:t>
            </a:r>
            <a:endParaRPr lang="en-US" sz="1200" dirty="0"/>
          </a:p>
        </p:txBody>
      </p:sp>
      <p:grpSp>
        <p:nvGrpSpPr>
          <p:cNvPr id="20" name="Grupa 19"/>
          <p:cNvGrpSpPr/>
          <p:nvPr/>
        </p:nvGrpSpPr>
        <p:grpSpPr>
          <a:xfrm>
            <a:off x="320040" y="4114800"/>
            <a:ext cx="8275320" cy="548640"/>
            <a:chOff x="320040" y="4114800"/>
            <a:chExt cx="5715000" cy="548640"/>
          </a:xfrm>
        </p:grpSpPr>
        <p:sp>
          <p:nvSpPr>
            <p:cNvPr id="11" name="Shape 8"/>
            <p:cNvSpPr/>
            <p:nvPr/>
          </p:nvSpPr>
          <p:spPr>
            <a:xfrm>
              <a:off x="320040" y="4114800"/>
              <a:ext cx="1325880" cy="548640"/>
            </a:xfrm>
            <a:prstGeom prst="rect">
              <a:avLst/>
            </a:prstGeom>
            <a:solidFill>
              <a:srgbClr val="1A3550"/>
            </a:solidFill>
            <a:ln w="12700">
              <a:solidFill>
                <a:srgbClr val="00B4D8"/>
              </a:solidFill>
              <a:prstDash val="solid"/>
            </a:ln>
          </p:spPr>
        </p:sp>
        <p:sp>
          <p:nvSpPr>
            <p:cNvPr id="12" name="Text 9"/>
            <p:cNvSpPr/>
            <p:nvPr/>
          </p:nvSpPr>
          <p:spPr>
            <a:xfrm>
              <a:off x="320040" y="4114800"/>
              <a:ext cx="1325880" cy="548640"/>
            </a:xfrm>
            <a:prstGeom prst="rect">
              <a:avLst/>
            </a:prstGeom>
            <a:noFill/>
            <a:ln/>
          </p:spPr>
          <p:txBody>
            <a:bodyPr wrap="square" lIns="0" tIns="0" rIns="0" bIns="0" rtlCol="0" anchor="ctr"/>
            <a:lstStyle/>
            <a:p>
              <a:pPr marL="0" indent="0" algn="ctr">
                <a:buNone/>
              </a:pPr>
              <a:r>
                <a:rPr lang="en-US" sz="1400" b="1" dirty="0">
                  <a:solidFill>
                    <a:srgbClr val="90E0EF"/>
                  </a:solidFill>
                  <a:latin typeface="Trebuchet MS" pitchFamily="34" charset="0"/>
                  <a:ea typeface="Trebuchet MS" pitchFamily="34" charset="-122"/>
                  <a:cs typeface="Trebuchet MS" pitchFamily="34" charset="-120"/>
                </a:rPr>
                <a:t>Estymacja stanu</a:t>
              </a:r>
              <a:endParaRPr lang="en-US" sz="1400" dirty="0"/>
            </a:p>
          </p:txBody>
        </p:sp>
        <p:sp>
          <p:nvSpPr>
            <p:cNvPr id="13" name="Shape 10"/>
            <p:cNvSpPr/>
            <p:nvPr/>
          </p:nvSpPr>
          <p:spPr>
            <a:xfrm>
              <a:off x="1783080" y="4114800"/>
              <a:ext cx="1325880" cy="548640"/>
            </a:xfrm>
            <a:prstGeom prst="rect">
              <a:avLst/>
            </a:prstGeom>
            <a:solidFill>
              <a:srgbClr val="1A3550"/>
            </a:solidFill>
            <a:ln w="12700">
              <a:solidFill>
                <a:srgbClr val="00B4D8"/>
              </a:solidFill>
              <a:prstDash val="solid"/>
            </a:ln>
          </p:spPr>
        </p:sp>
        <p:sp>
          <p:nvSpPr>
            <p:cNvPr id="14" name="Text 11"/>
            <p:cNvSpPr/>
            <p:nvPr/>
          </p:nvSpPr>
          <p:spPr>
            <a:xfrm>
              <a:off x="1783080" y="4114800"/>
              <a:ext cx="1325880" cy="548640"/>
            </a:xfrm>
            <a:prstGeom prst="rect">
              <a:avLst/>
            </a:prstGeom>
            <a:noFill/>
            <a:ln/>
          </p:spPr>
          <p:txBody>
            <a:bodyPr wrap="square" lIns="0" tIns="0" rIns="0" bIns="0" rtlCol="0" anchor="ctr"/>
            <a:lstStyle/>
            <a:p>
              <a:pPr marL="0" indent="0" algn="ctr">
                <a:buNone/>
              </a:pPr>
              <a:r>
                <a:rPr lang="en-US" sz="1400" b="1" dirty="0">
                  <a:solidFill>
                    <a:srgbClr val="90E0EF"/>
                  </a:solidFill>
                  <a:latin typeface="Trebuchet MS" pitchFamily="34" charset="0"/>
                  <a:ea typeface="Trebuchet MS" pitchFamily="34" charset="-122"/>
                  <a:cs typeface="Trebuchet MS" pitchFamily="34" charset="-120"/>
                </a:rPr>
                <a:t>Filtry EKF/UKF</a:t>
              </a:r>
              <a:endParaRPr lang="en-US" sz="1400" dirty="0"/>
            </a:p>
          </p:txBody>
        </p:sp>
        <p:sp>
          <p:nvSpPr>
            <p:cNvPr id="15" name="Shape 12"/>
            <p:cNvSpPr/>
            <p:nvPr/>
          </p:nvSpPr>
          <p:spPr>
            <a:xfrm>
              <a:off x="3246120" y="4114800"/>
              <a:ext cx="1325880" cy="548640"/>
            </a:xfrm>
            <a:prstGeom prst="rect">
              <a:avLst/>
            </a:prstGeom>
            <a:solidFill>
              <a:srgbClr val="1A3550"/>
            </a:solidFill>
            <a:ln w="12700">
              <a:solidFill>
                <a:srgbClr val="00B4D8"/>
              </a:solidFill>
              <a:prstDash val="solid"/>
            </a:ln>
          </p:spPr>
        </p:sp>
        <p:sp>
          <p:nvSpPr>
            <p:cNvPr id="16" name="Text 13"/>
            <p:cNvSpPr/>
            <p:nvPr/>
          </p:nvSpPr>
          <p:spPr>
            <a:xfrm>
              <a:off x="3246120" y="4114800"/>
              <a:ext cx="1325880" cy="548640"/>
            </a:xfrm>
            <a:prstGeom prst="rect">
              <a:avLst/>
            </a:prstGeom>
            <a:noFill/>
            <a:ln/>
          </p:spPr>
          <p:txBody>
            <a:bodyPr wrap="square" lIns="0" tIns="0" rIns="0" bIns="0" rtlCol="0" anchor="ctr"/>
            <a:lstStyle/>
            <a:p>
              <a:pPr marL="0" indent="0" algn="ctr">
                <a:buNone/>
              </a:pPr>
              <a:r>
                <a:rPr lang="en-US" sz="1600" b="1" dirty="0">
                  <a:solidFill>
                    <a:srgbClr val="90E0EF"/>
                  </a:solidFill>
                  <a:latin typeface="Trebuchet MS" pitchFamily="34" charset="0"/>
                  <a:ea typeface="Trebuchet MS" pitchFamily="34" charset="-122"/>
                  <a:cs typeface="Trebuchet MS" pitchFamily="34" charset="-120"/>
                </a:rPr>
                <a:t>Fuzja sensoryczna</a:t>
              </a:r>
              <a:endParaRPr lang="en-US" sz="1600" dirty="0"/>
            </a:p>
          </p:txBody>
        </p:sp>
        <p:sp>
          <p:nvSpPr>
            <p:cNvPr id="17" name="Shape 14"/>
            <p:cNvSpPr/>
            <p:nvPr/>
          </p:nvSpPr>
          <p:spPr>
            <a:xfrm>
              <a:off x="4709160" y="4114800"/>
              <a:ext cx="1325880" cy="548640"/>
            </a:xfrm>
            <a:prstGeom prst="rect">
              <a:avLst/>
            </a:prstGeom>
            <a:solidFill>
              <a:srgbClr val="1A3550"/>
            </a:solidFill>
            <a:ln w="12700">
              <a:solidFill>
                <a:srgbClr val="00B4D8"/>
              </a:solidFill>
              <a:prstDash val="solid"/>
            </a:ln>
          </p:spPr>
        </p:sp>
        <p:sp>
          <p:nvSpPr>
            <p:cNvPr id="18" name="Text 15"/>
            <p:cNvSpPr/>
            <p:nvPr/>
          </p:nvSpPr>
          <p:spPr>
            <a:xfrm>
              <a:off x="4709160" y="4114800"/>
              <a:ext cx="1325880" cy="548640"/>
            </a:xfrm>
            <a:prstGeom prst="rect">
              <a:avLst/>
            </a:prstGeom>
            <a:noFill/>
            <a:ln/>
          </p:spPr>
          <p:txBody>
            <a:bodyPr wrap="square" lIns="0" tIns="0" rIns="0" bIns="0" rtlCol="0" anchor="ctr"/>
            <a:lstStyle/>
            <a:p>
              <a:pPr marL="0" indent="0" algn="ctr">
                <a:buNone/>
              </a:pPr>
              <a:r>
                <a:rPr lang="en-US" b="1" dirty="0">
                  <a:solidFill>
                    <a:srgbClr val="90E0EF"/>
                  </a:solidFill>
                  <a:latin typeface="Trebuchet MS" pitchFamily="34" charset="0"/>
                  <a:ea typeface="Trebuchet MS" pitchFamily="34" charset="-122"/>
                  <a:cs typeface="Trebuchet MS" pitchFamily="34" charset="-120"/>
                </a:rPr>
                <a:t>SLAM</a:t>
              </a:r>
              <a:endParaRPr lang="en-US" dirty="0"/>
            </a:p>
          </p:txBody>
        </p:sp>
      </p:grpSp>
      <p:sp>
        <p:nvSpPr>
          <p:cNvPr id="19" name="Text 7"/>
          <p:cNvSpPr/>
          <p:nvPr/>
        </p:nvSpPr>
        <p:spPr>
          <a:xfrm>
            <a:off x="130624" y="4951731"/>
            <a:ext cx="1988263" cy="153888"/>
          </a:xfrm>
          <a:prstGeom prst="rect">
            <a:avLst/>
          </a:prstGeom>
          <a:noFill/>
          <a:ln/>
        </p:spPr>
        <p:txBody>
          <a:bodyPr wrap="square" lIns="0" tIns="0" rIns="0" bIns="0" rtlCol="0" anchor="ctr">
            <a:spAutoFit/>
          </a:bodyPr>
          <a:lstStyle/>
          <a:p>
            <a:pPr marL="0" indent="0">
              <a:buNone/>
            </a:pPr>
            <a:r>
              <a:rPr lang="pl-PL" sz="1000" smtClean="0">
                <a:solidFill>
                  <a:schemeClr val="accent1">
                    <a:lumMod val="50000"/>
                  </a:schemeClr>
                </a:solidFill>
                <a:latin typeface="Calibri" pitchFamily="34" charset="0"/>
                <a:ea typeface="Calibri" pitchFamily="34" charset="-122"/>
                <a:cs typeface="Calibri" pitchFamily="34" charset="-120"/>
              </a:rPr>
              <a:t>v1.0.3</a:t>
            </a:r>
            <a:endParaRPr lang="en-US" sz="1000" dirty="0">
              <a:solidFill>
                <a:schemeClr val="accent1">
                  <a:lumMod val="50000"/>
                </a:schemeClr>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0F4F8"/>
        </a:solidFill>
        <a:effectLst/>
      </p:bgPr>
    </p:bg>
    <p:spTree>
      <p:nvGrpSpPr>
        <p:cNvPr id="1" name=""/>
        <p:cNvGrpSpPr/>
        <p:nvPr/>
      </p:nvGrpSpPr>
      <p:grpSpPr>
        <a:xfrm>
          <a:off x="0" y="0"/>
          <a:ext cx="0" cy="0"/>
          <a:chOff x="0" y="0"/>
          <a:chExt cx="0" cy="0"/>
        </a:xfrm>
      </p:grpSpPr>
      <p:sp>
        <p:nvSpPr>
          <p:cNvPr id="2" name="Shape 0"/>
          <p:cNvSpPr/>
          <p:nvPr/>
        </p:nvSpPr>
        <p:spPr>
          <a:xfrm>
            <a:off x="0" y="0"/>
            <a:ext cx="64008" cy="5143500"/>
          </a:xfrm>
          <a:prstGeom prst="rect">
            <a:avLst/>
          </a:prstGeom>
          <a:solidFill>
            <a:srgbClr val="00B4D8"/>
          </a:solidFill>
          <a:ln w="12700">
            <a:solidFill>
              <a:srgbClr val="00B4D8"/>
            </a:solidFill>
            <a:prstDash val="solid"/>
          </a:ln>
        </p:spPr>
      </p:sp>
      <p:sp>
        <p:nvSpPr>
          <p:cNvPr id="3" name="Shape 1"/>
          <p:cNvSpPr/>
          <p:nvPr/>
        </p:nvSpPr>
        <p:spPr>
          <a:xfrm>
            <a:off x="64008" y="0"/>
            <a:ext cx="9079992" cy="960120"/>
          </a:xfrm>
          <a:prstGeom prst="rect">
            <a:avLst/>
          </a:prstGeom>
          <a:solidFill>
            <a:srgbClr val="0D1B2A"/>
          </a:solidFill>
          <a:ln w="12700">
            <a:solidFill>
              <a:srgbClr val="0D1B2A"/>
            </a:solidFill>
            <a:prstDash val="solid"/>
          </a:ln>
        </p:spPr>
      </p:sp>
      <p:sp>
        <p:nvSpPr>
          <p:cNvPr id="4" name="Text 2"/>
          <p:cNvSpPr/>
          <p:nvPr/>
        </p:nvSpPr>
        <p:spPr>
          <a:xfrm>
            <a:off x="228600" y="73152"/>
            <a:ext cx="4572000" cy="274320"/>
          </a:xfrm>
          <a:prstGeom prst="rect">
            <a:avLst/>
          </a:prstGeom>
          <a:noFill/>
          <a:ln/>
        </p:spPr>
        <p:txBody>
          <a:bodyPr wrap="square" lIns="0" tIns="0" rIns="0" bIns="0" rtlCol="0" anchor="ctr"/>
          <a:lstStyle/>
          <a:p>
            <a:pPr marL="0" indent="0">
              <a:buNone/>
            </a:pPr>
            <a:r>
              <a:rPr lang="en-US" sz="900" b="1" kern="0" spc="200" dirty="0">
                <a:solidFill>
                  <a:srgbClr val="00B4D8"/>
                </a:solidFill>
                <a:latin typeface="Trebuchet MS" pitchFamily="34" charset="0"/>
                <a:ea typeface="Trebuchet MS" pitchFamily="34" charset="-122"/>
                <a:cs typeface="Trebuchet MS" pitchFamily="34" charset="-120"/>
              </a:rPr>
              <a:t>WPROWADZENIE</a:t>
            </a:r>
            <a:endParaRPr lang="en-US" sz="900" dirty="0"/>
          </a:p>
        </p:txBody>
      </p:sp>
      <p:sp>
        <p:nvSpPr>
          <p:cNvPr id="5" name="Text 3"/>
          <p:cNvSpPr/>
          <p:nvPr/>
        </p:nvSpPr>
        <p:spPr>
          <a:xfrm>
            <a:off x="228600" y="274320"/>
            <a:ext cx="8686800" cy="594360"/>
          </a:xfrm>
          <a:prstGeom prst="rect">
            <a:avLst/>
          </a:prstGeom>
          <a:noFill/>
          <a:ln/>
        </p:spPr>
        <p:txBody>
          <a:bodyPr wrap="square" lIns="0" tIns="0" rIns="0" bIns="0" rtlCol="0" anchor="ctr"/>
          <a:lstStyle/>
          <a:p>
            <a:pPr marL="0" indent="0">
              <a:buNone/>
            </a:pPr>
            <a:r>
              <a:rPr lang="en-US" sz="2800" b="1" dirty="0">
                <a:solidFill>
                  <a:srgbClr val="FFFFFF"/>
                </a:solidFill>
                <a:latin typeface="Trebuchet MS" pitchFamily="34" charset="0"/>
                <a:ea typeface="Trebuchet MS" pitchFamily="34" charset="-122"/>
                <a:cs typeface="Trebuchet MS" pitchFamily="34" charset="-120"/>
              </a:rPr>
              <a:t>Plan wykładu</a:t>
            </a:r>
            <a:endParaRPr lang="en-US" sz="2800" dirty="0"/>
          </a:p>
        </p:txBody>
      </p:sp>
      <p:grpSp>
        <p:nvGrpSpPr>
          <p:cNvPr id="22" name="Grupa 21"/>
          <p:cNvGrpSpPr/>
          <p:nvPr/>
        </p:nvGrpSpPr>
        <p:grpSpPr>
          <a:xfrm>
            <a:off x="274320" y="1082544"/>
            <a:ext cx="8595360" cy="3020921"/>
            <a:chOff x="274320" y="1143000"/>
            <a:chExt cx="8595360" cy="3520440"/>
          </a:xfrm>
        </p:grpSpPr>
        <p:sp>
          <p:nvSpPr>
            <p:cNvPr id="6" name="Shape 4"/>
            <p:cNvSpPr/>
            <p:nvPr/>
          </p:nvSpPr>
          <p:spPr>
            <a:xfrm>
              <a:off x="274320" y="1143000"/>
              <a:ext cx="4160520" cy="1691640"/>
            </a:xfrm>
            <a:prstGeom prst="rect">
              <a:avLst/>
            </a:prstGeom>
            <a:solidFill>
              <a:srgbClr val="FFFFFF"/>
            </a:solidFill>
            <a:ln w="12700">
              <a:solidFill>
                <a:srgbClr val="E2EBF3"/>
              </a:solidFill>
              <a:prstDash val="solid"/>
            </a:ln>
            <a:effectLst>
              <a:outerShdw blurRad="76200" dist="25400" dir="8100000" algn="bl" rotWithShape="0">
                <a:srgbClr val="000000">
                  <a:alpha val="12000"/>
                </a:srgbClr>
              </a:outerShdw>
            </a:effectLst>
          </p:spPr>
        </p:sp>
        <p:sp>
          <p:nvSpPr>
            <p:cNvPr id="7" name="Shape 5"/>
            <p:cNvSpPr/>
            <p:nvPr/>
          </p:nvSpPr>
          <p:spPr>
            <a:xfrm>
              <a:off x="274320" y="1143000"/>
              <a:ext cx="4160520" cy="54864"/>
            </a:xfrm>
            <a:prstGeom prst="rect">
              <a:avLst/>
            </a:prstGeom>
            <a:solidFill>
              <a:srgbClr val="00B4D8"/>
            </a:solidFill>
            <a:ln w="12700">
              <a:solidFill>
                <a:srgbClr val="00B4D8"/>
              </a:solidFill>
              <a:prstDash val="solid"/>
            </a:ln>
          </p:spPr>
        </p:sp>
        <p:sp>
          <p:nvSpPr>
            <p:cNvPr id="8" name="Text 6"/>
            <p:cNvSpPr/>
            <p:nvPr/>
          </p:nvSpPr>
          <p:spPr>
            <a:xfrm>
              <a:off x="384048" y="1234440"/>
              <a:ext cx="3941064" cy="642823"/>
            </a:xfrm>
            <a:prstGeom prst="rect">
              <a:avLst/>
            </a:prstGeom>
            <a:noFill/>
            <a:ln/>
          </p:spPr>
          <p:txBody>
            <a:bodyPr wrap="square" lIns="0" tIns="0" rIns="0" bIns="0" rtlCol="0" anchor="ctr"/>
            <a:lstStyle/>
            <a:p>
              <a:pPr marL="0" indent="0">
                <a:buNone/>
              </a:pPr>
              <a:r>
                <a:rPr lang="en-US" sz="2400" b="1" dirty="0">
                  <a:solidFill>
                    <a:srgbClr val="0D1B2A"/>
                  </a:solidFill>
                  <a:latin typeface="Trebuchet MS" pitchFamily="34" charset="0"/>
                  <a:ea typeface="Trebuchet MS" pitchFamily="34" charset="-122"/>
                  <a:cs typeface="Trebuchet MS" pitchFamily="34" charset="-120"/>
                </a:rPr>
                <a:t>Sekcja 1</a:t>
              </a:r>
              <a:endParaRPr lang="en-US" sz="2400" dirty="0"/>
            </a:p>
          </p:txBody>
        </p:sp>
        <p:sp>
          <p:nvSpPr>
            <p:cNvPr id="9" name="Text 7"/>
            <p:cNvSpPr/>
            <p:nvPr/>
          </p:nvSpPr>
          <p:spPr>
            <a:xfrm>
              <a:off x="605511" y="1808885"/>
              <a:ext cx="3641990" cy="930402"/>
            </a:xfrm>
            <a:prstGeom prst="rect">
              <a:avLst/>
            </a:prstGeom>
            <a:noFill/>
            <a:ln/>
          </p:spPr>
          <p:txBody>
            <a:bodyPr wrap="square" lIns="0" tIns="0" rIns="0" bIns="0" rtlCol="0" anchor="ctr"/>
            <a:lstStyle/>
            <a:p>
              <a:pPr marL="0" indent="0">
                <a:lnSpc>
                  <a:spcPct val="150000"/>
                </a:lnSpc>
                <a:buNone/>
              </a:pPr>
              <a:r>
                <a:rPr lang="en-US" sz="1600" spc="-40" dirty="0">
                  <a:solidFill>
                    <a:srgbClr val="475569"/>
                  </a:solidFill>
                  <a:latin typeface="Calibri" pitchFamily="34" charset="0"/>
                  <a:ea typeface="Calibri" pitchFamily="34" charset="-122"/>
                  <a:cs typeface="Calibri" pitchFamily="34" charset="-120"/>
                </a:rPr>
                <a:t>Estymacja stanu: odometria humanoida, dryft, dead reckoning, układy transformacji</a:t>
              </a:r>
              <a:endParaRPr lang="en-US" sz="1600" spc="-40" dirty="0"/>
            </a:p>
          </p:txBody>
        </p:sp>
        <p:sp>
          <p:nvSpPr>
            <p:cNvPr id="10" name="Shape 8"/>
            <p:cNvSpPr/>
            <p:nvPr/>
          </p:nvSpPr>
          <p:spPr>
            <a:xfrm>
              <a:off x="4709160" y="1143000"/>
              <a:ext cx="4160520" cy="1691640"/>
            </a:xfrm>
            <a:prstGeom prst="rect">
              <a:avLst/>
            </a:prstGeom>
            <a:solidFill>
              <a:srgbClr val="FFFFFF"/>
            </a:solidFill>
            <a:ln w="12700">
              <a:solidFill>
                <a:srgbClr val="E2EBF3"/>
              </a:solidFill>
              <a:prstDash val="solid"/>
            </a:ln>
            <a:effectLst>
              <a:outerShdw blurRad="76200" dist="25400" dir="8100000" algn="bl" rotWithShape="0">
                <a:srgbClr val="000000">
                  <a:alpha val="12000"/>
                </a:srgbClr>
              </a:outerShdw>
            </a:effectLst>
          </p:spPr>
        </p:sp>
        <p:sp>
          <p:nvSpPr>
            <p:cNvPr id="11" name="Shape 9"/>
            <p:cNvSpPr/>
            <p:nvPr/>
          </p:nvSpPr>
          <p:spPr>
            <a:xfrm>
              <a:off x="4709160" y="1143000"/>
              <a:ext cx="4160520" cy="54864"/>
            </a:xfrm>
            <a:prstGeom prst="rect">
              <a:avLst/>
            </a:prstGeom>
            <a:solidFill>
              <a:srgbClr val="0077A8"/>
            </a:solidFill>
            <a:ln w="12700">
              <a:solidFill>
                <a:srgbClr val="0077A8"/>
              </a:solidFill>
              <a:prstDash val="solid"/>
            </a:ln>
          </p:spPr>
        </p:sp>
        <p:sp>
          <p:nvSpPr>
            <p:cNvPr id="12" name="Text 10"/>
            <p:cNvSpPr/>
            <p:nvPr/>
          </p:nvSpPr>
          <p:spPr>
            <a:xfrm>
              <a:off x="4818888" y="1234440"/>
              <a:ext cx="3941064" cy="642823"/>
            </a:xfrm>
            <a:prstGeom prst="rect">
              <a:avLst/>
            </a:prstGeom>
            <a:noFill/>
            <a:ln/>
          </p:spPr>
          <p:txBody>
            <a:bodyPr wrap="square" lIns="0" tIns="0" rIns="0" bIns="0" rtlCol="0" anchor="ctr"/>
            <a:lstStyle/>
            <a:p>
              <a:pPr marL="0" indent="0">
                <a:buNone/>
              </a:pPr>
              <a:r>
                <a:rPr lang="en-US" sz="2400" b="1" dirty="0">
                  <a:solidFill>
                    <a:srgbClr val="0D1B2A"/>
                  </a:solidFill>
                  <a:latin typeface="Trebuchet MS" pitchFamily="34" charset="0"/>
                  <a:ea typeface="Trebuchet MS" pitchFamily="34" charset="-122"/>
                  <a:cs typeface="Trebuchet MS" pitchFamily="34" charset="-120"/>
                </a:rPr>
                <a:t>Sekcja 2</a:t>
              </a:r>
              <a:endParaRPr lang="en-US" sz="2400" dirty="0"/>
            </a:p>
          </p:txBody>
        </p:sp>
        <p:sp>
          <p:nvSpPr>
            <p:cNvPr id="13" name="Text 11"/>
            <p:cNvSpPr/>
            <p:nvPr/>
          </p:nvSpPr>
          <p:spPr>
            <a:xfrm>
              <a:off x="4809895" y="1808885"/>
              <a:ext cx="3875049" cy="930402"/>
            </a:xfrm>
            <a:prstGeom prst="rect">
              <a:avLst/>
            </a:prstGeom>
            <a:noFill/>
            <a:ln/>
          </p:spPr>
          <p:txBody>
            <a:bodyPr wrap="square" lIns="0" tIns="0" rIns="0" bIns="0" rtlCol="0" anchor="ctr"/>
            <a:lstStyle/>
            <a:p>
              <a:pPr marL="0" indent="0">
                <a:lnSpc>
                  <a:spcPct val="150000"/>
                </a:lnSpc>
                <a:buNone/>
              </a:pPr>
              <a:r>
                <a:rPr lang="en-US" sz="1600" spc="-40" dirty="0">
                  <a:solidFill>
                    <a:srgbClr val="475569"/>
                  </a:solidFill>
                  <a:latin typeface="Calibri" pitchFamily="34" charset="0"/>
                  <a:ea typeface="Calibri" pitchFamily="34" charset="-122"/>
                  <a:cs typeface="Calibri" pitchFamily="34" charset="-120"/>
                </a:rPr>
                <a:t>Filtry estymacyjne: komplementarny, EKF, UKF, cząsteczkowy, fuzja IMU+enkodery+wzrok</a:t>
              </a:r>
              <a:endParaRPr lang="en-US" sz="1600" spc="-40" dirty="0"/>
            </a:p>
          </p:txBody>
        </p:sp>
        <p:sp>
          <p:nvSpPr>
            <p:cNvPr id="14" name="Shape 12"/>
            <p:cNvSpPr/>
            <p:nvPr/>
          </p:nvSpPr>
          <p:spPr>
            <a:xfrm>
              <a:off x="274320" y="2971800"/>
              <a:ext cx="4160520" cy="1691640"/>
            </a:xfrm>
            <a:prstGeom prst="rect">
              <a:avLst/>
            </a:prstGeom>
            <a:solidFill>
              <a:srgbClr val="FFFFFF"/>
            </a:solidFill>
            <a:ln w="12700">
              <a:solidFill>
                <a:srgbClr val="E2EBF3"/>
              </a:solidFill>
              <a:prstDash val="solid"/>
            </a:ln>
            <a:effectLst>
              <a:outerShdw blurRad="76200" dist="25400" dir="8100000" algn="bl" rotWithShape="0">
                <a:srgbClr val="000000">
                  <a:alpha val="12000"/>
                </a:srgbClr>
              </a:outerShdw>
            </a:effectLst>
          </p:spPr>
        </p:sp>
        <p:sp>
          <p:nvSpPr>
            <p:cNvPr id="15" name="Shape 13"/>
            <p:cNvSpPr/>
            <p:nvPr/>
          </p:nvSpPr>
          <p:spPr>
            <a:xfrm>
              <a:off x="274320" y="2971800"/>
              <a:ext cx="4160520" cy="54864"/>
            </a:xfrm>
            <a:prstGeom prst="rect">
              <a:avLst/>
            </a:prstGeom>
            <a:solidFill>
              <a:srgbClr val="0077A8"/>
            </a:solidFill>
            <a:ln w="12700">
              <a:solidFill>
                <a:srgbClr val="0077A8"/>
              </a:solidFill>
              <a:prstDash val="solid"/>
            </a:ln>
          </p:spPr>
        </p:sp>
        <p:sp>
          <p:nvSpPr>
            <p:cNvPr id="16" name="Text 14"/>
            <p:cNvSpPr/>
            <p:nvPr/>
          </p:nvSpPr>
          <p:spPr>
            <a:xfrm>
              <a:off x="384048" y="3063240"/>
              <a:ext cx="3941064" cy="642823"/>
            </a:xfrm>
            <a:prstGeom prst="rect">
              <a:avLst/>
            </a:prstGeom>
            <a:noFill/>
            <a:ln/>
          </p:spPr>
          <p:txBody>
            <a:bodyPr wrap="square" lIns="0" tIns="0" rIns="0" bIns="0" rtlCol="0" anchor="ctr"/>
            <a:lstStyle/>
            <a:p>
              <a:pPr marL="0" indent="0">
                <a:buNone/>
              </a:pPr>
              <a:r>
                <a:rPr lang="en-US" sz="2400" b="1" dirty="0">
                  <a:solidFill>
                    <a:srgbClr val="0D1B2A"/>
                  </a:solidFill>
                  <a:latin typeface="Trebuchet MS" pitchFamily="34" charset="0"/>
                  <a:ea typeface="Trebuchet MS" pitchFamily="34" charset="-122"/>
                  <a:cs typeface="Trebuchet MS" pitchFamily="34" charset="-120"/>
                </a:rPr>
                <a:t>Sekcja 3</a:t>
              </a:r>
              <a:endParaRPr lang="en-US" sz="2400" dirty="0"/>
            </a:p>
          </p:txBody>
        </p:sp>
        <p:sp>
          <p:nvSpPr>
            <p:cNvPr id="17" name="Text 15"/>
            <p:cNvSpPr/>
            <p:nvPr/>
          </p:nvSpPr>
          <p:spPr>
            <a:xfrm>
              <a:off x="605511" y="3637685"/>
              <a:ext cx="3367670" cy="930402"/>
            </a:xfrm>
            <a:prstGeom prst="rect">
              <a:avLst/>
            </a:prstGeom>
            <a:noFill/>
            <a:ln/>
          </p:spPr>
          <p:txBody>
            <a:bodyPr wrap="square" lIns="0" tIns="0" rIns="0" bIns="0" rtlCol="0" anchor="ctr"/>
            <a:lstStyle/>
            <a:p>
              <a:pPr marL="0" indent="0">
                <a:lnSpc>
                  <a:spcPct val="150000"/>
                </a:lnSpc>
                <a:buNone/>
              </a:pPr>
              <a:r>
                <a:rPr lang="en-US" sz="1600" spc="-40" dirty="0">
                  <a:solidFill>
                    <a:srgbClr val="475569"/>
                  </a:solidFill>
                  <a:latin typeface="Calibri" pitchFamily="34" charset="0"/>
                  <a:ea typeface="Calibri" pitchFamily="34" charset="-122"/>
                  <a:cs typeface="Calibri" pitchFamily="34" charset="-120"/>
                </a:rPr>
                <a:t>Lokalizacja globalna, SLAM, pose graph, domykanie pętli, dobór metody</a:t>
              </a:r>
              <a:endParaRPr lang="en-US" sz="1600" spc="-40" dirty="0"/>
            </a:p>
          </p:txBody>
        </p:sp>
        <p:sp>
          <p:nvSpPr>
            <p:cNvPr id="18" name="Shape 16"/>
            <p:cNvSpPr/>
            <p:nvPr/>
          </p:nvSpPr>
          <p:spPr>
            <a:xfrm>
              <a:off x="4709160" y="2971800"/>
              <a:ext cx="4160520" cy="1691640"/>
            </a:xfrm>
            <a:prstGeom prst="rect">
              <a:avLst/>
            </a:prstGeom>
            <a:solidFill>
              <a:srgbClr val="FFFFFF"/>
            </a:solidFill>
            <a:ln w="12700">
              <a:solidFill>
                <a:srgbClr val="E2EBF3"/>
              </a:solidFill>
              <a:prstDash val="solid"/>
            </a:ln>
            <a:effectLst>
              <a:outerShdw blurRad="76200" dist="25400" dir="8100000" algn="bl" rotWithShape="0">
                <a:srgbClr val="000000">
                  <a:alpha val="12000"/>
                </a:srgbClr>
              </a:outerShdw>
            </a:effectLst>
          </p:spPr>
        </p:sp>
        <p:sp>
          <p:nvSpPr>
            <p:cNvPr id="19" name="Shape 17"/>
            <p:cNvSpPr/>
            <p:nvPr/>
          </p:nvSpPr>
          <p:spPr>
            <a:xfrm>
              <a:off x="4709160" y="2971800"/>
              <a:ext cx="4160520" cy="54864"/>
            </a:xfrm>
            <a:prstGeom prst="rect">
              <a:avLst/>
            </a:prstGeom>
            <a:solidFill>
              <a:srgbClr val="1A3550"/>
            </a:solidFill>
            <a:ln w="12700">
              <a:solidFill>
                <a:srgbClr val="1A3550"/>
              </a:solidFill>
              <a:prstDash val="solid"/>
            </a:ln>
          </p:spPr>
        </p:sp>
        <p:sp>
          <p:nvSpPr>
            <p:cNvPr id="20" name="Text 18"/>
            <p:cNvSpPr/>
            <p:nvPr/>
          </p:nvSpPr>
          <p:spPr>
            <a:xfrm>
              <a:off x="4818888" y="3063240"/>
              <a:ext cx="3941064" cy="642823"/>
            </a:xfrm>
            <a:prstGeom prst="rect">
              <a:avLst/>
            </a:prstGeom>
            <a:noFill/>
            <a:ln/>
          </p:spPr>
          <p:txBody>
            <a:bodyPr wrap="square" lIns="0" tIns="0" rIns="0" bIns="0" rtlCol="0" anchor="ctr"/>
            <a:lstStyle/>
            <a:p>
              <a:pPr marL="0" indent="0">
                <a:buNone/>
              </a:pPr>
              <a:r>
                <a:rPr lang="en-US" sz="2400" b="1" dirty="0">
                  <a:solidFill>
                    <a:srgbClr val="0D1B2A"/>
                  </a:solidFill>
                  <a:latin typeface="Trebuchet MS" pitchFamily="34" charset="0"/>
                  <a:ea typeface="Trebuchet MS" pitchFamily="34" charset="-122"/>
                  <a:cs typeface="Trebuchet MS" pitchFamily="34" charset="-120"/>
                </a:rPr>
                <a:t>Kody Python</a:t>
              </a:r>
              <a:endParaRPr lang="en-US" sz="2400" dirty="0"/>
            </a:p>
          </p:txBody>
        </p:sp>
        <p:sp>
          <p:nvSpPr>
            <p:cNvPr id="21" name="Text 19"/>
            <p:cNvSpPr/>
            <p:nvPr/>
          </p:nvSpPr>
          <p:spPr>
            <a:xfrm>
              <a:off x="4854500" y="3637685"/>
              <a:ext cx="3905452" cy="930402"/>
            </a:xfrm>
            <a:prstGeom prst="rect">
              <a:avLst/>
            </a:prstGeom>
            <a:noFill/>
            <a:ln/>
          </p:spPr>
          <p:txBody>
            <a:bodyPr wrap="square" lIns="0" tIns="0" rIns="0" bIns="0" rtlCol="0" anchor="ctr"/>
            <a:lstStyle/>
            <a:p>
              <a:pPr marL="0" indent="0">
                <a:lnSpc>
                  <a:spcPct val="150000"/>
                </a:lnSpc>
                <a:buNone/>
              </a:pPr>
              <a:r>
                <a:rPr lang="en-US" sz="1600" spc="-40" dirty="0">
                  <a:solidFill>
                    <a:srgbClr val="475569"/>
                  </a:solidFill>
                  <a:latin typeface="Calibri" pitchFamily="34" charset="0"/>
                  <a:ea typeface="Calibri" pitchFamily="34" charset="-122"/>
                  <a:cs typeface="Calibri" pitchFamily="34" charset="-120"/>
                </a:rPr>
                <a:t>Całkowanie IMU, odometria kroku, filtr komplementarny, EKF 2D, korekta z landmarkiem</a:t>
              </a:r>
              <a:endParaRPr lang="en-US" sz="1600" spc="-40" dirty="0"/>
            </a:p>
          </p:txBody>
        </p:sp>
      </p:grpSp>
      <p:sp>
        <p:nvSpPr>
          <p:cNvPr id="23" name="Prostokąt 22"/>
          <p:cNvSpPr/>
          <p:nvPr/>
        </p:nvSpPr>
        <p:spPr>
          <a:xfrm>
            <a:off x="274320" y="4264227"/>
            <a:ext cx="8595360" cy="812979"/>
          </a:xfrm>
          <a:prstGeom prst="rect">
            <a:avLst/>
          </a:prstGeom>
          <a:solidFill>
            <a:srgbClr val="0D1B2A"/>
          </a:solidFill>
        </p:spPr>
        <p:txBody>
          <a:bodyPr wrap="square">
            <a:spAutoFit/>
          </a:bodyPr>
          <a:lstStyle/>
          <a:p>
            <a:pPr algn="just">
              <a:lnSpc>
                <a:spcPts val="1400"/>
              </a:lnSpc>
            </a:pPr>
            <a:r>
              <a:rPr lang="pl-PL" sz="1400" dirty="0">
                <a:solidFill>
                  <a:schemeClr val="bg1"/>
                </a:solidFill>
              </a:rPr>
              <a:t>Plan tego wykładu obejmuje trzy główne bloki. Najpierw omówimy estymację stanu, </a:t>
            </a:r>
            <a:r>
              <a:rPr lang="pl-PL" sz="1400" dirty="0" err="1">
                <a:solidFill>
                  <a:schemeClr val="bg1"/>
                </a:solidFill>
              </a:rPr>
              <a:t>odometrię</a:t>
            </a:r>
            <a:r>
              <a:rPr lang="pl-PL" sz="1400" dirty="0">
                <a:solidFill>
                  <a:schemeClr val="bg1"/>
                </a:solidFill>
              </a:rPr>
              <a:t> </a:t>
            </a:r>
            <a:r>
              <a:rPr lang="pl-PL" sz="1400" dirty="0" err="1">
                <a:solidFill>
                  <a:schemeClr val="bg1"/>
                </a:solidFill>
              </a:rPr>
              <a:t>humanoida</a:t>
            </a:r>
            <a:r>
              <a:rPr lang="pl-PL" sz="1400" dirty="0">
                <a:solidFill>
                  <a:schemeClr val="bg1"/>
                </a:solidFill>
              </a:rPr>
              <a:t>, dryft, </a:t>
            </a:r>
            <a:r>
              <a:rPr lang="pl-PL" sz="1400" dirty="0" err="1">
                <a:solidFill>
                  <a:schemeClr val="bg1"/>
                </a:solidFill>
              </a:rPr>
              <a:t>dead</a:t>
            </a:r>
            <a:r>
              <a:rPr lang="pl-PL" sz="1400" dirty="0">
                <a:solidFill>
                  <a:schemeClr val="bg1"/>
                </a:solidFill>
              </a:rPr>
              <a:t> </a:t>
            </a:r>
            <a:r>
              <a:rPr lang="pl-PL" sz="1400" dirty="0" err="1">
                <a:solidFill>
                  <a:schemeClr val="bg1"/>
                </a:solidFill>
              </a:rPr>
              <a:t>reckoning</a:t>
            </a:r>
            <a:r>
              <a:rPr lang="pl-PL" sz="1400" dirty="0">
                <a:solidFill>
                  <a:schemeClr val="bg1"/>
                </a:solidFill>
              </a:rPr>
              <a:t> i układy transformacji. Następnie przejdziemy do filtrów estymacyjnych, takich jak filtr komplementarny, EKF, UKF i filtr cząsteczkowy, oraz do fuzji IMU, </a:t>
            </a:r>
            <a:r>
              <a:rPr lang="pl-PL" sz="1400" dirty="0" err="1">
                <a:solidFill>
                  <a:schemeClr val="bg1"/>
                </a:solidFill>
              </a:rPr>
              <a:t>enkoderów</a:t>
            </a:r>
            <a:r>
              <a:rPr lang="pl-PL" sz="1400" dirty="0">
                <a:solidFill>
                  <a:schemeClr val="bg1"/>
                </a:solidFill>
              </a:rPr>
              <a:t> i wzroku. Na końcu zajmiemy się lokalizacją globalną i SLAM-em, w tym </a:t>
            </a:r>
            <a:r>
              <a:rPr lang="pl-PL" sz="1400" dirty="0" err="1">
                <a:solidFill>
                  <a:schemeClr val="bg1"/>
                </a:solidFill>
              </a:rPr>
              <a:t>pose</a:t>
            </a:r>
            <a:r>
              <a:rPr lang="pl-PL" sz="1400" dirty="0">
                <a:solidFill>
                  <a:schemeClr val="bg1"/>
                </a:solidFill>
              </a:rPr>
              <a:t> </a:t>
            </a:r>
            <a:r>
              <a:rPr lang="pl-PL" sz="1400" dirty="0" err="1">
                <a:solidFill>
                  <a:schemeClr val="bg1"/>
                </a:solidFill>
              </a:rPr>
              <a:t>graphem</a:t>
            </a:r>
            <a:r>
              <a:rPr lang="pl-PL" sz="1400" dirty="0">
                <a:solidFill>
                  <a:schemeClr val="bg1"/>
                </a:solidFill>
              </a:rPr>
              <a:t>, domykaniem pętli i doborem metody do zadania.</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A3550"/>
        </a:solidFill>
        <a:effectLst/>
      </p:bgPr>
    </p:bg>
    <p:spTree>
      <p:nvGrpSpPr>
        <p:cNvPr id="1" name=""/>
        <p:cNvGrpSpPr/>
        <p:nvPr/>
      </p:nvGrpSpPr>
      <p:grpSpPr>
        <a:xfrm>
          <a:off x="0" y="0"/>
          <a:ext cx="0" cy="0"/>
          <a:chOff x="0" y="0"/>
          <a:chExt cx="0" cy="0"/>
        </a:xfrm>
      </p:grpSpPr>
      <p:sp>
        <p:nvSpPr>
          <p:cNvPr id="2" name="Shape 0"/>
          <p:cNvSpPr/>
          <p:nvPr/>
        </p:nvSpPr>
        <p:spPr>
          <a:xfrm>
            <a:off x="0" y="0"/>
            <a:ext cx="9144000" cy="91440"/>
          </a:xfrm>
          <a:prstGeom prst="rect">
            <a:avLst/>
          </a:prstGeom>
          <a:solidFill>
            <a:srgbClr val="00B4D8"/>
          </a:solidFill>
          <a:ln w="12700">
            <a:solidFill>
              <a:srgbClr val="00B4D8"/>
            </a:solidFill>
            <a:prstDash val="solid"/>
          </a:ln>
        </p:spPr>
      </p:sp>
      <p:sp>
        <p:nvSpPr>
          <p:cNvPr id="3" name="Shape 1"/>
          <p:cNvSpPr/>
          <p:nvPr/>
        </p:nvSpPr>
        <p:spPr>
          <a:xfrm>
            <a:off x="0" y="5052060"/>
            <a:ext cx="9144000" cy="91440"/>
          </a:xfrm>
          <a:prstGeom prst="rect">
            <a:avLst/>
          </a:prstGeom>
          <a:solidFill>
            <a:srgbClr val="0077A8"/>
          </a:solidFill>
          <a:ln w="12700">
            <a:solidFill>
              <a:srgbClr val="0077A8"/>
            </a:solidFill>
            <a:prstDash val="solid"/>
          </a:ln>
        </p:spPr>
      </p:sp>
      <p:sp>
        <p:nvSpPr>
          <p:cNvPr id="4" name="Text 2"/>
          <p:cNvSpPr/>
          <p:nvPr/>
        </p:nvSpPr>
        <p:spPr>
          <a:xfrm>
            <a:off x="457200" y="640080"/>
            <a:ext cx="2286000" cy="2286000"/>
          </a:xfrm>
          <a:prstGeom prst="rect">
            <a:avLst/>
          </a:prstGeom>
          <a:noFill/>
          <a:ln/>
          <a:effectLst>
            <a:outerShdw blurRad="50800" dist="38100" dir="2700000" algn="tl" rotWithShape="0">
              <a:prstClr val="black">
                <a:alpha val="40000"/>
              </a:prstClr>
            </a:outerShdw>
          </a:effectLst>
        </p:spPr>
        <p:txBody>
          <a:bodyPr wrap="square" lIns="0" tIns="0" rIns="0" bIns="0" rtlCol="0" anchor="ctr"/>
          <a:lstStyle/>
          <a:p>
            <a:pPr marL="0" indent="0" algn="ctr">
              <a:buNone/>
            </a:pPr>
            <a:r>
              <a:rPr lang="en-US" sz="12000" b="1" dirty="0">
                <a:solidFill>
                  <a:srgbClr val="00B4D8">
                    <a:alpha val="80000"/>
                  </a:srgbClr>
                </a:solidFill>
                <a:latin typeface="Trebuchet MS" pitchFamily="34" charset="0"/>
                <a:ea typeface="Trebuchet MS" pitchFamily="34" charset="-122"/>
                <a:cs typeface="Trebuchet MS" pitchFamily="34" charset="-120"/>
              </a:rPr>
              <a:t>01</a:t>
            </a:r>
            <a:endParaRPr lang="en-US" sz="12000" dirty="0"/>
          </a:p>
        </p:txBody>
      </p:sp>
      <p:sp>
        <p:nvSpPr>
          <p:cNvPr id="5" name="Shape 3"/>
          <p:cNvSpPr/>
          <p:nvPr/>
        </p:nvSpPr>
        <p:spPr>
          <a:xfrm>
            <a:off x="7132320" y="1371600"/>
            <a:ext cx="1645920" cy="1645920"/>
          </a:xfrm>
          <a:prstGeom prst="ellipse">
            <a:avLst/>
          </a:prstGeom>
          <a:solidFill>
            <a:schemeClr val="bg1"/>
          </a:solidFill>
          <a:ln w="76200">
            <a:solidFill>
              <a:srgbClr val="00B4D8"/>
            </a:solidFill>
            <a:prstDash val="solid"/>
          </a:ln>
          <a:effectLst>
            <a:outerShdw blurRad="50800" dist="38100" dir="2700000" algn="tl" rotWithShape="0">
              <a:prstClr val="black">
                <a:alpha val="40000"/>
              </a:prstClr>
            </a:outerShdw>
          </a:effectLst>
        </p:spPr>
      </p:sp>
      <p:pic>
        <p:nvPicPr>
          <p:cNvPr id="6" name="Image 0" descr="preencoded.png"/>
          <p:cNvPicPr>
            <a:picLocks noChangeAspect="1"/>
          </p:cNvPicPr>
          <p:nvPr/>
        </p:nvPicPr>
        <p:blipFill>
          <a:blip r:embed="rId3"/>
          <a:stretch>
            <a:fillRect/>
          </a:stretch>
        </p:blipFill>
        <p:spPr>
          <a:xfrm>
            <a:off x="7456170" y="1695450"/>
            <a:ext cx="998220" cy="998220"/>
          </a:xfrm>
          <a:prstGeom prst="rect">
            <a:avLst/>
          </a:prstGeom>
        </p:spPr>
      </p:pic>
      <p:sp>
        <p:nvSpPr>
          <p:cNvPr id="7" name="Text 4"/>
          <p:cNvSpPr/>
          <p:nvPr/>
        </p:nvSpPr>
        <p:spPr>
          <a:xfrm>
            <a:off x="2926080" y="1188720"/>
            <a:ext cx="3931920" cy="365760"/>
          </a:xfrm>
          <a:prstGeom prst="rect">
            <a:avLst/>
          </a:prstGeom>
          <a:noFill/>
          <a:ln/>
        </p:spPr>
        <p:txBody>
          <a:bodyPr wrap="square" lIns="0" tIns="0" rIns="0" bIns="0" rtlCol="0" anchor="ctr"/>
          <a:lstStyle/>
          <a:p>
            <a:pPr marL="0" indent="0">
              <a:buNone/>
            </a:pPr>
            <a:r>
              <a:rPr lang="en-US" sz="1200" b="1" kern="0" spc="400" dirty="0">
                <a:solidFill>
                  <a:srgbClr val="00B4D8"/>
                </a:solidFill>
                <a:latin typeface="Trebuchet MS" pitchFamily="34" charset="0"/>
                <a:ea typeface="Trebuchet MS" pitchFamily="34" charset="-122"/>
                <a:cs typeface="Trebuchet MS" pitchFamily="34" charset="-120"/>
              </a:rPr>
              <a:t>SEKCJA</a:t>
            </a:r>
            <a:endParaRPr lang="en-US" sz="1200" dirty="0"/>
          </a:p>
        </p:txBody>
      </p:sp>
      <p:sp>
        <p:nvSpPr>
          <p:cNvPr id="8" name="Text 5"/>
          <p:cNvSpPr/>
          <p:nvPr/>
        </p:nvSpPr>
        <p:spPr>
          <a:xfrm>
            <a:off x="2926080" y="1600200"/>
            <a:ext cx="3931920" cy="1005840"/>
          </a:xfrm>
          <a:prstGeom prst="rect">
            <a:avLst/>
          </a:prstGeom>
          <a:noFill/>
          <a:ln/>
        </p:spPr>
        <p:txBody>
          <a:bodyPr wrap="square" lIns="0" tIns="0" rIns="0" bIns="0" rtlCol="0" anchor="ctr"/>
          <a:lstStyle/>
          <a:p>
            <a:pPr marL="0" indent="0">
              <a:buNone/>
            </a:pPr>
            <a:r>
              <a:rPr lang="en-US" sz="3600" b="1" dirty="0">
                <a:solidFill>
                  <a:srgbClr val="FFFFFF"/>
                </a:solidFill>
                <a:latin typeface="Trebuchet MS" pitchFamily="34" charset="0"/>
                <a:ea typeface="Trebuchet MS" pitchFamily="34" charset="-122"/>
                <a:cs typeface="Trebuchet MS" pitchFamily="34" charset="-120"/>
              </a:rPr>
              <a:t>Estymacja stanu</a:t>
            </a:r>
            <a:endParaRPr lang="en-US" sz="3600" dirty="0"/>
          </a:p>
          <a:p>
            <a:pPr marL="0" indent="0">
              <a:buNone/>
            </a:pPr>
            <a:r>
              <a:rPr lang="en-US" sz="3600" b="1" dirty="0">
                <a:solidFill>
                  <a:srgbClr val="FFFFFF"/>
                </a:solidFill>
                <a:latin typeface="Trebuchet MS" pitchFamily="34" charset="0"/>
                <a:ea typeface="Trebuchet MS" pitchFamily="34" charset="-122"/>
                <a:cs typeface="Trebuchet MS" pitchFamily="34" charset="-120"/>
              </a:rPr>
              <a:t>robota</a:t>
            </a:r>
            <a:endParaRPr lang="en-US" sz="3600" dirty="0"/>
          </a:p>
        </p:txBody>
      </p:sp>
      <p:sp>
        <p:nvSpPr>
          <p:cNvPr id="9" name="Shape 6"/>
          <p:cNvSpPr/>
          <p:nvPr/>
        </p:nvSpPr>
        <p:spPr>
          <a:xfrm>
            <a:off x="2926080" y="2697480"/>
            <a:ext cx="3931920" cy="27432"/>
          </a:xfrm>
          <a:prstGeom prst="rect">
            <a:avLst/>
          </a:prstGeom>
          <a:solidFill>
            <a:srgbClr val="00B4D8"/>
          </a:solidFill>
          <a:ln w="12700">
            <a:solidFill>
              <a:srgbClr val="00B4D8"/>
            </a:solidFill>
            <a:prstDash val="solid"/>
          </a:ln>
          <a:effectLst>
            <a:outerShdw blurRad="50800" dist="38100" dir="2700000" algn="tl" rotWithShape="0">
              <a:prstClr val="black">
                <a:alpha val="40000"/>
              </a:prstClr>
            </a:outerShdw>
          </a:effectLst>
        </p:spPr>
      </p:sp>
      <p:sp>
        <p:nvSpPr>
          <p:cNvPr id="10" name="Text 7"/>
          <p:cNvSpPr/>
          <p:nvPr/>
        </p:nvSpPr>
        <p:spPr>
          <a:xfrm>
            <a:off x="2926080" y="2834640"/>
            <a:ext cx="3931920" cy="822960"/>
          </a:xfrm>
          <a:prstGeom prst="rect">
            <a:avLst/>
          </a:prstGeom>
          <a:noFill/>
          <a:ln/>
        </p:spPr>
        <p:txBody>
          <a:bodyPr wrap="square" lIns="0" tIns="0" rIns="0" bIns="0" rtlCol="0" anchor="ctr"/>
          <a:lstStyle/>
          <a:p>
            <a:pPr marL="0" indent="0">
              <a:buNone/>
            </a:pPr>
            <a:r>
              <a:rPr lang="en-US" sz="1400" i="1" dirty="0">
                <a:solidFill>
                  <a:srgbClr val="E2EBF3"/>
                </a:solidFill>
                <a:latin typeface="Calibri" pitchFamily="34" charset="0"/>
                <a:ea typeface="Calibri" pitchFamily="34" charset="-122"/>
                <a:cs typeface="Calibri" pitchFamily="34" charset="-120"/>
              </a:rPr>
              <a:t>Odometria, dryft, dead reckoning i układy transformacji</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0F4F8"/>
        </a:solidFill>
        <a:effectLst/>
      </p:bgPr>
    </p:bg>
    <p:spTree>
      <p:nvGrpSpPr>
        <p:cNvPr id="1" name=""/>
        <p:cNvGrpSpPr/>
        <p:nvPr/>
      </p:nvGrpSpPr>
      <p:grpSpPr>
        <a:xfrm>
          <a:off x="0" y="0"/>
          <a:ext cx="0" cy="0"/>
          <a:chOff x="0" y="0"/>
          <a:chExt cx="0" cy="0"/>
        </a:xfrm>
      </p:grpSpPr>
      <p:sp>
        <p:nvSpPr>
          <p:cNvPr id="2" name="Shape 0"/>
          <p:cNvSpPr/>
          <p:nvPr/>
        </p:nvSpPr>
        <p:spPr>
          <a:xfrm>
            <a:off x="0" y="0"/>
            <a:ext cx="64008" cy="5143500"/>
          </a:xfrm>
          <a:prstGeom prst="rect">
            <a:avLst/>
          </a:prstGeom>
          <a:solidFill>
            <a:srgbClr val="00B4D8"/>
          </a:solidFill>
          <a:ln w="12700">
            <a:solidFill>
              <a:srgbClr val="00B4D8"/>
            </a:solidFill>
            <a:prstDash val="solid"/>
          </a:ln>
        </p:spPr>
      </p:sp>
      <p:sp>
        <p:nvSpPr>
          <p:cNvPr id="3" name="Shape 1"/>
          <p:cNvSpPr/>
          <p:nvPr/>
        </p:nvSpPr>
        <p:spPr>
          <a:xfrm>
            <a:off x="64008" y="0"/>
            <a:ext cx="9079992" cy="960120"/>
          </a:xfrm>
          <a:prstGeom prst="rect">
            <a:avLst/>
          </a:prstGeom>
          <a:solidFill>
            <a:srgbClr val="0D1B2A"/>
          </a:solidFill>
          <a:ln w="12700">
            <a:solidFill>
              <a:srgbClr val="0D1B2A"/>
            </a:solidFill>
            <a:prstDash val="solid"/>
          </a:ln>
        </p:spPr>
      </p:sp>
      <p:sp>
        <p:nvSpPr>
          <p:cNvPr id="4" name="Text 2"/>
          <p:cNvSpPr/>
          <p:nvPr/>
        </p:nvSpPr>
        <p:spPr>
          <a:xfrm>
            <a:off x="228600" y="73152"/>
            <a:ext cx="4572000" cy="274320"/>
          </a:xfrm>
          <a:prstGeom prst="rect">
            <a:avLst/>
          </a:prstGeom>
          <a:noFill/>
          <a:ln/>
        </p:spPr>
        <p:txBody>
          <a:bodyPr wrap="square" lIns="0" tIns="0" rIns="0" bIns="0" rtlCol="0" anchor="ctr"/>
          <a:lstStyle/>
          <a:p>
            <a:pPr marL="0" indent="0">
              <a:buNone/>
            </a:pPr>
            <a:r>
              <a:rPr lang="en-US" sz="900" b="1" kern="0" spc="200" dirty="0">
                <a:solidFill>
                  <a:srgbClr val="00B4D8"/>
                </a:solidFill>
                <a:latin typeface="Trebuchet MS" pitchFamily="34" charset="0"/>
                <a:ea typeface="Trebuchet MS" pitchFamily="34" charset="-122"/>
                <a:cs typeface="Trebuchet MS" pitchFamily="34" charset="-120"/>
              </a:rPr>
              <a:t>SEKCJA 1 | STAN ROBOTA</a:t>
            </a:r>
            <a:endParaRPr lang="en-US" sz="900" dirty="0"/>
          </a:p>
        </p:txBody>
      </p:sp>
      <p:sp>
        <p:nvSpPr>
          <p:cNvPr id="5" name="Text 3"/>
          <p:cNvSpPr/>
          <p:nvPr/>
        </p:nvSpPr>
        <p:spPr>
          <a:xfrm>
            <a:off x="228600" y="274320"/>
            <a:ext cx="8686800" cy="594360"/>
          </a:xfrm>
          <a:prstGeom prst="rect">
            <a:avLst/>
          </a:prstGeom>
          <a:noFill/>
          <a:ln/>
        </p:spPr>
        <p:txBody>
          <a:bodyPr wrap="square" lIns="0" tIns="0" rIns="0" bIns="0" rtlCol="0" anchor="ctr"/>
          <a:lstStyle/>
          <a:p>
            <a:pPr marL="0" indent="0">
              <a:buNone/>
            </a:pPr>
            <a:r>
              <a:rPr lang="en-US" sz="2800" b="1" dirty="0">
                <a:solidFill>
                  <a:srgbClr val="FFFFFF"/>
                </a:solidFill>
                <a:latin typeface="Trebuchet MS" pitchFamily="34" charset="0"/>
                <a:ea typeface="Trebuchet MS" pitchFamily="34" charset="-122"/>
                <a:cs typeface="Trebuchet MS" pitchFamily="34" charset="-120"/>
              </a:rPr>
              <a:t>Czym jest stan robota humanoidalnego?</a:t>
            </a:r>
            <a:endParaRPr lang="en-US" sz="2800" dirty="0"/>
          </a:p>
        </p:txBody>
      </p:sp>
      <p:grpSp>
        <p:nvGrpSpPr>
          <p:cNvPr id="30" name="Grupa 29"/>
          <p:cNvGrpSpPr/>
          <p:nvPr/>
        </p:nvGrpSpPr>
        <p:grpSpPr>
          <a:xfrm>
            <a:off x="274320" y="1143000"/>
            <a:ext cx="8412480" cy="2945350"/>
            <a:chOff x="274320" y="1143000"/>
            <a:chExt cx="8412480" cy="3520440"/>
          </a:xfrm>
        </p:grpSpPr>
        <p:sp>
          <p:nvSpPr>
            <p:cNvPr id="6" name="Shape 4"/>
            <p:cNvSpPr/>
            <p:nvPr/>
          </p:nvSpPr>
          <p:spPr>
            <a:xfrm>
              <a:off x="274320" y="1143000"/>
              <a:ext cx="2651760" cy="1691640"/>
            </a:xfrm>
            <a:prstGeom prst="rect">
              <a:avLst/>
            </a:prstGeom>
            <a:solidFill>
              <a:srgbClr val="FFFFFF"/>
            </a:solidFill>
            <a:ln w="12700">
              <a:solidFill>
                <a:srgbClr val="E2EBF3"/>
              </a:solidFill>
              <a:prstDash val="solid"/>
            </a:ln>
            <a:effectLst>
              <a:outerShdw blurRad="76200" dist="25400" dir="8100000" algn="bl" rotWithShape="0">
                <a:srgbClr val="000000">
                  <a:alpha val="12000"/>
                </a:srgbClr>
              </a:outerShdw>
            </a:effectLst>
          </p:spPr>
        </p:sp>
        <p:sp>
          <p:nvSpPr>
            <p:cNvPr id="7" name="Shape 5"/>
            <p:cNvSpPr/>
            <p:nvPr/>
          </p:nvSpPr>
          <p:spPr>
            <a:xfrm>
              <a:off x="274320" y="1143000"/>
              <a:ext cx="2651760" cy="54864"/>
            </a:xfrm>
            <a:prstGeom prst="rect">
              <a:avLst/>
            </a:prstGeom>
            <a:solidFill>
              <a:srgbClr val="00B4D8"/>
            </a:solidFill>
            <a:ln w="12700">
              <a:solidFill>
                <a:srgbClr val="00B4D8"/>
              </a:solidFill>
              <a:prstDash val="solid"/>
            </a:ln>
          </p:spPr>
        </p:sp>
        <p:sp>
          <p:nvSpPr>
            <p:cNvPr id="8" name="Text 6"/>
            <p:cNvSpPr/>
            <p:nvPr/>
          </p:nvSpPr>
          <p:spPr>
            <a:xfrm>
              <a:off x="384048" y="1234440"/>
              <a:ext cx="2432304" cy="642823"/>
            </a:xfrm>
            <a:prstGeom prst="rect">
              <a:avLst/>
            </a:prstGeom>
            <a:noFill/>
            <a:ln/>
          </p:spPr>
          <p:txBody>
            <a:bodyPr wrap="square" lIns="0" tIns="0" rIns="0" bIns="0" rtlCol="0" anchor="ctr"/>
            <a:lstStyle/>
            <a:p>
              <a:pPr marL="0" indent="0" algn="ctr">
                <a:buNone/>
              </a:pPr>
              <a:r>
                <a:rPr lang="en-US" sz="2000" b="1" dirty="0">
                  <a:solidFill>
                    <a:srgbClr val="0D1B2A"/>
                  </a:solidFill>
                  <a:latin typeface="Trebuchet MS" pitchFamily="34" charset="0"/>
                  <a:ea typeface="Trebuchet MS" pitchFamily="34" charset="-122"/>
                  <a:cs typeface="Trebuchet MS" pitchFamily="34" charset="-120"/>
                </a:rPr>
                <a:t>Pozycja i orientacja</a:t>
              </a:r>
              <a:endParaRPr lang="en-US" sz="2000" dirty="0"/>
            </a:p>
          </p:txBody>
        </p:sp>
        <p:sp>
          <p:nvSpPr>
            <p:cNvPr id="9" name="Text 7"/>
            <p:cNvSpPr/>
            <p:nvPr/>
          </p:nvSpPr>
          <p:spPr>
            <a:xfrm>
              <a:off x="384048" y="1853489"/>
              <a:ext cx="2432304" cy="930402"/>
            </a:xfrm>
            <a:prstGeom prst="rect">
              <a:avLst/>
            </a:prstGeom>
            <a:noFill/>
            <a:ln/>
          </p:spPr>
          <p:txBody>
            <a:bodyPr wrap="square" lIns="0" tIns="0" rIns="0" bIns="0" rtlCol="0" anchor="ctr"/>
            <a:lstStyle/>
            <a:p>
              <a:pPr marL="0" indent="0">
                <a:buNone/>
              </a:pPr>
              <a:r>
                <a:rPr lang="en-US" sz="1400" spc="-20" dirty="0">
                  <a:solidFill>
                    <a:srgbClr val="475569"/>
                  </a:solidFill>
                  <a:latin typeface="Calibri" pitchFamily="34" charset="0"/>
                  <a:ea typeface="Calibri" pitchFamily="34" charset="-122"/>
                  <a:cs typeface="Calibri" pitchFamily="34" charset="-120"/>
                </a:rPr>
                <a:t>x, y, z [m] oraz kąty roll, pitch, yaw [rad] w przestrzeni 3D</a:t>
              </a:r>
              <a:endParaRPr lang="en-US" sz="1400" spc="-20" dirty="0"/>
            </a:p>
          </p:txBody>
        </p:sp>
        <p:sp>
          <p:nvSpPr>
            <p:cNvPr id="10" name="Shape 8"/>
            <p:cNvSpPr/>
            <p:nvPr/>
          </p:nvSpPr>
          <p:spPr>
            <a:xfrm>
              <a:off x="3154680" y="1143000"/>
              <a:ext cx="2651760" cy="1691640"/>
            </a:xfrm>
            <a:prstGeom prst="rect">
              <a:avLst/>
            </a:prstGeom>
            <a:solidFill>
              <a:srgbClr val="FFFFFF"/>
            </a:solidFill>
            <a:ln w="12700">
              <a:solidFill>
                <a:srgbClr val="E2EBF3"/>
              </a:solidFill>
              <a:prstDash val="solid"/>
            </a:ln>
            <a:effectLst>
              <a:outerShdw blurRad="76200" dist="25400" dir="8100000" algn="bl" rotWithShape="0">
                <a:srgbClr val="000000">
                  <a:alpha val="12000"/>
                </a:srgbClr>
              </a:outerShdw>
            </a:effectLst>
          </p:spPr>
        </p:sp>
        <p:sp>
          <p:nvSpPr>
            <p:cNvPr id="11" name="Shape 9"/>
            <p:cNvSpPr/>
            <p:nvPr/>
          </p:nvSpPr>
          <p:spPr>
            <a:xfrm>
              <a:off x="3154680" y="1143000"/>
              <a:ext cx="2651760" cy="54864"/>
            </a:xfrm>
            <a:prstGeom prst="rect">
              <a:avLst/>
            </a:prstGeom>
            <a:solidFill>
              <a:srgbClr val="0077A8"/>
            </a:solidFill>
            <a:ln w="12700">
              <a:solidFill>
                <a:srgbClr val="0077A8"/>
              </a:solidFill>
              <a:prstDash val="solid"/>
            </a:ln>
          </p:spPr>
        </p:sp>
        <p:sp>
          <p:nvSpPr>
            <p:cNvPr id="12" name="Text 10"/>
            <p:cNvSpPr/>
            <p:nvPr/>
          </p:nvSpPr>
          <p:spPr>
            <a:xfrm>
              <a:off x="3264408" y="1234440"/>
              <a:ext cx="2432304" cy="642823"/>
            </a:xfrm>
            <a:prstGeom prst="rect">
              <a:avLst/>
            </a:prstGeom>
            <a:noFill/>
            <a:ln/>
          </p:spPr>
          <p:txBody>
            <a:bodyPr wrap="square" lIns="0" tIns="0" rIns="0" bIns="0" rtlCol="0" anchor="ctr"/>
            <a:lstStyle/>
            <a:p>
              <a:pPr marL="0" indent="0" algn="ctr">
                <a:buNone/>
              </a:pPr>
              <a:r>
                <a:rPr lang="en-US" sz="2000" b="1" dirty="0">
                  <a:solidFill>
                    <a:srgbClr val="0D1B2A"/>
                  </a:solidFill>
                  <a:latin typeface="Trebuchet MS" pitchFamily="34" charset="0"/>
                  <a:ea typeface="Trebuchet MS" pitchFamily="34" charset="-122"/>
                  <a:cs typeface="Trebuchet MS" pitchFamily="34" charset="-120"/>
                </a:rPr>
                <a:t>Prędkości</a:t>
              </a:r>
              <a:endParaRPr lang="en-US" sz="2000" dirty="0"/>
            </a:p>
          </p:txBody>
        </p:sp>
        <p:sp>
          <p:nvSpPr>
            <p:cNvPr id="13" name="Text 11"/>
            <p:cNvSpPr/>
            <p:nvPr/>
          </p:nvSpPr>
          <p:spPr>
            <a:xfrm>
              <a:off x="3264408" y="1853489"/>
              <a:ext cx="2432304" cy="930402"/>
            </a:xfrm>
            <a:prstGeom prst="rect">
              <a:avLst/>
            </a:prstGeom>
            <a:noFill/>
            <a:ln/>
          </p:spPr>
          <p:txBody>
            <a:bodyPr wrap="square" lIns="0" tIns="0" rIns="0" bIns="0" rtlCol="0" anchor="ctr"/>
            <a:lstStyle/>
            <a:p>
              <a:pPr marL="0" indent="0">
                <a:buNone/>
              </a:pPr>
              <a:r>
                <a:rPr lang="en-US" sz="1400" spc="-20" dirty="0">
                  <a:solidFill>
                    <a:srgbClr val="475569"/>
                  </a:solidFill>
                  <a:latin typeface="Calibri" pitchFamily="34" charset="0"/>
                  <a:ea typeface="Calibri" pitchFamily="34" charset="-122"/>
                  <a:cs typeface="Calibri" pitchFamily="34" charset="-120"/>
                </a:rPr>
                <a:t>liniowa v [m/s] i kątowa ω [rad/s</a:t>
              </a:r>
              <a:r>
                <a:rPr lang="en-US" sz="1400" spc="-20" dirty="0" smtClean="0">
                  <a:solidFill>
                    <a:srgbClr val="475569"/>
                  </a:solidFill>
                  <a:latin typeface="Calibri" pitchFamily="34" charset="0"/>
                  <a:ea typeface="Calibri" pitchFamily="34" charset="-122"/>
                  <a:cs typeface="Calibri" pitchFamily="34" charset="-120"/>
                </a:rPr>
                <a:t>]</a:t>
              </a:r>
              <a:r>
                <a:rPr lang="pl-PL" sz="1400" spc="-20" dirty="0" smtClean="0">
                  <a:solidFill>
                    <a:srgbClr val="475569"/>
                  </a:solidFill>
                  <a:latin typeface="Calibri" pitchFamily="34" charset="0"/>
                  <a:ea typeface="Calibri" pitchFamily="34" charset="-122"/>
                  <a:cs typeface="Calibri" pitchFamily="34" charset="-120"/>
                </a:rPr>
                <a:t>:</a:t>
              </a:r>
              <a:r>
                <a:rPr lang="en-US" sz="1400" spc="-20" dirty="0" smtClean="0">
                  <a:solidFill>
                    <a:srgbClr val="475569"/>
                  </a:solidFill>
                  <a:latin typeface="Calibri" pitchFamily="34" charset="0"/>
                  <a:ea typeface="Calibri" pitchFamily="34" charset="-122"/>
                  <a:cs typeface="Calibri" pitchFamily="34" charset="-120"/>
                </a:rPr>
                <a:t> </a:t>
              </a:r>
              <a:r>
                <a:rPr lang="en-US" sz="1400" spc="-20" dirty="0">
                  <a:solidFill>
                    <a:srgbClr val="475569"/>
                  </a:solidFill>
                  <a:latin typeface="Calibri" pitchFamily="34" charset="0"/>
                  <a:ea typeface="Calibri" pitchFamily="34" charset="-122"/>
                  <a:cs typeface="Calibri" pitchFamily="34" charset="-120"/>
                </a:rPr>
                <a:t>wejście do modelu predykcji</a:t>
              </a:r>
              <a:endParaRPr lang="en-US" sz="1400" spc="-20" dirty="0"/>
            </a:p>
          </p:txBody>
        </p:sp>
        <p:sp>
          <p:nvSpPr>
            <p:cNvPr id="14" name="Shape 12"/>
            <p:cNvSpPr/>
            <p:nvPr/>
          </p:nvSpPr>
          <p:spPr>
            <a:xfrm>
              <a:off x="6035040" y="1143000"/>
              <a:ext cx="2651760" cy="1691640"/>
            </a:xfrm>
            <a:prstGeom prst="rect">
              <a:avLst/>
            </a:prstGeom>
            <a:solidFill>
              <a:srgbClr val="FFFFFF"/>
            </a:solidFill>
            <a:ln w="12700">
              <a:solidFill>
                <a:srgbClr val="E2EBF3"/>
              </a:solidFill>
              <a:prstDash val="solid"/>
            </a:ln>
            <a:effectLst>
              <a:outerShdw blurRad="76200" dist="25400" dir="8100000" algn="bl" rotWithShape="0">
                <a:srgbClr val="000000">
                  <a:alpha val="12000"/>
                </a:srgbClr>
              </a:outerShdw>
            </a:effectLst>
          </p:spPr>
        </p:sp>
        <p:sp>
          <p:nvSpPr>
            <p:cNvPr id="15" name="Shape 13"/>
            <p:cNvSpPr/>
            <p:nvPr/>
          </p:nvSpPr>
          <p:spPr>
            <a:xfrm>
              <a:off x="6035040" y="1143000"/>
              <a:ext cx="2651760" cy="54864"/>
            </a:xfrm>
            <a:prstGeom prst="rect">
              <a:avLst/>
            </a:prstGeom>
            <a:solidFill>
              <a:srgbClr val="0077A8"/>
            </a:solidFill>
            <a:ln w="12700">
              <a:solidFill>
                <a:srgbClr val="0077A8"/>
              </a:solidFill>
              <a:prstDash val="solid"/>
            </a:ln>
          </p:spPr>
        </p:sp>
        <p:sp>
          <p:nvSpPr>
            <p:cNvPr id="16" name="Text 14"/>
            <p:cNvSpPr/>
            <p:nvPr/>
          </p:nvSpPr>
          <p:spPr>
            <a:xfrm>
              <a:off x="6144768" y="1234440"/>
              <a:ext cx="2432304" cy="642823"/>
            </a:xfrm>
            <a:prstGeom prst="rect">
              <a:avLst/>
            </a:prstGeom>
            <a:noFill/>
            <a:ln/>
          </p:spPr>
          <p:txBody>
            <a:bodyPr wrap="square" lIns="0" tIns="0" rIns="0" bIns="0" rtlCol="0" anchor="ctr"/>
            <a:lstStyle/>
            <a:p>
              <a:pPr marL="0" indent="0" algn="ctr">
                <a:buNone/>
              </a:pPr>
              <a:r>
                <a:rPr lang="en-US" sz="2000" b="1" dirty="0">
                  <a:solidFill>
                    <a:srgbClr val="0D1B2A"/>
                  </a:solidFill>
                  <a:latin typeface="Trebuchet MS" pitchFamily="34" charset="0"/>
                  <a:ea typeface="Trebuchet MS" pitchFamily="34" charset="-122"/>
                  <a:cs typeface="Trebuchet MS" pitchFamily="34" charset="-120"/>
                </a:rPr>
                <a:t>Konfiguracja stawów</a:t>
              </a:r>
              <a:endParaRPr lang="en-US" sz="2000" dirty="0"/>
            </a:p>
          </p:txBody>
        </p:sp>
        <p:sp>
          <p:nvSpPr>
            <p:cNvPr id="17" name="Text 15"/>
            <p:cNvSpPr/>
            <p:nvPr/>
          </p:nvSpPr>
          <p:spPr>
            <a:xfrm>
              <a:off x="6144768" y="1853489"/>
              <a:ext cx="2432304" cy="930402"/>
            </a:xfrm>
            <a:prstGeom prst="rect">
              <a:avLst/>
            </a:prstGeom>
            <a:noFill/>
            <a:ln/>
          </p:spPr>
          <p:txBody>
            <a:bodyPr wrap="square" lIns="0" tIns="0" rIns="0" bIns="0" rtlCol="0" anchor="ctr"/>
            <a:lstStyle/>
            <a:p>
              <a:pPr marL="0" indent="0">
                <a:buNone/>
              </a:pPr>
              <a:r>
                <a:rPr lang="en-US" sz="1400" spc="-20" dirty="0">
                  <a:solidFill>
                    <a:srgbClr val="475569"/>
                  </a:solidFill>
                  <a:latin typeface="Calibri" pitchFamily="34" charset="0"/>
                  <a:ea typeface="Calibri" pitchFamily="34" charset="-122"/>
                  <a:cs typeface="Calibri" pitchFamily="34" charset="-120"/>
                </a:rPr>
                <a:t>Kąty q(t) [rad</a:t>
              </a:r>
              <a:r>
                <a:rPr lang="en-US" sz="1400" spc="-20" dirty="0" smtClean="0">
                  <a:solidFill>
                    <a:srgbClr val="475569"/>
                  </a:solidFill>
                  <a:latin typeface="Calibri" pitchFamily="34" charset="0"/>
                  <a:ea typeface="Calibri" pitchFamily="34" charset="-122"/>
                  <a:cs typeface="Calibri" pitchFamily="34" charset="-120"/>
                </a:rPr>
                <a:t>]</a:t>
              </a:r>
              <a:r>
                <a:rPr lang="pl-PL" sz="1400" spc="-20" dirty="0" smtClean="0">
                  <a:solidFill>
                    <a:srgbClr val="475569"/>
                  </a:solidFill>
                  <a:latin typeface="Calibri" pitchFamily="34" charset="0"/>
                  <a:ea typeface="Calibri" pitchFamily="34" charset="-122"/>
                  <a:cs typeface="Calibri" pitchFamily="34" charset="-120"/>
                </a:rPr>
                <a:t>:</a:t>
              </a:r>
              <a:r>
                <a:rPr lang="en-US" sz="1400" spc="-20" dirty="0" smtClean="0">
                  <a:solidFill>
                    <a:srgbClr val="475569"/>
                  </a:solidFill>
                  <a:latin typeface="Calibri" pitchFamily="34" charset="0"/>
                  <a:ea typeface="Calibri" pitchFamily="34" charset="-122"/>
                  <a:cs typeface="Calibri" pitchFamily="34" charset="-120"/>
                </a:rPr>
                <a:t> </a:t>
              </a:r>
              <a:r>
                <a:rPr lang="en-US" sz="1400" spc="-20" dirty="0">
                  <a:solidFill>
                    <a:srgbClr val="475569"/>
                  </a:solidFill>
                  <a:latin typeface="Calibri" pitchFamily="34" charset="0"/>
                  <a:ea typeface="Calibri" pitchFamily="34" charset="-122"/>
                  <a:cs typeface="Calibri" pitchFamily="34" charset="-120"/>
                </a:rPr>
                <a:t>kinematyka prosta, Jacobian, zakres ruchu nóg</a:t>
              </a:r>
              <a:endParaRPr lang="en-US" sz="1400" spc="-20" dirty="0"/>
            </a:p>
          </p:txBody>
        </p:sp>
        <p:sp>
          <p:nvSpPr>
            <p:cNvPr id="18" name="Shape 16"/>
            <p:cNvSpPr/>
            <p:nvPr/>
          </p:nvSpPr>
          <p:spPr>
            <a:xfrm>
              <a:off x="274320" y="2971800"/>
              <a:ext cx="2651760" cy="1691640"/>
            </a:xfrm>
            <a:prstGeom prst="rect">
              <a:avLst/>
            </a:prstGeom>
            <a:solidFill>
              <a:srgbClr val="FFFFFF"/>
            </a:solidFill>
            <a:ln w="12700">
              <a:solidFill>
                <a:srgbClr val="E2EBF3"/>
              </a:solidFill>
              <a:prstDash val="solid"/>
            </a:ln>
            <a:effectLst>
              <a:outerShdw blurRad="76200" dist="25400" dir="8100000" algn="bl" rotWithShape="0">
                <a:srgbClr val="000000">
                  <a:alpha val="12000"/>
                </a:srgbClr>
              </a:outerShdw>
            </a:effectLst>
          </p:spPr>
        </p:sp>
        <p:sp>
          <p:nvSpPr>
            <p:cNvPr id="19" name="Shape 17"/>
            <p:cNvSpPr/>
            <p:nvPr/>
          </p:nvSpPr>
          <p:spPr>
            <a:xfrm>
              <a:off x="274320" y="2971800"/>
              <a:ext cx="2651760" cy="54864"/>
            </a:xfrm>
            <a:prstGeom prst="rect">
              <a:avLst/>
            </a:prstGeom>
            <a:solidFill>
              <a:srgbClr val="006490"/>
            </a:solidFill>
            <a:ln w="12700">
              <a:solidFill>
                <a:srgbClr val="006490"/>
              </a:solidFill>
              <a:prstDash val="solid"/>
            </a:ln>
          </p:spPr>
        </p:sp>
        <p:sp>
          <p:nvSpPr>
            <p:cNvPr id="20" name="Text 18"/>
            <p:cNvSpPr/>
            <p:nvPr/>
          </p:nvSpPr>
          <p:spPr>
            <a:xfrm>
              <a:off x="384048" y="3063240"/>
              <a:ext cx="2432304" cy="642823"/>
            </a:xfrm>
            <a:prstGeom prst="rect">
              <a:avLst/>
            </a:prstGeom>
            <a:noFill/>
            <a:ln/>
          </p:spPr>
          <p:txBody>
            <a:bodyPr wrap="square" lIns="0" tIns="0" rIns="0" bIns="0" rtlCol="0" anchor="ctr"/>
            <a:lstStyle/>
            <a:p>
              <a:pPr marL="0" indent="0" algn="ctr">
                <a:buNone/>
              </a:pPr>
              <a:r>
                <a:rPr lang="en-US" sz="2000" b="1" dirty="0">
                  <a:solidFill>
                    <a:srgbClr val="0D1B2A"/>
                  </a:solidFill>
                  <a:latin typeface="Trebuchet MS" pitchFamily="34" charset="0"/>
                  <a:ea typeface="Trebuchet MS" pitchFamily="34" charset="-122"/>
                  <a:cs typeface="Trebuchet MS" pitchFamily="34" charset="-120"/>
                </a:rPr>
                <a:t>Stan kontaktu stóp</a:t>
              </a:r>
              <a:endParaRPr lang="en-US" sz="2000" dirty="0"/>
            </a:p>
          </p:txBody>
        </p:sp>
        <p:sp>
          <p:nvSpPr>
            <p:cNvPr id="21" name="Text 19"/>
            <p:cNvSpPr/>
            <p:nvPr/>
          </p:nvSpPr>
          <p:spPr>
            <a:xfrm>
              <a:off x="384048" y="3682289"/>
              <a:ext cx="2432304" cy="930402"/>
            </a:xfrm>
            <a:prstGeom prst="rect">
              <a:avLst/>
            </a:prstGeom>
            <a:noFill/>
            <a:ln/>
          </p:spPr>
          <p:txBody>
            <a:bodyPr wrap="square" lIns="0" tIns="0" rIns="0" bIns="0" rtlCol="0" anchor="ctr"/>
            <a:lstStyle/>
            <a:p>
              <a:pPr marL="0" indent="0">
                <a:buNone/>
              </a:pPr>
              <a:r>
                <a:rPr lang="en-US" sz="1400" spc="-20" dirty="0">
                  <a:solidFill>
                    <a:srgbClr val="475569"/>
                  </a:solidFill>
                  <a:latin typeface="Calibri" pitchFamily="34" charset="0"/>
                  <a:ea typeface="Calibri" pitchFamily="34" charset="-122"/>
                  <a:cs typeface="Calibri" pitchFamily="34" charset="-120"/>
                </a:rPr>
                <a:t>Lewa/prawa stopa: </a:t>
              </a:r>
              <a:r>
                <a:rPr lang="en-US" sz="1400" spc="-20" dirty="0" err="1" smtClean="0">
                  <a:solidFill>
                    <a:srgbClr val="475569"/>
                  </a:solidFill>
                  <a:latin typeface="Calibri" pitchFamily="34" charset="0"/>
                  <a:ea typeface="Calibri" pitchFamily="34" charset="-122"/>
                  <a:cs typeface="Calibri" pitchFamily="34" charset="-120"/>
                </a:rPr>
                <a:t>podparta</a:t>
              </a:r>
              <a:r>
                <a:rPr lang="pl-PL" sz="1400" spc="-20" dirty="0" smtClean="0">
                  <a:solidFill>
                    <a:srgbClr val="475569"/>
                  </a:solidFill>
                  <a:latin typeface="Calibri" pitchFamily="34" charset="0"/>
                  <a:ea typeface="Calibri" pitchFamily="34" charset="-122"/>
                  <a:cs typeface="Calibri" pitchFamily="34" charset="-120"/>
                </a:rPr>
                <a:t>,</a:t>
              </a:r>
              <a:r>
                <a:rPr lang="en-US" sz="1400" spc="-20" dirty="0" smtClean="0">
                  <a:solidFill>
                    <a:srgbClr val="475569"/>
                  </a:solidFill>
                  <a:latin typeface="Calibri" pitchFamily="34" charset="0"/>
                  <a:ea typeface="Calibri" pitchFamily="34" charset="-122"/>
                  <a:cs typeface="Calibri" pitchFamily="34" charset="-120"/>
                </a:rPr>
                <a:t> </a:t>
              </a:r>
              <a:r>
                <a:rPr lang="en-US" sz="1400" spc="-20" dirty="0" err="1">
                  <a:solidFill>
                    <a:srgbClr val="475569"/>
                  </a:solidFill>
                  <a:latin typeface="Calibri" pitchFamily="34" charset="0"/>
                  <a:ea typeface="Calibri" pitchFamily="34" charset="-122"/>
                  <a:cs typeface="Calibri" pitchFamily="34" charset="-120"/>
                </a:rPr>
                <a:t>czy</a:t>
              </a:r>
              <a:r>
                <a:rPr lang="en-US" sz="1400" spc="-20" dirty="0">
                  <a:solidFill>
                    <a:srgbClr val="475569"/>
                  </a:solidFill>
                  <a:latin typeface="Calibri" pitchFamily="34" charset="0"/>
                  <a:ea typeface="Calibri" pitchFamily="34" charset="-122"/>
                  <a:cs typeface="Calibri" pitchFamily="34" charset="-120"/>
                </a:rPr>
                <a:t> </a:t>
              </a:r>
              <a:r>
                <a:rPr lang="pl-PL" sz="1400" spc="-20" dirty="0" smtClean="0">
                  <a:solidFill>
                    <a:srgbClr val="475569"/>
                  </a:solidFill>
                  <a:latin typeface="Calibri" pitchFamily="34" charset="0"/>
                  <a:ea typeface="Calibri" pitchFamily="34" charset="-122"/>
                  <a:cs typeface="Calibri" pitchFamily="34" charset="-120"/>
                </a:rPr>
                <a:t/>
              </a:r>
              <a:br>
                <a:rPr lang="pl-PL" sz="1400" spc="-20" dirty="0" smtClean="0">
                  <a:solidFill>
                    <a:srgbClr val="475569"/>
                  </a:solidFill>
                  <a:latin typeface="Calibri" pitchFamily="34" charset="0"/>
                  <a:ea typeface="Calibri" pitchFamily="34" charset="-122"/>
                  <a:cs typeface="Calibri" pitchFamily="34" charset="-120"/>
                </a:rPr>
              </a:br>
              <a:r>
                <a:rPr lang="en-US" sz="1400" spc="-20" dirty="0" smtClean="0">
                  <a:solidFill>
                    <a:srgbClr val="475569"/>
                  </a:solidFill>
                  <a:latin typeface="Calibri" pitchFamily="34" charset="0"/>
                  <a:ea typeface="Calibri" pitchFamily="34" charset="-122"/>
                  <a:cs typeface="Calibri" pitchFamily="34" charset="-120"/>
                </a:rPr>
                <a:t>w </a:t>
              </a:r>
              <a:r>
                <a:rPr lang="en-US" sz="1400" spc="-20" dirty="0">
                  <a:solidFill>
                    <a:srgbClr val="475569"/>
                  </a:solidFill>
                  <a:latin typeface="Calibri" pitchFamily="34" charset="0"/>
                  <a:ea typeface="Calibri" pitchFamily="34" charset="-122"/>
                  <a:cs typeface="Calibri" pitchFamily="34" charset="-120"/>
                </a:rPr>
                <a:t>locie? Kluczowe dla odometrii</a:t>
              </a:r>
              <a:endParaRPr lang="en-US" sz="1400" spc="-20" dirty="0"/>
            </a:p>
          </p:txBody>
        </p:sp>
        <p:sp>
          <p:nvSpPr>
            <p:cNvPr id="22" name="Shape 20"/>
            <p:cNvSpPr/>
            <p:nvPr/>
          </p:nvSpPr>
          <p:spPr>
            <a:xfrm>
              <a:off x="3154680" y="2971800"/>
              <a:ext cx="2651760" cy="1691640"/>
            </a:xfrm>
            <a:prstGeom prst="rect">
              <a:avLst/>
            </a:prstGeom>
            <a:solidFill>
              <a:srgbClr val="FFFFFF"/>
            </a:solidFill>
            <a:ln w="12700">
              <a:solidFill>
                <a:srgbClr val="E2EBF3"/>
              </a:solidFill>
              <a:prstDash val="solid"/>
            </a:ln>
            <a:effectLst>
              <a:outerShdw blurRad="76200" dist="25400" dir="8100000" algn="bl" rotWithShape="0">
                <a:srgbClr val="000000">
                  <a:alpha val="12000"/>
                </a:srgbClr>
              </a:outerShdw>
            </a:effectLst>
          </p:spPr>
        </p:sp>
        <p:sp>
          <p:nvSpPr>
            <p:cNvPr id="23" name="Shape 21"/>
            <p:cNvSpPr/>
            <p:nvPr/>
          </p:nvSpPr>
          <p:spPr>
            <a:xfrm>
              <a:off x="3154680" y="2971800"/>
              <a:ext cx="2651760" cy="54864"/>
            </a:xfrm>
            <a:prstGeom prst="rect">
              <a:avLst/>
            </a:prstGeom>
            <a:solidFill>
              <a:srgbClr val="1A3550"/>
            </a:solidFill>
            <a:ln w="12700">
              <a:solidFill>
                <a:srgbClr val="1A3550"/>
              </a:solidFill>
              <a:prstDash val="solid"/>
            </a:ln>
          </p:spPr>
        </p:sp>
        <p:sp>
          <p:nvSpPr>
            <p:cNvPr id="24" name="Text 22"/>
            <p:cNvSpPr/>
            <p:nvPr/>
          </p:nvSpPr>
          <p:spPr>
            <a:xfrm>
              <a:off x="3264408" y="3063240"/>
              <a:ext cx="2432304" cy="642823"/>
            </a:xfrm>
            <a:prstGeom prst="rect">
              <a:avLst/>
            </a:prstGeom>
            <a:noFill/>
            <a:ln/>
          </p:spPr>
          <p:txBody>
            <a:bodyPr wrap="square" lIns="0" tIns="0" rIns="0" bIns="0" rtlCol="0" anchor="ctr"/>
            <a:lstStyle/>
            <a:p>
              <a:pPr marL="0" indent="0" algn="ctr">
                <a:buNone/>
              </a:pPr>
              <a:r>
                <a:rPr lang="en-US" sz="2000" b="1" dirty="0">
                  <a:solidFill>
                    <a:srgbClr val="0D1B2A"/>
                  </a:solidFill>
                  <a:latin typeface="Trebuchet MS" pitchFamily="34" charset="0"/>
                  <a:ea typeface="Trebuchet MS" pitchFamily="34" charset="-122"/>
                  <a:cs typeface="Trebuchet MS" pitchFamily="34" charset="-120"/>
                </a:rPr>
                <a:t>Środek masy </a:t>
              </a:r>
              <a:r>
                <a:rPr lang="en-US" sz="2000" b="1" i="1" dirty="0">
                  <a:solidFill>
                    <a:srgbClr val="0D1B2A"/>
                  </a:solidFill>
                  <a:latin typeface="Trebuchet MS" pitchFamily="34" charset="0"/>
                  <a:ea typeface="Trebuchet MS" pitchFamily="34" charset="-122"/>
                  <a:cs typeface="Trebuchet MS" pitchFamily="34" charset="-120"/>
                </a:rPr>
                <a:t>(CoM)</a:t>
              </a:r>
              <a:endParaRPr lang="en-US" sz="2000" i="1" dirty="0"/>
            </a:p>
          </p:txBody>
        </p:sp>
        <p:sp>
          <p:nvSpPr>
            <p:cNvPr id="25" name="Text 23"/>
            <p:cNvSpPr/>
            <p:nvPr/>
          </p:nvSpPr>
          <p:spPr>
            <a:xfrm>
              <a:off x="3227238" y="3682289"/>
              <a:ext cx="2542032" cy="930402"/>
            </a:xfrm>
            <a:prstGeom prst="rect">
              <a:avLst/>
            </a:prstGeom>
            <a:noFill/>
            <a:ln/>
          </p:spPr>
          <p:txBody>
            <a:bodyPr wrap="square" lIns="0" tIns="0" rIns="0" bIns="0" rtlCol="0" anchor="ctr"/>
            <a:lstStyle/>
            <a:p>
              <a:pPr marL="0" indent="0">
                <a:buNone/>
              </a:pPr>
              <a:r>
                <a:rPr lang="en-US" sz="1400" spc="-40" dirty="0">
                  <a:solidFill>
                    <a:srgbClr val="475569"/>
                  </a:solidFill>
                  <a:latin typeface="Calibri" pitchFamily="34" charset="0"/>
                  <a:ea typeface="Calibri" pitchFamily="34" charset="-122"/>
                  <a:cs typeface="Calibri" pitchFamily="34" charset="-120"/>
                </a:rPr>
                <a:t>Pozycja CoM w przestrzeni; związana z warunkiem stabilności ZMP</a:t>
              </a:r>
              <a:endParaRPr lang="en-US" sz="1400" spc="-40" dirty="0"/>
            </a:p>
          </p:txBody>
        </p:sp>
        <p:sp>
          <p:nvSpPr>
            <p:cNvPr id="26" name="Shape 24"/>
            <p:cNvSpPr/>
            <p:nvPr/>
          </p:nvSpPr>
          <p:spPr>
            <a:xfrm>
              <a:off x="6035040" y="2971800"/>
              <a:ext cx="2651760" cy="1691640"/>
            </a:xfrm>
            <a:prstGeom prst="rect">
              <a:avLst/>
            </a:prstGeom>
            <a:solidFill>
              <a:srgbClr val="FFFFFF"/>
            </a:solidFill>
            <a:ln w="12700">
              <a:solidFill>
                <a:srgbClr val="E2EBF3"/>
              </a:solidFill>
              <a:prstDash val="solid"/>
            </a:ln>
            <a:effectLst>
              <a:outerShdw blurRad="76200" dist="25400" dir="8100000" algn="bl" rotWithShape="0">
                <a:srgbClr val="000000">
                  <a:alpha val="12000"/>
                </a:srgbClr>
              </a:outerShdw>
            </a:effectLst>
          </p:spPr>
        </p:sp>
        <p:sp>
          <p:nvSpPr>
            <p:cNvPr id="27" name="Shape 25"/>
            <p:cNvSpPr/>
            <p:nvPr/>
          </p:nvSpPr>
          <p:spPr>
            <a:xfrm>
              <a:off x="6035040" y="2971800"/>
              <a:ext cx="2651760" cy="54864"/>
            </a:xfrm>
            <a:prstGeom prst="rect">
              <a:avLst/>
            </a:prstGeom>
            <a:solidFill>
              <a:srgbClr val="F72585"/>
            </a:solidFill>
            <a:ln w="12700">
              <a:solidFill>
                <a:srgbClr val="F72585"/>
              </a:solidFill>
              <a:prstDash val="solid"/>
            </a:ln>
          </p:spPr>
        </p:sp>
        <p:sp>
          <p:nvSpPr>
            <p:cNvPr id="28" name="Text 26"/>
            <p:cNvSpPr/>
            <p:nvPr/>
          </p:nvSpPr>
          <p:spPr>
            <a:xfrm>
              <a:off x="6144768" y="3063240"/>
              <a:ext cx="2432304" cy="642823"/>
            </a:xfrm>
            <a:prstGeom prst="rect">
              <a:avLst/>
            </a:prstGeom>
            <a:noFill/>
            <a:ln/>
          </p:spPr>
          <p:txBody>
            <a:bodyPr wrap="square" lIns="0" tIns="0" rIns="0" bIns="0" rtlCol="0" anchor="ctr"/>
            <a:lstStyle/>
            <a:p>
              <a:pPr marL="0" indent="0" algn="ctr">
                <a:buNone/>
              </a:pPr>
              <a:r>
                <a:rPr lang="en-US" sz="2000" b="1" dirty="0">
                  <a:solidFill>
                    <a:srgbClr val="0D1B2A"/>
                  </a:solidFill>
                  <a:latin typeface="Trebuchet MS" pitchFamily="34" charset="0"/>
                  <a:ea typeface="Trebuchet MS" pitchFamily="34" charset="-122"/>
                  <a:cs typeface="Trebuchet MS" pitchFamily="34" charset="-120"/>
                </a:rPr>
                <a:t>Niepewność estymacji</a:t>
              </a:r>
              <a:endParaRPr lang="en-US" sz="2000" dirty="0"/>
            </a:p>
          </p:txBody>
        </p:sp>
        <p:sp>
          <p:nvSpPr>
            <p:cNvPr id="29" name="Text 27"/>
            <p:cNvSpPr/>
            <p:nvPr/>
          </p:nvSpPr>
          <p:spPr>
            <a:xfrm>
              <a:off x="6144768" y="3682289"/>
              <a:ext cx="2432304" cy="930402"/>
            </a:xfrm>
            <a:prstGeom prst="rect">
              <a:avLst/>
            </a:prstGeom>
            <a:noFill/>
            <a:ln/>
          </p:spPr>
          <p:txBody>
            <a:bodyPr wrap="square" lIns="0" tIns="0" rIns="0" bIns="0" rtlCol="0" anchor="ctr"/>
            <a:lstStyle/>
            <a:p>
              <a:pPr marL="0" indent="0">
                <a:buNone/>
              </a:pPr>
              <a:r>
                <a:rPr lang="pl-PL" sz="1400" spc="-20" dirty="0" smtClean="0">
                  <a:solidFill>
                    <a:srgbClr val="475569"/>
                  </a:solidFill>
                  <a:latin typeface="Calibri" pitchFamily="34" charset="0"/>
                  <a:ea typeface="Calibri" pitchFamily="34" charset="-122"/>
                  <a:cs typeface="Calibri" pitchFamily="34" charset="-120"/>
                </a:rPr>
                <a:t>Macierz</a:t>
              </a:r>
              <a:r>
                <a:rPr lang="en-US" sz="1400" spc="-20" dirty="0" smtClean="0">
                  <a:solidFill>
                    <a:srgbClr val="475569"/>
                  </a:solidFill>
                  <a:latin typeface="Calibri" pitchFamily="34" charset="0"/>
                  <a:ea typeface="Calibri" pitchFamily="34" charset="-122"/>
                  <a:cs typeface="Calibri" pitchFamily="34" charset="-120"/>
                </a:rPr>
                <a:t> </a:t>
              </a:r>
              <a:r>
                <a:rPr lang="pl-PL" sz="1400" spc="-20" dirty="0" smtClean="0">
                  <a:solidFill>
                    <a:srgbClr val="475569"/>
                  </a:solidFill>
                  <a:latin typeface="Calibri" pitchFamily="34" charset="0"/>
                  <a:ea typeface="Calibri" pitchFamily="34" charset="-122"/>
                  <a:cs typeface="Calibri" pitchFamily="34" charset="-120"/>
                </a:rPr>
                <a:t>kowariancji</a:t>
              </a:r>
              <a:r>
                <a:rPr lang="en-US" sz="1400" spc="-20" dirty="0" smtClean="0">
                  <a:solidFill>
                    <a:srgbClr val="475569"/>
                  </a:solidFill>
                  <a:latin typeface="Calibri" pitchFamily="34" charset="0"/>
                  <a:ea typeface="Calibri" pitchFamily="34" charset="-122"/>
                  <a:cs typeface="Calibri" pitchFamily="34" charset="-120"/>
                </a:rPr>
                <a:t> P</a:t>
              </a:r>
              <a:r>
                <a:rPr lang="pl-PL" sz="1400" spc="-20" dirty="0" smtClean="0">
                  <a:solidFill>
                    <a:srgbClr val="475569"/>
                  </a:solidFill>
                  <a:latin typeface="Calibri" pitchFamily="34" charset="0"/>
                  <a:ea typeface="Calibri" pitchFamily="34" charset="-122"/>
                  <a:cs typeface="Calibri" pitchFamily="34" charset="-120"/>
                </a:rPr>
                <a:t>, czyli</a:t>
              </a:r>
              <a:r>
                <a:rPr lang="en-US" sz="1400" spc="-20" dirty="0" smtClean="0">
                  <a:solidFill>
                    <a:srgbClr val="475569"/>
                  </a:solidFill>
                  <a:latin typeface="Calibri" pitchFamily="34" charset="0"/>
                  <a:ea typeface="Calibri" pitchFamily="34" charset="-122"/>
                  <a:cs typeface="Calibri" pitchFamily="34" charset="-120"/>
                </a:rPr>
                <a:t> </a:t>
              </a:r>
              <a:r>
                <a:rPr lang="en-US" sz="1400" spc="-20" dirty="0" err="1" smtClean="0">
                  <a:solidFill>
                    <a:srgbClr val="475569"/>
                  </a:solidFill>
                  <a:latin typeface="Calibri" pitchFamily="34" charset="0"/>
                  <a:ea typeface="Calibri" pitchFamily="34" charset="-122"/>
                  <a:cs typeface="Calibri" pitchFamily="34" charset="-120"/>
                </a:rPr>
                <a:t>miar</a:t>
              </a:r>
              <a:r>
                <a:rPr lang="pl-PL" sz="1400" spc="-20" dirty="0" smtClean="0">
                  <a:solidFill>
                    <a:srgbClr val="475569"/>
                  </a:solidFill>
                  <a:latin typeface="Calibri" pitchFamily="34" charset="0"/>
                  <a:ea typeface="Calibri" pitchFamily="34" charset="-122"/>
                  <a:cs typeface="Calibri" pitchFamily="34" charset="-120"/>
                </a:rPr>
                <a:t>y</a:t>
              </a:r>
              <a:r>
                <a:rPr lang="en-US" sz="1400" spc="-20" dirty="0" smtClean="0">
                  <a:solidFill>
                    <a:srgbClr val="475569"/>
                  </a:solidFill>
                  <a:latin typeface="Calibri" pitchFamily="34" charset="0"/>
                  <a:ea typeface="Calibri" pitchFamily="34" charset="-122"/>
                  <a:cs typeface="Calibri" pitchFamily="34" charset="-120"/>
                </a:rPr>
                <a:t> </a:t>
              </a:r>
              <a:r>
                <a:rPr lang="en-US" sz="1400" spc="-20" dirty="0">
                  <a:solidFill>
                    <a:srgbClr val="475569"/>
                  </a:solidFill>
                  <a:latin typeface="Calibri" pitchFamily="34" charset="0"/>
                  <a:ea typeface="Calibri" pitchFamily="34" charset="-122"/>
                  <a:cs typeface="Calibri" pitchFamily="34" charset="-120"/>
                </a:rPr>
                <a:t>zaufania do szacowanego stanu</a:t>
              </a:r>
              <a:endParaRPr lang="en-US" sz="1400" spc="-20" dirty="0"/>
            </a:p>
          </p:txBody>
        </p:sp>
      </p:grpSp>
      <p:sp>
        <p:nvSpPr>
          <p:cNvPr id="31" name="Prostokąt 30"/>
          <p:cNvSpPr/>
          <p:nvPr/>
        </p:nvSpPr>
        <p:spPr>
          <a:xfrm>
            <a:off x="274320" y="4249113"/>
            <a:ext cx="8595360" cy="812979"/>
          </a:xfrm>
          <a:prstGeom prst="rect">
            <a:avLst/>
          </a:prstGeom>
          <a:solidFill>
            <a:srgbClr val="0D1B2A"/>
          </a:solidFill>
        </p:spPr>
        <p:txBody>
          <a:bodyPr wrap="square">
            <a:spAutoFit/>
          </a:bodyPr>
          <a:lstStyle/>
          <a:p>
            <a:pPr algn="just">
              <a:lnSpc>
                <a:spcPts val="1400"/>
              </a:lnSpc>
            </a:pPr>
            <a:r>
              <a:rPr lang="pl-PL" sz="1400" dirty="0">
                <a:solidFill>
                  <a:schemeClr val="bg1"/>
                </a:solidFill>
              </a:rPr>
              <a:t>Stan robota humanoidalnego jest wielowymiarowy. Obejmuje pozycję i orientację w przestrzeni 3D, prędkości liniowe i kątowe, konfigurację stawów, stan kontaktu obu stóp, położenie środka masy oraz niepewność estymacji opisaną macierzą kowariancji. To bardzo ważne: w praktyce nie estymujemy tylko samej pozycji, ale cały pakiet zmiennych potrzebnych do stabilnego sterowania i wiarygodnego planowania</a:t>
            </a:r>
            <a:r>
              <a:rPr lang="pl-PL" sz="1400" dirty="0" smtClean="0">
                <a:solidFill>
                  <a:schemeClr val="bg1"/>
                </a:solidFill>
              </a:rPr>
              <a:t>.</a:t>
            </a:r>
            <a:endParaRPr lang="pl-PL" sz="1400" dirty="0">
              <a:solidFill>
                <a:schemeClr val="bg1"/>
              </a:solidFill>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0F4F8"/>
        </a:solidFill>
        <a:effectLst/>
      </p:bgPr>
    </p:bg>
    <p:spTree>
      <p:nvGrpSpPr>
        <p:cNvPr id="1" name=""/>
        <p:cNvGrpSpPr/>
        <p:nvPr/>
      </p:nvGrpSpPr>
      <p:grpSpPr>
        <a:xfrm>
          <a:off x="0" y="0"/>
          <a:ext cx="0" cy="0"/>
          <a:chOff x="0" y="0"/>
          <a:chExt cx="0" cy="0"/>
        </a:xfrm>
      </p:grpSpPr>
      <p:sp>
        <p:nvSpPr>
          <p:cNvPr id="2" name="Shape 0"/>
          <p:cNvSpPr/>
          <p:nvPr/>
        </p:nvSpPr>
        <p:spPr>
          <a:xfrm>
            <a:off x="0" y="0"/>
            <a:ext cx="64008" cy="5143500"/>
          </a:xfrm>
          <a:prstGeom prst="rect">
            <a:avLst/>
          </a:prstGeom>
          <a:solidFill>
            <a:srgbClr val="00B4D8"/>
          </a:solidFill>
          <a:ln w="12700">
            <a:solidFill>
              <a:srgbClr val="00B4D8"/>
            </a:solidFill>
            <a:prstDash val="solid"/>
          </a:ln>
        </p:spPr>
      </p:sp>
      <p:sp>
        <p:nvSpPr>
          <p:cNvPr id="3" name="Shape 1"/>
          <p:cNvSpPr/>
          <p:nvPr/>
        </p:nvSpPr>
        <p:spPr>
          <a:xfrm>
            <a:off x="64008" y="0"/>
            <a:ext cx="9079992" cy="960120"/>
          </a:xfrm>
          <a:prstGeom prst="rect">
            <a:avLst/>
          </a:prstGeom>
          <a:solidFill>
            <a:srgbClr val="0D1B2A"/>
          </a:solidFill>
          <a:ln w="12700">
            <a:solidFill>
              <a:srgbClr val="0D1B2A"/>
            </a:solidFill>
            <a:prstDash val="solid"/>
          </a:ln>
        </p:spPr>
      </p:sp>
      <p:sp>
        <p:nvSpPr>
          <p:cNvPr id="4" name="Text 2"/>
          <p:cNvSpPr/>
          <p:nvPr/>
        </p:nvSpPr>
        <p:spPr>
          <a:xfrm>
            <a:off x="228600" y="73152"/>
            <a:ext cx="4572000" cy="274320"/>
          </a:xfrm>
          <a:prstGeom prst="rect">
            <a:avLst/>
          </a:prstGeom>
          <a:noFill/>
          <a:ln/>
        </p:spPr>
        <p:txBody>
          <a:bodyPr wrap="square" lIns="0" tIns="0" rIns="0" bIns="0" rtlCol="0" anchor="ctr"/>
          <a:lstStyle/>
          <a:p>
            <a:pPr marL="0" indent="0">
              <a:buNone/>
            </a:pPr>
            <a:r>
              <a:rPr lang="en-US" sz="900" b="1" kern="0" spc="200" dirty="0">
                <a:solidFill>
                  <a:srgbClr val="00B4D8"/>
                </a:solidFill>
                <a:latin typeface="Trebuchet MS" pitchFamily="34" charset="0"/>
                <a:ea typeface="Trebuchet MS" pitchFamily="34" charset="-122"/>
                <a:cs typeface="Trebuchet MS" pitchFamily="34" charset="-120"/>
              </a:rPr>
              <a:t>SEKCJA 1 | ODOMETRIA</a:t>
            </a:r>
            <a:endParaRPr lang="en-US" sz="900" dirty="0"/>
          </a:p>
        </p:txBody>
      </p:sp>
      <p:sp>
        <p:nvSpPr>
          <p:cNvPr id="5" name="Text 3"/>
          <p:cNvSpPr/>
          <p:nvPr/>
        </p:nvSpPr>
        <p:spPr>
          <a:xfrm>
            <a:off x="228600" y="274320"/>
            <a:ext cx="8686800" cy="594360"/>
          </a:xfrm>
          <a:prstGeom prst="rect">
            <a:avLst/>
          </a:prstGeom>
          <a:noFill/>
          <a:ln/>
        </p:spPr>
        <p:txBody>
          <a:bodyPr wrap="square" lIns="0" tIns="0" rIns="0" bIns="0" rtlCol="0" anchor="ctr"/>
          <a:lstStyle/>
          <a:p>
            <a:pPr marL="0" indent="0">
              <a:buNone/>
            </a:pPr>
            <a:r>
              <a:rPr lang="en-US" sz="2800" b="1" dirty="0">
                <a:solidFill>
                  <a:srgbClr val="FFFFFF"/>
                </a:solidFill>
                <a:latin typeface="Trebuchet MS" pitchFamily="34" charset="0"/>
                <a:ea typeface="Trebuchet MS" pitchFamily="34" charset="-122"/>
                <a:cs typeface="Trebuchet MS" pitchFamily="34" charset="-120"/>
              </a:rPr>
              <a:t>Odometria </a:t>
            </a:r>
            <a:r>
              <a:rPr lang="en-US" sz="2800" b="1" dirty="0" err="1">
                <a:solidFill>
                  <a:srgbClr val="FFFFFF"/>
                </a:solidFill>
                <a:latin typeface="Trebuchet MS" pitchFamily="34" charset="0"/>
                <a:ea typeface="Trebuchet MS" pitchFamily="34" charset="-122"/>
                <a:cs typeface="Trebuchet MS" pitchFamily="34" charset="-120"/>
              </a:rPr>
              <a:t>humanoida</a:t>
            </a:r>
            <a:r>
              <a:rPr lang="en-US" sz="2800" b="1" dirty="0">
                <a:solidFill>
                  <a:srgbClr val="FFFFFF"/>
                </a:solidFill>
                <a:latin typeface="Trebuchet MS" pitchFamily="34" charset="0"/>
                <a:ea typeface="Trebuchet MS" pitchFamily="34" charset="-122"/>
                <a:cs typeface="Trebuchet MS" pitchFamily="34" charset="-120"/>
              </a:rPr>
              <a:t> </a:t>
            </a:r>
            <a:r>
              <a:rPr lang="en-US" sz="2800" b="1" dirty="0" smtClean="0">
                <a:solidFill>
                  <a:srgbClr val="FFFFFF"/>
                </a:solidFill>
                <a:latin typeface="Trebuchet MS" pitchFamily="34" charset="0"/>
                <a:ea typeface="Trebuchet MS" pitchFamily="34" charset="-122"/>
                <a:cs typeface="Trebuchet MS" pitchFamily="34" charset="-120"/>
              </a:rPr>
              <a:t>vs </a:t>
            </a:r>
            <a:r>
              <a:rPr lang="en-US" sz="2800" b="1" dirty="0">
                <a:solidFill>
                  <a:srgbClr val="FFFFFF"/>
                </a:solidFill>
                <a:latin typeface="Trebuchet MS" pitchFamily="34" charset="0"/>
                <a:ea typeface="Trebuchet MS" pitchFamily="34" charset="-122"/>
                <a:cs typeface="Trebuchet MS" pitchFamily="34" charset="-120"/>
              </a:rPr>
              <a:t>odometria kołowa</a:t>
            </a:r>
            <a:endParaRPr lang="en-US" sz="2800" dirty="0"/>
          </a:p>
        </p:txBody>
      </p:sp>
      <p:sp>
        <p:nvSpPr>
          <p:cNvPr id="6" name="Shape 4"/>
          <p:cNvSpPr/>
          <p:nvPr/>
        </p:nvSpPr>
        <p:spPr>
          <a:xfrm>
            <a:off x="274320" y="1097281"/>
            <a:ext cx="4160520" cy="2839930"/>
          </a:xfrm>
          <a:prstGeom prst="rect">
            <a:avLst/>
          </a:prstGeom>
          <a:solidFill>
            <a:srgbClr val="FFFFFF"/>
          </a:solidFill>
          <a:ln w="12700">
            <a:solidFill>
              <a:srgbClr val="E2EBF3"/>
            </a:solidFill>
            <a:prstDash val="solid"/>
          </a:ln>
          <a:effectLst>
            <a:outerShdw blurRad="76200" dist="25400" dir="8100000" algn="bl" rotWithShape="0">
              <a:srgbClr val="000000">
                <a:alpha val="12000"/>
              </a:srgbClr>
            </a:outerShdw>
          </a:effectLst>
        </p:spPr>
      </p:sp>
      <p:sp>
        <p:nvSpPr>
          <p:cNvPr id="7" name="Shape 5"/>
          <p:cNvSpPr/>
          <p:nvPr/>
        </p:nvSpPr>
        <p:spPr>
          <a:xfrm>
            <a:off x="4709160" y="1097281"/>
            <a:ext cx="4160520" cy="2839930"/>
          </a:xfrm>
          <a:prstGeom prst="rect">
            <a:avLst/>
          </a:prstGeom>
          <a:solidFill>
            <a:srgbClr val="FFFFFF"/>
          </a:solidFill>
          <a:ln w="12700">
            <a:solidFill>
              <a:srgbClr val="E2EBF3"/>
            </a:solidFill>
            <a:prstDash val="solid"/>
          </a:ln>
          <a:effectLst>
            <a:outerShdw blurRad="76200" dist="25400" dir="8100000" algn="bl" rotWithShape="0">
              <a:srgbClr val="000000">
                <a:alpha val="12000"/>
              </a:srgbClr>
            </a:outerShdw>
          </a:effectLst>
        </p:spPr>
      </p:sp>
      <p:sp>
        <p:nvSpPr>
          <p:cNvPr id="8" name="Shape 6"/>
          <p:cNvSpPr/>
          <p:nvPr/>
        </p:nvSpPr>
        <p:spPr>
          <a:xfrm>
            <a:off x="274320" y="1097280"/>
            <a:ext cx="4160520" cy="384048"/>
          </a:xfrm>
          <a:prstGeom prst="rect">
            <a:avLst/>
          </a:prstGeom>
          <a:solidFill>
            <a:srgbClr val="0077A8"/>
          </a:solidFill>
          <a:ln w="12700">
            <a:solidFill>
              <a:srgbClr val="0077A8"/>
            </a:solidFill>
            <a:prstDash val="solid"/>
          </a:ln>
        </p:spPr>
      </p:sp>
      <p:sp>
        <p:nvSpPr>
          <p:cNvPr id="9" name="Text 7"/>
          <p:cNvSpPr/>
          <p:nvPr/>
        </p:nvSpPr>
        <p:spPr>
          <a:xfrm>
            <a:off x="457200" y="1115568"/>
            <a:ext cx="3886200" cy="347472"/>
          </a:xfrm>
          <a:prstGeom prst="rect">
            <a:avLst/>
          </a:prstGeom>
          <a:noFill/>
          <a:ln/>
        </p:spPr>
        <p:txBody>
          <a:bodyPr wrap="square" lIns="0" tIns="0" rIns="0" bIns="0" rtlCol="0" anchor="ctr"/>
          <a:lstStyle/>
          <a:p>
            <a:pPr marL="0" indent="0">
              <a:buNone/>
            </a:pPr>
            <a:r>
              <a:rPr lang="en-US" b="1" dirty="0">
                <a:solidFill>
                  <a:srgbClr val="FFFFFF"/>
                </a:solidFill>
                <a:latin typeface="Trebuchet MS" pitchFamily="34" charset="0"/>
                <a:ea typeface="Trebuchet MS" pitchFamily="34" charset="-122"/>
                <a:cs typeface="Trebuchet MS" pitchFamily="34" charset="-120"/>
              </a:rPr>
              <a:t>Odometria kołowa (AGV)</a:t>
            </a:r>
            <a:endParaRPr lang="en-US" dirty="0"/>
          </a:p>
        </p:txBody>
      </p:sp>
      <p:sp>
        <p:nvSpPr>
          <p:cNvPr id="10" name="Shape 8"/>
          <p:cNvSpPr/>
          <p:nvPr/>
        </p:nvSpPr>
        <p:spPr>
          <a:xfrm>
            <a:off x="4709160" y="1097280"/>
            <a:ext cx="4160520" cy="384048"/>
          </a:xfrm>
          <a:prstGeom prst="rect">
            <a:avLst/>
          </a:prstGeom>
          <a:solidFill>
            <a:srgbClr val="1A3550"/>
          </a:solidFill>
          <a:ln w="12700">
            <a:solidFill>
              <a:srgbClr val="1A3550"/>
            </a:solidFill>
            <a:prstDash val="solid"/>
          </a:ln>
        </p:spPr>
      </p:sp>
      <p:sp>
        <p:nvSpPr>
          <p:cNvPr id="11" name="Text 9"/>
          <p:cNvSpPr/>
          <p:nvPr/>
        </p:nvSpPr>
        <p:spPr>
          <a:xfrm>
            <a:off x="4892040" y="1115568"/>
            <a:ext cx="3886200" cy="347472"/>
          </a:xfrm>
          <a:prstGeom prst="rect">
            <a:avLst/>
          </a:prstGeom>
          <a:noFill/>
          <a:ln/>
        </p:spPr>
        <p:txBody>
          <a:bodyPr wrap="square" lIns="0" tIns="0" rIns="0" bIns="0" rtlCol="0" anchor="ctr"/>
          <a:lstStyle/>
          <a:p>
            <a:pPr marL="0" indent="0">
              <a:buNone/>
            </a:pPr>
            <a:r>
              <a:rPr lang="en-US" b="1" dirty="0">
                <a:solidFill>
                  <a:srgbClr val="FFFFFF"/>
                </a:solidFill>
                <a:latin typeface="Trebuchet MS" pitchFamily="34" charset="0"/>
                <a:ea typeface="Trebuchet MS" pitchFamily="34" charset="-122"/>
                <a:cs typeface="Trebuchet MS" pitchFamily="34" charset="-120"/>
              </a:rPr>
              <a:t>Odometria humanoida</a:t>
            </a:r>
            <a:endParaRPr lang="en-US" dirty="0"/>
          </a:p>
        </p:txBody>
      </p:sp>
      <p:sp>
        <p:nvSpPr>
          <p:cNvPr id="12" name="Text 10"/>
          <p:cNvSpPr/>
          <p:nvPr/>
        </p:nvSpPr>
        <p:spPr>
          <a:xfrm>
            <a:off x="374072" y="1569972"/>
            <a:ext cx="3969327" cy="2259593"/>
          </a:xfrm>
          <a:prstGeom prst="rect">
            <a:avLst/>
          </a:prstGeom>
          <a:noFill/>
          <a:ln/>
        </p:spPr>
        <p:txBody>
          <a:bodyPr wrap="square" lIns="63500" tIns="101600" rIns="63500" bIns="63500" rtlCol="0" anchor="t">
            <a:spAutoFit/>
          </a:bodyPr>
          <a:lstStyle/>
          <a:p>
            <a:pPr marL="180000" indent="-180000">
              <a:spcAft>
                <a:spcPts val="1200"/>
              </a:spcAft>
              <a:buSzPct val="100000"/>
              <a:buChar char="•"/>
            </a:pPr>
            <a:r>
              <a:rPr lang="en-US" sz="1600" dirty="0">
                <a:solidFill>
                  <a:srgbClr val="0D1B2A"/>
                </a:solidFill>
                <a:latin typeface="Calibri" pitchFamily="34" charset="0"/>
                <a:ea typeface="Calibri" pitchFamily="34" charset="-122"/>
                <a:cs typeface="Calibri" pitchFamily="34" charset="-120"/>
              </a:rPr>
              <a:t>Zliczanie impulsów enkoderów napędowych</a:t>
            </a:r>
            <a:endParaRPr lang="en-US" sz="1600" dirty="0"/>
          </a:p>
          <a:p>
            <a:pPr marL="180000" indent="-180000">
              <a:spcAft>
                <a:spcPts val="1200"/>
              </a:spcAft>
              <a:buSzPct val="100000"/>
              <a:buChar char="•"/>
            </a:pPr>
            <a:r>
              <a:rPr lang="en-US" sz="1600" dirty="0">
                <a:solidFill>
                  <a:srgbClr val="0D1B2A"/>
                </a:solidFill>
                <a:latin typeface="Calibri" pitchFamily="34" charset="0"/>
                <a:ea typeface="Calibri" pitchFamily="34" charset="-122"/>
                <a:cs typeface="Calibri" pitchFamily="34" charset="-120"/>
              </a:rPr>
              <a:t>Proste równania kinematyczne (v, ω)</a:t>
            </a:r>
            <a:endParaRPr lang="en-US" sz="1600" dirty="0"/>
          </a:p>
          <a:p>
            <a:pPr marL="180000" indent="-180000">
              <a:spcAft>
                <a:spcPts val="1200"/>
              </a:spcAft>
              <a:buSzPct val="100000"/>
              <a:buChar char="•"/>
            </a:pPr>
            <a:r>
              <a:rPr lang="en-US" sz="1600" dirty="0">
                <a:solidFill>
                  <a:srgbClr val="0D1B2A"/>
                </a:solidFill>
                <a:latin typeface="Calibri" pitchFamily="34" charset="0"/>
                <a:ea typeface="Calibri" pitchFamily="34" charset="-122"/>
                <a:cs typeface="Calibri" pitchFamily="34" charset="-120"/>
              </a:rPr>
              <a:t>Dryf głównie z poślizgu i nierówności kół</a:t>
            </a:r>
            <a:endParaRPr lang="en-US" sz="1600" dirty="0"/>
          </a:p>
          <a:p>
            <a:pPr marL="180000" indent="-180000">
              <a:spcAft>
                <a:spcPts val="1200"/>
              </a:spcAft>
              <a:buSzPct val="100000"/>
              <a:buChar char="•"/>
            </a:pPr>
            <a:r>
              <a:rPr lang="en-US" sz="1600" dirty="0">
                <a:solidFill>
                  <a:srgbClr val="0D1B2A"/>
                </a:solidFill>
                <a:latin typeface="Calibri" pitchFamily="34" charset="0"/>
                <a:ea typeface="Calibri" pitchFamily="34" charset="-122"/>
                <a:cs typeface="Calibri" pitchFamily="34" charset="-120"/>
              </a:rPr>
              <a:t>Przewidywalny, mały błąd na krótkich dystansach</a:t>
            </a:r>
            <a:endParaRPr lang="en-US" sz="1600" dirty="0"/>
          </a:p>
          <a:p>
            <a:pPr marL="180000" indent="-180000">
              <a:spcAft>
                <a:spcPts val="1200"/>
              </a:spcAft>
              <a:buSzPct val="100000"/>
              <a:buChar char="•"/>
            </a:pPr>
            <a:r>
              <a:rPr lang="en-US" sz="1600" dirty="0">
                <a:solidFill>
                  <a:srgbClr val="0D1B2A"/>
                </a:solidFill>
                <a:latin typeface="Calibri" pitchFamily="34" charset="0"/>
                <a:ea typeface="Calibri" pitchFamily="34" charset="-122"/>
                <a:cs typeface="Calibri" pitchFamily="34" charset="-120"/>
              </a:rPr>
              <a:t>Dojrzałe algorytmy korekcji (AMCL, EKF)</a:t>
            </a:r>
            <a:endParaRPr lang="en-US" sz="1600" dirty="0"/>
          </a:p>
        </p:txBody>
      </p:sp>
      <p:sp>
        <p:nvSpPr>
          <p:cNvPr id="13" name="Text 11"/>
          <p:cNvSpPr/>
          <p:nvPr/>
        </p:nvSpPr>
        <p:spPr>
          <a:xfrm>
            <a:off x="4846697" y="1569972"/>
            <a:ext cx="3874109" cy="2013372"/>
          </a:xfrm>
          <a:prstGeom prst="rect">
            <a:avLst/>
          </a:prstGeom>
          <a:noFill/>
          <a:ln/>
        </p:spPr>
        <p:txBody>
          <a:bodyPr wrap="square" lIns="63500" tIns="101600" rIns="63500" bIns="63500" rtlCol="0" anchor="t">
            <a:spAutoFit/>
          </a:bodyPr>
          <a:lstStyle/>
          <a:p>
            <a:pPr marL="180000" indent="-180000">
              <a:spcAft>
                <a:spcPts val="1200"/>
              </a:spcAft>
              <a:buSzPct val="100000"/>
              <a:buChar char="•"/>
            </a:pPr>
            <a:r>
              <a:rPr lang="en-US" sz="1600" dirty="0">
                <a:solidFill>
                  <a:srgbClr val="0D1B2A"/>
                </a:solidFill>
                <a:latin typeface="Calibri" pitchFamily="34" charset="0"/>
                <a:ea typeface="Calibri" pitchFamily="34" charset="-122"/>
                <a:cs typeface="Calibri" pitchFamily="34" charset="-120"/>
              </a:rPr>
              <a:t>Integracja kroków + IMU + kontakty stóp</a:t>
            </a:r>
            <a:endParaRPr lang="en-US" sz="1600" dirty="0"/>
          </a:p>
          <a:p>
            <a:pPr marL="180000" indent="-180000">
              <a:spcAft>
                <a:spcPts val="1200"/>
              </a:spcAft>
              <a:buSzPct val="100000"/>
              <a:buChar char="•"/>
            </a:pPr>
            <a:r>
              <a:rPr lang="en-US" sz="1600" dirty="0">
                <a:solidFill>
                  <a:srgbClr val="0D1B2A"/>
                </a:solidFill>
                <a:latin typeface="Calibri" pitchFamily="34" charset="0"/>
                <a:ea typeface="Calibri" pitchFamily="34" charset="-122"/>
                <a:cs typeface="Calibri" pitchFamily="34" charset="-120"/>
              </a:rPr>
              <a:t>Stan kontaktu: stopa oparta = referencyjna</a:t>
            </a:r>
            <a:endParaRPr lang="en-US" sz="1600" dirty="0"/>
          </a:p>
          <a:p>
            <a:pPr marL="180000" indent="-180000">
              <a:spcAft>
                <a:spcPts val="1200"/>
              </a:spcAft>
              <a:buSzPct val="100000"/>
              <a:buChar char="•"/>
            </a:pPr>
            <a:r>
              <a:rPr lang="en-US" sz="1600" dirty="0">
                <a:solidFill>
                  <a:srgbClr val="0D1B2A"/>
                </a:solidFill>
                <a:latin typeface="Calibri" pitchFamily="34" charset="0"/>
                <a:ea typeface="Calibri" pitchFamily="34" charset="-122"/>
                <a:cs typeface="Calibri" pitchFamily="34" charset="-120"/>
              </a:rPr>
              <a:t>Dryf ze śliskich podłóg, wibracji tułowia</a:t>
            </a:r>
            <a:endParaRPr lang="en-US" sz="1600" dirty="0"/>
          </a:p>
          <a:p>
            <a:pPr marL="180000" indent="-180000">
              <a:spcAft>
                <a:spcPts val="1200"/>
              </a:spcAft>
              <a:buSzPct val="100000"/>
              <a:buChar char="•"/>
            </a:pPr>
            <a:r>
              <a:rPr lang="en-US" sz="1600" dirty="0">
                <a:solidFill>
                  <a:srgbClr val="0D1B2A"/>
                </a:solidFill>
                <a:latin typeface="Calibri" pitchFamily="34" charset="0"/>
                <a:ea typeface="Calibri" pitchFamily="34" charset="-122"/>
                <a:cs typeface="Calibri" pitchFamily="34" charset="-120"/>
              </a:rPr>
              <a:t>Niesymetria kroków i ugięcie struktury</a:t>
            </a:r>
            <a:endParaRPr lang="en-US" sz="1600" dirty="0"/>
          </a:p>
          <a:p>
            <a:pPr marL="180000" indent="-180000">
              <a:spcAft>
                <a:spcPts val="1200"/>
              </a:spcAft>
              <a:buSzPct val="100000"/>
              <a:buChar char="•"/>
            </a:pPr>
            <a:r>
              <a:rPr lang="en-US" sz="1600" dirty="0">
                <a:solidFill>
                  <a:srgbClr val="0D1B2A"/>
                </a:solidFill>
                <a:latin typeface="Calibri" pitchFamily="34" charset="0"/>
                <a:ea typeface="Calibri" pitchFamily="34" charset="-122"/>
                <a:cs typeface="Calibri" pitchFamily="34" charset="-120"/>
              </a:rPr>
              <a:t>Wymagana fuzja z wizją lub LiDAR-em</a:t>
            </a:r>
            <a:endParaRPr lang="en-US" sz="1600" dirty="0"/>
          </a:p>
        </p:txBody>
      </p:sp>
      <p:sp>
        <p:nvSpPr>
          <p:cNvPr id="14" name="Prostokąt 13"/>
          <p:cNvSpPr/>
          <p:nvPr/>
        </p:nvSpPr>
        <p:spPr>
          <a:xfrm>
            <a:off x="274320" y="4249113"/>
            <a:ext cx="8595360" cy="812979"/>
          </a:xfrm>
          <a:prstGeom prst="rect">
            <a:avLst/>
          </a:prstGeom>
          <a:solidFill>
            <a:srgbClr val="0D1B2A"/>
          </a:solidFill>
        </p:spPr>
        <p:txBody>
          <a:bodyPr wrap="square">
            <a:spAutoFit/>
          </a:bodyPr>
          <a:lstStyle/>
          <a:p>
            <a:pPr algn="just">
              <a:lnSpc>
                <a:spcPts val="1400"/>
              </a:lnSpc>
            </a:pPr>
            <a:r>
              <a:rPr lang="pl-PL" sz="1400" dirty="0">
                <a:solidFill>
                  <a:schemeClr val="bg1"/>
                </a:solidFill>
              </a:rPr>
              <a:t>Odometria </a:t>
            </a:r>
            <a:r>
              <a:rPr lang="pl-PL" sz="1400" dirty="0" err="1">
                <a:solidFill>
                  <a:schemeClr val="bg1"/>
                </a:solidFill>
              </a:rPr>
              <a:t>humanoida</a:t>
            </a:r>
            <a:r>
              <a:rPr lang="pl-PL" sz="1400" dirty="0">
                <a:solidFill>
                  <a:schemeClr val="bg1"/>
                </a:solidFill>
              </a:rPr>
              <a:t> jest trudniejsza niż </a:t>
            </a:r>
            <a:r>
              <a:rPr lang="pl-PL" sz="1400" dirty="0" err="1">
                <a:solidFill>
                  <a:schemeClr val="bg1"/>
                </a:solidFill>
              </a:rPr>
              <a:t>odometria</a:t>
            </a:r>
            <a:r>
              <a:rPr lang="pl-PL" sz="1400" dirty="0">
                <a:solidFill>
                  <a:schemeClr val="bg1"/>
                </a:solidFill>
              </a:rPr>
              <a:t> platformy kołowej. W robocie kołowym liczymy impulsy </a:t>
            </a:r>
            <a:r>
              <a:rPr lang="pl-PL" sz="1400" dirty="0" err="1">
                <a:solidFill>
                  <a:schemeClr val="bg1"/>
                </a:solidFill>
              </a:rPr>
              <a:t>enkoderów</a:t>
            </a:r>
            <a:r>
              <a:rPr lang="pl-PL" sz="1400" dirty="0">
                <a:solidFill>
                  <a:schemeClr val="bg1"/>
                </a:solidFill>
              </a:rPr>
              <a:t> i stosujemy proste równania kinematyczne. W </a:t>
            </a:r>
            <a:r>
              <a:rPr lang="pl-PL" sz="1400" dirty="0" err="1">
                <a:solidFill>
                  <a:schemeClr val="bg1"/>
                </a:solidFill>
              </a:rPr>
              <a:t>humanoidzie</a:t>
            </a:r>
            <a:r>
              <a:rPr lang="pl-PL" sz="1400" dirty="0">
                <a:solidFill>
                  <a:schemeClr val="bg1"/>
                </a:solidFill>
              </a:rPr>
              <a:t> musimy integrować kroki, IMU i kontakty stóp. Dryft wynika nie tylko z poślizgu, ale też z asymetrii kroków, wibracji tułowia i ugięć struktury. Dlatego </a:t>
            </a:r>
            <a:r>
              <a:rPr lang="pl-PL" sz="1400" dirty="0" err="1">
                <a:solidFill>
                  <a:schemeClr val="bg1"/>
                </a:solidFill>
              </a:rPr>
              <a:t>odometria</a:t>
            </a:r>
            <a:r>
              <a:rPr lang="pl-PL" sz="1400" dirty="0">
                <a:solidFill>
                  <a:schemeClr val="bg1"/>
                </a:solidFill>
              </a:rPr>
              <a:t> </a:t>
            </a:r>
            <a:r>
              <a:rPr lang="pl-PL" sz="1400" dirty="0" err="1">
                <a:solidFill>
                  <a:schemeClr val="bg1"/>
                </a:solidFill>
              </a:rPr>
              <a:t>humanoida</a:t>
            </a:r>
            <a:r>
              <a:rPr lang="pl-PL" sz="1400" dirty="0">
                <a:solidFill>
                  <a:schemeClr val="bg1"/>
                </a:solidFill>
              </a:rPr>
              <a:t> niemal zawsze wymaga korekcji zewnętrznej, na przykład przez wizję albo </a:t>
            </a:r>
            <a:r>
              <a:rPr lang="pl-PL" sz="1400" dirty="0" err="1">
                <a:solidFill>
                  <a:schemeClr val="bg1"/>
                </a:solidFill>
              </a:rPr>
              <a:t>LiDAR</a:t>
            </a:r>
            <a:r>
              <a:rPr lang="pl-PL" sz="1400" dirty="0">
                <a:solidFill>
                  <a:schemeClr val="bg1"/>
                </a:solidFill>
              </a:rPr>
              <a:t>.</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0F4F8"/>
        </a:solidFill>
        <a:effectLst/>
      </p:bgPr>
    </p:bg>
    <p:spTree>
      <p:nvGrpSpPr>
        <p:cNvPr id="1" name=""/>
        <p:cNvGrpSpPr/>
        <p:nvPr/>
      </p:nvGrpSpPr>
      <p:grpSpPr>
        <a:xfrm>
          <a:off x="0" y="0"/>
          <a:ext cx="0" cy="0"/>
          <a:chOff x="0" y="0"/>
          <a:chExt cx="0" cy="0"/>
        </a:xfrm>
      </p:grpSpPr>
      <p:sp>
        <p:nvSpPr>
          <p:cNvPr id="2" name="Shape 0"/>
          <p:cNvSpPr/>
          <p:nvPr/>
        </p:nvSpPr>
        <p:spPr>
          <a:xfrm>
            <a:off x="0" y="0"/>
            <a:ext cx="64008" cy="5143500"/>
          </a:xfrm>
          <a:prstGeom prst="rect">
            <a:avLst/>
          </a:prstGeom>
          <a:solidFill>
            <a:srgbClr val="00B4D8"/>
          </a:solidFill>
          <a:ln w="12700">
            <a:solidFill>
              <a:srgbClr val="00B4D8"/>
            </a:solidFill>
            <a:prstDash val="solid"/>
          </a:ln>
        </p:spPr>
      </p:sp>
      <p:sp>
        <p:nvSpPr>
          <p:cNvPr id="3" name="Shape 1"/>
          <p:cNvSpPr/>
          <p:nvPr/>
        </p:nvSpPr>
        <p:spPr>
          <a:xfrm>
            <a:off x="64008" y="0"/>
            <a:ext cx="9079992" cy="960120"/>
          </a:xfrm>
          <a:prstGeom prst="rect">
            <a:avLst/>
          </a:prstGeom>
          <a:solidFill>
            <a:srgbClr val="0D1B2A"/>
          </a:solidFill>
          <a:ln w="12700">
            <a:solidFill>
              <a:srgbClr val="0D1B2A"/>
            </a:solidFill>
            <a:prstDash val="solid"/>
          </a:ln>
        </p:spPr>
      </p:sp>
      <p:sp>
        <p:nvSpPr>
          <p:cNvPr id="4" name="Text 2"/>
          <p:cNvSpPr/>
          <p:nvPr/>
        </p:nvSpPr>
        <p:spPr>
          <a:xfrm>
            <a:off x="228600" y="73152"/>
            <a:ext cx="4572000" cy="274320"/>
          </a:xfrm>
          <a:prstGeom prst="rect">
            <a:avLst/>
          </a:prstGeom>
          <a:noFill/>
          <a:ln/>
        </p:spPr>
        <p:txBody>
          <a:bodyPr wrap="square" lIns="0" tIns="0" rIns="0" bIns="0" rtlCol="0" anchor="ctr"/>
          <a:lstStyle/>
          <a:p>
            <a:pPr marL="0" indent="0">
              <a:buNone/>
            </a:pPr>
            <a:r>
              <a:rPr lang="en-US" sz="900" b="1" kern="0" spc="200" dirty="0">
                <a:solidFill>
                  <a:srgbClr val="00B4D8"/>
                </a:solidFill>
                <a:latin typeface="Trebuchet MS" pitchFamily="34" charset="0"/>
                <a:ea typeface="Trebuchet MS" pitchFamily="34" charset="-122"/>
                <a:cs typeface="Trebuchet MS" pitchFamily="34" charset="-120"/>
              </a:rPr>
              <a:t>SEKCJA 1 | BŁĘDY ESTYMACJI</a:t>
            </a:r>
            <a:endParaRPr lang="en-US" sz="900" dirty="0"/>
          </a:p>
        </p:txBody>
      </p:sp>
      <p:sp>
        <p:nvSpPr>
          <p:cNvPr id="5" name="Text 3"/>
          <p:cNvSpPr/>
          <p:nvPr/>
        </p:nvSpPr>
        <p:spPr>
          <a:xfrm>
            <a:off x="228600" y="274320"/>
            <a:ext cx="8686800" cy="594360"/>
          </a:xfrm>
          <a:prstGeom prst="rect">
            <a:avLst/>
          </a:prstGeom>
          <a:noFill/>
          <a:ln/>
        </p:spPr>
        <p:txBody>
          <a:bodyPr wrap="square" lIns="0" tIns="0" rIns="0" bIns="0" rtlCol="0" anchor="ctr"/>
          <a:lstStyle/>
          <a:p>
            <a:pPr marL="0" indent="0">
              <a:buNone/>
            </a:pPr>
            <a:r>
              <a:rPr lang="en-US" sz="2800" b="1" dirty="0">
                <a:solidFill>
                  <a:srgbClr val="FFFFFF"/>
                </a:solidFill>
                <a:latin typeface="Trebuchet MS" pitchFamily="34" charset="0"/>
                <a:ea typeface="Trebuchet MS" pitchFamily="34" charset="-122"/>
                <a:cs typeface="Trebuchet MS" pitchFamily="34" charset="-120"/>
              </a:rPr>
              <a:t>Dryft i błędy estymacji</a:t>
            </a:r>
            <a:endParaRPr lang="en-US" sz="2800" dirty="0"/>
          </a:p>
        </p:txBody>
      </p:sp>
      <p:sp>
        <p:nvSpPr>
          <p:cNvPr id="6" name="Shape 4"/>
          <p:cNvSpPr/>
          <p:nvPr/>
        </p:nvSpPr>
        <p:spPr>
          <a:xfrm>
            <a:off x="274320" y="1059495"/>
            <a:ext cx="8595360" cy="2939481"/>
          </a:xfrm>
          <a:prstGeom prst="rect">
            <a:avLst/>
          </a:prstGeom>
          <a:solidFill>
            <a:srgbClr val="FFFFFF"/>
          </a:solidFill>
          <a:ln w="12700">
            <a:solidFill>
              <a:srgbClr val="E2EBF3"/>
            </a:solidFill>
            <a:prstDash val="solid"/>
          </a:ln>
          <a:effectLst>
            <a:outerShdw blurRad="76200" dist="25400" dir="8100000" algn="bl" rotWithShape="0">
              <a:srgbClr val="000000">
                <a:alpha val="12000"/>
              </a:srgbClr>
            </a:outerShdw>
          </a:effectLst>
        </p:spPr>
      </p:sp>
      <p:sp>
        <p:nvSpPr>
          <p:cNvPr id="7" name="Text 5"/>
          <p:cNvSpPr/>
          <p:nvPr/>
        </p:nvSpPr>
        <p:spPr>
          <a:xfrm>
            <a:off x="381000" y="1098036"/>
            <a:ext cx="8382000" cy="2755933"/>
          </a:xfrm>
          <a:prstGeom prst="rect">
            <a:avLst/>
          </a:prstGeom>
          <a:noFill/>
          <a:ln/>
        </p:spPr>
        <p:txBody>
          <a:bodyPr wrap="square" lIns="127000" tIns="36000" rIns="127000" bIns="0" rtlCol="0" anchor="t">
            <a:spAutoFit/>
          </a:bodyPr>
          <a:lstStyle/>
          <a:p>
            <a:pPr marL="216000" indent="-216000">
              <a:spcAft>
                <a:spcPts val="1200"/>
              </a:spcAft>
              <a:buSzPct val="100000"/>
              <a:buChar char="•"/>
            </a:pPr>
            <a:r>
              <a:rPr lang="en-US" sz="1600" b="1" spc="-40" dirty="0">
                <a:solidFill>
                  <a:srgbClr val="0D1B2A"/>
                </a:solidFill>
                <a:latin typeface="Calibri" pitchFamily="34" charset="0"/>
                <a:ea typeface="Calibri" pitchFamily="34" charset="-122"/>
                <a:cs typeface="Calibri" pitchFamily="34" charset="-120"/>
              </a:rPr>
              <a:t>Kumulacja błędów</a:t>
            </a:r>
            <a:r>
              <a:rPr lang="en-US" sz="1600" spc="-40" dirty="0">
                <a:solidFill>
                  <a:srgbClr val="0D1B2A"/>
                </a:solidFill>
                <a:latin typeface="Calibri" pitchFamily="34" charset="0"/>
                <a:ea typeface="Calibri" pitchFamily="34" charset="-122"/>
                <a:cs typeface="Calibri" pitchFamily="34" charset="-120"/>
              </a:rPr>
              <a:t>: każde całkowanie dodaje szum; po 100 krokach błąd pozycji może wynosić &gt;</a:t>
            </a:r>
            <a:r>
              <a:rPr lang="en-US" sz="1600" spc="-40" dirty="0" smtClean="0">
                <a:solidFill>
                  <a:srgbClr val="0D1B2A"/>
                </a:solidFill>
                <a:latin typeface="Calibri" pitchFamily="34" charset="0"/>
                <a:ea typeface="Calibri" pitchFamily="34" charset="-122"/>
                <a:cs typeface="Calibri" pitchFamily="34" charset="-120"/>
              </a:rPr>
              <a:t>0,5m</a:t>
            </a:r>
            <a:endParaRPr lang="en-US" sz="1600" spc="-40" dirty="0"/>
          </a:p>
          <a:p>
            <a:pPr marL="216000" indent="-216000">
              <a:spcAft>
                <a:spcPts val="1200"/>
              </a:spcAft>
              <a:buSzPct val="100000"/>
              <a:buChar char="•"/>
            </a:pPr>
            <a:r>
              <a:rPr lang="en-US" sz="1600" b="1" spc="-40" dirty="0">
                <a:solidFill>
                  <a:srgbClr val="0D1B2A"/>
                </a:solidFill>
                <a:latin typeface="Calibri" pitchFamily="34" charset="0"/>
                <a:ea typeface="Calibri" pitchFamily="34" charset="-122"/>
                <a:cs typeface="Calibri" pitchFamily="34" charset="-120"/>
              </a:rPr>
              <a:t>Poślizg stopy</a:t>
            </a:r>
            <a:r>
              <a:rPr lang="en-US" sz="1600" spc="-40" dirty="0">
                <a:solidFill>
                  <a:srgbClr val="0D1B2A"/>
                </a:solidFill>
                <a:latin typeface="Calibri" pitchFamily="34" charset="0"/>
                <a:ea typeface="Calibri" pitchFamily="34" charset="-122"/>
                <a:cs typeface="Calibri" pitchFamily="34" charset="-120"/>
              </a:rPr>
              <a:t>: nagła zmiana kontaktu stopy powoduje skok w estymowanej pozycji bazowej</a:t>
            </a:r>
            <a:endParaRPr lang="en-US" sz="1600" spc="-40" dirty="0"/>
          </a:p>
          <a:p>
            <a:pPr marL="216000" indent="-216000">
              <a:spcAft>
                <a:spcPts val="1200"/>
              </a:spcAft>
              <a:buSzPct val="100000"/>
              <a:buChar char="•"/>
            </a:pPr>
            <a:r>
              <a:rPr lang="en-US" sz="1600" b="1" spc="-40" dirty="0">
                <a:solidFill>
                  <a:srgbClr val="0D1B2A"/>
                </a:solidFill>
                <a:latin typeface="Calibri" pitchFamily="34" charset="0"/>
                <a:ea typeface="Calibri" pitchFamily="34" charset="-122"/>
                <a:cs typeface="Calibri" pitchFamily="34" charset="-120"/>
              </a:rPr>
              <a:t>Błędy kalibracji</a:t>
            </a:r>
            <a:r>
              <a:rPr lang="en-US" sz="1600" spc="-40" dirty="0">
                <a:solidFill>
                  <a:srgbClr val="0D1B2A"/>
                </a:solidFill>
                <a:latin typeface="Calibri" pitchFamily="34" charset="0"/>
                <a:ea typeface="Calibri" pitchFamily="34" charset="-122"/>
                <a:cs typeface="Calibri" pitchFamily="34" charset="-120"/>
              </a:rPr>
              <a:t>: nieprecyzyjne IMU (niezrównoważenie osi) lub enkodery (luz w przekładni)</a:t>
            </a:r>
            <a:endParaRPr lang="en-US" sz="1600" spc="-40" dirty="0"/>
          </a:p>
          <a:p>
            <a:pPr marL="216000" indent="-216000">
              <a:spcAft>
                <a:spcPts val="1200"/>
              </a:spcAft>
              <a:buSzPct val="100000"/>
              <a:buChar char="•"/>
            </a:pPr>
            <a:r>
              <a:rPr lang="en-US" sz="1600" b="1" spc="-40" dirty="0">
                <a:solidFill>
                  <a:srgbClr val="0D1B2A"/>
                </a:solidFill>
                <a:latin typeface="Calibri" pitchFamily="34" charset="0"/>
                <a:ea typeface="Calibri" pitchFamily="34" charset="-122"/>
                <a:cs typeface="Calibri" pitchFamily="34" charset="-120"/>
              </a:rPr>
              <a:t>Szum żyroskopu</a:t>
            </a:r>
            <a:r>
              <a:rPr lang="en-US" sz="1600" spc="-40" dirty="0">
                <a:solidFill>
                  <a:srgbClr val="0D1B2A"/>
                </a:solidFill>
                <a:latin typeface="Calibri" pitchFamily="34" charset="0"/>
                <a:ea typeface="Calibri" pitchFamily="34" charset="-122"/>
                <a:cs typeface="Calibri" pitchFamily="34" charset="-120"/>
              </a:rPr>
              <a:t>: dryft yaw przy całkowaniu prędkości kątowej – typowo 0,1–1°/s</a:t>
            </a:r>
            <a:endParaRPr lang="en-US" sz="1600" spc="-40" dirty="0"/>
          </a:p>
          <a:p>
            <a:pPr marL="216000" indent="-216000">
              <a:spcAft>
                <a:spcPts val="1200"/>
              </a:spcAft>
              <a:buSzPct val="100000"/>
              <a:buChar char="•"/>
            </a:pPr>
            <a:r>
              <a:rPr lang="en-US" sz="1600" b="1" spc="-40" dirty="0">
                <a:solidFill>
                  <a:srgbClr val="0D1B2A"/>
                </a:solidFill>
                <a:latin typeface="Calibri" pitchFamily="34" charset="0"/>
                <a:ea typeface="Calibri" pitchFamily="34" charset="-122"/>
                <a:cs typeface="Calibri" pitchFamily="34" charset="-120"/>
              </a:rPr>
              <a:t>Opóźnienia transmisji</a:t>
            </a:r>
            <a:r>
              <a:rPr lang="en-US" sz="1600" spc="-40" dirty="0">
                <a:solidFill>
                  <a:srgbClr val="0D1B2A"/>
                </a:solidFill>
                <a:latin typeface="Calibri" pitchFamily="34" charset="0"/>
                <a:ea typeface="Calibri" pitchFamily="34" charset="-122"/>
                <a:cs typeface="Calibri" pitchFamily="34" charset="-120"/>
              </a:rPr>
              <a:t>: przesunięcie fazowe między sensorami zakłóca fuzję</a:t>
            </a:r>
            <a:endParaRPr lang="en-US" sz="1600" spc="-40" dirty="0"/>
          </a:p>
          <a:p>
            <a:pPr marL="216000" indent="-216000">
              <a:spcAft>
                <a:spcPts val="1200"/>
              </a:spcAft>
              <a:buSzPct val="100000"/>
              <a:buChar char="•"/>
            </a:pPr>
            <a:r>
              <a:rPr lang="en-US" sz="1600" b="1" spc="-40" dirty="0">
                <a:solidFill>
                  <a:srgbClr val="0D1B2A"/>
                </a:solidFill>
                <a:latin typeface="Calibri" pitchFamily="34" charset="0"/>
                <a:ea typeface="Calibri" pitchFamily="34" charset="-122"/>
                <a:cs typeface="Calibri" pitchFamily="34" charset="-120"/>
              </a:rPr>
              <a:t>Model kinematyczny</a:t>
            </a:r>
            <a:r>
              <a:rPr lang="en-US" sz="1600" spc="-40" dirty="0">
                <a:solidFill>
                  <a:srgbClr val="0D1B2A"/>
                </a:solidFill>
                <a:latin typeface="Calibri" pitchFamily="34" charset="0"/>
                <a:ea typeface="Calibri" pitchFamily="34" charset="-122"/>
                <a:cs typeface="Calibri" pitchFamily="34" charset="-120"/>
              </a:rPr>
              <a:t>: uproszczenia (sztywne ogniwa, brak ugięcia) powodują systematyczny błąd</a:t>
            </a:r>
            <a:endParaRPr lang="en-US" sz="1600" spc="-40" dirty="0"/>
          </a:p>
          <a:p>
            <a:pPr marL="216000" indent="-216000">
              <a:spcAft>
                <a:spcPts val="1200"/>
              </a:spcAft>
              <a:buSzPct val="100000"/>
              <a:buChar char="•"/>
            </a:pPr>
            <a:r>
              <a:rPr lang="en-US" sz="1600" b="1" spc="-40" dirty="0">
                <a:solidFill>
                  <a:srgbClr val="0D1B2A"/>
                </a:solidFill>
                <a:latin typeface="Calibri" pitchFamily="34" charset="0"/>
                <a:ea typeface="Calibri" pitchFamily="34" charset="-122"/>
                <a:cs typeface="Calibri" pitchFamily="34" charset="-120"/>
              </a:rPr>
              <a:t>Zmiana środowiska</a:t>
            </a:r>
            <a:r>
              <a:rPr lang="en-US" sz="1600" spc="-40" dirty="0">
                <a:solidFill>
                  <a:srgbClr val="0D1B2A"/>
                </a:solidFill>
                <a:latin typeface="Calibri" pitchFamily="34" charset="0"/>
                <a:ea typeface="Calibri" pitchFamily="34" charset="-122"/>
                <a:cs typeface="Calibri" pitchFamily="34" charset="-120"/>
              </a:rPr>
              <a:t>: ruchome podłoże (dywan, rampa) nie jest uwzględnione w modelu</a:t>
            </a:r>
            <a:endParaRPr lang="en-US" sz="1600" spc="-40" dirty="0"/>
          </a:p>
        </p:txBody>
      </p:sp>
      <p:sp>
        <p:nvSpPr>
          <p:cNvPr id="8" name="Prostokąt 7"/>
          <p:cNvSpPr/>
          <p:nvPr/>
        </p:nvSpPr>
        <p:spPr>
          <a:xfrm>
            <a:off x="274320" y="4203771"/>
            <a:ext cx="8595360" cy="861774"/>
          </a:xfrm>
          <a:prstGeom prst="rect">
            <a:avLst/>
          </a:prstGeom>
          <a:solidFill>
            <a:srgbClr val="0D1B2A"/>
          </a:solidFill>
        </p:spPr>
        <p:txBody>
          <a:bodyPr wrap="square">
            <a:spAutoFit/>
          </a:bodyPr>
          <a:lstStyle/>
          <a:p>
            <a:pPr algn="just">
              <a:lnSpc>
                <a:spcPts val="1500"/>
              </a:lnSpc>
            </a:pPr>
            <a:r>
              <a:rPr lang="pl-PL" sz="1400" dirty="0">
                <a:solidFill>
                  <a:schemeClr val="bg1"/>
                </a:solidFill>
              </a:rPr>
              <a:t>Główne źródła błędów estymacji to kumulacja szumu przy całkowaniu, poślizg stopy, błędy kalibracji, szum żyroskopu, opóźnienia transmisji i uproszczenia modelu kinematycznego. Dochodzi też wpływ środowiska, na przykład miękkiej nawierzchni albo rampy, których model nie uwzględnia. Wszystkie te zjawiska powodują, że błąd lokalizacji narasta z czasem i bez korekty zewnętrznej nie da się go zatrzymać. </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0F4F8"/>
        </a:solidFill>
        <a:effectLst/>
      </p:bgPr>
    </p:bg>
    <p:spTree>
      <p:nvGrpSpPr>
        <p:cNvPr id="1" name=""/>
        <p:cNvGrpSpPr/>
        <p:nvPr/>
      </p:nvGrpSpPr>
      <p:grpSpPr>
        <a:xfrm>
          <a:off x="0" y="0"/>
          <a:ext cx="0" cy="0"/>
          <a:chOff x="0" y="0"/>
          <a:chExt cx="0" cy="0"/>
        </a:xfrm>
      </p:grpSpPr>
      <p:sp>
        <p:nvSpPr>
          <p:cNvPr id="2" name="Shape 0"/>
          <p:cNvSpPr/>
          <p:nvPr/>
        </p:nvSpPr>
        <p:spPr>
          <a:xfrm>
            <a:off x="0" y="0"/>
            <a:ext cx="64008" cy="5143500"/>
          </a:xfrm>
          <a:prstGeom prst="rect">
            <a:avLst/>
          </a:prstGeom>
          <a:solidFill>
            <a:srgbClr val="F72585"/>
          </a:solidFill>
          <a:ln w="12700">
            <a:solidFill>
              <a:srgbClr val="F72585"/>
            </a:solidFill>
            <a:prstDash val="solid"/>
          </a:ln>
        </p:spPr>
      </p:sp>
      <p:sp>
        <p:nvSpPr>
          <p:cNvPr id="3" name="Shape 1"/>
          <p:cNvSpPr/>
          <p:nvPr/>
        </p:nvSpPr>
        <p:spPr>
          <a:xfrm>
            <a:off x="64008" y="0"/>
            <a:ext cx="9079992" cy="960120"/>
          </a:xfrm>
          <a:prstGeom prst="rect">
            <a:avLst/>
          </a:prstGeom>
          <a:solidFill>
            <a:srgbClr val="0D1B2A"/>
          </a:solidFill>
          <a:ln w="12700">
            <a:solidFill>
              <a:srgbClr val="0D1B2A"/>
            </a:solidFill>
            <a:prstDash val="solid"/>
          </a:ln>
        </p:spPr>
      </p:sp>
      <p:sp>
        <p:nvSpPr>
          <p:cNvPr id="4" name="Text 2"/>
          <p:cNvSpPr/>
          <p:nvPr/>
        </p:nvSpPr>
        <p:spPr>
          <a:xfrm>
            <a:off x="228600" y="73152"/>
            <a:ext cx="4572000" cy="274320"/>
          </a:xfrm>
          <a:prstGeom prst="rect">
            <a:avLst/>
          </a:prstGeom>
          <a:noFill/>
          <a:ln/>
        </p:spPr>
        <p:txBody>
          <a:bodyPr wrap="square" lIns="0" tIns="0" rIns="0" bIns="0" rtlCol="0" anchor="ctr"/>
          <a:lstStyle/>
          <a:p>
            <a:pPr marL="0" indent="0">
              <a:buNone/>
            </a:pPr>
            <a:r>
              <a:rPr lang="en-US" sz="900" b="1" kern="0" spc="200" dirty="0">
                <a:solidFill>
                  <a:srgbClr val="F72585"/>
                </a:solidFill>
                <a:latin typeface="Trebuchet MS" pitchFamily="34" charset="0"/>
                <a:ea typeface="Trebuchet MS" pitchFamily="34" charset="-122"/>
                <a:cs typeface="Trebuchet MS" pitchFamily="34" charset="-120"/>
              </a:rPr>
              <a:t>SEKCJA 1 | DEAD RECKONING</a:t>
            </a:r>
            <a:endParaRPr lang="en-US" sz="900" dirty="0"/>
          </a:p>
        </p:txBody>
      </p:sp>
      <p:sp>
        <p:nvSpPr>
          <p:cNvPr id="5" name="Text 3"/>
          <p:cNvSpPr/>
          <p:nvPr/>
        </p:nvSpPr>
        <p:spPr>
          <a:xfrm>
            <a:off x="228600" y="274320"/>
            <a:ext cx="8686800" cy="594360"/>
          </a:xfrm>
          <a:prstGeom prst="rect">
            <a:avLst/>
          </a:prstGeom>
          <a:noFill/>
          <a:ln/>
        </p:spPr>
        <p:txBody>
          <a:bodyPr wrap="square" lIns="0" tIns="0" rIns="0" bIns="0" rtlCol="0" anchor="ctr"/>
          <a:lstStyle/>
          <a:p>
            <a:r>
              <a:rPr lang="pl-PL" sz="2800" b="1" dirty="0" smtClean="0">
                <a:solidFill>
                  <a:srgbClr val="FFFFFF"/>
                </a:solidFill>
                <a:latin typeface="Trebuchet MS" pitchFamily="34" charset="0"/>
                <a:ea typeface="Trebuchet MS" pitchFamily="34" charset="-122"/>
                <a:cs typeface="Trebuchet MS" pitchFamily="34" charset="-120"/>
              </a:rPr>
              <a:t>I</a:t>
            </a:r>
            <a:r>
              <a:rPr lang="en-US" sz="2800" b="1" dirty="0" err="1" smtClean="0">
                <a:solidFill>
                  <a:srgbClr val="FFFFFF"/>
                </a:solidFill>
                <a:latin typeface="Trebuchet MS" pitchFamily="34" charset="0"/>
                <a:ea typeface="Trebuchet MS" pitchFamily="34" charset="-122"/>
                <a:cs typeface="Trebuchet MS" pitchFamily="34" charset="-120"/>
              </a:rPr>
              <a:t>dea</a:t>
            </a:r>
            <a:r>
              <a:rPr lang="en-US" sz="2800" b="1" dirty="0" smtClean="0">
                <a:solidFill>
                  <a:srgbClr val="FFFFFF"/>
                </a:solidFill>
                <a:latin typeface="Trebuchet MS" pitchFamily="34" charset="0"/>
                <a:ea typeface="Trebuchet MS" pitchFamily="34" charset="-122"/>
                <a:cs typeface="Trebuchet MS" pitchFamily="34" charset="-120"/>
              </a:rPr>
              <a:t> </a:t>
            </a:r>
            <a:r>
              <a:rPr lang="en-US" sz="2800" b="1" dirty="0" err="1">
                <a:solidFill>
                  <a:srgbClr val="FFFFFF"/>
                </a:solidFill>
                <a:latin typeface="Trebuchet MS" pitchFamily="34" charset="0"/>
                <a:ea typeface="Trebuchet MS" pitchFamily="34" charset="-122"/>
                <a:cs typeface="Trebuchet MS" pitchFamily="34" charset="-120"/>
              </a:rPr>
              <a:t>i</a:t>
            </a:r>
            <a:r>
              <a:rPr lang="en-US" sz="2800" b="1" dirty="0">
                <a:solidFill>
                  <a:srgbClr val="FFFFFF"/>
                </a:solidFill>
                <a:latin typeface="Trebuchet MS" pitchFamily="34" charset="0"/>
                <a:ea typeface="Trebuchet MS" pitchFamily="34" charset="-122"/>
                <a:cs typeface="Trebuchet MS" pitchFamily="34" charset="-120"/>
              </a:rPr>
              <a:t> </a:t>
            </a:r>
            <a:r>
              <a:rPr lang="en-US" sz="2800" b="1" dirty="0" err="1" smtClean="0">
                <a:solidFill>
                  <a:srgbClr val="FFFFFF"/>
                </a:solidFill>
                <a:latin typeface="Trebuchet MS" pitchFamily="34" charset="0"/>
                <a:ea typeface="Trebuchet MS" pitchFamily="34" charset="-122"/>
                <a:cs typeface="Trebuchet MS" pitchFamily="34" charset="-120"/>
              </a:rPr>
              <a:t>ograniczenia</a:t>
            </a:r>
            <a:r>
              <a:rPr lang="pl-PL" sz="2800" b="1" dirty="0" smtClean="0">
                <a:solidFill>
                  <a:srgbClr val="FFFFFF"/>
                </a:solidFill>
                <a:latin typeface="Trebuchet MS" pitchFamily="34" charset="0"/>
                <a:ea typeface="Trebuchet MS" pitchFamily="34" charset="-122"/>
                <a:cs typeface="Trebuchet MS" pitchFamily="34" charset="-120"/>
              </a:rPr>
              <a:t> </a:t>
            </a:r>
            <a:r>
              <a:rPr lang="en-US" sz="2800" b="1" dirty="0">
                <a:solidFill>
                  <a:srgbClr val="FFFFFF"/>
                </a:solidFill>
                <a:latin typeface="Trebuchet MS" pitchFamily="34" charset="0"/>
                <a:ea typeface="Trebuchet MS" pitchFamily="34" charset="-122"/>
                <a:cs typeface="Trebuchet MS" pitchFamily="34" charset="-120"/>
              </a:rPr>
              <a:t>Dead reckoning </a:t>
            </a:r>
            <a:endParaRPr lang="en-US" sz="2800" dirty="0"/>
          </a:p>
        </p:txBody>
      </p:sp>
      <p:sp>
        <p:nvSpPr>
          <p:cNvPr id="6" name="Shape 4"/>
          <p:cNvSpPr/>
          <p:nvPr/>
        </p:nvSpPr>
        <p:spPr>
          <a:xfrm>
            <a:off x="274320" y="1097281"/>
            <a:ext cx="4160520" cy="2795246"/>
          </a:xfrm>
          <a:prstGeom prst="rect">
            <a:avLst/>
          </a:prstGeom>
          <a:solidFill>
            <a:srgbClr val="EFF6FF"/>
          </a:solidFill>
          <a:ln w="12700">
            <a:solidFill>
              <a:srgbClr val="E2EBF3"/>
            </a:solidFill>
            <a:prstDash val="solid"/>
          </a:ln>
          <a:effectLst>
            <a:outerShdw blurRad="76200" dist="25400" dir="8100000" algn="bl" rotWithShape="0">
              <a:srgbClr val="000000">
                <a:alpha val="12000"/>
              </a:srgbClr>
            </a:outerShdw>
          </a:effectLst>
        </p:spPr>
      </p:sp>
      <p:sp>
        <p:nvSpPr>
          <p:cNvPr id="7" name="Shape 5"/>
          <p:cNvSpPr/>
          <p:nvPr/>
        </p:nvSpPr>
        <p:spPr>
          <a:xfrm>
            <a:off x="4709160" y="1097281"/>
            <a:ext cx="4160520" cy="2795246"/>
          </a:xfrm>
          <a:prstGeom prst="rect">
            <a:avLst/>
          </a:prstGeom>
          <a:solidFill>
            <a:srgbClr val="FFF1F5"/>
          </a:solidFill>
          <a:ln w="12700">
            <a:solidFill>
              <a:srgbClr val="E2EBF3"/>
            </a:solidFill>
            <a:prstDash val="solid"/>
          </a:ln>
          <a:effectLst>
            <a:outerShdw blurRad="76200" dist="25400" dir="8100000" algn="bl" rotWithShape="0">
              <a:srgbClr val="000000">
                <a:alpha val="12000"/>
              </a:srgbClr>
            </a:outerShdw>
          </a:effectLst>
        </p:spPr>
      </p:sp>
      <p:sp>
        <p:nvSpPr>
          <p:cNvPr id="8" name="Shape 6"/>
          <p:cNvSpPr/>
          <p:nvPr/>
        </p:nvSpPr>
        <p:spPr>
          <a:xfrm>
            <a:off x="274320" y="1097280"/>
            <a:ext cx="4160520" cy="365760"/>
          </a:xfrm>
          <a:prstGeom prst="rect">
            <a:avLst/>
          </a:prstGeom>
          <a:solidFill>
            <a:srgbClr val="0077A8"/>
          </a:solidFill>
          <a:ln w="12700">
            <a:solidFill>
              <a:srgbClr val="0077A8"/>
            </a:solidFill>
            <a:prstDash val="solid"/>
          </a:ln>
        </p:spPr>
      </p:sp>
      <p:sp>
        <p:nvSpPr>
          <p:cNvPr id="9" name="Text 7"/>
          <p:cNvSpPr/>
          <p:nvPr/>
        </p:nvSpPr>
        <p:spPr>
          <a:xfrm>
            <a:off x="457200" y="1115568"/>
            <a:ext cx="3794760" cy="325120"/>
          </a:xfrm>
          <a:prstGeom prst="rect">
            <a:avLst/>
          </a:prstGeom>
          <a:noFill/>
          <a:ln/>
        </p:spPr>
        <p:txBody>
          <a:bodyPr wrap="square" lIns="0" tIns="0" rIns="0" bIns="0" rtlCol="0" anchor="ctr"/>
          <a:lstStyle/>
          <a:p>
            <a:pPr marL="0" indent="0">
              <a:buNone/>
            </a:pPr>
            <a:r>
              <a:rPr lang="en-US" sz="1600" b="1" dirty="0">
                <a:solidFill>
                  <a:srgbClr val="FFFFFF"/>
                </a:solidFill>
                <a:latin typeface="Trebuchet MS" pitchFamily="34" charset="0"/>
                <a:ea typeface="Trebuchet MS" pitchFamily="34" charset="-122"/>
                <a:cs typeface="Trebuchet MS" pitchFamily="34" charset="-120"/>
              </a:rPr>
              <a:t>Na czym polega</a:t>
            </a:r>
            <a:endParaRPr lang="en-US" sz="1600" dirty="0"/>
          </a:p>
        </p:txBody>
      </p:sp>
      <p:sp>
        <p:nvSpPr>
          <p:cNvPr id="10" name="Shape 8"/>
          <p:cNvSpPr/>
          <p:nvPr/>
        </p:nvSpPr>
        <p:spPr>
          <a:xfrm>
            <a:off x="4709160" y="1097280"/>
            <a:ext cx="4160520" cy="365760"/>
          </a:xfrm>
          <a:prstGeom prst="rect">
            <a:avLst/>
          </a:prstGeom>
          <a:solidFill>
            <a:srgbClr val="F72585"/>
          </a:solidFill>
          <a:ln w="12700">
            <a:solidFill>
              <a:srgbClr val="F72585"/>
            </a:solidFill>
            <a:prstDash val="solid"/>
          </a:ln>
        </p:spPr>
      </p:sp>
      <p:sp>
        <p:nvSpPr>
          <p:cNvPr id="11" name="Text 9"/>
          <p:cNvSpPr/>
          <p:nvPr/>
        </p:nvSpPr>
        <p:spPr>
          <a:xfrm>
            <a:off x="4892040" y="1115568"/>
            <a:ext cx="3794760" cy="325120"/>
          </a:xfrm>
          <a:prstGeom prst="rect">
            <a:avLst/>
          </a:prstGeom>
          <a:noFill/>
          <a:ln/>
        </p:spPr>
        <p:txBody>
          <a:bodyPr wrap="square" lIns="0" tIns="0" rIns="0" bIns="0" rtlCol="0" anchor="ctr"/>
          <a:lstStyle/>
          <a:p>
            <a:pPr marL="0" indent="0">
              <a:buNone/>
            </a:pPr>
            <a:r>
              <a:rPr lang="en-US" sz="1600" b="1" dirty="0">
                <a:solidFill>
                  <a:srgbClr val="FFFFFF"/>
                </a:solidFill>
                <a:latin typeface="Trebuchet MS" pitchFamily="34" charset="0"/>
                <a:ea typeface="Trebuchet MS" pitchFamily="34" charset="-122"/>
                <a:cs typeface="Trebuchet MS" pitchFamily="34" charset="-120"/>
              </a:rPr>
              <a:t>Dlaczego nie wystarczy</a:t>
            </a:r>
            <a:endParaRPr lang="en-US" sz="1600" dirty="0"/>
          </a:p>
        </p:txBody>
      </p:sp>
      <p:sp>
        <p:nvSpPr>
          <p:cNvPr id="12" name="Text 10"/>
          <p:cNvSpPr/>
          <p:nvPr/>
        </p:nvSpPr>
        <p:spPr>
          <a:xfrm>
            <a:off x="327878" y="1494402"/>
            <a:ext cx="4092094" cy="2375453"/>
          </a:xfrm>
          <a:prstGeom prst="rect">
            <a:avLst/>
          </a:prstGeom>
          <a:noFill/>
          <a:ln/>
        </p:spPr>
        <p:txBody>
          <a:bodyPr wrap="square" lIns="63500" tIns="36000" rIns="101600" bIns="0" rtlCol="0" anchor="t">
            <a:spAutoFit/>
          </a:bodyPr>
          <a:lstStyle/>
          <a:p>
            <a:pPr marL="180000" indent="-180000">
              <a:spcAft>
                <a:spcPts val="1200"/>
              </a:spcAft>
              <a:buSzPct val="100000"/>
              <a:buChar char="•"/>
            </a:pPr>
            <a:r>
              <a:rPr lang="en-US" sz="1600" spc="-60" dirty="0">
                <a:solidFill>
                  <a:srgbClr val="0D1B2A"/>
                </a:solidFill>
                <a:latin typeface="Calibri" pitchFamily="34" charset="0"/>
                <a:ea typeface="Calibri" pitchFamily="34" charset="-122"/>
                <a:cs typeface="Calibri" pitchFamily="34" charset="-120"/>
              </a:rPr>
              <a:t>Estymacja pozycji wyłącznie z </a:t>
            </a:r>
            <a:r>
              <a:rPr lang="pl-PL" sz="1600" spc="-60" dirty="0" smtClean="0">
                <a:solidFill>
                  <a:srgbClr val="0D1B2A"/>
                </a:solidFill>
                <a:latin typeface="Calibri" pitchFamily="34" charset="0"/>
                <a:ea typeface="Calibri" pitchFamily="34" charset="-122"/>
                <a:cs typeface="Calibri" pitchFamily="34" charset="-120"/>
              </a:rPr>
              <a:t>modelu</a:t>
            </a:r>
            <a:r>
              <a:rPr lang="en-US" sz="1600" spc="-60" dirty="0" smtClean="0">
                <a:solidFill>
                  <a:srgbClr val="0D1B2A"/>
                </a:solidFill>
                <a:latin typeface="Calibri" pitchFamily="34" charset="0"/>
                <a:ea typeface="Calibri" pitchFamily="34" charset="-122"/>
                <a:cs typeface="Calibri" pitchFamily="34" charset="-120"/>
              </a:rPr>
              <a:t> </a:t>
            </a:r>
            <a:r>
              <a:rPr lang="pl-PL" sz="1600" spc="-60" dirty="0" smtClean="0">
                <a:solidFill>
                  <a:srgbClr val="0D1B2A"/>
                </a:solidFill>
                <a:latin typeface="Calibri" pitchFamily="34" charset="0"/>
                <a:ea typeface="Calibri" pitchFamily="34" charset="-122"/>
                <a:cs typeface="Calibri" pitchFamily="34" charset="-120"/>
              </a:rPr>
              <a:t/>
            </a:r>
            <a:br>
              <a:rPr lang="pl-PL" sz="1600" spc="-60" dirty="0" smtClean="0">
                <a:solidFill>
                  <a:srgbClr val="0D1B2A"/>
                </a:solidFill>
                <a:latin typeface="Calibri" pitchFamily="34" charset="0"/>
                <a:ea typeface="Calibri" pitchFamily="34" charset="-122"/>
                <a:cs typeface="Calibri" pitchFamily="34" charset="-120"/>
              </a:rPr>
            </a:br>
            <a:r>
              <a:rPr lang="en-US" sz="1600" spc="-60" dirty="0" err="1" smtClean="0">
                <a:solidFill>
                  <a:srgbClr val="0D1B2A"/>
                </a:solidFill>
                <a:latin typeface="Calibri" pitchFamily="34" charset="0"/>
                <a:ea typeface="Calibri" pitchFamily="34" charset="-122"/>
                <a:cs typeface="Calibri" pitchFamily="34" charset="-120"/>
              </a:rPr>
              <a:t>i</a:t>
            </a:r>
            <a:r>
              <a:rPr lang="en-US" sz="1600" spc="-60" dirty="0" smtClean="0">
                <a:solidFill>
                  <a:srgbClr val="0D1B2A"/>
                </a:solidFill>
                <a:latin typeface="Calibri" pitchFamily="34" charset="0"/>
                <a:ea typeface="Calibri" pitchFamily="34" charset="-122"/>
                <a:cs typeface="Calibri" pitchFamily="34" charset="-120"/>
              </a:rPr>
              <a:t> </a:t>
            </a:r>
            <a:r>
              <a:rPr lang="en-US" sz="1600" spc="-60" dirty="0">
                <a:solidFill>
                  <a:srgbClr val="0D1B2A"/>
                </a:solidFill>
                <a:latin typeface="Calibri" pitchFamily="34" charset="0"/>
                <a:ea typeface="Calibri" pitchFamily="34" charset="-122"/>
                <a:cs typeface="Calibri" pitchFamily="34" charset="-120"/>
              </a:rPr>
              <a:t>pomiarów wewnętrznych </a:t>
            </a:r>
            <a:r>
              <a:rPr lang="en-US" sz="1600" i="1" spc="-60" dirty="0">
                <a:solidFill>
                  <a:srgbClr val="0D1B2A"/>
                </a:solidFill>
                <a:latin typeface="Calibri" pitchFamily="34" charset="0"/>
                <a:ea typeface="Calibri" pitchFamily="34" charset="-122"/>
                <a:cs typeface="Calibri" pitchFamily="34" charset="-120"/>
              </a:rPr>
              <a:t>(IMU, enkodery)</a:t>
            </a:r>
            <a:endParaRPr lang="en-US" sz="1600" i="1" spc="-60" dirty="0"/>
          </a:p>
          <a:p>
            <a:pPr marL="180000" indent="-180000">
              <a:spcAft>
                <a:spcPts val="1200"/>
              </a:spcAft>
              <a:buSzPct val="100000"/>
              <a:buChar char="•"/>
            </a:pPr>
            <a:r>
              <a:rPr lang="en-US" sz="1600" spc="-60" dirty="0">
                <a:solidFill>
                  <a:srgbClr val="0D1B2A"/>
                </a:solidFill>
                <a:latin typeface="Calibri" pitchFamily="34" charset="0"/>
                <a:ea typeface="Calibri" pitchFamily="34" charset="-122"/>
                <a:cs typeface="Calibri" pitchFamily="34" charset="-120"/>
              </a:rPr>
              <a:t>Brak korekty z </a:t>
            </a:r>
            <a:r>
              <a:rPr lang="en-US" sz="1600" spc="-60" dirty="0" err="1">
                <a:solidFill>
                  <a:srgbClr val="0D1B2A"/>
                </a:solidFill>
                <a:latin typeface="Calibri" pitchFamily="34" charset="0"/>
                <a:ea typeface="Calibri" pitchFamily="34" charset="-122"/>
                <a:cs typeface="Calibri" pitchFamily="34" charset="-120"/>
              </a:rPr>
              <a:t>zewnętrznych</a:t>
            </a:r>
            <a:r>
              <a:rPr lang="en-US" sz="1600" spc="-60" dirty="0">
                <a:solidFill>
                  <a:srgbClr val="0D1B2A"/>
                </a:solidFill>
                <a:latin typeface="Calibri" pitchFamily="34" charset="0"/>
                <a:ea typeface="Calibri" pitchFamily="34" charset="-122"/>
                <a:cs typeface="Calibri" pitchFamily="34" charset="-120"/>
              </a:rPr>
              <a:t> </a:t>
            </a:r>
            <a:r>
              <a:rPr lang="pl-PL" sz="1600" spc="-60" dirty="0" smtClean="0">
                <a:solidFill>
                  <a:srgbClr val="0D1B2A"/>
                </a:solidFill>
                <a:latin typeface="Calibri" pitchFamily="34" charset="0"/>
                <a:ea typeface="Calibri" pitchFamily="34" charset="-122"/>
                <a:cs typeface="Calibri" pitchFamily="34" charset="-120"/>
              </a:rPr>
              <a:t>punktów</a:t>
            </a:r>
            <a:r>
              <a:rPr lang="en-US" sz="1600" spc="-60" dirty="0" smtClean="0">
                <a:solidFill>
                  <a:srgbClr val="0D1B2A"/>
                </a:solidFill>
                <a:latin typeface="Calibri" pitchFamily="34" charset="0"/>
                <a:ea typeface="Calibri" pitchFamily="34" charset="-122"/>
                <a:cs typeface="Calibri" pitchFamily="34" charset="-120"/>
              </a:rPr>
              <a:t> </a:t>
            </a:r>
            <a:r>
              <a:rPr lang="pl-PL" sz="1600" spc="-60" dirty="0" smtClean="0">
                <a:solidFill>
                  <a:srgbClr val="0D1B2A"/>
                </a:solidFill>
                <a:latin typeface="Calibri" pitchFamily="34" charset="0"/>
                <a:ea typeface="Calibri" pitchFamily="34" charset="-122"/>
                <a:cs typeface="Calibri" pitchFamily="34" charset="-120"/>
              </a:rPr>
              <a:t>o</a:t>
            </a:r>
            <a:r>
              <a:rPr lang="en-US" sz="1600" spc="-60" dirty="0" err="1" smtClean="0">
                <a:solidFill>
                  <a:srgbClr val="0D1B2A"/>
                </a:solidFill>
                <a:latin typeface="Calibri" pitchFamily="34" charset="0"/>
                <a:ea typeface="Calibri" pitchFamily="34" charset="-122"/>
                <a:cs typeface="Calibri" pitchFamily="34" charset="-120"/>
              </a:rPr>
              <a:t>dniesienia</a:t>
            </a:r>
            <a:endParaRPr lang="en-US" sz="1600" spc="-60" dirty="0"/>
          </a:p>
          <a:p>
            <a:pPr marL="180000" indent="-180000">
              <a:spcAft>
                <a:spcPts val="1200"/>
              </a:spcAft>
              <a:buSzPct val="100000"/>
              <a:buChar char="•"/>
            </a:pPr>
            <a:r>
              <a:rPr lang="en-US" sz="1600" spc="-60" dirty="0">
                <a:solidFill>
                  <a:srgbClr val="0D1B2A"/>
                </a:solidFill>
                <a:latin typeface="Calibri" pitchFamily="34" charset="0"/>
                <a:ea typeface="Calibri" pitchFamily="34" charset="-122"/>
                <a:cs typeface="Calibri" pitchFamily="34" charset="-120"/>
              </a:rPr>
              <a:t>Całkowanie prędkości: x(t) = x₀ + ∫v(τ)dτ</a:t>
            </a:r>
            <a:endParaRPr lang="en-US" sz="1600" spc="-60" dirty="0"/>
          </a:p>
          <a:p>
            <a:pPr marL="180000" indent="-180000">
              <a:spcAft>
                <a:spcPts val="1200"/>
              </a:spcAft>
              <a:buSzPct val="100000"/>
              <a:buChar char="•"/>
            </a:pPr>
            <a:r>
              <a:rPr lang="en-US" sz="1600" spc="-60" dirty="0" smtClean="0">
                <a:solidFill>
                  <a:srgbClr val="0D1B2A"/>
                </a:solidFill>
                <a:latin typeface="Calibri" pitchFamily="34" charset="0"/>
                <a:ea typeface="Calibri" pitchFamily="34" charset="-122"/>
                <a:cs typeface="Calibri" pitchFamily="34" charset="-120"/>
              </a:rPr>
              <a:t>W</a:t>
            </a:r>
            <a:r>
              <a:rPr lang="pl-PL" sz="1600" spc="-60" dirty="0" err="1" smtClean="0">
                <a:solidFill>
                  <a:srgbClr val="0D1B2A"/>
                </a:solidFill>
                <a:latin typeface="Calibri" pitchFamily="34" charset="0"/>
                <a:ea typeface="Calibri" pitchFamily="34" charset="-122"/>
                <a:cs typeface="Calibri" pitchFamily="34" charset="-120"/>
              </a:rPr>
              <a:t>ystarczające</a:t>
            </a:r>
            <a:r>
              <a:rPr lang="pl-PL" sz="1600" spc="-60" dirty="0" smtClean="0">
                <a:solidFill>
                  <a:srgbClr val="0D1B2A"/>
                </a:solidFill>
                <a:latin typeface="Calibri" pitchFamily="34" charset="0"/>
                <a:ea typeface="Calibri" pitchFamily="34" charset="-122"/>
                <a:cs typeface="Calibri" pitchFamily="34" charset="-120"/>
              </a:rPr>
              <a:t> w</a:t>
            </a:r>
            <a:r>
              <a:rPr lang="en-US" sz="1600" spc="-60" dirty="0" smtClean="0">
                <a:solidFill>
                  <a:srgbClr val="0D1B2A"/>
                </a:solidFill>
                <a:latin typeface="Calibri" pitchFamily="34" charset="0"/>
                <a:ea typeface="Calibri" pitchFamily="34" charset="-122"/>
                <a:cs typeface="Calibri" pitchFamily="34" charset="-120"/>
              </a:rPr>
              <a:t> </a:t>
            </a:r>
            <a:r>
              <a:rPr lang="en-US" sz="1600" spc="-60" dirty="0">
                <a:solidFill>
                  <a:srgbClr val="0D1B2A"/>
                </a:solidFill>
                <a:latin typeface="Calibri" pitchFamily="34" charset="0"/>
                <a:ea typeface="Calibri" pitchFamily="34" charset="-122"/>
                <a:cs typeface="Calibri" pitchFamily="34" charset="-120"/>
              </a:rPr>
              <a:t>krótkim </a:t>
            </a:r>
            <a:r>
              <a:rPr lang="en-US" sz="1600" spc="-60" dirty="0" err="1">
                <a:solidFill>
                  <a:srgbClr val="0D1B2A"/>
                </a:solidFill>
                <a:latin typeface="Calibri" pitchFamily="34" charset="0"/>
                <a:ea typeface="Calibri" pitchFamily="34" charset="-122"/>
                <a:cs typeface="Calibri" pitchFamily="34" charset="-120"/>
              </a:rPr>
              <a:t>horyzoncie</a:t>
            </a:r>
            <a:r>
              <a:rPr lang="en-US" sz="1600" spc="-60" dirty="0">
                <a:solidFill>
                  <a:srgbClr val="0D1B2A"/>
                </a:solidFill>
                <a:latin typeface="Calibri" pitchFamily="34" charset="0"/>
                <a:ea typeface="Calibri" pitchFamily="34" charset="-122"/>
                <a:cs typeface="Calibri" pitchFamily="34" charset="-120"/>
              </a:rPr>
              <a:t> </a:t>
            </a:r>
            <a:r>
              <a:rPr lang="en-US" sz="1600" spc="-60" dirty="0" smtClean="0">
                <a:solidFill>
                  <a:srgbClr val="0D1B2A"/>
                </a:solidFill>
                <a:latin typeface="Calibri" pitchFamily="34" charset="0"/>
                <a:ea typeface="Calibri" pitchFamily="34" charset="-122"/>
                <a:cs typeface="Calibri" pitchFamily="34" charset="-120"/>
              </a:rPr>
              <a:t>czasowym</a:t>
            </a:r>
            <a:endParaRPr lang="en-US" sz="1600" spc="-60" dirty="0"/>
          </a:p>
          <a:p>
            <a:pPr marL="180000" indent="-180000">
              <a:spcAft>
                <a:spcPts val="1200"/>
              </a:spcAft>
              <a:buSzPct val="100000"/>
              <a:buChar char="•"/>
            </a:pPr>
            <a:r>
              <a:rPr lang="en-US" sz="1600" spc="-60" dirty="0">
                <a:solidFill>
                  <a:srgbClr val="0D1B2A"/>
                </a:solidFill>
                <a:latin typeface="Calibri" pitchFamily="34" charset="0"/>
                <a:ea typeface="Calibri" pitchFamily="34" charset="-122"/>
                <a:cs typeface="Calibri" pitchFamily="34" charset="-120"/>
              </a:rPr>
              <a:t>Zastosowanie: awaryjne przejście przez strefę bez GPS/LiDAR</a:t>
            </a:r>
            <a:endParaRPr lang="en-US" sz="1600" spc="-60" dirty="0"/>
          </a:p>
        </p:txBody>
      </p:sp>
      <p:sp>
        <p:nvSpPr>
          <p:cNvPr id="13" name="Text 11"/>
          <p:cNvSpPr/>
          <p:nvPr/>
        </p:nvSpPr>
        <p:spPr>
          <a:xfrm>
            <a:off x="4773249" y="1517073"/>
            <a:ext cx="4036213" cy="2124547"/>
          </a:xfrm>
          <a:prstGeom prst="rect">
            <a:avLst/>
          </a:prstGeom>
          <a:noFill/>
          <a:ln/>
        </p:spPr>
        <p:txBody>
          <a:bodyPr wrap="square" lIns="63500" tIns="72000" rIns="101600" bIns="0" rtlCol="0" anchor="t">
            <a:spAutoFit/>
          </a:bodyPr>
          <a:lstStyle/>
          <a:p>
            <a:pPr marL="180000" indent="-180000">
              <a:spcAft>
                <a:spcPts val="1600"/>
              </a:spcAft>
              <a:buSzPct val="100000"/>
              <a:buChar char="•"/>
            </a:pPr>
            <a:r>
              <a:rPr lang="en-US" sz="1600" spc="-100" dirty="0">
                <a:solidFill>
                  <a:srgbClr val="0D1B2A"/>
                </a:solidFill>
                <a:latin typeface="Calibri" pitchFamily="34" charset="0"/>
                <a:ea typeface="Calibri" pitchFamily="34" charset="-122"/>
                <a:cs typeface="Calibri" pitchFamily="34" charset="-120"/>
              </a:rPr>
              <a:t>Błąd rośnie z </a:t>
            </a:r>
            <a:r>
              <a:rPr lang="en-US" sz="1600" spc="-100" dirty="0" err="1">
                <a:solidFill>
                  <a:srgbClr val="0D1B2A"/>
                </a:solidFill>
                <a:latin typeface="Calibri" pitchFamily="34" charset="0"/>
                <a:ea typeface="Calibri" pitchFamily="34" charset="-122"/>
                <a:cs typeface="Calibri" pitchFamily="34" charset="-120"/>
              </a:rPr>
              <a:t>kwadratem</a:t>
            </a:r>
            <a:r>
              <a:rPr lang="en-US" sz="1600" spc="-100" dirty="0">
                <a:solidFill>
                  <a:srgbClr val="0D1B2A"/>
                </a:solidFill>
                <a:latin typeface="Calibri" pitchFamily="34" charset="0"/>
                <a:ea typeface="Calibri" pitchFamily="34" charset="-122"/>
                <a:cs typeface="Calibri" pitchFamily="34" charset="-120"/>
              </a:rPr>
              <a:t> </a:t>
            </a:r>
            <a:r>
              <a:rPr lang="pl-PL" sz="1600" spc="-100" dirty="0" smtClean="0">
                <a:solidFill>
                  <a:srgbClr val="0D1B2A"/>
                </a:solidFill>
                <a:latin typeface="Calibri" pitchFamily="34" charset="0"/>
                <a:ea typeface="Calibri" pitchFamily="34" charset="-122"/>
                <a:cs typeface="Calibri" pitchFamily="34" charset="-120"/>
              </a:rPr>
              <a:t>czasu</a:t>
            </a:r>
            <a:r>
              <a:rPr lang="en-US" sz="1600" spc="-100" dirty="0" smtClean="0">
                <a:solidFill>
                  <a:srgbClr val="0D1B2A"/>
                </a:solidFill>
                <a:latin typeface="Calibri" pitchFamily="34" charset="0"/>
                <a:ea typeface="Calibri" pitchFamily="34" charset="-122"/>
                <a:cs typeface="Calibri" pitchFamily="34" charset="-120"/>
              </a:rPr>
              <a:t> </a:t>
            </a:r>
            <a:r>
              <a:rPr lang="en-US" sz="1600" i="1" spc="-100" dirty="0" smtClean="0">
                <a:solidFill>
                  <a:srgbClr val="0D1B2A"/>
                </a:solidFill>
                <a:latin typeface="Calibri" pitchFamily="34" charset="0"/>
                <a:ea typeface="Calibri" pitchFamily="34" charset="-122"/>
                <a:cs typeface="Calibri" pitchFamily="34" charset="-120"/>
              </a:rPr>
              <a:t>(</a:t>
            </a:r>
            <a:r>
              <a:rPr lang="en-US" sz="1600" i="1" spc="-100" dirty="0">
                <a:solidFill>
                  <a:srgbClr val="0D1B2A"/>
                </a:solidFill>
                <a:latin typeface="Calibri" pitchFamily="34" charset="0"/>
                <a:ea typeface="Calibri" pitchFamily="34" charset="-122"/>
                <a:cs typeface="Calibri" pitchFamily="34" charset="-120"/>
              </a:rPr>
              <a:t>całkowanie szumu)</a:t>
            </a:r>
            <a:endParaRPr lang="en-US" sz="1600" i="1" spc="-100" dirty="0"/>
          </a:p>
          <a:p>
            <a:pPr marL="180000" indent="-180000">
              <a:spcAft>
                <a:spcPts val="1600"/>
              </a:spcAft>
              <a:buSzPct val="100000"/>
              <a:buChar char="•"/>
            </a:pPr>
            <a:r>
              <a:rPr lang="en-US" sz="1600" spc="-100" dirty="0">
                <a:solidFill>
                  <a:srgbClr val="0D1B2A"/>
                </a:solidFill>
                <a:latin typeface="Calibri" pitchFamily="34" charset="0"/>
                <a:ea typeface="Calibri" pitchFamily="34" charset="-122"/>
                <a:cs typeface="Calibri" pitchFamily="34" charset="-120"/>
              </a:rPr>
              <a:t>Bez korekty dryft yaw na </a:t>
            </a:r>
            <a:r>
              <a:rPr lang="en-US" sz="1600" spc="-100" dirty="0" err="1">
                <a:solidFill>
                  <a:srgbClr val="0D1B2A"/>
                </a:solidFill>
                <a:latin typeface="Calibri" pitchFamily="34" charset="0"/>
                <a:ea typeface="Calibri" pitchFamily="34" charset="-122"/>
                <a:cs typeface="Calibri" pitchFamily="34" charset="-120"/>
              </a:rPr>
              <a:t>poziomie</a:t>
            </a:r>
            <a:r>
              <a:rPr lang="en-US" sz="1600" spc="-100" dirty="0">
                <a:solidFill>
                  <a:srgbClr val="0D1B2A"/>
                </a:solidFill>
                <a:latin typeface="Calibri" pitchFamily="34" charset="0"/>
                <a:ea typeface="Calibri" pitchFamily="34" charset="-122"/>
                <a:cs typeface="Calibri" pitchFamily="34" charset="-120"/>
              </a:rPr>
              <a:t> </a:t>
            </a:r>
            <a:r>
              <a:rPr lang="en-US" sz="1600" spc="-100" dirty="0" err="1" smtClean="0">
                <a:solidFill>
                  <a:srgbClr val="0D1B2A"/>
                </a:solidFill>
                <a:latin typeface="Calibri" pitchFamily="34" charset="0"/>
                <a:ea typeface="Calibri" pitchFamily="34" charset="-122"/>
                <a:cs typeface="Calibri" pitchFamily="34" charset="-120"/>
              </a:rPr>
              <a:t>kilku</a:t>
            </a:r>
            <a:r>
              <a:rPr lang="en-US" sz="1600" spc="-100" dirty="0" smtClean="0">
                <a:solidFill>
                  <a:srgbClr val="0D1B2A"/>
                </a:solidFill>
                <a:latin typeface="Calibri" pitchFamily="34" charset="0"/>
                <a:ea typeface="Calibri" pitchFamily="34" charset="-122"/>
                <a:cs typeface="Calibri" pitchFamily="34" charset="-120"/>
              </a:rPr>
              <a:t> </a:t>
            </a:r>
            <a:r>
              <a:rPr lang="en-US" sz="1600" spc="-100" dirty="0">
                <a:solidFill>
                  <a:srgbClr val="0D1B2A"/>
                </a:solidFill>
                <a:latin typeface="Calibri" pitchFamily="34" charset="0"/>
                <a:ea typeface="Calibri" pitchFamily="34" charset="-122"/>
                <a:cs typeface="Calibri" pitchFamily="34" charset="-120"/>
              </a:rPr>
              <a:t>stopni/min</a:t>
            </a:r>
            <a:endParaRPr lang="en-US" sz="1600" spc="-100" dirty="0"/>
          </a:p>
          <a:p>
            <a:pPr marL="180000" indent="-180000">
              <a:spcAft>
                <a:spcPts val="1600"/>
              </a:spcAft>
              <a:buSzPct val="100000"/>
              <a:buChar char="•"/>
            </a:pPr>
            <a:r>
              <a:rPr lang="en-US" sz="1600" spc="-80" dirty="0">
                <a:solidFill>
                  <a:srgbClr val="0D1B2A"/>
                </a:solidFill>
                <a:latin typeface="Calibri" pitchFamily="34" charset="0"/>
                <a:ea typeface="Calibri" pitchFamily="34" charset="-122"/>
                <a:cs typeface="Calibri" pitchFamily="34" charset="-120"/>
              </a:rPr>
              <a:t>Po 30 s marszu błąd pozycji </a:t>
            </a:r>
            <a:r>
              <a:rPr lang="en-US" sz="1600" spc="-80" dirty="0" err="1">
                <a:solidFill>
                  <a:srgbClr val="0D1B2A"/>
                </a:solidFill>
                <a:latin typeface="Calibri" pitchFamily="34" charset="0"/>
                <a:ea typeface="Calibri" pitchFamily="34" charset="-122"/>
                <a:cs typeface="Calibri" pitchFamily="34" charset="-120"/>
              </a:rPr>
              <a:t>może</a:t>
            </a:r>
            <a:r>
              <a:rPr lang="en-US" sz="1600" spc="-80" dirty="0">
                <a:solidFill>
                  <a:srgbClr val="0D1B2A"/>
                </a:solidFill>
                <a:latin typeface="Calibri" pitchFamily="34" charset="0"/>
                <a:ea typeface="Calibri" pitchFamily="34" charset="-122"/>
                <a:cs typeface="Calibri" pitchFamily="34" charset="-120"/>
              </a:rPr>
              <a:t> </a:t>
            </a:r>
            <a:r>
              <a:rPr lang="en-US" sz="1600" spc="-80" dirty="0" smtClean="0">
                <a:solidFill>
                  <a:srgbClr val="0D1B2A"/>
                </a:solidFill>
                <a:latin typeface="Calibri" pitchFamily="34" charset="0"/>
                <a:ea typeface="Calibri" pitchFamily="34" charset="-122"/>
                <a:cs typeface="Calibri" pitchFamily="34" charset="-120"/>
              </a:rPr>
              <a:t>przekroczyć 1m</a:t>
            </a:r>
            <a:endParaRPr lang="en-US" sz="1600" spc="-80" dirty="0"/>
          </a:p>
          <a:p>
            <a:pPr marL="180000" indent="-180000">
              <a:spcAft>
                <a:spcPts val="1600"/>
              </a:spcAft>
              <a:buSzPct val="100000"/>
              <a:buChar char="•"/>
            </a:pPr>
            <a:r>
              <a:rPr lang="en-US" sz="1600" spc="-80" dirty="0">
                <a:solidFill>
                  <a:srgbClr val="0D1B2A"/>
                </a:solidFill>
                <a:latin typeface="Calibri" pitchFamily="34" charset="0"/>
                <a:ea typeface="Calibri" pitchFamily="34" charset="-122"/>
                <a:cs typeface="Calibri" pitchFamily="34" charset="-120"/>
              </a:rPr>
              <a:t>Nie wykrywa zakłóceń środowiskowych </a:t>
            </a:r>
            <a:r>
              <a:rPr lang="en-US" sz="1600" i="1" spc="-80" dirty="0">
                <a:solidFill>
                  <a:srgbClr val="0D1B2A"/>
                </a:solidFill>
                <a:latin typeface="Calibri" pitchFamily="34" charset="0"/>
                <a:ea typeface="Calibri" pitchFamily="34" charset="-122"/>
                <a:cs typeface="Calibri" pitchFamily="34" charset="-120"/>
              </a:rPr>
              <a:t>(poślizg)</a:t>
            </a:r>
            <a:endParaRPr lang="en-US" sz="1600" i="1" spc="-80" dirty="0"/>
          </a:p>
          <a:p>
            <a:pPr marL="180000" indent="-180000">
              <a:spcAft>
                <a:spcPts val="1600"/>
              </a:spcAft>
              <a:buSzPct val="100000"/>
              <a:buChar char="•"/>
            </a:pPr>
            <a:r>
              <a:rPr lang="en-US" sz="1600" spc="-80" dirty="0">
                <a:solidFill>
                  <a:srgbClr val="0D1B2A"/>
                </a:solidFill>
                <a:latin typeface="Calibri" pitchFamily="34" charset="0"/>
                <a:ea typeface="Calibri" pitchFamily="34" charset="-122"/>
                <a:cs typeface="Calibri" pitchFamily="34" charset="-120"/>
              </a:rPr>
              <a:t>Konieczna fuzja z SLAM, GPS lub znacznikami</a:t>
            </a:r>
            <a:endParaRPr lang="en-US" sz="1600" spc="-80" dirty="0"/>
          </a:p>
        </p:txBody>
      </p:sp>
      <p:sp>
        <p:nvSpPr>
          <p:cNvPr id="14" name="Prostokąt 13"/>
          <p:cNvSpPr/>
          <p:nvPr/>
        </p:nvSpPr>
        <p:spPr>
          <a:xfrm>
            <a:off x="274320" y="4045074"/>
            <a:ext cx="8595360" cy="992516"/>
          </a:xfrm>
          <a:prstGeom prst="rect">
            <a:avLst/>
          </a:prstGeom>
          <a:solidFill>
            <a:srgbClr val="0D1B2A"/>
          </a:solidFill>
        </p:spPr>
        <p:txBody>
          <a:bodyPr wrap="square">
            <a:spAutoFit/>
          </a:bodyPr>
          <a:lstStyle/>
          <a:p>
            <a:pPr algn="just">
              <a:lnSpc>
                <a:spcPts val="1400"/>
              </a:lnSpc>
            </a:pPr>
            <a:r>
              <a:rPr lang="pl-PL" sz="1400" dirty="0">
                <a:solidFill>
                  <a:schemeClr val="bg1"/>
                </a:solidFill>
              </a:rPr>
              <a:t>Dead </a:t>
            </a:r>
            <a:r>
              <a:rPr lang="pl-PL" sz="1400" dirty="0" err="1">
                <a:solidFill>
                  <a:schemeClr val="bg1"/>
                </a:solidFill>
              </a:rPr>
              <a:t>reckoning</a:t>
            </a:r>
            <a:r>
              <a:rPr lang="pl-PL" sz="1400" dirty="0">
                <a:solidFill>
                  <a:schemeClr val="bg1"/>
                </a:solidFill>
              </a:rPr>
              <a:t> to estymacja pozycji wyłącznie na podstawie modelu ruchu i pomiarów wewnętrznych, takich jak IMU i </a:t>
            </a:r>
            <a:r>
              <a:rPr lang="pl-PL" sz="1400" dirty="0" err="1">
                <a:solidFill>
                  <a:schemeClr val="bg1"/>
                </a:solidFill>
              </a:rPr>
              <a:t>enkodery</a:t>
            </a:r>
            <a:r>
              <a:rPr lang="pl-PL" sz="1400" dirty="0">
                <a:solidFill>
                  <a:schemeClr val="bg1"/>
                </a:solidFill>
              </a:rPr>
              <a:t>. W krótkim horyzoncie działa zaskakująco dobrze i bywa użyteczne jako rozwiązanie awaryjne. Problem polega na tym, że błąd rośnie wraz z czasem, szczególnie przez dryft orientacji. Po kilkudziesięciu sekundach marszu odchylenie pozycji może być już bardzo duże. Dlatego </a:t>
            </a:r>
            <a:r>
              <a:rPr lang="pl-PL" sz="1400" dirty="0" err="1">
                <a:solidFill>
                  <a:schemeClr val="bg1"/>
                </a:solidFill>
              </a:rPr>
              <a:t>dead</a:t>
            </a:r>
            <a:r>
              <a:rPr lang="pl-PL" sz="1400" dirty="0">
                <a:solidFill>
                  <a:schemeClr val="bg1"/>
                </a:solidFill>
              </a:rPr>
              <a:t> </a:t>
            </a:r>
            <a:r>
              <a:rPr lang="pl-PL" sz="1400" dirty="0" err="1">
                <a:solidFill>
                  <a:schemeClr val="bg1"/>
                </a:solidFill>
              </a:rPr>
              <a:t>reckoning</a:t>
            </a:r>
            <a:r>
              <a:rPr lang="pl-PL" sz="1400" dirty="0">
                <a:solidFill>
                  <a:schemeClr val="bg1"/>
                </a:solidFill>
              </a:rPr>
              <a:t> samo w sobie nie wystarcza i musi być wspierane przez zewnętrzne punkty odniesienia, SLAM albo znaczniki.</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0F4F8"/>
        </a:solidFill>
        <a:effectLst/>
      </p:bgPr>
    </p:bg>
    <p:spTree>
      <p:nvGrpSpPr>
        <p:cNvPr id="1" name=""/>
        <p:cNvGrpSpPr/>
        <p:nvPr/>
      </p:nvGrpSpPr>
      <p:grpSpPr>
        <a:xfrm>
          <a:off x="0" y="0"/>
          <a:ext cx="0" cy="0"/>
          <a:chOff x="0" y="0"/>
          <a:chExt cx="0" cy="0"/>
        </a:xfrm>
      </p:grpSpPr>
      <p:sp>
        <p:nvSpPr>
          <p:cNvPr id="2" name="Shape 0"/>
          <p:cNvSpPr/>
          <p:nvPr/>
        </p:nvSpPr>
        <p:spPr>
          <a:xfrm>
            <a:off x="0" y="0"/>
            <a:ext cx="64008" cy="5143500"/>
          </a:xfrm>
          <a:prstGeom prst="rect">
            <a:avLst/>
          </a:prstGeom>
          <a:solidFill>
            <a:srgbClr val="00B4D8"/>
          </a:solidFill>
          <a:ln w="12700">
            <a:solidFill>
              <a:srgbClr val="00B4D8"/>
            </a:solidFill>
            <a:prstDash val="solid"/>
          </a:ln>
        </p:spPr>
      </p:sp>
      <p:sp>
        <p:nvSpPr>
          <p:cNvPr id="3" name="Shape 1"/>
          <p:cNvSpPr/>
          <p:nvPr/>
        </p:nvSpPr>
        <p:spPr>
          <a:xfrm>
            <a:off x="64008" y="0"/>
            <a:ext cx="9079992" cy="960120"/>
          </a:xfrm>
          <a:prstGeom prst="rect">
            <a:avLst/>
          </a:prstGeom>
          <a:solidFill>
            <a:srgbClr val="0D1B2A"/>
          </a:solidFill>
          <a:ln w="12700">
            <a:solidFill>
              <a:srgbClr val="0D1B2A"/>
            </a:solidFill>
            <a:prstDash val="solid"/>
          </a:ln>
        </p:spPr>
      </p:sp>
      <p:sp>
        <p:nvSpPr>
          <p:cNvPr id="4" name="Text 2"/>
          <p:cNvSpPr/>
          <p:nvPr/>
        </p:nvSpPr>
        <p:spPr>
          <a:xfrm>
            <a:off x="228600" y="73152"/>
            <a:ext cx="4572000" cy="274320"/>
          </a:xfrm>
          <a:prstGeom prst="rect">
            <a:avLst/>
          </a:prstGeom>
          <a:noFill/>
          <a:ln/>
        </p:spPr>
        <p:txBody>
          <a:bodyPr wrap="square" lIns="0" tIns="0" rIns="0" bIns="0" rtlCol="0" anchor="ctr"/>
          <a:lstStyle/>
          <a:p>
            <a:pPr marL="0" indent="0">
              <a:buNone/>
            </a:pPr>
            <a:r>
              <a:rPr lang="en-US" sz="900" b="1" kern="0" spc="200" dirty="0">
                <a:solidFill>
                  <a:srgbClr val="00B4D8"/>
                </a:solidFill>
                <a:latin typeface="Trebuchet MS" pitchFamily="34" charset="0"/>
                <a:ea typeface="Trebuchet MS" pitchFamily="34" charset="-122"/>
                <a:cs typeface="Trebuchet MS" pitchFamily="34" charset="-120"/>
              </a:rPr>
              <a:t>SEKCJA 1 | TRANSFORMACJE</a:t>
            </a:r>
            <a:endParaRPr lang="en-US" sz="900" dirty="0"/>
          </a:p>
        </p:txBody>
      </p:sp>
      <p:sp>
        <p:nvSpPr>
          <p:cNvPr id="5" name="Text 3"/>
          <p:cNvSpPr/>
          <p:nvPr/>
        </p:nvSpPr>
        <p:spPr>
          <a:xfrm>
            <a:off x="228600" y="274320"/>
            <a:ext cx="8686800" cy="594360"/>
          </a:xfrm>
          <a:prstGeom prst="rect">
            <a:avLst/>
          </a:prstGeom>
          <a:noFill/>
          <a:ln/>
        </p:spPr>
        <p:txBody>
          <a:bodyPr wrap="square" lIns="0" tIns="0" rIns="0" bIns="0" rtlCol="0" anchor="ctr"/>
          <a:lstStyle/>
          <a:p>
            <a:pPr marL="0" indent="0">
              <a:buNone/>
            </a:pPr>
            <a:r>
              <a:rPr lang="en-US" sz="2800" b="1" dirty="0">
                <a:solidFill>
                  <a:srgbClr val="FFFFFF"/>
                </a:solidFill>
                <a:latin typeface="Trebuchet MS" pitchFamily="34" charset="0"/>
                <a:ea typeface="Trebuchet MS" pitchFamily="34" charset="-122"/>
                <a:cs typeface="Trebuchet MS" pitchFamily="34" charset="-120"/>
              </a:rPr>
              <a:t>Referencyjne układy: map, odom, base</a:t>
            </a:r>
            <a:endParaRPr lang="en-US" sz="2800" dirty="0"/>
          </a:p>
        </p:txBody>
      </p:sp>
      <p:sp>
        <p:nvSpPr>
          <p:cNvPr id="6" name="Shape 4"/>
          <p:cNvSpPr/>
          <p:nvPr/>
        </p:nvSpPr>
        <p:spPr>
          <a:xfrm>
            <a:off x="274320" y="1127508"/>
            <a:ext cx="8595360" cy="2714214"/>
          </a:xfrm>
          <a:prstGeom prst="rect">
            <a:avLst/>
          </a:prstGeom>
          <a:solidFill>
            <a:srgbClr val="FFFFFF"/>
          </a:solidFill>
          <a:ln w="12700">
            <a:solidFill>
              <a:srgbClr val="E2EBF3"/>
            </a:solidFill>
            <a:prstDash val="solid"/>
          </a:ln>
          <a:effectLst>
            <a:outerShdw blurRad="76200" dist="25400" dir="8100000" algn="bl" rotWithShape="0">
              <a:srgbClr val="000000">
                <a:alpha val="12000"/>
              </a:srgbClr>
            </a:outerShdw>
          </a:effectLst>
        </p:spPr>
      </p:sp>
      <p:sp>
        <p:nvSpPr>
          <p:cNvPr id="7" name="Text 5"/>
          <p:cNvSpPr/>
          <p:nvPr/>
        </p:nvSpPr>
        <p:spPr>
          <a:xfrm>
            <a:off x="330200" y="1128264"/>
            <a:ext cx="8502650" cy="2683230"/>
          </a:xfrm>
          <a:prstGeom prst="rect">
            <a:avLst/>
          </a:prstGeom>
          <a:noFill/>
          <a:ln/>
        </p:spPr>
        <p:txBody>
          <a:bodyPr wrap="square" lIns="127000" tIns="36000" rIns="127000" bIns="0" rtlCol="0" anchor="t">
            <a:spAutoFit/>
          </a:bodyPr>
          <a:lstStyle/>
          <a:p>
            <a:pPr marL="216000" indent="-216000">
              <a:spcAft>
                <a:spcPts val="1200"/>
              </a:spcAft>
              <a:buSzPct val="100000"/>
              <a:buChar char="•"/>
            </a:pPr>
            <a:r>
              <a:rPr lang="en-US" sz="1600" b="1" spc="-40" dirty="0">
                <a:solidFill>
                  <a:srgbClr val="0D1B2A"/>
                </a:solidFill>
                <a:latin typeface="Calibri" pitchFamily="34" charset="0"/>
                <a:ea typeface="Calibri" pitchFamily="34" charset="-122"/>
                <a:cs typeface="Calibri" pitchFamily="34" charset="-120"/>
              </a:rPr>
              <a:t>world</a:t>
            </a:r>
            <a:r>
              <a:rPr lang="en-US" sz="1600" spc="-40" dirty="0">
                <a:solidFill>
                  <a:srgbClr val="0D1B2A"/>
                </a:solidFill>
                <a:latin typeface="Calibri" pitchFamily="34" charset="0"/>
                <a:ea typeface="Calibri" pitchFamily="34" charset="-122"/>
                <a:cs typeface="Calibri" pitchFamily="34" charset="-120"/>
              </a:rPr>
              <a:t> </a:t>
            </a:r>
            <a:r>
              <a:rPr lang="en-US" sz="1600" spc="-40" dirty="0" smtClean="0">
                <a:solidFill>
                  <a:srgbClr val="0D1B2A"/>
                </a:solidFill>
                <a:latin typeface="Calibri" pitchFamily="34" charset="0"/>
                <a:ea typeface="Calibri" pitchFamily="34" charset="-122"/>
                <a:cs typeface="Calibri" pitchFamily="34" charset="-120"/>
              </a:rPr>
              <a:t>– </a:t>
            </a:r>
            <a:r>
              <a:rPr lang="en-US" sz="1600" spc="-40" dirty="0">
                <a:solidFill>
                  <a:srgbClr val="0D1B2A"/>
                </a:solidFill>
                <a:latin typeface="Calibri" pitchFamily="34" charset="0"/>
                <a:ea typeface="Calibri" pitchFamily="34" charset="-122"/>
                <a:cs typeface="Calibri" pitchFamily="34" charset="-120"/>
              </a:rPr>
              <a:t>absolutna ramka inercjalna; stała; punkt odniesienia misji</a:t>
            </a:r>
            <a:endParaRPr lang="en-US" sz="1600" spc="-40" dirty="0"/>
          </a:p>
          <a:p>
            <a:pPr marL="216000" indent="-216000">
              <a:spcAft>
                <a:spcPts val="1200"/>
              </a:spcAft>
              <a:buSzPct val="100000"/>
              <a:buChar char="•"/>
            </a:pPr>
            <a:r>
              <a:rPr lang="en-US" sz="1600" b="1" spc="-40" dirty="0" smtClean="0">
                <a:solidFill>
                  <a:srgbClr val="0D1B2A"/>
                </a:solidFill>
                <a:latin typeface="Calibri" pitchFamily="34" charset="0"/>
                <a:ea typeface="Calibri" pitchFamily="34" charset="-122"/>
                <a:cs typeface="Calibri" pitchFamily="34" charset="-120"/>
              </a:rPr>
              <a:t>map</a:t>
            </a:r>
            <a:r>
              <a:rPr lang="en-US" sz="1600" spc="-40" dirty="0" smtClean="0">
                <a:solidFill>
                  <a:srgbClr val="0D1B2A"/>
                </a:solidFill>
                <a:latin typeface="Calibri" pitchFamily="34" charset="0"/>
                <a:ea typeface="Calibri" pitchFamily="34" charset="-122"/>
                <a:cs typeface="Calibri" pitchFamily="34" charset="-120"/>
              </a:rPr>
              <a:t> </a:t>
            </a:r>
            <a:r>
              <a:rPr lang="en-US" sz="1600" spc="-40" dirty="0">
                <a:solidFill>
                  <a:srgbClr val="0D1B2A"/>
                </a:solidFill>
                <a:latin typeface="Calibri" pitchFamily="34" charset="0"/>
                <a:ea typeface="Calibri" pitchFamily="34" charset="-122"/>
                <a:cs typeface="Calibri" pitchFamily="34" charset="-120"/>
              </a:rPr>
              <a:t>– ramka mapy SLAM; skokowe korekty przy domknięciu pętli; world ≈ map w małych środowiskach</a:t>
            </a:r>
            <a:endParaRPr lang="en-US" sz="1600" spc="-40" dirty="0"/>
          </a:p>
          <a:p>
            <a:pPr marL="216000" indent="-216000">
              <a:spcAft>
                <a:spcPts val="1200"/>
              </a:spcAft>
              <a:buSzPct val="100000"/>
              <a:buChar char="•"/>
            </a:pPr>
            <a:r>
              <a:rPr lang="en-US" sz="1600" b="1" spc="-40" dirty="0" err="1">
                <a:solidFill>
                  <a:srgbClr val="0D1B2A"/>
                </a:solidFill>
                <a:latin typeface="Calibri" pitchFamily="34" charset="0"/>
                <a:ea typeface="Calibri" pitchFamily="34" charset="-122"/>
                <a:cs typeface="Calibri" pitchFamily="34" charset="-120"/>
              </a:rPr>
              <a:t>odom</a:t>
            </a:r>
            <a:r>
              <a:rPr lang="en-US" sz="1600" spc="-40" dirty="0">
                <a:solidFill>
                  <a:srgbClr val="0D1B2A"/>
                </a:solidFill>
                <a:latin typeface="Calibri" pitchFamily="34" charset="0"/>
                <a:ea typeface="Calibri" pitchFamily="34" charset="-122"/>
                <a:cs typeface="Calibri" pitchFamily="34" charset="-120"/>
              </a:rPr>
              <a:t> </a:t>
            </a:r>
            <a:r>
              <a:rPr lang="en-US" sz="1600" spc="-40" dirty="0" smtClean="0">
                <a:solidFill>
                  <a:srgbClr val="0D1B2A"/>
                </a:solidFill>
                <a:latin typeface="Calibri" pitchFamily="34" charset="0"/>
                <a:ea typeface="Calibri" pitchFamily="34" charset="-122"/>
                <a:cs typeface="Calibri" pitchFamily="34" charset="-120"/>
              </a:rPr>
              <a:t>– </a:t>
            </a:r>
            <a:r>
              <a:rPr lang="en-US" sz="1600" spc="-40" dirty="0">
                <a:solidFill>
                  <a:srgbClr val="0D1B2A"/>
                </a:solidFill>
                <a:latin typeface="Calibri" pitchFamily="34" charset="0"/>
                <a:ea typeface="Calibri" pitchFamily="34" charset="-122"/>
                <a:cs typeface="Calibri" pitchFamily="34" charset="-120"/>
              </a:rPr>
              <a:t>ramka odometrii; ciągła, ale dryfuje; baza dla planisty lokalnego</a:t>
            </a:r>
            <a:endParaRPr lang="en-US" sz="1600" spc="-40" dirty="0"/>
          </a:p>
          <a:p>
            <a:pPr marL="216000" indent="-216000">
              <a:spcAft>
                <a:spcPts val="1200"/>
              </a:spcAft>
              <a:buSzPct val="100000"/>
              <a:buChar char="•"/>
            </a:pPr>
            <a:r>
              <a:rPr lang="en-US" sz="1600" b="1" spc="-40" dirty="0">
                <a:solidFill>
                  <a:srgbClr val="0D1B2A"/>
                </a:solidFill>
                <a:latin typeface="Calibri" pitchFamily="34" charset="0"/>
                <a:ea typeface="Calibri" pitchFamily="34" charset="-122"/>
                <a:cs typeface="Calibri" pitchFamily="34" charset="-120"/>
              </a:rPr>
              <a:t>base</a:t>
            </a:r>
            <a:r>
              <a:rPr lang="en-US" sz="1600" spc="-40" dirty="0">
                <a:solidFill>
                  <a:srgbClr val="0D1B2A"/>
                </a:solidFill>
                <a:latin typeface="Calibri" pitchFamily="34" charset="0"/>
                <a:ea typeface="Calibri" pitchFamily="34" charset="-122"/>
                <a:cs typeface="Calibri" pitchFamily="34" charset="-120"/>
              </a:rPr>
              <a:t> </a:t>
            </a:r>
            <a:r>
              <a:rPr lang="en-US" sz="1600" spc="-40" dirty="0" smtClean="0">
                <a:solidFill>
                  <a:srgbClr val="0D1B2A"/>
                </a:solidFill>
                <a:latin typeface="Calibri" pitchFamily="34" charset="0"/>
                <a:ea typeface="Calibri" pitchFamily="34" charset="-122"/>
                <a:cs typeface="Calibri" pitchFamily="34" charset="-120"/>
              </a:rPr>
              <a:t>– </a:t>
            </a:r>
            <a:r>
              <a:rPr lang="en-US" sz="1600" spc="-40" dirty="0">
                <a:solidFill>
                  <a:srgbClr val="0D1B2A"/>
                </a:solidFill>
                <a:latin typeface="Calibri" pitchFamily="34" charset="0"/>
                <a:ea typeface="Calibri" pitchFamily="34" charset="-122"/>
                <a:cs typeface="Calibri" pitchFamily="34" charset="-120"/>
              </a:rPr>
              <a:t>miednica / CoM robota; centrum drzewa kinematyki</a:t>
            </a:r>
            <a:endParaRPr lang="en-US" sz="1600" spc="-40" dirty="0"/>
          </a:p>
          <a:p>
            <a:pPr marL="216000" indent="-216000">
              <a:spcAft>
                <a:spcPts val="1200"/>
              </a:spcAft>
              <a:buSzPct val="100000"/>
              <a:buChar char="•"/>
            </a:pPr>
            <a:r>
              <a:rPr lang="en-US" sz="1600" b="1" spc="-40" dirty="0">
                <a:solidFill>
                  <a:srgbClr val="0D1B2A"/>
                </a:solidFill>
                <a:latin typeface="Calibri" pitchFamily="34" charset="0"/>
                <a:ea typeface="Calibri" pitchFamily="34" charset="-122"/>
                <a:cs typeface="Calibri" pitchFamily="34" charset="-120"/>
              </a:rPr>
              <a:t>Relacja kluczowa</a:t>
            </a:r>
            <a:r>
              <a:rPr lang="en-US" sz="1600" spc="-40" dirty="0">
                <a:solidFill>
                  <a:srgbClr val="0D1B2A"/>
                </a:solidFill>
                <a:latin typeface="Calibri" pitchFamily="34" charset="0"/>
                <a:ea typeface="Calibri" pitchFamily="34" charset="-122"/>
                <a:cs typeface="Calibri" pitchFamily="34" charset="-120"/>
              </a:rPr>
              <a:t>: </a:t>
            </a:r>
            <a:r>
              <a:rPr lang="en-US" sz="1600" spc="-40" dirty="0">
                <a:solidFill>
                  <a:srgbClr val="FF0000"/>
                </a:solidFill>
                <a:latin typeface="Calibri" pitchFamily="34" charset="0"/>
                <a:ea typeface="Calibri" pitchFamily="34" charset="-122"/>
                <a:cs typeface="Calibri" pitchFamily="34" charset="-120"/>
              </a:rPr>
              <a:t>odom→map </a:t>
            </a:r>
            <a:r>
              <a:rPr lang="en-US" sz="1600" spc="-40" dirty="0">
                <a:solidFill>
                  <a:srgbClr val="0D1B2A"/>
                </a:solidFill>
                <a:latin typeface="Calibri" pitchFamily="34" charset="0"/>
                <a:ea typeface="Calibri" pitchFamily="34" charset="-122"/>
                <a:cs typeface="Calibri" pitchFamily="34" charset="-120"/>
              </a:rPr>
              <a:t>to korekta SLAM; </a:t>
            </a:r>
            <a:r>
              <a:rPr lang="en-US" sz="1600" spc="-40" dirty="0">
                <a:solidFill>
                  <a:srgbClr val="FF0000"/>
                </a:solidFill>
                <a:latin typeface="Calibri" pitchFamily="34" charset="0"/>
                <a:ea typeface="Calibri" pitchFamily="34" charset="-122"/>
                <a:cs typeface="Calibri" pitchFamily="34" charset="-120"/>
              </a:rPr>
              <a:t>base→odom </a:t>
            </a:r>
            <a:r>
              <a:rPr lang="en-US" sz="1600" spc="-40" dirty="0">
                <a:solidFill>
                  <a:srgbClr val="0D1B2A"/>
                </a:solidFill>
                <a:latin typeface="Calibri" pitchFamily="34" charset="0"/>
                <a:ea typeface="Calibri" pitchFamily="34" charset="-122"/>
                <a:cs typeface="Calibri" pitchFamily="34" charset="-120"/>
              </a:rPr>
              <a:t>to bieżąca odometria</a:t>
            </a:r>
            <a:endParaRPr lang="en-US" sz="1600" spc="-40" dirty="0"/>
          </a:p>
          <a:p>
            <a:pPr marL="216000" indent="-216000">
              <a:spcAft>
                <a:spcPts val="1200"/>
              </a:spcAft>
              <a:buSzPct val="100000"/>
              <a:buChar char="•"/>
            </a:pPr>
            <a:r>
              <a:rPr lang="en-US" sz="1600" b="1" spc="-40" dirty="0">
                <a:solidFill>
                  <a:srgbClr val="0D1B2A"/>
                </a:solidFill>
                <a:latin typeface="Calibri" pitchFamily="34" charset="0"/>
                <a:ea typeface="Calibri" pitchFamily="34" charset="-122"/>
                <a:cs typeface="Calibri" pitchFamily="34" charset="-120"/>
              </a:rPr>
              <a:t>ROS 2 tf2</a:t>
            </a:r>
            <a:r>
              <a:rPr lang="en-US" sz="1600" spc="-40" dirty="0">
                <a:solidFill>
                  <a:srgbClr val="0D1B2A"/>
                </a:solidFill>
                <a:latin typeface="Calibri" pitchFamily="34" charset="0"/>
                <a:ea typeface="Calibri" pitchFamily="34" charset="-122"/>
                <a:cs typeface="Calibri" pitchFamily="34" charset="-120"/>
              </a:rPr>
              <a:t>: każda transformacja niesie timestamp; stare transformacje są buforowane</a:t>
            </a:r>
            <a:endParaRPr lang="en-US" sz="1600" spc="-40" dirty="0"/>
          </a:p>
          <a:p>
            <a:pPr marL="216000" indent="-216000">
              <a:spcAft>
                <a:spcPts val="1200"/>
              </a:spcAft>
              <a:buSzPct val="100000"/>
              <a:buChar char="•"/>
            </a:pPr>
            <a:r>
              <a:rPr lang="en-US" sz="1600" b="1" spc="-40" dirty="0">
                <a:solidFill>
                  <a:srgbClr val="0D1B2A"/>
                </a:solidFill>
                <a:latin typeface="Calibri" pitchFamily="34" charset="0"/>
                <a:ea typeface="Calibri" pitchFamily="34" charset="-122"/>
                <a:cs typeface="Calibri" pitchFamily="34" charset="-120"/>
              </a:rPr>
              <a:t>Niespójne drzewo TF </a:t>
            </a:r>
            <a:r>
              <a:rPr lang="en-US" sz="1600" spc="-40" dirty="0">
                <a:solidFill>
                  <a:srgbClr val="0D1B2A"/>
                </a:solidFill>
                <a:latin typeface="Calibri" pitchFamily="34" charset="0"/>
                <a:ea typeface="Calibri" pitchFamily="34" charset="-122"/>
                <a:cs typeface="Calibri" pitchFamily="34" charset="-120"/>
              </a:rPr>
              <a:t>jest najczęstszą </a:t>
            </a:r>
            <a:r>
              <a:rPr lang="en-US" sz="1600" b="1" spc="-40" dirty="0">
                <a:solidFill>
                  <a:srgbClr val="0D1B2A"/>
                </a:solidFill>
                <a:latin typeface="Calibri" pitchFamily="34" charset="0"/>
                <a:ea typeface="Calibri" pitchFamily="34" charset="-122"/>
                <a:cs typeface="Calibri" pitchFamily="34" charset="-120"/>
              </a:rPr>
              <a:t>przyczyną błędów nawigacji w ROS-ie</a:t>
            </a:r>
            <a:endParaRPr lang="en-US" sz="1600" b="1" spc="-40" dirty="0"/>
          </a:p>
        </p:txBody>
      </p:sp>
      <p:sp>
        <p:nvSpPr>
          <p:cNvPr id="8" name="Prostokąt 7"/>
          <p:cNvSpPr/>
          <p:nvPr/>
        </p:nvSpPr>
        <p:spPr>
          <a:xfrm>
            <a:off x="274320" y="4045074"/>
            <a:ext cx="8595360" cy="992516"/>
          </a:xfrm>
          <a:prstGeom prst="rect">
            <a:avLst/>
          </a:prstGeom>
          <a:solidFill>
            <a:srgbClr val="0D1B2A"/>
          </a:solidFill>
        </p:spPr>
        <p:txBody>
          <a:bodyPr wrap="square">
            <a:spAutoFit/>
          </a:bodyPr>
          <a:lstStyle/>
          <a:p>
            <a:pPr algn="just">
              <a:lnSpc>
                <a:spcPts val="1400"/>
              </a:lnSpc>
            </a:pPr>
            <a:r>
              <a:rPr lang="pl-PL" sz="1400" dirty="0">
                <a:solidFill>
                  <a:schemeClr val="bg1"/>
                </a:solidFill>
              </a:rPr>
              <a:t>W systemie lokalizacji kluczowe są trzy ramki: map, odom i </a:t>
            </a:r>
            <a:r>
              <a:rPr lang="pl-PL" sz="1400" dirty="0" err="1">
                <a:solidFill>
                  <a:schemeClr val="bg1"/>
                </a:solidFill>
              </a:rPr>
              <a:t>base</a:t>
            </a:r>
            <a:r>
              <a:rPr lang="pl-PL" sz="1400" dirty="0">
                <a:solidFill>
                  <a:schemeClr val="bg1"/>
                </a:solidFill>
              </a:rPr>
              <a:t>. Ramka map jest związana z mapą SLAM i może być korygowana skokowo przy domknięciu pętli. Ramka odom jest ciągła, ale dryfuje. Ramka </a:t>
            </a:r>
            <a:r>
              <a:rPr lang="pl-PL" sz="1400" dirty="0" err="1">
                <a:solidFill>
                  <a:schemeClr val="bg1"/>
                </a:solidFill>
              </a:rPr>
              <a:t>base</a:t>
            </a:r>
            <a:r>
              <a:rPr lang="pl-PL" sz="1400" dirty="0">
                <a:solidFill>
                  <a:schemeClr val="bg1"/>
                </a:solidFill>
              </a:rPr>
              <a:t> opisuje aktualne położenie bazy robota. Relacja </a:t>
            </a:r>
            <a:r>
              <a:rPr lang="pl-PL" sz="1400" dirty="0" smtClean="0">
                <a:solidFill>
                  <a:schemeClr val="bg1"/>
                </a:solidFill>
              </a:rPr>
              <a:t>odom</a:t>
            </a:r>
            <a:r>
              <a:rPr lang="en-US" sz="1400" spc="-40" dirty="0" smtClean="0">
                <a:solidFill>
                  <a:schemeClr val="bg1"/>
                </a:solidFill>
                <a:latin typeface="Calibri" pitchFamily="34" charset="0"/>
                <a:ea typeface="Calibri" pitchFamily="34" charset="-122"/>
                <a:cs typeface="Calibri" pitchFamily="34" charset="-120"/>
              </a:rPr>
              <a:t>→</a:t>
            </a:r>
            <a:r>
              <a:rPr lang="pl-PL" sz="1400" dirty="0" smtClean="0">
                <a:solidFill>
                  <a:schemeClr val="bg1"/>
                </a:solidFill>
              </a:rPr>
              <a:t>map </a:t>
            </a:r>
            <a:r>
              <a:rPr lang="pl-PL" sz="1400" dirty="0">
                <a:solidFill>
                  <a:schemeClr val="bg1"/>
                </a:solidFill>
              </a:rPr>
              <a:t>to korekta globalna, a relacja </a:t>
            </a:r>
            <a:r>
              <a:rPr lang="pl-PL" sz="1400" dirty="0" err="1" smtClean="0">
                <a:solidFill>
                  <a:schemeClr val="bg1"/>
                </a:solidFill>
              </a:rPr>
              <a:t>base</a:t>
            </a:r>
            <a:r>
              <a:rPr lang="en-US" sz="1400" spc="-40" dirty="0" smtClean="0">
                <a:solidFill>
                  <a:schemeClr val="bg1"/>
                </a:solidFill>
                <a:latin typeface="Calibri" pitchFamily="34" charset="0"/>
                <a:ea typeface="Calibri" pitchFamily="34" charset="-122"/>
                <a:cs typeface="Calibri" pitchFamily="34" charset="-120"/>
              </a:rPr>
              <a:t>→</a:t>
            </a:r>
            <a:r>
              <a:rPr lang="pl-PL" sz="1400" dirty="0" smtClean="0">
                <a:solidFill>
                  <a:schemeClr val="bg1"/>
                </a:solidFill>
              </a:rPr>
              <a:t>odom </a:t>
            </a:r>
            <a:r>
              <a:rPr lang="pl-PL" sz="1400" dirty="0">
                <a:solidFill>
                  <a:schemeClr val="bg1"/>
                </a:solidFill>
              </a:rPr>
              <a:t>to bieżąca </a:t>
            </a:r>
            <a:r>
              <a:rPr lang="pl-PL" sz="1400" dirty="0" err="1">
                <a:solidFill>
                  <a:schemeClr val="bg1"/>
                </a:solidFill>
              </a:rPr>
              <a:t>odometria</a:t>
            </a:r>
            <a:r>
              <a:rPr lang="pl-PL" sz="1400" dirty="0">
                <a:solidFill>
                  <a:schemeClr val="bg1"/>
                </a:solidFill>
              </a:rPr>
              <a:t>. </a:t>
            </a:r>
            <a:r>
              <a:rPr lang="pl-PL" sz="1400" dirty="0" smtClean="0">
                <a:solidFill>
                  <a:schemeClr val="bg1"/>
                </a:solidFill>
              </a:rPr>
              <a:t/>
            </a:r>
            <a:br>
              <a:rPr lang="pl-PL" sz="1400" dirty="0" smtClean="0">
                <a:solidFill>
                  <a:schemeClr val="bg1"/>
                </a:solidFill>
              </a:rPr>
            </a:br>
            <a:r>
              <a:rPr lang="pl-PL" sz="1400" dirty="0" smtClean="0">
                <a:solidFill>
                  <a:schemeClr val="bg1"/>
                </a:solidFill>
              </a:rPr>
              <a:t>W ROS-</a:t>
            </a:r>
            <a:r>
              <a:rPr lang="pl-PL" sz="1400" dirty="0" err="1" smtClean="0">
                <a:solidFill>
                  <a:schemeClr val="bg1"/>
                </a:solidFill>
              </a:rPr>
              <a:t>ie</a:t>
            </a:r>
            <a:r>
              <a:rPr lang="pl-PL" sz="1400" dirty="0" smtClean="0">
                <a:solidFill>
                  <a:schemeClr val="bg1"/>
                </a:solidFill>
              </a:rPr>
              <a:t> </a:t>
            </a:r>
            <a:r>
              <a:rPr lang="pl-PL" sz="1400" dirty="0">
                <a:solidFill>
                  <a:schemeClr val="bg1"/>
                </a:solidFill>
              </a:rPr>
              <a:t>każda transformacja ma znacznik czasu i jest buforowana. Niespójne drzewo TF to jeden z najczęstszych praktycznych powodów awarii lokalizacji. </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0F4F8"/>
        </a:solidFill>
        <a:effectLst/>
      </p:bgPr>
    </p:bg>
    <p:spTree>
      <p:nvGrpSpPr>
        <p:cNvPr id="1" name=""/>
        <p:cNvGrpSpPr/>
        <p:nvPr/>
      </p:nvGrpSpPr>
      <p:grpSpPr>
        <a:xfrm>
          <a:off x="0" y="0"/>
          <a:ext cx="0" cy="0"/>
          <a:chOff x="0" y="0"/>
          <a:chExt cx="0" cy="0"/>
        </a:xfrm>
      </p:grpSpPr>
      <p:sp>
        <p:nvSpPr>
          <p:cNvPr id="2" name="Shape 0"/>
          <p:cNvSpPr/>
          <p:nvPr/>
        </p:nvSpPr>
        <p:spPr>
          <a:xfrm>
            <a:off x="0" y="0"/>
            <a:ext cx="64008" cy="5143500"/>
          </a:xfrm>
          <a:prstGeom prst="rect">
            <a:avLst/>
          </a:prstGeom>
          <a:solidFill>
            <a:srgbClr val="00B4D8"/>
          </a:solidFill>
          <a:ln w="12700">
            <a:solidFill>
              <a:srgbClr val="00B4D8"/>
            </a:solidFill>
            <a:prstDash val="solid"/>
          </a:ln>
        </p:spPr>
      </p:sp>
      <p:sp>
        <p:nvSpPr>
          <p:cNvPr id="3" name="Shape 1"/>
          <p:cNvSpPr/>
          <p:nvPr/>
        </p:nvSpPr>
        <p:spPr>
          <a:xfrm>
            <a:off x="64008" y="0"/>
            <a:ext cx="9079992" cy="960120"/>
          </a:xfrm>
          <a:prstGeom prst="rect">
            <a:avLst/>
          </a:prstGeom>
          <a:solidFill>
            <a:srgbClr val="0D1B2A"/>
          </a:solidFill>
          <a:ln w="12700">
            <a:solidFill>
              <a:srgbClr val="0D1B2A"/>
            </a:solidFill>
            <a:prstDash val="solid"/>
          </a:ln>
        </p:spPr>
      </p:sp>
      <p:sp>
        <p:nvSpPr>
          <p:cNvPr id="4" name="Text 2"/>
          <p:cNvSpPr/>
          <p:nvPr/>
        </p:nvSpPr>
        <p:spPr>
          <a:xfrm>
            <a:off x="228600" y="73152"/>
            <a:ext cx="4572000" cy="274320"/>
          </a:xfrm>
          <a:prstGeom prst="rect">
            <a:avLst/>
          </a:prstGeom>
          <a:noFill/>
          <a:ln/>
        </p:spPr>
        <p:txBody>
          <a:bodyPr wrap="square" lIns="0" tIns="0" rIns="0" bIns="0" rtlCol="0" anchor="ctr"/>
          <a:lstStyle/>
          <a:p>
            <a:pPr marL="0" indent="0">
              <a:buNone/>
            </a:pPr>
            <a:r>
              <a:rPr lang="en-US" sz="900" b="1" kern="0" spc="200" dirty="0">
                <a:solidFill>
                  <a:srgbClr val="00B4D8"/>
                </a:solidFill>
                <a:latin typeface="Trebuchet MS" pitchFamily="34" charset="0"/>
                <a:ea typeface="Trebuchet MS" pitchFamily="34" charset="-122"/>
                <a:cs typeface="Trebuchet MS" pitchFamily="34" charset="-120"/>
              </a:rPr>
              <a:t>SEKCJA 1 | KONTAKT STOPY</a:t>
            </a:r>
            <a:endParaRPr lang="en-US" sz="900" dirty="0"/>
          </a:p>
        </p:txBody>
      </p:sp>
      <p:sp>
        <p:nvSpPr>
          <p:cNvPr id="5" name="Text 3"/>
          <p:cNvSpPr/>
          <p:nvPr/>
        </p:nvSpPr>
        <p:spPr>
          <a:xfrm>
            <a:off x="228600" y="274320"/>
            <a:ext cx="8686800" cy="594360"/>
          </a:xfrm>
          <a:prstGeom prst="rect">
            <a:avLst/>
          </a:prstGeom>
          <a:noFill/>
          <a:ln/>
        </p:spPr>
        <p:txBody>
          <a:bodyPr wrap="square" lIns="0" tIns="0" rIns="0" bIns="0" rtlCol="0" anchor="ctr"/>
          <a:lstStyle/>
          <a:p>
            <a:pPr marL="0" indent="0">
              <a:buNone/>
            </a:pPr>
            <a:r>
              <a:rPr lang="en-US" sz="2800" b="1" dirty="0">
                <a:solidFill>
                  <a:srgbClr val="FFFFFF"/>
                </a:solidFill>
                <a:latin typeface="Trebuchet MS" pitchFamily="34" charset="0"/>
                <a:ea typeface="Trebuchet MS" pitchFamily="34" charset="-122"/>
                <a:cs typeface="Trebuchet MS" pitchFamily="34" charset="-120"/>
              </a:rPr>
              <a:t>Kontakt stopy jako źródło informacji</a:t>
            </a:r>
            <a:endParaRPr lang="en-US" sz="2800" dirty="0"/>
          </a:p>
        </p:txBody>
      </p:sp>
      <p:sp>
        <p:nvSpPr>
          <p:cNvPr id="6" name="Shape 4"/>
          <p:cNvSpPr/>
          <p:nvPr/>
        </p:nvSpPr>
        <p:spPr>
          <a:xfrm>
            <a:off x="274320" y="1067052"/>
            <a:ext cx="8595360" cy="2994799"/>
          </a:xfrm>
          <a:prstGeom prst="rect">
            <a:avLst/>
          </a:prstGeom>
          <a:solidFill>
            <a:srgbClr val="FFFFFF"/>
          </a:solidFill>
          <a:ln w="12700">
            <a:solidFill>
              <a:srgbClr val="E2EBF3"/>
            </a:solidFill>
            <a:prstDash val="solid"/>
          </a:ln>
          <a:effectLst>
            <a:outerShdw blurRad="76200" dist="25400" dir="8100000" algn="bl" rotWithShape="0">
              <a:srgbClr val="000000">
                <a:alpha val="12000"/>
              </a:srgbClr>
            </a:outerShdw>
          </a:effectLst>
        </p:spPr>
      </p:sp>
      <p:sp>
        <p:nvSpPr>
          <p:cNvPr id="7" name="Text 5"/>
          <p:cNvSpPr/>
          <p:nvPr/>
        </p:nvSpPr>
        <p:spPr>
          <a:xfrm>
            <a:off x="382860" y="1158492"/>
            <a:ext cx="8367130" cy="2755933"/>
          </a:xfrm>
          <a:prstGeom prst="rect">
            <a:avLst/>
          </a:prstGeom>
          <a:noFill/>
          <a:ln/>
        </p:spPr>
        <p:txBody>
          <a:bodyPr wrap="square" lIns="127000" tIns="36000" rIns="127000" bIns="0" rtlCol="0" anchor="t">
            <a:spAutoFit/>
          </a:bodyPr>
          <a:lstStyle/>
          <a:p>
            <a:pPr marL="144000" indent="-144000">
              <a:spcAft>
                <a:spcPts val="1200"/>
              </a:spcAft>
              <a:buSzPct val="100000"/>
              <a:buChar char="•"/>
            </a:pPr>
            <a:r>
              <a:rPr lang="en-US" sz="1600" b="1" spc="-40" dirty="0">
                <a:solidFill>
                  <a:srgbClr val="0D1B2A"/>
                </a:solidFill>
                <a:latin typeface="Calibri" pitchFamily="34" charset="0"/>
                <a:ea typeface="Calibri" pitchFamily="34" charset="-122"/>
                <a:cs typeface="Calibri" pitchFamily="34" charset="-120"/>
              </a:rPr>
              <a:t>Faza podparcia</a:t>
            </a:r>
            <a:r>
              <a:rPr lang="en-US" sz="1600" spc="-40" dirty="0">
                <a:solidFill>
                  <a:srgbClr val="0D1B2A"/>
                </a:solidFill>
                <a:latin typeface="Calibri" pitchFamily="34" charset="0"/>
                <a:ea typeface="Calibri" pitchFamily="34" charset="-122"/>
                <a:cs typeface="Calibri" pitchFamily="34" charset="-120"/>
              </a:rPr>
              <a:t>: stopa oparta na </a:t>
            </a:r>
            <a:r>
              <a:rPr lang="en-US" sz="1600" spc="-40" dirty="0" err="1">
                <a:solidFill>
                  <a:srgbClr val="0D1B2A"/>
                </a:solidFill>
                <a:latin typeface="Calibri" pitchFamily="34" charset="0"/>
                <a:ea typeface="Calibri" pitchFamily="34" charset="-122"/>
                <a:cs typeface="Calibri" pitchFamily="34" charset="-120"/>
              </a:rPr>
              <a:t>podłożu</a:t>
            </a:r>
            <a:r>
              <a:rPr lang="en-US" sz="1600" spc="-40" dirty="0">
                <a:solidFill>
                  <a:srgbClr val="0D1B2A"/>
                </a:solidFill>
                <a:latin typeface="Calibri" pitchFamily="34" charset="0"/>
                <a:ea typeface="Calibri" pitchFamily="34" charset="-122"/>
                <a:cs typeface="Calibri" pitchFamily="34" charset="-120"/>
              </a:rPr>
              <a:t> </a:t>
            </a:r>
            <a:r>
              <a:rPr lang="pl-PL" sz="1600" spc="-40" dirty="0" smtClean="0">
                <a:solidFill>
                  <a:srgbClr val="0D1B2A"/>
                </a:solidFill>
                <a:latin typeface="Calibri" pitchFamily="34" charset="0"/>
                <a:ea typeface="Calibri" pitchFamily="34" charset="-122"/>
                <a:cs typeface="Calibri" pitchFamily="34" charset="-120"/>
              </a:rPr>
              <a:t>(</a:t>
            </a:r>
            <a:r>
              <a:rPr lang="en-US" sz="1600" spc="-40" dirty="0" err="1" smtClean="0">
                <a:solidFill>
                  <a:srgbClr val="0D1B2A"/>
                </a:solidFill>
                <a:latin typeface="Calibri" pitchFamily="34" charset="0"/>
                <a:ea typeface="Calibri" pitchFamily="34" charset="-122"/>
                <a:cs typeface="Calibri" pitchFamily="34" charset="-120"/>
              </a:rPr>
              <a:t>może</a:t>
            </a:r>
            <a:r>
              <a:rPr lang="en-US" sz="1600" spc="-40" dirty="0" smtClean="0">
                <a:solidFill>
                  <a:srgbClr val="0D1B2A"/>
                </a:solidFill>
                <a:latin typeface="Calibri" pitchFamily="34" charset="0"/>
                <a:ea typeface="Calibri" pitchFamily="34" charset="-122"/>
                <a:cs typeface="Calibri" pitchFamily="34" charset="-120"/>
              </a:rPr>
              <a:t> </a:t>
            </a:r>
            <a:r>
              <a:rPr lang="en-US" sz="1600" spc="-40" dirty="0">
                <a:solidFill>
                  <a:srgbClr val="0D1B2A"/>
                </a:solidFill>
                <a:latin typeface="Calibri" pitchFamily="34" charset="0"/>
                <a:ea typeface="Calibri" pitchFamily="34" charset="-122"/>
                <a:cs typeface="Calibri" pitchFamily="34" charset="-120"/>
              </a:rPr>
              <a:t>służyć jako punkt </a:t>
            </a:r>
            <a:r>
              <a:rPr lang="en-US" sz="1600" spc="-40" dirty="0" err="1">
                <a:solidFill>
                  <a:srgbClr val="0D1B2A"/>
                </a:solidFill>
                <a:latin typeface="Calibri" pitchFamily="34" charset="0"/>
                <a:ea typeface="Calibri" pitchFamily="34" charset="-122"/>
                <a:cs typeface="Calibri" pitchFamily="34" charset="-120"/>
              </a:rPr>
              <a:t>odniesienia</a:t>
            </a:r>
            <a:r>
              <a:rPr lang="en-US" sz="1600" spc="-40" dirty="0">
                <a:solidFill>
                  <a:srgbClr val="0D1B2A"/>
                </a:solidFill>
                <a:latin typeface="Calibri" pitchFamily="34" charset="0"/>
                <a:ea typeface="Calibri" pitchFamily="34" charset="-122"/>
                <a:cs typeface="Calibri" pitchFamily="34" charset="-120"/>
              </a:rPr>
              <a:t> </a:t>
            </a:r>
            <a:r>
              <a:rPr lang="en-US" sz="1600" spc="-40" dirty="0" err="1" smtClean="0">
                <a:solidFill>
                  <a:srgbClr val="0D1B2A"/>
                </a:solidFill>
                <a:latin typeface="Calibri" pitchFamily="34" charset="0"/>
                <a:ea typeface="Calibri" pitchFamily="34" charset="-122"/>
                <a:cs typeface="Calibri" pitchFamily="34" charset="-120"/>
              </a:rPr>
              <a:t>odometrii</a:t>
            </a:r>
            <a:r>
              <a:rPr lang="pl-PL" sz="1600" spc="-40" dirty="0" smtClean="0">
                <a:solidFill>
                  <a:srgbClr val="0D1B2A"/>
                </a:solidFill>
                <a:latin typeface="Calibri" pitchFamily="34" charset="0"/>
                <a:ea typeface="Calibri" pitchFamily="34" charset="-122"/>
                <a:cs typeface="Calibri" pitchFamily="34" charset="-120"/>
              </a:rPr>
              <a:t>)</a:t>
            </a:r>
            <a:endParaRPr lang="en-US" sz="1600" spc="-40" dirty="0"/>
          </a:p>
          <a:p>
            <a:pPr marL="144000" indent="-144000">
              <a:spcAft>
                <a:spcPts val="1200"/>
              </a:spcAft>
              <a:buSzPct val="100000"/>
              <a:buChar char="•"/>
            </a:pPr>
            <a:r>
              <a:rPr lang="en-US" sz="1600" b="1" spc="-40" dirty="0">
                <a:solidFill>
                  <a:srgbClr val="0D1B2A"/>
                </a:solidFill>
                <a:latin typeface="Calibri" pitchFamily="34" charset="0"/>
                <a:ea typeface="Calibri" pitchFamily="34" charset="-122"/>
                <a:cs typeface="Calibri" pitchFamily="34" charset="-120"/>
              </a:rPr>
              <a:t>Faza przenoszenia</a:t>
            </a:r>
            <a:r>
              <a:rPr lang="en-US" sz="1600" spc="-40" dirty="0">
                <a:solidFill>
                  <a:srgbClr val="0D1B2A"/>
                </a:solidFill>
                <a:latin typeface="Calibri" pitchFamily="34" charset="0"/>
                <a:ea typeface="Calibri" pitchFamily="34" charset="-122"/>
                <a:cs typeface="Calibri" pitchFamily="34" charset="-120"/>
              </a:rPr>
              <a:t>: stopa w </a:t>
            </a:r>
            <a:r>
              <a:rPr lang="en-US" sz="1600" spc="-40" dirty="0" err="1">
                <a:solidFill>
                  <a:srgbClr val="0D1B2A"/>
                </a:solidFill>
                <a:latin typeface="Calibri" pitchFamily="34" charset="0"/>
                <a:ea typeface="Calibri" pitchFamily="34" charset="-122"/>
                <a:cs typeface="Calibri" pitchFamily="34" charset="-120"/>
              </a:rPr>
              <a:t>locie</a:t>
            </a:r>
            <a:r>
              <a:rPr lang="en-US" sz="1600" spc="-40" dirty="0">
                <a:solidFill>
                  <a:srgbClr val="0D1B2A"/>
                </a:solidFill>
                <a:latin typeface="Calibri" pitchFamily="34" charset="0"/>
                <a:ea typeface="Calibri" pitchFamily="34" charset="-122"/>
                <a:cs typeface="Calibri" pitchFamily="34" charset="-120"/>
              </a:rPr>
              <a:t> </a:t>
            </a:r>
            <a:r>
              <a:rPr lang="pl-PL" sz="1600" spc="-40" dirty="0" smtClean="0">
                <a:solidFill>
                  <a:srgbClr val="0D1B2A"/>
                </a:solidFill>
                <a:latin typeface="Calibri" pitchFamily="34" charset="0"/>
                <a:ea typeface="Calibri" pitchFamily="34" charset="-122"/>
                <a:cs typeface="Calibri" pitchFamily="34" charset="-120"/>
              </a:rPr>
              <a:t>(</a:t>
            </a:r>
            <a:r>
              <a:rPr lang="en-US" sz="1600" spc="-40" dirty="0" err="1" smtClean="0">
                <a:solidFill>
                  <a:srgbClr val="0D1B2A"/>
                </a:solidFill>
                <a:latin typeface="Calibri" pitchFamily="34" charset="0"/>
                <a:ea typeface="Calibri" pitchFamily="34" charset="-122"/>
                <a:cs typeface="Calibri" pitchFamily="34" charset="-120"/>
              </a:rPr>
              <a:t>brak</a:t>
            </a:r>
            <a:r>
              <a:rPr lang="en-US" sz="1600" spc="-40" dirty="0" smtClean="0">
                <a:solidFill>
                  <a:srgbClr val="0D1B2A"/>
                </a:solidFill>
                <a:latin typeface="Calibri" pitchFamily="34" charset="0"/>
                <a:ea typeface="Calibri" pitchFamily="34" charset="-122"/>
                <a:cs typeface="Calibri" pitchFamily="34" charset="-120"/>
              </a:rPr>
              <a:t> </a:t>
            </a:r>
            <a:r>
              <a:rPr lang="en-US" sz="1600" spc="-40" dirty="0">
                <a:solidFill>
                  <a:srgbClr val="0D1B2A"/>
                </a:solidFill>
                <a:latin typeface="Calibri" pitchFamily="34" charset="0"/>
                <a:ea typeface="Calibri" pitchFamily="34" charset="-122"/>
                <a:cs typeface="Calibri" pitchFamily="34" charset="-120"/>
              </a:rPr>
              <a:t>danych pozycyjnych z </a:t>
            </a:r>
            <a:r>
              <a:rPr lang="en-US" sz="1600" spc="-40" dirty="0" err="1">
                <a:solidFill>
                  <a:srgbClr val="0D1B2A"/>
                </a:solidFill>
                <a:latin typeface="Calibri" pitchFamily="34" charset="0"/>
                <a:ea typeface="Calibri" pitchFamily="34" charset="-122"/>
                <a:cs typeface="Calibri" pitchFamily="34" charset="-120"/>
              </a:rPr>
              <a:t>tej</a:t>
            </a:r>
            <a:r>
              <a:rPr lang="en-US" sz="1600" spc="-40" dirty="0">
                <a:solidFill>
                  <a:srgbClr val="0D1B2A"/>
                </a:solidFill>
                <a:latin typeface="Calibri" pitchFamily="34" charset="0"/>
                <a:ea typeface="Calibri" pitchFamily="34" charset="-122"/>
                <a:cs typeface="Calibri" pitchFamily="34" charset="-120"/>
              </a:rPr>
              <a:t> </a:t>
            </a:r>
            <a:r>
              <a:rPr lang="en-US" sz="1600" spc="-40" dirty="0" err="1" smtClean="0">
                <a:solidFill>
                  <a:srgbClr val="0D1B2A"/>
                </a:solidFill>
                <a:latin typeface="Calibri" pitchFamily="34" charset="0"/>
                <a:ea typeface="Calibri" pitchFamily="34" charset="-122"/>
                <a:cs typeface="Calibri" pitchFamily="34" charset="-120"/>
              </a:rPr>
              <a:t>nogi</a:t>
            </a:r>
            <a:r>
              <a:rPr lang="pl-PL" sz="1600" spc="-40" dirty="0" smtClean="0">
                <a:solidFill>
                  <a:srgbClr val="0D1B2A"/>
                </a:solidFill>
                <a:latin typeface="Calibri" pitchFamily="34" charset="0"/>
                <a:ea typeface="Calibri" pitchFamily="34" charset="-122"/>
                <a:cs typeface="Calibri" pitchFamily="34" charset="-120"/>
              </a:rPr>
              <a:t>)</a:t>
            </a:r>
            <a:endParaRPr lang="en-US" sz="1600" spc="-40" dirty="0"/>
          </a:p>
          <a:p>
            <a:pPr marL="144000" indent="-144000">
              <a:spcAft>
                <a:spcPts val="1200"/>
              </a:spcAft>
              <a:buSzPct val="100000"/>
              <a:buChar char="•"/>
            </a:pPr>
            <a:r>
              <a:rPr lang="en-US" sz="1600" b="1" spc="-40" dirty="0">
                <a:solidFill>
                  <a:srgbClr val="0D1B2A"/>
                </a:solidFill>
                <a:latin typeface="Calibri" pitchFamily="34" charset="0"/>
                <a:ea typeface="Calibri" pitchFamily="34" charset="-122"/>
                <a:cs typeface="Calibri" pitchFamily="34" charset="-120"/>
              </a:rPr>
              <a:t>Czujniki F/T w stopie mierzą 6-DoF</a:t>
            </a:r>
            <a:r>
              <a:rPr lang="en-US" sz="1600" spc="-40" dirty="0">
                <a:solidFill>
                  <a:srgbClr val="0D1B2A"/>
                </a:solidFill>
                <a:latin typeface="Calibri" pitchFamily="34" charset="0"/>
                <a:ea typeface="Calibri" pitchFamily="34" charset="-122"/>
                <a:cs typeface="Calibri" pitchFamily="34" charset="-120"/>
              </a:rPr>
              <a:t>: Fx, Fy, Fz, Mx, My, Mz</a:t>
            </a:r>
            <a:endParaRPr lang="en-US" sz="1600" spc="-40" dirty="0"/>
          </a:p>
          <a:p>
            <a:pPr marL="144000" indent="-144000">
              <a:spcAft>
                <a:spcPts val="1200"/>
              </a:spcAft>
              <a:buSzPct val="100000"/>
              <a:buChar char="•"/>
            </a:pPr>
            <a:r>
              <a:rPr lang="en-US" sz="1600" b="1" spc="-40" dirty="0">
                <a:solidFill>
                  <a:srgbClr val="0D1B2A"/>
                </a:solidFill>
                <a:latin typeface="Calibri" pitchFamily="34" charset="0"/>
                <a:ea typeface="Calibri" pitchFamily="34" charset="-122"/>
                <a:cs typeface="Calibri" pitchFamily="34" charset="-120"/>
              </a:rPr>
              <a:t>Detekcja kontaktu</a:t>
            </a:r>
            <a:r>
              <a:rPr lang="en-US" sz="1600" spc="-40" dirty="0">
                <a:solidFill>
                  <a:srgbClr val="0D1B2A"/>
                </a:solidFill>
                <a:latin typeface="Calibri" pitchFamily="34" charset="0"/>
                <a:ea typeface="Calibri" pitchFamily="34" charset="-122"/>
                <a:cs typeface="Calibri" pitchFamily="34" charset="-120"/>
              </a:rPr>
              <a:t>: Fz &gt; próg (np. 30 N) → stopa oparta; przydatne przy miękkich nawierzchniach</a:t>
            </a:r>
            <a:endParaRPr lang="en-US" sz="1600" spc="-40" dirty="0"/>
          </a:p>
          <a:p>
            <a:pPr marL="144000" indent="-144000">
              <a:spcAft>
                <a:spcPts val="1200"/>
              </a:spcAft>
              <a:buSzPct val="100000"/>
              <a:buChar char="•"/>
            </a:pPr>
            <a:r>
              <a:rPr lang="en-US" sz="1600" b="1" spc="-40" dirty="0">
                <a:solidFill>
                  <a:srgbClr val="0D1B2A"/>
                </a:solidFill>
                <a:latin typeface="Calibri" pitchFamily="34" charset="0"/>
                <a:ea typeface="Calibri" pitchFamily="34" charset="-122"/>
                <a:cs typeface="Calibri" pitchFamily="34" charset="-120"/>
              </a:rPr>
              <a:t>Kinematyczna odometria kroków</a:t>
            </a:r>
            <a:r>
              <a:rPr lang="en-US" sz="1600" spc="-40" dirty="0">
                <a:solidFill>
                  <a:srgbClr val="0D1B2A"/>
                </a:solidFill>
                <a:latin typeface="Calibri" pitchFamily="34" charset="0"/>
                <a:ea typeface="Calibri" pitchFamily="34" charset="-122"/>
                <a:cs typeface="Calibri" pitchFamily="34" charset="-120"/>
              </a:rPr>
              <a:t>: pozycja bazy = pozycja stopy + FK⁻¹</a:t>
            </a:r>
            <a:endParaRPr lang="en-US" sz="1600" spc="-40" dirty="0"/>
          </a:p>
          <a:p>
            <a:pPr marL="144000" indent="-144000">
              <a:spcAft>
                <a:spcPts val="1200"/>
              </a:spcAft>
              <a:buSzPct val="100000"/>
              <a:buChar char="•"/>
            </a:pPr>
            <a:r>
              <a:rPr lang="en-US" sz="1600" b="1" spc="-40" dirty="0">
                <a:solidFill>
                  <a:srgbClr val="0D1B2A"/>
                </a:solidFill>
                <a:latin typeface="Calibri" pitchFamily="34" charset="0"/>
                <a:ea typeface="Calibri" pitchFamily="34" charset="-122"/>
                <a:cs typeface="Calibri" pitchFamily="34" charset="-120"/>
              </a:rPr>
              <a:t>Brak kontaktu obu stóp jednocześnie</a:t>
            </a:r>
            <a:r>
              <a:rPr lang="en-US" sz="1600" spc="-40" dirty="0">
                <a:solidFill>
                  <a:srgbClr val="0D1B2A"/>
                </a:solidFill>
                <a:latin typeface="Calibri" pitchFamily="34" charset="0"/>
                <a:ea typeface="Calibri" pitchFamily="34" charset="-122"/>
                <a:cs typeface="Calibri" pitchFamily="34" charset="-120"/>
              </a:rPr>
              <a:t>: skok lub upadek – należy zresetować estymator</a:t>
            </a:r>
            <a:endParaRPr lang="en-US" sz="1600" spc="-40" dirty="0"/>
          </a:p>
          <a:p>
            <a:pPr marL="144000" indent="-144000">
              <a:spcAft>
                <a:spcPts val="1200"/>
              </a:spcAft>
              <a:buSzPct val="100000"/>
              <a:buChar char="•"/>
            </a:pPr>
            <a:r>
              <a:rPr lang="en-US" sz="1600" b="1" spc="-40" dirty="0">
                <a:solidFill>
                  <a:srgbClr val="0D1B2A"/>
                </a:solidFill>
                <a:latin typeface="Calibri" pitchFamily="34" charset="0"/>
                <a:ea typeface="Calibri" pitchFamily="34" charset="-122"/>
                <a:cs typeface="Calibri" pitchFamily="34" charset="-120"/>
              </a:rPr>
              <a:t>Fuzja z IMU</a:t>
            </a:r>
            <a:r>
              <a:rPr lang="en-US" sz="1600" spc="-40" dirty="0">
                <a:solidFill>
                  <a:srgbClr val="0D1B2A"/>
                </a:solidFill>
                <a:latin typeface="Calibri" pitchFamily="34" charset="0"/>
                <a:ea typeface="Calibri" pitchFamily="34" charset="-122"/>
                <a:cs typeface="Calibri" pitchFamily="34" charset="-120"/>
              </a:rPr>
              <a:t>: stopa jako warunek brzegowy do korekcji dryftu yaw i translacji</a:t>
            </a:r>
            <a:endParaRPr lang="en-US" sz="1600" spc="-40" dirty="0"/>
          </a:p>
        </p:txBody>
      </p:sp>
      <p:sp>
        <p:nvSpPr>
          <p:cNvPr id="8" name="Prostokąt 7"/>
          <p:cNvSpPr/>
          <p:nvPr/>
        </p:nvSpPr>
        <p:spPr>
          <a:xfrm>
            <a:off x="274320" y="4211328"/>
            <a:ext cx="8595360" cy="861774"/>
          </a:xfrm>
          <a:prstGeom prst="rect">
            <a:avLst/>
          </a:prstGeom>
          <a:solidFill>
            <a:srgbClr val="0D1B2A"/>
          </a:solidFill>
        </p:spPr>
        <p:txBody>
          <a:bodyPr wrap="square">
            <a:spAutoFit/>
          </a:bodyPr>
          <a:lstStyle/>
          <a:p>
            <a:pPr algn="just">
              <a:lnSpc>
                <a:spcPts val="1500"/>
              </a:lnSpc>
            </a:pPr>
            <a:r>
              <a:rPr lang="pl-PL" sz="1400" dirty="0">
                <a:solidFill>
                  <a:schemeClr val="bg1"/>
                </a:solidFill>
              </a:rPr>
              <a:t>Kontakt stopy jest bardzo cennym źródłem informacji. Gdy stopa jest w fazie podparcia, może pełnić funkcję punktu odniesienia dla </a:t>
            </a:r>
            <a:r>
              <a:rPr lang="pl-PL" sz="1400" dirty="0" err="1">
                <a:solidFill>
                  <a:schemeClr val="bg1"/>
                </a:solidFill>
              </a:rPr>
              <a:t>odometrii</a:t>
            </a:r>
            <a:r>
              <a:rPr lang="pl-PL" sz="1400" dirty="0">
                <a:solidFill>
                  <a:schemeClr val="bg1"/>
                </a:solidFill>
              </a:rPr>
              <a:t>. Gdy jest w fazie przenoszenia, tej informacji nie mamy. Czujniki sił i momentów w stopach pozwalają wykryć kontakt przez próg siły pionowej. Na tej podstawie możemy budować kinematyczną </a:t>
            </a:r>
            <a:r>
              <a:rPr lang="pl-PL" sz="1400" dirty="0" err="1">
                <a:solidFill>
                  <a:schemeClr val="bg1"/>
                </a:solidFill>
              </a:rPr>
              <a:t>odometrię</a:t>
            </a:r>
            <a:r>
              <a:rPr lang="pl-PL" sz="1400" dirty="0">
                <a:solidFill>
                  <a:schemeClr val="bg1"/>
                </a:solidFill>
              </a:rPr>
              <a:t> kroków i korygować estymację bazy. W połączeniu z IMU daje to istotne ograniczenie dryftu translacji i orientacji. </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0F4F8"/>
        </a:solidFill>
        <a:effectLst/>
      </p:bgPr>
    </p:bg>
    <p:spTree>
      <p:nvGrpSpPr>
        <p:cNvPr id="1" name=""/>
        <p:cNvGrpSpPr/>
        <p:nvPr/>
      </p:nvGrpSpPr>
      <p:grpSpPr>
        <a:xfrm>
          <a:off x="0" y="0"/>
          <a:ext cx="0" cy="0"/>
          <a:chOff x="0" y="0"/>
          <a:chExt cx="0" cy="0"/>
        </a:xfrm>
      </p:grpSpPr>
      <p:sp>
        <p:nvSpPr>
          <p:cNvPr id="2" name="Shape 0"/>
          <p:cNvSpPr/>
          <p:nvPr/>
        </p:nvSpPr>
        <p:spPr>
          <a:xfrm>
            <a:off x="0" y="0"/>
            <a:ext cx="64008" cy="5143500"/>
          </a:xfrm>
          <a:prstGeom prst="rect">
            <a:avLst/>
          </a:prstGeom>
          <a:solidFill>
            <a:srgbClr val="00B4D8"/>
          </a:solidFill>
          <a:ln w="12700">
            <a:solidFill>
              <a:srgbClr val="00B4D8"/>
            </a:solidFill>
            <a:prstDash val="solid"/>
          </a:ln>
        </p:spPr>
      </p:sp>
      <p:sp>
        <p:nvSpPr>
          <p:cNvPr id="3" name="Shape 1"/>
          <p:cNvSpPr/>
          <p:nvPr/>
        </p:nvSpPr>
        <p:spPr>
          <a:xfrm>
            <a:off x="64008" y="0"/>
            <a:ext cx="9079992" cy="960120"/>
          </a:xfrm>
          <a:prstGeom prst="rect">
            <a:avLst/>
          </a:prstGeom>
          <a:solidFill>
            <a:srgbClr val="0D1B2A"/>
          </a:solidFill>
          <a:ln w="12700">
            <a:solidFill>
              <a:srgbClr val="0D1B2A"/>
            </a:solidFill>
            <a:prstDash val="solid"/>
          </a:ln>
        </p:spPr>
      </p:sp>
      <p:sp>
        <p:nvSpPr>
          <p:cNvPr id="4" name="Text 2"/>
          <p:cNvSpPr/>
          <p:nvPr/>
        </p:nvSpPr>
        <p:spPr>
          <a:xfrm>
            <a:off x="228600" y="73152"/>
            <a:ext cx="4572000" cy="274320"/>
          </a:xfrm>
          <a:prstGeom prst="rect">
            <a:avLst/>
          </a:prstGeom>
          <a:noFill/>
          <a:ln/>
        </p:spPr>
        <p:txBody>
          <a:bodyPr wrap="square" lIns="0" tIns="0" rIns="0" bIns="0" rtlCol="0" anchor="ctr"/>
          <a:lstStyle/>
          <a:p>
            <a:pPr marL="0" indent="0">
              <a:buNone/>
            </a:pPr>
            <a:r>
              <a:rPr lang="en-US" sz="900" b="1" kern="0" spc="200" dirty="0">
                <a:solidFill>
                  <a:srgbClr val="00B4D8"/>
                </a:solidFill>
                <a:latin typeface="Trebuchet MS" pitchFamily="34" charset="0"/>
                <a:ea typeface="Trebuchet MS" pitchFamily="34" charset="-122"/>
                <a:cs typeface="Trebuchet MS" pitchFamily="34" charset="-120"/>
              </a:rPr>
              <a:t>SEKCJA 1 | METRYKI</a:t>
            </a:r>
            <a:endParaRPr lang="en-US" sz="900" dirty="0"/>
          </a:p>
        </p:txBody>
      </p:sp>
      <p:sp>
        <p:nvSpPr>
          <p:cNvPr id="5" name="Text 3"/>
          <p:cNvSpPr/>
          <p:nvPr/>
        </p:nvSpPr>
        <p:spPr>
          <a:xfrm>
            <a:off x="228600" y="274320"/>
            <a:ext cx="8686800" cy="594360"/>
          </a:xfrm>
          <a:prstGeom prst="rect">
            <a:avLst/>
          </a:prstGeom>
          <a:noFill/>
          <a:ln/>
        </p:spPr>
        <p:txBody>
          <a:bodyPr wrap="square" lIns="0" tIns="0" rIns="0" bIns="0" rtlCol="0" anchor="ctr"/>
          <a:lstStyle/>
          <a:p>
            <a:pPr marL="0" indent="0">
              <a:buNone/>
            </a:pPr>
            <a:r>
              <a:rPr lang="en-US" sz="2800" b="1" dirty="0">
                <a:solidFill>
                  <a:srgbClr val="FFFFFF"/>
                </a:solidFill>
                <a:latin typeface="Trebuchet MS" pitchFamily="34" charset="0"/>
                <a:ea typeface="Trebuchet MS" pitchFamily="34" charset="-122"/>
                <a:cs typeface="Trebuchet MS" pitchFamily="34" charset="-120"/>
              </a:rPr>
              <a:t>Metryki jakości lokalizacji</a:t>
            </a:r>
            <a:endParaRPr lang="en-US" sz="2800" dirty="0"/>
          </a:p>
        </p:txBody>
      </p:sp>
      <p:grpSp>
        <p:nvGrpSpPr>
          <p:cNvPr id="22" name="Grupa 21"/>
          <p:cNvGrpSpPr/>
          <p:nvPr/>
        </p:nvGrpSpPr>
        <p:grpSpPr>
          <a:xfrm>
            <a:off x="274320" y="1097658"/>
            <a:ext cx="8595360" cy="3049759"/>
            <a:chOff x="274320" y="1143000"/>
            <a:chExt cx="8595360" cy="3335649"/>
          </a:xfrm>
        </p:grpSpPr>
        <p:sp>
          <p:nvSpPr>
            <p:cNvPr id="6" name="Shape 4"/>
            <p:cNvSpPr/>
            <p:nvPr/>
          </p:nvSpPr>
          <p:spPr>
            <a:xfrm>
              <a:off x="274320" y="1143000"/>
              <a:ext cx="4160520" cy="1506849"/>
            </a:xfrm>
            <a:prstGeom prst="rect">
              <a:avLst/>
            </a:prstGeom>
            <a:solidFill>
              <a:srgbClr val="FFFFFF"/>
            </a:solidFill>
            <a:ln w="12700">
              <a:solidFill>
                <a:srgbClr val="E2EBF3"/>
              </a:solidFill>
              <a:prstDash val="solid"/>
            </a:ln>
            <a:effectLst>
              <a:outerShdw blurRad="76200" dist="25400" dir="8100000" algn="bl" rotWithShape="0">
                <a:srgbClr val="000000">
                  <a:alpha val="12000"/>
                </a:srgbClr>
              </a:outerShdw>
            </a:effectLst>
          </p:spPr>
        </p:sp>
        <p:sp>
          <p:nvSpPr>
            <p:cNvPr id="7" name="Shape 5"/>
            <p:cNvSpPr/>
            <p:nvPr/>
          </p:nvSpPr>
          <p:spPr>
            <a:xfrm>
              <a:off x="274320" y="1143000"/>
              <a:ext cx="4160520" cy="54864"/>
            </a:xfrm>
            <a:prstGeom prst="rect">
              <a:avLst/>
            </a:prstGeom>
            <a:solidFill>
              <a:srgbClr val="00B4D8"/>
            </a:solidFill>
            <a:ln w="12700">
              <a:solidFill>
                <a:srgbClr val="00B4D8"/>
              </a:solidFill>
              <a:prstDash val="solid"/>
            </a:ln>
          </p:spPr>
        </p:sp>
        <p:sp>
          <p:nvSpPr>
            <p:cNvPr id="8" name="Text 6"/>
            <p:cNvSpPr/>
            <p:nvPr/>
          </p:nvSpPr>
          <p:spPr>
            <a:xfrm>
              <a:off x="384048" y="1234440"/>
              <a:ext cx="3941064" cy="642823"/>
            </a:xfrm>
            <a:prstGeom prst="rect">
              <a:avLst/>
            </a:prstGeom>
            <a:noFill/>
            <a:ln/>
          </p:spPr>
          <p:txBody>
            <a:bodyPr wrap="square" lIns="0" tIns="0" rIns="0" bIns="0" rtlCol="0" anchor="ctr"/>
            <a:lstStyle/>
            <a:p>
              <a:pPr marL="0" indent="0">
                <a:buNone/>
              </a:pPr>
              <a:r>
                <a:rPr lang="en-US" sz="2000" b="1" dirty="0">
                  <a:solidFill>
                    <a:srgbClr val="0D1B2A"/>
                  </a:solidFill>
                  <a:latin typeface="Trebuchet MS" pitchFamily="34" charset="0"/>
                  <a:ea typeface="Trebuchet MS" pitchFamily="34" charset="-122"/>
                  <a:cs typeface="Trebuchet MS" pitchFamily="34" charset="-120"/>
                </a:rPr>
                <a:t>RMSE pozycji</a:t>
              </a:r>
              <a:endParaRPr lang="en-US" sz="2000" dirty="0"/>
            </a:p>
          </p:txBody>
        </p:sp>
        <p:sp>
          <p:nvSpPr>
            <p:cNvPr id="9" name="Text 7"/>
            <p:cNvSpPr/>
            <p:nvPr/>
          </p:nvSpPr>
          <p:spPr>
            <a:xfrm>
              <a:off x="384048" y="1861755"/>
              <a:ext cx="3941064" cy="659507"/>
            </a:xfrm>
            <a:prstGeom prst="rect">
              <a:avLst/>
            </a:prstGeom>
            <a:noFill/>
            <a:ln/>
          </p:spPr>
          <p:txBody>
            <a:bodyPr wrap="square" lIns="0" tIns="0" rIns="0" bIns="0" rtlCol="0" anchor="ctr"/>
            <a:lstStyle/>
            <a:p>
              <a:pPr marL="0" indent="0">
                <a:buNone/>
              </a:pPr>
              <a:r>
                <a:rPr lang="en-US" sz="1600" dirty="0">
                  <a:solidFill>
                    <a:srgbClr val="475569"/>
                  </a:solidFill>
                  <a:latin typeface="Calibri" pitchFamily="34" charset="0"/>
                  <a:ea typeface="Calibri" pitchFamily="34" charset="-122"/>
                  <a:cs typeface="Calibri" pitchFamily="34" charset="-120"/>
                </a:rPr>
                <a:t>Pierwiastek </a:t>
              </a:r>
              <a:r>
                <a:rPr lang="en-US" sz="1600" dirty="0" err="1">
                  <a:solidFill>
                    <a:srgbClr val="475569"/>
                  </a:solidFill>
                  <a:latin typeface="Calibri" pitchFamily="34" charset="0"/>
                  <a:ea typeface="Calibri" pitchFamily="34" charset="-122"/>
                  <a:cs typeface="Calibri" pitchFamily="34" charset="-120"/>
                </a:rPr>
                <a:t>średniokwadratowego</a:t>
              </a:r>
              <a:r>
                <a:rPr lang="en-US" sz="1600" dirty="0">
                  <a:solidFill>
                    <a:srgbClr val="475569"/>
                  </a:solidFill>
                  <a:latin typeface="Calibri" pitchFamily="34" charset="0"/>
                  <a:ea typeface="Calibri" pitchFamily="34" charset="-122"/>
                  <a:cs typeface="Calibri" pitchFamily="34" charset="-120"/>
                </a:rPr>
                <a:t> </a:t>
              </a:r>
              <a:r>
                <a:rPr lang="pl-PL" sz="1600" dirty="0" smtClean="0">
                  <a:solidFill>
                    <a:srgbClr val="475569"/>
                  </a:solidFill>
                  <a:latin typeface="Calibri" pitchFamily="34" charset="0"/>
                  <a:ea typeface="Calibri" pitchFamily="34" charset="-122"/>
                  <a:cs typeface="Calibri" pitchFamily="34" charset="-120"/>
                </a:rPr>
                <a:t/>
              </a:r>
              <a:br>
                <a:rPr lang="pl-PL" sz="1600" dirty="0" smtClean="0">
                  <a:solidFill>
                    <a:srgbClr val="475569"/>
                  </a:solidFill>
                  <a:latin typeface="Calibri" pitchFamily="34" charset="0"/>
                  <a:ea typeface="Calibri" pitchFamily="34" charset="-122"/>
                  <a:cs typeface="Calibri" pitchFamily="34" charset="-120"/>
                </a:rPr>
              </a:br>
              <a:r>
                <a:rPr lang="en-US" sz="1600" dirty="0" err="1" smtClean="0">
                  <a:solidFill>
                    <a:srgbClr val="475569"/>
                  </a:solidFill>
                  <a:latin typeface="Calibri" pitchFamily="34" charset="0"/>
                  <a:ea typeface="Calibri" pitchFamily="34" charset="-122"/>
                  <a:cs typeface="Calibri" pitchFamily="34" charset="-120"/>
                </a:rPr>
                <a:t>błędu</a:t>
              </a:r>
              <a:r>
                <a:rPr lang="en-US" sz="1600" dirty="0" smtClean="0">
                  <a:solidFill>
                    <a:srgbClr val="475569"/>
                  </a:solidFill>
                  <a:latin typeface="Calibri" pitchFamily="34" charset="0"/>
                  <a:ea typeface="Calibri" pitchFamily="34" charset="-122"/>
                  <a:cs typeface="Calibri" pitchFamily="34" charset="-120"/>
                </a:rPr>
                <a:t> </a:t>
              </a:r>
              <a:r>
                <a:rPr lang="en-US" sz="1600" dirty="0">
                  <a:solidFill>
                    <a:srgbClr val="475569"/>
                  </a:solidFill>
                  <a:latin typeface="Calibri" pitchFamily="34" charset="0"/>
                  <a:ea typeface="Calibri" pitchFamily="34" charset="-122"/>
                  <a:cs typeface="Calibri" pitchFamily="34" charset="-120"/>
                </a:rPr>
                <a:t>xy [m] względem ścieżki referencyjnej</a:t>
              </a:r>
              <a:endParaRPr lang="en-US" sz="1600" dirty="0"/>
            </a:p>
          </p:txBody>
        </p:sp>
        <p:sp>
          <p:nvSpPr>
            <p:cNvPr id="10" name="Shape 8"/>
            <p:cNvSpPr/>
            <p:nvPr/>
          </p:nvSpPr>
          <p:spPr>
            <a:xfrm>
              <a:off x="4709160" y="1143000"/>
              <a:ext cx="4160520" cy="1506849"/>
            </a:xfrm>
            <a:prstGeom prst="rect">
              <a:avLst/>
            </a:prstGeom>
            <a:solidFill>
              <a:srgbClr val="FFFFFF"/>
            </a:solidFill>
            <a:ln w="12700">
              <a:solidFill>
                <a:srgbClr val="E2EBF3"/>
              </a:solidFill>
              <a:prstDash val="solid"/>
            </a:ln>
            <a:effectLst>
              <a:outerShdw blurRad="76200" dist="25400" dir="8100000" algn="bl" rotWithShape="0">
                <a:srgbClr val="000000">
                  <a:alpha val="12000"/>
                </a:srgbClr>
              </a:outerShdw>
            </a:effectLst>
          </p:spPr>
        </p:sp>
        <p:sp>
          <p:nvSpPr>
            <p:cNvPr id="11" name="Shape 9"/>
            <p:cNvSpPr/>
            <p:nvPr/>
          </p:nvSpPr>
          <p:spPr>
            <a:xfrm>
              <a:off x="4709160" y="1143000"/>
              <a:ext cx="4160520" cy="54864"/>
            </a:xfrm>
            <a:prstGeom prst="rect">
              <a:avLst/>
            </a:prstGeom>
            <a:solidFill>
              <a:srgbClr val="0077A8"/>
            </a:solidFill>
            <a:ln w="12700">
              <a:solidFill>
                <a:srgbClr val="0077A8"/>
              </a:solidFill>
              <a:prstDash val="solid"/>
            </a:ln>
          </p:spPr>
        </p:sp>
        <p:sp>
          <p:nvSpPr>
            <p:cNvPr id="12" name="Text 10"/>
            <p:cNvSpPr/>
            <p:nvPr/>
          </p:nvSpPr>
          <p:spPr>
            <a:xfrm>
              <a:off x="4818888" y="1234440"/>
              <a:ext cx="3941064" cy="642823"/>
            </a:xfrm>
            <a:prstGeom prst="rect">
              <a:avLst/>
            </a:prstGeom>
            <a:noFill/>
            <a:ln/>
          </p:spPr>
          <p:txBody>
            <a:bodyPr wrap="square" lIns="0" tIns="0" rIns="0" bIns="0" rtlCol="0" anchor="ctr"/>
            <a:lstStyle/>
            <a:p>
              <a:pPr marL="0" indent="0">
                <a:buNone/>
              </a:pPr>
              <a:r>
                <a:rPr lang="en-US" sz="2000" b="1" dirty="0">
                  <a:solidFill>
                    <a:srgbClr val="0D1B2A"/>
                  </a:solidFill>
                  <a:latin typeface="Trebuchet MS" pitchFamily="34" charset="0"/>
                  <a:ea typeface="Trebuchet MS" pitchFamily="34" charset="-122"/>
                  <a:cs typeface="Trebuchet MS" pitchFamily="34" charset="-120"/>
                </a:rPr>
                <a:t>Błąd orientacji</a:t>
              </a:r>
              <a:endParaRPr lang="en-US" sz="2000" dirty="0"/>
            </a:p>
          </p:txBody>
        </p:sp>
        <p:sp>
          <p:nvSpPr>
            <p:cNvPr id="13" name="Text 11"/>
            <p:cNvSpPr/>
            <p:nvPr/>
          </p:nvSpPr>
          <p:spPr>
            <a:xfrm>
              <a:off x="4818888" y="1861755"/>
              <a:ext cx="3941064" cy="659507"/>
            </a:xfrm>
            <a:prstGeom prst="rect">
              <a:avLst/>
            </a:prstGeom>
            <a:noFill/>
            <a:ln/>
          </p:spPr>
          <p:txBody>
            <a:bodyPr wrap="square" lIns="0" tIns="0" rIns="0" bIns="0" rtlCol="0" anchor="ctr"/>
            <a:lstStyle/>
            <a:p>
              <a:pPr marL="0" indent="0">
                <a:buNone/>
              </a:pPr>
              <a:r>
                <a:rPr lang="en-US" sz="1600" dirty="0">
                  <a:solidFill>
                    <a:srgbClr val="475569"/>
                  </a:solidFill>
                  <a:latin typeface="Calibri" pitchFamily="34" charset="0"/>
                  <a:ea typeface="Calibri" pitchFamily="34" charset="-122"/>
                  <a:cs typeface="Calibri" pitchFamily="34" charset="-120"/>
                </a:rPr>
                <a:t>Średni błąd kąta yaw [°]; </a:t>
              </a:r>
              <a:r>
                <a:rPr lang="pl-PL" sz="1600" dirty="0" smtClean="0">
                  <a:solidFill>
                    <a:srgbClr val="475569"/>
                  </a:solidFill>
                  <a:latin typeface="Calibri" pitchFamily="34" charset="0"/>
                  <a:ea typeface="Calibri" pitchFamily="34" charset="-122"/>
                  <a:cs typeface="Calibri" pitchFamily="34" charset="-120"/>
                </a:rPr>
                <a:t/>
              </a:r>
              <a:br>
                <a:rPr lang="pl-PL" sz="1600" dirty="0" smtClean="0">
                  <a:solidFill>
                    <a:srgbClr val="475569"/>
                  </a:solidFill>
                  <a:latin typeface="Calibri" pitchFamily="34" charset="0"/>
                  <a:ea typeface="Calibri" pitchFamily="34" charset="-122"/>
                  <a:cs typeface="Calibri" pitchFamily="34" charset="-120"/>
                </a:rPr>
              </a:br>
              <a:r>
                <a:rPr lang="en-US" sz="1600" dirty="0" err="1" smtClean="0">
                  <a:solidFill>
                    <a:srgbClr val="475569"/>
                  </a:solidFill>
                  <a:latin typeface="Calibri" pitchFamily="34" charset="0"/>
                  <a:ea typeface="Calibri" pitchFamily="34" charset="-122"/>
                  <a:cs typeface="Calibri" pitchFamily="34" charset="-120"/>
                </a:rPr>
                <a:t>krytyczny</a:t>
              </a:r>
              <a:r>
                <a:rPr lang="en-US" sz="1600" dirty="0" smtClean="0">
                  <a:solidFill>
                    <a:srgbClr val="475569"/>
                  </a:solidFill>
                  <a:latin typeface="Calibri" pitchFamily="34" charset="0"/>
                  <a:ea typeface="Calibri" pitchFamily="34" charset="-122"/>
                  <a:cs typeface="Calibri" pitchFamily="34" charset="-120"/>
                </a:rPr>
                <a:t> </a:t>
              </a:r>
              <a:r>
                <a:rPr lang="en-US" sz="1600" dirty="0">
                  <a:solidFill>
                    <a:srgbClr val="475569"/>
                  </a:solidFill>
                  <a:latin typeface="Calibri" pitchFamily="34" charset="0"/>
                  <a:ea typeface="Calibri" pitchFamily="34" charset="-122"/>
                  <a:cs typeface="Calibri" pitchFamily="34" charset="-120"/>
                </a:rPr>
                <a:t>dla planowania kroków</a:t>
              </a:r>
              <a:endParaRPr lang="en-US" sz="1600" dirty="0"/>
            </a:p>
          </p:txBody>
        </p:sp>
        <p:sp>
          <p:nvSpPr>
            <p:cNvPr id="14" name="Shape 12"/>
            <p:cNvSpPr/>
            <p:nvPr/>
          </p:nvSpPr>
          <p:spPr>
            <a:xfrm>
              <a:off x="274320" y="2971800"/>
              <a:ext cx="4160520" cy="1506849"/>
            </a:xfrm>
            <a:prstGeom prst="rect">
              <a:avLst/>
            </a:prstGeom>
            <a:solidFill>
              <a:srgbClr val="FFFFFF"/>
            </a:solidFill>
            <a:ln w="12700">
              <a:solidFill>
                <a:srgbClr val="E2EBF3"/>
              </a:solidFill>
              <a:prstDash val="solid"/>
            </a:ln>
            <a:effectLst>
              <a:outerShdw blurRad="76200" dist="25400" dir="8100000" algn="bl" rotWithShape="0">
                <a:srgbClr val="000000">
                  <a:alpha val="12000"/>
                </a:srgbClr>
              </a:outerShdw>
            </a:effectLst>
          </p:spPr>
        </p:sp>
        <p:sp>
          <p:nvSpPr>
            <p:cNvPr id="15" name="Shape 13"/>
            <p:cNvSpPr/>
            <p:nvPr/>
          </p:nvSpPr>
          <p:spPr>
            <a:xfrm>
              <a:off x="274320" y="2971800"/>
              <a:ext cx="4160520" cy="54864"/>
            </a:xfrm>
            <a:prstGeom prst="rect">
              <a:avLst/>
            </a:prstGeom>
            <a:solidFill>
              <a:srgbClr val="0077A8"/>
            </a:solidFill>
            <a:ln w="12700">
              <a:solidFill>
                <a:srgbClr val="0077A8"/>
              </a:solidFill>
              <a:prstDash val="solid"/>
            </a:ln>
          </p:spPr>
        </p:sp>
        <p:sp>
          <p:nvSpPr>
            <p:cNvPr id="16" name="Text 14"/>
            <p:cNvSpPr/>
            <p:nvPr/>
          </p:nvSpPr>
          <p:spPr>
            <a:xfrm>
              <a:off x="384048" y="3063240"/>
              <a:ext cx="3941064" cy="642823"/>
            </a:xfrm>
            <a:prstGeom prst="rect">
              <a:avLst/>
            </a:prstGeom>
            <a:noFill/>
            <a:ln/>
          </p:spPr>
          <p:txBody>
            <a:bodyPr wrap="square" lIns="0" tIns="0" rIns="0" bIns="0" rtlCol="0" anchor="ctr"/>
            <a:lstStyle/>
            <a:p>
              <a:pPr marL="0" indent="0">
                <a:buNone/>
              </a:pPr>
              <a:r>
                <a:rPr lang="en-US" sz="2000" b="1" dirty="0">
                  <a:solidFill>
                    <a:srgbClr val="0D1B2A"/>
                  </a:solidFill>
                  <a:latin typeface="Trebuchet MS" pitchFamily="34" charset="0"/>
                  <a:ea typeface="Trebuchet MS" pitchFamily="34" charset="-122"/>
                  <a:cs typeface="Trebuchet MS" pitchFamily="34" charset="-120"/>
                </a:rPr>
                <a:t>Dryft na minutę</a:t>
              </a:r>
              <a:endParaRPr lang="en-US" sz="2000" dirty="0"/>
            </a:p>
          </p:txBody>
        </p:sp>
        <p:sp>
          <p:nvSpPr>
            <p:cNvPr id="17" name="Text 15"/>
            <p:cNvSpPr/>
            <p:nvPr/>
          </p:nvSpPr>
          <p:spPr>
            <a:xfrm>
              <a:off x="384048" y="3690554"/>
              <a:ext cx="3941064" cy="659507"/>
            </a:xfrm>
            <a:prstGeom prst="rect">
              <a:avLst/>
            </a:prstGeom>
            <a:noFill/>
            <a:ln/>
          </p:spPr>
          <p:txBody>
            <a:bodyPr wrap="square" lIns="0" tIns="0" rIns="0" bIns="0" rtlCol="0" anchor="ctr"/>
            <a:lstStyle/>
            <a:p>
              <a:pPr marL="0" indent="0">
                <a:buNone/>
              </a:pPr>
              <a:r>
                <a:rPr lang="en-US" sz="1600" dirty="0">
                  <a:solidFill>
                    <a:srgbClr val="475569"/>
                  </a:solidFill>
                  <a:latin typeface="Calibri" pitchFamily="34" charset="0"/>
                  <a:ea typeface="Calibri" pitchFamily="34" charset="-122"/>
                  <a:cs typeface="Calibri" pitchFamily="34" charset="-120"/>
                </a:rPr>
                <a:t>Narastanie błędu pozycji bez korekty zewnętrznej [m/min]</a:t>
              </a:r>
              <a:endParaRPr lang="en-US" sz="1600" dirty="0"/>
            </a:p>
          </p:txBody>
        </p:sp>
        <p:sp>
          <p:nvSpPr>
            <p:cNvPr id="18" name="Shape 16"/>
            <p:cNvSpPr/>
            <p:nvPr/>
          </p:nvSpPr>
          <p:spPr>
            <a:xfrm>
              <a:off x="4709160" y="2971800"/>
              <a:ext cx="4160520" cy="1506849"/>
            </a:xfrm>
            <a:prstGeom prst="rect">
              <a:avLst/>
            </a:prstGeom>
            <a:solidFill>
              <a:srgbClr val="FFFFFF"/>
            </a:solidFill>
            <a:ln w="12700">
              <a:solidFill>
                <a:srgbClr val="E2EBF3"/>
              </a:solidFill>
              <a:prstDash val="solid"/>
            </a:ln>
            <a:effectLst>
              <a:outerShdw blurRad="76200" dist="25400" dir="8100000" algn="bl" rotWithShape="0">
                <a:srgbClr val="000000">
                  <a:alpha val="12000"/>
                </a:srgbClr>
              </a:outerShdw>
            </a:effectLst>
          </p:spPr>
        </p:sp>
        <p:sp>
          <p:nvSpPr>
            <p:cNvPr id="19" name="Shape 17"/>
            <p:cNvSpPr/>
            <p:nvPr/>
          </p:nvSpPr>
          <p:spPr>
            <a:xfrm>
              <a:off x="4709160" y="2971800"/>
              <a:ext cx="4160520" cy="54864"/>
            </a:xfrm>
            <a:prstGeom prst="rect">
              <a:avLst/>
            </a:prstGeom>
            <a:solidFill>
              <a:srgbClr val="1A3550"/>
            </a:solidFill>
            <a:ln w="12700">
              <a:solidFill>
                <a:srgbClr val="1A3550"/>
              </a:solidFill>
              <a:prstDash val="solid"/>
            </a:ln>
          </p:spPr>
        </p:sp>
        <p:sp>
          <p:nvSpPr>
            <p:cNvPr id="20" name="Text 18"/>
            <p:cNvSpPr/>
            <p:nvPr/>
          </p:nvSpPr>
          <p:spPr>
            <a:xfrm>
              <a:off x="4818888" y="3063240"/>
              <a:ext cx="3941064" cy="642823"/>
            </a:xfrm>
            <a:prstGeom prst="rect">
              <a:avLst/>
            </a:prstGeom>
            <a:noFill/>
            <a:ln/>
          </p:spPr>
          <p:txBody>
            <a:bodyPr wrap="square" lIns="0" tIns="0" rIns="0" bIns="0" rtlCol="0" anchor="ctr"/>
            <a:lstStyle/>
            <a:p>
              <a:pPr marL="0" indent="0">
                <a:buNone/>
              </a:pPr>
              <a:r>
                <a:rPr lang="en-US" sz="2000" b="1" dirty="0">
                  <a:solidFill>
                    <a:srgbClr val="0D1B2A"/>
                  </a:solidFill>
                  <a:latin typeface="Trebuchet MS" pitchFamily="34" charset="0"/>
                  <a:ea typeface="Trebuchet MS" pitchFamily="34" charset="-122"/>
                  <a:cs typeface="Trebuchet MS" pitchFamily="34" charset="-120"/>
                </a:rPr>
                <a:t>Spójność estymatora</a:t>
              </a:r>
              <a:endParaRPr lang="en-US" sz="2000" dirty="0"/>
            </a:p>
          </p:txBody>
        </p:sp>
        <p:sp>
          <p:nvSpPr>
            <p:cNvPr id="21" name="Text 19"/>
            <p:cNvSpPr/>
            <p:nvPr/>
          </p:nvSpPr>
          <p:spPr>
            <a:xfrm>
              <a:off x="4818888" y="3690554"/>
              <a:ext cx="3941064" cy="659507"/>
            </a:xfrm>
            <a:prstGeom prst="rect">
              <a:avLst/>
            </a:prstGeom>
            <a:noFill/>
            <a:ln/>
          </p:spPr>
          <p:txBody>
            <a:bodyPr wrap="square" lIns="0" tIns="0" rIns="0" bIns="0" rtlCol="0" anchor="ctr"/>
            <a:lstStyle/>
            <a:p>
              <a:pPr marL="0" indent="0">
                <a:buNone/>
              </a:pPr>
              <a:r>
                <a:rPr lang="en-US" sz="1600" dirty="0">
                  <a:solidFill>
                    <a:srgbClr val="475569"/>
                  </a:solidFill>
                  <a:latin typeface="Calibri" pitchFamily="34" charset="0"/>
                  <a:ea typeface="Calibri" pitchFamily="34" charset="-122"/>
                  <a:cs typeface="Calibri" pitchFamily="34" charset="-120"/>
                </a:rPr>
                <a:t>Czy kowariancja P odpowiada rzeczywistemu błędowi? (test NIS/NEES)</a:t>
              </a:r>
              <a:endParaRPr lang="en-US" sz="1600" dirty="0"/>
            </a:p>
          </p:txBody>
        </p:sp>
      </p:grpSp>
      <p:sp>
        <p:nvSpPr>
          <p:cNvPr id="23" name="Prostokąt 22"/>
          <p:cNvSpPr/>
          <p:nvPr/>
        </p:nvSpPr>
        <p:spPr>
          <a:xfrm>
            <a:off x="274320" y="4392696"/>
            <a:ext cx="8595360" cy="669414"/>
          </a:xfrm>
          <a:prstGeom prst="rect">
            <a:avLst/>
          </a:prstGeom>
          <a:solidFill>
            <a:srgbClr val="0D1B2A"/>
          </a:solidFill>
        </p:spPr>
        <p:txBody>
          <a:bodyPr wrap="square">
            <a:spAutoFit/>
          </a:bodyPr>
          <a:lstStyle/>
          <a:p>
            <a:pPr algn="just">
              <a:lnSpc>
                <a:spcPts val="1500"/>
              </a:lnSpc>
            </a:pPr>
            <a:r>
              <a:rPr lang="pl-PL" sz="1400" dirty="0">
                <a:solidFill>
                  <a:schemeClr val="bg1"/>
                </a:solidFill>
              </a:rPr>
              <a:t>Jakość lokalizacji oceniamy przez RMSE pozycji, błąd orientacji, dryft na minutę oraz spójność estymatora. Ta ostatnia cecha jest bardzo ważna, bo nie wystarczy mieć mały błąd. Estymator musi też poprawnie oceniać własną niepewność, a to sprawdzamy testami takimi jak NIS czy NEES.</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F2335"/>
        </a:solidFill>
        <a:effectLst/>
      </p:bgPr>
    </p:bg>
    <p:spTree>
      <p:nvGrpSpPr>
        <p:cNvPr id="1" name=""/>
        <p:cNvGrpSpPr/>
        <p:nvPr/>
      </p:nvGrpSpPr>
      <p:grpSpPr>
        <a:xfrm>
          <a:off x="0" y="0"/>
          <a:ext cx="0" cy="0"/>
          <a:chOff x="0" y="0"/>
          <a:chExt cx="0" cy="0"/>
        </a:xfrm>
      </p:grpSpPr>
      <p:sp>
        <p:nvSpPr>
          <p:cNvPr id="2" name="Shape 0"/>
          <p:cNvSpPr/>
          <p:nvPr/>
        </p:nvSpPr>
        <p:spPr>
          <a:xfrm>
            <a:off x="0" y="0"/>
            <a:ext cx="64008" cy="5143500"/>
          </a:xfrm>
          <a:prstGeom prst="rect">
            <a:avLst/>
          </a:prstGeom>
          <a:solidFill>
            <a:srgbClr val="F72585"/>
          </a:solidFill>
          <a:ln w="12700">
            <a:solidFill>
              <a:srgbClr val="F72585"/>
            </a:solidFill>
            <a:prstDash val="solid"/>
          </a:ln>
        </p:spPr>
      </p:sp>
      <p:sp>
        <p:nvSpPr>
          <p:cNvPr id="3" name="Shape 1"/>
          <p:cNvSpPr/>
          <p:nvPr/>
        </p:nvSpPr>
        <p:spPr>
          <a:xfrm>
            <a:off x="64008" y="0"/>
            <a:ext cx="9079992" cy="914400"/>
          </a:xfrm>
          <a:prstGeom prst="rect">
            <a:avLst/>
          </a:prstGeom>
          <a:solidFill>
            <a:srgbClr val="0D1B2A"/>
          </a:solidFill>
          <a:ln w="12700">
            <a:solidFill>
              <a:srgbClr val="0D1B2A"/>
            </a:solidFill>
            <a:prstDash val="solid"/>
          </a:ln>
        </p:spPr>
      </p:sp>
      <p:sp>
        <p:nvSpPr>
          <p:cNvPr id="4" name="Text 2"/>
          <p:cNvSpPr/>
          <p:nvPr/>
        </p:nvSpPr>
        <p:spPr>
          <a:xfrm>
            <a:off x="228600" y="73152"/>
            <a:ext cx="3657600" cy="256032"/>
          </a:xfrm>
          <a:prstGeom prst="rect">
            <a:avLst/>
          </a:prstGeom>
          <a:noFill/>
          <a:ln/>
        </p:spPr>
        <p:txBody>
          <a:bodyPr wrap="square" lIns="0" tIns="0" rIns="0" bIns="0" rtlCol="0" anchor="ctr"/>
          <a:lstStyle/>
          <a:p>
            <a:pPr marL="0" indent="0">
              <a:buNone/>
            </a:pPr>
            <a:r>
              <a:rPr lang="en-US" sz="900" b="1" kern="0" spc="200" dirty="0">
                <a:solidFill>
                  <a:srgbClr val="F72585"/>
                </a:solidFill>
                <a:latin typeface="Trebuchet MS" pitchFamily="34" charset="0"/>
                <a:ea typeface="Trebuchet MS" pitchFamily="34" charset="-122"/>
                <a:cs typeface="Trebuchet MS" pitchFamily="34" charset="-120"/>
              </a:rPr>
              <a:t>KOD PYTHON</a:t>
            </a:r>
            <a:endParaRPr lang="en-US" sz="900" dirty="0"/>
          </a:p>
        </p:txBody>
      </p:sp>
      <p:sp>
        <p:nvSpPr>
          <p:cNvPr id="5" name="Text 3"/>
          <p:cNvSpPr/>
          <p:nvPr/>
        </p:nvSpPr>
        <p:spPr>
          <a:xfrm>
            <a:off x="228600" y="292608"/>
            <a:ext cx="8686800" cy="548640"/>
          </a:xfrm>
          <a:prstGeom prst="rect">
            <a:avLst/>
          </a:prstGeom>
          <a:noFill/>
          <a:ln/>
        </p:spPr>
        <p:txBody>
          <a:bodyPr wrap="square" lIns="0" tIns="0" rIns="0" bIns="0" rtlCol="0" anchor="ctr"/>
          <a:lstStyle/>
          <a:p>
            <a:pPr marL="0" indent="0">
              <a:buNone/>
            </a:pPr>
            <a:r>
              <a:rPr lang="en-US" sz="2800" b="1" dirty="0">
                <a:solidFill>
                  <a:srgbClr val="FFFFFF"/>
                </a:solidFill>
                <a:latin typeface="Trebuchet MS" pitchFamily="34" charset="0"/>
                <a:ea typeface="Trebuchet MS" pitchFamily="34" charset="-122"/>
                <a:cs typeface="Trebuchet MS" pitchFamily="34" charset="-120"/>
              </a:rPr>
              <a:t>Całkowanie prędkości kątowej z IMU</a:t>
            </a:r>
            <a:endParaRPr lang="en-US" sz="2800" dirty="0"/>
          </a:p>
        </p:txBody>
      </p:sp>
      <p:sp>
        <p:nvSpPr>
          <p:cNvPr id="6" name="Shape 4"/>
          <p:cNvSpPr/>
          <p:nvPr/>
        </p:nvSpPr>
        <p:spPr>
          <a:xfrm>
            <a:off x="274320" y="1005840"/>
            <a:ext cx="8595360" cy="3365438"/>
          </a:xfrm>
          <a:prstGeom prst="rect">
            <a:avLst/>
          </a:prstGeom>
          <a:solidFill>
            <a:srgbClr val="071520"/>
          </a:solidFill>
          <a:ln w="12700">
            <a:solidFill>
              <a:srgbClr val="0077A8"/>
            </a:solidFill>
            <a:prstDash val="solid"/>
          </a:ln>
          <a:effectLst>
            <a:outerShdw blurRad="101600" dist="38100" dir="8100000" algn="bl" rotWithShape="0">
              <a:srgbClr val="000000">
                <a:alpha val="18000"/>
              </a:srgbClr>
            </a:outerShdw>
          </a:effectLst>
        </p:spPr>
      </p:sp>
      <p:sp>
        <p:nvSpPr>
          <p:cNvPr id="10" name="Text 8"/>
          <p:cNvSpPr/>
          <p:nvPr/>
        </p:nvSpPr>
        <p:spPr>
          <a:xfrm>
            <a:off x="369180" y="1035872"/>
            <a:ext cx="7346542" cy="2989088"/>
          </a:xfrm>
          <a:prstGeom prst="rect">
            <a:avLst/>
          </a:prstGeom>
          <a:noFill/>
          <a:ln/>
        </p:spPr>
        <p:txBody>
          <a:bodyPr wrap="square" lIns="108000" tIns="0" rIns="127000" bIns="63500" rtlCol="0" anchor="t">
            <a:spAutoFit/>
          </a:bodyPr>
          <a:lstStyle/>
          <a:p>
            <a:pPr>
              <a:lnSpc>
                <a:spcPts val="1200"/>
              </a:lnSpc>
            </a:pPr>
            <a:r>
              <a:rPr lang="pl-PL" sz="1200" dirty="0">
                <a:solidFill>
                  <a:srgbClr val="C586C0"/>
                </a:solidFill>
                <a:latin typeface="Consolas" panose="020B0609020204030204" pitchFamily="49" charset="0"/>
              </a:rPr>
              <a:t>import</a:t>
            </a:r>
            <a:r>
              <a:rPr lang="pl-PL" sz="1200" dirty="0">
                <a:solidFill>
                  <a:srgbClr val="CCCCCC"/>
                </a:solidFill>
                <a:latin typeface="Consolas" panose="020B0609020204030204" pitchFamily="49" charset="0"/>
              </a:rPr>
              <a:t> </a:t>
            </a:r>
            <a:r>
              <a:rPr lang="pl-PL" sz="1200" dirty="0" err="1">
                <a:solidFill>
                  <a:srgbClr val="4EC9B0"/>
                </a:solidFill>
                <a:latin typeface="Consolas" panose="020B0609020204030204" pitchFamily="49" charset="0"/>
              </a:rPr>
              <a:t>numpy</a:t>
            </a:r>
            <a:r>
              <a:rPr lang="pl-PL" sz="1200" dirty="0">
                <a:solidFill>
                  <a:srgbClr val="CCCCCC"/>
                </a:solidFill>
                <a:latin typeface="Consolas" panose="020B0609020204030204" pitchFamily="49" charset="0"/>
              </a:rPr>
              <a:t> </a:t>
            </a:r>
            <a:r>
              <a:rPr lang="pl-PL" sz="1200" dirty="0">
                <a:solidFill>
                  <a:srgbClr val="C586C0"/>
                </a:solidFill>
                <a:latin typeface="Consolas" panose="020B0609020204030204" pitchFamily="49" charset="0"/>
              </a:rPr>
              <a:t>as</a:t>
            </a:r>
            <a:r>
              <a:rPr lang="pl-PL" sz="1200" dirty="0">
                <a:solidFill>
                  <a:srgbClr val="CCCCCC"/>
                </a:solidFill>
                <a:latin typeface="Consolas" panose="020B0609020204030204" pitchFamily="49" charset="0"/>
              </a:rPr>
              <a:t> </a:t>
            </a:r>
            <a:r>
              <a:rPr lang="pl-PL" sz="1200" dirty="0" err="1">
                <a:solidFill>
                  <a:srgbClr val="4EC9B0"/>
                </a:solidFill>
                <a:latin typeface="Consolas" panose="020B0609020204030204" pitchFamily="49" charset="0"/>
              </a:rPr>
              <a:t>np</a:t>
            </a:r>
            <a:endParaRPr lang="pl-PL" sz="1200" dirty="0">
              <a:solidFill>
                <a:srgbClr val="CCCCCC"/>
              </a:solidFill>
              <a:latin typeface="Consolas" panose="020B0609020204030204" pitchFamily="49" charset="0"/>
            </a:endParaRPr>
          </a:p>
          <a:p>
            <a:pPr>
              <a:lnSpc>
                <a:spcPts val="1200"/>
              </a:lnSpc>
            </a:pPr>
            <a:r>
              <a:rPr lang="pl-PL" sz="1200" dirty="0">
                <a:solidFill>
                  <a:srgbClr val="CCCCCC"/>
                </a:solidFill>
                <a:latin typeface="Consolas" panose="020B0609020204030204" pitchFamily="49" charset="0"/>
              </a:rPr>
              <a:t/>
            </a:r>
            <a:br>
              <a:rPr lang="pl-PL" sz="1200" dirty="0">
                <a:solidFill>
                  <a:srgbClr val="CCCCCC"/>
                </a:solidFill>
                <a:latin typeface="Consolas" panose="020B0609020204030204" pitchFamily="49" charset="0"/>
              </a:rPr>
            </a:br>
            <a:r>
              <a:rPr lang="pl-PL" sz="1200" dirty="0" err="1">
                <a:solidFill>
                  <a:srgbClr val="569CD6"/>
                </a:solidFill>
                <a:latin typeface="Consolas" panose="020B0609020204030204" pitchFamily="49" charset="0"/>
              </a:rPr>
              <a:t>class</a:t>
            </a:r>
            <a:r>
              <a:rPr lang="pl-PL" sz="1200" dirty="0">
                <a:solidFill>
                  <a:srgbClr val="CCCCCC"/>
                </a:solidFill>
                <a:latin typeface="Consolas" panose="020B0609020204030204" pitchFamily="49" charset="0"/>
              </a:rPr>
              <a:t> </a:t>
            </a:r>
            <a:r>
              <a:rPr lang="pl-PL" sz="1200" dirty="0" err="1">
                <a:solidFill>
                  <a:srgbClr val="4EC9B0"/>
                </a:solidFill>
                <a:latin typeface="Consolas" panose="020B0609020204030204" pitchFamily="49" charset="0"/>
              </a:rPr>
              <a:t>ImuIntegrator</a:t>
            </a:r>
            <a:r>
              <a:rPr lang="pl-PL" sz="1200" dirty="0">
                <a:solidFill>
                  <a:srgbClr val="CCCCCC"/>
                </a:solidFill>
                <a:latin typeface="Consolas" panose="020B0609020204030204" pitchFamily="49" charset="0"/>
              </a:rPr>
              <a:t>:</a:t>
            </a:r>
          </a:p>
          <a:p>
            <a:pPr>
              <a:lnSpc>
                <a:spcPts val="1200"/>
              </a:lnSpc>
            </a:pPr>
            <a:r>
              <a:rPr lang="pl-PL" sz="1200" dirty="0">
                <a:solidFill>
                  <a:srgbClr val="CCCCCC"/>
                </a:solidFill>
                <a:latin typeface="Consolas" panose="020B0609020204030204" pitchFamily="49" charset="0"/>
              </a:rPr>
              <a:t>    </a:t>
            </a:r>
            <a:r>
              <a:rPr lang="pl-PL" sz="1200" dirty="0">
                <a:solidFill>
                  <a:srgbClr val="569CD6"/>
                </a:solidFill>
                <a:latin typeface="Consolas" panose="020B0609020204030204" pitchFamily="49" charset="0"/>
              </a:rPr>
              <a:t>def</a:t>
            </a:r>
            <a:r>
              <a:rPr lang="pl-PL" sz="1200" dirty="0">
                <a:solidFill>
                  <a:srgbClr val="CCCCCC"/>
                </a:solidFill>
                <a:latin typeface="Consolas" panose="020B0609020204030204" pitchFamily="49" charset="0"/>
              </a:rPr>
              <a:t> </a:t>
            </a:r>
            <a:r>
              <a:rPr lang="pl-PL" sz="1200" dirty="0">
                <a:solidFill>
                  <a:srgbClr val="DCDCAA"/>
                </a:solidFill>
                <a:latin typeface="Consolas" panose="020B0609020204030204" pitchFamily="49" charset="0"/>
              </a:rPr>
              <a:t>__</a:t>
            </a:r>
            <a:r>
              <a:rPr lang="pl-PL" sz="1200" dirty="0" err="1">
                <a:solidFill>
                  <a:srgbClr val="DCDCAA"/>
                </a:solidFill>
                <a:latin typeface="Consolas" panose="020B0609020204030204" pitchFamily="49" charset="0"/>
              </a:rPr>
              <a:t>init</a:t>
            </a:r>
            <a:r>
              <a:rPr lang="pl-PL" sz="1200" dirty="0">
                <a:solidFill>
                  <a:srgbClr val="DCDCAA"/>
                </a:solidFill>
                <a:latin typeface="Consolas" panose="020B0609020204030204" pitchFamily="49" charset="0"/>
              </a:rPr>
              <a:t>__</a:t>
            </a:r>
            <a:r>
              <a:rPr lang="pl-PL" sz="1200" dirty="0">
                <a:solidFill>
                  <a:srgbClr val="CCCCCC"/>
                </a:solidFill>
                <a:latin typeface="Consolas" panose="020B0609020204030204" pitchFamily="49" charset="0"/>
              </a:rPr>
              <a:t>(</a:t>
            </a:r>
            <a:r>
              <a:rPr lang="pl-PL" sz="1200" dirty="0" err="1">
                <a:solidFill>
                  <a:srgbClr val="9CDCFE"/>
                </a:solidFill>
                <a:latin typeface="Consolas" panose="020B0609020204030204" pitchFamily="49" charset="0"/>
              </a:rPr>
              <a:t>self</a:t>
            </a:r>
            <a:r>
              <a:rPr lang="pl-PL" sz="1200" dirty="0">
                <a:solidFill>
                  <a:srgbClr val="CCCCCC"/>
                </a:solidFill>
                <a:latin typeface="Consolas" panose="020B0609020204030204" pitchFamily="49" charset="0"/>
              </a:rPr>
              <a:t>):</a:t>
            </a:r>
          </a:p>
          <a:p>
            <a:pPr>
              <a:lnSpc>
                <a:spcPts val="1200"/>
              </a:lnSpc>
            </a:pPr>
            <a:r>
              <a:rPr lang="pl-PL" sz="1200" dirty="0">
                <a:solidFill>
                  <a:srgbClr val="CCCCCC"/>
                </a:solidFill>
                <a:latin typeface="Consolas" panose="020B0609020204030204" pitchFamily="49" charset="0"/>
              </a:rPr>
              <a:t>        </a:t>
            </a:r>
            <a:r>
              <a:rPr lang="pl-PL" sz="1200" dirty="0" err="1">
                <a:solidFill>
                  <a:srgbClr val="569CD6"/>
                </a:solidFill>
                <a:latin typeface="Consolas" panose="020B0609020204030204" pitchFamily="49" charset="0"/>
              </a:rPr>
              <a:t>self</a:t>
            </a:r>
            <a:r>
              <a:rPr lang="pl-PL" sz="1200" dirty="0" err="1">
                <a:solidFill>
                  <a:srgbClr val="CCCCCC"/>
                </a:solidFill>
                <a:latin typeface="Consolas" panose="020B0609020204030204" pitchFamily="49" charset="0"/>
              </a:rPr>
              <a:t>.yaw</a:t>
            </a:r>
            <a:r>
              <a:rPr lang="pl-PL" sz="1200" dirty="0">
                <a:solidFill>
                  <a:srgbClr val="CCCCCC"/>
                </a:solidFill>
                <a:latin typeface="Consolas" panose="020B0609020204030204" pitchFamily="49" charset="0"/>
              </a:rPr>
              <a:t>   </a:t>
            </a:r>
            <a:r>
              <a:rPr lang="pl-PL" sz="1200" dirty="0">
                <a:solidFill>
                  <a:srgbClr val="D4D4D4"/>
                </a:solidFill>
                <a:latin typeface="Consolas" panose="020B0609020204030204" pitchFamily="49" charset="0"/>
              </a:rPr>
              <a:t>=</a:t>
            </a:r>
            <a:r>
              <a:rPr lang="pl-PL" sz="1200" dirty="0">
                <a:solidFill>
                  <a:srgbClr val="CCCCCC"/>
                </a:solidFill>
                <a:latin typeface="Consolas" panose="020B0609020204030204" pitchFamily="49" charset="0"/>
              </a:rPr>
              <a:t> </a:t>
            </a:r>
            <a:r>
              <a:rPr lang="pl-PL" sz="1200" dirty="0">
                <a:solidFill>
                  <a:srgbClr val="B5CEA8"/>
                </a:solidFill>
                <a:latin typeface="Consolas" panose="020B0609020204030204" pitchFamily="49" charset="0"/>
              </a:rPr>
              <a:t>0.0</a:t>
            </a:r>
            <a:r>
              <a:rPr lang="pl-PL" sz="1200" dirty="0">
                <a:solidFill>
                  <a:srgbClr val="CCCCCC"/>
                </a:solidFill>
                <a:latin typeface="Consolas" panose="020B0609020204030204" pitchFamily="49" charset="0"/>
              </a:rPr>
              <a:t>  </a:t>
            </a:r>
            <a:r>
              <a:rPr lang="pl-PL" sz="1200" dirty="0">
                <a:solidFill>
                  <a:srgbClr val="6A9955"/>
                </a:solidFill>
                <a:latin typeface="Consolas" panose="020B0609020204030204" pitchFamily="49" charset="0"/>
              </a:rPr>
              <a:t># [rad]</a:t>
            </a:r>
            <a:endParaRPr lang="pl-PL" sz="1200" dirty="0">
              <a:solidFill>
                <a:srgbClr val="CCCCCC"/>
              </a:solidFill>
              <a:latin typeface="Consolas" panose="020B0609020204030204" pitchFamily="49" charset="0"/>
            </a:endParaRPr>
          </a:p>
          <a:p>
            <a:pPr>
              <a:lnSpc>
                <a:spcPts val="1200"/>
              </a:lnSpc>
            </a:pPr>
            <a:r>
              <a:rPr lang="pl-PL" sz="1200" dirty="0">
                <a:solidFill>
                  <a:srgbClr val="CCCCCC"/>
                </a:solidFill>
                <a:latin typeface="Consolas" panose="020B0609020204030204" pitchFamily="49" charset="0"/>
              </a:rPr>
              <a:t>        </a:t>
            </a:r>
            <a:r>
              <a:rPr lang="pl-PL" sz="1200" dirty="0" err="1">
                <a:solidFill>
                  <a:srgbClr val="569CD6"/>
                </a:solidFill>
                <a:latin typeface="Consolas" panose="020B0609020204030204" pitchFamily="49" charset="0"/>
              </a:rPr>
              <a:t>self</a:t>
            </a:r>
            <a:r>
              <a:rPr lang="pl-PL" sz="1200" dirty="0" err="1">
                <a:solidFill>
                  <a:srgbClr val="CCCCCC"/>
                </a:solidFill>
                <a:latin typeface="Consolas" panose="020B0609020204030204" pitchFamily="49" charset="0"/>
              </a:rPr>
              <a:t>.pitch</a:t>
            </a:r>
            <a:r>
              <a:rPr lang="pl-PL" sz="1200" dirty="0">
                <a:solidFill>
                  <a:srgbClr val="CCCCCC"/>
                </a:solidFill>
                <a:latin typeface="Consolas" panose="020B0609020204030204" pitchFamily="49" charset="0"/>
              </a:rPr>
              <a:t> </a:t>
            </a:r>
            <a:r>
              <a:rPr lang="pl-PL" sz="1200" dirty="0">
                <a:solidFill>
                  <a:srgbClr val="D4D4D4"/>
                </a:solidFill>
                <a:latin typeface="Consolas" panose="020B0609020204030204" pitchFamily="49" charset="0"/>
              </a:rPr>
              <a:t>=</a:t>
            </a:r>
            <a:r>
              <a:rPr lang="pl-PL" sz="1200" dirty="0">
                <a:solidFill>
                  <a:srgbClr val="CCCCCC"/>
                </a:solidFill>
                <a:latin typeface="Consolas" panose="020B0609020204030204" pitchFamily="49" charset="0"/>
              </a:rPr>
              <a:t> </a:t>
            </a:r>
            <a:r>
              <a:rPr lang="pl-PL" sz="1200" dirty="0">
                <a:solidFill>
                  <a:srgbClr val="B5CEA8"/>
                </a:solidFill>
                <a:latin typeface="Consolas" panose="020B0609020204030204" pitchFamily="49" charset="0"/>
              </a:rPr>
              <a:t>0.0</a:t>
            </a:r>
            <a:r>
              <a:rPr lang="pl-PL" sz="1200" dirty="0">
                <a:solidFill>
                  <a:srgbClr val="CCCCCC"/>
                </a:solidFill>
                <a:latin typeface="Consolas" panose="020B0609020204030204" pitchFamily="49" charset="0"/>
              </a:rPr>
              <a:t>  </a:t>
            </a:r>
            <a:r>
              <a:rPr lang="pl-PL" sz="1200" dirty="0">
                <a:solidFill>
                  <a:srgbClr val="6A9955"/>
                </a:solidFill>
                <a:latin typeface="Consolas" panose="020B0609020204030204" pitchFamily="49" charset="0"/>
              </a:rPr>
              <a:t># [rad]</a:t>
            </a:r>
            <a:endParaRPr lang="pl-PL" sz="1200" dirty="0">
              <a:solidFill>
                <a:srgbClr val="CCCCCC"/>
              </a:solidFill>
              <a:latin typeface="Consolas" panose="020B0609020204030204" pitchFamily="49" charset="0"/>
            </a:endParaRPr>
          </a:p>
          <a:p>
            <a:pPr>
              <a:lnSpc>
                <a:spcPts val="1200"/>
              </a:lnSpc>
            </a:pPr>
            <a:r>
              <a:rPr lang="pl-PL" sz="1200" dirty="0">
                <a:solidFill>
                  <a:srgbClr val="CCCCCC"/>
                </a:solidFill>
                <a:latin typeface="Consolas" panose="020B0609020204030204" pitchFamily="49" charset="0"/>
              </a:rPr>
              <a:t>        </a:t>
            </a:r>
            <a:r>
              <a:rPr lang="pl-PL" sz="1200" dirty="0" err="1">
                <a:solidFill>
                  <a:srgbClr val="569CD6"/>
                </a:solidFill>
                <a:latin typeface="Consolas" panose="020B0609020204030204" pitchFamily="49" charset="0"/>
              </a:rPr>
              <a:t>self</a:t>
            </a:r>
            <a:r>
              <a:rPr lang="pl-PL" sz="1200" dirty="0" err="1">
                <a:solidFill>
                  <a:srgbClr val="CCCCCC"/>
                </a:solidFill>
                <a:latin typeface="Consolas" panose="020B0609020204030204" pitchFamily="49" charset="0"/>
              </a:rPr>
              <a:t>.roll</a:t>
            </a:r>
            <a:r>
              <a:rPr lang="pl-PL" sz="1200" dirty="0">
                <a:solidFill>
                  <a:srgbClr val="CCCCCC"/>
                </a:solidFill>
                <a:latin typeface="Consolas" panose="020B0609020204030204" pitchFamily="49" charset="0"/>
              </a:rPr>
              <a:t>  </a:t>
            </a:r>
            <a:r>
              <a:rPr lang="pl-PL" sz="1200" dirty="0">
                <a:solidFill>
                  <a:srgbClr val="D4D4D4"/>
                </a:solidFill>
                <a:latin typeface="Consolas" panose="020B0609020204030204" pitchFamily="49" charset="0"/>
              </a:rPr>
              <a:t>=</a:t>
            </a:r>
            <a:r>
              <a:rPr lang="pl-PL" sz="1200" dirty="0">
                <a:solidFill>
                  <a:srgbClr val="CCCCCC"/>
                </a:solidFill>
                <a:latin typeface="Consolas" panose="020B0609020204030204" pitchFamily="49" charset="0"/>
              </a:rPr>
              <a:t> </a:t>
            </a:r>
            <a:r>
              <a:rPr lang="pl-PL" sz="1200" dirty="0">
                <a:solidFill>
                  <a:srgbClr val="B5CEA8"/>
                </a:solidFill>
                <a:latin typeface="Consolas" panose="020B0609020204030204" pitchFamily="49" charset="0"/>
              </a:rPr>
              <a:t>0.0</a:t>
            </a:r>
            <a:r>
              <a:rPr lang="pl-PL" sz="1200" dirty="0">
                <a:solidFill>
                  <a:srgbClr val="CCCCCC"/>
                </a:solidFill>
                <a:latin typeface="Consolas" panose="020B0609020204030204" pitchFamily="49" charset="0"/>
              </a:rPr>
              <a:t>  </a:t>
            </a:r>
            <a:r>
              <a:rPr lang="pl-PL" sz="1200" dirty="0">
                <a:solidFill>
                  <a:srgbClr val="6A9955"/>
                </a:solidFill>
                <a:latin typeface="Consolas" panose="020B0609020204030204" pitchFamily="49" charset="0"/>
              </a:rPr>
              <a:t># [rad]</a:t>
            </a:r>
            <a:endParaRPr lang="pl-PL" sz="1200" dirty="0">
              <a:solidFill>
                <a:srgbClr val="CCCCCC"/>
              </a:solidFill>
              <a:latin typeface="Consolas" panose="020B0609020204030204" pitchFamily="49" charset="0"/>
            </a:endParaRPr>
          </a:p>
          <a:p>
            <a:pPr>
              <a:lnSpc>
                <a:spcPts val="1200"/>
              </a:lnSpc>
            </a:pPr>
            <a:r>
              <a:rPr lang="pl-PL" sz="1200" dirty="0">
                <a:solidFill>
                  <a:srgbClr val="CCCCCC"/>
                </a:solidFill>
                <a:latin typeface="Consolas" panose="020B0609020204030204" pitchFamily="49" charset="0"/>
              </a:rPr>
              <a:t/>
            </a:r>
            <a:br>
              <a:rPr lang="pl-PL" sz="1200" dirty="0">
                <a:solidFill>
                  <a:srgbClr val="CCCCCC"/>
                </a:solidFill>
                <a:latin typeface="Consolas" panose="020B0609020204030204" pitchFamily="49" charset="0"/>
              </a:rPr>
            </a:br>
            <a:r>
              <a:rPr lang="pl-PL" sz="1200" dirty="0">
                <a:solidFill>
                  <a:srgbClr val="CCCCCC"/>
                </a:solidFill>
                <a:latin typeface="Consolas" panose="020B0609020204030204" pitchFamily="49" charset="0"/>
              </a:rPr>
              <a:t>   </a:t>
            </a:r>
            <a:r>
              <a:rPr lang="pl-PL" sz="1200" dirty="0">
                <a:solidFill>
                  <a:srgbClr val="569CD6"/>
                </a:solidFill>
                <a:latin typeface="Consolas" panose="020B0609020204030204" pitchFamily="49" charset="0"/>
              </a:rPr>
              <a:t>def</a:t>
            </a:r>
            <a:r>
              <a:rPr lang="pl-PL" sz="1200" dirty="0">
                <a:solidFill>
                  <a:srgbClr val="CCCCCC"/>
                </a:solidFill>
                <a:latin typeface="Consolas" panose="020B0609020204030204" pitchFamily="49" charset="0"/>
              </a:rPr>
              <a:t> </a:t>
            </a:r>
            <a:r>
              <a:rPr lang="pl-PL" sz="1200" dirty="0">
                <a:solidFill>
                  <a:srgbClr val="DCDCAA"/>
                </a:solidFill>
                <a:latin typeface="Consolas" panose="020B0609020204030204" pitchFamily="49" charset="0"/>
              </a:rPr>
              <a:t>update</a:t>
            </a:r>
            <a:r>
              <a:rPr lang="pl-PL" sz="1200" dirty="0">
                <a:solidFill>
                  <a:srgbClr val="CCCCCC"/>
                </a:solidFill>
                <a:latin typeface="Consolas" panose="020B0609020204030204" pitchFamily="49" charset="0"/>
              </a:rPr>
              <a:t>(</a:t>
            </a:r>
            <a:r>
              <a:rPr lang="pl-PL" sz="1200" dirty="0" err="1">
                <a:solidFill>
                  <a:srgbClr val="9CDCFE"/>
                </a:solidFill>
                <a:latin typeface="Consolas" panose="020B0609020204030204" pitchFamily="49" charset="0"/>
              </a:rPr>
              <a:t>self</a:t>
            </a:r>
            <a:r>
              <a:rPr lang="pl-PL" sz="1200" dirty="0">
                <a:solidFill>
                  <a:srgbClr val="CCCCCC"/>
                </a:solidFill>
                <a:latin typeface="Consolas" panose="020B0609020204030204" pitchFamily="49" charset="0"/>
              </a:rPr>
              <a:t>, </a:t>
            </a:r>
            <a:r>
              <a:rPr lang="pl-PL" sz="1200" dirty="0" err="1">
                <a:solidFill>
                  <a:srgbClr val="9CDCFE"/>
                </a:solidFill>
                <a:latin typeface="Consolas" panose="020B0609020204030204" pitchFamily="49" charset="0"/>
              </a:rPr>
              <a:t>gyro_xyz</a:t>
            </a:r>
            <a:r>
              <a:rPr lang="pl-PL" sz="1200" dirty="0">
                <a:solidFill>
                  <a:srgbClr val="CCCCCC"/>
                </a:solidFill>
                <a:latin typeface="Consolas" panose="020B0609020204030204" pitchFamily="49" charset="0"/>
              </a:rPr>
              <a:t>: </a:t>
            </a:r>
            <a:r>
              <a:rPr lang="pl-PL" sz="1200" dirty="0" err="1">
                <a:solidFill>
                  <a:srgbClr val="CCCCCC"/>
                </a:solidFill>
                <a:latin typeface="Consolas" panose="020B0609020204030204" pitchFamily="49" charset="0"/>
              </a:rPr>
              <a:t>np.ndarray</a:t>
            </a:r>
            <a:r>
              <a:rPr lang="pl-PL" sz="1200" dirty="0">
                <a:solidFill>
                  <a:srgbClr val="CCCCCC"/>
                </a:solidFill>
                <a:latin typeface="Consolas" panose="020B0609020204030204" pitchFamily="49" charset="0"/>
              </a:rPr>
              <a:t>, </a:t>
            </a:r>
            <a:r>
              <a:rPr lang="pl-PL" sz="1200" dirty="0" err="1">
                <a:solidFill>
                  <a:srgbClr val="9CDCFE"/>
                </a:solidFill>
                <a:latin typeface="Consolas" panose="020B0609020204030204" pitchFamily="49" charset="0"/>
              </a:rPr>
              <a:t>dt</a:t>
            </a:r>
            <a:r>
              <a:rPr lang="pl-PL" sz="1200" dirty="0">
                <a:solidFill>
                  <a:srgbClr val="CCCCCC"/>
                </a:solidFill>
                <a:latin typeface="Consolas" panose="020B0609020204030204" pitchFamily="49" charset="0"/>
              </a:rPr>
              <a:t>: </a:t>
            </a:r>
            <a:r>
              <a:rPr lang="pl-PL" sz="1200" dirty="0" err="1">
                <a:solidFill>
                  <a:srgbClr val="4EC9B0"/>
                </a:solidFill>
                <a:latin typeface="Consolas" panose="020B0609020204030204" pitchFamily="49" charset="0"/>
              </a:rPr>
              <a:t>float</a:t>
            </a:r>
            <a:r>
              <a:rPr lang="pl-PL" sz="1200" dirty="0">
                <a:solidFill>
                  <a:srgbClr val="CCCCCC"/>
                </a:solidFill>
                <a:latin typeface="Consolas" panose="020B0609020204030204" pitchFamily="49" charset="0"/>
              </a:rPr>
              <a:t>) -&gt; </a:t>
            </a:r>
            <a:r>
              <a:rPr lang="pl-PL" sz="1200" dirty="0" err="1">
                <a:solidFill>
                  <a:srgbClr val="4EC9B0"/>
                </a:solidFill>
                <a:latin typeface="Consolas" panose="020B0609020204030204" pitchFamily="49" charset="0"/>
              </a:rPr>
              <a:t>tuple</a:t>
            </a:r>
            <a:r>
              <a:rPr lang="pl-PL" sz="1200" dirty="0">
                <a:solidFill>
                  <a:srgbClr val="CCCCCC"/>
                </a:solidFill>
                <a:latin typeface="Consolas" panose="020B0609020204030204" pitchFamily="49" charset="0"/>
              </a:rPr>
              <a:t>:</a:t>
            </a:r>
          </a:p>
          <a:p>
            <a:pPr>
              <a:lnSpc>
                <a:spcPts val="1200"/>
              </a:lnSpc>
            </a:pPr>
            <a:r>
              <a:rPr lang="pl-PL" sz="1200" dirty="0">
                <a:solidFill>
                  <a:srgbClr val="CCCCCC"/>
                </a:solidFill>
                <a:latin typeface="Consolas" panose="020B0609020204030204" pitchFamily="49" charset="0"/>
              </a:rPr>
              <a:t>        </a:t>
            </a:r>
            <a:r>
              <a:rPr lang="pl-PL" sz="1200" dirty="0">
                <a:solidFill>
                  <a:srgbClr val="CE9178"/>
                </a:solidFill>
                <a:latin typeface="Consolas" panose="020B0609020204030204" pitchFamily="49" charset="0"/>
              </a:rPr>
              <a:t>"""Aktualizacja orientacji przez całkowanie żyroskopu"""</a:t>
            </a:r>
            <a:endParaRPr lang="pl-PL" sz="1200" dirty="0">
              <a:solidFill>
                <a:srgbClr val="CCCCCC"/>
              </a:solidFill>
              <a:latin typeface="Consolas" panose="020B0609020204030204" pitchFamily="49" charset="0"/>
            </a:endParaRPr>
          </a:p>
          <a:p>
            <a:pPr>
              <a:lnSpc>
                <a:spcPts val="1200"/>
              </a:lnSpc>
            </a:pPr>
            <a:r>
              <a:rPr lang="pl-PL" sz="1200" dirty="0">
                <a:solidFill>
                  <a:srgbClr val="CCCCCC"/>
                </a:solidFill>
                <a:latin typeface="Consolas" panose="020B0609020204030204" pitchFamily="49" charset="0"/>
              </a:rPr>
              <a:t>        </a:t>
            </a:r>
            <a:r>
              <a:rPr lang="pl-PL" sz="1200" dirty="0">
                <a:solidFill>
                  <a:srgbClr val="6A9955"/>
                </a:solidFill>
                <a:latin typeface="Consolas" panose="020B0609020204030204" pitchFamily="49" charset="0"/>
              </a:rPr>
              <a:t># </a:t>
            </a:r>
            <a:r>
              <a:rPr lang="pl-PL" sz="1200" dirty="0" err="1">
                <a:solidFill>
                  <a:srgbClr val="6A9955"/>
                </a:solidFill>
                <a:latin typeface="Consolas" panose="020B0609020204030204" pitchFamily="49" charset="0"/>
              </a:rPr>
              <a:t>gyro_xyz</a:t>
            </a:r>
            <a:r>
              <a:rPr lang="pl-PL" sz="1200" dirty="0">
                <a:solidFill>
                  <a:srgbClr val="6A9955"/>
                </a:solidFill>
                <a:latin typeface="Consolas" panose="020B0609020204030204" pitchFamily="49" charset="0"/>
              </a:rPr>
              <a:t> = [</a:t>
            </a:r>
            <a:r>
              <a:rPr lang="pl-PL" sz="1200" dirty="0" err="1">
                <a:solidFill>
                  <a:srgbClr val="6A9955"/>
                </a:solidFill>
                <a:latin typeface="Consolas" panose="020B0609020204030204" pitchFamily="49" charset="0"/>
              </a:rPr>
              <a:t>omega_x</a:t>
            </a:r>
            <a:r>
              <a:rPr lang="pl-PL" sz="1200" dirty="0">
                <a:solidFill>
                  <a:srgbClr val="6A9955"/>
                </a:solidFill>
                <a:latin typeface="Consolas" panose="020B0609020204030204" pitchFamily="49" charset="0"/>
              </a:rPr>
              <a:t>, </a:t>
            </a:r>
            <a:r>
              <a:rPr lang="pl-PL" sz="1200" dirty="0" err="1">
                <a:solidFill>
                  <a:srgbClr val="6A9955"/>
                </a:solidFill>
                <a:latin typeface="Consolas" panose="020B0609020204030204" pitchFamily="49" charset="0"/>
              </a:rPr>
              <a:t>omega_y</a:t>
            </a:r>
            <a:r>
              <a:rPr lang="pl-PL" sz="1200" dirty="0">
                <a:solidFill>
                  <a:srgbClr val="6A9955"/>
                </a:solidFill>
                <a:latin typeface="Consolas" panose="020B0609020204030204" pitchFamily="49" charset="0"/>
              </a:rPr>
              <a:t>, </a:t>
            </a:r>
            <a:r>
              <a:rPr lang="pl-PL" sz="1200" dirty="0" err="1">
                <a:solidFill>
                  <a:srgbClr val="6A9955"/>
                </a:solidFill>
                <a:latin typeface="Consolas" panose="020B0609020204030204" pitchFamily="49" charset="0"/>
              </a:rPr>
              <a:t>omega_z</a:t>
            </a:r>
            <a:r>
              <a:rPr lang="pl-PL" sz="1200" dirty="0">
                <a:solidFill>
                  <a:srgbClr val="6A9955"/>
                </a:solidFill>
                <a:latin typeface="Consolas" panose="020B0609020204030204" pitchFamily="49" charset="0"/>
              </a:rPr>
              <a:t>] w rad/s</a:t>
            </a:r>
            <a:endParaRPr lang="pl-PL" sz="1200" dirty="0">
              <a:solidFill>
                <a:srgbClr val="CCCCCC"/>
              </a:solidFill>
              <a:latin typeface="Consolas" panose="020B0609020204030204" pitchFamily="49" charset="0"/>
            </a:endParaRPr>
          </a:p>
          <a:p>
            <a:pPr>
              <a:lnSpc>
                <a:spcPts val="1200"/>
              </a:lnSpc>
            </a:pPr>
            <a:r>
              <a:rPr lang="pl-PL" sz="1200" dirty="0">
                <a:solidFill>
                  <a:srgbClr val="CCCCCC"/>
                </a:solidFill>
                <a:latin typeface="Consolas" panose="020B0609020204030204" pitchFamily="49" charset="0"/>
              </a:rPr>
              <a:t>        </a:t>
            </a:r>
            <a:r>
              <a:rPr lang="pl-PL" sz="1200" dirty="0" err="1">
                <a:solidFill>
                  <a:srgbClr val="569CD6"/>
                </a:solidFill>
                <a:latin typeface="Consolas" panose="020B0609020204030204" pitchFamily="49" charset="0"/>
              </a:rPr>
              <a:t>self</a:t>
            </a:r>
            <a:r>
              <a:rPr lang="pl-PL" sz="1200" dirty="0" err="1">
                <a:solidFill>
                  <a:srgbClr val="CCCCCC"/>
                </a:solidFill>
                <a:latin typeface="Consolas" panose="020B0609020204030204" pitchFamily="49" charset="0"/>
              </a:rPr>
              <a:t>.roll</a:t>
            </a:r>
            <a:r>
              <a:rPr lang="pl-PL" sz="1200" dirty="0">
                <a:solidFill>
                  <a:srgbClr val="CCCCCC"/>
                </a:solidFill>
                <a:latin typeface="Consolas" panose="020B0609020204030204" pitchFamily="49" charset="0"/>
              </a:rPr>
              <a:t>  </a:t>
            </a:r>
            <a:r>
              <a:rPr lang="pl-PL" sz="1200" dirty="0">
                <a:solidFill>
                  <a:srgbClr val="D4D4D4"/>
                </a:solidFill>
                <a:latin typeface="Consolas" panose="020B0609020204030204" pitchFamily="49" charset="0"/>
              </a:rPr>
              <a:t>+=</a:t>
            </a:r>
            <a:r>
              <a:rPr lang="pl-PL" sz="1200" dirty="0">
                <a:solidFill>
                  <a:srgbClr val="CCCCCC"/>
                </a:solidFill>
                <a:latin typeface="Consolas" panose="020B0609020204030204" pitchFamily="49" charset="0"/>
              </a:rPr>
              <a:t> </a:t>
            </a:r>
            <a:r>
              <a:rPr lang="pl-PL" sz="1200" dirty="0" err="1">
                <a:solidFill>
                  <a:srgbClr val="CCCCCC"/>
                </a:solidFill>
                <a:latin typeface="Consolas" panose="020B0609020204030204" pitchFamily="49" charset="0"/>
              </a:rPr>
              <a:t>gyro_xyz</a:t>
            </a:r>
            <a:r>
              <a:rPr lang="pl-PL" sz="1200" dirty="0">
                <a:solidFill>
                  <a:srgbClr val="CCCCCC"/>
                </a:solidFill>
                <a:latin typeface="Consolas" panose="020B0609020204030204" pitchFamily="49" charset="0"/>
              </a:rPr>
              <a:t>[</a:t>
            </a:r>
            <a:r>
              <a:rPr lang="pl-PL" sz="1200" dirty="0">
                <a:solidFill>
                  <a:srgbClr val="B5CEA8"/>
                </a:solidFill>
                <a:latin typeface="Consolas" panose="020B0609020204030204" pitchFamily="49" charset="0"/>
              </a:rPr>
              <a:t>0</a:t>
            </a:r>
            <a:r>
              <a:rPr lang="pl-PL" sz="1200" dirty="0">
                <a:solidFill>
                  <a:srgbClr val="CCCCCC"/>
                </a:solidFill>
                <a:latin typeface="Consolas" panose="020B0609020204030204" pitchFamily="49" charset="0"/>
              </a:rPr>
              <a:t>] </a:t>
            </a:r>
            <a:r>
              <a:rPr lang="pl-PL" sz="1200" dirty="0">
                <a:solidFill>
                  <a:srgbClr val="D4D4D4"/>
                </a:solidFill>
                <a:latin typeface="Consolas" panose="020B0609020204030204" pitchFamily="49" charset="0"/>
              </a:rPr>
              <a:t>*</a:t>
            </a:r>
            <a:r>
              <a:rPr lang="pl-PL" sz="1200" dirty="0">
                <a:solidFill>
                  <a:srgbClr val="CCCCCC"/>
                </a:solidFill>
                <a:latin typeface="Consolas" panose="020B0609020204030204" pitchFamily="49" charset="0"/>
              </a:rPr>
              <a:t> </a:t>
            </a:r>
            <a:r>
              <a:rPr lang="pl-PL" sz="1200" dirty="0" err="1">
                <a:solidFill>
                  <a:srgbClr val="CCCCCC"/>
                </a:solidFill>
                <a:latin typeface="Consolas" panose="020B0609020204030204" pitchFamily="49" charset="0"/>
              </a:rPr>
              <a:t>dt</a:t>
            </a:r>
            <a:endParaRPr lang="pl-PL" sz="1200" dirty="0">
              <a:solidFill>
                <a:srgbClr val="CCCCCC"/>
              </a:solidFill>
              <a:latin typeface="Consolas" panose="020B0609020204030204" pitchFamily="49" charset="0"/>
            </a:endParaRPr>
          </a:p>
          <a:p>
            <a:pPr>
              <a:lnSpc>
                <a:spcPts val="1200"/>
              </a:lnSpc>
            </a:pPr>
            <a:r>
              <a:rPr lang="pl-PL" sz="1200" dirty="0">
                <a:solidFill>
                  <a:srgbClr val="CCCCCC"/>
                </a:solidFill>
                <a:latin typeface="Consolas" panose="020B0609020204030204" pitchFamily="49" charset="0"/>
              </a:rPr>
              <a:t>        </a:t>
            </a:r>
            <a:r>
              <a:rPr lang="pl-PL" sz="1200" dirty="0" err="1">
                <a:solidFill>
                  <a:srgbClr val="569CD6"/>
                </a:solidFill>
                <a:latin typeface="Consolas" panose="020B0609020204030204" pitchFamily="49" charset="0"/>
              </a:rPr>
              <a:t>self</a:t>
            </a:r>
            <a:r>
              <a:rPr lang="pl-PL" sz="1200" dirty="0" err="1">
                <a:solidFill>
                  <a:srgbClr val="CCCCCC"/>
                </a:solidFill>
                <a:latin typeface="Consolas" panose="020B0609020204030204" pitchFamily="49" charset="0"/>
              </a:rPr>
              <a:t>.pitch</a:t>
            </a:r>
            <a:r>
              <a:rPr lang="pl-PL" sz="1200" dirty="0">
                <a:solidFill>
                  <a:srgbClr val="CCCCCC"/>
                </a:solidFill>
                <a:latin typeface="Consolas" panose="020B0609020204030204" pitchFamily="49" charset="0"/>
              </a:rPr>
              <a:t> </a:t>
            </a:r>
            <a:r>
              <a:rPr lang="pl-PL" sz="1200" dirty="0">
                <a:solidFill>
                  <a:srgbClr val="D4D4D4"/>
                </a:solidFill>
                <a:latin typeface="Consolas" panose="020B0609020204030204" pitchFamily="49" charset="0"/>
              </a:rPr>
              <a:t>+=</a:t>
            </a:r>
            <a:r>
              <a:rPr lang="pl-PL" sz="1200" dirty="0">
                <a:solidFill>
                  <a:srgbClr val="CCCCCC"/>
                </a:solidFill>
                <a:latin typeface="Consolas" panose="020B0609020204030204" pitchFamily="49" charset="0"/>
              </a:rPr>
              <a:t> </a:t>
            </a:r>
            <a:r>
              <a:rPr lang="pl-PL" sz="1200" dirty="0" err="1">
                <a:solidFill>
                  <a:srgbClr val="CCCCCC"/>
                </a:solidFill>
                <a:latin typeface="Consolas" panose="020B0609020204030204" pitchFamily="49" charset="0"/>
              </a:rPr>
              <a:t>gyro_xyz</a:t>
            </a:r>
            <a:r>
              <a:rPr lang="pl-PL" sz="1200" dirty="0">
                <a:solidFill>
                  <a:srgbClr val="CCCCCC"/>
                </a:solidFill>
                <a:latin typeface="Consolas" panose="020B0609020204030204" pitchFamily="49" charset="0"/>
              </a:rPr>
              <a:t>[</a:t>
            </a:r>
            <a:r>
              <a:rPr lang="pl-PL" sz="1200" dirty="0">
                <a:solidFill>
                  <a:srgbClr val="B5CEA8"/>
                </a:solidFill>
                <a:latin typeface="Consolas" panose="020B0609020204030204" pitchFamily="49" charset="0"/>
              </a:rPr>
              <a:t>1</a:t>
            </a:r>
            <a:r>
              <a:rPr lang="pl-PL" sz="1200" dirty="0">
                <a:solidFill>
                  <a:srgbClr val="CCCCCC"/>
                </a:solidFill>
                <a:latin typeface="Consolas" panose="020B0609020204030204" pitchFamily="49" charset="0"/>
              </a:rPr>
              <a:t>] </a:t>
            </a:r>
            <a:r>
              <a:rPr lang="pl-PL" sz="1200" dirty="0">
                <a:solidFill>
                  <a:srgbClr val="D4D4D4"/>
                </a:solidFill>
                <a:latin typeface="Consolas" panose="020B0609020204030204" pitchFamily="49" charset="0"/>
              </a:rPr>
              <a:t>*</a:t>
            </a:r>
            <a:r>
              <a:rPr lang="pl-PL" sz="1200" dirty="0">
                <a:solidFill>
                  <a:srgbClr val="CCCCCC"/>
                </a:solidFill>
                <a:latin typeface="Consolas" panose="020B0609020204030204" pitchFamily="49" charset="0"/>
              </a:rPr>
              <a:t> </a:t>
            </a:r>
            <a:r>
              <a:rPr lang="pl-PL" sz="1200" dirty="0" err="1">
                <a:solidFill>
                  <a:srgbClr val="CCCCCC"/>
                </a:solidFill>
                <a:latin typeface="Consolas" panose="020B0609020204030204" pitchFamily="49" charset="0"/>
              </a:rPr>
              <a:t>dt</a:t>
            </a:r>
            <a:endParaRPr lang="pl-PL" sz="1200" dirty="0">
              <a:solidFill>
                <a:srgbClr val="CCCCCC"/>
              </a:solidFill>
              <a:latin typeface="Consolas" panose="020B0609020204030204" pitchFamily="49" charset="0"/>
            </a:endParaRPr>
          </a:p>
          <a:p>
            <a:pPr>
              <a:lnSpc>
                <a:spcPts val="1200"/>
              </a:lnSpc>
            </a:pPr>
            <a:r>
              <a:rPr lang="pl-PL" sz="1200" dirty="0">
                <a:solidFill>
                  <a:srgbClr val="CCCCCC"/>
                </a:solidFill>
                <a:latin typeface="Consolas" panose="020B0609020204030204" pitchFamily="49" charset="0"/>
              </a:rPr>
              <a:t>        </a:t>
            </a:r>
            <a:r>
              <a:rPr lang="pl-PL" sz="1200" dirty="0" err="1">
                <a:solidFill>
                  <a:srgbClr val="569CD6"/>
                </a:solidFill>
                <a:latin typeface="Consolas" panose="020B0609020204030204" pitchFamily="49" charset="0"/>
              </a:rPr>
              <a:t>self</a:t>
            </a:r>
            <a:r>
              <a:rPr lang="pl-PL" sz="1200" dirty="0" err="1">
                <a:solidFill>
                  <a:srgbClr val="CCCCCC"/>
                </a:solidFill>
                <a:latin typeface="Consolas" panose="020B0609020204030204" pitchFamily="49" charset="0"/>
              </a:rPr>
              <a:t>.yaw</a:t>
            </a:r>
            <a:r>
              <a:rPr lang="pl-PL" sz="1200" dirty="0">
                <a:solidFill>
                  <a:srgbClr val="CCCCCC"/>
                </a:solidFill>
                <a:latin typeface="Consolas" panose="020B0609020204030204" pitchFamily="49" charset="0"/>
              </a:rPr>
              <a:t>   </a:t>
            </a:r>
            <a:r>
              <a:rPr lang="pl-PL" sz="1200" dirty="0">
                <a:solidFill>
                  <a:srgbClr val="D4D4D4"/>
                </a:solidFill>
                <a:latin typeface="Consolas" panose="020B0609020204030204" pitchFamily="49" charset="0"/>
              </a:rPr>
              <a:t>+=</a:t>
            </a:r>
            <a:r>
              <a:rPr lang="pl-PL" sz="1200" dirty="0">
                <a:solidFill>
                  <a:srgbClr val="CCCCCC"/>
                </a:solidFill>
                <a:latin typeface="Consolas" panose="020B0609020204030204" pitchFamily="49" charset="0"/>
              </a:rPr>
              <a:t> </a:t>
            </a:r>
            <a:r>
              <a:rPr lang="pl-PL" sz="1200" dirty="0" err="1">
                <a:solidFill>
                  <a:srgbClr val="CCCCCC"/>
                </a:solidFill>
                <a:latin typeface="Consolas" panose="020B0609020204030204" pitchFamily="49" charset="0"/>
              </a:rPr>
              <a:t>gyro_xyz</a:t>
            </a:r>
            <a:r>
              <a:rPr lang="pl-PL" sz="1200" dirty="0">
                <a:solidFill>
                  <a:srgbClr val="CCCCCC"/>
                </a:solidFill>
                <a:latin typeface="Consolas" panose="020B0609020204030204" pitchFamily="49" charset="0"/>
              </a:rPr>
              <a:t>[</a:t>
            </a:r>
            <a:r>
              <a:rPr lang="pl-PL" sz="1200" dirty="0">
                <a:solidFill>
                  <a:srgbClr val="B5CEA8"/>
                </a:solidFill>
                <a:latin typeface="Consolas" panose="020B0609020204030204" pitchFamily="49" charset="0"/>
              </a:rPr>
              <a:t>2</a:t>
            </a:r>
            <a:r>
              <a:rPr lang="pl-PL" sz="1200" dirty="0">
                <a:solidFill>
                  <a:srgbClr val="CCCCCC"/>
                </a:solidFill>
                <a:latin typeface="Consolas" panose="020B0609020204030204" pitchFamily="49" charset="0"/>
              </a:rPr>
              <a:t>] </a:t>
            </a:r>
            <a:r>
              <a:rPr lang="pl-PL" sz="1200" dirty="0">
                <a:solidFill>
                  <a:srgbClr val="D4D4D4"/>
                </a:solidFill>
                <a:latin typeface="Consolas" panose="020B0609020204030204" pitchFamily="49" charset="0"/>
              </a:rPr>
              <a:t>*</a:t>
            </a:r>
            <a:r>
              <a:rPr lang="pl-PL" sz="1200" dirty="0">
                <a:solidFill>
                  <a:srgbClr val="CCCCCC"/>
                </a:solidFill>
                <a:latin typeface="Consolas" panose="020B0609020204030204" pitchFamily="49" charset="0"/>
              </a:rPr>
              <a:t> </a:t>
            </a:r>
            <a:r>
              <a:rPr lang="pl-PL" sz="1200" dirty="0" err="1">
                <a:solidFill>
                  <a:srgbClr val="CCCCCC"/>
                </a:solidFill>
                <a:latin typeface="Consolas" panose="020B0609020204030204" pitchFamily="49" charset="0"/>
              </a:rPr>
              <a:t>dt</a:t>
            </a:r>
            <a:endParaRPr lang="pl-PL" sz="1200" dirty="0">
              <a:solidFill>
                <a:srgbClr val="CCCCCC"/>
              </a:solidFill>
              <a:latin typeface="Consolas" panose="020B0609020204030204" pitchFamily="49" charset="0"/>
            </a:endParaRPr>
          </a:p>
          <a:p>
            <a:pPr>
              <a:lnSpc>
                <a:spcPts val="1200"/>
              </a:lnSpc>
            </a:pPr>
            <a:r>
              <a:rPr lang="pl-PL" sz="1200" dirty="0">
                <a:solidFill>
                  <a:srgbClr val="CCCCCC"/>
                </a:solidFill>
                <a:latin typeface="Consolas" panose="020B0609020204030204" pitchFamily="49" charset="0"/>
              </a:rPr>
              <a:t>        </a:t>
            </a:r>
            <a:r>
              <a:rPr lang="pl-PL" sz="1200" dirty="0">
                <a:solidFill>
                  <a:srgbClr val="C586C0"/>
                </a:solidFill>
                <a:latin typeface="Consolas" panose="020B0609020204030204" pitchFamily="49" charset="0"/>
              </a:rPr>
              <a:t>return</a:t>
            </a:r>
            <a:r>
              <a:rPr lang="pl-PL" sz="1200" dirty="0">
                <a:solidFill>
                  <a:srgbClr val="CCCCCC"/>
                </a:solidFill>
                <a:latin typeface="Consolas" panose="020B0609020204030204" pitchFamily="49" charset="0"/>
              </a:rPr>
              <a:t> </a:t>
            </a:r>
            <a:r>
              <a:rPr lang="pl-PL" sz="1200" dirty="0" err="1">
                <a:solidFill>
                  <a:srgbClr val="569CD6"/>
                </a:solidFill>
                <a:latin typeface="Consolas" panose="020B0609020204030204" pitchFamily="49" charset="0"/>
              </a:rPr>
              <a:t>self</a:t>
            </a:r>
            <a:r>
              <a:rPr lang="pl-PL" sz="1200" dirty="0" err="1">
                <a:solidFill>
                  <a:srgbClr val="CCCCCC"/>
                </a:solidFill>
                <a:latin typeface="Consolas" panose="020B0609020204030204" pitchFamily="49" charset="0"/>
              </a:rPr>
              <a:t>.roll</a:t>
            </a:r>
            <a:r>
              <a:rPr lang="pl-PL" sz="1200" dirty="0">
                <a:solidFill>
                  <a:srgbClr val="CCCCCC"/>
                </a:solidFill>
                <a:latin typeface="Consolas" panose="020B0609020204030204" pitchFamily="49" charset="0"/>
              </a:rPr>
              <a:t>, </a:t>
            </a:r>
            <a:r>
              <a:rPr lang="pl-PL" sz="1200" dirty="0" err="1">
                <a:solidFill>
                  <a:srgbClr val="569CD6"/>
                </a:solidFill>
                <a:latin typeface="Consolas" panose="020B0609020204030204" pitchFamily="49" charset="0"/>
              </a:rPr>
              <a:t>self</a:t>
            </a:r>
            <a:r>
              <a:rPr lang="pl-PL" sz="1200" dirty="0" err="1">
                <a:solidFill>
                  <a:srgbClr val="CCCCCC"/>
                </a:solidFill>
                <a:latin typeface="Consolas" panose="020B0609020204030204" pitchFamily="49" charset="0"/>
              </a:rPr>
              <a:t>.pitch</a:t>
            </a:r>
            <a:r>
              <a:rPr lang="pl-PL" sz="1200" dirty="0">
                <a:solidFill>
                  <a:srgbClr val="CCCCCC"/>
                </a:solidFill>
                <a:latin typeface="Consolas" panose="020B0609020204030204" pitchFamily="49" charset="0"/>
              </a:rPr>
              <a:t>, </a:t>
            </a:r>
            <a:r>
              <a:rPr lang="pl-PL" sz="1200" dirty="0" err="1">
                <a:solidFill>
                  <a:srgbClr val="569CD6"/>
                </a:solidFill>
                <a:latin typeface="Consolas" panose="020B0609020204030204" pitchFamily="49" charset="0"/>
              </a:rPr>
              <a:t>self</a:t>
            </a:r>
            <a:r>
              <a:rPr lang="pl-PL" sz="1200" dirty="0" err="1">
                <a:solidFill>
                  <a:srgbClr val="CCCCCC"/>
                </a:solidFill>
                <a:latin typeface="Consolas" panose="020B0609020204030204" pitchFamily="49" charset="0"/>
              </a:rPr>
              <a:t>.yaw</a:t>
            </a:r>
            <a:endParaRPr lang="pl-PL" sz="1200" dirty="0">
              <a:solidFill>
                <a:srgbClr val="CCCCCC"/>
              </a:solidFill>
              <a:latin typeface="Consolas" panose="020B0609020204030204" pitchFamily="49" charset="0"/>
            </a:endParaRPr>
          </a:p>
          <a:p>
            <a:pPr>
              <a:lnSpc>
                <a:spcPts val="1200"/>
              </a:lnSpc>
            </a:pPr>
            <a:r>
              <a:rPr lang="pl-PL" sz="1200" dirty="0">
                <a:solidFill>
                  <a:srgbClr val="CCCCCC"/>
                </a:solidFill>
                <a:latin typeface="Consolas" panose="020B0609020204030204" pitchFamily="49" charset="0"/>
              </a:rPr>
              <a:t/>
            </a:r>
            <a:br>
              <a:rPr lang="pl-PL" sz="1200" dirty="0">
                <a:solidFill>
                  <a:srgbClr val="CCCCCC"/>
                </a:solidFill>
                <a:latin typeface="Consolas" panose="020B0609020204030204" pitchFamily="49" charset="0"/>
              </a:rPr>
            </a:br>
            <a:r>
              <a:rPr lang="pl-PL" sz="1200" dirty="0">
                <a:solidFill>
                  <a:srgbClr val="6A9955"/>
                </a:solidFill>
                <a:latin typeface="Consolas" panose="020B0609020204030204" pitchFamily="49" charset="0"/>
              </a:rPr>
              <a:t># Przykład użycia:</a:t>
            </a:r>
            <a:endParaRPr lang="pl-PL" sz="1200" dirty="0">
              <a:solidFill>
                <a:srgbClr val="CCCCCC"/>
              </a:solidFill>
              <a:latin typeface="Consolas" panose="020B0609020204030204" pitchFamily="49" charset="0"/>
            </a:endParaRPr>
          </a:p>
          <a:p>
            <a:pPr>
              <a:lnSpc>
                <a:spcPts val="1200"/>
              </a:lnSpc>
            </a:pPr>
            <a:r>
              <a:rPr lang="pl-PL" sz="1200" dirty="0">
                <a:solidFill>
                  <a:srgbClr val="9CDCFE"/>
                </a:solidFill>
                <a:latin typeface="Consolas" panose="020B0609020204030204" pitchFamily="49" charset="0"/>
              </a:rPr>
              <a:t>integrator</a:t>
            </a:r>
            <a:r>
              <a:rPr lang="pl-PL" sz="1200" dirty="0">
                <a:solidFill>
                  <a:srgbClr val="CCCCCC"/>
                </a:solidFill>
                <a:latin typeface="Consolas" panose="020B0609020204030204" pitchFamily="49" charset="0"/>
              </a:rPr>
              <a:t> </a:t>
            </a:r>
            <a:r>
              <a:rPr lang="pl-PL" sz="1200" dirty="0">
                <a:solidFill>
                  <a:srgbClr val="D4D4D4"/>
                </a:solidFill>
                <a:latin typeface="Consolas" panose="020B0609020204030204" pitchFamily="49" charset="0"/>
              </a:rPr>
              <a:t>=</a:t>
            </a:r>
            <a:r>
              <a:rPr lang="pl-PL" sz="1200" dirty="0">
                <a:solidFill>
                  <a:srgbClr val="CCCCCC"/>
                </a:solidFill>
                <a:latin typeface="Consolas" panose="020B0609020204030204" pitchFamily="49" charset="0"/>
              </a:rPr>
              <a:t> </a:t>
            </a:r>
            <a:r>
              <a:rPr lang="pl-PL" sz="1200" dirty="0" err="1">
                <a:solidFill>
                  <a:srgbClr val="CCCCCC"/>
                </a:solidFill>
                <a:latin typeface="Consolas" panose="020B0609020204030204" pitchFamily="49" charset="0"/>
              </a:rPr>
              <a:t>ImuIntegrator</a:t>
            </a:r>
            <a:r>
              <a:rPr lang="pl-PL" sz="1200" dirty="0">
                <a:solidFill>
                  <a:srgbClr val="CCCCCC"/>
                </a:solidFill>
                <a:latin typeface="Consolas" panose="020B0609020204030204" pitchFamily="49" charset="0"/>
              </a:rPr>
              <a:t>()</a:t>
            </a:r>
          </a:p>
          <a:p>
            <a:pPr>
              <a:lnSpc>
                <a:spcPts val="1200"/>
              </a:lnSpc>
            </a:pPr>
            <a:r>
              <a:rPr lang="pl-PL" sz="1200" dirty="0" err="1">
                <a:solidFill>
                  <a:srgbClr val="9CDCFE"/>
                </a:solidFill>
                <a:latin typeface="Consolas" panose="020B0609020204030204" pitchFamily="49" charset="0"/>
              </a:rPr>
              <a:t>roll</a:t>
            </a:r>
            <a:r>
              <a:rPr lang="pl-PL" sz="1200" dirty="0">
                <a:solidFill>
                  <a:srgbClr val="CCCCCC"/>
                </a:solidFill>
                <a:latin typeface="Consolas" panose="020B0609020204030204" pitchFamily="49" charset="0"/>
              </a:rPr>
              <a:t>, </a:t>
            </a:r>
            <a:r>
              <a:rPr lang="pl-PL" sz="1200" dirty="0" err="1">
                <a:solidFill>
                  <a:srgbClr val="9CDCFE"/>
                </a:solidFill>
                <a:latin typeface="Consolas" panose="020B0609020204030204" pitchFamily="49" charset="0"/>
              </a:rPr>
              <a:t>pitch</a:t>
            </a:r>
            <a:r>
              <a:rPr lang="pl-PL" sz="1200" dirty="0">
                <a:solidFill>
                  <a:srgbClr val="CCCCCC"/>
                </a:solidFill>
                <a:latin typeface="Consolas" panose="020B0609020204030204" pitchFamily="49" charset="0"/>
              </a:rPr>
              <a:t>, </a:t>
            </a:r>
            <a:r>
              <a:rPr lang="pl-PL" sz="1200" dirty="0" err="1">
                <a:solidFill>
                  <a:srgbClr val="9CDCFE"/>
                </a:solidFill>
                <a:latin typeface="Consolas" panose="020B0609020204030204" pitchFamily="49" charset="0"/>
              </a:rPr>
              <a:t>yaw</a:t>
            </a:r>
            <a:r>
              <a:rPr lang="pl-PL" sz="1200" dirty="0">
                <a:solidFill>
                  <a:srgbClr val="CCCCCC"/>
                </a:solidFill>
                <a:latin typeface="Consolas" panose="020B0609020204030204" pitchFamily="49" charset="0"/>
              </a:rPr>
              <a:t> </a:t>
            </a:r>
            <a:r>
              <a:rPr lang="pl-PL" sz="1200" dirty="0">
                <a:solidFill>
                  <a:srgbClr val="D4D4D4"/>
                </a:solidFill>
                <a:latin typeface="Consolas" panose="020B0609020204030204" pitchFamily="49" charset="0"/>
              </a:rPr>
              <a:t>=</a:t>
            </a:r>
            <a:r>
              <a:rPr lang="pl-PL" sz="1200" dirty="0">
                <a:solidFill>
                  <a:srgbClr val="CCCCCC"/>
                </a:solidFill>
                <a:latin typeface="Consolas" panose="020B0609020204030204" pitchFamily="49" charset="0"/>
              </a:rPr>
              <a:t> </a:t>
            </a:r>
            <a:r>
              <a:rPr lang="pl-PL" sz="1200" dirty="0" err="1">
                <a:solidFill>
                  <a:srgbClr val="9CDCFE"/>
                </a:solidFill>
                <a:latin typeface="Consolas" panose="020B0609020204030204" pitchFamily="49" charset="0"/>
              </a:rPr>
              <a:t>integrator</a:t>
            </a:r>
            <a:r>
              <a:rPr lang="pl-PL" sz="1200" dirty="0" err="1">
                <a:solidFill>
                  <a:srgbClr val="CCCCCC"/>
                </a:solidFill>
                <a:latin typeface="Consolas" panose="020B0609020204030204" pitchFamily="49" charset="0"/>
              </a:rPr>
              <a:t>.update</a:t>
            </a:r>
            <a:r>
              <a:rPr lang="pl-PL" sz="1200" dirty="0">
                <a:solidFill>
                  <a:srgbClr val="CCCCCC"/>
                </a:solidFill>
                <a:latin typeface="Consolas" panose="020B0609020204030204" pitchFamily="49" charset="0"/>
              </a:rPr>
              <a:t>(</a:t>
            </a:r>
            <a:r>
              <a:rPr lang="pl-PL" sz="1200" dirty="0" err="1">
                <a:solidFill>
                  <a:srgbClr val="4EC9B0"/>
                </a:solidFill>
                <a:latin typeface="Consolas" panose="020B0609020204030204" pitchFamily="49" charset="0"/>
              </a:rPr>
              <a:t>np</a:t>
            </a:r>
            <a:r>
              <a:rPr lang="pl-PL" sz="1200" dirty="0" err="1">
                <a:solidFill>
                  <a:srgbClr val="CCCCCC"/>
                </a:solidFill>
                <a:latin typeface="Consolas" panose="020B0609020204030204" pitchFamily="49" charset="0"/>
              </a:rPr>
              <a:t>.</a:t>
            </a:r>
            <a:r>
              <a:rPr lang="pl-PL" sz="1200" dirty="0" err="1">
                <a:solidFill>
                  <a:srgbClr val="DCDCAA"/>
                </a:solidFill>
                <a:latin typeface="Consolas" panose="020B0609020204030204" pitchFamily="49" charset="0"/>
              </a:rPr>
              <a:t>array</a:t>
            </a:r>
            <a:r>
              <a:rPr lang="pl-PL" sz="1200" dirty="0">
                <a:solidFill>
                  <a:srgbClr val="CCCCCC"/>
                </a:solidFill>
                <a:latin typeface="Consolas" panose="020B0609020204030204" pitchFamily="49" charset="0"/>
              </a:rPr>
              <a:t>([</a:t>
            </a:r>
            <a:r>
              <a:rPr lang="pl-PL" sz="1200" dirty="0">
                <a:solidFill>
                  <a:srgbClr val="B5CEA8"/>
                </a:solidFill>
                <a:latin typeface="Consolas" panose="020B0609020204030204" pitchFamily="49" charset="0"/>
              </a:rPr>
              <a:t>0.01</a:t>
            </a:r>
            <a:r>
              <a:rPr lang="pl-PL" sz="1200" dirty="0">
                <a:solidFill>
                  <a:srgbClr val="CCCCCC"/>
                </a:solidFill>
                <a:latin typeface="Consolas" panose="020B0609020204030204" pitchFamily="49" charset="0"/>
              </a:rPr>
              <a:t>, </a:t>
            </a:r>
            <a:r>
              <a:rPr lang="pl-PL" sz="1200" dirty="0">
                <a:solidFill>
                  <a:srgbClr val="D4D4D4"/>
                </a:solidFill>
                <a:latin typeface="Consolas" panose="020B0609020204030204" pitchFamily="49" charset="0"/>
              </a:rPr>
              <a:t>-</a:t>
            </a:r>
            <a:r>
              <a:rPr lang="pl-PL" sz="1200" dirty="0">
                <a:solidFill>
                  <a:srgbClr val="B5CEA8"/>
                </a:solidFill>
                <a:latin typeface="Consolas" panose="020B0609020204030204" pitchFamily="49" charset="0"/>
              </a:rPr>
              <a:t>0.02</a:t>
            </a:r>
            <a:r>
              <a:rPr lang="pl-PL" sz="1200" dirty="0">
                <a:solidFill>
                  <a:srgbClr val="CCCCCC"/>
                </a:solidFill>
                <a:latin typeface="Consolas" panose="020B0609020204030204" pitchFamily="49" charset="0"/>
              </a:rPr>
              <a:t>, </a:t>
            </a:r>
            <a:r>
              <a:rPr lang="pl-PL" sz="1200" dirty="0">
                <a:solidFill>
                  <a:srgbClr val="B5CEA8"/>
                </a:solidFill>
                <a:latin typeface="Consolas" panose="020B0609020204030204" pitchFamily="49" charset="0"/>
              </a:rPr>
              <a:t>0.15</a:t>
            </a:r>
            <a:r>
              <a:rPr lang="pl-PL" sz="1200" dirty="0">
                <a:solidFill>
                  <a:srgbClr val="CCCCCC"/>
                </a:solidFill>
                <a:latin typeface="Consolas" panose="020B0609020204030204" pitchFamily="49" charset="0"/>
              </a:rPr>
              <a:t>]), </a:t>
            </a:r>
            <a:r>
              <a:rPr lang="pl-PL" sz="1200" dirty="0" err="1">
                <a:solidFill>
                  <a:srgbClr val="9CDCFE"/>
                </a:solidFill>
                <a:latin typeface="Consolas" panose="020B0609020204030204" pitchFamily="49" charset="0"/>
              </a:rPr>
              <a:t>dt</a:t>
            </a:r>
            <a:r>
              <a:rPr lang="pl-PL" sz="1200" dirty="0">
                <a:solidFill>
                  <a:srgbClr val="D4D4D4"/>
                </a:solidFill>
                <a:latin typeface="Consolas" panose="020B0609020204030204" pitchFamily="49" charset="0"/>
              </a:rPr>
              <a:t>=</a:t>
            </a:r>
            <a:r>
              <a:rPr lang="pl-PL" sz="1200" dirty="0">
                <a:solidFill>
                  <a:srgbClr val="B5CEA8"/>
                </a:solidFill>
                <a:latin typeface="Consolas" panose="020B0609020204030204" pitchFamily="49" charset="0"/>
              </a:rPr>
              <a:t>0.005</a:t>
            </a:r>
            <a:r>
              <a:rPr lang="pl-PL" sz="1200" dirty="0">
                <a:solidFill>
                  <a:srgbClr val="CCCCCC"/>
                </a:solidFill>
                <a:latin typeface="Consolas" panose="020B0609020204030204" pitchFamily="49" charset="0"/>
              </a:rPr>
              <a:t>)</a:t>
            </a:r>
            <a:endParaRPr lang="pl-PL" sz="1200" b="0" dirty="0">
              <a:solidFill>
                <a:srgbClr val="CCCCCC"/>
              </a:solidFill>
              <a:effectLst/>
              <a:latin typeface="Consolas" panose="020B0609020204030204" pitchFamily="49" charset="0"/>
            </a:endParaRPr>
          </a:p>
        </p:txBody>
      </p:sp>
      <p:sp>
        <p:nvSpPr>
          <p:cNvPr id="11" name="Shape 9"/>
          <p:cNvSpPr/>
          <p:nvPr/>
        </p:nvSpPr>
        <p:spPr>
          <a:xfrm>
            <a:off x="274320" y="4505092"/>
            <a:ext cx="8595360" cy="432668"/>
          </a:xfrm>
          <a:prstGeom prst="rect">
            <a:avLst/>
          </a:prstGeom>
          <a:solidFill>
            <a:srgbClr val="1A3550"/>
          </a:solidFill>
          <a:ln w="12700">
            <a:solidFill>
              <a:srgbClr val="0077A8"/>
            </a:solidFill>
            <a:prstDash val="solid"/>
          </a:ln>
        </p:spPr>
      </p:sp>
      <p:sp>
        <p:nvSpPr>
          <p:cNvPr id="12" name="Text 10"/>
          <p:cNvSpPr/>
          <p:nvPr/>
        </p:nvSpPr>
        <p:spPr>
          <a:xfrm>
            <a:off x="457200" y="4505092"/>
            <a:ext cx="8321040" cy="432667"/>
          </a:xfrm>
          <a:prstGeom prst="rect">
            <a:avLst/>
          </a:prstGeom>
          <a:noFill/>
          <a:ln/>
        </p:spPr>
        <p:txBody>
          <a:bodyPr wrap="square" lIns="0" tIns="0" rIns="127000" bIns="0" rtlCol="0" anchor="ctr"/>
          <a:lstStyle/>
          <a:p>
            <a:pPr marL="0" indent="0" algn="ctr">
              <a:buNone/>
            </a:pPr>
            <a:r>
              <a:rPr lang="en-US" sz="1600" b="1" dirty="0">
                <a:solidFill>
                  <a:srgbClr val="00B4D8"/>
                </a:solidFill>
                <a:latin typeface="Calibri" pitchFamily="34" charset="0"/>
                <a:ea typeface="Calibri" pitchFamily="34" charset="-122"/>
                <a:cs typeface="Calibri" pitchFamily="34" charset="-120"/>
              </a:rPr>
              <a:t>Opis: </a:t>
            </a:r>
            <a:r>
              <a:rPr lang="en-US" sz="1600" dirty="0">
                <a:solidFill>
                  <a:srgbClr val="E2EBF3"/>
                </a:solidFill>
                <a:latin typeface="Calibri" pitchFamily="34" charset="0"/>
                <a:ea typeface="Calibri" pitchFamily="34" charset="-122"/>
                <a:cs typeface="Calibri" pitchFamily="34" charset="-120"/>
              </a:rPr>
              <a:t>Proste całkowanie </a:t>
            </a:r>
            <a:r>
              <a:rPr lang="en-US" sz="1600" dirty="0" err="1">
                <a:solidFill>
                  <a:srgbClr val="E2EBF3"/>
                </a:solidFill>
                <a:latin typeface="Calibri" pitchFamily="34" charset="0"/>
                <a:ea typeface="Calibri" pitchFamily="34" charset="-122"/>
                <a:cs typeface="Calibri" pitchFamily="34" charset="-120"/>
              </a:rPr>
              <a:t>żyroskopu</a:t>
            </a:r>
            <a:r>
              <a:rPr lang="en-US" sz="1600" dirty="0">
                <a:solidFill>
                  <a:srgbClr val="E2EBF3"/>
                </a:solidFill>
                <a:latin typeface="Calibri" pitchFamily="34" charset="0"/>
                <a:ea typeface="Calibri" pitchFamily="34" charset="-122"/>
                <a:cs typeface="Calibri" pitchFamily="34" charset="-120"/>
              </a:rPr>
              <a:t> </a:t>
            </a:r>
            <a:r>
              <a:rPr lang="en-US" sz="1600" dirty="0" smtClean="0">
                <a:solidFill>
                  <a:srgbClr val="E2EBF3"/>
                </a:solidFill>
                <a:latin typeface="Calibri" pitchFamily="34" charset="0"/>
                <a:ea typeface="Calibri" pitchFamily="34" charset="-122"/>
                <a:cs typeface="Calibri" pitchFamily="34" charset="-120"/>
              </a:rPr>
              <a:t>–</a:t>
            </a:r>
            <a:r>
              <a:rPr lang="pl-PL" sz="1600" dirty="0" smtClean="0">
                <a:solidFill>
                  <a:srgbClr val="E2EBF3"/>
                </a:solidFill>
                <a:latin typeface="Calibri" pitchFamily="34" charset="0"/>
                <a:ea typeface="Calibri" pitchFamily="34" charset="-122"/>
                <a:cs typeface="Calibri" pitchFamily="34" charset="-120"/>
              </a:rPr>
              <a:t>&gt;</a:t>
            </a:r>
            <a:r>
              <a:rPr lang="en-US" sz="1600" dirty="0" smtClean="0">
                <a:solidFill>
                  <a:srgbClr val="E2EBF3"/>
                </a:solidFill>
                <a:latin typeface="Calibri" pitchFamily="34" charset="0"/>
                <a:ea typeface="Calibri" pitchFamily="34" charset="-122"/>
                <a:cs typeface="Calibri" pitchFamily="34" charset="-120"/>
              </a:rPr>
              <a:t> </a:t>
            </a:r>
            <a:r>
              <a:rPr lang="en-US" sz="1600" dirty="0">
                <a:solidFill>
                  <a:srgbClr val="E2EBF3"/>
                </a:solidFill>
                <a:latin typeface="Calibri" pitchFamily="34" charset="0"/>
                <a:ea typeface="Calibri" pitchFamily="34" charset="-122"/>
                <a:cs typeface="Calibri" pitchFamily="34" charset="-120"/>
              </a:rPr>
              <a:t>szybkie, lecz podatne na dryft bez </a:t>
            </a:r>
            <a:r>
              <a:rPr lang="pl-PL" sz="1600" dirty="0" smtClean="0">
                <a:solidFill>
                  <a:srgbClr val="E2EBF3"/>
                </a:solidFill>
                <a:latin typeface="Calibri" pitchFamily="34" charset="0"/>
                <a:ea typeface="Calibri" pitchFamily="34" charset="-122"/>
                <a:cs typeface="Calibri" pitchFamily="34" charset="-120"/>
              </a:rPr>
              <a:t>korekty</a:t>
            </a:r>
            <a:r>
              <a:rPr lang="en-US" sz="1600" dirty="0" smtClean="0">
                <a:solidFill>
                  <a:srgbClr val="E2EBF3"/>
                </a:solidFill>
                <a:latin typeface="Calibri" pitchFamily="34" charset="0"/>
                <a:ea typeface="Calibri" pitchFamily="34" charset="-122"/>
                <a:cs typeface="Calibri" pitchFamily="34" charset="-120"/>
              </a:rPr>
              <a:t> </a:t>
            </a:r>
            <a:r>
              <a:rPr lang="pl-PL" sz="1600" dirty="0" smtClean="0">
                <a:solidFill>
                  <a:srgbClr val="E2EBF3"/>
                </a:solidFill>
                <a:latin typeface="Calibri" pitchFamily="34" charset="0"/>
                <a:ea typeface="Calibri" pitchFamily="34" charset="-122"/>
                <a:cs typeface="Calibri" pitchFamily="34" charset="-120"/>
              </a:rPr>
              <a:t>zewnętrznej</a:t>
            </a:r>
            <a:endParaRPr lang="pl-PL" sz="1600" dirty="0"/>
          </a:p>
        </p:txBody>
      </p:sp>
      <p:sp>
        <p:nvSpPr>
          <p:cNvPr id="13" name="Shape 5"/>
          <p:cNvSpPr/>
          <p:nvPr/>
        </p:nvSpPr>
        <p:spPr>
          <a:xfrm>
            <a:off x="8105004" y="1115568"/>
            <a:ext cx="146304" cy="146304"/>
          </a:xfrm>
          <a:prstGeom prst="ellipse">
            <a:avLst/>
          </a:prstGeom>
          <a:solidFill>
            <a:srgbClr val="F72585"/>
          </a:solidFill>
          <a:ln w="12700">
            <a:solidFill>
              <a:srgbClr val="F72585"/>
            </a:solidFill>
            <a:prstDash val="solid"/>
          </a:ln>
        </p:spPr>
      </p:sp>
      <p:sp>
        <p:nvSpPr>
          <p:cNvPr id="14" name="Shape 6"/>
          <p:cNvSpPr/>
          <p:nvPr/>
        </p:nvSpPr>
        <p:spPr>
          <a:xfrm>
            <a:off x="8361036" y="1115568"/>
            <a:ext cx="146304" cy="146304"/>
          </a:xfrm>
          <a:prstGeom prst="ellipse">
            <a:avLst/>
          </a:prstGeom>
          <a:solidFill>
            <a:srgbClr val="FFD60A"/>
          </a:solidFill>
          <a:ln w="12700">
            <a:solidFill>
              <a:srgbClr val="FFD60A"/>
            </a:solidFill>
            <a:prstDash val="solid"/>
          </a:ln>
        </p:spPr>
      </p:sp>
      <p:sp>
        <p:nvSpPr>
          <p:cNvPr id="15" name="Shape 7"/>
          <p:cNvSpPr/>
          <p:nvPr/>
        </p:nvSpPr>
        <p:spPr>
          <a:xfrm>
            <a:off x="8617068" y="1115568"/>
            <a:ext cx="146304" cy="146304"/>
          </a:xfrm>
          <a:prstGeom prst="ellipse">
            <a:avLst/>
          </a:prstGeom>
          <a:solidFill>
            <a:srgbClr val="C3F584"/>
          </a:solidFill>
          <a:ln w="12700">
            <a:solidFill>
              <a:srgbClr val="C3F584"/>
            </a:solidFill>
            <a:prstDash val="solid"/>
          </a:ln>
        </p:spPr>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F2335"/>
        </a:solidFill>
        <a:effectLst/>
      </p:bgPr>
    </p:bg>
    <p:spTree>
      <p:nvGrpSpPr>
        <p:cNvPr id="1" name=""/>
        <p:cNvGrpSpPr/>
        <p:nvPr/>
      </p:nvGrpSpPr>
      <p:grpSpPr>
        <a:xfrm>
          <a:off x="0" y="0"/>
          <a:ext cx="0" cy="0"/>
          <a:chOff x="0" y="0"/>
          <a:chExt cx="0" cy="0"/>
        </a:xfrm>
      </p:grpSpPr>
      <p:sp>
        <p:nvSpPr>
          <p:cNvPr id="2" name="Shape 0"/>
          <p:cNvSpPr/>
          <p:nvPr/>
        </p:nvSpPr>
        <p:spPr>
          <a:xfrm>
            <a:off x="0" y="0"/>
            <a:ext cx="64008" cy="5143500"/>
          </a:xfrm>
          <a:prstGeom prst="rect">
            <a:avLst/>
          </a:prstGeom>
          <a:solidFill>
            <a:srgbClr val="F72585"/>
          </a:solidFill>
          <a:ln w="12700">
            <a:solidFill>
              <a:srgbClr val="F72585"/>
            </a:solidFill>
            <a:prstDash val="solid"/>
          </a:ln>
        </p:spPr>
      </p:sp>
      <p:sp>
        <p:nvSpPr>
          <p:cNvPr id="3" name="Shape 1"/>
          <p:cNvSpPr/>
          <p:nvPr/>
        </p:nvSpPr>
        <p:spPr>
          <a:xfrm>
            <a:off x="64008" y="0"/>
            <a:ext cx="9079992" cy="914400"/>
          </a:xfrm>
          <a:prstGeom prst="rect">
            <a:avLst/>
          </a:prstGeom>
          <a:solidFill>
            <a:srgbClr val="0D1B2A"/>
          </a:solidFill>
          <a:ln w="12700">
            <a:solidFill>
              <a:srgbClr val="0D1B2A"/>
            </a:solidFill>
            <a:prstDash val="solid"/>
          </a:ln>
        </p:spPr>
      </p:sp>
      <p:sp>
        <p:nvSpPr>
          <p:cNvPr id="4" name="Text 2"/>
          <p:cNvSpPr/>
          <p:nvPr/>
        </p:nvSpPr>
        <p:spPr>
          <a:xfrm>
            <a:off x="228600" y="73152"/>
            <a:ext cx="3657600" cy="256032"/>
          </a:xfrm>
          <a:prstGeom prst="rect">
            <a:avLst/>
          </a:prstGeom>
          <a:noFill/>
          <a:ln/>
        </p:spPr>
        <p:txBody>
          <a:bodyPr wrap="square" lIns="0" tIns="0" rIns="0" bIns="0" rtlCol="0" anchor="ctr"/>
          <a:lstStyle/>
          <a:p>
            <a:pPr marL="0" indent="0">
              <a:buNone/>
            </a:pPr>
            <a:r>
              <a:rPr lang="en-US" sz="900" b="1" kern="0" spc="200" dirty="0">
                <a:solidFill>
                  <a:srgbClr val="F72585"/>
                </a:solidFill>
                <a:latin typeface="Trebuchet MS" pitchFamily="34" charset="0"/>
                <a:ea typeface="Trebuchet MS" pitchFamily="34" charset="-122"/>
                <a:cs typeface="Trebuchet MS" pitchFamily="34" charset="-120"/>
              </a:rPr>
              <a:t>KOD PYTHON</a:t>
            </a:r>
            <a:endParaRPr lang="en-US" sz="900" dirty="0"/>
          </a:p>
        </p:txBody>
      </p:sp>
      <p:sp>
        <p:nvSpPr>
          <p:cNvPr id="5" name="Text 3"/>
          <p:cNvSpPr/>
          <p:nvPr/>
        </p:nvSpPr>
        <p:spPr>
          <a:xfrm>
            <a:off x="228600" y="292608"/>
            <a:ext cx="8686800" cy="548640"/>
          </a:xfrm>
          <a:prstGeom prst="rect">
            <a:avLst/>
          </a:prstGeom>
          <a:noFill/>
          <a:ln/>
        </p:spPr>
        <p:txBody>
          <a:bodyPr wrap="square" lIns="0" tIns="0" rIns="0" bIns="0" rtlCol="0" anchor="ctr"/>
          <a:lstStyle/>
          <a:p>
            <a:pPr marL="0" indent="0">
              <a:buNone/>
            </a:pPr>
            <a:r>
              <a:rPr lang="en-US" sz="2800" b="1" dirty="0">
                <a:solidFill>
                  <a:srgbClr val="FFFFFF"/>
                </a:solidFill>
                <a:latin typeface="Trebuchet MS" pitchFamily="34" charset="0"/>
                <a:ea typeface="Trebuchet MS" pitchFamily="34" charset="-122"/>
                <a:cs typeface="Trebuchet MS" pitchFamily="34" charset="-120"/>
              </a:rPr>
              <a:t>Odometria </a:t>
            </a:r>
            <a:r>
              <a:rPr lang="en-US" sz="2800" b="1" dirty="0" err="1">
                <a:solidFill>
                  <a:srgbClr val="FFFFFF"/>
                </a:solidFill>
                <a:latin typeface="Trebuchet MS" pitchFamily="34" charset="0"/>
                <a:ea typeface="Trebuchet MS" pitchFamily="34" charset="-122"/>
                <a:cs typeface="Trebuchet MS" pitchFamily="34" charset="-120"/>
              </a:rPr>
              <a:t>kroku</a:t>
            </a:r>
            <a:r>
              <a:rPr lang="en-US" sz="2800" b="1" dirty="0">
                <a:solidFill>
                  <a:srgbClr val="FFFFFF"/>
                </a:solidFill>
                <a:latin typeface="Trebuchet MS" pitchFamily="34" charset="0"/>
                <a:ea typeface="Trebuchet MS" pitchFamily="34" charset="-122"/>
                <a:cs typeface="Trebuchet MS" pitchFamily="34" charset="-120"/>
              </a:rPr>
              <a:t> </a:t>
            </a:r>
            <a:r>
              <a:rPr lang="pl-PL" sz="2800" b="1" dirty="0" smtClean="0">
                <a:solidFill>
                  <a:srgbClr val="FFFFFF"/>
                </a:solidFill>
                <a:latin typeface="Trebuchet MS" pitchFamily="34" charset="0"/>
                <a:ea typeface="Trebuchet MS" pitchFamily="34" charset="-122"/>
                <a:cs typeface="Trebuchet MS" pitchFamily="34" charset="-120"/>
              </a:rPr>
              <a:t>i</a:t>
            </a:r>
            <a:r>
              <a:rPr lang="en-US" sz="2800" b="1" dirty="0" smtClean="0">
                <a:solidFill>
                  <a:srgbClr val="FFFFFF"/>
                </a:solidFill>
                <a:latin typeface="Trebuchet MS" pitchFamily="34" charset="0"/>
                <a:ea typeface="Trebuchet MS" pitchFamily="34" charset="-122"/>
                <a:cs typeface="Trebuchet MS" pitchFamily="34" charset="-120"/>
              </a:rPr>
              <a:t> </a:t>
            </a:r>
            <a:r>
              <a:rPr lang="en-US" sz="2800" b="1" dirty="0">
                <a:solidFill>
                  <a:srgbClr val="FFFFFF"/>
                </a:solidFill>
                <a:latin typeface="Trebuchet MS" pitchFamily="34" charset="0"/>
                <a:ea typeface="Trebuchet MS" pitchFamily="34" charset="-122"/>
                <a:cs typeface="Trebuchet MS" pitchFamily="34" charset="-120"/>
              </a:rPr>
              <a:t>aktualizacja pozycji robota</a:t>
            </a:r>
            <a:endParaRPr lang="en-US" sz="2800" dirty="0"/>
          </a:p>
        </p:txBody>
      </p:sp>
      <p:sp>
        <p:nvSpPr>
          <p:cNvPr id="6" name="Shape 4"/>
          <p:cNvSpPr/>
          <p:nvPr/>
        </p:nvSpPr>
        <p:spPr>
          <a:xfrm>
            <a:off x="274320" y="1005839"/>
            <a:ext cx="8595360" cy="3416809"/>
          </a:xfrm>
          <a:prstGeom prst="rect">
            <a:avLst/>
          </a:prstGeom>
          <a:solidFill>
            <a:srgbClr val="071520"/>
          </a:solidFill>
          <a:ln w="12700">
            <a:solidFill>
              <a:srgbClr val="0077A8"/>
            </a:solidFill>
            <a:prstDash val="solid"/>
          </a:ln>
          <a:effectLst>
            <a:outerShdw blurRad="101600" dist="38100" dir="8100000" algn="bl" rotWithShape="0">
              <a:srgbClr val="000000">
                <a:alpha val="18000"/>
              </a:srgbClr>
            </a:outerShdw>
          </a:effectLst>
        </p:spPr>
      </p:sp>
      <p:sp>
        <p:nvSpPr>
          <p:cNvPr id="10" name="Text 8"/>
          <p:cNvSpPr/>
          <p:nvPr/>
        </p:nvSpPr>
        <p:spPr>
          <a:xfrm>
            <a:off x="457200" y="1051559"/>
            <a:ext cx="8321040" cy="3295774"/>
          </a:xfrm>
          <a:prstGeom prst="rect">
            <a:avLst/>
          </a:prstGeom>
          <a:noFill/>
          <a:ln/>
        </p:spPr>
        <p:txBody>
          <a:bodyPr wrap="square" lIns="108000" tIns="0" rIns="127000" bIns="63500" rtlCol="0" anchor="t">
            <a:spAutoFit/>
          </a:bodyPr>
          <a:lstStyle/>
          <a:p>
            <a:pPr>
              <a:lnSpc>
                <a:spcPts val="1400"/>
              </a:lnSpc>
            </a:pPr>
            <a:r>
              <a:rPr lang="pl-PL" sz="1300" dirty="0">
                <a:solidFill>
                  <a:srgbClr val="C586C0"/>
                </a:solidFill>
                <a:latin typeface="Consolas" panose="020B0609020204030204" pitchFamily="49" charset="0"/>
              </a:rPr>
              <a:t>import</a:t>
            </a:r>
            <a:r>
              <a:rPr lang="pl-PL" sz="1300" dirty="0">
                <a:solidFill>
                  <a:srgbClr val="BBBEBF"/>
                </a:solidFill>
                <a:latin typeface="Consolas" panose="020B0609020204030204" pitchFamily="49" charset="0"/>
              </a:rPr>
              <a:t> </a:t>
            </a:r>
            <a:r>
              <a:rPr lang="pl-PL" sz="1300" dirty="0" err="1">
                <a:solidFill>
                  <a:srgbClr val="4EC9B0"/>
                </a:solidFill>
                <a:latin typeface="Consolas" panose="020B0609020204030204" pitchFamily="49" charset="0"/>
              </a:rPr>
              <a:t>numpy</a:t>
            </a:r>
            <a:r>
              <a:rPr lang="pl-PL" sz="1300" dirty="0">
                <a:solidFill>
                  <a:srgbClr val="BBBEBF"/>
                </a:solidFill>
                <a:latin typeface="Consolas" panose="020B0609020204030204" pitchFamily="49" charset="0"/>
              </a:rPr>
              <a:t> </a:t>
            </a:r>
            <a:r>
              <a:rPr lang="pl-PL" sz="1300" dirty="0">
                <a:solidFill>
                  <a:srgbClr val="C586C0"/>
                </a:solidFill>
                <a:latin typeface="Consolas" panose="020B0609020204030204" pitchFamily="49" charset="0"/>
              </a:rPr>
              <a:t>as</a:t>
            </a:r>
            <a:r>
              <a:rPr lang="pl-PL" sz="1300" dirty="0">
                <a:solidFill>
                  <a:srgbClr val="BBBEBF"/>
                </a:solidFill>
                <a:latin typeface="Consolas" panose="020B0609020204030204" pitchFamily="49" charset="0"/>
              </a:rPr>
              <a:t> </a:t>
            </a:r>
            <a:r>
              <a:rPr lang="pl-PL" sz="1300" dirty="0" err="1">
                <a:solidFill>
                  <a:srgbClr val="4EC9B0"/>
                </a:solidFill>
                <a:latin typeface="Consolas" panose="020B0609020204030204" pitchFamily="49" charset="0"/>
              </a:rPr>
              <a:t>np</a:t>
            </a:r>
            <a:endParaRPr lang="pl-PL" sz="1300" dirty="0">
              <a:solidFill>
                <a:srgbClr val="BBBEBF"/>
              </a:solidFill>
              <a:latin typeface="Consolas" panose="020B0609020204030204" pitchFamily="49" charset="0"/>
            </a:endParaRPr>
          </a:p>
          <a:p>
            <a:pPr>
              <a:lnSpc>
                <a:spcPts val="1400"/>
              </a:lnSpc>
            </a:pPr>
            <a:r>
              <a:rPr lang="pl-PL" sz="1300" dirty="0">
                <a:solidFill>
                  <a:srgbClr val="BBBEBF"/>
                </a:solidFill>
                <a:latin typeface="Consolas" panose="020B0609020204030204" pitchFamily="49" charset="0"/>
              </a:rPr>
              <a:t/>
            </a:r>
            <a:br>
              <a:rPr lang="pl-PL" sz="1300" dirty="0">
                <a:solidFill>
                  <a:srgbClr val="BBBEBF"/>
                </a:solidFill>
                <a:latin typeface="Consolas" panose="020B0609020204030204" pitchFamily="49" charset="0"/>
              </a:rPr>
            </a:br>
            <a:r>
              <a:rPr lang="pl-PL" sz="1300" dirty="0" err="1">
                <a:solidFill>
                  <a:srgbClr val="FF7B72"/>
                </a:solidFill>
                <a:latin typeface="Consolas" panose="020B0609020204030204" pitchFamily="49" charset="0"/>
              </a:rPr>
              <a:t>class</a:t>
            </a:r>
            <a:r>
              <a:rPr lang="pl-PL" sz="1300" dirty="0">
                <a:solidFill>
                  <a:srgbClr val="BBBEBF"/>
                </a:solidFill>
                <a:latin typeface="Consolas" panose="020B0609020204030204" pitchFamily="49" charset="0"/>
              </a:rPr>
              <a:t> </a:t>
            </a:r>
            <a:r>
              <a:rPr lang="pl-PL" sz="1300" dirty="0" err="1">
                <a:solidFill>
                  <a:srgbClr val="4EC9B0"/>
                </a:solidFill>
                <a:latin typeface="Consolas" panose="020B0609020204030204" pitchFamily="49" charset="0"/>
              </a:rPr>
              <a:t>StepOdometry</a:t>
            </a:r>
            <a:r>
              <a:rPr lang="pl-PL" sz="1300" dirty="0">
                <a:solidFill>
                  <a:srgbClr val="BBBEBF"/>
                </a:solidFill>
                <a:latin typeface="Consolas" panose="020B0609020204030204" pitchFamily="49" charset="0"/>
              </a:rPr>
              <a:t>:</a:t>
            </a:r>
          </a:p>
          <a:p>
            <a:pPr>
              <a:lnSpc>
                <a:spcPts val="1400"/>
              </a:lnSpc>
            </a:pPr>
            <a:r>
              <a:rPr lang="pl-PL" sz="1300" dirty="0">
                <a:solidFill>
                  <a:srgbClr val="BBBEBF"/>
                </a:solidFill>
                <a:latin typeface="Consolas" panose="020B0609020204030204" pitchFamily="49" charset="0"/>
              </a:rPr>
              <a:t>    </a:t>
            </a:r>
            <a:r>
              <a:rPr lang="pl-PL" sz="1300" dirty="0">
                <a:solidFill>
                  <a:srgbClr val="FF7B72"/>
                </a:solidFill>
                <a:latin typeface="Consolas" panose="020B0609020204030204" pitchFamily="49" charset="0"/>
              </a:rPr>
              <a:t>def</a:t>
            </a:r>
            <a:r>
              <a:rPr lang="pl-PL" sz="1300" dirty="0">
                <a:solidFill>
                  <a:srgbClr val="BBBEBF"/>
                </a:solidFill>
                <a:latin typeface="Consolas" panose="020B0609020204030204" pitchFamily="49" charset="0"/>
              </a:rPr>
              <a:t> </a:t>
            </a:r>
            <a:r>
              <a:rPr lang="pl-PL" sz="1300" dirty="0">
                <a:solidFill>
                  <a:srgbClr val="DCDCAA"/>
                </a:solidFill>
                <a:latin typeface="Consolas" panose="020B0609020204030204" pitchFamily="49" charset="0"/>
              </a:rPr>
              <a:t>__</a:t>
            </a:r>
            <a:r>
              <a:rPr lang="pl-PL" sz="1300" dirty="0" err="1">
                <a:solidFill>
                  <a:srgbClr val="DCDCAA"/>
                </a:solidFill>
                <a:latin typeface="Consolas" panose="020B0609020204030204" pitchFamily="49" charset="0"/>
              </a:rPr>
              <a:t>init</a:t>
            </a:r>
            <a:r>
              <a:rPr lang="pl-PL" sz="1300" dirty="0">
                <a:solidFill>
                  <a:srgbClr val="DCDCAA"/>
                </a:solidFill>
                <a:latin typeface="Consolas" panose="020B0609020204030204" pitchFamily="49" charset="0"/>
              </a:rPr>
              <a:t>__</a:t>
            </a:r>
            <a:r>
              <a:rPr lang="pl-PL" sz="1300" dirty="0">
                <a:solidFill>
                  <a:srgbClr val="BBBEBF"/>
                </a:solidFill>
                <a:latin typeface="Consolas" panose="020B0609020204030204" pitchFamily="49" charset="0"/>
              </a:rPr>
              <a:t>(</a:t>
            </a:r>
            <a:r>
              <a:rPr lang="pl-PL" sz="1300" dirty="0" err="1">
                <a:solidFill>
                  <a:srgbClr val="C9D1D9"/>
                </a:solidFill>
                <a:latin typeface="Consolas" panose="020B0609020204030204" pitchFamily="49" charset="0"/>
              </a:rPr>
              <a:t>self</a:t>
            </a:r>
            <a:r>
              <a:rPr lang="pl-PL" sz="1300" dirty="0">
                <a:solidFill>
                  <a:srgbClr val="BBBEBF"/>
                </a:solidFill>
                <a:latin typeface="Consolas" panose="020B0609020204030204" pitchFamily="49" charset="0"/>
              </a:rPr>
              <a:t>):</a:t>
            </a:r>
          </a:p>
          <a:p>
            <a:pPr>
              <a:lnSpc>
                <a:spcPts val="1400"/>
              </a:lnSpc>
            </a:pPr>
            <a:r>
              <a:rPr lang="pl-PL" sz="1300" dirty="0">
                <a:solidFill>
                  <a:srgbClr val="BBBEBF"/>
                </a:solidFill>
                <a:latin typeface="Consolas" panose="020B0609020204030204" pitchFamily="49" charset="0"/>
              </a:rPr>
              <a:t>        </a:t>
            </a:r>
            <a:r>
              <a:rPr lang="pl-PL" sz="1300" dirty="0" err="1">
                <a:solidFill>
                  <a:srgbClr val="C9D1D9"/>
                </a:solidFill>
                <a:latin typeface="Consolas" panose="020B0609020204030204" pitchFamily="49" charset="0"/>
              </a:rPr>
              <a:t>self</a:t>
            </a:r>
            <a:r>
              <a:rPr lang="pl-PL" sz="1300" dirty="0" err="1">
                <a:solidFill>
                  <a:srgbClr val="BBBEBF"/>
                </a:solidFill>
                <a:latin typeface="Consolas" panose="020B0609020204030204" pitchFamily="49" charset="0"/>
              </a:rPr>
              <a:t>.</a:t>
            </a:r>
            <a:r>
              <a:rPr lang="pl-PL" sz="1300" dirty="0" err="1">
                <a:solidFill>
                  <a:srgbClr val="C9D1D9"/>
                </a:solidFill>
                <a:latin typeface="Consolas" panose="020B0609020204030204" pitchFamily="49" charset="0"/>
              </a:rPr>
              <a:t>x</a:t>
            </a:r>
            <a:r>
              <a:rPr lang="pl-PL" sz="1300" dirty="0">
                <a:solidFill>
                  <a:srgbClr val="BBBEBF"/>
                </a:solidFill>
                <a:latin typeface="Consolas" panose="020B0609020204030204" pitchFamily="49" charset="0"/>
              </a:rPr>
              <a:t>   </a:t>
            </a:r>
            <a:r>
              <a:rPr lang="pl-PL" sz="1300" dirty="0">
                <a:solidFill>
                  <a:srgbClr val="D4D4D4"/>
                </a:solidFill>
                <a:latin typeface="Consolas" panose="020B0609020204030204" pitchFamily="49" charset="0"/>
              </a:rPr>
              <a:t>=</a:t>
            </a:r>
            <a:r>
              <a:rPr lang="pl-PL" sz="1300" dirty="0">
                <a:solidFill>
                  <a:srgbClr val="BBBEBF"/>
                </a:solidFill>
                <a:latin typeface="Consolas" panose="020B0609020204030204" pitchFamily="49" charset="0"/>
              </a:rPr>
              <a:t> </a:t>
            </a:r>
            <a:r>
              <a:rPr lang="pl-PL" sz="1300" dirty="0">
                <a:solidFill>
                  <a:srgbClr val="B5CEA8"/>
                </a:solidFill>
                <a:latin typeface="Consolas" panose="020B0609020204030204" pitchFamily="49" charset="0"/>
              </a:rPr>
              <a:t>0.0</a:t>
            </a:r>
            <a:r>
              <a:rPr lang="pl-PL" sz="1300" dirty="0">
                <a:solidFill>
                  <a:srgbClr val="BBBEBF"/>
                </a:solidFill>
                <a:latin typeface="Consolas" panose="020B0609020204030204" pitchFamily="49" charset="0"/>
              </a:rPr>
              <a:t>  </a:t>
            </a:r>
            <a:r>
              <a:rPr lang="pl-PL" sz="1300" dirty="0">
                <a:solidFill>
                  <a:srgbClr val="8B949E"/>
                </a:solidFill>
                <a:latin typeface="Consolas" panose="020B0609020204030204" pitchFamily="49" charset="0"/>
              </a:rPr>
              <a:t># [m]</a:t>
            </a:r>
            <a:endParaRPr lang="pl-PL" sz="1300" dirty="0">
              <a:solidFill>
                <a:srgbClr val="BBBEBF"/>
              </a:solidFill>
              <a:latin typeface="Consolas" panose="020B0609020204030204" pitchFamily="49" charset="0"/>
            </a:endParaRPr>
          </a:p>
          <a:p>
            <a:pPr>
              <a:lnSpc>
                <a:spcPts val="1400"/>
              </a:lnSpc>
            </a:pPr>
            <a:r>
              <a:rPr lang="pl-PL" sz="1300" dirty="0">
                <a:solidFill>
                  <a:srgbClr val="BBBEBF"/>
                </a:solidFill>
                <a:latin typeface="Consolas" panose="020B0609020204030204" pitchFamily="49" charset="0"/>
              </a:rPr>
              <a:t>        </a:t>
            </a:r>
            <a:r>
              <a:rPr lang="pl-PL" sz="1300" dirty="0" err="1">
                <a:solidFill>
                  <a:srgbClr val="C9D1D9"/>
                </a:solidFill>
                <a:latin typeface="Consolas" panose="020B0609020204030204" pitchFamily="49" charset="0"/>
              </a:rPr>
              <a:t>self</a:t>
            </a:r>
            <a:r>
              <a:rPr lang="pl-PL" sz="1300" dirty="0" err="1">
                <a:solidFill>
                  <a:srgbClr val="BBBEBF"/>
                </a:solidFill>
                <a:latin typeface="Consolas" panose="020B0609020204030204" pitchFamily="49" charset="0"/>
              </a:rPr>
              <a:t>.</a:t>
            </a:r>
            <a:r>
              <a:rPr lang="pl-PL" sz="1300" dirty="0" err="1">
                <a:solidFill>
                  <a:srgbClr val="C9D1D9"/>
                </a:solidFill>
                <a:latin typeface="Consolas" panose="020B0609020204030204" pitchFamily="49" charset="0"/>
              </a:rPr>
              <a:t>y</a:t>
            </a:r>
            <a:r>
              <a:rPr lang="pl-PL" sz="1300" dirty="0">
                <a:solidFill>
                  <a:srgbClr val="BBBEBF"/>
                </a:solidFill>
                <a:latin typeface="Consolas" panose="020B0609020204030204" pitchFamily="49" charset="0"/>
              </a:rPr>
              <a:t>   </a:t>
            </a:r>
            <a:r>
              <a:rPr lang="pl-PL" sz="1300" dirty="0">
                <a:solidFill>
                  <a:srgbClr val="D4D4D4"/>
                </a:solidFill>
                <a:latin typeface="Consolas" panose="020B0609020204030204" pitchFamily="49" charset="0"/>
              </a:rPr>
              <a:t>=</a:t>
            </a:r>
            <a:r>
              <a:rPr lang="pl-PL" sz="1300" dirty="0">
                <a:solidFill>
                  <a:srgbClr val="BBBEBF"/>
                </a:solidFill>
                <a:latin typeface="Consolas" panose="020B0609020204030204" pitchFamily="49" charset="0"/>
              </a:rPr>
              <a:t> </a:t>
            </a:r>
            <a:r>
              <a:rPr lang="pl-PL" sz="1300" dirty="0">
                <a:solidFill>
                  <a:srgbClr val="B5CEA8"/>
                </a:solidFill>
                <a:latin typeface="Consolas" panose="020B0609020204030204" pitchFamily="49" charset="0"/>
              </a:rPr>
              <a:t>0.0</a:t>
            </a:r>
            <a:r>
              <a:rPr lang="pl-PL" sz="1300" dirty="0">
                <a:solidFill>
                  <a:srgbClr val="BBBEBF"/>
                </a:solidFill>
                <a:latin typeface="Consolas" panose="020B0609020204030204" pitchFamily="49" charset="0"/>
              </a:rPr>
              <a:t>  </a:t>
            </a:r>
            <a:r>
              <a:rPr lang="pl-PL" sz="1300" dirty="0">
                <a:solidFill>
                  <a:srgbClr val="8B949E"/>
                </a:solidFill>
                <a:latin typeface="Consolas" panose="020B0609020204030204" pitchFamily="49" charset="0"/>
              </a:rPr>
              <a:t># [m]</a:t>
            </a:r>
            <a:endParaRPr lang="pl-PL" sz="1300" dirty="0">
              <a:solidFill>
                <a:srgbClr val="BBBEBF"/>
              </a:solidFill>
              <a:latin typeface="Consolas" panose="020B0609020204030204" pitchFamily="49" charset="0"/>
            </a:endParaRPr>
          </a:p>
          <a:p>
            <a:pPr>
              <a:lnSpc>
                <a:spcPts val="1400"/>
              </a:lnSpc>
            </a:pPr>
            <a:r>
              <a:rPr lang="pl-PL" sz="1300" dirty="0">
                <a:solidFill>
                  <a:srgbClr val="BBBEBF"/>
                </a:solidFill>
                <a:latin typeface="Consolas" panose="020B0609020204030204" pitchFamily="49" charset="0"/>
              </a:rPr>
              <a:t>        </a:t>
            </a:r>
            <a:r>
              <a:rPr lang="pl-PL" sz="1300" dirty="0" err="1">
                <a:solidFill>
                  <a:srgbClr val="C9D1D9"/>
                </a:solidFill>
                <a:latin typeface="Consolas" panose="020B0609020204030204" pitchFamily="49" charset="0"/>
              </a:rPr>
              <a:t>self</a:t>
            </a:r>
            <a:r>
              <a:rPr lang="pl-PL" sz="1300" dirty="0" err="1">
                <a:solidFill>
                  <a:srgbClr val="BBBEBF"/>
                </a:solidFill>
                <a:latin typeface="Consolas" panose="020B0609020204030204" pitchFamily="49" charset="0"/>
              </a:rPr>
              <a:t>.</a:t>
            </a:r>
            <a:r>
              <a:rPr lang="pl-PL" sz="1300" dirty="0" err="1">
                <a:solidFill>
                  <a:srgbClr val="C9D1D9"/>
                </a:solidFill>
                <a:latin typeface="Consolas" panose="020B0609020204030204" pitchFamily="49" charset="0"/>
              </a:rPr>
              <a:t>yaw</a:t>
            </a:r>
            <a:r>
              <a:rPr lang="pl-PL" sz="1300" dirty="0">
                <a:solidFill>
                  <a:srgbClr val="BBBEBF"/>
                </a:solidFill>
                <a:latin typeface="Consolas" panose="020B0609020204030204" pitchFamily="49" charset="0"/>
              </a:rPr>
              <a:t> </a:t>
            </a:r>
            <a:r>
              <a:rPr lang="pl-PL" sz="1300" dirty="0">
                <a:solidFill>
                  <a:srgbClr val="D4D4D4"/>
                </a:solidFill>
                <a:latin typeface="Consolas" panose="020B0609020204030204" pitchFamily="49" charset="0"/>
              </a:rPr>
              <a:t>=</a:t>
            </a:r>
            <a:r>
              <a:rPr lang="pl-PL" sz="1300" dirty="0">
                <a:solidFill>
                  <a:srgbClr val="BBBEBF"/>
                </a:solidFill>
                <a:latin typeface="Consolas" panose="020B0609020204030204" pitchFamily="49" charset="0"/>
              </a:rPr>
              <a:t> </a:t>
            </a:r>
            <a:r>
              <a:rPr lang="pl-PL" sz="1300" dirty="0">
                <a:solidFill>
                  <a:srgbClr val="B5CEA8"/>
                </a:solidFill>
                <a:latin typeface="Consolas" panose="020B0609020204030204" pitchFamily="49" charset="0"/>
              </a:rPr>
              <a:t>0.0</a:t>
            </a:r>
            <a:r>
              <a:rPr lang="pl-PL" sz="1300" dirty="0">
                <a:solidFill>
                  <a:srgbClr val="BBBEBF"/>
                </a:solidFill>
                <a:latin typeface="Consolas" panose="020B0609020204030204" pitchFamily="49" charset="0"/>
              </a:rPr>
              <a:t>  </a:t>
            </a:r>
            <a:r>
              <a:rPr lang="pl-PL" sz="1300" dirty="0">
                <a:solidFill>
                  <a:srgbClr val="8B949E"/>
                </a:solidFill>
                <a:latin typeface="Consolas" panose="020B0609020204030204" pitchFamily="49" charset="0"/>
              </a:rPr>
              <a:t># [rad]</a:t>
            </a:r>
            <a:endParaRPr lang="pl-PL" sz="1300" dirty="0">
              <a:solidFill>
                <a:srgbClr val="BBBEBF"/>
              </a:solidFill>
              <a:latin typeface="Consolas" panose="020B0609020204030204" pitchFamily="49" charset="0"/>
            </a:endParaRPr>
          </a:p>
          <a:p>
            <a:pPr>
              <a:lnSpc>
                <a:spcPts val="1400"/>
              </a:lnSpc>
            </a:pPr>
            <a:r>
              <a:rPr lang="pl-PL" sz="1300" dirty="0">
                <a:solidFill>
                  <a:srgbClr val="BBBEBF"/>
                </a:solidFill>
                <a:latin typeface="Consolas" panose="020B0609020204030204" pitchFamily="49" charset="0"/>
              </a:rPr>
              <a:t/>
            </a:r>
            <a:br>
              <a:rPr lang="pl-PL" sz="1300" dirty="0">
                <a:solidFill>
                  <a:srgbClr val="BBBEBF"/>
                </a:solidFill>
                <a:latin typeface="Consolas" panose="020B0609020204030204" pitchFamily="49" charset="0"/>
              </a:rPr>
            </a:br>
            <a:r>
              <a:rPr lang="pl-PL" sz="1300" dirty="0">
                <a:solidFill>
                  <a:srgbClr val="BBBEBF"/>
                </a:solidFill>
                <a:latin typeface="Consolas" panose="020B0609020204030204" pitchFamily="49" charset="0"/>
              </a:rPr>
              <a:t>    </a:t>
            </a:r>
            <a:r>
              <a:rPr lang="pl-PL" sz="1300" dirty="0">
                <a:solidFill>
                  <a:srgbClr val="FF7B72"/>
                </a:solidFill>
                <a:latin typeface="Consolas" panose="020B0609020204030204" pitchFamily="49" charset="0"/>
              </a:rPr>
              <a:t>def</a:t>
            </a:r>
            <a:r>
              <a:rPr lang="pl-PL" sz="1300" dirty="0">
                <a:solidFill>
                  <a:srgbClr val="BBBEBF"/>
                </a:solidFill>
                <a:latin typeface="Consolas" panose="020B0609020204030204" pitchFamily="49" charset="0"/>
              </a:rPr>
              <a:t> </a:t>
            </a:r>
            <a:r>
              <a:rPr lang="pl-PL" sz="1300" dirty="0">
                <a:solidFill>
                  <a:srgbClr val="D2A8FF"/>
                </a:solidFill>
                <a:latin typeface="Consolas" panose="020B0609020204030204" pitchFamily="49" charset="0"/>
              </a:rPr>
              <a:t>step</a:t>
            </a:r>
            <a:r>
              <a:rPr lang="pl-PL" sz="1300" dirty="0">
                <a:solidFill>
                  <a:srgbClr val="BBBEBF"/>
                </a:solidFill>
                <a:latin typeface="Consolas" panose="020B0609020204030204" pitchFamily="49" charset="0"/>
              </a:rPr>
              <a:t>(</a:t>
            </a:r>
            <a:r>
              <a:rPr lang="pl-PL" sz="1300" dirty="0" err="1">
                <a:solidFill>
                  <a:srgbClr val="C9D1D9"/>
                </a:solidFill>
                <a:latin typeface="Consolas" panose="020B0609020204030204" pitchFamily="49" charset="0"/>
              </a:rPr>
              <a:t>self</a:t>
            </a:r>
            <a:r>
              <a:rPr lang="pl-PL" sz="1300" dirty="0">
                <a:solidFill>
                  <a:srgbClr val="BBBEBF"/>
                </a:solidFill>
                <a:latin typeface="Consolas" panose="020B0609020204030204" pitchFamily="49" charset="0"/>
              </a:rPr>
              <a:t>, </a:t>
            </a:r>
            <a:r>
              <a:rPr lang="pl-PL" sz="1300" dirty="0" err="1">
                <a:solidFill>
                  <a:srgbClr val="FFA657"/>
                </a:solidFill>
                <a:latin typeface="Consolas" panose="020B0609020204030204" pitchFamily="49" charset="0"/>
              </a:rPr>
              <a:t>stride_len</a:t>
            </a:r>
            <a:r>
              <a:rPr lang="pl-PL" sz="1300" dirty="0">
                <a:solidFill>
                  <a:srgbClr val="BBBEBF"/>
                </a:solidFill>
                <a:latin typeface="Consolas" panose="020B0609020204030204" pitchFamily="49" charset="0"/>
              </a:rPr>
              <a:t>: </a:t>
            </a:r>
            <a:r>
              <a:rPr lang="pl-PL" sz="1300" dirty="0" err="1">
                <a:solidFill>
                  <a:srgbClr val="4EC9B0"/>
                </a:solidFill>
                <a:latin typeface="Consolas" panose="020B0609020204030204" pitchFamily="49" charset="0"/>
              </a:rPr>
              <a:t>float</a:t>
            </a:r>
            <a:r>
              <a:rPr lang="pl-PL" sz="1300" dirty="0">
                <a:solidFill>
                  <a:srgbClr val="BBBEBF"/>
                </a:solidFill>
                <a:latin typeface="Consolas" panose="020B0609020204030204" pitchFamily="49" charset="0"/>
              </a:rPr>
              <a:t>, </a:t>
            </a:r>
            <a:r>
              <a:rPr lang="pl-PL" sz="1300" dirty="0" err="1">
                <a:solidFill>
                  <a:srgbClr val="FFA657"/>
                </a:solidFill>
                <a:latin typeface="Consolas" panose="020B0609020204030204" pitchFamily="49" charset="0"/>
              </a:rPr>
              <a:t>delta_yaw</a:t>
            </a:r>
            <a:r>
              <a:rPr lang="pl-PL" sz="1300" dirty="0">
                <a:solidFill>
                  <a:srgbClr val="BBBEBF"/>
                </a:solidFill>
                <a:latin typeface="Consolas" panose="020B0609020204030204" pitchFamily="49" charset="0"/>
              </a:rPr>
              <a:t>: </a:t>
            </a:r>
            <a:r>
              <a:rPr lang="pl-PL" sz="1300" dirty="0" err="1">
                <a:solidFill>
                  <a:srgbClr val="4EC9B0"/>
                </a:solidFill>
                <a:latin typeface="Consolas" panose="020B0609020204030204" pitchFamily="49" charset="0"/>
              </a:rPr>
              <a:t>float</a:t>
            </a:r>
            <a:r>
              <a:rPr lang="pl-PL" sz="1300" dirty="0">
                <a:solidFill>
                  <a:srgbClr val="BBBEBF"/>
                </a:solidFill>
                <a:latin typeface="Consolas" panose="020B0609020204030204" pitchFamily="49" charset="0"/>
              </a:rPr>
              <a:t>) -&gt; </a:t>
            </a:r>
            <a:r>
              <a:rPr lang="pl-PL" sz="1300" dirty="0" err="1">
                <a:solidFill>
                  <a:srgbClr val="4EC9B0"/>
                </a:solidFill>
                <a:latin typeface="Consolas" panose="020B0609020204030204" pitchFamily="49" charset="0"/>
              </a:rPr>
              <a:t>tuple</a:t>
            </a:r>
            <a:r>
              <a:rPr lang="pl-PL" sz="1300" dirty="0">
                <a:solidFill>
                  <a:srgbClr val="BBBEBF"/>
                </a:solidFill>
                <a:latin typeface="Consolas" panose="020B0609020204030204" pitchFamily="49" charset="0"/>
              </a:rPr>
              <a:t>:</a:t>
            </a:r>
          </a:p>
          <a:p>
            <a:pPr>
              <a:lnSpc>
                <a:spcPts val="1400"/>
              </a:lnSpc>
            </a:pPr>
            <a:r>
              <a:rPr lang="pl-PL" sz="1300" dirty="0">
                <a:solidFill>
                  <a:srgbClr val="BBBEBF"/>
                </a:solidFill>
                <a:latin typeface="Consolas" panose="020B0609020204030204" pitchFamily="49" charset="0"/>
              </a:rPr>
              <a:t>        </a:t>
            </a:r>
            <a:r>
              <a:rPr lang="pl-PL" sz="1300" dirty="0">
                <a:solidFill>
                  <a:srgbClr val="A5D6FF"/>
                </a:solidFill>
                <a:latin typeface="Consolas" panose="020B0609020204030204" pitchFamily="49" charset="0"/>
              </a:rPr>
              <a:t>"""Aktualizacja pozycji po jednym kroku (</a:t>
            </a:r>
            <a:r>
              <a:rPr lang="pl-PL" sz="1300" dirty="0" err="1">
                <a:solidFill>
                  <a:srgbClr val="A5D6FF"/>
                </a:solidFill>
                <a:latin typeface="Consolas" panose="020B0609020204030204" pitchFamily="49" charset="0"/>
              </a:rPr>
              <a:t>stride</a:t>
            </a:r>
            <a:r>
              <a:rPr lang="pl-PL" sz="1300" dirty="0">
                <a:solidFill>
                  <a:srgbClr val="A5D6FF"/>
                </a:solidFill>
                <a:latin typeface="Consolas" panose="020B0609020204030204" pitchFamily="49" charset="0"/>
              </a:rPr>
              <a:t>)."""</a:t>
            </a:r>
            <a:endParaRPr lang="pl-PL" sz="1300" dirty="0">
              <a:solidFill>
                <a:srgbClr val="BBBEBF"/>
              </a:solidFill>
              <a:latin typeface="Consolas" panose="020B0609020204030204" pitchFamily="49" charset="0"/>
            </a:endParaRPr>
          </a:p>
          <a:p>
            <a:pPr>
              <a:lnSpc>
                <a:spcPts val="1400"/>
              </a:lnSpc>
            </a:pPr>
            <a:r>
              <a:rPr lang="pl-PL" sz="1300" dirty="0">
                <a:solidFill>
                  <a:srgbClr val="BBBEBF"/>
                </a:solidFill>
                <a:latin typeface="Consolas" panose="020B0609020204030204" pitchFamily="49" charset="0"/>
              </a:rPr>
              <a:t>        </a:t>
            </a:r>
            <a:r>
              <a:rPr lang="pl-PL" sz="1300" dirty="0" err="1">
                <a:solidFill>
                  <a:srgbClr val="C9D1D9"/>
                </a:solidFill>
                <a:latin typeface="Consolas" panose="020B0609020204030204" pitchFamily="49" charset="0"/>
              </a:rPr>
              <a:t>self</a:t>
            </a:r>
            <a:r>
              <a:rPr lang="pl-PL" sz="1300" dirty="0" err="1">
                <a:solidFill>
                  <a:srgbClr val="BBBEBF"/>
                </a:solidFill>
                <a:latin typeface="Consolas" panose="020B0609020204030204" pitchFamily="49" charset="0"/>
              </a:rPr>
              <a:t>.</a:t>
            </a:r>
            <a:r>
              <a:rPr lang="pl-PL" sz="1300" dirty="0" err="1">
                <a:solidFill>
                  <a:srgbClr val="C9D1D9"/>
                </a:solidFill>
                <a:latin typeface="Consolas" panose="020B0609020204030204" pitchFamily="49" charset="0"/>
              </a:rPr>
              <a:t>yaw</a:t>
            </a:r>
            <a:r>
              <a:rPr lang="pl-PL" sz="1300" dirty="0">
                <a:solidFill>
                  <a:srgbClr val="BBBEBF"/>
                </a:solidFill>
                <a:latin typeface="Consolas" panose="020B0609020204030204" pitchFamily="49" charset="0"/>
              </a:rPr>
              <a:t> </a:t>
            </a:r>
            <a:r>
              <a:rPr lang="pl-PL" sz="1300" dirty="0">
                <a:solidFill>
                  <a:srgbClr val="D4D4D4"/>
                </a:solidFill>
                <a:latin typeface="Consolas" panose="020B0609020204030204" pitchFamily="49" charset="0"/>
              </a:rPr>
              <a:t>+=</a:t>
            </a:r>
            <a:r>
              <a:rPr lang="pl-PL" sz="1300" dirty="0">
                <a:solidFill>
                  <a:srgbClr val="BBBEBF"/>
                </a:solidFill>
                <a:latin typeface="Consolas" panose="020B0609020204030204" pitchFamily="49" charset="0"/>
              </a:rPr>
              <a:t> </a:t>
            </a:r>
            <a:r>
              <a:rPr lang="pl-PL" sz="1300" dirty="0" err="1">
                <a:solidFill>
                  <a:srgbClr val="FFA657"/>
                </a:solidFill>
                <a:latin typeface="Consolas" panose="020B0609020204030204" pitchFamily="49" charset="0"/>
              </a:rPr>
              <a:t>delta_yaw</a:t>
            </a:r>
            <a:endParaRPr lang="pl-PL" sz="1300" dirty="0">
              <a:solidFill>
                <a:srgbClr val="BBBEBF"/>
              </a:solidFill>
              <a:latin typeface="Consolas" panose="020B0609020204030204" pitchFamily="49" charset="0"/>
            </a:endParaRPr>
          </a:p>
          <a:p>
            <a:pPr>
              <a:lnSpc>
                <a:spcPts val="1400"/>
              </a:lnSpc>
            </a:pPr>
            <a:r>
              <a:rPr lang="pl-PL" sz="1300" dirty="0">
                <a:solidFill>
                  <a:srgbClr val="BBBEBF"/>
                </a:solidFill>
                <a:latin typeface="Consolas" panose="020B0609020204030204" pitchFamily="49" charset="0"/>
              </a:rPr>
              <a:t>        </a:t>
            </a:r>
            <a:r>
              <a:rPr lang="pl-PL" sz="1300" dirty="0" err="1">
                <a:solidFill>
                  <a:srgbClr val="C9D1D9"/>
                </a:solidFill>
                <a:latin typeface="Consolas" panose="020B0609020204030204" pitchFamily="49" charset="0"/>
              </a:rPr>
              <a:t>self</a:t>
            </a:r>
            <a:r>
              <a:rPr lang="pl-PL" sz="1300" dirty="0" err="1">
                <a:solidFill>
                  <a:srgbClr val="BBBEBF"/>
                </a:solidFill>
                <a:latin typeface="Consolas" panose="020B0609020204030204" pitchFamily="49" charset="0"/>
              </a:rPr>
              <a:t>.</a:t>
            </a:r>
            <a:r>
              <a:rPr lang="pl-PL" sz="1300" dirty="0" err="1">
                <a:solidFill>
                  <a:srgbClr val="C9D1D9"/>
                </a:solidFill>
                <a:latin typeface="Consolas" panose="020B0609020204030204" pitchFamily="49" charset="0"/>
              </a:rPr>
              <a:t>x</a:t>
            </a:r>
            <a:r>
              <a:rPr lang="pl-PL" sz="1300" dirty="0">
                <a:solidFill>
                  <a:srgbClr val="BBBEBF"/>
                </a:solidFill>
                <a:latin typeface="Consolas" panose="020B0609020204030204" pitchFamily="49" charset="0"/>
              </a:rPr>
              <a:t>  </a:t>
            </a:r>
            <a:r>
              <a:rPr lang="pl-PL" sz="1300" dirty="0">
                <a:solidFill>
                  <a:srgbClr val="D4D4D4"/>
                </a:solidFill>
                <a:latin typeface="Consolas" panose="020B0609020204030204" pitchFamily="49" charset="0"/>
              </a:rPr>
              <a:t>+=</a:t>
            </a:r>
            <a:r>
              <a:rPr lang="pl-PL" sz="1300" dirty="0">
                <a:solidFill>
                  <a:srgbClr val="BBBEBF"/>
                </a:solidFill>
                <a:latin typeface="Consolas" panose="020B0609020204030204" pitchFamily="49" charset="0"/>
              </a:rPr>
              <a:t> </a:t>
            </a:r>
            <a:r>
              <a:rPr lang="pl-PL" sz="1300" dirty="0" err="1">
                <a:solidFill>
                  <a:srgbClr val="FFA657"/>
                </a:solidFill>
                <a:latin typeface="Consolas" panose="020B0609020204030204" pitchFamily="49" charset="0"/>
              </a:rPr>
              <a:t>stride_len</a:t>
            </a:r>
            <a:r>
              <a:rPr lang="pl-PL" sz="1300" dirty="0">
                <a:solidFill>
                  <a:srgbClr val="BBBEBF"/>
                </a:solidFill>
                <a:latin typeface="Consolas" panose="020B0609020204030204" pitchFamily="49" charset="0"/>
              </a:rPr>
              <a:t> </a:t>
            </a:r>
            <a:r>
              <a:rPr lang="pl-PL" sz="1300" dirty="0">
                <a:solidFill>
                  <a:srgbClr val="D4D4D4"/>
                </a:solidFill>
                <a:latin typeface="Consolas" panose="020B0609020204030204" pitchFamily="49" charset="0"/>
              </a:rPr>
              <a:t>*</a:t>
            </a:r>
            <a:r>
              <a:rPr lang="pl-PL" sz="1300" dirty="0">
                <a:solidFill>
                  <a:srgbClr val="BBBEBF"/>
                </a:solidFill>
                <a:latin typeface="Consolas" panose="020B0609020204030204" pitchFamily="49" charset="0"/>
              </a:rPr>
              <a:t> </a:t>
            </a:r>
            <a:r>
              <a:rPr lang="pl-PL" sz="1300" dirty="0" err="1">
                <a:solidFill>
                  <a:srgbClr val="4EC9B0"/>
                </a:solidFill>
                <a:latin typeface="Consolas" panose="020B0609020204030204" pitchFamily="49" charset="0"/>
              </a:rPr>
              <a:t>np</a:t>
            </a:r>
            <a:r>
              <a:rPr lang="pl-PL" sz="1300" dirty="0" err="1">
                <a:solidFill>
                  <a:srgbClr val="BBBEBF"/>
                </a:solidFill>
                <a:latin typeface="Consolas" panose="020B0609020204030204" pitchFamily="49" charset="0"/>
              </a:rPr>
              <a:t>.</a:t>
            </a:r>
            <a:r>
              <a:rPr lang="pl-PL" sz="1300" dirty="0" err="1">
                <a:solidFill>
                  <a:srgbClr val="C9D1D9"/>
                </a:solidFill>
                <a:latin typeface="Consolas" panose="020B0609020204030204" pitchFamily="49" charset="0"/>
              </a:rPr>
              <a:t>cos</a:t>
            </a:r>
            <a:r>
              <a:rPr lang="pl-PL" sz="1300" dirty="0">
                <a:solidFill>
                  <a:srgbClr val="BBBEBF"/>
                </a:solidFill>
                <a:latin typeface="Consolas" panose="020B0609020204030204" pitchFamily="49" charset="0"/>
              </a:rPr>
              <a:t>(</a:t>
            </a:r>
            <a:r>
              <a:rPr lang="pl-PL" sz="1300" dirty="0" err="1">
                <a:solidFill>
                  <a:srgbClr val="C9D1D9"/>
                </a:solidFill>
                <a:latin typeface="Consolas" panose="020B0609020204030204" pitchFamily="49" charset="0"/>
              </a:rPr>
              <a:t>self</a:t>
            </a:r>
            <a:r>
              <a:rPr lang="pl-PL" sz="1300" dirty="0" err="1">
                <a:solidFill>
                  <a:srgbClr val="BBBEBF"/>
                </a:solidFill>
                <a:latin typeface="Consolas" panose="020B0609020204030204" pitchFamily="49" charset="0"/>
              </a:rPr>
              <a:t>.</a:t>
            </a:r>
            <a:r>
              <a:rPr lang="pl-PL" sz="1300" dirty="0" err="1">
                <a:solidFill>
                  <a:srgbClr val="C9D1D9"/>
                </a:solidFill>
                <a:latin typeface="Consolas" panose="020B0609020204030204" pitchFamily="49" charset="0"/>
              </a:rPr>
              <a:t>yaw</a:t>
            </a:r>
            <a:r>
              <a:rPr lang="pl-PL" sz="1300" dirty="0">
                <a:solidFill>
                  <a:srgbClr val="BBBEBF"/>
                </a:solidFill>
                <a:latin typeface="Consolas" panose="020B0609020204030204" pitchFamily="49" charset="0"/>
              </a:rPr>
              <a:t>)</a:t>
            </a:r>
          </a:p>
          <a:p>
            <a:pPr>
              <a:lnSpc>
                <a:spcPts val="1400"/>
              </a:lnSpc>
            </a:pPr>
            <a:r>
              <a:rPr lang="pl-PL" sz="1300" dirty="0">
                <a:solidFill>
                  <a:srgbClr val="BBBEBF"/>
                </a:solidFill>
                <a:latin typeface="Consolas" panose="020B0609020204030204" pitchFamily="49" charset="0"/>
              </a:rPr>
              <a:t>        </a:t>
            </a:r>
            <a:r>
              <a:rPr lang="pl-PL" sz="1300" dirty="0" err="1">
                <a:solidFill>
                  <a:srgbClr val="C9D1D9"/>
                </a:solidFill>
                <a:latin typeface="Consolas" panose="020B0609020204030204" pitchFamily="49" charset="0"/>
              </a:rPr>
              <a:t>self</a:t>
            </a:r>
            <a:r>
              <a:rPr lang="pl-PL" sz="1300" dirty="0" err="1">
                <a:solidFill>
                  <a:srgbClr val="BBBEBF"/>
                </a:solidFill>
                <a:latin typeface="Consolas" panose="020B0609020204030204" pitchFamily="49" charset="0"/>
              </a:rPr>
              <a:t>.</a:t>
            </a:r>
            <a:r>
              <a:rPr lang="pl-PL" sz="1300" dirty="0" err="1">
                <a:solidFill>
                  <a:srgbClr val="C9D1D9"/>
                </a:solidFill>
                <a:latin typeface="Consolas" panose="020B0609020204030204" pitchFamily="49" charset="0"/>
              </a:rPr>
              <a:t>y</a:t>
            </a:r>
            <a:r>
              <a:rPr lang="pl-PL" sz="1300" dirty="0">
                <a:solidFill>
                  <a:srgbClr val="BBBEBF"/>
                </a:solidFill>
                <a:latin typeface="Consolas" panose="020B0609020204030204" pitchFamily="49" charset="0"/>
              </a:rPr>
              <a:t>  </a:t>
            </a:r>
            <a:r>
              <a:rPr lang="pl-PL" sz="1300" dirty="0">
                <a:solidFill>
                  <a:srgbClr val="D4D4D4"/>
                </a:solidFill>
                <a:latin typeface="Consolas" panose="020B0609020204030204" pitchFamily="49" charset="0"/>
              </a:rPr>
              <a:t>+=</a:t>
            </a:r>
            <a:r>
              <a:rPr lang="pl-PL" sz="1300" dirty="0">
                <a:solidFill>
                  <a:srgbClr val="BBBEBF"/>
                </a:solidFill>
                <a:latin typeface="Consolas" panose="020B0609020204030204" pitchFamily="49" charset="0"/>
              </a:rPr>
              <a:t> </a:t>
            </a:r>
            <a:r>
              <a:rPr lang="pl-PL" sz="1300" dirty="0" err="1">
                <a:solidFill>
                  <a:srgbClr val="FFA657"/>
                </a:solidFill>
                <a:latin typeface="Consolas" panose="020B0609020204030204" pitchFamily="49" charset="0"/>
              </a:rPr>
              <a:t>stride_len</a:t>
            </a:r>
            <a:r>
              <a:rPr lang="pl-PL" sz="1300" dirty="0">
                <a:solidFill>
                  <a:srgbClr val="BBBEBF"/>
                </a:solidFill>
                <a:latin typeface="Consolas" panose="020B0609020204030204" pitchFamily="49" charset="0"/>
              </a:rPr>
              <a:t> </a:t>
            </a:r>
            <a:r>
              <a:rPr lang="pl-PL" sz="1300" dirty="0">
                <a:solidFill>
                  <a:srgbClr val="D4D4D4"/>
                </a:solidFill>
                <a:latin typeface="Consolas" panose="020B0609020204030204" pitchFamily="49" charset="0"/>
              </a:rPr>
              <a:t>*</a:t>
            </a:r>
            <a:r>
              <a:rPr lang="pl-PL" sz="1300" dirty="0">
                <a:solidFill>
                  <a:srgbClr val="BBBEBF"/>
                </a:solidFill>
                <a:latin typeface="Consolas" panose="020B0609020204030204" pitchFamily="49" charset="0"/>
              </a:rPr>
              <a:t> </a:t>
            </a:r>
            <a:r>
              <a:rPr lang="pl-PL" sz="1300" dirty="0" err="1">
                <a:solidFill>
                  <a:srgbClr val="4EC9B0"/>
                </a:solidFill>
                <a:latin typeface="Consolas" panose="020B0609020204030204" pitchFamily="49" charset="0"/>
              </a:rPr>
              <a:t>np</a:t>
            </a:r>
            <a:r>
              <a:rPr lang="pl-PL" sz="1300" dirty="0" err="1">
                <a:solidFill>
                  <a:srgbClr val="BBBEBF"/>
                </a:solidFill>
                <a:latin typeface="Consolas" panose="020B0609020204030204" pitchFamily="49" charset="0"/>
              </a:rPr>
              <a:t>.</a:t>
            </a:r>
            <a:r>
              <a:rPr lang="pl-PL" sz="1300" dirty="0" err="1">
                <a:solidFill>
                  <a:srgbClr val="C9D1D9"/>
                </a:solidFill>
                <a:latin typeface="Consolas" panose="020B0609020204030204" pitchFamily="49" charset="0"/>
              </a:rPr>
              <a:t>sin</a:t>
            </a:r>
            <a:r>
              <a:rPr lang="pl-PL" sz="1300" dirty="0">
                <a:solidFill>
                  <a:srgbClr val="BBBEBF"/>
                </a:solidFill>
                <a:latin typeface="Consolas" panose="020B0609020204030204" pitchFamily="49" charset="0"/>
              </a:rPr>
              <a:t>(</a:t>
            </a:r>
            <a:r>
              <a:rPr lang="pl-PL" sz="1300" dirty="0" err="1">
                <a:solidFill>
                  <a:srgbClr val="C9D1D9"/>
                </a:solidFill>
                <a:latin typeface="Consolas" panose="020B0609020204030204" pitchFamily="49" charset="0"/>
              </a:rPr>
              <a:t>self</a:t>
            </a:r>
            <a:r>
              <a:rPr lang="pl-PL" sz="1300" dirty="0" err="1">
                <a:solidFill>
                  <a:srgbClr val="BBBEBF"/>
                </a:solidFill>
                <a:latin typeface="Consolas" panose="020B0609020204030204" pitchFamily="49" charset="0"/>
              </a:rPr>
              <a:t>.</a:t>
            </a:r>
            <a:r>
              <a:rPr lang="pl-PL" sz="1300" dirty="0" err="1">
                <a:solidFill>
                  <a:srgbClr val="C9D1D9"/>
                </a:solidFill>
                <a:latin typeface="Consolas" panose="020B0609020204030204" pitchFamily="49" charset="0"/>
              </a:rPr>
              <a:t>yaw</a:t>
            </a:r>
            <a:r>
              <a:rPr lang="pl-PL" sz="1300" dirty="0">
                <a:solidFill>
                  <a:srgbClr val="BBBEBF"/>
                </a:solidFill>
                <a:latin typeface="Consolas" panose="020B0609020204030204" pitchFamily="49" charset="0"/>
              </a:rPr>
              <a:t>)</a:t>
            </a:r>
          </a:p>
          <a:p>
            <a:pPr>
              <a:lnSpc>
                <a:spcPts val="1400"/>
              </a:lnSpc>
            </a:pPr>
            <a:r>
              <a:rPr lang="pl-PL" sz="1300" dirty="0">
                <a:solidFill>
                  <a:srgbClr val="BBBEBF"/>
                </a:solidFill>
                <a:latin typeface="Consolas" panose="020B0609020204030204" pitchFamily="49" charset="0"/>
              </a:rPr>
              <a:t>        </a:t>
            </a:r>
            <a:r>
              <a:rPr lang="pl-PL" sz="1300" dirty="0">
                <a:solidFill>
                  <a:srgbClr val="C586C0"/>
                </a:solidFill>
                <a:latin typeface="Consolas" panose="020B0609020204030204" pitchFamily="49" charset="0"/>
              </a:rPr>
              <a:t>return</a:t>
            </a:r>
            <a:r>
              <a:rPr lang="pl-PL" sz="1300" dirty="0">
                <a:solidFill>
                  <a:srgbClr val="BBBEBF"/>
                </a:solidFill>
                <a:latin typeface="Consolas" panose="020B0609020204030204" pitchFamily="49" charset="0"/>
              </a:rPr>
              <a:t> </a:t>
            </a:r>
            <a:r>
              <a:rPr lang="pl-PL" sz="1300" dirty="0" err="1">
                <a:solidFill>
                  <a:srgbClr val="C9D1D9"/>
                </a:solidFill>
                <a:latin typeface="Consolas" panose="020B0609020204030204" pitchFamily="49" charset="0"/>
              </a:rPr>
              <a:t>self</a:t>
            </a:r>
            <a:r>
              <a:rPr lang="pl-PL" sz="1300" dirty="0" err="1">
                <a:solidFill>
                  <a:srgbClr val="BBBEBF"/>
                </a:solidFill>
                <a:latin typeface="Consolas" panose="020B0609020204030204" pitchFamily="49" charset="0"/>
              </a:rPr>
              <a:t>.</a:t>
            </a:r>
            <a:r>
              <a:rPr lang="pl-PL" sz="1300" dirty="0" err="1">
                <a:solidFill>
                  <a:srgbClr val="C9D1D9"/>
                </a:solidFill>
                <a:latin typeface="Consolas" panose="020B0609020204030204" pitchFamily="49" charset="0"/>
              </a:rPr>
              <a:t>x</a:t>
            </a:r>
            <a:r>
              <a:rPr lang="pl-PL" sz="1300" dirty="0">
                <a:solidFill>
                  <a:srgbClr val="BBBEBF"/>
                </a:solidFill>
                <a:latin typeface="Consolas" panose="020B0609020204030204" pitchFamily="49" charset="0"/>
              </a:rPr>
              <a:t>, </a:t>
            </a:r>
            <a:r>
              <a:rPr lang="pl-PL" sz="1300" dirty="0" err="1">
                <a:solidFill>
                  <a:srgbClr val="C9D1D9"/>
                </a:solidFill>
                <a:latin typeface="Consolas" panose="020B0609020204030204" pitchFamily="49" charset="0"/>
              </a:rPr>
              <a:t>self</a:t>
            </a:r>
            <a:r>
              <a:rPr lang="pl-PL" sz="1300" dirty="0" err="1">
                <a:solidFill>
                  <a:srgbClr val="BBBEBF"/>
                </a:solidFill>
                <a:latin typeface="Consolas" panose="020B0609020204030204" pitchFamily="49" charset="0"/>
              </a:rPr>
              <a:t>.</a:t>
            </a:r>
            <a:r>
              <a:rPr lang="pl-PL" sz="1300" dirty="0" err="1">
                <a:solidFill>
                  <a:srgbClr val="C9D1D9"/>
                </a:solidFill>
                <a:latin typeface="Consolas" panose="020B0609020204030204" pitchFamily="49" charset="0"/>
              </a:rPr>
              <a:t>y</a:t>
            </a:r>
            <a:r>
              <a:rPr lang="pl-PL" sz="1300" dirty="0">
                <a:solidFill>
                  <a:srgbClr val="BBBEBF"/>
                </a:solidFill>
                <a:latin typeface="Consolas" panose="020B0609020204030204" pitchFamily="49" charset="0"/>
              </a:rPr>
              <a:t>, </a:t>
            </a:r>
            <a:r>
              <a:rPr lang="pl-PL" sz="1300" dirty="0" err="1">
                <a:solidFill>
                  <a:srgbClr val="C9D1D9"/>
                </a:solidFill>
                <a:latin typeface="Consolas" panose="020B0609020204030204" pitchFamily="49" charset="0"/>
              </a:rPr>
              <a:t>self</a:t>
            </a:r>
            <a:r>
              <a:rPr lang="pl-PL" sz="1300" dirty="0" err="1">
                <a:solidFill>
                  <a:srgbClr val="BBBEBF"/>
                </a:solidFill>
                <a:latin typeface="Consolas" panose="020B0609020204030204" pitchFamily="49" charset="0"/>
              </a:rPr>
              <a:t>.</a:t>
            </a:r>
            <a:r>
              <a:rPr lang="pl-PL" sz="1300" dirty="0" err="1">
                <a:solidFill>
                  <a:srgbClr val="C9D1D9"/>
                </a:solidFill>
                <a:latin typeface="Consolas" panose="020B0609020204030204" pitchFamily="49" charset="0"/>
              </a:rPr>
              <a:t>yaw</a:t>
            </a:r>
            <a:endParaRPr lang="pl-PL" sz="1300" dirty="0">
              <a:solidFill>
                <a:srgbClr val="BBBEBF"/>
              </a:solidFill>
              <a:latin typeface="Consolas" panose="020B0609020204030204" pitchFamily="49" charset="0"/>
            </a:endParaRPr>
          </a:p>
          <a:p>
            <a:pPr>
              <a:lnSpc>
                <a:spcPts val="1400"/>
              </a:lnSpc>
            </a:pPr>
            <a:r>
              <a:rPr lang="pl-PL" sz="1300" dirty="0">
                <a:solidFill>
                  <a:srgbClr val="BBBEBF"/>
                </a:solidFill>
                <a:latin typeface="Consolas" panose="020B0609020204030204" pitchFamily="49" charset="0"/>
              </a:rPr>
              <a:t/>
            </a:r>
            <a:br>
              <a:rPr lang="pl-PL" sz="1300" dirty="0">
                <a:solidFill>
                  <a:srgbClr val="BBBEBF"/>
                </a:solidFill>
                <a:latin typeface="Consolas" panose="020B0609020204030204" pitchFamily="49" charset="0"/>
              </a:rPr>
            </a:br>
            <a:r>
              <a:rPr lang="pl-PL" sz="1300" dirty="0">
                <a:solidFill>
                  <a:srgbClr val="C9D1D9"/>
                </a:solidFill>
                <a:latin typeface="Consolas" panose="020B0609020204030204" pitchFamily="49" charset="0"/>
              </a:rPr>
              <a:t>odo</a:t>
            </a:r>
            <a:r>
              <a:rPr lang="pl-PL" sz="1300" dirty="0">
                <a:solidFill>
                  <a:srgbClr val="BBBEBF"/>
                </a:solidFill>
                <a:latin typeface="Consolas" panose="020B0609020204030204" pitchFamily="49" charset="0"/>
              </a:rPr>
              <a:t> </a:t>
            </a:r>
            <a:r>
              <a:rPr lang="pl-PL" sz="1300" dirty="0">
                <a:solidFill>
                  <a:srgbClr val="D4D4D4"/>
                </a:solidFill>
                <a:latin typeface="Consolas" panose="020B0609020204030204" pitchFamily="49" charset="0"/>
              </a:rPr>
              <a:t>=</a:t>
            </a:r>
            <a:r>
              <a:rPr lang="pl-PL" sz="1300" dirty="0">
                <a:solidFill>
                  <a:srgbClr val="BBBEBF"/>
                </a:solidFill>
                <a:latin typeface="Consolas" panose="020B0609020204030204" pitchFamily="49" charset="0"/>
              </a:rPr>
              <a:t> </a:t>
            </a:r>
            <a:r>
              <a:rPr lang="pl-PL" sz="1300" dirty="0" err="1">
                <a:solidFill>
                  <a:srgbClr val="4EC9B0"/>
                </a:solidFill>
                <a:latin typeface="Consolas" panose="020B0609020204030204" pitchFamily="49" charset="0"/>
              </a:rPr>
              <a:t>StepOdometry</a:t>
            </a:r>
            <a:r>
              <a:rPr lang="pl-PL" sz="1300" dirty="0">
                <a:solidFill>
                  <a:srgbClr val="BBBEBF"/>
                </a:solidFill>
                <a:latin typeface="Consolas" panose="020B0609020204030204" pitchFamily="49" charset="0"/>
              </a:rPr>
              <a:t>()</a:t>
            </a:r>
          </a:p>
          <a:p>
            <a:pPr>
              <a:lnSpc>
                <a:spcPts val="1400"/>
              </a:lnSpc>
            </a:pPr>
            <a:r>
              <a:rPr lang="pl-PL" sz="1300" dirty="0">
                <a:solidFill>
                  <a:srgbClr val="C586C0"/>
                </a:solidFill>
                <a:latin typeface="Consolas" panose="020B0609020204030204" pitchFamily="49" charset="0"/>
              </a:rPr>
              <a:t>for</a:t>
            </a:r>
            <a:r>
              <a:rPr lang="pl-PL" sz="1300" dirty="0">
                <a:solidFill>
                  <a:srgbClr val="BBBEBF"/>
                </a:solidFill>
                <a:latin typeface="Consolas" panose="020B0609020204030204" pitchFamily="49" charset="0"/>
              </a:rPr>
              <a:t> </a:t>
            </a:r>
            <a:r>
              <a:rPr lang="pl-PL" sz="1300" dirty="0">
                <a:solidFill>
                  <a:srgbClr val="C9D1D9"/>
                </a:solidFill>
                <a:latin typeface="Consolas" panose="020B0609020204030204" pitchFamily="49" charset="0"/>
              </a:rPr>
              <a:t>_</a:t>
            </a:r>
            <a:r>
              <a:rPr lang="pl-PL" sz="1300" dirty="0">
                <a:solidFill>
                  <a:srgbClr val="BBBEBF"/>
                </a:solidFill>
                <a:latin typeface="Consolas" panose="020B0609020204030204" pitchFamily="49" charset="0"/>
              </a:rPr>
              <a:t> </a:t>
            </a:r>
            <a:r>
              <a:rPr lang="pl-PL" sz="1300" dirty="0">
                <a:solidFill>
                  <a:srgbClr val="C586C0"/>
                </a:solidFill>
                <a:latin typeface="Consolas" panose="020B0609020204030204" pitchFamily="49" charset="0"/>
              </a:rPr>
              <a:t>in</a:t>
            </a:r>
            <a:r>
              <a:rPr lang="pl-PL" sz="1300" dirty="0">
                <a:solidFill>
                  <a:srgbClr val="BBBEBF"/>
                </a:solidFill>
                <a:latin typeface="Consolas" panose="020B0609020204030204" pitchFamily="49" charset="0"/>
              </a:rPr>
              <a:t> </a:t>
            </a:r>
            <a:r>
              <a:rPr lang="pl-PL" sz="1300" dirty="0" err="1">
                <a:solidFill>
                  <a:srgbClr val="4EC9B0"/>
                </a:solidFill>
                <a:latin typeface="Consolas" panose="020B0609020204030204" pitchFamily="49" charset="0"/>
              </a:rPr>
              <a:t>range</a:t>
            </a:r>
            <a:r>
              <a:rPr lang="pl-PL" sz="1300" dirty="0">
                <a:solidFill>
                  <a:srgbClr val="BBBEBF"/>
                </a:solidFill>
                <a:latin typeface="Consolas" panose="020B0609020204030204" pitchFamily="49" charset="0"/>
              </a:rPr>
              <a:t>(</a:t>
            </a:r>
            <a:r>
              <a:rPr lang="pl-PL" sz="1300" dirty="0">
                <a:solidFill>
                  <a:srgbClr val="B5CEA8"/>
                </a:solidFill>
                <a:latin typeface="Consolas" panose="020B0609020204030204" pitchFamily="49" charset="0"/>
              </a:rPr>
              <a:t>10</a:t>
            </a:r>
            <a:r>
              <a:rPr lang="pl-PL" sz="1300" dirty="0">
                <a:solidFill>
                  <a:srgbClr val="BBBEBF"/>
                </a:solidFill>
                <a:latin typeface="Consolas" panose="020B0609020204030204" pitchFamily="49" charset="0"/>
              </a:rPr>
              <a:t>):</a:t>
            </a:r>
          </a:p>
          <a:p>
            <a:pPr>
              <a:lnSpc>
                <a:spcPts val="1400"/>
              </a:lnSpc>
            </a:pPr>
            <a:r>
              <a:rPr lang="pl-PL" sz="1300" dirty="0">
                <a:solidFill>
                  <a:srgbClr val="BBBEBF"/>
                </a:solidFill>
                <a:latin typeface="Consolas" panose="020B0609020204030204" pitchFamily="49" charset="0"/>
              </a:rPr>
              <a:t>    </a:t>
            </a:r>
            <a:r>
              <a:rPr lang="pl-PL" sz="1300" dirty="0">
                <a:solidFill>
                  <a:srgbClr val="C9D1D9"/>
                </a:solidFill>
                <a:latin typeface="Consolas" panose="020B0609020204030204" pitchFamily="49" charset="0"/>
              </a:rPr>
              <a:t>x</a:t>
            </a:r>
            <a:r>
              <a:rPr lang="pl-PL" sz="1300" dirty="0">
                <a:solidFill>
                  <a:srgbClr val="BBBEBF"/>
                </a:solidFill>
                <a:latin typeface="Consolas" panose="020B0609020204030204" pitchFamily="49" charset="0"/>
              </a:rPr>
              <a:t>, </a:t>
            </a:r>
            <a:r>
              <a:rPr lang="pl-PL" sz="1300" dirty="0">
                <a:solidFill>
                  <a:srgbClr val="C9D1D9"/>
                </a:solidFill>
                <a:latin typeface="Consolas" panose="020B0609020204030204" pitchFamily="49" charset="0"/>
              </a:rPr>
              <a:t>y</a:t>
            </a:r>
            <a:r>
              <a:rPr lang="pl-PL" sz="1300" dirty="0">
                <a:solidFill>
                  <a:srgbClr val="BBBEBF"/>
                </a:solidFill>
                <a:latin typeface="Consolas" panose="020B0609020204030204" pitchFamily="49" charset="0"/>
              </a:rPr>
              <a:t>, </a:t>
            </a:r>
            <a:r>
              <a:rPr lang="pl-PL" sz="1300" dirty="0" err="1">
                <a:solidFill>
                  <a:srgbClr val="C9D1D9"/>
                </a:solidFill>
                <a:latin typeface="Consolas" panose="020B0609020204030204" pitchFamily="49" charset="0"/>
              </a:rPr>
              <a:t>yaw</a:t>
            </a:r>
            <a:r>
              <a:rPr lang="pl-PL" sz="1300" dirty="0">
                <a:solidFill>
                  <a:srgbClr val="BBBEBF"/>
                </a:solidFill>
                <a:latin typeface="Consolas" panose="020B0609020204030204" pitchFamily="49" charset="0"/>
              </a:rPr>
              <a:t> </a:t>
            </a:r>
            <a:r>
              <a:rPr lang="pl-PL" sz="1300" dirty="0">
                <a:solidFill>
                  <a:srgbClr val="D4D4D4"/>
                </a:solidFill>
                <a:latin typeface="Consolas" panose="020B0609020204030204" pitchFamily="49" charset="0"/>
              </a:rPr>
              <a:t>=</a:t>
            </a:r>
            <a:r>
              <a:rPr lang="pl-PL" sz="1300" dirty="0">
                <a:solidFill>
                  <a:srgbClr val="BBBEBF"/>
                </a:solidFill>
                <a:latin typeface="Consolas" panose="020B0609020204030204" pitchFamily="49" charset="0"/>
              </a:rPr>
              <a:t> </a:t>
            </a:r>
            <a:r>
              <a:rPr lang="pl-PL" sz="1300" dirty="0" err="1">
                <a:solidFill>
                  <a:srgbClr val="C9D1D9"/>
                </a:solidFill>
                <a:latin typeface="Consolas" panose="020B0609020204030204" pitchFamily="49" charset="0"/>
              </a:rPr>
              <a:t>odo</a:t>
            </a:r>
            <a:r>
              <a:rPr lang="pl-PL" sz="1300" dirty="0" err="1">
                <a:solidFill>
                  <a:srgbClr val="BBBEBF"/>
                </a:solidFill>
                <a:latin typeface="Consolas" panose="020B0609020204030204" pitchFamily="49" charset="0"/>
              </a:rPr>
              <a:t>.</a:t>
            </a:r>
            <a:r>
              <a:rPr lang="pl-PL" sz="1300" dirty="0" err="1">
                <a:solidFill>
                  <a:srgbClr val="D2A8FF"/>
                </a:solidFill>
                <a:latin typeface="Consolas" panose="020B0609020204030204" pitchFamily="49" charset="0"/>
              </a:rPr>
              <a:t>step</a:t>
            </a:r>
            <a:r>
              <a:rPr lang="pl-PL" sz="1300" dirty="0">
                <a:solidFill>
                  <a:srgbClr val="BBBEBF"/>
                </a:solidFill>
                <a:latin typeface="Consolas" panose="020B0609020204030204" pitchFamily="49" charset="0"/>
              </a:rPr>
              <a:t>(</a:t>
            </a:r>
            <a:r>
              <a:rPr lang="pl-PL" sz="1300" dirty="0" err="1">
                <a:solidFill>
                  <a:srgbClr val="FFA657"/>
                </a:solidFill>
                <a:latin typeface="Consolas" panose="020B0609020204030204" pitchFamily="49" charset="0"/>
              </a:rPr>
              <a:t>stride_len</a:t>
            </a:r>
            <a:r>
              <a:rPr lang="pl-PL" sz="1300" dirty="0">
                <a:solidFill>
                  <a:srgbClr val="D4D4D4"/>
                </a:solidFill>
                <a:latin typeface="Consolas" panose="020B0609020204030204" pitchFamily="49" charset="0"/>
              </a:rPr>
              <a:t>=</a:t>
            </a:r>
            <a:r>
              <a:rPr lang="pl-PL" sz="1300" dirty="0">
                <a:solidFill>
                  <a:srgbClr val="B5CEA8"/>
                </a:solidFill>
                <a:latin typeface="Consolas" panose="020B0609020204030204" pitchFamily="49" charset="0"/>
              </a:rPr>
              <a:t>0.35</a:t>
            </a:r>
            <a:r>
              <a:rPr lang="pl-PL" sz="1300" dirty="0">
                <a:solidFill>
                  <a:srgbClr val="BBBEBF"/>
                </a:solidFill>
                <a:latin typeface="Consolas" panose="020B0609020204030204" pitchFamily="49" charset="0"/>
              </a:rPr>
              <a:t>, </a:t>
            </a:r>
            <a:r>
              <a:rPr lang="pl-PL" sz="1300" dirty="0" err="1">
                <a:solidFill>
                  <a:srgbClr val="FFA657"/>
                </a:solidFill>
                <a:latin typeface="Consolas" panose="020B0609020204030204" pitchFamily="49" charset="0"/>
              </a:rPr>
              <a:t>delta_yaw</a:t>
            </a:r>
            <a:r>
              <a:rPr lang="pl-PL" sz="1300" dirty="0">
                <a:solidFill>
                  <a:srgbClr val="D4D4D4"/>
                </a:solidFill>
                <a:latin typeface="Consolas" panose="020B0609020204030204" pitchFamily="49" charset="0"/>
              </a:rPr>
              <a:t>=</a:t>
            </a:r>
            <a:r>
              <a:rPr lang="pl-PL" sz="1300" dirty="0">
                <a:solidFill>
                  <a:srgbClr val="B5CEA8"/>
                </a:solidFill>
                <a:latin typeface="Consolas" panose="020B0609020204030204" pitchFamily="49" charset="0"/>
              </a:rPr>
              <a:t>0.02</a:t>
            </a:r>
            <a:r>
              <a:rPr lang="pl-PL" sz="1300" dirty="0" smtClean="0">
                <a:solidFill>
                  <a:srgbClr val="BBBEBF"/>
                </a:solidFill>
                <a:latin typeface="Consolas" panose="020B0609020204030204" pitchFamily="49" charset="0"/>
              </a:rPr>
              <a:t>)</a:t>
            </a:r>
            <a:endParaRPr lang="pl-PL" sz="1300" dirty="0">
              <a:solidFill>
                <a:srgbClr val="BBBEBF"/>
              </a:solidFill>
              <a:latin typeface="Consolas" panose="020B0609020204030204" pitchFamily="49" charset="0"/>
            </a:endParaRPr>
          </a:p>
        </p:txBody>
      </p:sp>
      <p:sp>
        <p:nvSpPr>
          <p:cNvPr id="11" name="Shape 9"/>
          <p:cNvSpPr/>
          <p:nvPr/>
        </p:nvSpPr>
        <p:spPr>
          <a:xfrm>
            <a:off x="274320" y="4495800"/>
            <a:ext cx="8595360" cy="441960"/>
          </a:xfrm>
          <a:prstGeom prst="rect">
            <a:avLst/>
          </a:prstGeom>
          <a:solidFill>
            <a:srgbClr val="1A3550"/>
          </a:solidFill>
          <a:ln w="12700">
            <a:solidFill>
              <a:srgbClr val="0077A8"/>
            </a:solidFill>
            <a:prstDash val="solid"/>
          </a:ln>
        </p:spPr>
      </p:sp>
      <p:sp>
        <p:nvSpPr>
          <p:cNvPr id="12" name="Text 10"/>
          <p:cNvSpPr/>
          <p:nvPr/>
        </p:nvSpPr>
        <p:spPr>
          <a:xfrm>
            <a:off x="457200" y="4495800"/>
            <a:ext cx="8321040" cy="441960"/>
          </a:xfrm>
          <a:prstGeom prst="rect">
            <a:avLst/>
          </a:prstGeom>
          <a:noFill/>
          <a:ln/>
        </p:spPr>
        <p:txBody>
          <a:bodyPr wrap="square" lIns="0" tIns="0" rIns="127000" bIns="0" rtlCol="0" anchor="ctr"/>
          <a:lstStyle/>
          <a:p>
            <a:pPr marL="0" indent="0" algn="ctr">
              <a:buNone/>
            </a:pPr>
            <a:r>
              <a:rPr lang="en-US" sz="1600" b="1" dirty="0">
                <a:solidFill>
                  <a:srgbClr val="00B4D8"/>
                </a:solidFill>
                <a:latin typeface="Calibri" pitchFamily="34" charset="0"/>
                <a:ea typeface="Calibri" pitchFamily="34" charset="-122"/>
                <a:cs typeface="Calibri" pitchFamily="34" charset="-120"/>
              </a:rPr>
              <a:t>Opis: </a:t>
            </a:r>
            <a:r>
              <a:rPr lang="en-US" sz="1600" dirty="0">
                <a:solidFill>
                  <a:srgbClr val="E2EBF3"/>
                </a:solidFill>
                <a:latin typeface="Calibri" pitchFamily="34" charset="0"/>
                <a:ea typeface="Calibri" pitchFamily="34" charset="-122"/>
                <a:cs typeface="Calibri" pitchFamily="34" charset="-120"/>
              </a:rPr>
              <a:t>Każdy krok aktualizuje pozycję bazy przez kinematykę planarną; </a:t>
            </a:r>
            <a:r>
              <a:rPr lang="en-US" sz="1600" b="1" dirty="0">
                <a:solidFill>
                  <a:schemeClr val="accent2"/>
                </a:solidFill>
                <a:latin typeface="Calibri" pitchFamily="34" charset="0"/>
                <a:ea typeface="Calibri" pitchFamily="34" charset="-122"/>
                <a:cs typeface="Calibri" pitchFamily="34" charset="-120"/>
              </a:rPr>
              <a:t>delta_yaw</a:t>
            </a:r>
            <a:r>
              <a:rPr lang="en-US" sz="1600" dirty="0">
                <a:solidFill>
                  <a:srgbClr val="E2EBF3"/>
                </a:solidFill>
                <a:latin typeface="Calibri" pitchFamily="34" charset="0"/>
                <a:ea typeface="Calibri" pitchFamily="34" charset="-122"/>
                <a:cs typeface="Calibri" pitchFamily="34" charset="-120"/>
              </a:rPr>
              <a:t> pochodzi z </a:t>
            </a:r>
            <a:r>
              <a:rPr lang="en-US" sz="1600" dirty="0" smtClean="0">
                <a:solidFill>
                  <a:srgbClr val="E2EBF3"/>
                </a:solidFill>
                <a:latin typeface="Calibri" pitchFamily="34" charset="0"/>
                <a:ea typeface="Calibri" pitchFamily="34" charset="-122"/>
                <a:cs typeface="Calibri" pitchFamily="34" charset="-120"/>
              </a:rPr>
              <a:t>IMU</a:t>
            </a:r>
            <a:endParaRPr lang="en-US" sz="1600" dirty="0"/>
          </a:p>
        </p:txBody>
      </p:sp>
      <p:sp>
        <p:nvSpPr>
          <p:cNvPr id="13" name="Shape 5"/>
          <p:cNvSpPr/>
          <p:nvPr/>
        </p:nvSpPr>
        <p:spPr>
          <a:xfrm>
            <a:off x="8105004" y="1115568"/>
            <a:ext cx="146304" cy="146304"/>
          </a:xfrm>
          <a:prstGeom prst="ellipse">
            <a:avLst/>
          </a:prstGeom>
          <a:solidFill>
            <a:srgbClr val="F72585"/>
          </a:solidFill>
          <a:ln w="12700">
            <a:solidFill>
              <a:srgbClr val="F72585"/>
            </a:solidFill>
            <a:prstDash val="solid"/>
          </a:ln>
        </p:spPr>
      </p:sp>
      <p:sp>
        <p:nvSpPr>
          <p:cNvPr id="14" name="Shape 6"/>
          <p:cNvSpPr/>
          <p:nvPr/>
        </p:nvSpPr>
        <p:spPr>
          <a:xfrm>
            <a:off x="8361036" y="1115568"/>
            <a:ext cx="146304" cy="146304"/>
          </a:xfrm>
          <a:prstGeom prst="ellipse">
            <a:avLst/>
          </a:prstGeom>
          <a:solidFill>
            <a:srgbClr val="FFD60A"/>
          </a:solidFill>
          <a:ln w="12700">
            <a:solidFill>
              <a:srgbClr val="FFD60A"/>
            </a:solidFill>
            <a:prstDash val="solid"/>
          </a:ln>
        </p:spPr>
      </p:sp>
      <p:sp>
        <p:nvSpPr>
          <p:cNvPr id="15" name="Shape 7"/>
          <p:cNvSpPr/>
          <p:nvPr/>
        </p:nvSpPr>
        <p:spPr>
          <a:xfrm>
            <a:off x="8617068" y="1115568"/>
            <a:ext cx="146304" cy="146304"/>
          </a:xfrm>
          <a:prstGeom prst="ellipse">
            <a:avLst/>
          </a:prstGeom>
          <a:solidFill>
            <a:srgbClr val="C3F584"/>
          </a:solidFill>
          <a:ln w="12700">
            <a:solidFill>
              <a:srgbClr val="C3F584"/>
            </a:solidFill>
            <a:prstDash val="solid"/>
          </a:ln>
        </p:spPr>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A3550"/>
        </a:solidFill>
        <a:effectLst/>
      </p:bgPr>
    </p:bg>
    <p:spTree>
      <p:nvGrpSpPr>
        <p:cNvPr id="1" name=""/>
        <p:cNvGrpSpPr/>
        <p:nvPr/>
      </p:nvGrpSpPr>
      <p:grpSpPr>
        <a:xfrm>
          <a:off x="0" y="0"/>
          <a:ext cx="0" cy="0"/>
          <a:chOff x="0" y="0"/>
          <a:chExt cx="0" cy="0"/>
        </a:xfrm>
      </p:grpSpPr>
      <p:sp>
        <p:nvSpPr>
          <p:cNvPr id="2" name="Shape 0"/>
          <p:cNvSpPr/>
          <p:nvPr/>
        </p:nvSpPr>
        <p:spPr>
          <a:xfrm>
            <a:off x="0" y="0"/>
            <a:ext cx="9144000" cy="91440"/>
          </a:xfrm>
          <a:prstGeom prst="rect">
            <a:avLst/>
          </a:prstGeom>
          <a:solidFill>
            <a:srgbClr val="00B4D8"/>
          </a:solidFill>
          <a:ln w="12700">
            <a:solidFill>
              <a:srgbClr val="00B4D8"/>
            </a:solidFill>
            <a:prstDash val="solid"/>
          </a:ln>
        </p:spPr>
      </p:sp>
      <p:sp>
        <p:nvSpPr>
          <p:cNvPr id="3" name="Shape 1"/>
          <p:cNvSpPr/>
          <p:nvPr/>
        </p:nvSpPr>
        <p:spPr>
          <a:xfrm>
            <a:off x="0" y="5052060"/>
            <a:ext cx="9144000" cy="91440"/>
          </a:xfrm>
          <a:prstGeom prst="rect">
            <a:avLst/>
          </a:prstGeom>
          <a:solidFill>
            <a:srgbClr val="0077A8"/>
          </a:solidFill>
          <a:ln w="12700">
            <a:solidFill>
              <a:srgbClr val="0077A8"/>
            </a:solidFill>
            <a:prstDash val="solid"/>
          </a:ln>
        </p:spPr>
      </p:sp>
      <p:sp>
        <p:nvSpPr>
          <p:cNvPr id="4" name="Text 2"/>
          <p:cNvSpPr/>
          <p:nvPr/>
        </p:nvSpPr>
        <p:spPr>
          <a:xfrm>
            <a:off x="457200" y="640080"/>
            <a:ext cx="2286000" cy="2286000"/>
          </a:xfrm>
          <a:prstGeom prst="rect">
            <a:avLst/>
          </a:prstGeom>
          <a:noFill/>
          <a:ln/>
          <a:effectLst>
            <a:outerShdw blurRad="50800" dist="38100" dir="2700000" algn="tl" rotWithShape="0">
              <a:prstClr val="black">
                <a:alpha val="40000"/>
              </a:prstClr>
            </a:outerShdw>
          </a:effectLst>
        </p:spPr>
        <p:txBody>
          <a:bodyPr wrap="square" lIns="0" tIns="0" rIns="0" bIns="0" rtlCol="0" anchor="ctr"/>
          <a:lstStyle/>
          <a:p>
            <a:pPr marL="0" indent="0" algn="ctr">
              <a:buNone/>
            </a:pPr>
            <a:r>
              <a:rPr lang="en-US" sz="12000" b="1" dirty="0">
                <a:solidFill>
                  <a:srgbClr val="00B4D8">
                    <a:alpha val="80000"/>
                  </a:srgbClr>
                </a:solidFill>
                <a:latin typeface="Trebuchet MS" pitchFamily="34" charset="0"/>
                <a:ea typeface="Trebuchet MS" pitchFamily="34" charset="-122"/>
                <a:cs typeface="Trebuchet MS" pitchFamily="34" charset="-120"/>
              </a:rPr>
              <a:t>02</a:t>
            </a:r>
            <a:endParaRPr lang="en-US" sz="12000" dirty="0"/>
          </a:p>
        </p:txBody>
      </p:sp>
      <p:sp>
        <p:nvSpPr>
          <p:cNvPr id="5" name="Shape 3"/>
          <p:cNvSpPr/>
          <p:nvPr/>
        </p:nvSpPr>
        <p:spPr>
          <a:xfrm>
            <a:off x="7132320" y="1371600"/>
            <a:ext cx="1645920" cy="1645920"/>
          </a:xfrm>
          <a:prstGeom prst="ellipse">
            <a:avLst/>
          </a:prstGeom>
          <a:solidFill>
            <a:schemeClr val="bg1"/>
          </a:solidFill>
          <a:ln w="57150">
            <a:solidFill>
              <a:srgbClr val="00B4D8"/>
            </a:solidFill>
            <a:prstDash val="solid"/>
          </a:ln>
          <a:effectLst>
            <a:outerShdw blurRad="50800" dist="38100" dir="2700000" algn="tl" rotWithShape="0">
              <a:prstClr val="black">
                <a:alpha val="40000"/>
              </a:prstClr>
            </a:outerShdw>
          </a:effectLst>
        </p:spPr>
      </p:sp>
      <p:pic>
        <p:nvPicPr>
          <p:cNvPr id="6" name="Image 0" descr="preencoded.png"/>
          <p:cNvPicPr>
            <a:picLocks noChangeAspect="1"/>
          </p:cNvPicPr>
          <p:nvPr/>
        </p:nvPicPr>
        <p:blipFill>
          <a:blip r:embed="rId3"/>
          <a:stretch>
            <a:fillRect/>
          </a:stretch>
        </p:blipFill>
        <p:spPr>
          <a:xfrm>
            <a:off x="7446645" y="1685925"/>
            <a:ext cx="1017270" cy="1017270"/>
          </a:xfrm>
          <a:prstGeom prst="rect">
            <a:avLst/>
          </a:prstGeom>
        </p:spPr>
      </p:pic>
      <p:sp>
        <p:nvSpPr>
          <p:cNvPr id="7" name="Text 4"/>
          <p:cNvSpPr/>
          <p:nvPr/>
        </p:nvSpPr>
        <p:spPr>
          <a:xfrm>
            <a:off x="2926080" y="1188720"/>
            <a:ext cx="3931920" cy="365760"/>
          </a:xfrm>
          <a:prstGeom prst="rect">
            <a:avLst/>
          </a:prstGeom>
          <a:noFill/>
          <a:ln/>
        </p:spPr>
        <p:txBody>
          <a:bodyPr wrap="square" lIns="0" tIns="0" rIns="0" bIns="0" rtlCol="0" anchor="ctr"/>
          <a:lstStyle/>
          <a:p>
            <a:pPr marL="0" indent="0">
              <a:buNone/>
            </a:pPr>
            <a:r>
              <a:rPr lang="en-US" sz="1200" b="1" kern="0" spc="400" dirty="0">
                <a:solidFill>
                  <a:srgbClr val="00B4D8"/>
                </a:solidFill>
                <a:latin typeface="Trebuchet MS" pitchFamily="34" charset="0"/>
                <a:ea typeface="Trebuchet MS" pitchFamily="34" charset="-122"/>
                <a:cs typeface="Trebuchet MS" pitchFamily="34" charset="-120"/>
              </a:rPr>
              <a:t>SEKCJA</a:t>
            </a:r>
            <a:endParaRPr lang="en-US" sz="1200" dirty="0"/>
          </a:p>
        </p:txBody>
      </p:sp>
      <p:sp>
        <p:nvSpPr>
          <p:cNvPr id="8" name="Text 5"/>
          <p:cNvSpPr/>
          <p:nvPr/>
        </p:nvSpPr>
        <p:spPr>
          <a:xfrm>
            <a:off x="2926080" y="1600200"/>
            <a:ext cx="3931920" cy="1005840"/>
          </a:xfrm>
          <a:prstGeom prst="rect">
            <a:avLst/>
          </a:prstGeom>
          <a:noFill/>
          <a:ln/>
        </p:spPr>
        <p:txBody>
          <a:bodyPr wrap="square" lIns="0" tIns="0" rIns="0" bIns="0" rtlCol="0" anchor="ctr"/>
          <a:lstStyle/>
          <a:p>
            <a:pPr marL="0" indent="0">
              <a:buNone/>
            </a:pPr>
            <a:r>
              <a:rPr lang="en-US" sz="3200" b="1" dirty="0">
                <a:solidFill>
                  <a:srgbClr val="FFFFFF"/>
                </a:solidFill>
                <a:latin typeface="Trebuchet MS" pitchFamily="34" charset="0"/>
                <a:ea typeface="Trebuchet MS" pitchFamily="34" charset="-122"/>
                <a:cs typeface="Trebuchet MS" pitchFamily="34" charset="-120"/>
              </a:rPr>
              <a:t>Filtry estymacyjne</a:t>
            </a:r>
            <a:endParaRPr lang="en-US" sz="3200" dirty="0"/>
          </a:p>
          <a:p>
            <a:pPr marL="0" indent="0">
              <a:buNone/>
            </a:pPr>
            <a:r>
              <a:rPr lang="en-US" sz="3200" b="1" dirty="0">
                <a:solidFill>
                  <a:srgbClr val="FFFFFF"/>
                </a:solidFill>
                <a:latin typeface="Trebuchet MS" pitchFamily="34" charset="0"/>
                <a:ea typeface="Trebuchet MS" pitchFamily="34" charset="-122"/>
                <a:cs typeface="Trebuchet MS" pitchFamily="34" charset="-120"/>
              </a:rPr>
              <a:t>i fuzja sensoryczna</a:t>
            </a:r>
            <a:endParaRPr lang="en-US" sz="3200" dirty="0"/>
          </a:p>
        </p:txBody>
      </p:sp>
      <p:sp>
        <p:nvSpPr>
          <p:cNvPr id="9" name="Shape 6"/>
          <p:cNvSpPr/>
          <p:nvPr/>
        </p:nvSpPr>
        <p:spPr>
          <a:xfrm>
            <a:off x="2926080" y="2697480"/>
            <a:ext cx="3931920" cy="27432"/>
          </a:xfrm>
          <a:prstGeom prst="rect">
            <a:avLst/>
          </a:prstGeom>
          <a:solidFill>
            <a:srgbClr val="00B4D8"/>
          </a:solidFill>
          <a:ln w="12700">
            <a:solidFill>
              <a:srgbClr val="00B4D8"/>
            </a:solidFill>
            <a:prstDash val="solid"/>
          </a:ln>
          <a:effectLst>
            <a:outerShdw blurRad="50800" dist="38100" dir="2700000" algn="tl" rotWithShape="0">
              <a:prstClr val="black">
                <a:alpha val="40000"/>
              </a:prstClr>
            </a:outerShdw>
          </a:effectLst>
        </p:spPr>
      </p:sp>
      <p:sp>
        <p:nvSpPr>
          <p:cNvPr id="10" name="Text 7"/>
          <p:cNvSpPr/>
          <p:nvPr/>
        </p:nvSpPr>
        <p:spPr>
          <a:xfrm>
            <a:off x="2926080" y="2834640"/>
            <a:ext cx="3931920" cy="822960"/>
          </a:xfrm>
          <a:prstGeom prst="rect">
            <a:avLst/>
          </a:prstGeom>
          <a:noFill/>
          <a:ln/>
        </p:spPr>
        <p:txBody>
          <a:bodyPr wrap="square" lIns="0" tIns="0" rIns="0" bIns="0" rtlCol="0" anchor="ctr"/>
          <a:lstStyle/>
          <a:p>
            <a:pPr marL="0" indent="0">
              <a:buNone/>
            </a:pPr>
            <a:r>
              <a:rPr lang="en-US" sz="1400" i="1" dirty="0">
                <a:solidFill>
                  <a:srgbClr val="E2EBF3"/>
                </a:solidFill>
                <a:latin typeface="Calibri" pitchFamily="34" charset="0"/>
                <a:ea typeface="Calibri" pitchFamily="34" charset="-122"/>
                <a:cs typeface="Calibri" pitchFamily="34" charset="-120"/>
              </a:rPr>
              <a:t>EKF, UKF, filtr cząsteczkowy, fuzja IMU+enkodery+wzrok</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0F4F8"/>
        </a:solidFill>
        <a:effectLst/>
      </p:bgPr>
    </p:bg>
    <p:spTree>
      <p:nvGrpSpPr>
        <p:cNvPr id="1" name=""/>
        <p:cNvGrpSpPr/>
        <p:nvPr/>
      </p:nvGrpSpPr>
      <p:grpSpPr>
        <a:xfrm>
          <a:off x="0" y="0"/>
          <a:ext cx="0" cy="0"/>
          <a:chOff x="0" y="0"/>
          <a:chExt cx="0" cy="0"/>
        </a:xfrm>
      </p:grpSpPr>
      <p:sp>
        <p:nvSpPr>
          <p:cNvPr id="2" name="Shape 0"/>
          <p:cNvSpPr/>
          <p:nvPr/>
        </p:nvSpPr>
        <p:spPr>
          <a:xfrm>
            <a:off x="0" y="0"/>
            <a:ext cx="64008" cy="5143500"/>
          </a:xfrm>
          <a:prstGeom prst="rect">
            <a:avLst/>
          </a:prstGeom>
          <a:solidFill>
            <a:srgbClr val="00B4D8"/>
          </a:solidFill>
          <a:ln w="12700">
            <a:solidFill>
              <a:srgbClr val="00B4D8"/>
            </a:solidFill>
            <a:prstDash val="solid"/>
          </a:ln>
        </p:spPr>
      </p:sp>
      <p:sp>
        <p:nvSpPr>
          <p:cNvPr id="3" name="Shape 1"/>
          <p:cNvSpPr/>
          <p:nvPr/>
        </p:nvSpPr>
        <p:spPr>
          <a:xfrm>
            <a:off x="64008" y="0"/>
            <a:ext cx="9079992" cy="960120"/>
          </a:xfrm>
          <a:prstGeom prst="rect">
            <a:avLst/>
          </a:prstGeom>
          <a:solidFill>
            <a:srgbClr val="0D1B2A"/>
          </a:solidFill>
          <a:ln w="12700">
            <a:solidFill>
              <a:srgbClr val="0D1B2A"/>
            </a:solidFill>
            <a:prstDash val="solid"/>
          </a:ln>
        </p:spPr>
      </p:sp>
      <p:sp>
        <p:nvSpPr>
          <p:cNvPr id="4" name="Text 2"/>
          <p:cNvSpPr/>
          <p:nvPr/>
        </p:nvSpPr>
        <p:spPr>
          <a:xfrm>
            <a:off x="228600" y="73152"/>
            <a:ext cx="4572000" cy="274320"/>
          </a:xfrm>
          <a:prstGeom prst="rect">
            <a:avLst/>
          </a:prstGeom>
          <a:noFill/>
          <a:ln/>
        </p:spPr>
        <p:txBody>
          <a:bodyPr wrap="square" lIns="0" tIns="0" rIns="0" bIns="0" rtlCol="0" anchor="ctr"/>
          <a:lstStyle/>
          <a:p>
            <a:pPr marL="0" indent="0">
              <a:buNone/>
            </a:pPr>
            <a:r>
              <a:rPr lang="en-US" sz="900" b="1" kern="0" spc="200" dirty="0">
                <a:solidFill>
                  <a:srgbClr val="00B4D8"/>
                </a:solidFill>
                <a:latin typeface="Trebuchet MS" pitchFamily="34" charset="0"/>
                <a:ea typeface="Trebuchet MS" pitchFamily="34" charset="-122"/>
                <a:cs typeface="Trebuchet MS" pitchFamily="34" charset="-120"/>
              </a:rPr>
              <a:t>SEKCJA 2 | FUZJA</a:t>
            </a:r>
            <a:endParaRPr lang="en-US" sz="900" dirty="0"/>
          </a:p>
        </p:txBody>
      </p:sp>
      <p:sp>
        <p:nvSpPr>
          <p:cNvPr id="5" name="Text 3"/>
          <p:cNvSpPr/>
          <p:nvPr/>
        </p:nvSpPr>
        <p:spPr>
          <a:xfrm>
            <a:off x="228600" y="274320"/>
            <a:ext cx="8686800" cy="594360"/>
          </a:xfrm>
          <a:prstGeom prst="rect">
            <a:avLst/>
          </a:prstGeom>
          <a:noFill/>
          <a:ln/>
        </p:spPr>
        <p:txBody>
          <a:bodyPr wrap="square" lIns="0" tIns="0" rIns="0" bIns="0" rtlCol="0" anchor="ctr"/>
          <a:lstStyle/>
          <a:p>
            <a:pPr marL="0" indent="0">
              <a:buNone/>
            </a:pPr>
            <a:r>
              <a:rPr lang="en-US" sz="2800" b="1" dirty="0">
                <a:solidFill>
                  <a:srgbClr val="FFFFFF"/>
                </a:solidFill>
                <a:latin typeface="Trebuchet MS" pitchFamily="34" charset="0"/>
                <a:ea typeface="Trebuchet MS" pitchFamily="34" charset="-122"/>
                <a:cs typeface="Trebuchet MS" pitchFamily="34" charset="-120"/>
              </a:rPr>
              <a:t>Po co łączyć sensory?</a:t>
            </a:r>
            <a:endParaRPr lang="en-US" sz="2800" dirty="0"/>
          </a:p>
        </p:txBody>
      </p:sp>
      <p:grpSp>
        <p:nvGrpSpPr>
          <p:cNvPr id="22" name="Grupa 21"/>
          <p:cNvGrpSpPr/>
          <p:nvPr/>
        </p:nvGrpSpPr>
        <p:grpSpPr>
          <a:xfrm>
            <a:off x="274320" y="1082544"/>
            <a:ext cx="8595360" cy="2915122"/>
            <a:chOff x="274320" y="1143000"/>
            <a:chExt cx="8595360" cy="3520440"/>
          </a:xfrm>
        </p:grpSpPr>
        <p:sp>
          <p:nvSpPr>
            <p:cNvPr id="6" name="Shape 4"/>
            <p:cNvSpPr/>
            <p:nvPr/>
          </p:nvSpPr>
          <p:spPr>
            <a:xfrm>
              <a:off x="274320" y="1143000"/>
              <a:ext cx="4160520" cy="1691640"/>
            </a:xfrm>
            <a:prstGeom prst="rect">
              <a:avLst/>
            </a:prstGeom>
            <a:solidFill>
              <a:srgbClr val="FFFFFF"/>
            </a:solidFill>
            <a:ln w="12700">
              <a:solidFill>
                <a:srgbClr val="E2EBF3"/>
              </a:solidFill>
              <a:prstDash val="solid"/>
            </a:ln>
            <a:effectLst>
              <a:outerShdw blurRad="76200" dist="25400" dir="8100000" algn="bl" rotWithShape="0">
                <a:srgbClr val="000000">
                  <a:alpha val="12000"/>
                </a:srgbClr>
              </a:outerShdw>
            </a:effectLst>
          </p:spPr>
        </p:sp>
        <p:sp>
          <p:nvSpPr>
            <p:cNvPr id="7" name="Shape 5"/>
            <p:cNvSpPr/>
            <p:nvPr/>
          </p:nvSpPr>
          <p:spPr>
            <a:xfrm>
              <a:off x="274320" y="1143000"/>
              <a:ext cx="4160520" cy="54864"/>
            </a:xfrm>
            <a:prstGeom prst="rect">
              <a:avLst/>
            </a:prstGeom>
            <a:solidFill>
              <a:srgbClr val="00B4D8"/>
            </a:solidFill>
            <a:ln w="12700">
              <a:solidFill>
                <a:srgbClr val="00B4D8"/>
              </a:solidFill>
              <a:prstDash val="solid"/>
            </a:ln>
          </p:spPr>
        </p:sp>
        <p:sp>
          <p:nvSpPr>
            <p:cNvPr id="8" name="Text 6"/>
            <p:cNvSpPr/>
            <p:nvPr/>
          </p:nvSpPr>
          <p:spPr>
            <a:xfrm>
              <a:off x="384048" y="1234440"/>
              <a:ext cx="3941064" cy="642823"/>
            </a:xfrm>
            <a:prstGeom prst="rect">
              <a:avLst/>
            </a:prstGeom>
            <a:noFill/>
            <a:ln/>
          </p:spPr>
          <p:txBody>
            <a:bodyPr wrap="square" lIns="0" tIns="0" rIns="0" bIns="0" rtlCol="0" anchor="ctr"/>
            <a:lstStyle/>
            <a:p>
              <a:pPr marL="0" indent="0">
                <a:buNone/>
              </a:pPr>
              <a:r>
                <a:rPr lang="en-US" sz="2000" b="1" dirty="0">
                  <a:solidFill>
                    <a:srgbClr val="0D1B2A"/>
                  </a:solidFill>
                  <a:latin typeface="Trebuchet MS" pitchFamily="34" charset="0"/>
                  <a:ea typeface="Trebuchet MS" pitchFamily="34" charset="-122"/>
                  <a:cs typeface="Trebuchet MS" pitchFamily="34" charset="-120"/>
                </a:rPr>
                <a:t>Komplementarność</a:t>
              </a:r>
              <a:endParaRPr lang="en-US" sz="2000" dirty="0"/>
            </a:p>
          </p:txBody>
        </p:sp>
        <p:sp>
          <p:nvSpPr>
            <p:cNvPr id="9" name="Text 7"/>
            <p:cNvSpPr/>
            <p:nvPr/>
          </p:nvSpPr>
          <p:spPr>
            <a:xfrm>
              <a:off x="384048" y="1853489"/>
              <a:ext cx="3941064" cy="930402"/>
            </a:xfrm>
            <a:prstGeom prst="rect">
              <a:avLst/>
            </a:prstGeom>
            <a:noFill/>
            <a:ln/>
          </p:spPr>
          <p:txBody>
            <a:bodyPr wrap="square" lIns="0" tIns="0" rIns="0" bIns="0" rtlCol="0" anchor="ctr"/>
            <a:lstStyle/>
            <a:p>
              <a:pPr marL="0" indent="0">
                <a:buNone/>
              </a:pPr>
              <a:r>
                <a:rPr lang="en-US" sz="1600" dirty="0" err="1" smtClean="0">
                  <a:solidFill>
                    <a:srgbClr val="475569"/>
                  </a:solidFill>
                  <a:latin typeface="Calibri" pitchFamily="34" charset="0"/>
                  <a:ea typeface="Calibri" pitchFamily="34" charset="-122"/>
                  <a:cs typeface="Calibri" pitchFamily="34" charset="-120"/>
                </a:rPr>
                <a:t>Żyroskop</a:t>
              </a:r>
              <a:r>
                <a:rPr lang="pl-PL" sz="1600" dirty="0">
                  <a:solidFill>
                    <a:srgbClr val="475569"/>
                  </a:solidFill>
                  <a:latin typeface="Calibri" pitchFamily="34" charset="0"/>
                  <a:ea typeface="Calibri" pitchFamily="34" charset="-122"/>
                  <a:cs typeface="Calibri" pitchFamily="34" charset="-120"/>
                </a:rPr>
                <a:t>:</a:t>
              </a:r>
              <a:r>
                <a:rPr lang="en-US" sz="1600" dirty="0" smtClean="0">
                  <a:solidFill>
                    <a:srgbClr val="475569"/>
                  </a:solidFill>
                  <a:latin typeface="Calibri" pitchFamily="34" charset="0"/>
                  <a:ea typeface="Calibri" pitchFamily="34" charset="-122"/>
                  <a:cs typeface="Calibri" pitchFamily="34" charset="-120"/>
                </a:rPr>
                <a:t> </a:t>
              </a:r>
              <a:r>
                <a:rPr lang="en-US" sz="1600" dirty="0">
                  <a:solidFill>
                    <a:srgbClr val="475569"/>
                  </a:solidFill>
                  <a:latin typeface="Calibri" pitchFamily="34" charset="0"/>
                  <a:ea typeface="Calibri" pitchFamily="34" charset="-122"/>
                  <a:cs typeface="Calibri" pitchFamily="34" charset="-120"/>
                </a:rPr>
                <a:t>szybki, dryfuje. </a:t>
              </a:r>
              <a:r>
                <a:rPr lang="en-US" sz="1600" dirty="0" err="1" smtClean="0">
                  <a:solidFill>
                    <a:srgbClr val="475569"/>
                  </a:solidFill>
                  <a:latin typeface="Calibri" pitchFamily="34" charset="0"/>
                  <a:ea typeface="Calibri" pitchFamily="34" charset="-122"/>
                  <a:cs typeface="Calibri" pitchFamily="34" charset="-120"/>
                </a:rPr>
                <a:t>Akcelerometr</a:t>
              </a:r>
              <a:r>
                <a:rPr lang="pl-PL" sz="1600" dirty="0">
                  <a:solidFill>
                    <a:srgbClr val="475569"/>
                  </a:solidFill>
                  <a:latin typeface="Calibri" pitchFamily="34" charset="0"/>
                  <a:ea typeface="Calibri" pitchFamily="34" charset="-122"/>
                  <a:cs typeface="Calibri" pitchFamily="34" charset="-120"/>
                </a:rPr>
                <a:t>:</a:t>
              </a:r>
              <a:r>
                <a:rPr lang="en-US" sz="1600" dirty="0" smtClean="0">
                  <a:solidFill>
                    <a:srgbClr val="475569"/>
                  </a:solidFill>
                  <a:latin typeface="Calibri" pitchFamily="34" charset="0"/>
                  <a:ea typeface="Calibri" pitchFamily="34" charset="-122"/>
                  <a:cs typeface="Calibri" pitchFamily="34" charset="-120"/>
                </a:rPr>
                <a:t> </a:t>
              </a:r>
              <a:r>
                <a:rPr lang="en-US" sz="1600" dirty="0">
                  <a:solidFill>
                    <a:srgbClr val="475569"/>
                  </a:solidFill>
                  <a:latin typeface="Calibri" pitchFamily="34" charset="0"/>
                  <a:ea typeface="Calibri" pitchFamily="34" charset="-122"/>
                  <a:cs typeface="Calibri" pitchFamily="34" charset="-120"/>
                </a:rPr>
                <a:t>wolny, stabilny kąt. </a:t>
              </a:r>
              <a:r>
                <a:rPr lang="en-US" sz="1600" dirty="0" err="1" smtClean="0">
                  <a:solidFill>
                    <a:srgbClr val="475569"/>
                  </a:solidFill>
                  <a:latin typeface="Calibri" pitchFamily="34" charset="0"/>
                  <a:ea typeface="Calibri" pitchFamily="34" charset="-122"/>
                  <a:cs typeface="Calibri" pitchFamily="34" charset="-120"/>
                </a:rPr>
                <a:t>Razem</a:t>
              </a:r>
              <a:r>
                <a:rPr lang="en-US" sz="1600" dirty="0">
                  <a:solidFill>
                    <a:srgbClr val="475569"/>
                  </a:solidFill>
                  <a:latin typeface="Calibri" pitchFamily="34" charset="0"/>
                  <a:ea typeface="Calibri" pitchFamily="34" charset="-122"/>
                  <a:cs typeface="Calibri" pitchFamily="34" charset="-120"/>
                </a:rPr>
                <a:t>: lepiej.</a:t>
              </a:r>
              <a:endParaRPr lang="en-US" sz="1600" dirty="0"/>
            </a:p>
          </p:txBody>
        </p:sp>
        <p:sp>
          <p:nvSpPr>
            <p:cNvPr id="10" name="Shape 8"/>
            <p:cNvSpPr/>
            <p:nvPr/>
          </p:nvSpPr>
          <p:spPr>
            <a:xfrm>
              <a:off x="4709160" y="1143000"/>
              <a:ext cx="4160520" cy="1691640"/>
            </a:xfrm>
            <a:prstGeom prst="rect">
              <a:avLst/>
            </a:prstGeom>
            <a:solidFill>
              <a:srgbClr val="FFFFFF"/>
            </a:solidFill>
            <a:ln w="12700">
              <a:solidFill>
                <a:srgbClr val="E2EBF3"/>
              </a:solidFill>
              <a:prstDash val="solid"/>
            </a:ln>
            <a:effectLst>
              <a:outerShdw blurRad="76200" dist="25400" dir="8100000" algn="bl" rotWithShape="0">
                <a:srgbClr val="000000">
                  <a:alpha val="12000"/>
                </a:srgbClr>
              </a:outerShdw>
            </a:effectLst>
          </p:spPr>
        </p:sp>
        <p:sp>
          <p:nvSpPr>
            <p:cNvPr id="11" name="Shape 9"/>
            <p:cNvSpPr/>
            <p:nvPr/>
          </p:nvSpPr>
          <p:spPr>
            <a:xfrm>
              <a:off x="4709160" y="1143000"/>
              <a:ext cx="4160520" cy="54864"/>
            </a:xfrm>
            <a:prstGeom prst="rect">
              <a:avLst/>
            </a:prstGeom>
            <a:solidFill>
              <a:srgbClr val="0077A8"/>
            </a:solidFill>
            <a:ln w="12700">
              <a:solidFill>
                <a:srgbClr val="0077A8"/>
              </a:solidFill>
              <a:prstDash val="solid"/>
            </a:ln>
          </p:spPr>
        </p:sp>
        <p:sp>
          <p:nvSpPr>
            <p:cNvPr id="12" name="Text 10"/>
            <p:cNvSpPr/>
            <p:nvPr/>
          </p:nvSpPr>
          <p:spPr>
            <a:xfrm>
              <a:off x="4818888" y="1234440"/>
              <a:ext cx="3941064" cy="642823"/>
            </a:xfrm>
            <a:prstGeom prst="rect">
              <a:avLst/>
            </a:prstGeom>
            <a:noFill/>
            <a:ln/>
          </p:spPr>
          <p:txBody>
            <a:bodyPr wrap="square" lIns="0" tIns="0" rIns="0" bIns="0" rtlCol="0" anchor="ctr"/>
            <a:lstStyle/>
            <a:p>
              <a:pPr marL="0" indent="0">
                <a:buNone/>
              </a:pPr>
              <a:r>
                <a:rPr lang="en-US" sz="2000" b="1" dirty="0">
                  <a:solidFill>
                    <a:srgbClr val="0D1B2A"/>
                  </a:solidFill>
                  <a:latin typeface="Trebuchet MS" pitchFamily="34" charset="0"/>
                  <a:ea typeface="Trebuchet MS" pitchFamily="34" charset="-122"/>
                  <a:cs typeface="Trebuchet MS" pitchFamily="34" charset="-120"/>
                </a:rPr>
                <a:t>Redundancja</a:t>
              </a:r>
              <a:endParaRPr lang="en-US" sz="2000" dirty="0"/>
            </a:p>
          </p:txBody>
        </p:sp>
        <p:sp>
          <p:nvSpPr>
            <p:cNvPr id="13" name="Text 11"/>
            <p:cNvSpPr/>
            <p:nvPr/>
          </p:nvSpPr>
          <p:spPr>
            <a:xfrm>
              <a:off x="4818888" y="1853489"/>
              <a:ext cx="3941064" cy="930402"/>
            </a:xfrm>
            <a:prstGeom prst="rect">
              <a:avLst/>
            </a:prstGeom>
            <a:noFill/>
            <a:ln/>
          </p:spPr>
          <p:txBody>
            <a:bodyPr wrap="square" lIns="0" tIns="0" rIns="0" bIns="0" rtlCol="0" anchor="ctr"/>
            <a:lstStyle/>
            <a:p>
              <a:pPr marL="0" indent="0">
                <a:buNone/>
              </a:pPr>
              <a:r>
                <a:rPr lang="en-US" sz="1600" dirty="0">
                  <a:solidFill>
                    <a:srgbClr val="475569"/>
                  </a:solidFill>
                  <a:latin typeface="Calibri" pitchFamily="34" charset="0"/>
                  <a:ea typeface="Calibri" pitchFamily="34" charset="-122"/>
                  <a:cs typeface="Calibri" pitchFamily="34" charset="-120"/>
                </a:rPr>
                <a:t>Awaria jednego sensora nie blokuje estymacji, jeśli mamy zapas informacji.</a:t>
              </a:r>
              <a:endParaRPr lang="en-US" sz="1600" dirty="0"/>
            </a:p>
          </p:txBody>
        </p:sp>
        <p:sp>
          <p:nvSpPr>
            <p:cNvPr id="14" name="Shape 12"/>
            <p:cNvSpPr/>
            <p:nvPr/>
          </p:nvSpPr>
          <p:spPr>
            <a:xfrm>
              <a:off x="274320" y="2971800"/>
              <a:ext cx="4160520" cy="1691640"/>
            </a:xfrm>
            <a:prstGeom prst="rect">
              <a:avLst/>
            </a:prstGeom>
            <a:solidFill>
              <a:srgbClr val="FFFFFF"/>
            </a:solidFill>
            <a:ln w="12700">
              <a:solidFill>
                <a:srgbClr val="E2EBF3"/>
              </a:solidFill>
              <a:prstDash val="solid"/>
            </a:ln>
            <a:effectLst>
              <a:outerShdw blurRad="76200" dist="25400" dir="8100000" algn="bl" rotWithShape="0">
                <a:srgbClr val="000000">
                  <a:alpha val="12000"/>
                </a:srgbClr>
              </a:outerShdw>
            </a:effectLst>
          </p:spPr>
        </p:sp>
        <p:sp>
          <p:nvSpPr>
            <p:cNvPr id="15" name="Shape 13"/>
            <p:cNvSpPr/>
            <p:nvPr/>
          </p:nvSpPr>
          <p:spPr>
            <a:xfrm>
              <a:off x="274320" y="2971800"/>
              <a:ext cx="4160520" cy="54864"/>
            </a:xfrm>
            <a:prstGeom prst="rect">
              <a:avLst/>
            </a:prstGeom>
            <a:solidFill>
              <a:srgbClr val="0077A8"/>
            </a:solidFill>
            <a:ln w="12700">
              <a:solidFill>
                <a:srgbClr val="0077A8"/>
              </a:solidFill>
              <a:prstDash val="solid"/>
            </a:ln>
          </p:spPr>
        </p:sp>
        <p:sp>
          <p:nvSpPr>
            <p:cNvPr id="16" name="Text 14"/>
            <p:cNvSpPr/>
            <p:nvPr/>
          </p:nvSpPr>
          <p:spPr>
            <a:xfrm>
              <a:off x="384048" y="3063240"/>
              <a:ext cx="3941064" cy="642823"/>
            </a:xfrm>
            <a:prstGeom prst="rect">
              <a:avLst/>
            </a:prstGeom>
            <a:noFill/>
            <a:ln/>
          </p:spPr>
          <p:txBody>
            <a:bodyPr wrap="square" lIns="0" tIns="0" rIns="0" bIns="0" rtlCol="0" anchor="ctr"/>
            <a:lstStyle/>
            <a:p>
              <a:pPr marL="0" indent="0">
                <a:buNone/>
              </a:pPr>
              <a:r>
                <a:rPr lang="en-US" sz="2000" b="1" dirty="0">
                  <a:solidFill>
                    <a:srgbClr val="0D1B2A"/>
                  </a:solidFill>
                  <a:latin typeface="Trebuchet MS" pitchFamily="34" charset="0"/>
                  <a:ea typeface="Trebuchet MS" pitchFamily="34" charset="-122"/>
                  <a:cs typeface="Trebuchet MS" pitchFamily="34" charset="-120"/>
                </a:rPr>
                <a:t>Wzajemna korekta</a:t>
              </a:r>
              <a:endParaRPr lang="en-US" sz="2000" dirty="0"/>
            </a:p>
          </p:txBody>
        </p:sp>
        <p:sp>
          <p:nvSpPr>
            <p:cNvPr id="17" name="Text 15"/>
            <p:cNvSpPr/>
            <p:nvPr/>
          </p:nvSpPr>
          <p:spPr>
            <a:xfrm>
              <a:off x="384048" y="3682289"/>
              <a:ext cx="3941064" cy="930402"/>
            </a:xfrm>
            <a:prstGeom prst="rect">
              <a:avLst/>
            </a:prstGeom>
            <a:noFill/>
            <a:ln/>
          </p:spPr>
          <p:txBody>
            <a:bodyPr wrap="square" lIns="0" tIns="0" rIns="0" bIns="0" rtlCol="0" anchor="ctr"/>
            <a:lstStyle/>
            <a:p>
              <a:pPr marL="0" indent="0">
                <a:buNone/>
              </a:pPr>
              <a:r>
                <a:rPr lang="en-US" sz="1600" dirty="0">
                  <a:solidFill>
                    <a:srgbClr val="475569"/>
                  </a:solidFill>
                  <a:latin typeface="Calibri" pitchFamily="34" charset="0"/>
                  <a:ea typeface="Calibri" pitchFamily="34" charset="-122"/>
                  <a:cs typeface="Calibri" pitchFamily="34" charset="-120"/>
                </a:rPr>
                <a:t>Kamera koryguje skumulowany dryft IMU; </a:t>
              </a:r>
              <a:r>
                <a:rPr lang="pl-PL" sz="1600" dirty="0" smtClean="0">
                  <a:solidFill>
                    <a:srgbClr val="475569"/>
                  </a:solidFill>
                  <a:latin typeface="Calibri" pitchFamily="34" charset="0"/>
                  <a:ea typeface="Calibri" pitchFamily="34" charset="-122"/>
                  <a:cs typeface="Calibri" pitchFamily="34" charset="-120"/>
                </a:rPr>
                <a:t/>
              </a:r>
              <a:br>
                <a:rPr lang="pl-PL" sz="1600" dirty="0" smtClean="0">
                  <a:solidFill>
                    <a:srgbClr val="475569"/>
                  </a:solidFill>
                  <a:latin typeface="Calibri" pitchFamily="34" charset="0"/>
                  <a:ea typeface="Calibri" pitchFamily="34" charset="-122"/>
                  <a:cs typeface="Calibri" pitchFamily="34" charset="-120"/>
                </a:rPr>
              </a:br>
              <a:r>
                <a:rPr lang="en-US" sz="1600" dirty="0" smtClean="0">
                  <a:solidFill>
                    <a:srgbClr val="475569"/>
                  </a:solidFill>
                  <a:latin typeface="Calibri" pitchFamily="34" charset="0"/>
                  <a:ea typeface="Calibri" pitchFamily="34" charset="-122"/>
                  <a:cs typeface="Calibri" pitchFamily="34" charset="-120"/>
                </a:rPr>
                <a:t>IMU </a:t>
              </a:r>
              <a:r>
                <a:rPr lang="en-US" sz="1600" dirty="0">
                  <a:solidFill>
                    <a:srgbClr val="475569"/>
                  </a:solidFill>
                  <a:latin typeface="Calibri" pitchFamily="34" charset="0"/>
                  <a:ea typeface="Calibri" pitchFamily="34" charset="-122"/>
                  <a:cs typeface="Calibri" pitchFamily="34" charset="-120"/>
                </a:rPr>
                <a:t>stabilizuje estymację przy rozmazaniu</a:t>
              </a:r>
              <a:endParaRPr lang="en-US" sz="1600" dirty="0"/>
            </a:p>
          </p:txBody>
        </p:sp>
        <p:sp>
          <p:nvSpPr>
            <p:cNvPr id="18" name="Shape 16"/>
            <p:cNvSpPr/>
            <p:nvPr/>
          </p:nvSpPr>
          <p:spPr>
            <a:xfrm>
              <a:off x="4709160" y="2971800"/>
              <a:ext cx="4160520" cy="1691640"/>
            </a:xfrm>
            <a:prstGeom prst="rect">
              <a:avLst/>
            </a:prstGeom>
            <a:solidFill>
              <a:srgbClr val="FFFFFF"/>
            </a:solidFill>
            <a:ln w="12700">
              <a:solidFill>
                <a:srgbClr val="E2EBF3"/>
              </a:solidFill>
              <a:prstDash val="solid"/>
            </a:ln>
            <a:effectLst>
              <a:outerShdw blurRad="76200" dist="25400" dir="8100000" algn="bl" rotWithShape="0">
                <a:srgbClr val="000000">
                  <a:alpha val="12000"/>
                </a:srgbClr>
              </a:outerShdw>
            </a:effectLst>
          </p:spPr>
        </p:sp>
        <p:sp>
          <p:nvSpPr>
            <p:cNvPr id="19" name="Shape 17"/>
            <p:cNvSpPr/>
            <p:nvPr/>
          </p:nvSpPr>
          <p:spPr>
            <a:xfrm>
              <a:off x="4709160" y="2971800"/>
              <a:ext cx="4160520" cy="54864"/>
            </a:xfrm>
            <a:prstGeom prst="rect">
              <a:avLst/>
            </a:prstGeom>
            <a:solidFill>
              <a:srgbClr val="1A3550"/>
            </a:solidFill>
            <a:ln w="12700">
              <a:solidFill>
                <a:srgbClr val="1A3550"/>
              </a:solidFill>
              <a:prstDash val="solid"/>
            </a:ln>
          </p:spPr>
        </p:sp>
        <p:sp>
          <p:nvSpPr>
            <p:cNvPr id="20" name="Text 18"/>
            <p:cNvSpPr/>
            <p:nvPr/>
          </p:nvSpPr>
          <p:spPr>
            <a:xfrm>
              <a:off x="4818888" y="3063240"/>
              <a:ext cx="3941064" cy="642823"/>
            </a:xfrm>
            <a:prstGeom prst="rect">
              <a:avLst/>
            </a:prstGeom>
            <a:noFill/>
            <a:ln/>
          </p:spPr>
          <p:txBody>
            <a:bodyPr wrap="square" lIns="0" tIns="0" rIns="0" bIns="0" rtlCol="0" anchor="ctr"/>
            <a:lstStyle/>
            <a:p>
              <a:pPr marL="0" indent="0">
                <a:buNone/>
              </a:pPr>
              <a:r>
                <a:rPr lang="en-US" sz="2000" b="1" dirty="0">
                  <a:solidFill>
                    <a:srgbClr val="0D1B2A"/>
                  </a:solidFill>
                  <a:latin typeface="Trebuchet MS" pitchFamily="34" charset="0"/>
                  <a:ea typeface="Trebuchet MS" pitchFamily="34" charset="-122"/>
                  <a:cs typeface="Trebuchet MS" pitchFamily="34" charset="-120"/>
                </a:rPr>
                <a:t>Pewność statystyczna</a:t>
              </a:r>
              <a:endParaRPr lang="en-US" sz="2000" dirty="0"/>
            </a:p>
          </p:txBody>
        </p:sp>
        <p:sp>
          <p:nvSpPr>
            <p:cNvPr id="21" name="Text 19"/>
            <p:cNvSpPr/>
            <p:nvPr/>
          </p:nvSpPr>
          <p:spPr>
            <a:xfrm>
              <a:off x="4818888" y="3682289"/>
              <a:ext cx="3941064" cy="930402"/>
            </a:xfrm>
            <a:prstGeom prst="rect">
              <a:avLst/>
            </a:prstGeom>
            <a:noFill/>
            <a:ln/>
          </p:spPr>
          <p:txBody>
            <a:bodyPr wrap="square" lIns="0" tIns="0" rIns="0" bIns="0" rtlCol="0" anchor="ctr"/>
            <a:lstStyle/>
            <a:p>
              <a:pPr marL="0" indent="0">
                <a:buNone/>
              </a:pPr>
              <a:r>
                <a:rPr lang="en-US" sz="1600" dirty="0">
                  <a:solidFill>
                    <a:srgbClr val="475569"/>
                  </a:solidFill>
                  <a:latin typeface="Calibri" pitchFamily="34" charset="0"/>
                  <a:ea typeface="Calibri" pitchFamily="34" charset="-122"/>
                  <a:cs typeface="Calibri" pitchFamily="34" charset="-120"/>
                </a:rPr>
                <a:t>Kowariancja złożona &lt; kowariancja pojedynczego sensora </a:t>
              </a:r>
              <a:r>
                <a:rPr lang="en-US" sz="1600" i="1" dirty="0">
                  <a:solidFill>
                    <a:srgbClr val="475569"/>
                  </a:solidFill>
                  <a:latin typeface="Calibri" pitchFamily="34" charset="0"/>
                  <a:ea typeface="Calibri" pitchFamily="34" charset="-122"/>
                  <a:cs typeface="Calibri" pitchFamily="34" charset="-120"/>
                </a:rPr>
                <a:t>(reguła filtracji)</a:t>
              </a:r>
              <a:endParaRPr lang="en-US" sz="1600" i="1" dirty="0"/>
            </a:p>
          </p:txBody>
        </p:sp>
      </p:grpSp>
      <p:sp>
        <p:nvSpPr>
          <p:cNvPr id="23" name="Prostokąt 22"/>
          <p:cNvSpPr/>
          <p:nvPr/>
        </p:nvSpPr>
        <p:spPr>
          <a:xfrm>
            <a:off x="274320" y="4188657"/>
            <a:ext cx="8595360" cy="812979"/>
          </a:xfrm>
          <a:prstGeom prst="rect">
            <a:avLst/>
          </a:prstGeom>
          <a:solidFill>
            <a:srgbClr val="0D1B2A"/>
          </a:solidFill>
        </p:spPr>
        <p:txBody>
          <a:bodyPr wrap="square">
            <a:spAutoFit/>
          </a:bodyPr>
          <a:lstStyle/>
          <a:p>
            <a:pPr algn="just">
              <a:lnSpc>
                <a:spcPts val="1400"/>
              </a:lnSpc>
            </a:pPr>
            <a:r>
              <a:rPr lang="pl-PL" sz="1400" dirty="0">
                <a:solidFill>
                  <a:schemeClr val="bg1"/>
                </a:solidFill>
              </a:rPr>
              <a:t>Sensory łączymy z czterech głównych powodów. Po pierwsze komplementarność, bo jeden sensor jest szybki, a drugi stabilny. Po drugie redundancja, bo awaria pojedynczego źródła nie powinna zatrzymać całej lokalizacji. Po trzecie wzajemna korekta, na przykład kamera koryguje dryft IMU, a IMU stabilizuje estymację obrazu. Po czwarte pewność statystyczna, bo połączona </a:t>
            </a:r>
            <a:r>
              <a:rPr lang="pl-PL" sz="1400" dirty="0" err="1">
                <a:solidFill>
                  <a:schemeClr val="bg1"/>
                </a:solidFill>
              </a:rPr>
              <a:t>estymata</a:t>
            </a:r>
            <a:r>
              <a:rPr lang="pl-PL" sz="1400" dirty="0">
                <a:solidFill>
                  <a:schemeClr val="bg1"/>
                </a:solidFill>
              </a:rPr>
              <a:t> może mieć mniejszą niepewność niż każdy sensor osobno. </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0F4F8"/>
        </a:solidFill>
        <a:effectLst/>
      </p:bgPr>
    </p:bg>
    <p:spTree>
      <p:nvGrpSpPr>
        <p:cNvPr id="1" name=""/>
        <p:cNvGrpSpPr/>
        <p:nvPr/>
      </p:nvGrpSpPr>
      <p:grpSpPr>
        <a:xfrm>
          <a:off x="0" y="0"/>
          <a:ext cx="0" cy="0"/>
          <a:chOff x="0" y="0"/>
          <a:chExt cx="0" cy="0"/>
        </a:xfrm>
      </p:grpSpPr>
      <p:sp>
        <p:nvSpPr>
          <p:cNvPr id="2" name="Shape 0"/>
          <p:cNvSpPr/>
          <p:nvPr/>
        </p:nvSpPr>
        <p:spPr>
          <a:xfrm>
            <a:off x="0" y="0"/>
            <a:ext cx="64008" cy="5143500"/>
          </a:xfrm>
          <a:prstGeom prst="rect">
            <a:avLst/>
          </a:prstGeom>
          <a:solidFill>
            <a:srgbClr val="00B4D8"/>
          </a:solidFill>
          <a:ln w="12700">
            <a:solidFill>
              <a:srgbClr val="00B4D8"/>
            </a:solidFill>
            <a:prstDash val="solid"/>
          </a:ln>
        </p:spPr>
      </p:sp>
      <p:sp>
        <p:nvSpPr>
          <p:cNvPr id="3" name="Shape 1"/>
          <p:cNvSpPr/>
          <p:nvPr/>
        </p:nvSpPr>
        <p:spPr>
          <a:xfrm>
            <a:off x="64008" y="0"/>
            <a:ext cx="9079992" cy="960120"/>
          </a:xfrm>
          <a:prstGeom prst="rect">
            <a:avLst/>
          </a:prstGeom>
          <a:solidFill>
            <a:srgbClr val="0D1B2A"/>
          </a:solidFill>
          <a:ln w="12700">
            <a:solidFill>
              <a:srgbClr val="0D1B2A"/>
            </a:solidFill>
            <a:prstDash val="solid"/>
          </a:ln>
        </p:spPr>
      </p:sp>
      <p:sp>
        <p:nvSpPr>
          <p:cNvPr id="4" name="Text 2"/>
          <p:cNvSpPr/>
          <p:nvPr/>
        </p:nvSpPr>
        <p:spPr>
          <a:xfrm>
            <a:off x="228600" y="73152"/>
            <a:ext cx="4572000" cy="274320"/>
          </a:xfrm>
          <a:prstGeom prst="rect">
            <a:avLst/>
          </a:prstGeom>
          <a:noFill/>
          <a:ln/>
        </p:spPr>
        <p:txBody>
          <a:bodyPr wrap="square" lIns="0" tIns="0" rIns="0" bIns="0" rtlCol="0" anchor="ctr"/>
          <a:lstStyle/>
          <a:p>
            <a:pPr marL="0" indent="0">
              <a:buNone/>
            </a:pPr>
            <a:r>
              <a:rPr lang="en-US" sz="900" b="1" kern="0" spc="200" dirty="0">
                <a:solidFill>
                  <a:srgbClr val="00B4D8"/>
                </a:solidFill>
                <a:latin typeface="Trebuchet MS" pitchFamily="34" charset="0"/>
                <a:ea typeface="Trebuchet MS" pitchFamily="34" charset="-122"/>
                <a:cs typeface="Trebuchet MS" pitchFamily="34" charset="-120"/>
              </a:rPr>
              <a:t>SEKCJA 2 | FILTR KOMPLEMENTARNY</a:t>
            </a:r>
            <a:endParaRPr lang="en-US" sz="900" dirty="0"/>
          </a:p>
        </p:txBody>
      </p:sp>
      <p:sp>
        <p:nvSpPr>
          <p:cNvPr id="5" name="Text 3"/>
          <p:cNvSpPr/>
          <p:nvPr/>
        </p:nvSpPr>
        <p:spPr>
          <a:xfrm>
            <a:off x="228600" y="274320"/>
            <a:ext cx="8686800" cy="594360"/>
          </a:xfrm>
          <a:prstGeom prst="rect">
            <a:avLst/>
          </a:prstGeom>
          <a:noFill/>
          <a:ln/>
        </p:spPr>
        <p:txBody>
          <a:bodyPr wrap="square" lIns="0" tIns="0" rIns="0" bIns="0" rtlCol="0" anchor="ctr"/>
          <a:lstStyle/>
          <a:p>
            <a:pPr marL="0" indent="0">
              <a:buNone/>
            </a:pPr>
            <a:r>
              <a:rPr lang="en-US" sz="2800" b="1" dirty="0">
                <a:solidFill>
                  <a:srgbClr val="FFFFFF"/>
                </a:solidFill>
                <a:latin typeface="Trebuchet MS" pitchFamily="34" charset="0"/>
                <a:ea typeface="Trebuchet MS" pitchFamily="34" charset="-122"/>
                <a:cs typeface="Trebuchet MS" pitchFamily="34" charset="-120"/>
              </a:rPr>
              <a:t>Filtr komplementarny – intuicja</a:t>
            </a:r>
            <a:endParaRPr lang="en-US" sz="2800" dirty="0"/>
          </a:p>
        </p:txBody>
      </p:sp>
      <p:sp>
        <p:nvSpPr>
          <p:cNvPr id="6" name="Shape 4"/>
          <p:cNvSpPr/>
          <p:nvPr/>
        </p:nvSpPr>
        <p:spPr>
          <a:xfrm>
            <a:off x="274320" y="1097280"/>
            <a:ext cx="8595360" cy="2994799"/>
          </a:xfrm>
          <a:prstGeom prst="rect">
            <a:avLst/>
          </a:prstGeom>
          <a:solidFill>
            <a:srgbClr val="FFFFFF"/>
          </a:solidFill>
          <a:ln w="12700">
            <a:solidFill>
              <a:srgbClr val="E2EBF3"/>
            </a:solidFill>
            <a:prstDash val="solid"/>
          </a:ln>
          <a:effectLst>
            <a:outerShdw blurRad="76200" dist="25400" dir="8100000" algn="bl" rotWithShape="0">
              <a:srgbClr val="000000">
                <a:alpha val="12000"/>
              </a:srgbClr>
            </a:outerShdw>
          </a:effectLst>
        </p:spPr>
      </p:sp>
      <p:sp>
        <p:nvSpPr>
          <p:cNvPr id="7" name="Text 5"/>
          <p:cNvSpPr/>
          <p:nvPr/>
        </p:nvSpPr>
        <p:spPr>
          <a:xfrm>
            <a:off x="457200" y="1188720"/>
            <a:ext cx="8229600" cy="2903359"/>
          </a:xfrm>
          <a:prstGeom prst="rect">
            <a:avLst/>
          </a:prstGeom>
          <a:noFill/>
          <a:ln/>
        </p:spPr>
        <p:txBody>
          <a:bodyPr wrap="square" lIns="127000" tIns="127000" rIns="127000" bIns="127000" rtlCol="0" anchor="t">
            <a:spAutoFit/>
          </a:bodyPr>
          <a:lstStyle/>
          <a:p>
            <a:pPr marL="216000" indent="-216000">
              <a:spcAft>
                <a:spcPts val="1200"/>
              </a:spcAft>
              <a:buSzPct val="100000"/>
              <a:buChar char="•"/>
            </a:pPr>
            <a:r>
              <a:rPr lang="en-US" sz="1600" b="1" dirty="0">
                <a:solidFill>
                  <a:srgbClr val="0D1B2A"/>
                </a:solidFill>
                <a:latin typeface="Calibri" pitchFamily="34" charset="0"/>
                <a:ea typeface="Calibri" pitchFamily="34" charset="-122"/>
                <a:cs typeface="Calibri" pitchFamily="34" charset="-120"/>
              </a:rPr>
              <a:t>Idea</a:t>
            </a:r>
            <a:r>
              <a:rPr lang="en-US" sz="1600" dirty="0">
                <a:solidFill>
                  <a:srgbClr val="0D1B2A"/>
                </a:solidFill>
                <a:latin typeface="Calibri" pitchFamily="34" charset="0"/>
                <a:ea typeface="Calibri" pitchFamily="34" charset="-122"/>
                <a:cs typeface="Calibri" pitchFamily="34" charset="-120"/>
              </a:rPr>
              <a:t>: połącz żyroskop (szybki, dryfuje) z akcelerometrem (wolny, stabilny w długim czasie)</a:t>
            </a:r>
            <a:endParaRPr lang="en-US" sz="1600" dirty="0"/>
          </a:p>
          <a:p>
            <a:pPr marL="216000" indent="-216000">
              <a:spcAft>
                <a:spcPts val="1200"/>
              </a:spcAft>
              <a:buSzPct val="100000"/>
              <a:buChar char="•"/>
            </a:pPr>
            <a:r>
              <a:rPr lang="en-US" sz="1600" b="1" dirty="0">
                <a:solidFill>
                  <a:srgbClr val="0D1B2A"/>
                </a:solidFill>
                <a:latin typeface="Calibri" pitchFamily="34" charset="0"/>
                <a:ea typeface="Calibri" pitchFamily="34" charset="-122"/>
                <a:cs typeface="Calibri" pitchFamily="34" charset="-120"/>
              </a:rPr>
              <a:t>Wzór</a:t>
            </a:r>
            <a:r>
              <a:rPr lang="en-US" sz="1600" dirty="0">
                <a:solidFill>
                  <a:srgbClr val="0D1B2A"/>
                </a:solidFill>
                <a:latin typeface="Calibri" pitchFamily="34" charset="0"/>
                <a:ea typeface="Calibri" pitchFamily="34" charset="-122"/>
                <a:cs typeface="Calibri" pitchFamily="34" charset="-120"/>
              </a:rPr>
              <a:t>: θ(t) = α · (</a:t>
            </a:r>
            <a:r>
              <a:rPr lang="en-US" sz="1600" dirty="0" err="1" smtClean="0">
                <a:solidFill>
                  <a:srgbClr val="0D1B2A"/>
                </a:solidFill>
                <a:latin typeface="Calibri" pitchFamily="34" charset="0"/>
                <a:ea typeface="Calibri" pitchFamily="34" charset="-122"/>
                <a:cs typeface="Calibri" pitchFamily="34" charset="-120"/>
              </a:rPr>
              <a:t>θ</a:t>
            </a:r>
            <a:r>
              <a:rPr lang="en-US" sz="1600" baseline="-25000" dirty="0" err="1" smtClean="0">
                <a:solidFill>
                  <a:srgbClr val="0D1B2A"/>
                </a:solidFill>
                <a:latin typeface="Calibri" pitchFamily="34" charset="0"/>
                <a:ea typeface="Calibri" pitchFamily="34" charset="-122"/>
                <a:cs typeface="Calibri" pitchFamily="34" charset="-120"/>
              </a:rPr>
              <a:t>prev</a:t>
            </a:r>
            <a:r>
              <a:rPr lang="en-US" sz="1600" dirty="0" smtClean="0">
                <a:solidFill>
                  <a:srgbClr val="0D1B2A"/>
                </a:solidFill>
                <a:latin typeface="Calibri" pitchFamily="34" charset="0"/>
                <a:ea typeface="Calibri" pitchFamily="34" charset="-122"/>
                <a:cs typeface="Calibri" pitchFamily="34" charset="-120"/>
              </a:rPr>
              <a:t> </a:t>
            </a:r>
            <a:r>
              <a:rPr lang="en-US" sz="1600" dirty="0">
                <a:solidFill>
                  <a:srgbClr val="0D1B2A"/>
                </a:solidFill>
                <a:latin typeface="Calibri" pitchFamily="34" charset="0"/>
                <a:ea typeface="Calibri" pitchFamily="34" charset="-122"/>
                <a:cs typeface="Calibri" pitchFamily="34" charset="-120"/>
              </a:rPr>
              <a:t>+ </a:t>
            </a:r>
            <a:r>
              <a:rPr lang="en-US" sz="1600" dirty="0" err="1" smtClean="0">
                <a:solidFill>
                  <a:srgbClr val="0D1B2A"/>
                </a:solidFill>
                <a:latin typeface="Calibri" pitchFamily="34" charset="0"/>
                <a:ea typeface="Calibri" pitchFamily="34" charset="-122"/>
                <a:cs typeface="Calibri" pitchFamily="34" charset="-120"/>
              </a:rPr>
              <a:t>ω</a:t>
            </a:r>
            <a:r>
              <a:rPr lang="en-US" sz="1600" baseline="-25000" dirty="0" err="1" smtClean="0">
                <a:solidFill>
                  <a:srgbClr val="0D1B2A"/>
                </a:solidFill>
                <a:latin typeface="Calibri" pitchFamily="34" charset="0"/>
                <a:ea typeface="Calibri" pitchFamily="34" charset="-122"/>
                <a:cs typeface="Calibri" pitchFamily="34" charset="-120"/>
              </a:rPr>
              <a:t>gyro</a:t>
            </a:r>
            <a:r>
              <a:rPr lang="en-US" sz="1600" dirty="0" smtClean="0">
                <a:solidFill>
                  <a:srgbClr val="0D1B2A"/>
                </a:solidFill>
                <a:latin typeface="Calibri" pitchFamily="34" charset="0"/>
                <a:ea typeface="Calibri" pitchFamily="34" charset="-122"/>
                <a:cs typeface="Calibri" pitchFamily="34" charset="-120"/>
              </a:rPr>
              <a:t> </a:t>
            </a:r>
            <a:r>
              <a:rPr lang="en-US" sz="1600" dirty="0">
                <a:solidFill>
                  <a:srgbClr val="0D1B2A"/>
                </a:solidFill>
                <a:latin typeface="Calibri" pitchFamily="34" charset="0"/>
                <a:ea typeface="Calibri" pitchFamily="34" charset="-122"/>
                <a:cs typeface="Calibri" pitchFamily="34" charset="-120"/>
              </a:rPr>
              <a:t>· dt) + (1–α) · </a:t>
            </a:r>
            <a:r>
              <a:rPr lang="en-US" sz="1600" dirty="0" err="1" smtClean="0">
                <a:solidFill>
                  <a:srgbClr val="0D1B2A"/>
                </a:solidFill>
                <a:latin typeface="Calibri" pitchFamily="34" charset="0"/>
                <a:ea typeface="Calibri" pitchFamily="34" charset="-122"/>
                <a:cs typeface="Calibri" pitchFamily="34" charset="-120"/>
              </a:rPr>
              <a:t>θ</a:t>
            </a:r>
            <a:r>
              <a:rPr lang="en-US" sz="1600" baseline="-25000" dirty="0" err="1" smtClean="0">
                <a:solidFill>
                  <a:srgbClr val="0D1B2A"/>
                </a:solidFill>
                <a:latin typeface="Calibri" pitchFamily="34" charset="0"/>
                <a:ea typeface="Calibri" pitchFamily="34" charset="-122"/>
                <a:cs typeface="Calibri" pitchFamily="34" charset="-120"/>
              </a:rPr>
              <a:t>accel</a:t>
            </a:r>
            <a:endParaRPr lang="en-US" sz="1600" baseline="-25000" dirty="0"/>
          </a:p>
          <a:p>
            <a:pPr marL="216000" indent="-216000">
              <a:spcAft>
                <a:spcPts val="1200"/>
              </a:spcAft>
              <a:buSzPct val="100000"/>
              <a:buChar char="•"/>
            </a:pPr>
            <a:r>
              <a:rPr lang="en-US" sz="1600" b="1" dirty="0">
                <a:solidFill>
                  <a:srgbClr val="0D1B2A"/>
                </a:solidFill>
                <a:latin typeface="Calibri" pitchFamily="34" charset="0"/>
                <a:ea typeface="Calibri" pitchFamily="34" charset="-122"/>
                <a:cs typeface="Calibri" pitchFamily="34" charset="-120"/>
              </a:rPr>
              <a:t>Parametr α</a:t>
            </a:r>
            <a:r>
              <a:rPr lang="en-US" sz="1600" dirty="0">
                <a:solidFill>
                  <a:srgbClr val="0D1B2A"/>
                </a:solidFill>
                <a:latin typeface="Calibri" pitchFamily="34" charset="0"/>
                <a:ea typeface="Calibri" pitchFamily="34" charset="-122"/>
                <a:cs typeface="Calibri" pitchFamily="34" charset="-120"/>
              </a:rPr>
              <a:t>: blisko 1 (np. 0,98) – większe zaufanie do żyroskopu na krótkich interwałach</a:t>
            </a:r>
            <a:endParaRPr lang="en-US" sz="1600" dirty="0"/>
          </a:p>
          <a:p>
            <a:pPr marL="216000" indent="-216000">
              <a:spcAft>
                <a:spcPts val="1200"/>
              </a:spcAft>
              <a:buSzPct val="100000"/>
              <a:buChar char="•"/>
            </a:pPr>
            <a:r>
              <a:rPr lang="en-US" sz="1600" b="1" dirty="0">
                <a:solidFill>
                  <a:srgbClr val="0D1B2A"/>
                </a:solidFill>
                <a:latin typeface="Calibri" pitchFamily="34" charset="0"/>
                <a:ea typeface="Calibri" pitchFamily="34" charset="-122"/>
                <a:cs typeface="Calibri" pitchFamily="34" charset="-120"/>
              </a:rPr>
              <a:t>Działanie</a:t>
            </a:r>
            <a:r>
              <a:rPr lang="en-US" sz="1600" dirty="0">
                <a:solidFill>
                  <a:srgbClr val="0D1B2A"/>
                </a:solidFill>
                <a:latin typeface="Calibri" pitchFamily="34" charset="0"/>
                <a:ea typeface="Calibri" pitchFamily="34" charset="-122"/>
                <a:cs typeface="Calibri" pitchFamily="34" charset="-120"/>
              </a:rPr>
              <a:t>: żyroskop śledzi szybkie zmiany; akcelerometr koryguje powolny dryft</a:t>
            </a:r>
            <a:endParaRPr lang="en-US" sz="1600" dirty="0"/>
          </a:p>
          <a:p>
            <a:pPr marL="216000" indent="-216000">
              <a:spcAft>
                <a:spcPts val="1200"/>
              </a:spcAft>
              <a:buSzPct val="100000"/>
              <a:buChar char="•"/>
            </a:pPr>
            <a:r>
              <a:rPr lang="en-US" sz="1600" b="1" dirty="0">
                <a:solidFill>
                  <a:srgbClr val="0D1B2A"/>
                </a:solidFill>
                <a:latin typeface="Calibri" pitchFamily="34" charset="0"/>
                <a:ea typeface="Calibri" pitchFamily="34" charset="-122"/>
                <a:cs typeface="Calibri" pitchFamily="34" charset="-120"/>
              </a:rPr>
              <a:t>Zalety</a:t>
            </a:r>
            <a:r>
              <a:rPr lang="en-US" sz="1600" dirty="0">
                <a:solidFill>
                  <a:srgbClr val="0D1B2A"/>
                </a:solidFill>
                <a:latin typeface="Calibri" pitchFamily="34" charset="0"/>
                <a:ea typeface="Calibri" pitchFamily="34" charset="-122"/>
                <a:cs typeface="Calibri" pitchFamily="34" charset="-120"/>
              </a:rPr>
              <a:t>: niska złożoność obliczeniowa, brak macierzy – działa na mikrokontrolerze IMU</a:t>
            </a:r>
            <a:endParaRPr lang="en-US" sz="1600" dirty="0"/>
          </a:p>
          <a:p>
            <a:pPr marL="216000" indent="-216000">
              <a:spcAft>
                <a:spcPts val="1200"/>
              </a:spcAft>
              <a:buSzPct val="100000"/>
              <a:buChar char="•"/>
            </a:pPr>
            <a:r>
              <a:rPr lang="en-US" sz="1600" b="1" dirty="0">
                <a:solidFill>
                  <a:srgbClr val="0D1B2A"/>
                </a:solidFill>
                <a:latin typeface="Calibri" pitchFamily="34" charset="0"/>
                <a:ea typeface="Calibri" pitchFamily="34" charset="-122"/>
                <a:cs typeface="Calibri" pitchFamily="34" charset="-120"/>
              </a:rPr>
              <a:t>Wada</a:t>
            </a:r>
            <a:r>
              <a:rPr lang="en-US" sz="1600" dirty="0">
                <a:solidFill>
                  <a:srgbClr val="0D1B2A"/>
                </a:solidFill>
                <a:latin typeface="Calibri" pitchFamily="34" charset="0"/>
                <a:ea typeface="Calibri" pitchFamily="34" charset="-122"/>
                <a:cs typeface="Calibri" pitchFamily="34" charset="-120"/>
              </a:rPr>
              <a:t>: nie uwzględnia niepewności pomiarowych (brak kowariancji) ani dynamiki zewnętrznej</a:t>
            </a:r>
            <a:endParaRPr lang="en-US" sz="1600" dirty="0"/>
          </a:p>
          <a:p>
            <a:pPr marL="216000" indent="-216000">
              <a:spcAft>
                <a:spcPts val="1200"/>
              </a:spcAft>
              <a:buSzPct val="100000"/>
              <a:buChar char="•"/>
            </a:pPr>
            <a:r>
              <a:rPr lang="en-US" sz="1600" b="1" dirty="0">
                <a:solidFill>
                  <a:srgbClr val="0D1B2A"/>
                </a:solidFill>
                <a:latin typeface="Calibri" pitchFamily="34" charset="0"/>
                <a:ea typeface="Calibri" pitchFamily="34" charset="-122"/>
                <a:cs typeface="Calibri" pitchFamily="34" charset="-120"/>
              </a:rPr>
              <a:t>Zastosowanie</a:t>
            </a:r>
            <a:r>
              <a:rPr lang="en-US" sz="1600" dirty="0">
                <a:solidFill>
                  <a:srgbClr val="0D1B2A"/>
                </a:solidFill>
                <a:latin typeface="Calibri" pitchFamily="34" charset="0"/>
                <a:ea typeface="Calibri" pitchFamily="34" charset="-122"/>
                <a:cs typeface="Calibri" pitchFamily="34" charset="-120"/>
              </a:rPr>
              <a:t>: pochylenie tułowia robota w czasie rzeczywistym (roll i pitch)</a:t>
            </a:r>
            <a:endParaRPr lang="en-US" sz="1600" dirty="0"/>
          </a:p>
        </p:txBody>
      </p:sp>
      <p:sp>
        <p:nvSpPr>
          <p:cNvPr id="8" name="Prostokąt 7"/>
          <p:cNvSpPr/>
          <p:nvPr/>
        </p:nvSpPr>
        <p:spPr>
          <a:xfrm>
            <a:off x="274320" y="4188657"/>
            <a:ext cx="8595360" cy="812979"/>
          </a:xfrm>
          <a:prstGeom prst="rect">
            <a:avLst/>
          </a:prstGeom>
          <a:solidFill>
            <a:srgbClr val="0D1B2A"/>
          </a:solidFill>
        </p:spPr>
        <p:txBody>
          <a:bodyPr wrap="square">
            <a:spAutoFit/>
          </a:bodyPr>
          <a:lstStyle/>
          <a:p>
            <a:pPr algn="just">
              <a:lnSpc>
                <a:spcPts val="1400"/>
              </a:lnSpc>
            </a:pPr>
            <a:r>
              <a:rPr lang="pl-PL" sz="1400" dirty="0">
                <a:solidFill>
                  <a:schemeClr val="bg1"/>
                </a:solidFill>
              </a:rPr>
              <a:t>Filtr komplementarny jest intuicyjny i bardzo użyteczny. Łączy szybki, ale dryfujący żyroskop z wolniejszym, lecz stabilnym akcelerometrem. Parametr alfa ustala proporcję zaufania do obu źródeł. Dzięki temu żyroskop śledzi szybkie zmiany, a akcelerometr powoli koryguje dryft. Zaletą jest prostota i mały koszt obliczeniowy. Wadą </a:t>
            </a:r>
            <a:r>
              <a:rPr lang="pl-PL" sz="1400" dirty="0" smtClean="0">
                <a:solidFill>
                  <a:schemeClr val="bg1"/>
                </a:solidFill>
              </a:rPr>
              <a:t>jest </a:t>
            </a:r>
            <a:r>
              <a:rPr lang="pl-PL" sz="1400" dirty="0">
                <a:solidFill>
                  <a:schemeClr val="bg1"/>
                </a:solidFill>
              </a:rPr>
              <a:t>brak jawnej obsługi kowariancji i ograniczona możliwość modelowania pełnej dynamiki układu.</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F2335"/>
        </a:solidFill>
        <a:effectLst/>
      </p:bgPr>
    </p:bg>
    <p:spTree>
      <p:nvGrpSpPr>
        <p:cNvPr id="1" name=""/>
        <p:cNvGrpSpPr/>
        <p:nvPr/>
      </p:nvGrpSpPr>
      <p:grpSpPr>
        <a:xfrm>
          <a:off x="0" y="0"/>
          <a:ext cx="0" cy="0"/>
          <a:chOff x="0" y="0"/>
          <a:chExt cx="0" cy="0"/>
        </a:xfrm>
      </p:grpSpPr>
      <p:sp>
        <p:nvSpPr>
          <p:cNvPr id="2" name="Shape 0"/>
          <p:cNvSpPr/>
          <p:nvPr/>
        </p:nvSpPr>
        <p:spPr>
          <a:xfrm>
            <a:off x="0" y="0"/>
            <a:ext cx="64008" cy="5143500"/>
          </a:xfrm>
          <a:prstGeom prst="rect">
            <a:avLst/>
          </a:prstGeom>
          <a:solidFill>
            <a:srgbClr val="F72585"/>
          </a:solidFill>
          <a:ln w="12700">
            <a:solidFill>
              <a:srgbClr val="F72585"/>
            </a:solidFill>
            <a:prstDash val="solid"/>
          </a:ln>
        </p:spPr>
      </p:sp>
      <p:sp>
        <p:nvSpPr>
          <p:cNvPr id="3" name="Shape 1"/>
          <p:cNvSpPr/>
          <p:nvPr/>
        </p:nvSpPr>
        <p:spPr>
          <a:xfrm>
            <a:off x="64008" y="0"/>
            <a:ext cx="9079992" cy="914400"/>
          </a:xfrm>
          <a:prstGeom prst="rect">
            <a:avLst/>
          </a:prstGeom>
          <a:solidFill>
            <a:srgbClr val="0D1B2A"/>
          </a:solidFill>
          <a:ln w="12700">
            <a:solidFill>
              <a:srgbClr val="0D1B2A"/>
            </a:solidFill>
            <a:prstDash val="solid"/>
          </a:ln>
        </p:spPr>
      </p:sp>
      <p:sp>
        <p:nvSpPr>
          <p:cNvPr id="4" name="Text 2"/>
          <p:cNvSpPr/>
          <p:nvPr/>
        </p:nvSpPr>
        <p:spPr>
          <a:xfrm>
            <a:off x="228600" y="73152"/>
            <a:ext cx="3657600" cy="256032"/>
          </a:xfrm>
          <a:prstGeom prst="rect">
            <a:avLst/>
          </a:prstGeom>
          <a:noFill/>
          <a:ln/>
        </p:spPr>
        <p:txBody>
          <a:bodyPr wrap="square" lIns="0" tIns="0" rIns="0" bIns="0" rtlCol="0" anchor="ctr"/>
          <a:lstStyle/>
          <a:p>
            <a:pPr marL="0" indent="0">
              <a:buNone/>
            </a:pPr>
            <a:r>
              <a:rPr lang="en-US" sz="900" b="1" kern="0" spc="200" dirty="0">
                <a:solidFill>
                  <a:srgbClr val="F72585"/>
                </a:solidFill>
                <a:latin typeface="Trebuchet MS" pitchFamily="34" charset="0"/>
                <a:ea typeface="Trebuchet MS" pitchFamily="34" charset="-122"/>
                <a:cs typeface="Trebuchet MS" pitchFamily="34" charset="-120"/>
              </a:rPr>
              <a:t>KOD PYTHON</a:t>
            </a:r>
            <a:endParaRPr lang="en-US" sz="900" dirty="0"/>
          </a:p>
        </p:txBody>
      </p:sp>
      <p:sp>
        <p:nvSpPr>
          <p:cNvPr id="5" name="Text 3"/>
          <p:cNvSpPr/>
          <p:nvPr/>
        </p:nvSpPr>
        <p:spPr>
          <a:xfrm>
            <a:off x="228600" y="292608"/>
            <a:ext cx="8686800" cy="548640"/>
          </a:xfrm>
          <a:prstGeom prst="rect">
            <a:avLst/>
          </a:prstGeom>
          <a:noFill/>
          <a:ln/>
        </p:spPr>
        <p:txBody>
          <a:bodyPr wrap="square" lIns="0" tIns="0" rIns="0" bIns="0" rtlCol="0" anchor="ctr"/>
          <a:lstStyle/>
          <a:p>
            <a:pPr marL="0" indent="0">
              <a:buNone/>
            </a:pPr>
            <a:r>
              <a:rPr lang="en-US" sz="2800" b="1" dirty="0">
                <a:solidFill>
                  <a:srgbClr val="FFFFFF"/>
                </a:solidFill>
                <a:latin typeface="Trebuchet MS" pitchFamily="34" charset="0"/>
                <a:ea typeface="Trebuchet MS" pitchFamily="34" charset="-122"/>
                <a:cs typeface="Trebuchet MS" pitchFamily="34" charset="-120"/>
              </a:rPr>
              <a:t>Filtr komplementarny dla kąta pochylenia</a:t>
            </a:r>
            <a:endParaRPr lang="en-US" sz="2800" dirty="0"/>
          </a:p>
        </p:txBody>
      </p:sp>
      <p:sp>
        <p:nvSpPr>
          <p:cNvPr id="6" name="Shape 4"/>
          <p:cNvSpPr/>
          <p:nvPr/>
        </p:nvSpPr>
        <p:spPr>
          <a:xfrm>
            <a:off x="274320" y="1005840"/>
            <a:ext cx="8595360" cy="3122044"/>
          </a:xfrm>
          <a:prstGeom prst="rect">
            <a:avLst/>
          </a:prstGeom>
          <a:solidFill>
            <a:srgbClr val="071520"/>
          </a:solidFill>
          <a:ln w="12700">
            <a:solidFill>
              <a:srgbClr val="0077A8"/>
            </a:solidFill>
            <a:prstDash val="solid"/>
          </a:ln>
          <a:effectLst>
            <a:outerShdw blurRad="101600" dist="38100" dir="8100000" algn="bl" rotWithShape="0">
              <a:srgbClr val="000000">
                <a:alpha val="18000"/>
              </a:srgbClr>
            </a:outerShdw>
          </a:effectLst>
        </p:spPr>
      </p:sp>
      <p:sp>
        <p:nvSpPr>
          <p:cNvPr id="7" name="Shape 5"/>
          <p:cNvSpPr/>
          <p:nvPr/>
        </p:nvSpPr>
        <p:spPr>
          <a:xfrm>
            <a:off x="8105004" y="1115568"/>
            <a:ext cx="146304" cy="146304"/>
          </a:xfrm>
          <a:prstGeom prst="ellipse">
            <a:avLst/>
          </a:prstGeom>
          <a:solidFill>
            <a:srgbClr val="F72585"/>
          </a:solidFill>
          <a:ln w="12700">
            <a:solidFill>
              <a:srgbClr val="F72585"/>
            </a:solidFill>
            <a:prstDash val="solid"/>
          </a:ln>
        </p:spPr>
      </p:sp>
      <p:sp>
        <p:nvSpPr>
          <p:cNvPr id="8" name="Shape 6"/>
          <p:cNvSpPr/>
          <p:nvPr/>
        </p:nvSpPr>
        <p:spPr>
          <a:xfrm>
            <a:off x="8361036" y="1115568"/>
            <a:ext cx="146304" cy="146304"/>
          </a:xfrm>
          <a:prstGeom prst="ellipse">
            <a:avLst/>
          </a:prstGeom>
          <a:solidFill>
            <a:srgbClr val="FFD60A"/>
          </a:solidFill>
          <a:ln w="12700">
            <a:solidFill>
              <a:srgbClr val="FFD60A"/>
            </a:solidFill>
            <a:prstDash val="solid"/>
          </a:ln>
        </p:spPr>
      </p:sp>
      <p:sp>
        <p:nvSpPr>
          <p:cNvPr id="9" name="Shape 7"/>
          <p:cNvSpPr/>
          <p:nvPr/>
        </p:nvSpPr>
        <p:spPr>
          <a:xfrm>
            <a:off x="8617068" y="1115568"/>
            <a:ext cx="146304" cy="146304"/>
          </a:xfrm>
          <a:prstGeom prst="ellipse">
            <a:avLst/>
          </a:prstGeom>
          <a:solidFill>
            <a:srgbClr val="C3F584"/>
          </a:solidFill>
          <a:ln w="12700">
            <a:solidFill>
              <a:srgbClr val="C3F584"/>
            </a:solidFill>
            <a:prstDash val="solid"/>
          </a:ln>
        </p:spPr>
      </p:sp>
      <p:sp>
        <p:nvSpPr>
          <p:cNvPr id="10" name="Text 8"/>
          <p:cNvSpPr/>
          <p:nvPr/>
        </p:nvSpPr>
        <p:spPr>
          <a:xfrm>
            <a:off x="310896" y="1051182"/>
            <a:ext cx="8050140" cy="2956560"/>
          </a:xfrm>
          <a:prstGeom prst="rect">
            <a:avLst/>
          </a:prstGeom>
          <a:noFill/>
          <a:ln/>
        </p:spPr>
        <p:txBody>
          <a:bodyPr wrap="square" lIns="108000" tIns="0" rIns="127000" bIns="63500" rtlCol="0" anchor="t"/>
          <a:lstStyle/>
          <a:p>
            <a:r>
              <a:rPr lang="pl-PL" sz="1200" dirty="0">
                <a:solidFill>
                  <a:srgbClr val="C586C0"/>
                </a:solidFill>
                <a:latin typeface="Consolas" panose="020B0609020204030204" pitchFamily="49" charset="0"/>
              </a:rPr>
              <a:t>import</a:t>
            </a:r>
            <a:r>
              <a:rPr lang="pl-PL" sz="1200" dirty="0">
                <a:solidFill>
                  <a:srgbClr val="CCCCCC"/>
                </a:solidFill>
                <a:latin typeface="Consolas" panose="020B0609020204030204" pitchFamily="49" charset="0"/>
              </a:rPr>
              <a:t> </a:t>
            </a:r>
            <a:r>
              <a:rPr lang="pl-PL" sz="1200" dirty="0" err="1">
                <a:solidFill>
                  <a:srgbClr val="4EC9B0"/>
                </a:solidFill>
                <a:latin typeface="Consolas" panose="020B0609020204030204" pitchFamily="49" charset="0"/>
              </a:rPr>
              <a:t>numpy</a:t>
            </a:r>
            <a:r>
              <a:rPr lang="pl-PL" sz="1200" dirty="0">
                <a:solidFill>
                  <a:srgbClr val="CCCCCC"/>
                </a:solidFill>
                <a:latin typeface="Consolas" panose="020B0609020204030204" pitchFamily="49" charset="0"/>
              </a:rPr>
              <a:t> </a:t>
            </a:r>
            <a:r>
              <a:rPr lang="pl-PL" sz="1200" dirty="0">
                <a:solidFill>
                  <a:srgbClr val="C586C0"/>
                </a:solidFill>
                <a:latin typeface="Consolas" panose="020B0609020204030204" pitchFamily="49" charset="0"/>
              </a:rPr>
              <a:t>as</a:t>
            </a:r>
            <a:r>
              <a:rPr lang="pl-PL" sz="1200" dirty="0">
                <a:solidFill>
                  <a:srgbClr val="CCCCCC"/>
                </a:solidFill>
                <a:latin typeface="Consolas" panose="020B0609020204030204" pitchFamily="49" charset="0"/>
              </a:rPr>
              <a:t> </a:t>
            </a:r>
            <a:r>
              <a:rPr lang="pl-PL" sz="1200" dirty="0" err="1">
                <a:solidFill>
                  <a:srgbClr val="4EC9B0"/>
                </a:solidFill>
                <a:latin typeface="Consolas" panose="020B0609020204030204" pitchFamily="49" charset="0"/>
              </a:rPr>
              <a:t>np</a:t>
            </a:r>
            <a:endParaRPr lang="pl-PL" sz="1200" dirty="0">
              <a:solidFill>
                <a:srgbClr val="CCCCCC"/>
              </a:solidFill>
              <a:latin typeface="Consolas" panose="020B0609020204030204" pitchFamily="49" charset="0"/>
            </a:endParaRPr>
          </a:p>
          <a:p>
            <a:r>
              <a:rPr lang="pl-PL" sz="1200" dirty="0">
                <a:solidFill>
                  <a:srgbClr val="CCCCCC"/>
                </a:solidFill>
                <a:latin typeface="Consolas" panose="020B0609020204030204" pitchFamily="49" charset="0"/>
              </a:rPr>
              <a:t/>
            </a:r>
            <a:br>
              <a:rPr lang="pl-PL" sz="1200" dirty="0">
                <a:solidFill>
                  <a:srgbClr val="CCCCCC"/>
                </a:solidFill>
                <a:latin typeface="Consolas" panose="020B0609020204030204" pitchFamily="49" charset="0"/>
              </a:rPr>
            </a:br>
            <a:r>
              <a:rPr lang="pl-PL" sz="1200" dirty="0" err="1">
                <a:solidFill>
                  <a:srgbClr val="569CD6"/>
                </a:solidFill>
                <a:latin typeface="Consolas" panose="020B0609020204030204" pitchFamily="49" charset="0"/>
              </a:rPr>
              <a:t>class</a:t>
            </a:r>
            <a:r>
              <a:rPr lang="pl-PL" sz="1200" dirty="0">
                <a:solidFill>
                  <a:srgbClr val="CCCCCC"/>
                </a:solidFill>
                <a:latin typeface="Consolas" panose="020B0609020204030204" pitchFamily="49" charset="0"/>
              </a:rPr>
              <a:t> </a:t>
            </a:r>
            <a:r>
              <a:rPr lang="pl-PL" sz="1200" dirty="0" err="1">
                <a:solidFill>
                  <a:srgbClr val="4EC9B0"/>
                </a:solidFill>
                <a:latin typeface="Consolas" panose="020B0609020204030204" pitchFamily="49" charset="0"/>
              </a:rPr>
              <a:t>ComplementaryFilter</a:t>
            </a:r>
            <a:r>
              <a:rPr lang="pl-PL" sz="1200" dirty="0">
                <a:solidFill>
                  <a:srgbClr val="CCCCCC"/>
                </a:solidFill>
                <a:latin typeface="Consolas" panose="020B0609020204030204" pitchFamily="49" charset="0"/>
              </a:rPr>
              <a:t>:</a:t>
            </a:r>
          </a:p>
          <a:p>
            <a:r>
              <a:rPr lang="pl-PL" sz="1200" dirty="0">
                <a:solidFill>
                  <a:srgbClr val="CCCCCC"/>
                </a:solidFill>
                <a:latin typeface="Consolas" panose="020B0609020204030204" pitchFamily="49" charset="0"/>
              </a:rPr>
              <a:t>    </a:t>
            </a:r>
            <a:r>
              <a:rPr lang="pl-PL" sz="1200" dirty="0" smtClean="0">
                <a:solidFill>
                  <a:srgbClr val="569CD6"/>
                </a:solidFill>
                <a:latin typeface="Consolas" panose="020B0609020204030204" pitchFamily="49" charset="0"/>
              </a:rPr>
              <a:t>def</a:t>
            </a:r>
            <a:r>
              <a:rPr lang="pl-PL" sz="1200" dirty="0" smtClean="0">
                <a:solidFill>
                  <a:srgbClr val="CCCCCC"/>
                </a:solidFill>
                <a:latin typeface="Consolas" panose="020B0609020204030204" pitchFamily="49" charset="0"/>
              </a:rPr>
              <a:t> </a:t>
            </a:r>
            <a:r>
              <a:rPr lang="pl-PL" sz="1200" dirty="0">
                <a:solidFill>
                  <a:srgbClr val="DCDCAA"/>
                </a:solidFill>
                <a:latin typeface="Consolas" panose="020B0609020204030204" pitchFamily="49" charset="0"/>
              </a:rPr>
              <a:t>__</a:t>
            </a:r>
            <a:r>
              <a:rPr lang="pl-PL" sz="1200" dirty="0" err="1">
                <a:solidFill>
                  <a:srgbClr val="DCDCAA"/>
                </a:solidFill>
                <a:latin typeface="Consolas" panose="020B0609020204030204" pitchFamily="49" charset="0"/>
              </a:rPr>
              <a:t>init</a:t>
            </a:r>
            <a:r>
              <a:rPr lang="pl-PL" sz="1200" dirty="0">
                <a:solidFill>
                  <a:srgbClr val="DCDCAA"/>
                </a:solidFill>
                <a:latin typeface="Consolas" panose="020B0609020204030204" pitchFamily="49" charset="0"/>
              </a:rPr>
              <a:t>__</a:t>
            </a:r>
            <a:r>
              <a:rPr lang="pl-PL" sz="1200" dirty="0">
                <a:solidFill>
                  <a:srgbClr val="CCCCCC"/>
                </a:solidFill>
                <a:latin typeface="Consolas" panose="020B0609020204030204" pitchFamily="49" charset="0"/>
              </a:rPr>
              <a:t>(</a:t>
            </a:r>
            <a:r>
              <a:rPr lang="pl-PL" sz="1200" dirty="0" err="1">
                <a:solidFill>
                  <a:srgbClr val="9CDCFE"/>
                </a:solidFill>
                <a:latin typeface="Consolas" panose="020B0609020204030204" pitchFamily="49" charset="0"/>
              </a:rPr>
              <a:t>self</a:t>
            </a:r>
            <a:r>
              <a:rPr lang="pl-PL" sz="1200" dirty="0">
                <a:solidFill>
                  <a:srgbClr val="CCCCCC"/>
                </a:solidFill>
                <a:latin typeface="Consolas" panose="020B0609020204030204" pitchFamily="49" charset="0"/>
              </a:rPr>
              <a:t>, </a:t>
            </a:r>
            <a:r>
              <a:rPr lang="pl-PL" sz="1200" dirty="0" err="1">
                <a:solidFill>
                  <a:srgbClr val="9CDCFE"/>
                </a:solidFill>
                <a:latin typeface="Consolas" panose="020B0609020204030204" pitchFamily="49" charset="0"/>
              </a:rPr>
              <a:t>alpha</a:t>
            </a:r>
            <a:r>
              <a:rPr lang="pl-PL" sz="1200" dirty="0">
                <a:solidFill>
                  <a:srgbClr val="CCCCCC"/>
                </a:solidFill>
                <a:latin typeface="Consolas" panose="020B0609020204030204" pitchFamily="49" charset="0"/>
              </a:rPr>
              <a:t>: </a:t>
            </a:r>
            <a:r>
              <a:rPr lang="pl-PL" sz="1200" dirty="0" err="1">
                <a:solidFill>
                  <a:srgbClr val="4EC9B0"/>
                </a:solidFill>
                <a:latin typeface="Consolas" panose="020B0609020204030204" pitchFamily="49" charset="0"/>
              </a:rPr>
              <a:t>float</a:t>
            </a:r>
            <a:r>
              <a:rPr lang="pl-PL" sz="1200" dirty="0">
                <a:solidFill>
                  <a:srgbClr val="CCCCCC"/>
                </a:solidFill>
                <a:latin typeface="Consolas" panose="020B0609020204030204" pitchFamily="49" charset="0"/>
              </a:rPr>
              <a:t> </a:t>
            </a:r>
            <a:r>
              <a:rPr lang="pl-PL" sz="1200" dirty="0">
                <a:solidFill>
                  <a:srgbClr val="D4D4D4"/>
                </a:solidFill>
                <a:latin typeface="Consolas" panose="020B0609020204030204" pitchFamily="49" charset="0"/>
              </a:rPr>
              <a:t>=</a:t>
            </a:r>
            <a:r>
              <a:rPr lang="pl-PL" sz="1200" dirty="0">
                <a:solidFill>
                  <a:srgbClr val="CCCCCC"/>
                </a:solidFill>
                <a:latin typeface="Consolas" panose="020B0609020204030204" pitchFamily="49" charset="0"/>
              </a:rPr>
              <a:t> </a:t>
            </a:r>
            <a:r>
              <a:rPr lang="pl-PL" sz="1200" dirty="0">
                <a:solidFill>
                  <a:srgbClr val="B5CEA8"/>
                </a:solidFill>
                <a:latin typeface="Consolas" panose="020B0609020204030204" pitchFamily="49" charset="0"/>
              </a:rPr>
              <a:t>0.98</a:t>
            </a:r>
            <a:r>
              <a:rPr lang="pl-PL" sz="1200" dirty="0">
                <a:solidFill>
                  <a:srgbClr val="CCCCCC"/>
                </a:solidFill>
                <a:latin typeface="Consolas" panose="020B0609020204030204" pitchFamily="49" charset="0"/>
              </a:rPr>
              <a:t>):</a:t>
            </a:r>
          </a:p>
          <a:p>
            <a:r>
              <a:rPr lang="pl-PL" sz="1200" dirty="0">
                <a:solidFill>
                  <a:srgbClr val="CCCCCC"/>
                </a:solidFill>
                <a:latin typeface="Consolas" panose="020B0609020204030204" pitchFamily="49" charset="0"/>
              </a:rPr>
              <a:t>            </a:t>
            </a:r>
            <a:r>
              <a:rPr lang="pl-PL" sz="1200" dirty="0" err="1">
                <a:solidFill>
                  <a:srgbClr val="9CDCFE"/>
                </a:solidFill>
                <a:latin typeface="Consolas" panose="020B0609020204030204" pitchFamily="49" charset="0"/>
              </a:rPr>
              <a:t>self</a:t>
            </a:r>
            <a:r>
              <a:rPr lang="pl-PL" sz="1200" dirty="0" err="1">
                <a:solidFill>
                  <a:srgbClr val="CCCCCC"/>
                </a:solidFill>
                <a:latin typeface="Consolas" panose="020B0609020204030204" pitchFamily="49" charset="0"/>
              </a:rPr>
              <a:t>.</a:t>
            </a:r>
            <a:r>
              <a:rPr lang="pl-PL" sz="1200" dirty="0" err="1">
                <a:solidFill>
                  <a:srgbClr val="9CDCFE"/>
                </a:solidFill>
                <a:latin typeface="Consolas" panose="020B0609020204030204" pitchFamily="49" charset="0"/>
              </a:rPr>
              <a:t>alpha</a:t>
            </a:r>
            <a:r>
              <a:rPr lang="pl-PL" sz="1200" dirty="0">
                <a:solidFill>
                  <a:srgbClr val="CCCCCC"/>
                </a:solidFill>
                <a:latin typeface="Consolas" panose="020B0609020204030204" pitchFamily="49" charset="0"/>
              </a:rPr>
              <a:t> </a:t>
            </a:r>
            <a:r>
              <a:rPr lang="pl-PL" sz="1200" dirty="0">
                <a:solidFill>
                  <a:srgbClr val="D4D4D4"/>
                </a:solidFill>
                <a:latin typeface="Consolas" panose="020B0609020204030204" pitchFamily="49" charset="0"/>
              </a:rPr>
              <a:t>=</a:t>
            </a:r>
            <a:r>
              <a:rPr lang="pl-PL" sz="1200" dirty="0">
                <a:solidFill>
                  <a:srgbClr val="CCCCCC"/>
                </a:solidFill>
                <a:latin typeface="Consolas" panose="020B0609020204030204" pitchFamily="49" charset="0"/>
              </a:rPr>
              <a:t> </a:t>
            </a:r>
            <a:r>
              <a:rPr lang="pl-PL" sz="1200" dirty="0" err="1">
                <a:solidFill>
                  <a:srgbClr val="9CDCFE"/>
                </a:solidFill>
                <a:latin typeface="Consolas" panose="020B0609020204030204" pitchFamily="49" charset="0"/>
              </a:rPr>
              <a:t>alpha</a:t>
            </a:r>
            <a:endParaRPr lang="pl-PL" sz="1200" dirty="0">
              <a:solidFill>
                <a:srgbClr val="CCCCCC"/>
              </a:solidFill>
              <a:latin typeface="Consolas" panose="020B0609020204030204" pitchFamily="49" charset="0"/>
            </a:endParaRPr>
          </a:p>
          <a:p>
            <a:r>
              <a:rPr lang="pl-PL" sz="1200" dirty="0">
                <a:solidFill>
                  <a:srgbClr val="CCCCCC"/>
                </a:solidFill>
                <a:latin typeface="Consolas" panose="020B0609020204030204" pitchFamily="49" charset="0"/>
              </a:rPr>
              <a:t>            </a:t>
            </a:r>
            <a:r>
              <a:rPr lang="pl-PL" sz="1200" dirty="0" err="1">
                <a:solidFill>
                  <a:srgbClr val="9CDCFE"/>
                </a:solidFill>
                <a:latin typeface="Consolas" panose="020B0609020204030204" pitchFamily="49" charset="0"/>
              </a:rPr>
              <a:t>self</a:t>
            </a:r>
            <a:r>
              <a:rPr lang="pl-PL" sz="1200" dirty="0" err="1">
                <a:solidFill>
                  <a:srgbClr val="CCCCCC"/>
                </a:solidFill>
                <a:latin typeface="Consolas" panose="020B0609020204030204" pitchFamily="49" charset="0"/>
              </a:rPr>
              <a:t>.</a:t>
            </a:r>
            <a:r>
              <a:rPr lang="pl-PL" sz="1200" dirty="0" err="1">
                <a:solidFill>
                  <a:srgbClr val="9CDCFE"/>
                </a:solidFill>
                <a:latin typeface="Consolas" panose="020B0609020204030204" pitchFamily="49" charset="0"/>
              </a:rPr>
              <a:t>pitch</a:t>
            </a:r>
            <a:r>
              <a:rPr lang="pl-PL" sz="1200" dirty="0">
                <a:solidFill>
                  <a:srgbClr val="CCCCCC"/>
                </a:solidFill>
                <a:latin typeface="Consolas" panose="020B0609020204030204" pitchFamily="49" charset="0"/>
              </a:rPr>
              <a:t> </a:t>
            </a:r>
            <a:r>
              <a:rPr lang="pl-PL" sz="1200" dirty="0">
                <a:solidFill>
                  <a:srgbClr val="D4D4D4"/>
                </a:solidFill>
                <a:latin typeface="Consolas" panose="020B0609020204030204" pitchFamily="49" charset="0"/>
              </a:rPr>
              <a:t>=</a:t>
            </a:r>
            <a:r>
              <a:rPr lang="pl-PL" sz="1200" dirty="0">
                <a:solidFill>
                  <a:srgbClr val="CCCCCC"/>
                </a:solidFill>
                <a:latin typeface="Consolas" panose="020B0609020204030204" pitchFamily="49" charset="0"/>
              </a:rPr>
              <a:t> </a:t>
            </a:r>
            <a:r>
              <a:rPr lang="pl-PL" sz="1200" dirty="0">
                <a:solidFill>
                  <a:srgbClr val="B5CEA8"/>
                </a:solidFill>
                <a:latin typeface="Consolas" panose="020B0609020204030204" pitchFamily="49" charset="0"/>
              </a:rPr>
              <a:t>0.0</a:t>
            </a:r>
            <a:r>
              <a:rPr lang="pl-PL" sz="1200" dirty="0">
                <a:solidFill>
                  <a:srgbClr val="CCCCCC"/>
                </a:solidFill>
                <a:latin typeface="Consolas" panose="020B0609020204030204" pitchFamily="49" charset="0"/>
              </a:rPr>
              <a:t>  </a:t>
            </a:r>
            <a:r>
              <a:rPr lang="pl-PL" sz="1200" dirty="0">
                <a:solidFill>
                  <a:srgbClr val="6A9955"/>
                </a:solidFill>
                <a:latin typeface="Consolas" panose="020B0609020204030204" pitchFamily="49" charset="0"/>
              </a:rPr>
              <a:t># estymowany kat pochylenia [rad]</a:t>
            </a:r>
            <a:endParaRPr lang="pl-PL" sz="1200" dirty="0">
              <a:solidFill>
                <a:srgbClr val="CCCCCC"/>
              </a:solidFill>
              <a:latin typeface="Consolas" panose="020B0609020204030204" pitchFamily="49" charset="0"/>
            </a:endParaRPr>
          </a:p>
          <a:p>
            <a:r>
              <a:rPr lang="pl-PL" sz="1200" dirty="0">
                <a:solidFill>
                  <a:srgbClr val="CCCCCC"/>
                </a:solidFill>
                <a:latin typeface="Consolas" panose="020B0609020204030204" pitchFamily="49" charset="0"/>
              </a:rPr>
              <a:t/>
            </a:r>
            <a:br>
              <a:rPr lang="pl-PL" sz="1200" dirty="0">
                <a:solidFill>
                  <a:srgbClr val="CCCCCC"/>
                </a:solidFill>
                <a:latin typeface="Consolas" panose="020B0609020204030204" pitchFamily="49" charset="0"/>
              </a:rPr>
            </a:br>
            <a:r>
              <a:rPr lang="pl-PL" sz="1200" dirty="0">
                <a:solidFill>
                  <a:srgbClr val="CCCCCC"/>
                </a:solidFill>
                <a:latin typeface="Consolas" panose="020B0609020204030204" pitchFamily="49" charset="0"/>
              </a:rPr>
              <a:t>    </a:t>
            </a:r>
            <a:r>
              <a:rPr lang="pl-PL" sz="1200" dirty="0" smtClean="0">
                <a:solidFill>
                  <a:srgbClr val="569CD6"/>
                </a:solidFill>
                <a:latin typeface="Consolas" panose="020B0609020204030204" pitchFamily="49" charset="0"/>
              </a:rPr>
              <a:t>def</a:t>
            </a:r>
            <a:r>
              <a:rPr lang="pl-PL" sz="1200" dirty="0" smtClean="0">
                <a:solidFill>
                  <a:srgbClr val="CCCCCC"/>
                </a:solidFill>
                <a:latin typeface="Consolas" panose="020B0609020204030204" pitchFamily="49" charset="0"/>
              </a:rPr>
              <a:t> </a:t>
            </a:r>
            <a:r>
              <a:rPr lang="pl-PL" sz="1200" dirty="0">
                <a:solidFill>
                  <a:srgbClr val="DCDCAA"/>
                </a:solidFill>
                <a:latin typeface="Consolas" panose="020B0609020204030204" pitchFamily="49" charset="0"/>
              </a:rPr>
              <a:t>update</a:t>
            </a:r>
            <a:r>
              <a:rPr lang="pl-PL" sz="1200" dirty="0">
                <a:solidFill>
                  <a:srgbClr val="CCCCCC"/>
                </a:solidFill>
                <a:latin typeface="Consolas" panose="020B0609020204030204" pitchFamily="49" charset="0"/>
              </a:rPr>
              <a:t>(</a:t>
            </a:r>
            <a:r>
              <a:rPr lang="pl-PL" sz="1200" dirty="0" err="1">
                <a:solidFill>
                  <a:srgbClr val="9CDCFE"/>
                </a:solidFill>
                <a:latin typeface="Consolas" panose="020B0609020204030204" pitchFamily="49" charset="0"/>
              </a:rPr>
              <a:t>self</a:t>
            </a:r>
            <a:r>
              <a:rPr lang="pl-PL" sz="1200" dirty="0">
                <a:solidFill>
                  <a:srgbClr val="CCCCCC"/>
                </a:solidFill>
                <a:latin typeface="Consolas" panose="020B0609020204030204" pitchFamily="49" charset="0"/>
              </a:rPr>
              <a:t>, </a:t>
            </a:r>
            <a:r>
              <a:rPr lang="pl-PL" sz="1200" dirty="0" err="1">
                <a:solidFill>
                  <a:srgbClr val="9CDCFE"/>
                </a:solidFill>
                <a:latin typeface="Consolas" panose="020B0609020204030204" pitchFamily="49" charset="0"/>
              </a:rPr>
              <a:t>gyro_y</a:t>
            </a:r>
            <a:r>
              <a:rPr lang="pl-PL" sz="1200" dirty="0">
                <a:solidFill>
                  <a:srgbClr val="CCCCCC"/>
                </a:solidFill>
                <a:latin typeface="Consolas" panose="020B0609020204030204" pitchFamily="49" charset="0"/>
              </a:rPr>
              <a:t>: </a:t>
            </a:r>
            <a:r>
              <a:rPr lang="pl-PL" sz="1200" dirty="0" err="1">
                <a:solidFill>
                  <a:srgbClr val="4EC9B0"/>
                </a:solidFill>
                <a:latin typeface="Consolas" panose="020B0609020204030204" pitchFamily="49" charset="0"/>
              </a:rPr>
              <a:t>float</a:t>
            </a:r>
            <a:r>
              <a:rPr lang="pl-PL" sz="1200" dirty="0">
                <a:solidFill>
                  <a:srgbClr val="CCCCCC"/>
                </a:solidFill>
                <a:latin typeface="Consolas" panose="020B0609020204030204" pitchFamily="49" charset="0"/>
              </a:rPr>
              <a:t>, </a:t>
            </a:r>
            <a:r>
              <a:rPr lang="pl-PL" sz="1200" dirty="0" err="1">
                <a:solidFill>
                  <a:srgbClr val="9CDCFE"/>
                </a:solidFill>
                <a:latin typeface="Consolas" panose="020B0609020204030204" pitchFamily="49" charset="0"/>
              </a:rPr>
              <a:t>accel_xz</a:t>
            </a:r>
            <a:r>
              <a:rPr lang="pl-PL" sz="1200" dirty="0">
                <a:solidFill>
                  <a:srgbClr val="CCCCCC"/>
                </a:solidFill>
                <a:latin typeface="Consolas" panose="020B0609020204030204" pitchFamily="49" charset="0"/>
              </a:rPr>
              <a:t>: </a:t>
            </a:r>
            <a:r>
              <a:rPr lang="pl-PL" sz="1200" dirty="0" err="1">
                <a:solidFill>
                  <a:srgbClr val="4EC9B0"/>
                </a:solidFill>
                <a:latin typeface="Consolas" panose="020B0609020204030204" pitchFamily="49" charset="0"/>
              </a:rPr>
              <a:t>np</a:t>
            </a:r>
            <a:r>
              <a:rPr lang="pl-PL" sz="1200" dirty="0" err="1">
                <a:solidFill>
                  <a:srgbClr val="CCCCCC"/>
                </a:solidFill>
                <a:latin typeface="Consolas" panose="020B0609020204030204" pitchFamily="49" charset="0"/>
              </a:rPr>
              <a:t>.</a:t>
            </a:r>
            <a:r>
              <a:rPr lang="pl-PL" sz="1200" dirty="0" err="1">
                <a:solidFill>
                  <a:srgbClr val="4EC9B0"/>
                </a:solidFill>
                <a:latin typeface="Consolas" panose="020B0609020204030204" pitchFamily="49" charset="0"/>
              </a:rPr>
              <a:t>ndarray</a:t>
            </a:r>
            <a:r>
              <a:rPr lang="pl-PL" sz="1200" dirty="0">
                <a:solidFill>
                  <a:srgbClr val="CCCCCC"/>
                </a:solidFill>
                <a:latin typeface="Consolas" panose="020B0609020204030204" pitchFamily="49" charset="0"/>
              </a:rPr>
              <a:t>, </a:t>
            </a:r>
            <a:r>
              <a:rPr lang="pl-PL" sz="1200" dirty="0" err="1">
                <a:solidFill>
                  <a:srgbClr val="9CDCFE"/>
                </a:solidFill>
                <a:latin typeface="Consolas" panose="020B0609020204030204" pitchFamily="49" charset="0"/>
              </a:rPr>
              <a:t>dt</a:t>
            </a:r>
            <a:r>
              <a:rPr lang="pl-PL" sz="1200" dirty="0">
                <a:solidFill>
                  <a:srgbClr val="CCCCCC"/>
                </a:solidFill>
                <a:latin typeface="Consolas" panose="020B0609020204030204" pitchFamily="49" charset="0"/>
              </a:rPr>
              <a:t>: </a:t>
            </a:r>
            <a:r>
              <a:rPr lang="pl-PL" sz="1200" dirty="0" err="1">
                <a:solidFill>
                  <a:srgbClr val="4EC9B0"/>
                </a:solidFill>
                <a:latin typeface="Consolas" panose="020B0609020204030204" pitchFamily="49" charset="0"/>
              </a:rPr>
              <a:t>float</a:t>
            </a:r>
            <a:r>
              <a:rPr lang="pl-PL" sz="1200" dirty="0">
                <a:solidFill>
                  <a:srgbClr val="CCCCCC"/>
                </a:solidFill>
                <a:latin typeface="Consolas" panose="020B0609020204030204" pitchFamily="49" charset="0"/>
              </a:rPr>
              <a:t>) -&gt; </a:t>
            </a:r>
            <a:r>
              <a:rPr lang="pl-PL" sz="1200" dirty="0" err="1">
                <a:solidFill>
                  <a:srgbClr val="4EC9B0"/>
                </a:solidFill>
                <a:latin typeface="Consolas" panose="020B0609020204030204" pitchFamily="49" charset="0"/>
              </a:rPr>
              <a:t>float</a:t>
            </a:r>
            <a:r>
              <a:rPr lang="pl-PL" sz="1200" dirty="0">
                <a:solidFill>
                  <a:srgbClr val="CCCCCC"/>
                </a:solidFill>
                <a:latin typeface="Consolas" panose="020B0609020204030204" pitchFamily="49" charset="0"/>
              </a:rPr>
              <a:t>:</a:t>
            </a:r>
          </a:p>
          <a:p>
            <a:r>
              <a:rPr lang="pl-PL" sz="1200" dirty="0">
                <a:solidFill>
                  <a:srgbClr val="CCCCCC"/>
                </a:solidFill>
                <a:latin typeface="Consolas" panose="020B0609020204030204" pitchFamily="49" charset="0"/>
              </a:rPr>
              <a:t>            </a:t>
            </a:r>
            <a:r>
              <a:rPr lang="pl-PL" sz="1200" dirty="0">
                <a:solidFill>
                  <a:srgbClr val="CE9178"/>
                </a:solidFill>
                <a:latin typeface="Consolas" panose="020B0609020204030204" pitchFamily="49" charset="0"/>
              </a:rPr>
              <a:t>"""Estymacja </a:t>
            </a:r>
            <a:r>
              <a:rPr lang="pl-PL" sz="1200" dirty="0" err="1">
                <a:solidFill>
                  <a:srgbClr val="CE9178"/>
                </a:solidFill>
                <a:latin typeface="Consolas" panose="020B0609020204030204" pitchFamily="49" charset="0"/>
              </a:rPr>
              <a:t>pitch</a:t>
            </a:r>
            <a:r>
              <a:rPr lang="pl-PL" sz="1200" dirty="0">
                <a:solidFill>
                  <a:srgbClr val="CE9178"/>
                </a:solidFill>
                <a:latin typeface="Consolas" panose="020B0609020204030204" pitchFamily="49" charset="0"/>
              </a:rPr>
              <a:t> z </a:t>
            </a:r>
            <a:r>
              <a:rPr lang="pl-PL" sz="1200" dirty="0" err="1">
                <a:solidFill>
                  <a:srgbClr val="CE9178"/>
                </a:solidFill>
                <a:latin typeface="Consolas" panose="020B0609020204030204" pitchFamily="49" charset="0"/>
              </a:rPr>
              <a:t>gyro</a:t>
            </a:r>
            <a:r>
              <a:rPr lang="pl-PL" sz="1200" dirty="0">
                <a:solidFill>
                  <a:srgbClr val="CE9178"/>
                </a:solidFill>
                <a:latin typeface="Consolas" panose="020B0609020204030204" pitchFamily="49" charset="0"/>
              </a:rPr>
              <a:t> i akcelerometru."""</a:t>
            </a:r>
            <a:endParaRPr lang="pl-PL" sz="1200" dirty="0">
              <a:solidFill>
                <a:srgbClr val="CCCCCC"/>
              </a:solidFill>
              <a:latin typeface="Consolas" panose="020B0609020204030204" pitchFamily="49" charset="0"/>
            </a:endParaRPr>
          </a:p>
          <a:p>
            <a:r>
              <a:rPr lang="pl-PL" sz="1200" dirty="0">
                <a:solidFill>
                  <a:srgbClr val="CCCCCC"/>
                </a:solidFill>
                <a:latin typeface="Consolas" panose="020B0609020204030204" pitchFamily="49" charset="0"/>
              </a:rPr>
              <a:t>            </a:t>
            </a:r>
            <a:r>
              <a:rPr lang="pl-PL" sz="1200" dirty="0">
                <a:solidFill>
                  <a:srgbClr val="6A9955"/>
                </a:solidFill>
                <a:latin typeface="Consolas" panose="020B0609020204030204" pitchFamily="49" charset="0"/>
              </a:rPr>
              <a:t># Predykcja z żyroskopu</a:t>
            </a:r>
            <a:endParaRPr lang="pl-PL" sz="1200" dirty="0">
              <a:solidFill>
                <a:srgbClr val="CCCCCC"/>
              </a:solidFill>
              <a:latin typeface="Consolas" panose="020B0609020204030204" pitchFamily="49" charset="0"/>
            </a:endParaRPr>
          </a:p>
          <a:p>
            <a:r>
              <a:rPr lang="pl-PL" sz="1200" dirty="0">
                <a:solidFill>
                  <a:srgbClr val="CCCCCC"/>
                </a:solidFill>
                <a:latin typeface="Consolas" panose="020B0609020204030204" pitchFamily="49" charset="0"/>
              </a:rPr>
              <a:t>            </a:t>
            </a:r>
            <a:r>
              <a:rPr lang="pl-PL" sz="1200" dirty="0" err="1">
                <a:solidFill>
                  <a:srgbClr val="9CDCFE"/>
                </a:solidFill>
                <a:latin typeface="Consolas" panose="020B0609020204030204" pitchFamily="49" charset="0"/>
              </a:rPr>
              <a:t>pitch_gyro</a:t>
            </a:r>
            <a:r>
              <a:rPr lang="pl-PL" sz="1200" dirty="0">
                <a:solidFill>
                  <a:srgbClr val="CCCCCC"/>
                </a:solidFill>
                <a:latin typeface="Consolas" panose="020B0609020204030204" pitchFamily="49" charset="0"/>
              </a:rPr>
              <a:t> </a:t>
            </a:r>
            <a:r>
              <a:rPr lang="pl-PL" sz="1200" dirty="0">
                <a:solidFill>
                  <a:srgbClr val="D4D4D4"/>
                </a:solidFill>
                <a:latin typeface="Consolas" panose="020B0609020204030204" pitchFamily="49" charset="0"/>
              </a:rPr>
              <a:t>=</a:t>
            </a:r>
            <a:r>
              <a:rPr lang="pl-PL" sz="1200" dirty="0">
                <a:solidFill>
                  <a:srgbClr val="CCCCCC"/>
                </a:solidFill>
                <a:latin typeface="Consolas" panose="020B0609020204030204" pitchFamily="49" charset="0"/>
              </a:rPr>
              <a:t> </a:t>
            </a:r>
            <a:r>
              <a:rPr lang="pl-PL" sz="1200" dirty="0" err="1">
                <a:solidFill>
                  <a:srgbClr val="9CDCFE"/>
                </a:solidFill>
                <a:latin typeface="Consolas" panose="020B0609020204030204" pitchFamily="49" charset="0"/>
              </a:rPr>
              <a:t>self</a:t>
            </a:r>
            <a:r>
              <a:rPr lang="pl-PL" sz="1200" dirty="0" err="1">
                <a:solidFill>
                  <a:srgbClr val="CCCCCC"/>
                </a:solidFill>
                <a:latin typeface="Consolas" panose="020B0609020204030204" pitchFamily="49" charset="0"/>
              </a:rPr>
              <a:t>.</a:t>
            </a:r>
            <a:r>
              <a:rPr lang="pl-PL" sz="1200" dirty="0" err="1">
                <a:solidFill>
                  <a:srgbClr val="9CDCFE"/>
                </a:solidFill>
                <a:latin typeface="Consolas" panose="020B0609020204030204" pitchFamily="49" charset="0"/>
              </a:rPr>
              <a:t>pitch</a:t>
            </a:r>
            <a:r>
              <a:rPr lang="pl-PL" sz="1200" dirty="0">
                <a:solidFill>
                  <a:srgbClr val="CCCCCC"/>
                </a:solidFill>
                <a:latin typeface="Consolas" panose="020B0609020204030204" pitchFamily="49" charset="0"/>
              </a:rPr>
              <a:t> </a:t>
            </a:r>
            <a:r>
              <a:rPr lang="pl-PL" sz="1200" dirty="0">
                <a:solidFill>
                  <a:srgbClr val="D4D4D4"/>
                </a:solidFill>
                <a:latin typeface="Consolas" panose="020B0609020204030204" pitchFamily="49" charset="0"/>
              </a:rPr>
              <a:t>+</a:t>
            </a:r>
            <a:r>
              <a:rPr lang="pl-PL" sz="1200" dirty="0">
                <a:solidFill>
                  <a:srgbClr val="CCCCCC"/>
                </a:solidFill>
                <a:latin typeface="Consolas" panose="020B0609020204030204" pitchFamily="49" charset="0"/>
              </a:rPr>
              <a:t> </a:t>
            </a:r>
            <a:r>
              <a:rPr lang="pl-PL" sz="1200" dirty="0" err="1">
                <a:solidFill>
                  <a:srgbClr val="9CDCFE"/>
                </a:solidFill>
                <a:latin typeface="Consolas" panose="020B0609020204030204" pitchFamily="49" charset="0"/>
              </a:rPr>
              <a:t>gyro_y</a:t>
            </a:r>
            <a:r>
              <a:rPr lang="pl-PL" sz="1200" dirty="0">
                <a:solidFill>
                  <a:srgbClr val="CCCCCC"/>
                </a:solidFill>
                <a:latin typeface="Consolas" panose="020B0609020204030204" pitchFamily="49" charset="0"/>
              </a:rPr>
              <a:t> </a:t>
            </a:r>
            <a:r>
              <a:rPr lang="pl-PL" sz="1200" dirty="0">
                <a:solidFill>
                  <a:srgbClr val="D4D4D4"/>
                </a:solidFill>
                <a:latin typeface="Consolas" panose="020B0609020204030204" pitchFamily="49" charset="0"/>
              </a:rPr>
              <a:t>*</a:t>
            </a:r>
            <a:r>
              <a:rPr lang="pl-PL" sz="1200" dirty="0">
                <a:solidFill>
                  <a:srgbClr val="CCCCCC"/>
                </a:solidFill>
                <a:latin typeface="Consolas" panose="020B0609020204030204" pitchFamily="49" charset="0"/>
              </a:rPr>
              <a:t> </a:t>
            </a:r>
            <a:r>
              <a:rPr lang="pl-PL" sz="1200" dirty="0" err="1">
                <a:solidFill>
                  <a:srgbClr val="9CDCFE"/>
                </a:solidFill>
                <a:latin typeface="Consolas" panose="020B0609020204030204" pitchFamily="49" charset="0"/>
              </a:rPr>
              <a:t>dt</a:t>
            </a:r>
            <a:endParaRPr lang="pl-PL" sz="1200" dirty="0">
              <a:solidFill>
                <a:srgbClr val="CCCCCC"/>
              </a:solidFill>
              <a:latin typeface="Consolas" panose="020B0609020204030204" pitchFamily="49" charset="0"/>
            </a:endParaRPr>
          </a:p>
          <a:p>
            <a:r>
              <a:rPr lang="pl-PL" sz="1200" dirty="0">
                <a:solidFill>
                  <a:srgbClr val="CCCCCC"/>
                </a:solidFill>
                <a:latin typeface="Consolas" panose="020B0609020204030204" pitchFamily="49" charset="0"/>
              </a:rPr>
              <a:t>            </a:t>
            </a:r>
            <a:r>
              <a:rPr lang="pl-PL" sz="1200" dirty="0">
                <a:solidFill>
                  <a:srgbClr val="6A9955"/>
                </a:solidFill>
                <a:latin typeface="Consolas" panose="020B0609020204030204" pitchFamily="49" charset="0"/>
              </a:rPr>
              <a:t># Pomiar kata z akcelerometru (</a:t>
            </a:r>
            <a:r>
              <a:rPr lang="pl-PL" sz="1200" dirty="0" err="1">
                <a:solidFill>
                  <a:srgbClr val="6A9955"/>
                </a:solidFill>
                <a:latin typeface="Consolas" panose="020B0609020204030204" pitchFamily="49" charset="0"/>
              </a:rPr>
              <a:t>g_x</a:t>
            </a:r>
            <a:r>
              <a:rPr lang="pl-PL" sz="1200" dirty="0">
                <a:solidFill>
                  <a:srgbClr val="6A9955"/>
                </a:solidFill>
                <a:latin typeface="Consolas" panose="020B0609020204030204" pitchFamily="49" charset="0"/>
              </a:rPr>
              <a:t> i </a:t>
            </a:r>
            <a:r>
              <a:rPr lang="pl-PL" sz="1200" dirty="0" err="1">
                <a:solidFill>
                  <a:srgbClr val="6A9955"/>
                </a:solidFill>
                <a:latin typeface="Consolas" panose="020B0609020204030204" pitchFamily="49" charset="0"/>
              </a:rPr>
              <a:t>g_z</a:t>
            </a:r>
            <a:r>
              <a:rPr lang="pl-PL" sz="1200" dirty="0">
                <a:solidFill>
                  <a:srgbClr val="6A9955"/>
                </a:solidFill>
                <a:latin typeface="Consolas" panose="020B0609020204030204" pitchFamily="49" charset="0"/>
              </a:rPr>
              <a:t>)</a:t>
            </a:r>
            <a:endParaRPr lang="pl-PL" sz="1200" dirty="0">
              <a:solidFill>
                <a:srgbClr val="CCCCCC"/>
              </a:solidFill>
              <a:latin typeface="Consolas" panose="020B0609020204030204" pitchFamily="49" charset="0"/>
            </a:endParaRPr>
          </a:p>
          <a:p>
            <a:r>
              <a:rPr lang="pl-PL" sz="1200" dirty="0">
                <a:solidFill>
                  <a:srgbClr val="CCCCCC"/>
                </a:solidFill>
                <a:latin typeface="Consolas" panose="020B0609020204030204" pitchFamily="49" charset="0"/>
              </a:rPr>
              <a:t>            </a:t>
            </a:r>
            <a:r>
              <a:rPr lang="pl-PL" sz="1200" dirty="0" err="1">
                <a:solidFill>
                  <a:srgbClr val="9CDCFE"/>
                </a:solidFill>
                <a:latin typeface="Consolas" panose="020B0609020204030204" pitchFamily="49" charset="0"/>
              </a:rPr>
              <a:t>pitch_accel</a:t>
            </a:r>
            <a:r>
              <a:rPr lang="pl-PL" sz="1200" dirty="0">
                <a:solidFill>
                  <a:srgbClr val="CCCCCC"/>
                </a:solidFill>
                <a:latin typeface="Consolas" panose="020B0609020204030204" pitchFamily="49" charset="0"/>
              </a:rPr>
              <a:t> </a:t>
            </a:r>
            <a:r>
              <a:rPr lang="pl-PL" sz="1200" dirty="0">
                <a:solidFill>
                  <a:srgbClr val="D4D4D4"/>
                </a:solidFill>
                <a:latin typeface="Consolas" panose="020B0609020204030204" pitchFamily="49" charset="0"/>
              </a:rPr>
              <a:t>=</a:t>
            </a:r>
            <a:r>
              <a:rPr lang="pl-PL" sz="1200" dirty="0">
                <a:solidFill>
                  <a:srgbClr val="CCCCCC"/>
                </a:solidFill>
                <a:latin typeface="Consolas" panose="020B0609020204030204" pitchFamily="49" charset="0"/>
              </a:rPr>
              <a:t> </a:t>
            </a:r>
            <a:r>
              <a:rPr lang="pl-PL" sz="1200" dirty="0">
                <a:solidFill>
                  <a:srgbClr val="4EC9B0"/>
                </a:solidFill>
                <a:latin typeface="Consolas" panose="020B0609020204030204" pitchFamily="49" charset="0"/>
              </a:rPr>
              <a:t>np</a:t>
            </a:r>
            <a:r>
              <a:rPr lang="pl-PL" sz="1200" dirty="0">
                <a:solidFill>
                  <a:srgbClr val="CCCCCC"/>
                </a:solidFill>
                <a:latin typeface="Consolas" panose="020B0609020204030204" pitchFamily="49" charset="0"/>
              </a:rPr>
              <a:t>.</a:t>
            </a:r>
            <a:r>
              <a:rPr lang="pl-PL" sz="1200" dirty="0">
                <a:solidFill>
                  <a:srgbClr val="9CDCFE"/>
                </a:solidFill>
                <a:latin typeface="Consolas" panose="020B0609020204030204" pitchFamily="49" charset="0"/>
              </a:rPr>
              <a:t>arctan2</a:t>
            </a:r>
            <a:r>
              <a:rPr lang="pl-PL" sz="1200" dirty="0">
                <a:solidFill>
                  <a:srgbClr val="CCCCCC"/>
                </a:solidFill>
                <a:latin typeface="Consolas" panose="020B0609020204030204" pitchFamily="49" charset="0"/>
              </a:rPr>
              <a:t>(</a:t>
            </a:r>
            <a:r>
              <a:rPr lang="pl-PL" sz="1200" dirty="0" err="1">
                <a:solidFill>
                  <a:srgbClr val="9CDCFE"/>
                </a:solidFill>
                <a:latin typeface="Consolas" panose="020B0609020204030204" pitchFamily="49" charset="0"/>
              </a:rPr>
              <a:t>accel_xz</a:t>
            </a:r>
            <a:r>
              <a:rPr lang="pl-PL" sz="1200" dirty="0">
                <a:solidFill>
                  <a:srgbClr val="CCCCCC"/>
                </a:solidFill>
                <a:latin typeface="Consolas" panose="020B0609020204030204" pitchFamily="49" charset="0"/>
              </a:rPr>
              <a:t>[</a:t>
            </a:r>
            <a:r>
              <a:rPr lang="pl-PL" sz="1200" dirty="0">
                <a:solidFill>
                  <a:srgbClr val="B5CEA8"/>
                </a:solidFill>
                <a:latin typeface="Consolas" panose="020B0609020204030204" pitchFamily="49" charset="0"/>
              </a:rPr>
              <a:t>0</a:t>
            </a:r>
            <a:r>
              <a:rPr lang="pl-PL" sz="1200" dirty="0">
                <a:solidFill>
                  <a:srgbClr val="CCCCCC"/>
                </a:solidFill>
                <a:latin typeface="Consolas" panose="020B0609020204030204" pitchFamily="49" charset="0"/>
              </a:rPr>
              <a:t>], </a:t>
            </a:r>
            <a:r>
              <a:rPr lang="pl-PL" sz="1200" dirty="0" err="1">
                <a:solidFill>
                  <a:srgbClr val="9CDCFE"/>
                </a:solidFill>
                <a:latin typeface="Consolas" panose="020B0609020204030204" pitchFamily="49" charset="0"/>
              </a:rPr>
              <a:t>accel_xz</a:t>
            </a:r>
            <a:r>
              <a:rPr lang="pl-PL" sz="1200" dirty="0">
                <a:solidFill>
                  <a:srgbClr val="CCCCCC"/>
                </a:solidFill>
                <a:latin typeface="Consolas" panose="020B0609020204030204" pitchFamily="49" charset="0"/>
              </a:rPr>
              <a:t>[</a:t>
            </a:r>
            <a:r>
              <a:rPr lang="pl-PL" sz="1200" dirty="0">
                <a:solidFill>
                  <a:srgbClr val="B5CEA8"/>
                </a:solidFill>
                <a:latin typeface="Consolas" panose="020B0609020204030204" pitchFamily="49" charset="0"/>
              </a:rPr>
              <a:t>1</a:t>
            </a:r>
            <a:r>
              <a:rPr lang="pl-PL" sz="1200" dirty="0">
                <a:solidFill>
                  <a:srgbClr val="CCCCCC"/>
                </a:solidFill>
                <a:latin typeface="Consolas" panose="020B0609020204030204" pitchFamily="49" charset="0"/>
              </a:rPr>
              <a:t>])</a:t>
            </a:r>
          </a:p>
          <a:p>
            <a:r>
              <a:rPr lang="pl-PL" sz="1200" dirty="0">
                <a:solidFill>
                  <a:srgbClr val="CCCCCC"/>
                </a:solidFill>
                <a:latin typeface="Consolas" panose="020B0609020204030204" pitchFamily="49" charset="0"/>
              </a:rPr>
              <a:t>            </a:t>
            </a:r>
            <a:r>
              <a:rPr lang="pl-PL" sz="1200" dirty="0">
                <a:solidFill>
                  <a:srgbClr val="6A9955"/>
                </a:solidFill>
                <a:latin typeface="Consolas" panose="020B0609020204030204" pitchFamily="49" charset="0"/>
              </a:rPr>
              <a:t># Fuzja</a:t>
            </a:r>
            <a:endParaRPr lang="pl-PL" sz="1200" dirty="0">
              <a:solidFill>
                <a:srgbClr val="CCCCCC"/>
              </a:solidFill>
              <a:latin typeface="Consolas" panose="020B0609020204030204" pitchFamily="49" charset="0"/>
            </a:endParaRPr>
          </a:p>
          <a:p>
            <a:r>
              <a:rPr lang="pl-PL" sz="1200" dirty="0">
                <a:solidFill>
                  <a:srgbClr val="CCCCCC"/>
                </a:solidFill>
                <a:latin typeface="Consolas" panose="020B0609020204030204" pitchFamily="49" charset="0"/>
              </a:rPr>
              <a:t>            </a:t>
            </a:r>
            <a:r>
              <a:rPr lang="pl-PL" sz="1200" dirty="0" err="1">
                <a:solidFill>
                  <a:srgbClr val="9CDCFE"/>
                </a:solidFill>
                <a:latin typeface="Consolas" panose="020B0609020204030204" pitchFamily="49" charset="0"/>
              </a:rPr>
              <a:t>self</a:t>
            </a:r>
            <a:r>
              <a:rPr lang="pl-PL" sz="1200" dirty="0" err="1">
                <a:solidFill>
                  <a:srgbClr val="CCCCCC"/>
                </a:solidFill>
                <a:latin typeface="Consolas" panose="020B0609020204030204" pitchFamily="49" charset="0"/>
              </a:rPr>
              <a:t>.</a:t>
            </a:r>
            <a:r>
              <a:rPr lang="pl-PL" sz="1200" dirty="0" err="1">
                <a:solidFill>
                  <a:srgbClr val="9CDCFE"/>
                </a:solidFill>
                <a:latin typeface="Consolas" panose="020B0609020204030204" pitchFamily="49" charset="0"/>
              </a:rPr>
              <a:t>pitch</a:t>
            </a:r>
            <a:r>
              <a:rPr lang="pl-PL" sz="1200" dirty="0">
                <a:solidFill>
                  <a:srgbClr val="CCCCCC"/>
                </a:solidFill>
                <a:latin typeface="Consolas" panose="020B0609020204030204" pitchFamily="49" charset="0"/>
              </a:rPr>
              <a:t> </a:t>
            </a:r>
            <a:r>
              <a:rPr lang="pl-PL" sz="1200" dirty="0">
                <a:solidFill>
                  <a:srgbClr val="D4D4D4"/>
                </a:solidFill>
                <a:latin typeface="Consolas" panose="020B0609020204030204" pitchFamily="49" charset="0"/>
              </a:rPr>
              <a:t>=</a:t>
            </a:r>
            <a:r>
              <a:rPr lang="pl-PL" sz="1200" dirty="0">
                <a:solidFill>
                  <a:srgbClr val="CCCCCC"/>
                </a:solidFill>
                <a:latin typeface="Consolas" panose="020B0609020204030204" pitchFamily="49" charset="0"/>
              </a:rPr>
              <a:t> </a:t>
            </a:r>
            <a:r>
              <a:rPr lang="pl-PL" sz="1200" dirty="0" err="1">
                <a:solidFill>
                  <a:srgbClr val="9CDCFE"/>
                </a:solidFill>
                <a:latin typeface="Consolas" panose="020B0609020204030204" pitchFamily="49" charset="0"/>
              </a:rPr>
              <a:t>self</a:t>
            </a:r>
            <a:r>
              <a:rPr lang="pl-PL" sz="1200" dirty="0" err="1">
                <a:solidFill>
                  <a:srgbClr val="CCCCCC"/>
                </a:solidFill>
                <a:latin typeface="Consolas" panose="020B0609020204030204" pitchFamily="49" charset="0"/>
              </a:rPr>
              <a:t>.</a:t>
            </a:r>
            <a:r>
              <a:rPr lang="pl-PL" sz="1200" dirty="0" err="1">
                <a:solidFill>
                  <a:srgbClr val="9CDCFE"/>
                </a:solidFill>
                <a:latin typeface="Consolas" panose="020B0609020204030204" pitchFamily="49" charset="0"/>
              </a:rPr>
              <a:t>alpha</a:t>
            </a:r>
            <a:r>
              <a:rPr lang="pl-PL" sz="1200" dirty="0">
                <a:solidFill>
                  <a:srgbClr val="CCCCCC"/>
                </a:solidFill>
                <a:latin typeface="Consolas" panose="020B0609020204030204" pitchFamily="49" charset="0"/>
              </a:rPr>
              <a:t> </a:t>
            </a:r>
            <a:r>
              <a:rPr lang="pl-PL" sz="1200" dirty="0">
                <a:solidFill>
                  <a:srgbClr val="D4D4D4"/>
                </a:solidFill>
                <a:latin typeface="Consolas" panose="020B0609020204030204" pitchFamily="49" charset="0"/>
              </a:rPr>
              <a:t>*</a:t>
            </a:r>
            <a:r>
              <a:rPr lang="pl-PL" sz="1200" dirty="0">
                <a:solidFill>
                  <a:srgbClr val="CCCCCC"/>
                </a:solidFill>
                <a:latin typeface="Consolas" panose="020B0609020204030204" pitchFamily="49" charset="0"/>
              </a:rPr>
              <a:t> </a:t>
            </a:r>
            <a:r>
              <a:rPr lang="pl-PL" sz="1200" dirty="0" err="1">
                <a:solidFill>
                  <a:srgbClr val="9CDCFE"/>
                </a:solidFill>
                <a:latin typeface="Consolas" panose="020B0609020204030204" pitchFamily="49" charset="0"/>
              </a:rPr>
              <a:t>pitch_gyro</a:t>
            </a:r>
            <a:r>
              <a:rPr lang="pl-PL" sz="1200" dirty="0">
                <a:solidFill>
                  <a:srgbClr val="CCCCCC"/>
                </a:solidFill>
                <a:latin typeface="Consolas" panose="020B0609020204030204" pitchFamily="49" charset="0"/>
              </a:rPr>
              <a:t> </a:t>
            </a:r>
            <a:r>
              <a:rPr lang="pl-PL" sz="1200" dirty="0">
                <a:solidFill>
                  <a:srgbClr val="D4D4D4"/>
                </a:solidFill>
                <a:latin typeface="Consolas" panose="020B0609020204030204" pitchFamily="49" charset="0"/>
              </a:rPr>
              <a:t>+</a:t>
            </a:r>
            <a:r>
              <a:rPr lang="pl-PL" sz="1200" dirty="0">
                <a:solidFill>
                  <a:srgbClr val="CCCCCC"/>
                </a:solidFill>
                <a:latin typeface="Consolas" panose="020B0609020204030204" pitchFamily="49" charset="0"/>
              </a:rPr>
              <a:t> (</a:t>
            </a:r>
            <a:r>
              <a:rPr lang="pl-PL" sz="1200" dirty="0">
                <a:solidFill>
                  <a:srgbClr val="B5CEA8"/>
                </a:solidFill>
                <a:latin typeface="Consolas" panose="020B0609020204030204" pitchFamily="49" charset="0"/>
              </a:rPr>
              <a:t>1</a:t>
            </a:r>
            <a:r>
              <a:rPr lang="pl-PL" sz="1200" dirty="0">
                <a:solidFill>
                  <a:srgbClr val="CCCCCC"/>
                </a:solidFill>
                <a:latin typeface="Consolas" panose="020B0609020204030204" pitchFamily="49" charset="0"/>
              </a:rPr>
              <a:t> </a:t>
            </a:r>
            <a:r>
              <a:rPr lang="pl-PL" sz="1200" dirty="0">
                <a:solidFill>
                  <a:srgbClr val="D4D4D4"/>
                </a:solidFill>
                <a:latin typeface="Consolas" panose="020B0609020204030204" pitchFamily="49" charset="0"/>
              </a:rPr>
              <a:t>-</a:t>
            </a:r>
            <a:r>
              <a:rPr lang="pl-PL" sz="1200" dirty="0">
                <a:solidFill>
                  <a:srgbClr val="CCCCCC"/>
                </a:solidFill>
                <a:latin typeface="Consolas" panose="020B0609020204030204" pitchFamily="49" charset="0"/>
              </a:rPr>
              <a:t> </a:t>
            </a:r>
            <a:r>
              <a:rPr lang="pl-PL" sz="1200" dirty="0" err="1">
                <a:solidFill>
                  <a:srgbClr val="9CDCFE"/>
                </a:solidFill>
                <a:latin typeface="Consolas" panose="020B0609020204030204" pitchFamily="49" charset="0"/>
              </a:rPr>
              <a:t>self</a:t>
            </a:r>
            <a:r>
              <a:rPr lang="pl-PL" sz="1200" dirty="0" err="1">
                <a:solidFill>
                  <a:srgbClr val="CCCCCC"/>
                </a:solidFill>
                <a:latin typeface="Consolas" panose="020B0609020204030204" pitchFamily="49" charset="0"/>
              </a:rPr>
              <a:t>.</a:t>
            </a:r>
            <a:r>
              <a:rPr lang="pl-PL" sz="1200" dirty="0" err="1">
                <a:solidFill>
                  <a:srgbClr val="9CDCFE"/>
                </a:solidFill>
                <a:latin typeface="Consolas" panose="020B0609020204030204" pitchFamily="49" charset="0"/>
              </a:rPr>
              <a:t>alpha</a:t>
            </a:r>
            <a:r>
              <a:rPr lang="pl-PL" sz="1200" dirty="0">
                <a:solidFill>
                  <a:srgbClr val="CCCCCC"/>
                </a:solidFill>
                <a:latin typeface="Consolas" panose="020B0609020204030204" pitchFamily="49" charset="0"/>
              </a:rPr>
              <a:t>) </a:t>
            </a:r>
            <a:r>
              <a:rPr lang="pl-PL" sz="1200" dirty="0">
                <a:solidFill>
                  <a:srgbClr val="D4D4D4"/>
                </a:solidFill>
                <a:latin typeface="Consolas" panose="020B0609020204030204" pitchFamily="49" charset="0"/>
              </a:rPr>
              <a:t>*</a:t>
            </a:r>
            <a:r>
              <a:rPr lang="pl-PL" sz="1200" dirty="0">
                <a:solidFill>
                  <a:srgbClr val="CCCCCC"/>
                </a:solidFill>
                <a:latin typeface="Consolas" panose="020B0609020204030204" pitchFamily="49" charset="0"/>
              </a:rPr>
              <a:t> </a:t>
            </a:r>
            <a:r>
              <a:rPr lang="pl-PL" sz="1200" dirty="0" err="1">
                <a:solidFill>
                  <a:srgbClr val="9CDCFE"/>
                </a:solidFill>
                <a:latin typeface="Consolas" panose="020B0609020204030204" pitchFamily="49" charset="0"/>
              </a:rPr>
              <a:t>pitch_accel</a:t>
            </a:r>
            <a:endParaRPr lang="pl-PL" sz="1200" dirty="0">
              <a:solidFill>
                <a:srgbClr val="CCCCCC"/>
              </a:solidFill>
              <a:latin typeface="Consolas" panose="020B0609020204030204" pitchFamily="49" charset="0"/>
            </a:endParaRPr>
          </a:p>
          <a:p>
            <a:r>
              <a:rPr lang="pl-PL" sz="1200" dirty="0">
                <a:solidFill>
                  <a:srgbClr val="CCCCCC"/>
                </a:solidFill>
                <a:latin typeface="Consolas" panose="020B0609020204030204" pitchFamily="49" charset="0"/>
              </a:rPr>
              <a:t>            </a:t>
            </a:r>
            <a:r>
              <a:rPr lang="pl-PL" sz="1200" dirty="0">
                <a:solidFill>
                  <a:srgbClr val="C586C0"/>
                </a:solidFill>
                <a:latin typeface="Consolas" panose="020B0609020204030204" pitchFamily="49" charset="0"/>
              </a:rPr>
              <a:t>return</a:t>
            </a:r>
            <a:r>
              <a:rPr lang="pl-PL" sz="1200" dirty="0">
                <a:solidFill>
                  <a:srgbClr val="CCCCCC"/>
                </a:solidFill>
                <a:latin typeface="Consolas" panose="020B0609020204030204" pitchFamily="49" charset="0"/>
              </a:rPr>
              <a:t> </a:t>
            </a:r>
            <a:r>
              <a:rPr lang="pl-PL" sz="1200" dirty="0" err="1" smtClean="0">
                <a:solidFill>
                  <a:srgbClr val="9CDCFE"/>
                </a:solidFill>
                <a:latin typeface="Consolas" panose="020B0609020204030204" pitchFamily="49" charset="0"/>
              </a:rPr>
              <a:t>self</a:t>
            </a:r>
            <a:r>
              <a:rPr lang="pl-PL" sz="1200" dirty="0" err="1" smtClean="0">
                <a:solidFill>
                  <a:srgbClr val="CCCCCC"/>
                </a:solidFill>
                <a:latin typeface="Consolas" panose="020B0609020204030204" pitchFamily="49" charset="0"/>
              </a:rPr>
              <a:t>.</a:t>
            </a:r>
            <a:r>
              <a:rPr lang="pl-PL" sz="1200" dirty="0" err="1" smtClean="0">
                <a:solidFill>
                  <a:srgbClr val="9CDCFE"/>
                </a:solidFill>
                <a:latin typeface="Consolas" panose="020B0609020204030204" pitchFamily="49" charset="0"/>
              </a:rPr>
              <a:t>pitch</a:t>
            </a:r>
            <a:endParaRPr lang="pl-PL" sz="1200" dirty="0">
              <a:solidFill>
                <a:srgbClr val="CCCCCC"/>
              </a:solidFill>
              <a:latin typeface="Consolas" panose="020B0609020204030204" pitchFamily="49" charset="0"/>
            </a:endParaRPr>
          </a:p>
        </p:txBody>
      </p:sp>
      <p:sp>
        <p:nvSpPr>
          <p:cNvPr id="11" name="Shape 9"/>
          <p:cNvSpPr/>
          <p:nvPr/>
        </p:nvSpPr>
        <p:spPr>
          <a:xfrm>
            <a:off x="274320" y="4475356"/>
            <a:ext cx="8595360" cy="462404"/>
          </a:xfrm>
          <a:prstGeom prst="rect">
            <a:avLst/>
          </a:prstGeom>
          <a:solidFill>
            <a:srgbClr val="1A3550"/>
          </a:solidFill>
          <a:ln w="12700">
            <a:solidFill>
              <a:srgbClr val="0077A8"/>
            </a:solidFill>
            <a:prstDash val="solid"/>
          </a:ln>
        </p:spPr>
      </p:sp>
      <p:sp>
        <p:nvSpPr>
          <p:cNvPr id="12" name="Text 10"/>
          <p:cNvSpPr/>
          <p:nvPr/>
        </p:nvSpPr>
        <p:spPr>
          <a:xfrm>
            <a:off x="457200" y="4475356"/>
            <a:ext cx="8321040" cy="462404"/>
          </a:xfrm>
          <a:prstGeom prst="rect">
            <a:avLst/>
          </a:prstGeom>
          <a:noFill/>
          <a:ln/>
        </p:spPr>
        <p:txBody>
          <a:bodyPr wrap="square" lIns="0" tIns="0" rIns="127000" bIns="0" rtlCol="0" anchor="ctr"/>
          <a:lstStyle/>
          <a:p>
            <a:pPr marL="0" indent="0" algn="ctr">
              <a:buNone/>
            </a:pPr>
            <a:r>
              <a:rPr lang="en-US" sz="1600" b="1" dirty="0">
                <a:solidFill>
                  <a:srgbClr val="00B4D8"/>
                </a:solidFill>
                <a:latin typeface="Calibri" pitchFamily="34" charset="0"/>
                <a:ea typeface="Calibri" pitchFamily="34" charset="-122"/>
                <a:cs typeface="Calibri" pitchFamily="34" charset="-120"/>
              </a:rPr>
              <a:t>Opis: </a:t>
            </a:r>
            <a:r>
              <a:rPr lang="en-US" sz="1600" dirty="0">
                <a:solidFill>
                  <a:srgbClr val="E2EBF3"/>
                </a:solidFill>
                <a:latin typeface="Calibri" pitchFamily="34" charset="0"/>
                <a:ea typeface="Calibri" pitchFamily="34" charset="-122"/>
                <a:cs typeface="Calibri" pitchFamily="34" charset="-120"/>
              </a:rPr>
              <a:t>alpha ≈ 0,98: 98% z żyroskopu </a:t>
            </a:r>
            <a:r>
              <a:rPr lang="en-US" sz="1600" i="1" dirty="0">
                <a:solidFill>
                  <a:srgbClr val="E2EBF3"/>
                </a:solidFill>
                <a:latin typeface="Calibri" pitchFamily="34" charset="0"/>
                <a:ea typeface="Calibri" pitchFamily="34" charset="-122"/>
                <a:cs typeface="Calibri" pitchFamily="34" charset="-120"/>
              </a:rPr>
              <a:t>(szybkość) </a:t>
            </a:r>
            <a:r>
              <a:rPr lang="en-US" sz="1600" dirty="0">
                <a:solidFill>
                  <a:srgbClr val="E2EBF3"/>
                </a:solidFill>
                <a:latin typeface="Calibri" pitchFamily="34" charset="0"/>
                <a:ea typeface="Calibri" pitchFamily="34" charset="-122"/>
                <a:cs typeface="Calibri" pitchFamily="34" charset="-120"/>
              </a:rPr>
              <a:t>i 2% z akcelerometru </a:t>
            </a:r>
            <a:r>
              <a:rPr lang="en-US" sz="1600" i="1" dirty="0">
                <a:solidFill>
                  <a:srgbClr val="E2EBF3"/>
                </a:solidFill>
                <a:latin typeface="Calibri" pitchFamily="34" charset="0"/>
                <a:ea typeface="Calibri" pitchFamily="34" charset="-122"/>
                <a:cs typeface="Calibri" pitchFamily="34" charset="-120"/>
              </a:rPr>
              <a:t>(długoterminowa </a:t>
            </a:r>
            <a:r>
              <a:rPr lang="en-US" sz="1600" i="1" dirty="0" err="1">
                <a:solidFill>
                  <a:srgbClr val="E2EBF3"/>
                </a:solidFill>
                <a:latin typeface="Calibri" pitchFamily="34" charset="0"/>
                <a:ea typeface="Calibri" pitchFamily="34" charset="-122"/>
                <a:cs typeface="Calibri" pitchFamily="34" charset="-120"/>
              </a:rPr>
              <a:t>stabilność</a:t>
            </a:r>
            <a:r>
              <a:rPr lang="en-US" sz="1600" i="1" dirty="0" smtClean="0">
                <a:solidFill>
                  <a:srgbClr val="E2EBF3"/>
                </a:solidFill>
                <a:latin typeface="Calibri" pitchFamily="34" charset="0"/>
                <a:ea typeface="Calibri" pitchFamily="34" charset="-122"/>
                <a:cs typeface="Calibri" pitchFamily="34" charset="-120"/>
              </a:rPr>
              <a:t>)</a:t>
            </a:r>
            <a:endParaRPr lang="en-US" sz="1600" i="1"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0F4F8"/>
        </a:solidFill>
        <a:effectLst/>
      </p:bgPr>
    </p:bg>
    <p:spTree>
      <p:nvGrpSpPr>
        <p:cNvPr id="1" name=""/>
        <p:cNvGrpSpPr/>
        <p:nvPr/>
      </p:nvGrpSpPr>
      <p:grpSpPr>
        <a:xfrm>
          <a:off x="0" y="0"/>
          <a:ext cx="0" cy="0"/>
          <a:chOff x="0" y="0"/>
          <a:chExt cx="0" cy="0"/>
        </a:xfrm>
      </p:grpSpPr>
      <p:sp>
        <p:nvSpPr>
          <p:cNvPr id="2" name="Shape 0"/>
          <p:cNvSpPr/>
          <p:nvPr/>
        </p:nvSpPr>
        <p:spPr>
          <a:xfrm>
            <a:off x="0" y="0"/>
            <a:ext cx="64008" cy="5143500"/>
          </a:xfrm>
          <a:prstGeom prst="rect">
            <a:avLst/>
          </a:prstGeom>
          <a:solidFill>
            <a:srgbClr val="00B4D8"/>
          </a:solidFill>
          <a:ln w="12700">
            <a:solidFill>
              <a:srgbClr val="00B4D8"/>
            </a:solidFill>
            <a:prstDash val="solid"/>
          </a:ln>
        </p:spPr>
      </p:sp>
      <p:sp>
        <p:nvSpPr>
          <p:cNvPr id="3" name="Shape 1"/>
          <p:cNvSpPr/>
          <p:nvPr/>
        </p:nvSpPr>
        <p:spPr>
          <a:xfrm>
            <a:off x="64008" y="0"/>
            <a:ext cx="9079992" cy="960120"/>
          </a:xfrm>
          <a:prstGeom prst="rect">
            <a:avLst/>
          </a:prstGeom>
          <a:solidFill>
            <a:srgbClr val="0D1B2A"/>
          </a:solidFill>
          <a:ln w="12700">
            <a:solidFill>
              <a:srgbClr val="0D1B2A"/>
            </a:solidFill>
            <a:prstDash val="solid"/>
          </a:ln>
        </p:spPr>
      </p:sp>
      <p:sp>
        <p:nvSpPr>
          <p:cNvPr id="4" name="Text 2"/>
          <p:cNvSpPr/>
          <p:nvPr/>
        </p:nvSpPr>
        <p:spPr>
          <a:xfrm>
            <a:off x="228600" y="73152"/>
            <a:ext cx="4572000" cy="274320"/>
          </a:xfrm>
          <a:prstGeom prst="rect">
            <a:avLst/>
          </a:prstGeom>
          <a:noFill/>
          <a:ln/>
        </p:spPr>
        <p:txBody>
          <a:bodyPr wrap="square" lIns="0" tIns="0" rIns="0" bIns="0" rtlCol="0" anchor="ctr"/>
          <a:lstStyle/>
          <a:p>
            <a:pPr marL="0" indent="0">
              <a:buNone/>
            </a:pPr>
            <a:r>
              <a:rPr lang="en-US" sz="900" b="1" kern="0" spc="200" dirty="0">
                <a:solidFill>
                  <a:srgbClr val="00B4D8"/>
                </a:solidFill>
                <a:latin typeface="Trebuchet MS" pitchFamily="34" charset="0"/>
                <a:ea typeface="Trebuchet MS" pitchFamily="34" charset="-122"/>
                <a:cs typeface="Trebuchet MS" pitchFamily="34" charset="-120"/>
              </a:rPr>
              <a:t>SEKCJA 2 | PORÓWNANIE FILTRÓW</a:t>
            </a:r>
            <a:endParaRPr lang="en-US" sz="900" dirty="0"/>
          </a:p>
        </p:txBody>
      </p:sp>
      <p:sp>
        <p:nvSpPr>
          <p:cNvPr id="5" name="Text 3"/>
          <p:cNvSpPr/>
          <p:nvPr/>
        </p:nvSpPr>
        <p:spPr>
          <a:xfrm>
            <a:off x="228600" y="274320"/>
            <a:ext cx="8686800" cy="594360"/>
          </a:xfrm>
          <a:prstGeom prst="rect">
            <a:avLst/>
          </a:prstGeom>
          <a:noFill/>
          <a:ln/>
        </p:spPr>
        <p:txBody>
          <a:bodyPr wrap="square" lIns="0" tIns="0" rIns="0" bIns="0" rtlCol="0" anchor="ctr"/>
          <a:lstStyle/>
          <a:p>
            <a:pPr marL="0" indent="0">
              <a:buNone/>
            </a:pPr>
            <a:r>
              <a:rPr lang="en-US" sz="2800" b="1" dirty="0">
                <a:solidFill>
                  <a:srgbClr val="FFFFFF"/>
                </a:solidFill>
                <a:latin typeface="Trebuchet MS" pitchFamily="34" charset="0"/>
                <a:ea typeface="Trebuchet MS" pitchFamily="34" charset="-122"/>
                <a:cs typeface="Trebuchet MS" pitchFamily="34" charset="-120"/>
              </a:rPr>
              <a:t>Porównanie filtrów: EKF, UKF, cząsteczkowy</a:t>
            </a:r>
            <a:endParaRPr lang="en-US" sz="2800" dirty="0"/>
          </a:p>
        </p:txBody>
      </p:sp>
      <p:sp>
        <p:nvSpPr>
          <p:cNvPr id="6" name="Shape 4"/>
          <p:cNvSpPr/>
          <p:nvPr/>
        </p:nvSpPr>
        <p:spPr>
          <a:xfrm>
            <a:off x="229870" y="1143001"/>
            <a:ext cx="2764990" cy="2746790"/>
          </a:xfrm>
          <a:prstGeom prst="rect">
            <a:avLst/>
          </a:prstGeom>
          <a:solidFill>
            <a:srgbClr val="FFFFFF"/>
          </a:solidFill>
          <a:ln w="12700">
            <a:solidFill>
              <a:srgbClr val="E2EBF3"/>
            </a:solidFill>
            <a:prstDash val="solid"/>
          </a:ln>
          <a:effectLst>
            <a:outerShdw blurRad="76200" dist="25400" dir="8100000" algn="bl" rotWithShape="0">
              <a:srgbClr val="000000">
                <a:alpha val="12000"/>
              </a:srgbClr>
            </a:outerShdw>
          </a:effectLst>
        </p:spPr>
      </p:sp>
      <p:sp>
        <p:nvSpPr>
          <p:cNvPr id="7" name="Shape 5"/>
          <p:cNvSpPr/>
          <p:nvPr/>
        </p:nvSpPr>
        <p:spPr>
          <a:xfrm>
            <a:off x="229870" y="1143000"/>
            <a:ext cx="2764990" cy="411480"/>
          </a:xfrm>
          <a:prstGeom prst="rect">
            <a:avLst/>
          </a:prstGeom>
          <a:solidFill>
            <a:srgbClr val="00B4D8"/>
          </a:solidFill>
          <a:ln w="12700">
            <a:solidFill>
              <a:srgbClr val="00B4D8"/>
            </a:solidFill>
            <a:prstDash val="solid"/>
          </a:ln>
        </p:spPr>
      </p:sp>
      <p:sp>
        <p:nvSpPr>
          <p:cNvPr id="8" name="Text 6"/>
          <p:cNvSpPr/>
          <p:nvPr/>
        </p:nvSpPr>
        <p:spPr>
          <a:xfrm>
            <a:off x="294840" y="1161288"/>
            <a:ext cx="2616372" cy="365760"/>
          </a:xfrm>
          <a:prstGeom prst="rect">
            <a:avLst/>
          </a:prstGeom>
          <a:noFill/>
          <a:ln/>
        </p:spPr>
        <p:txBody>
          <a:bodyPr wrap="square" lIns="0" tIns="0" rIns="0" bIns="0" rtlCol="0" anchor="ctr"/>
          <a:lstStyle/>
          <a:p>
            <a:pPr marL="0" indent="0" algn="ctr">
              <a:buNone/>
            </a:pPr>
            <a:r>
              <a:rPr lang="en-US" sz="1600" b="1" spc="-110" dirty="0">
                <a:solidFill>
                  <a:srgbClr val="FFFFFF"/>
                </a:solidFill>
                <a:latin typeface="Trebuchet MS" pitchFamily="34" charset="0"/>
                <a:ea typeface="Trebuchet MS" pitchFamily="34" charset="-122"/>
                <a:cs typeface="Trebuchet MS" pitchFamily="34" charset="-120"/>
              </a:rPr>
              <a:t>EKF – Extended Kalman Filter</a:t>
            </a:r>
            <a:endParaRPr lang="en-US" sz="1600" spc="-110" dirty="0"/>
          </a:p>
        </p:txBody>
      </p:sp>
      <p:sp>
        <p:nvSpPr>
          <p:cNvPr id="9" name="Text 7"/>
          <p:cNvSpPr/>
          <p:nvPr/>
        </p:nvSpPr>
        <p:spPr>
          <a:xfrm>
            <a:off x="259992" y="1627632"/>
            <a:ext cx="2670270" cy="2262158"/>
          </a:xfrm>
          <a:prstGeom prst="rect">
            <a:avLst/>
          </a:prstGeom>
          <a:noFill/>
          <a:ln/>
          <a:effectLst>
            <a:glow rad="63500">
              <a:schemeClr val="accent2">
                <a:satMod val="175000"/>
                <a:alpha val="40000"/>
              </a:schemeClr>
            </a:glow>
          </a:effectLst>
        </p:spPr>
        <p:txBody>
          <a:bodyPr wrap="square" lIns="50800" tIns="76200" rIns="50800" bIns="50800" rtlCol="0" anchor="t">
            <a:spAutoFit/>
          </a:bodyPr>
          <a:lstStyle/>
          <a:p>
            <a:pPr marL="144000" indent="-144000">
              <a:spcAft>
                <a:spcPts val="800"/>
              </a:spcAft>
              <a:buSzPct val="100000"/>
              <a:buChar char="•"/>
            </a:pPr>
            <a:r>
              <a:rPr lang="en-US" sz="1400" b="1" spc="-80" dirty="0">
                <a:solidFill>
                  <a:srgbClr val="0D1B2A"/>
                </a:solidFill>
                <a:latin typeface="Calibri" pitchFamily="34" charset="0"/>
                <a:ea typeface="Calibri" pitchFamily="34" charset="-122"/>
                <a:cs typeface="Calibri" pitchFamily="34" charset="-120"/>
              </a:rPr>
              <a:t>Linearyzacja Jacobianem </a:t>
            </a:r>
            <a:r>
              <a:rPr lang="en-US" sz="1400" spc="-80" dirty="0">
                <a:solidFill>
                  <a:srgbClr val="0D1B2A"/>
                </a:solidFill>
                <a:latin typeface="Calibri" pitchFamily="34" charset="0"/>
                <a:ea typeface="Calibri" pitchFamily="34" charset="-122"/>
                <a:cs typeface="Calibri" pitchFamily="34" charset="-120"/>
              </a:rPr>
              <a:t>wokół aktualnego stanu</a:t>
            </a:r>
            <a:endParaRPr lang="en-US" sz="1400" spc="-80" dirty="0"/>
          </a:p>
          <a:p>
            <a:pPr marL="144000" indent="-144000">
              <a:spcAft>
                <a:spcPts val="800"/>
              </a:spcAft>
              <a:buSzPct val="100000"/>
              <a:buChar char="•"/>
            </a:pPr>
            <a:r>
              <a:rPr lang="en-US" sz="1400" b="1" spc="-80" dirty="0">
                <a:solidFill>
                  <a:srgbClr val="0D1B2A"/>
                </a:solidFill>
                <a:latin typeface="Calibri" pitchFamily="34" charset="0"/>
                <a:ea typeface="Calibri" pitchFamily="34" charset="-122"/>
                <a:cs typeface="Calibri" pitchFamily="34" charset="-120"/>
              </a:rPr>
              <a:t>Niski koszt O(n²</a:t>
            </a:r>
            <a:r>
              <a:rPr lang="en-US" sz="1400" b="1" spc="-80" dirty="0" smtClean="0">
                <a:solidFill>
                  <a:srgbClr val="0D1B2A"/>
                </a:solidFill>
                <a:latin typeface="Calibri" pitchFamily="34" charset="0"/>
                <a:ea typeface="Calibri" pitchFamily="34" charset="-122"/>
                <a:cs typeface="Calibri" pitchFamily="34" charset="-120"/>
              </a:rPr>
              <a:t>)</a:t>
            </a:r>
            <a:r>
              <a:rPr lang="pl-PL" sz="1400" spc="-80" dirty="0" smtClean="0">
                <a:solidFill>
                  <a:srgbClr val="0D1B2A"/>
                </a:solidFill>
                <a:latin typeface="Calibri" pitchFamily="34" charset="0"/>
                <a:ea typeface="Calibri" pitchFamily="34" charset="-122"/>
                <a:cs typeface="Calibri" pitchFamily="34" charset="-120"/>
              </a:rPr>
              <a:t>:</a:t>
            </a:r>
            <a:r>
              <a:rPr lang="en-US" sz="1400" spc="-80" dirty="0" smtClean="0">
                <a:solidFill>
                  <a:srgbClr val="0D1B2A"/>
                </a:solidFill>
                <a:latin typeface="Calibri" pitchFamily="34" charset="0"/>
                <a:ea typeface="Calibri" pitchFamily="34" charset="-122"/>
                <a:cs typeface="Calibri" pitchFamily="34" charset="-120"/>
              </a:rPr>
              <a:t> </a:t>
            </a:r>
            <a:r>
              <a:rPr lang="en-US" sz="1400" spc="-80" dirty="0" err="1">
                <a:solidFill>
                  <a:srgbClr val="0D1B2A"/>
                </a:solidFill>
                <a:latin typeface="Calibri" pitchFamily="34" charset="0"/>
                <a:ea typeface="Calibri" pitchFamily="34" charset="-122"/>
                <a:cs typeface="Calibri" pitchFamily="34" charset="-120"/>
              </a:rPr>
              <a:t>działa</a:t>
            </a:r>
            <a:r>
              <a:rPr lang="en-US" sz="1400" spc="-80" dirty="0">
                <a:solidFill>
                  <a:srgbClr val="0D1B2A"/>
                </a:solidFill>
                <a:latin typeface="Calibri" pitchFamily="34" charset="0"/>
                <a:ea typeface="Calibri" pitchFamily="34" charset="-122"/>
                <a:cs typeface="Calibri" pitchFamily="34" charset="-120"/>
              </a:rPr>
              <a:t> </a:t>
            </a:r>
            <a:r>
              <a:rPr lang="en-US" sz="1400" spc="-80" dirty="0" smtClean="0">
                <a:solidFill>
                  <a:srgbClr val="0D1B2A"/>
                </a:solidFill>
                <a:latin typeface="Calibri" pitchFamily="34" charset="0"/>
                <a:ea typeface="Calibri" pitchFamily="34" charset="-122"/>
                <a:cs typeface="Calibri" pitchFamily="34" charset="-120"/>
              </a:rPr>
              <a:t>w </a:t>
            </a:r>
            <a:r>
              <a:rPr lang="en-US" sz="1400" spc="-80" dirty="0">
                <a:solidFill>
                  <a:srgbClr val="0D1B2A"/>
                </a:solidFill>
                <a:latin typeface="Calibri" pitchFamily="34" charset="0"/>
                <a:ea typeface="Calibri" pitchFamily="34" charset="-122"/>
                <a:cs typeface="Calibri" pitchFamily="34" charset="-120"/>
              </a:rPr>
              <a:t>czasie rzeczywistym</a:t>
            </a:r>
            <a:endParaRPr lang="en-US" sz="1400" spc="-80" dirty="0"/>
          </a:p>
          <a:p>
            <a:pPr marL="144000" indent="-144000">
              <a:spcAft>
                <a:spcPts val="800"/>
              </a:spcAft>
              <a:buSzPct val="100000"/>
              <a:buChar char="•"/>
            </a:pPr>
            <a:r>
              <a:rPr lang="en-US" sz="1400" spc="-80" dirty="0" err="1">
                <a:solidFill>
                  <a:srgbClr val="0D1B2A"/>
                </a:solidFill>
                <a:latin typeface="Calibri" pitchFamily="34" charset="0"/>
                <a:ea typeface="Calibri" pitchFamily="34" charset="-122"/>
                <a:cs typeface="Calibri" pitchFamily="34" charset="-120"/>
              </a:rPr>
              <a:t>Zakłada</a:t>
            </a:r>
            <a:r>
              <a:rPr lang="en-US" sz="1400" spc="-80" dirty="0">
                <a:solidFill>
                  <a:srgbClr val="0D1B2A"/>
                </a:solidFill>
                <a:latin typeface="Calibri" pitchFamily="34" charset="0"/>
                <a:ea typeface="Calibri" pitchFamily="34" charset="-122"/>
                <a:cs typeface="Calibri" pitchFamily="34" charset="-120"/>
              </a:rPr>
              <a:t> </a:t>
            </a:r>
            <a:r>
              <a:rPr lang="en-US" sz="1400" b="1" spc="-80" dirty="0" err="1" smtClean="0">
                <a:solidFill>
                  <a:srgbClr val="0D1B2A"/>
                </a:solidFill>
                <a:latin typeface="Calibri" pitchFamily="34" charset="0"/>
                <a:ea typeface="Calibri" pitchFamily="34" charset="-122"/>
                <a:cs typeface="Calibri" pitchFamily="34" charset="-120"/>
              </a:rPr>
              <a:t>Gaussowski</a:t>
            </a:r>
            <a:r>
              <a:rPr lang="en-US" sz="1400" b="1" spc="-80" dirty="0">
                <a:solidFill>
                  <a:srgbClr val="0D1B2A"/>
                </a:solidFill>
                <a:latin typeface="Calibri" pitchFamily="34" charset="0"/>
                <a:ea typeface="Calibri" pitchFamily="34" charset="-122"/>
                <a:cs typeface="Calibri" pitchFamily="34" charset="-120"/>
              </a:rPr>
              <a:t> </a:t>
            </a:r>
            <a:r>
              <a:rPr lang="en-US" sz="1400" b="1" spc="-80" dirty="0" err="1">
                <a:solidFill>
                  <a:srgbClr val="0D1B2A"/>
                </a:solidFill>
                <a:latin typeface="Calibri" pitchFamily="34" charset="0"/>
                <a:ea typeface="Calibri" pitchFamily="34" charset="-122"/>
                <a:cs typeface="Calibri" pitchFamily="34" charset="-120"/>
              </a:rPr>
              <a:t>rozkład</a:t>
            </a:r>
            <a:r>
              <a:rPr lang="en-US" sz="1400" b="1" spc="-80" dirty="0">
                <a:solidFill>
                  <a:srgbClr val="0D1B2A"/>
                </a:solidFill>
                <a:latin typeface="Calibri" pitchFamily="34" charset="0"/>
                <a:ea typeface="Calibri" pitchFamily="34" charset="-122"/>
                <a:cs typeface="Calibri" pitchFamily="34" charset="-120"/>
              </a:rPr>
              <a:t> </a:t>
            </a:r>
            <a:r>
              <a:rPr lang="en-US" sz="1400" b="1" spc="-80" dirty="0" err="1">
                <a:solidFill>
                  <a:srgbClr val="0D1B2A"/>
                </a:solidFill>
                <a:latin typeface="Calibri" pitchFamily="34" charset="0"/>
                <a:ea typeface="Calibri" pitchFamily="34" charset="-122"/>
                <a:cs typeface="Calibri" pitchFamily="34" charset="-120"/>
              </a:rPr>
              <a:t>szumu</a:t>
            </a:r>
            <a:endParaRPr lang="en-US" sz="1400" b="1" spc="-80" dirty="0"/>
          </a:p>
          <a:p>
            <a:pPr marL="144000" indent="-144000">
              <a:spcAft>
                <a:spcPts val="800"/>
              </a:spcAft>
              <a:buSzPct val="100000"/>
              <a:buChar char="•"/>
            </a:pPr>
            <a:r>
              <a:rPr lang="en-US" sz="1400" b="1" spc="-80" dirty="0">
                <a:solidFill>
                  <a:srgbClr val="0D1B2A"/>
                </a:solidFill>
                <a:latin typeface="Calibri" pitchFamily="34" charset="0"/>
                <a:ea typeface="Calibri" pitchFamily="34" charset="-122"/>
                <a:cs typeface="Calibri" pitchFamily="34" charset="-120"/>
              </a:rPr>
              <a:t>Zawodzi</a:t>
            </a:r>
            <a:r>
              <a:rPr lang="en-US" sz="1400" spc="-80" dirty="0">
                <a:solidFill>
                  <a:srgbClr val="0D1B2A"/>
                </a:solidFill>
                <a:latin typeface="Calibri" pitchFamily="34" charset="0"/>
                <a:ea typeface="Calibri" pitchFamily="34" charset="-122"/>
                <a:cs typeface="Calibri" pitchFamily="34" charset="-120"/>
              </a:rPr>
              <a:t> przy silnej </a:t>
            </a:r>
            <a:r>
              <a:rPr lang="en-US" sz="1400" b="1" spc="-80" dirty="0">
                <a:solidFill>
                  <a:srgbClr val="0D1B2A"/>
                </a:solidFill>
                <a:latin typeface="Calibri" pitchFamily="34" charset="0"/>
                <a:ea typeface="Calibri" pitchFamily="34" charset="-122"/>
                <a:cs typeface="Calibri" pitchFamily="34" charset="-120"/>
              </a:rPr>
              <a:t>nieliniowości modelu</a:t>
            </a:r>
            <a:endParaRPr lang="en-US" sz="1400" b="1" spc="-80" dirty="0"/>
          </a:p>
          <a:p>
            <a:pPr marL="144000" indent="-144000">
              <a:spcAft>
                <a:spcPts val="800"/>
              </a:spcAft>
              <a:buSzPct val="100000"/>
              <a:buChar char="•"/>
            </a:pPr>
            <a:r>
              <a:rPr lang="en-US" sz="1400" b="1" spc="-80" dirty="0">
                <a:solidFill>
                  <a:srgbClr val="EEB500"/>
                </a:solidFill>
                <a:latin typeface="Calibri" pitchFamily="34" charset="0"/>
                <a:ea typeface="Calibri" pitchFamily="34" charset="-122"/>
                <a:cs typeface="Calibri" pitchFamily="34" charset="-120"/>
              </a:rPr>
              <a:t>Złoty standard w robotyce mobilnej</a:t>
            </a:r>
            <a:endParaRPr lang="en-US" sz="1400" b="1" spc="-80" dirty="0">
              <a:solidFill>
                <a:srgbClr val="EEB500"/>
              </a:solidFill>
            </a:endParaRPr>
          </a:p>
        </p:txBody>
      </p:sp>
      <p:sp>
        <p:nvSpPr>
          <p:cNvPr id="10" name="Shape 8"/>
          <p:cNvSpPr/>
          <p:nvPr/>
        </p:nvSpPr>
        <p:spPr>
          <a:xfrm>
            <a:off x="3180452" y="1143001"/>
            <a:ext cx="2813948" cy="2746790"/>
          </a:xfrm>
          <a:prstGeom prst="rect">
            <a:avLst/>
          </a:prstGeom>
          <a:solidFill>
            <a:srgbClr val="FFFFFF"/>
          </a:solidFill>
          <a:ln w="12700">
            <a:solidFill>
              <a:srgbClr val="E2EBF3"/>
            </a:solidFill>
            <a:prstDash val="solid"/>
          </a:ln>
          <a:effectLst>
            <a:outerShdw blurRad="76200" dist="25400" dir="8100000" algn="bl" rotWithShape="0">
              <a:srgbClr val="000000">
                <a:alpha val="12000"/>
              </a:srgbClr>
            </a:outerShdw>
          </a:effectLst>
        </p:spPr>
      </p:sp>
      <p:sp>
        <p:nvSpPr>
          <p:cNvPr id="11" name="Shape 9"/>
          <p:cNvSpPr/>
          <p:nvPr/>
        </p:nvSpPr>
        <p:spPr>
          <a:xfrm>
            <a:off x="3180452" y="1143000"/>
            <a:ext cx="2813948" cy="411480"/>
          </a:xfrm>
          <a:prstGeom prst="rect">
            <a:avLst/>
          </a:prstGeom>
          <a:solidFill>
            <a:srgbClr val="0077A8"/>
          </a:solidFill>
          <a:ln w="12700">
            <a:solidFill>
              <a:srgbClr val="0077A8"/>
            </a:solidFill>
            <a:prstDash val="solid"/>
          </a:ln>
        </p:spPr>
      </p:sp>
      <p:sp>
        <p:nvSpPr>
          <p:cNvPr id="12" name="Text 10"/>
          <p:cNvSpPr/>
          <p:nvPr/>
        </p:nvSpPr>
        <p:spPr>
          <a:xfrm>
            <a:off x="3270450" y="1161288"/>
            <a:ext cx="2616372" cy="365760"/>
          </a:xfrm>
          <a:prstGeom prst="rect">
            <a:avLst/>
          </a:prstGeom>
          <a:noFill/>
          <a:ln/>
        </p:spPr>
        <p:txBody>
          <a:bodyPr wrap="square" lIns="0" tIns="0" rIns="0" bIns="0" rtlCol="0" anchor="ctr"/>
          <a:lstStyle/>
          <a:p>
            <a:pPr marL="0" indent="0" algn="ctr">
              <a:buNone/>
            </a:pPr>
            <a:r>
              <a:rPr lang="en-US" sz="1600" b="1" spc="-110" dirty="0">
                <a:solidFill>
                  <a:srgbClr val="FFFFFF"/>
                </a:solidFill>
                <a:latin typeface="Trebuchet MS" pitchFamily="34" charset="0"/>
                <a:ea typeface="Trebuchet MS" pitchFamily="34" charset="-122"/>
                <a:cs typeface="Trebuchet MS" pitchFamily="34" charset="-120"/>
              </a:rPr>
              <a:t>UKF – Unscented Kalman Filter</a:t>
            </a:r>
            <a:endParaRPr lang="en-US" sz="1600" spc="-110" dirty="0"/>
          </a:p>
        </p:txBody>
      </p:sp>
      <p:sp>
        <p:nvSpPr>
          <p:cNvPr id="13" name="Text 11"/>
          <p:cNvSpPr/>
          <p:nvPr/>
        </p:nvSpPr>
        <p:spPr>
          <a:xfrm>
            <a:off x="3276600" y="1627632"/>
            <a:ext cx="2628900" cy="2036455"/>
          </a:xfrm>
          <a:prstGeom prst="rect">
            <a:avLst/>
          </a:prstGeom>
          <a:noFill/>
          <a:ln/>
        </p:spPr>
        <p:txBody>
          <a:bodyPr wrap="square" lIns="50800" tIns="76200" rIns="50800" bIns="50800" rtlCol="0" anchor="t">
            <a:spAutoFit/>
          </a:bodyPr>
          <a:lstStyle/>
          <a:p>
            <a:pPr marL="144000" indent="-144000">
              <a:spcAft>
                <a:spcPts val="1200"/>
              </a:spcAft>
              <a:buSzPct val="100000"/>
              <a:buChar char="•"/>
            </a:pPr>
            <a:r>
              <a:rPr lang="en-US" sz="1400" b="1" spc="-80" dirty="0">
                <a:solidFill>
                  <a:srgbClr val="0D1B2A"/>
                </a:solidFill>
                <a:latin typeface="Calibri" pitchFamily="34" charset="0"/>
                <a:ea typeface="Calibri" pitchFamily="34" charset="-122"/>
                <a:cs typeface="Calibri" pitchFamily="34" charset="-120"/>
              </a:rPr>
              <a:t>Sigma-points</a:t>
            </a:r>
            <a:r>
              <a:rPr lang="en-US" sz="1400" spc="-80" dirty="0">
                <a:solidFill>
                  <a:srgbClr val="0D1B2A"/>
                </a:solidFill>
                <a:latin typeface="Calibri" pitchFamily="34" charset="0"/>
                <a:ea typeface="Calibri" pitchFamily="34" charset="-122"/>
                <a:cs typeface="Calibri" pitchFamily="34" charset="-120"/>
              </a:rPr>
              <a:t> zamiast </a:t>
            </a:r>
            <a:r>
              <a:rPr lang="en-US" sz="1400" b="1" spc="-80" dirty="0">
                <a:solidFill>
                  <a:srgbClr val="0D1B2A"/>
                </a:solidFill>
                <a:latin typeface="Calibri" pitchFamily="34" charset="0"/>
                <a:ea typeface="Calibri" pitchFamily="34" charset="-122"/>
                <a:cs typeface="Calibri" pitchFamily="34" charset="-120"/>
              </a:rPr>
              <a:t>linearyzacji</a:t>
            </a:r>
            <a:endParaRPr lang="en-US" sz="1400" b="1" spc="-80" dirty="0"/>
          </a:p>
          <a:p>
            <a:pPr marL="144000" indent="-144000">
              <a:spcAft>
                <a:spcPts val="1200"/>
              </a:spcAft>
              <a:buSzPct val="100000"/>
              <a:buChar char="•"/>
            </a:pPr>
            <a:r>
              <a:rPr lang="en-US" sz="1400" b="1" spc="-80" dirty="0">
                <a:solidFill>
                  <a:srgbClr val="0D1B2A"/>
                </a:solidFill>
                <a:latin typeface="Calibri" pitchFamily="34" charset="0"/>
                <a:ea typeface="Calibri" pitchFamily="34" charset="-122"/>
                <a:cs typeface="Calibri" pitchFamily="34" charset="-120"/>
              </a:rPr>
              <a:t>Lepsza</a:t>
            </a:r>
            <a:r>
              <a:rPr lang="en-US" sz="1400" spc="-80" dirty="0">
                <a:solidFill>
                  <a:srgbClr val="0D1B2A"/>
                </a:solidFill>
                <a:latin typeface="Calibri" pitchFamily="34" charset="0"/>
                <a:ea typeface="Calibri" pitchFamily="34" charset="-122"/>
                <a:cs typeface="Calibri" pitchFamily="34" charset="-120"/>
              </a:rPr>
              <a:t> aproksymacja </a:t>
            </a:r>
            <a:r>
              <a:rPr lang="en-US" sz="1400" b="1" spc="-80" dirty="0">
                <a:solidFill>
                  <a:srgbClr val="0D1B2A"/>
                </a:solidFill>
                <a:latin typeface="Calibri" pitchFamily="34" charset="0"/>
                <a:ea typeface="Calibri" pitchFamily="34" charset="-122"/>
                <a:cs typeface="Calibri" pitchFamily="34" charset="-120"/>
              </a:rPr>
              <a:t>nieliniowości</a:t>
            </a:r>
            <a:endParaRPr lang="en-US" sz="1400" b="1" spc="-80" dirty="0"/>
          </a:p>
          <a:p>
            <a:pPr marL="144000" indent="-144000">
              <a:spcAft>
                <a:spcPts val="1200"/>
              </a:spcAft>
              <a:buSzPct val="100000"/>
              <a:buChar char="•"/>
            </a:pPr>
            <a:r>
              <a:rPr lang="en-US" sz="1400" b="1" spc="-80" dirty="0">
                <a:solidFill>
                  <a:srgbClr val="0D1B2A"/>
                </a:solidFill>
                <a:latin typeface="Calibri" pitchFamily="34" charset="0"/>
                <a:ea typeface="Calibri" pitchFamily="34" charset="-122"/>
                <a:cs typeface="Calibri" pitchFamily="34" charset="-120"/>
              </a:rPr>
              <a:t>Bez</a:t>
            </a:r>
            <a:r>
              <a:rPr lang="en-US" sz="1400" spc="-80" dirty="0">
                <a:solidFill>
                  <a:srgbClr val="0D1B2A"/>
                </a:solidFill>
                <a:latin typeface="Calibri" pitchFamily="34" charset="0"/>
                <a:ea typeface="Calibri" pitchFamily="34" charset="-122"/>
                <a:cs typeface="Calibri" pitchFamily="34" charset="-120"/>
              </a:rPr>
              <a:t> konieczności wyliczania </a:t>
            </a:r>
            <a:r>
              <a:rPr lang="en-US" sz="1400" b="1" spc="-80" dirty="0">
                <a:solidFill>
                  <a:srgbClr val="0D1B2A"/>
                </a:solidFill>
                <a:latin typeface="Calibri" pitchFamily="34" charset="0"/>
                <a:ea typeface="Calibri" pitchFamily="34" charset="-122"/>
                <a:cs typeface="Calibri" pitchFamily="34" charset="-120"/>
              </a:rPr>
              <a:t>Jacobiana</a:t>
            </a:r>
            <a:endParaRPr lang="en-US" sz="1400" b="1" spc="-80" dirty="0"/>
          </a:p>
          <a:p>
            <a:pPr marL="144000" indent="-144000">
              <a:spcAft>
                <a:spcPts val="1200"/>
              </a:spcAft>
              <a:buSzPct val="100000"/>
              <a:buChar char="•"/>
            </a:pPr>
            <a:r>
              <a:rPr lang="en-US" sz="1400" b="1" spc="-80" dirty="0">
                <a:solidFill>
                  <a:srgbClr val="0D1B2A"/>
                </a:solidFill>
                <a:latin typeface="Calibri" pitchFamily="34" charset="0"/>
                <a:ea typeface="Calibri" pitchFamily="34" charset="-122"/>
                <a:cs typeface="Calibri" pitchFamily="34" charset="-120"/>
              </a:rPr>
              <a:t>Większy koszt </a:t>
            </a:r>
            <a:r>
              <a:rPr lang="en-US" sz="1400" spc="-80" dirty="0">
                <a:solidFill>
                  <a:srgbClr val="0D1B2A"/>
                </a:solidFill>
                <a:latin typeface="Calibri" pitchFamily="34" charset="0"/>
                <a:ea typeface="Calibri" pitchFamily="34" charset="-122"/>
                <a:cs typeface="Calibri" pitchFamily="34" charset="-120"/>
              </a:rPr>
              <a:t>niż EKF </a:t>
            </a:r>
            <a:r>
              <a:rPr lang="en-US" sz="1400" i="1" spc="-80" dirty="0">
                <a:solidFill>
                  <a:srgbClr val="0D1B2A"/>
                </a:solidFill>
                <a:latin typeface="Calibri" pitchFamily="34" charset="0"/>
                <a:ea typeface="Calibri" pitchFamily="34" charset="-122"/>
                <a:cs typeface="Calibri" pitchFamily="34" charset="-120"/>
              </a:rPr>
              <a:t>(2n+1 punktów)</a:t>
            </a:r>
            <a:endParaRPr lang="en-US" sz="1400" i="1" spc="-80" dirty="0"/>
          </a:p>
          <a:p>
            <a:pPr marL="144000" indent="-144000">
              <a:spcAft>
                <a:spcPts val="1200"/>
              </a:spcAft>
              <a:buSzPct val="100000"/>
              <a:buChar char="•"/>
            </a:pPr>
            <a:r>
              <a:rPr lang="en-US" sz="1400" b="1" spc="-80" dirty="0">
                <a:solidFill>
                  <a:srgbClr val="0D1B2A"/>
                </a:solidFill>
                <a:latin typeface="Calibri" pitchFamily="34" charset="0"/>
                <a:ea typeface="Calibri" pitchFamily="34" charset="-122"/>
                <a:cs typeface="Calibri" pitchFamily="34" charset="-120"/>
              </a:rPr>
              <a:t>Zalecany</a:t>
            </a:r>
            <a:r>
              <a:rPr lang="en-US" sz="1400" spc="-80" dirty="0">
                <a:solidFill>
                  <a:srgbClr val="0D1B2A"/>
                </a:solidFill>
                <a:latin typeface="Calibri" pitchFamily="34" charset="0"/>
                <a:ea typeface="Calibri" pitchFamily="34" charset="-122"/>
                <a:cs typeface="Calibri" pitchFamily="34" charset="-120"/>
              </a:rPr>
              <a:t> przy mocno </a:t>
            </a:r>
            <a:r>
              <a:rPr lang="en-US" sz="1400" b="1" spc="-80" dirty="0">
                <a:solidFill>
                  <a:srgbClr val="0D1B2A"/>
                </a:solidFill>
                <a:latin typeface="Calibri" pitchFamily="34" charset="0"/>
                <a:ea typeface="Calibri" pitchFamily="34" charset="-122"/>
                <a:cs typeface="Calibri" pitchFamily="34" charset="-120"/>
              </a:rPr>
              <a:t>nieliniowych dynamikach</a:t>
            </a:r>
            <a:endParaRPr lang="en-US" sz="1400" b="1" spc="-80" dirty="0"/>
          </a:p>
        </p:txBody>
      </p:sp>
      <p:sp>
        <p:nvSpPr>
          <p:cNvPr id="14" name="Shape 12"/>
          <p:cNvSpPr/>
          <p:nvPr/>
        </p:nvSpPr>
        <p:spPr>
          <a:xfrm>
            <a:off x="6174740" y="1143001"/>
            <a:ext cx="2772410" cy="2746790"/>
          </a:xfrm>
          <a:prstGeom prst="rect">
            <a:avLst/>
          </a:prstGeom>
          <a:solidFill>
            <a:srgbClr val="FFFFFF"/>
          </a:solidFill>
          <a:ln w="12700">
            <a:solidFill>
              <a:srgbClr val="E2EBF3"/>
            </a:solidFill>
            <a:prstDash val="solid"/>
          </a:ln>
          <a:effectLst>
            <a:outerShdw blurRad="76200" dist="25400" dir="8100000" algn="bl" rotWithShape="0">
              <a:srgbClr val="000000">
                <a:alpha val="12000"/>
              </a:srgbClr>
            </a:outerShdw>
          </a:effectLst>
        </p:spPr>
      </p:sp>
      <p:sp>
        <p:nvSpPr>
          <p:cNvPr id="15" name="Shape 13"/>
          <p:cNvSpPr/>
          <p:nvPr/>
        </p:nvSpPr>
        <p:spPr>
          <a:xfrm>
            <a:off x="6174740" y="1143000"/>
            <a:ext cx="2772410" cy="411480"/>
          </a:xfrm>
          <a:prstGeom prst="rect">
            <a:avLst/>
          </a:prstGeom>
          <a:solidFill>
            <a:srgbClr val="1A3550"/>
          </a:solidFill>
          <a:ln w="12700">
            <a:solidFill>
              <a:srgbClr val="1A3550"/>
            </a:solidFill>
            <a:prstDash val="solid"/>
          </a:ln>
        </p:spPr>
      </p:sp>
      <p:sp>
        <p:nvSpPr>
          <p:cNvPr id="16" name="Text 14"/>
          <p:cNvSpPr/>
          <p:nvPr/>
        </p:nvSpPr>
        <p:spPr>
          <a:xfrm>
            <a:off x="6278118" y="1161288"/>
            <a:ext cx="2432304" cy="365760"/>
          </a:xfrm>
          <a:prstGeom prst="rect">
            <a:avLst/>
          </a:prstGeom>
          <a:noFill/>
          <a:ln/>
        </p:spPr>
        <p:txBody>
          <a:bodyPr wrap="square" lIns="0" tIns="0" rIns="0" bIns="0" rtlCol="0" anchor="ctr"/>
          <a:lstStyle/>
          <a:p>
            <a:pPr marL="0" indent="0">
              <a:buNone/>
            </a:pPr>
            <a:r>
              <a:rPr lang="en-US" sz="1600" b="1" spc="-70" dirty="0">
                <a:solidFill>
                  <a:srgbClr val="FFFFFF"/>
                </a:solidFill>
                <a:latin typeface="Trebuchet MS" pitchFamily="34" charset="0"/>
                <a:ea typeface="Trebuchet MS" pitchFamily="34" charset="-122"/>
                <a:cs typeface="Trebuchet MS" pitchFamily="34" charset="-120"/>
              </a:rPr>
              <a:t>Filtr cząsteczkowy (PF)</a:t>
            </a:r>
            <a:endParaRPr lang="en-US" sz="1600" spc="-70" dirty="0"/>
          </a:p>
        </p:txBody>
      </p:sp>
      <p:sp>
        <p:nvSpPr>
          <p:cNvPr id="17" name="Text 15"/>
          <p:cNvSpPr/>
          <p:nvPr/>
        </p:nvSpPr>
        <p:spPr>
          <a:xfrm>
            <a:off x="6199596" y="1627632"/>
            <a:ext cx="2722154" cy="2036455"/>
          </a:xfrm>
          <a:prstGeom prst="rect">
            <a:avLst/>
          </a:prstGeom>
          <a:noFill/>
          <a:ln/>
        </p:spPr>
        <p:txBody>
          <a:bodyPr wrap="square" lIns="50800" tIns="76200" rIns="50800" bIns="50800" rtlCol="0" anchor="t">
            <a:spAutoFit/>
          </a:bodyPr>
          <a:lstStyle/>
          <a:p>
            <a:pPr marL="144000" indent="-144000">
              <a:spcAft>
                <a:spcPts val="1200"/>
              </a:spcAft>
              <a:buSzPct val="100000"/>
              <a:buChar char="•"/>
            </a:pPr>
            <a:r>
              <a:rPr lang="en-US" sz="1400" b="1" spc="-80" dirty="0">
                <a:solidFill>
                  <a:srgbClr val="0D1B2A"/>
                </a:solidFill>
                <a:latin typeface="Calibri" pitchFamily="34" charset="0"/>
                <a:ea typeface="Calibri" pitchFamily="34" charset="-122"/>
                <a:cs typeface="Calibri" pitchFamily="34" charset="-120"/>
              </a:rPr>
              <a:t>Wielomodalny</a:t>
            </a:r>
            <a:r>
              <a:rPr lang="en-US" sz="1400" spc="-80" dirty="0">
                <a:solidFill>
                  <a:srgbClr val="0D1B2A"/>
                </a:solidFill>
                <a:latin typeface="Calibri" pitchFamily="34" charset="0"/>
                <a:ea typeface="Calibri" pitchFamily="34" charset="-122"/>
                <a:cs typeface="Calibri" pitchFamily="34" charset="-120"/>
              </a:rPr>
              <a:t> rozkład prawdopodobieństwa</a:t>
            </a:r>
            <a:endParaRPr lang="en-US" sz="1400" spc="-80" dirty="0"/>
          </a:p>
          <a:p>
            <a:pPr marL="144000" indent="-144000">
              <a:spcAft>
                <a:spcPts val="1200"/>
              </a:spcAft>
              <a:buSzPct val="100000"/>
              <a:buChar char="•"/>
            </a:pPr>
            <a:r>
              <a:rPr lang="en-US" sz="1400" b="1" spc="-80" dirty="0">
                <a:solidFill>
                  <a:srgbClr val="0D1B2A"/>
                </a:solidFill>
                <a:latin typeface="Calibri" pitchFamily="34" charset="0"/>
                <a:ea typeface="Calibri" pitchFamily="34" charset="-122"/>
                <a:cs typeface="Calibri" pitchFamily="34" charset="-120"/>
              </a:rPr>
              <a:t>N cząsteczek </a:t>
            </a:r>
            <a:r>
              <a:rPr lang="en-US" sz="1400" spc="-80" dirty="0">
                <a:solidFill>
                  <a:srgbClr val="0D1B2A"/>
                </a:solidFill>
                <a:latin typeface="Calibri" pitchFamily="34" charset="0"/>
                <a:ea typeface="Calibri" pitchFamily="34" charset="-122"/>
                <a:cs typeface="Calibri" pitchFamily="34" charset="-120"/>
              </a:rPr>
              <a:t>jako hipotezy stanu</a:t>
            </a:r>
            <a:endParaRPr lang="en-US" sz="1400" spc="-80" dirty="0"/>
          </a:p>
          <a:p>
            <a:pPr marL="144000" indent="-144000">
              <a:spcAft>
                <a:spcPts val="1200"/>
              </a:spcAft>
              <a:buSzPct val="100000"/>
              <a:buChar char="•"/>
            </a:pPr>
            <a:r>
              <a:rPr lang="en-US" sz="1400" b="1" spc="-80" dirty="0">
                <a:solidFill>
                  <a:srgbClr val="0D1B2A"/>
                </a:solidFill>
                <a:latin typeface="Calibri" pitchFamily="34" charset="0"/>
                <a:ea typeface="Calibri" pitchFamily="34" charset="-122"/>
                <a:cs typeface="Calibri" pitchFamily="34" charset="-120"/>
              </a:rPr>
              <a:t>Resampling</a:t>
            </a:r>
            <a:r>
              <a:rPr lang="en-US" sz="1400" spc="-80" dirty="0">
                <a:solidFill>
                  <a:srgbClr val="0D1B2A"/>
                </a:solidFill>
                <a:latin typeface="Calibri" pitchFamily="34" charset="0"/>
                <a:ea typeface="Calibri" pitchFamily="34" charset="-122"/>
                <a:cs typeface="Calibri" pitchFamily="34" charset="-120"/>
              </a:rPr>
              <a:t>: eliminacja słabych hipotez</a:t>
            </a:r>
            <a:endParaRPr lang="en-US" sz="1400" spc="-80" dirty="0"/>
          </a:p>
          <a:p>
            <a:pPr marL="144000" indent="-144000">
              <a:spcAft>
                <a:spcPts val="1200"/>
              </a:spcAft>
              <a:buSzPct val="100000"/>
              <a:buChar char="•"/>
            </a:pPr>
            <a:r>
              <a:rPr lang="en-US" sz="1400" b="1" spc="-80" dirty="0">
                <a:solidFill>
                  <a:srgbClr val="0D1B2A"/>
                </a:solidFill>
                <a:latin typeface="Calibri" pitchFamily="34" charset="0"/>
                <a:ea typeface="Calibri" pitchFamily="34" charset="-122"/>
                <a:cs typeface="Calibri" pitchFamily="34" charset="-120"/>
              </a:rPr>
              <a:t>Koszt O(N</a:t>
            </a:r>
            <a:r>
              <a:rPr lang="en-US" sz="1400" b="1" spc="-80" dirty="0" smtClean="0">
                <a:solidFill>
                  <a:srgbClr val="0D1B2A"/>
                </a:solidFill>
                <a:latin typeface="Calibri" pitchFamily="34" charset="0"/>
                <a:ea typeface="Calibri" pitchFamily="34" charset="-122"/>
                <a:cs typeface="Calibri" pitchFamily="34" charset="-120"/>
              </a:rPr>
              <a:t>)</a:t>
            </a:r>
            <a:r>
              <a:rPr lang="pl-PL" sz="1400" spc="-80" dirty="0" smtClean="0">
                <a:solidFill>
                  <a:srgbClr val="0D1B2A"/>
                </a:solidFill>
                <a:latin typeface="Calibri" pitchFamily="34" charset="0"/>
                <a:ea typeface="Calibri" pitchFamily="34" charset="-122"/>
                <a:cs typeface="Calibri" pitchFamily="34" charset="-120"/>
              </a:rPr>
              <a:t>:</a:t>
            </a:r>
            <a:r>
              <a:rPr lang="en-US" sz="1400" spc="-80" dirty="0" smtClean="0">
                <a:solidFill>
                  <a:srgbClr val="0D1B2A"/>
                </a:solidFill>
                <a:latin typeface="Calibri" pitchFamily="34" charset="0"/>
                <a:ea typeface="Calibri" pitchFamily="34" charset="-122"/>
                <a:cs typeface="Calibri" pitchFamily="34" charset="-120"/>
              </a:rPr>
              <a:t> </a:t>
            </a:r>
            <a:r>
              <a:rPr lang="en-US" sz="1400" spc="-80" dirty="0">
                <a:solidFill>
                  <a:srgbClr val="0D1B2A"/>
                </a:solidFill>
                <a:latin typeface="Calibri" pitchFamily="34" charset="0"/>
                <a:ea typeface="Calibri" pitchFamily="34" charset="-122"/>
                <a:cs typeface="Calibri" pitchFamily="34" charset="-120"/>
              </a:rPr>
              <a:t>wymaga wielu cząsteczek</a:t>
            </a:r>
            <a:endParaRPr lang="en-US" sz="1400" spc="-80" dirty="0"/>
          </a:p>
          <a:p>
            <a:pPr marL="144000" indent="-144000">
              <a:spcAft>
                <a:spcPts val="1200"/>
              </a:spcAft>
              <a:buSzPct val="100000"/>
              <a:buChar char="•"/>
            </a:pPr>
            <a:r>
              <a:rPr lang="en-US" sz="1400" spc="-80" dirty="0">
                <a:solidFill>
                  <a:srgbClr val="0D1B2A"/>
                </a:solidFill>
                <a:latin typeface="Calibri" pitchFamily="34" charset="0"/>
                <a:ea typeface="Calibri" pitchFamily="34" charset="-122"/>
                <a:cs typeface="Calibri" pitchFamily="34" charset="-120"/>
              </a:rPr>
              <a:t>Idealny do lokalizacji globalnej (AMCL)</a:t>
            </a:r>
            <a:endParaRPr lang="en-US" sz="1400" spc="-80" dirty="0"/>
          </a:p>
        </p:txBody>
      </p:sp>
      <p:sp>
        <p:nvSpPr>
          <p:cNvPr id="18" name="Prostokąt 17"/>
          <p:cNvSpPr/>
          <p:nvPr/>
        </p:nvSpPr>
        <p:spPr>
          <a:xfrm>
            <a:off x="274320" y="4082859"/>
            <a:ext cx="8595360" cy="992516"/>
          </a:xfrm>
          <a:prstGeom prst="rect">
            <a:avLst/>
          </a:prstGeom>
          <a:solidFill>
            <a:srgbClr val="0D1B2A"/>
          </a:solidFill>
        </p:spPr>
        <p:txBody>
          <a:bodyPr wrap="square">
            <a:spAutoFit/>
          </a:bodyPr>
          <a:lstStyle/>
          <a:p>
            <a:pPr algn="just">
              <a:lnSpc>
                <a:spcPts val="1400"/>
              </a:lnSpc>
            </a:pPr>
            <a:r>
              <a:rPr lang="pl-PL" sz="1400" dirty="0">
                <a:solidFill>
                  <a:schemeClr val="bg1"/>
                </a:solidFill>
              </a:rPr>
              <a:t>Jeżeli porównamy EKF, UKF i filtr cząsteczkowy, to każdy z nich ma inny profil zastosowań. EKF jest szybki i od lat stanowi standard w robotyce mobilnej, ale opiera się na linearyzacji. UKF lepiej radzi sobie z nieliniowością, bo używa punktów sigma zamiast </a:t>
            </a:r>
            <a:r>
              <a:rPr lang="pl-PL" sz="1400" dirty="0" err="1">
                <a:solidFill>
                  <a:schemeClr val="bg1"/>
                </a:solidFill>
              </a:rPr>
              <a:t>Jacobianów</a:t>
            </a:r>
            <a:r>
              <a:rPr lang="pl-PL" sz="1400" dirty="0">
                <a:solidFill>
                  <a:schemeClr val="bg1"/>
                </a:solidFill>
              </a:rPr>
              <a:t>, lecz jest droższy obliczeniowo. Filtr cząsteczkowy reprezentuje rozkład przez wiele hipotez stanu i świetnie nadaje się do lokalizacji globalnej, jednak wymaga znacznie większych zasobów. Wybór filtru zawsze jest kompromisem między kosztem a jakością modelowania. </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0F4F8"/>
        </a:solidFill>
        <a:effectLst/>
      </p:bgPr>
    </p:bg>
    <p:spTree>
      <p:nvGrpSpPr>
        <p:cNvPr id="1" name=""/>
        <p:cNvGrpSpPr/>
        <p:nvPr/>
      </p:nvGrpSpPr>
      <p:grpSpPr>
        <a:xfrm>
          <a:off x="0" y="0"/>
          <a:ext cx="0" cy="0"/>
          <a:chOff x="0" y="0"/>
          <a:chExt cx="0" cy="0"/>
        </a:xfrm>
      </p:grpSpPr>
      <p:sp>
        <p:nvSpPr>
          <p:cNvPr id="2" name="Shape 0"/>
          <p:cNvSpPr/>
          <p:nvPr/>
        </p:nvSpPr>
        <p:spPr>
          <a:xfrm>
            <a:off x="0" y="0"/>
            <a:ext cx="64008" cy="5143500"/>
          </a:xfrm>
          <a:prstGeom prst="rect">
            <a:avLst/>
          </a:prstGeom>
          <a:solidFill>
            <a:srgbClr val="FB923C"/>
          </a:solidFill>
          <a:ln w="12700">
            <a:solidFill>
              <a:srgbClr val="FB923C"/>
            </a:solidFill>
            <a:prstDash val="solid"/>
          </a:ln>
        </p:spPr>
      </p:sp>
      <p:sp>
        <p:nvSpPr>
          <p:cNvPr id="3" name="Shape 1"/>
          <p:cNvSpPr/>
          <p:nvPr/>
        </p:nvSpPr>
        <p:spPr>
          <a:xfrm>
            <a:off x="64008" y="0"/>
            <a:ext cx="9079992" cy="960120"/>
          </a:xfrm>
          <a:prstGeom prst="rect">
            <a:avLst/>
          </a:prstGeom>
          <a:solidFill>
            <a:srgbClr val="0D1B2A"/>
          </a:solidFill>
          <a:ln w="12700">
            <a:solidFill>
              <a:srgbClr val="0D1B2A"/>
            </a:solidFill>
            <a:prstDash val="solid"/>
          </a:ln>
        </p:spPr>
      </p:sp>
      <p:sp>
        <p:nvSpPr>
          <p:cNvPr id="4" name="Text 2"/>
          <p:cNvSpPr/>
          <p:nvPr/>
        </p:nvSpPr>
        <p:spPr>
          <a:xfrm>
            <a:off x="228600" y="73152"/>
            <a:ext cx="4572000" cy="274320"/>
          </a:xfrm>
          <a:prstGeom prst="rect">
            <a:avLst/>
          </a:prstGeom>
          <a:noFill/>
          <a:ln/>
        </p:spPr>
        <p:txBody>
          <a:bodyPr wrap="square" lIns="0" tIns="0" rIns="0" bIns="0" rtlCol="0" anchor="ctr"/>
          <a:lstStyle/>
          <a:p>
            <a:pPr marL="0" indent="0">
              <a:buNone/>
            </a:pPr>
            <a:r>
              <a:rPr lang="en-US" sz="900" b="1" kern="0" spc="200" dirty="0">
                <a:solidFill>
                  <a:srgbClr val="FB923C"/>
                </a:solidFill>
                <a:latin typeface="Trebuchet MS" pitchFamily="34" charset="0"/>
                <a:ea typeface="Trebuchet MS" pitchFamily="34" charset="-122"/>
                <a:cs typeface="Trebuchet MS" pitchFamily="34" charset="-120"/>
              </a:rPr>
              <a:t>SEKCJA 2 | FILTR KALMANA</a:t>
            </a:r>
            <a:endParaRPr lang="en-US" sz="900" dirty="0"/>
          </a:p>
        </p:txBody>
      </p:sp>
      <p:sp>
        <p:nvSpPr>
          <p:cNvPr id="5" name="Text 3"/>
          <p:cNvSpPr/>
          <p:nvPr/>
        </p:nvSpPr>
        <p:spPr>
          <a:xfrm>
            <a:off x="228600" y="274320"/>
            <a:ext cx="8686800" cy="594360"/>
          </a:xfrm>
          <a:prstGeom prst="rect">
            <a:avLst/>
          </a:prstGeom>
          <a:noFill/>
          <a:ln/>
        </p:spPr>
        <p:txBody>
          <a:bodyPr wrap="square" lIns="0" tIns="0" rIns="0" bIns="0" rtlCol="0" anchor="ctr"/>
          <a:lstStyle/>
          <a:p>
            <a:pPr marL="0" indent="0">
              <a:buNone/>
            </a:pPr>
            <a:r>
              <a:rPr lang="en-US" sz="2800" b="1" dirty="0" err="1">
                <a:solidFill>
                  <a:srgbClr val="FFFFFF"/>
                </a:solidFill>
                <a:latin typeface="Trebuchet MS" pitchFamily="34" charset="0"/>
                <a:ea typeface="Trebuchet MS" pitchFamily="34" charset="-122"/>
                <a:cs typeface="Trebuchet MS" pitchFamily="34" charset="-120"/>
              </a:rPr>
              <a:t>Filtr</a:t>
            </a:r>
            <a:r>
              <a:rPr lang="en-US" sz="2800" b="1" dirty="0">
                <a:solidFill>
                  <a:srgbClr val="FFFFFF"/>
                </a:solidFill>
                <a:latin typeface="Trebuchet MS" pitchFamily="34" charset="0"/>
                <a:ea typeface="Trebuchet MS" pitchFamily="34" charset="-122"/>
                <a:cs typeface="Trebuchet MS" pitchFamily="34" charset="-120"/>
              </a:rPr>
              <a:t> </a:t>
            </a:r>
            <a:r>
              <a:rPr lang="en-US" sz="2800" b="1" dirty="0" err="1" smtClean="0">
                <a:solidFill>
                  <a:srgbClr val="FFFFFF"/>
                </a:solidFill>
                <a:latin typeface="Trebuchet MS" pitchFamily="34" charset="0"/>
                <a:ea typeface="Trebuchet MS" pitchFamily="34" charset="-122"/>
                <a:cs typeface="Trebuchet MS" pitchFamily="34" charset="-120"/>
              </a:rPr>
              <a:t>Kalmana</a:t>
            </a:r>
            <a:r>
              <a:rPr lang="pl-PL" sz="2800" b="1" dirty="0" smtClean="0">
                <a:solidFill>
                  <a:srgbClr val="FFFFFF"/>
                </a:solidFill>
                <a:latin typeface="Trebuchet MS" pitchFamily="34" charset="0"/>
                <a:ea typeface="Trebuchet MS" pitchFamily="34" charset="-122"/>
                <a:cs typeface="Trebuchet MS" pitchFamily="34" charset="-120"/>
              </a:rPr>
              <a:t>:</a:t>
            </a:r>
            <a:r>
              <a:rPr lang="en-US" sz="2800" b="1" dirty="0" smtClean="0">
                <a:solidFill>
                  <a:srgbClr val="FFFFFF"/>
                </a:solidFill>
                <a:latin typeface="Trebuchet MS" pitchFamily="34" charset="0"/>
                <a:ea typeface="Trebuchet MS" pitchFamily="34" charset="-122"/>
                <a:cs typeface="Trebuchet MS" pitchFamily="34" charset="-120"/>
              </a:rPr>
              <a:t> </a:t>
            </a:r>
            <a:r>
              <a:rPr lang="en-US" sz="2800" b="1" dirty="0">
                <a:solidFill>
                  <a:srgbClr val="FFFFFF"/>
                </a:solidFill>
                <a:latin typeface="Trebuchet MS" pitchFamily="34" charset="0"/>
                <a:ea typeface="Trebuchet MS" pitchFamily="34" charset="-122"/>
                <a:cs typeface="Trebuchet MS" pitchFamily="34" charset="-120"/>
              </a:rPr>
              <a:t>cykl predykcja–korekcja</a:t>
            </a:r>
            <a:endParaRPr lang="en-US" sz="2800" dirty="0"/>
          </a:p>
        </p:txBody>
      </p:sp>
      <p:sp>
        <p:nvSpPr>
          <p:cNvPr id="6" name="Shape 4"/>
          <p:cNvSpPr/>
          <p:nvPr/>
        </p:nvSpPr>
        <p:spPr>
          <a:xfrm>
            <a:off x="274320" y="1097280"/>
            <a:ext cx="2011680" cy="2703903"/>
          </a:xfrm>
          <a:prstGeom prst="rect">
            <a:avLst/>
          </a:prstGeom>
          <a:solidFill>
            <a:srgbClr val="FFFFFF"/>
          </a:solidFill>
          <a:ln w="12700">
            <a:solidFill>
              <a:srgbClr val="E2EBF3"/>
            </a:solidFill>
            <a:prstDash val="solid"/>
          </a:ln>
          <a:effectLst>
            <a:outerShdw blurRad="76200" dist="25400" dir="8100000" algn="bl" rotWithShape="0">
              <a:srgbClr val="000000">
                <a:alpha val="12000"/>
              </a:srgbClr>
            </a:outerShdw>
          </a:effectLst>
        </p:spPr>
      </p:sp>
      <p:sp>
        <p:nvSpPr>
          <p:cNvPr id="7" name="Shape 5"/>
          <p:cNvSpPr/>
          <p:nvPr/>
        </p:nvSpPr>
        <p:spPr>
          <a:xfrm>
            <a:off x="987552" y="1233324"/>
            <a:ext cx="585216" cy="585216"/>
          </a:xfrm>
          <a:prstGeom prst="ellipse">
            <a:avLst/>
          </a:prstGeom>
          <a:solidFill>
            <a:srgbClr val="FB923C"/>
          </a:solidFill>
          <a:ln w="12700">
            <a:solidFill>
              <a:srgbClr val="FB923C"/>
            </a:solidFill>
            <a:prstDash val="solid"/>
          </a:ln>
        </p:spPr>
      </p:sp>
      <p:sp>
        <p:nvSpPr>
          <p:cNvPr id="8" name="Text 6"/>
          <p:cNvSpPr/>
          <p:nvPr/>
        </p:nvSpPr>
        <p:spPr>
          <a:xfrm>
            <a:off x="987552" y="1233324"/>
            <a:ext cx="585216" cy="585216"/>
          </a:xfrm>
          <a:prstGeom prst="rect">
            <a:avLst/>
          </a:prstGeom>
          <a:noFill/>
          <a:ln/>
        </p:spPr>
        <p:txBody>
          <a:bodyPr wrap="square" lIns="0" tIns="0" rIns="0" bIns="0" rtlCol="0" anchor="ctr"/>
          <a:lstStyle/>
          <a:p>
            <a:pPr marL="0" indent="0" algn="ctr">
              <a:buNone/>
            </a:pPr>
            <a:r>
              <a:rPr lang="en-US" sz="3200" b="1" dirty="0">
                <a:solidFill>
                  <a:srgbClr val="FFFFFF"/>
                </a:solidFill>
                <a:latin typeface="Trebuchet MS" pitchFamily="34" charset="0"/>
                <a:ea typeface="Trebuchet MS" pitchFamily="34" charset="-122"/>
                <a:cs typeface="Trebuchet MS" pitchFamily="34" charset="-120"/>
              </a:rPr>
              <a:t>1</a:t>
            </a:r>
            <a:endParaRPr lang="en-US" sz="3200" dirty="0"/>
          </a:p>
        </p:txBody>
      </p:sp>
      <p:sp>
        <p:nvSpPr>
          <p:cNvPr id="9" name="Text 7"/>
          <p:cNvSpPr/>
          <p:nvPr/>
        </p:nvSpPr>
        <p:spPr>
          <a:xfrm>
            <a:off x="365760" y="1874520"/>
            <a:ext cx="1828800" cy="502920"/>
          </a:xfrm>
          <a:prstGeom prst="rect">
            <a:avLst/>
          </a:prstGeom>
          <a:noFill/>
          <a:ln/>
        </p:spPr>
        <p:txBody>
          <a:bodyPr wrap="square" lIns="0" tIns="0" rIns="0" bIns="0" rtlCol="0" anchor="ctr"/>
          <a:lstStyle/>
          <a:p>
            <a:pPr marL="0" indent="0" algn="ctr">
              <a:buNone/>
            </a:pPr>
            <a:r>
              <a:rPr lang="en-US" b="1" dirty="0">
                <a:solidFill>
                  <a:srgbClr val="0D1B2A"/>
                </a:solidFill>
                <a:latin typeface="Trebuchet MS" pitchFamily="34" charset="0"/>
                <a:ea typeface="Trebuchet MS" pitchFamily="34" charset="-122"/>
                <a:cs typeface="Trebuchet MS" pitchFamily="34" charset="-120"/>
              </a:rPr>
              <a:t>Predykcja</a:t>
            </a:r>
            <a:endParaRPr lang="en-US" dirty="0"/>
          </a:p>
        </p:txBody>
      </p:sp>
      <p:sp>
        <p:nvSpPr>
          <p:cNvPr id="10" name="Text 8"/>
          <p:cNvSpPr/>
          <p:nvPr/>
        </p:nvSpPr>
        <p:spPr>
          <a:xfrm>
            <a:off x="365760" y="2423160"/>
            <a:ext cx="1828800" cy="1378023"/>
          </a:xfrm>
          <a:prstGeom prst="rect">
            <a:avLst/>
          </a:prstGeom>
          <a:noFill/>
          <a:ln/>
        </p:spPr>
        <p:txBody>
          <a:bodyPr wrap="square" lIns="0" tIns="0" rIns="0" bIns="0" rtlCol="0" anchor="ctr"/>
          <a:lstStyle/>
          <a:p>
            <a:pPr marL="0" indent="0" algn="ctr">
              <a:buNone/>
            </a:pPr>
            <a:r>
              <a:rPr lang="en-US" sz="1400" dirty="0">
                <a:solidFill>
                  <a:srgbClr val="475569"/>
                </a:solidFill>
                <a:latin typeface="Calibri" pitchFamily="34" charset="0"/>
                <a:ea typeface="Calibri" pitchFamily="34" charset="-122"/>
                <a:cs typeface="Calibri" pitchFamily="34" charset="-120"/>
              </a:rPr>
              <a:t>Model ruchu propaguje stan x̂ i kowariancję P do przodu w czasie.</a:t>
            </a:r>
            <a:endParaRPr lang="en-US" sz="1400" dirty="0"/>
          </a:p>
          <a:p>
            <a:pPr marL="0" indent="0" algn="ctr">
              <a:buNone/>
            </a:pPr>
            <a:r>
              <a:rPr lang="en-US" sz="1400" b="1" dirty="0">
                <a:solidFill>
                  <a:srgbClr val="475569"/>
                </a:solidFill>
                <a:latin typeface="Calibri" pitchFamily="34" charset="0"/>
                <a:ea typeface="Calibri" pitchFamily="34" charset="-122"/>
                <a:cs typeface="Calibri" pitchFamily="34" charset="-120"/>
              </a:rPr>
              <a:t>x̂⁻ = F·x̂ + B·u</a:t>
            </a:r>
            <a:endParaRPr lang="en-US" sz="1400" b="1" dirty="0"/>
          </a:p>
        </p:txBody>
      </p:sp>
      <p:sp>
        <p:nvSpPr>
          <p:cNvPr id="11" name="Shape 9"/>
          <p:cNvSpPr/>
          <p:nvPr/>
        </p:nvSpPr>
        <p:spPr>
          <a:xfrm>
            <a:off x="2423160" y="1097280"/>
            <a:ext cx="2011680" cy="2703903"/>
          </a:xfrm>
          <a:prstGeom prst="rect">
            <a:avLst/>
          </a:prstGeom>
          <a:solidFill>
            <a:srgbClr val="FFFFFF"/>
          </a:solidFill>
          <a:ln w="12700">
            <a:solidFill>
              <a:srgbClr val="E2EBF3"/>
            </a:solidFill>
            <a:prstDash val="solid"/>
          </a:ln>
          <a:effectLst>
            <a:outerShdw blurRad="76200" dist="25400" dir="8100000" algn="bl" rotWithShape="0">
              <a:srgbClr val="000000">
                <a:alpha val="12000"/>
              </a:srgbClr>
            </a:outerShdw>
          </a:effectLst>
        </p:spPr>
      </p:sp>
      <p:sp>
        <p:nvSpPr>
          <p:cNvPr id="12" name="Shape 10"/>
          <p:cNvSpPr/>
          <p:nvPr/>
        </p:nvSpPr>
        <p:spPr>
          <a:xfrm>
            <a:off x="3136392" y="1233324"/>
            <a:ext cx="585216" cy="585216"/>
          </a:xfrm>
          <a:prstGeom prst="ellipse">
            <a:avLst/>
          </a:prstGeom>
          <a:solidFill>
            <a:srgbClr val="FB923C"/>
          </a:solidFill>
          <a:ln w="12700">
            <a:solidFill>
              <a:srgbClr val="FB923C"/>
            </a:solidFill>
            <a:prstDash val="solid"/>
          </a:ln>
        </p:spPr>
      </p:sp>
      <p:sp>
        <p:nvSpPr>
          <p:cNvPr id="13" name="Text 11"/>
          <p:cNvSpPr/>
          <p:nvPr/>
        </p:nvSpPr>
        <p:spPr>
          <a:xfrm>
            <a:off x="3136392" y="1233324"/>
            <a:ext cx="585216" cy="585216"/>
          </a:xfrm>
          <a:prstGeom prst="rect">
            <a:avLst/>
          </a:prstGeom>
          <a:noFill/>
          <a:ln/>
        </p:spPr>
        <p:txBody>
          <a:bodyPr wrap="square" lIns="0" tIns="0" rIns="0" bIns="0" rtlCol="0" anchor="ctr"/>
          <a:lstStyle/>
          <a:p>
            <a:pPr marL="0" indent="0" algn="ctr">
              <a:buNone/>
            </a:pPr>
            <a:r>
              <a:rPr lang="en-US" sz="3200" b="1" dirty="0">
                <a:solidFill>
                  <a:srgbClr val="FFFFFF"/>
                </a:solidFill>
                <a:latin typeface="Trebuchet MS" pitchFamily="34" charset="0"/>
                <a:ea typeface="Trebuchet MS" pitchFamily="34" charset="-122"/>
                <a:cs typeface="Trebuchet MS" pitchFamily="34" charset="-120"/>
              </a:rPr>
              <a:t>2</a:t>
            </a:r>
            <a:endParaRPr lang="en-US" sz="3200" dirty="0"/>
          </a:p>
        </p:txBody>
      </p:sp>
      <p:sp>
        <p:nvSpPr>
          <p:cNvPr id="14" name="Text 12"/>
          <p:cNvSpPr/>
          <p:nvPr/>
        </p:nvSpPr>
        <p:spPr>
          <a:xfrm>
            <a:off x="2514600" y="1874520"/>
            <a:ext cx="1828800" cy="502920"/>
          </a:xfrm>
          <a:prstGeom prst="rect">
            <a:avLst/>
          </a:prstGeom>
          <a:noFill/>
          <a:ln/>
        </p:spPr>
        <p:txBody>
          <a:bodyPr wrap="square" lIns="0" tIns="0" rIns="0" bIns="0" rtlCol="0" anchor="ctr"/>
          <a:lstStyle/>
          <a:p>
            <a:pPr marL="0" indent="0" algn="ctr">
              <a:buNone/>
            </a:pPr>
            <a:r>
              <a:rPr lang="en-US" b="1" dirty="0">
                <a:solidFill>
                  <a:srgbClr val="0D1B2A"/>
                </a:solidFill>
                <a:latin typeface="Trebuchet MS" pitchFamily="34" charset="0"/>
                <a:ea typeface="Trebuchet MS" pitchFamily="34" charset="-122"/>
                <a:cs typeface="Trebuchet MS" pitchFamily="34" charset="-120"/>
              </a:rPr>
              <a:t>Pomiar</a:t>
            </a:r>
            <a:endParaRPr lang="en-US" dirty="0"/>
          </a:p>
        </p:txBody>
      </p:sp>
      <p:sp>
        <p:nvSpPr>
          <p:cNvPr id="15" name="Text 13"/>
          <p:cNvSpPr/>
          <p:nvPr/>
        </p:nvSpPr>
        <p:spPr>
          <a:xfrm>
            <a:off x="2514600" y="2423160"/>
            <a:ext cx="1828800" cy="1378023"/>
          </a:xfrm>
          <a:prstGeom prst="rect">
            <a:avLst/>
          </a:prstGeom>
          <a:noFill/>
          <a:ln/>
        </p:spPr>
        <p:txBody>
          <a:bodyPr wrap="square" lIns="0" tIns="0" rIns="0" bIns="0" rtlCol="0" anchor="ctr"/>
          <a:lstStyle/>
          <a:p>
            <a:pPr marL="0" indent="0" algn="ctr">
              <a:buNone/>
            </a:pPr>
            <a:r>
              <a:rPr lang="en-US" sz="1400" dirty="0">
                <a:solidFill>
                  <a:srgbClr val="475569"/>
                </a:solidFill>
                <a:latin typeface="Calibri" pitchFamily="34" charset="0"/>
                <a:ea typeface="Calibri" pitchFamily="34" charset="-122"/>
                <a:cs typeface="Calibri" pitchFamily="34" charset="-120"/>
              </a:rPr>
              <a:t>Sensor dostarcza nową obserwację z – zawierającą szum R.</a:t>
            </a:r>
            <a:endParaRPr lang="en-US" sz="1400" dirty="0"/>
          </a:p>
          <a:p>
            <a:pPr marL="0" indent="0" algn="ctr">
              <a:buNone/>
            </a:pPr>
            <a:r>
              <a:rPr lang="en-US" sz="1400" dirty="0">
                <a:solidFill>
                  <a:srgbClr val="475569"/>
                </a:solidFill>
                <a:latin typeface="Calibri" pitchFamily="34" charset="0"/>
                <a:ea typeface="Calibri" pitchFamily="34" charset="-122"/>
                <a:cs typeface="Calibri" pitchFamily="34" charset="-120"/>
              </a:rPr>
              <a:t>Innowacja: </a:t>
            </a:r>
            <a:r>
              <a:rPr lang="en-US" sz="1400" b="1" dirty="0">
                <a:solidFill>
                  <a:srgbClr val="475569"/>
                </a:solidFill>
                <a:latin typeface="Calibri" pitchFamily="34" charset="0"/>
                <a:ea typeface="Calibri" pitchFamily="34" charset="-122"/>
                <a:cs typeface="Calibri" pitchFamily="34" charset="-120"/>
              </a:rPr>
              <a:t>ν = z – H·x̂⁻</a:t>
            </a:r>
            <a:endParaRPr lang="en-US" sz="1400" b="1" dirty="0"/>
          </a:p>
        </p:txBody>
      </p:sp>
      <p:sp>
        <p:nvSpPr>
          <p:cNvPr id="16" name="Shape 14"/>
          <p:cNvSpPr/>
          <p:nvPr/>
        </p:nvSpPr>
        <p:spPr>
          <a:xfrm>
            <a:off x="4572000" y="1097280"/>
            <a:ext cx="2011680" cy="2703903"/>
          </a:xfrm>
          <a:prstGeom prst="rect">
            <a:avLst/>
          </a:prstGeom>
          <a:solidFill>
            <a:srgbClr val="FFFFFF"/>
          </a:solidFill>
          <a:ln w="12700">
            <a:solidFill>
              <a:srgbClr val="E2EBF3"/>
            </a:solidFill>
            <a:prstDash val="solid"/>
          </a:ln>
          <a:effectLst>
            <a:outerShdw blurRad="76200" dist="25400" dir="8100000" algn="bl" rotWithShape="0">
              <a:srgbClr val="000000">
                <a:alpha val="12000"/>
              </a:srgbClr>
            </a:outerShdw>
          </a:effectLst>
        </p:spPr>
      </p:sp>
      <p:sp>
        <p:nvSpPr>
          <p:cNvPr id="17" name="Shape 15"/>
          <p:cNvSpPr/>
          <p:nvPr/>
        </p:nvSpPr>
        <p:spPr>
          <a:xfrm>
            <a:off x="5285232" y="1233324"/>
            <a:ext cx="585216" cy="585216"/>
          </a:xfrm>
          <a:prstGeom prst="ellipse">
            <a:avLst/>
          </a:prstGeom>
          <a:solidFill>
            <a:srgbClr val="FB923C"/>
          </a:solidFill>
          <a:ln w="12700">
            <a:solidFill>
              <a:srgbClr val="FB923C"/>
            </a:solidFill>
            <a:prstDash val="solid"/>
          </a:ln>
        </p:spPr>
      </p:sp>
      <p:sp>
        <p:nvSpPr>
          <p:cNvPr id="18" name="Text 16"/>
          <p:cNvSpPr/>
          <p:nvPr/>
        </p:nvSpPr>
        <p:spPr>
          <a:xfrm>
            <a:off x="5285232" y="1233324"/>
            <a:ext cx="585216" cy="585216"/>
          </a:xfrm>
          <a:prstGeom prst="rect">
            <a:avLst/>
          </a:prstGeom>
          <a:noFill/>
          <a:ln/>
        </p:spPr>
        <p:txBody>
          <a:bodyPr wrap="square" lIns="0" tIns="0" rIns="0" bIns="0" rtlCol="0" anchor="ctr"/>
          <a:lstStyle/>
          <a:p>
            <a:pPr marL="0" indent="0" algn="ctr">
              <a:buNone/>
            </a:pPr>
            <a:r>
              <a:rPr lang="en-US" sz="3200" b="1" dirty="0">
                <a:solidFill>
                  <a:srgbClr val="FFFFFF"/>
                </a:solidFill>
                <a:latin typeface="Trebuchet MS" pitchFamily="34" charset="0"/>
                <a:ea typeface="Trebuchet MS" pitchFamily="34" charset="-122"/>
                <a:cs typeface="Trebuchet MS" pitchFamily="34" charset="-120"/>
              </a:rPr>
              <a:t>3</a:t>
            </a:r>
            <a:endParaRPr lang="en-US" sz="3200" dirty="0"/>
          </a:p>
        </p:txBody>
      </p:sp>
      <p:sp>
        <p:nvSpPr>
          <p:cNvPr id="19" name="Text 17"/>
          <p:cNvSpPr/>
          <p:nvPr/>
        </p:nvSpPr>
        <p:spPr>
          <a:xfrm>
            <a:off x="4663440" y="1874520"/>
            <a:ext cx="1828800" cy="502920"/>
          </a:xfrm>
          <a:prstGeom prst="rect">
            <a:avLst/>
          </a:prstGeom>
          <a:noFill/>
          <a:ln/>
        </p:spPr>
        <p:txBody>
          <a:bodyPr wrap="square" lIns="0" tIns="0" rIns="0" bIns="0" rtlCol="0" anchor="ctr"/>
          <a:lstStyle/>
          <a:p>
            <a:pPr marL="0" indent="0" algn="ctr">
              <a:buNone/>
            </a:pPr>
            <a:r>
              <a:rPr lang="en-US" b="1" dirty="0">
                <a:solidFill>
                  <a:srgbClr val="0D1B2A"/>
                </a:solidFill>
                <a:latin typeface="Trebuchet MS" pitchFamily="34" charset="0"/>
                <a:ea typeface="Trebuchet MS" pitchFamily="34" charset="-122"/>
                <a:cs typeface="Trebuchet MS" pitchFamily="34" charset="-120"/>
              </a:rPr>
              <a:t>Wzmocnienie K</a:t>
            </a:r>
            <a:endParaRPr lang="en-US" dirty="0"/>
          </a:p>
        </p:txBody>
      </p:sp>
      <p:sp>
        <p:nvSpPr>
          <p:cNvPr id="20" name="Text 18"/>
          <p:cNvSpPr/>
          <p:nvPr/>
        </p:nvSpPr>
        <p:spPr>
          <a:xfrm>
            <a:off x="4663440" y="2423160"/>
            <a:ext cx="1828800" cy="1378023"/>
          </a:xfrm>
          <a:prstGeom prst="rect">
            <a:avLst/>
          </a:prstGeom>
          <a:noFill/>
          <a:ln/>
        </p:spPr>
        <p:txBody>
          <a:bodyPr wrap="square" lIns="0" tIns="0" rIns="0" bIns="0" rtlCol="0" anchor="ctr"/>
          <a:lstStyle/>
          <a:p>
            <a:pPr marL="0" indent="0" algn="ctr">
              <a:buNone/>
            </a:pPr>
            <a:r>
              <a:rPr lang="en-US" sz="1400" dirty="0">
                <a:solidFill>
                  <a:srgbClr val="475569"/>
                </a:solidFill>
                <a:latin typeface="Calibri" pitchFamily="34" charset="0"/>
                <a:ea typeface="Calibri" pitchFamily="34" charset="-122"/>
                <a:cs typeface="Calibri" pitchFamily="34" charset="-120"/>
              </a:rPr>
              <a:t>Wagi Kalmana wyznaczają optymalny kompromis </a:t>
            </a:r>
            <a:r>
              <a:rPr lang="en-US" sz="1400" dirty="0" err="1">
                <a:solidFill>
                  <a:srgbClr val="475569"/>
                </a:solidFill>
                <a:latin typeface="Calibri" pitchFamily="34" charset="0"/>
                <a:ea typeface="Calibri" pitchFamily="34" charset="-122"/>
                <a:cs typeface="Calibri" pitchFamily="34" charset="-120"/>
              </a:rPr>
              <a:t>między</a:t>
            </a:r>
            <a:r>
              <a:rPr lang="en-US" sz="1400" dirty="0">
                <a:solidFill>
                  <a:srgbClr val="475569"/>
                </a:solidFill>
                <a:latin typeface="Calibri" pitchFamily="34" charset="0"/>
                <a:ea typeface="Calibri" pitchFamily="34" charset="-122"/>
                <a:cs typeface="Calibri" pitchFamily="34" charset="-120"/>
              </a:rPr>
              <a:t> </a:t>
            </a:r>
            <a:r>
              <a:rPr lang="en-US" sz="1400" dirty="0" err="1" smtClean="0">
                <a:solidFill>
                  <a:srgbClr val="475569"/>
                </a:solidFill>
                <a:latin typeface="Calibri" pitchFamily="34" charset="0"/>
                <a:ea typeface="Calibri" pitchFamily="34" charset="-122"/>
                <a:cs typeface="Calibri" pitchFamily="34" charset="-120"/>
              </a:rPr>
              <a:t>modelem</a:t>
            </a:r>
            <a:r>
              <a:rPr lang="pl-PL" sz="1400" dirty="0" smtClean="0">
                <a:solidFill>
                  <a:srgbClr val="475569"/>
                </a:solidFill>
                <a:latin typeface="Calibri" pitchFamily="34" charset="0"/>
                <a:ea typeface="Calibri" pitchFamily="34" charset="-122"/>
                <a:cs typeface="Calibri" pitchFamily="34" charset="-120"/>
              </a:rPr>
              <a:t>,</a:t>
            </a:r>
            <a:r>
              <a:rPr lang="en-US" sz="1400" dirty="0" smtClean="0">
                <a:solidFill>
                  <a:srgbClr val="475569"/>
                </a:solidFill>
                <a:latin typeface="Calibri" pitchFamily="34" charset="0"/>
                <a:ea typeface="Calibri" pitchFamily="34" charset="-122"/>
                <a:cs typeface="Calibri" pitchFamily="34" charset="-120"/>
              </a:rPr>
              <a:t> </a:t>
            </a:r>
            <a:r>
              <a:rPr lang="en-US" sz="1400" dirty="0">
                <a:solidFill>
                  <a:srgbClr val="475569"/>
                </a:solidFill>
                <a:latin typeface="Calibri" pitchFamily="34" charset="0"/>
                <a:ea typeface="Calibri" pitchFamily="34" charset="-122"/>
                <a:cs typeface="Calibri" pitchFamily="34" charset="-120"/>
              </a:rPr>
              <a:t>a pomiarem.</a:t>
            </a:r>
            <a:endParaRPr lang="en-US" sz="1400" dirty="0"/>
          </a:p>
          <a:p>
            <a:pPr marL="0" indent="0" algn="ctr">
              <a:buNone/>
            </a:pPr>
            <a:r>
              <a:rPr lang="en-US" sz="1400" b="1" dirty="0">
                <a:solidFill>
                  <a:srgbClr val="475569"/>
                </a:solidFill>
                <a:latin typeface="Calibri" pitchFamily="34" charset="0"/>
                <a:ea typeface="Calibri" pitchFamily="34" charset="-122"/>
                <a:cs typeface="Calibri" pitchFamily="34" charset="-120"/>
              </a:rPr>
              <a:t>K = P⁻·Hᵀ·(H·P⁻·Hᵀ+R)⁻¹</a:t>
            </a:r>
            <a:endParaRPr lang="en-US" sz="1400" b="1" dirty="0"/>
          </a:p>
        </p:txBody>
      </p:sp>
      <p:sp>
        <p:nvSpPr>
          <p:cNvPr id="21" name="Shape 19"/>
          <p:cNvSpPr/>
          <p:nvPr/>
        </p:nvSpPr>
        <p:spPr>
          <a:xfrm>
            <a:off x="6720840" y="1097280"/>
            <a:ext cx="2011680" cy="2703903"/>
          </a:xfrm>
          <a:prstGeom prst="rect">
            <a:avLst/>
          </a:prstGeom>
          <a:solidFill>
            <a:srgbClr val="FFFFFF"/>
          </a:solidFill>
          <a:ln w="12700">
            <a:solidFill>
              <a:srgbClr val="E2EBF3"/>
            </a:solidFill>
            <a:prstDash val="solid"/>
          </a:ln>
          <a:effectLst>
            <a:outerShdw blurRad="76200" dist="25400" dir="8100000" algn="bl" rotWithShape="0">
              <a:srgbClr val="000000">
                <a:alpha val="12000"/>
              </a:srgbClr>
            </a:outerShdw>
          </a:effectLst>
        </p:spPr>
      </p:sp>
      <p:sp>
        <p:nvSpPr>
          <p:cNvPr id="22" name="Shape 20"/>
          <p:cNvSpPr/>
          <p:nvPr/>
        </p:nvSpPr>
        <p:spPr>
          <a:xfrm>
            <a:off x="7434072" y="1233324"/>
            <a:ext cx="585216" cy="585216"/>
          </a:xfrm>
          <a:prstGeom prst="ellipse">
            <a:avLst/>
          </a:prstGeom>
          <a:solidFill>
            <a:srgbClr val="FB923C"/>
          </a:solidFill>
          <a:ln w="12700">
            <a:solidFill>
              <a:srgbClr val="FB923C"/>
            </a:solidFill>
            <a:prstDash val="solid"/>
          </a:ln>
        </p:spPr>
      </p:sp>
      <p:sp>
        <p:nvSpPr>
          <p:cNvPr id="23" name="Text 21"/>
          <p:cNvSpPr/>
          <p:nvPr/>
        </p:nvSpPr>
        <p:spPr>
          <a:xfrm>
            <a:off x="7434072" y="1233324"/>
            <a:ext cx="585216" cy="585216"/>
          </a:xfrm>
          <a:prstGeom prst="rect">
            <a:avLst/>
          </a:prstGeom>
          <a:noFill/>
          <a:ln/>
        </p:spPr>
        <p:txBody>
          <a:bodyPr wrap="square" lIns="0" tIns="0" rIns="0" bIns="0" rtlCol="0" anchor="ctr"/>
          <a:lstStyle/>
          <a:p>
            <a:pPr marL="0" indent="0" algn="ctr">
              <a:buNone/>
            </a:pPr>
            <a:r>
              <a:rPr lang="en-US" sz="3200" b="1" dirty="0">
                <a:solidFill>
                  <a:srgbClr val="FFFFFF"/>
                </a:solidFill>
                <a:latin typeface="Trebuchet MS" pitchFamily="34" charset="0"/>
                <a:ea typeface="Trebuchet MS" pitchFamily="34" charset="-122"/>
                <a:cs typeface="Trebuchet MS" pitchFamily="34" charset="-120"/>
              </a:rPr>
              <a:t>4</a:t>
            </a:r>
            <a:endParaRPr lang="en-US" sz="3200" dirty="0"/>
          </a:p>
        </p:txBody>
      </p:sp>
      <p:sp>
        <p:nvSpPr>
          <p:cNvPr id="24" name="Text 22"/>
          <p:cNvSpPr/>
          <p:nvPr/>
        </p:nvSpPr>
        <p:spPr>
          <a:xfrm>
            <a:off x="6812280" y="1874520"/>
            <a:ext cx="1828800" cy="502920"/>
          </a:xfrm>
          <a:prstGeom prst="rect">
            <a:avLst/>
          </a:prstGeom>
          <a:noFill/>
          <a:ln/>
        </p:spPr>
        <p:txBody>
          <a:bodyPr wrap="square" lIns="0" tIns="0" rIns="0" bIns="0" rtlCol="0" anchor="ctr"/>
          <a:lstStyle/>
          <a:p>
            <a:pPr marL="0" indent="0" algn="ctr">
              <a:buNone/>
            </a:pPr>
            <a:r>
              <a:rPr lang="en-US" b="1" dirty="0">
                <a:solidFill>
                  <a:srgbClr val="0D1B2A"/>
                </a:solidFill>
                <a:latin typeface="Trebuchet MS" pitchFamily="34" charset="0"/>
                <a:ea typeface="Trebuchet MS" pitchFamily="34" charset="-122"/>
                <a:cs typeface="Trebuchet MS" pitchFamily="34" charset="-120"/>
              </a:rPr>
              <a:t>Korekcja</a:t>
            </a:r>
            <a:endParaRPr lang="en-US" dirty="0"/>
          </a:p>
        </p:txBody>
      </p:sp>
      <p:sp>
        <p:nvSpPr>
          <p:cNvPr id="25" name="Text 23"/>
          <p:cNvSpPr/>
          <p:nvPr/>
        </p:nvSpPr>
        <p:spPr>
          <a:xfrm>
            <a:off x="6812280" y="2423160"/>
            <a:ext cx="1828800" cy="1378023"/>
          </a:xfrm>
          <a:prstGeom prst="rect">
            <a:avLst/>
          </a:prstGeom>
          <a:noFill/>
          <a:ln/>
        </p:spPr>
        <p:txBody>
          <a:bodyPr wrap="square" lIns="0" tIns="0" rIns="0" bIns="0" rtlCol="0" anchor="ctr"/>
          <a:lstStyle/>
          <a:p>
            <a:pPr marL="0" indent="0" algn="ctr">
              <a:buNone/>
            </a:pPr>
            <a:r>
              <a:rPr lang="en-US" sz="1400" dirty="0">
                <a:solidFill>
                  <a:srgbClr val="475569"/>
                </a:solidFill>
                <a:latin typeface="Calibri" pitchFamily="34" charset="0"/>
                <a:ea typeface="Calibri" pitchFamily="34" charset="-122"/>
                <a:cs typeface="Calibri" pitchFamily="34" charset="-120"/>
              </a:rPr>
              <a:t>Stan i kowariancja </a:t>
            </a:r>
            <a:r>
              <a:rPr lang="en-US" sz="1400" dirty="0" err="1">
                <a:solidFill>
                  <a:srgbClr val="475569"/>
                </a:solidFill>
                <a:latin typeface="Calibri" pitchFamily="34" charset="0"/>
                <a:ea typeface="Calibri" pitchFamily="34" charset="-122"/>
                <a:cs typeface="Calibri" pitchFamily="34" charset="-120"/>
              </a:rPr>
              <a:t>zaktualizowane</a:t>
            </a:r>
            <a:r>
              <a:rPr lang="en-US" sz="1400" dirty="0">
                <a:solidFill>
                  <a:srgbClr val="475569"/>
                </a:solidFill>
                <a:latin typeface="Calibri" pitchFamily="34" charset="0"/>
                <a:ea typeface="Calibri" pitchFamily="34" charset="-122"/>
                <a:cs typeface="Calibri" pitchFamily="34" charset="-120"/>
              </a:rPr>
              <a:t> </a:t>
            </a:r>
            <a:r>
              <a:rPr lang="pl-PL" sz="1400" dirty="0" smtClean="0">
                <a:solidFill>
                  <a:srgbClr val="475569"/>
                </a:solidFill>
                <a:latin typeface="Calibri" pitchFamily="34" charset="0"/>
                <a:ea typeface="Calibri" pitchFamily="34" charset="-122"/>
                <a:cs typeface="Calibri" pitchFamily="34" charset="-120"/>
              </a:rPr>
              <a:t/>
            </a:r>
            <a:br>
              <a:rPr lang="pl-PL" sz="1400" dirty="0" smtClean="0">
                <a:solidFill>
                  <a:srgbClr val="475569"/>
                </a:solidFill>
                <a:latin typeface="Calibri" pitchFamily="34" charset="0"/>
                <a:ea typeface="Calibri" pitchFamily="34" charset="-122"/>
                <a:cs typeface="Calibri" pitchFamily="34" charset="-120"/>
              </a:rPr>
            </a:br>
            <a:r>
              <a:rPr lang="en-US" sz="1400" dirty="0" smtClean="0">
                <a:solidFill>
                  <a:srgbClr val="475569"/>
                </a:solidFill>
                <a:latin typeface="Calibri" pitchFamily="34" charset="0"/>
                <a:ea typeface="Calibri" pitchFamily="34" charset="-122"/>
                <a:cs typeface="Calibri" pitchFamily="34" charset="-120"/>
              </a:rPr>
              <a:t>o </a:t>
            </a:r>
            <a:r>
              <a:rPr lang="en-US" sz="1400" dirty="0">
                <a:solidFill>
                  <a:srgbClr val="475569"/>
                </a:solidFill>
                <a:latin typeface="Calibri" pitchFamily="34" charset="0"/>
                <a:ea typeface="Calibri" pitchFamily="34" charset="-122"/>
                <a:cs typeface="Calibri" pitchFamily="34" charset="-120"/>
              </a:rPr>
              <a:t>innowację.</a:t>
            </a:r>
            <a:endParaRPr lang="en-US" sz="1400" dirty="0"/>
          </a:p>
          <a:p>
            <a:pPr marL="0" indent="0" algn="ctr">
              <a:buNone/>
            </a:pPr>
            <a:r>
              <a:rPr lang="en-US" sz="1400" b="1" dirty="0">
                <a:solidFill>
                  <a:srgbClr val="475569"/>
                </a:solidFill>
                <a:latin typeface="Calibri" pitchFamily="34" charset="0"/>
                <a:ea typeface="Calibri" pitchFamily="34" charset="-122"/>
                <a:cs typeface="Calibri" pitchFamily="34" charset="-120"/>
              </a:rPr>
              <a:t>x̂ = x̂⁻ + K·ν</a:t>
            </a:r>
            <a:endParaRPr lang="en-US" sz="1400" b="1" dirty="0"/>
          </a:p>
          <a:p>
            <a:pPr marL="0" indent="0" algn="ctr">
              <a:buNone/>
            </a:pPr>
            <a:r>
              <a:rPr lang="en-US" sz="1400" b="1" dirty="0">
                <a:solidFill>
                  <a:srgbClr val="475569"/>
                </a:solidFill>
                <a:latin typeface="Calibri" pitchFamily="34" charset="0"/>
                <a:ea typeface="Calibri" pitchFamily="34" charset="-122"/>
                <a:cs typeface="Calibri" pitchFamily="34" charset="-120"/>
              </a:rPr>
              <a:t>P = (I–K·H)·P⁻</a:t>
            </a:r>
            <a:endParaRPr lang="en-US" sz="1400" b="1" dirty="0"/>
          </a:p>
        </p:txBody>
      </p:sp>
      <p:sp>
        <p:nvSpPr>
          <p:cNvPr id="26" name="Prostokąt 25"/>
          <p:cNvSpPr/>
          <p:nvPr/>
        </p:nvSpPr>
        <p:spPr>
          <a:xfrm>
            <a:off x="274320" y="4210114"/>
            <a:ext cx="8595360" cy="812979"/>
          </a:xfrm>
          <a:prstGeom prst="rect">
            <a:avLst/>
          </a:prstGeom>
          <a:solidFill>
            <a:srgbClr val="0D1B2A"/>
          </a:solidFill>
        </p:spPr>
        <p:txBody>
          <a:bodyPr wrap="square">
            <a:spAutoFit/>
          </a:bodyPr>
          <a:lstStyle/>
          <a:p>
            <a:pPr algn="just">
              <a:lnSpc>
                <a:spcPts val="1400"/>
              </a:lnSpc>
            </a:pPr>
            <a:r>
              <a:rPr lang="pl-PL" sz="1400" dirty="0">
                <a:solidFill>
                  <a:schemeClr val="bg1"/>
                </a:solidFill>
              </a:rPr>
              <a:t>Filtr Kalmana pracuje w cyklu predykcja–korekcja. Najpierw model ruchu propaguje stan i kowariancję w przyszłość. Następnie przychodzi nowy pomiar obarczony szumem. Z różnicy między pomiarem a przewidywaniem powstaje innowacja. Potem liczymy wzmocnienie Kalmana, które określa, jak bardzo zaufać modelowi, a jak bardzo sensorowi. Na końcu aktualizujemy stan i kowariancję. To jest centralny mechanizm nowoczesnej fuzji sensorycznej.</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F2335"/>
        </a:solidFill>
        <a:effectLst/>
      </p:bgPr>
    </p:bg>
    <p:spTree>
      <p:nvGrpSpPr>
        <p:cNvPr id="1" name=""/>
        <p:cNvGrpSpPr/>
        <p:nvPr/>
      </p:nvGrpSpPr>
      <p:grpSpPr>
        <a:xfrm>
          <a:off x="0" y="0"/>
          <a:ext cx="0" cy="0"/>
          <a:chOff x="0" y="0"/>
          <a:chExt cx="0" cy="0"/>
        </a:xfrm>
      </p:grpSpPr>
      <p:sp>
        <p:nvSpPr>
          <p:cNvPr id="2" name="Shape 0"/>
          <p:cNvSpPr/>
          <p:nvPr/>
        </p:nvSpPr>
        <p:spPr>
          <a:xfrm>
            <a:off x="0" y="0"/>
            <a:ext cx="64008" cy="5143500"/>
          </a:xfrm>
          <a:prstGeom prst="rect">
            <a:avLst/>
          </a:prstGeom>
          <a:solidFill>
            <a:srgbClr val="F72585"/>
          </a:solidFill>
          <a:ln w="12700">
            <a:solidFill>
              <a:srgbClr val="F72585"/>
            </a:solidFill>
            <a:prstDash val="solid"/>
          </a:ln>
        </p:spPr>
      </p:sp>
      <p:sp>
        <p:nvSpPr>
          <p:cNvPr id="3" name="Shape 1"/>
          <p:cNvSpPr/>
          <p:nvPr/>
        </p:nvSpPr>
        <p:spPr>
          <a:xfrm>
            <a:off x="64008" y="0"/>
            <a:ext cx="9079992" cy="914400"/>
          </a:xfrm>
          <a:prstGeom prst="rect">
            <a:avLst/>
          </a:prstGeom>
          <a:solidFill>
            <a:srgbClr val="0D1B2A"/>
          </a:solidFill>
          <a:ln w="12700">
            <a:solidFill>
              <a:srgbClr val="0D1B2A"/>
            </a:solidFill>
            <a:prstDash val="solid"/>
          </a:ln>
        </p:spPr>
      </p:sp>
      <p:sp>
        <p:nvSpPr>
          <p:cNvPr id="4" name="Text 2"/>
          <p:cNvSpPr/>
          <p:nvPr/>
        </p:nvSpPr>
        <p:spPr>
          <a:xfrm>
            <a:off x="228600" y="73152"/>
            <a:ext cx="3657600" cy="256032"/>
          </a:xfrm>
          <a:prstGeom prst="rect">
            <a:avLst/>
          </a:prstGeom>
          <a:noFill/>
          <a:ln/>
        </p:spPr>
        <p:txBody>
          <a:bodyPr wrap="square" lIns="0" tIns="0" rIns="0" bIns="0" rtlCol="0" anchor="ctr"/>
          <a:lstStyle/>
          <a:p>
            <a:pPr marL="0" indent="0">
              <a:buNone/>
            </a:pPr>
            <a:r>
              <a:rPr lang="en-US" sz="900" b="1" kern="0" spc="200" dirty="0">
                <a:solidFill>
                  <a:srgbClr val="F72585"/>
                </a:solidFill>
                <a:latin typeface="Trebuchet MS" pitchFamily="34" charset="0"/>
                <a:ea typeface="Trebuchet MS" pitchFamily="34" charset="-122"/>
                <a:cs typeface="Trebuchet MS" pitchFamily="34" charset="-120"/>
              </a:rPr>
              <a:t>KOD PYTHON</a:t>
            </a:r>
            <a:endParaRPr lang="en-US" sz="900" dirty="0"/>
          </a:p>
        </p:txBody>
      </p:sp>
      <p:sp>
        <p:nvSpPr>
          <p:cNvPr id="5" name="Text 3"/>
          <p:cNvSpPr/>
          <p:nvPr/>
        </p:nvSpPr>
        <p:spPr>
          <a:xfrm>
            <a:off x="228600" y="292608"/>
            <a:ext cx="8686800" cy="548640"/>
          </a:xfrm>
          <a:prstGeom prst="rect">
            <a:avLst/>
          </a:prstGeom>
          <a:noFill/>
          <a:ln/>
        </p:spPr>
        <p:txBody>
          <a:bodyPr wrap="square" lIns="0" tIns="0" rIns="0" bIns="0" rtlCol="0" anchor="ctr"/>
          <a:lstStyle/>
          <a:p>
            <a:pPr marL="0" indent="0">
              <a:buNone/>
            </a:pPr>
            <a:r>
              <a:rPr lang="en-US" sz="2800" b="1" dirty="0">
                <a:solidFill>
                  <a:srgbClr val="FFFFFF"/>
                </a:solidFill>
                <a:latin typeface="Trebuchet MS" pitchFamily="34" charset="0"/>
                <a:ea typeface="Trebuchet MS" pitchFamily="34" charset="-122"/>
                <a:cs typeface="Trebuchet MS" pitchFamily="34" charset="-120"/>
              </a:rPr>
              <a:t>Uproszczony EKF dla pozycji 2D</a:t>
            </a:r>
            <a:endParaRPr lang="en-US" sz="2800" dirty="0"/>
          </a:p>
        </p:txBody>
      </p:sp>
      <p:sp>
        <p:nvSpPr>
          <p:cNvPr id="6" name="Shape 4"/>
          <p:cNvSpPr/>
          <p:nvPr/>
        </p:nvSpPr>
        <p:spPr>
          <a:xfrm>
            <a:off x="274320" y="1005840"/>
            <a:ext cx="8595360" cy="3350570"/>
          </a:xfrm>
          <a:prstGeom prst="rect">
            <a:avLst/>
          </a:prstGeom>
          <a:solidFill>
            <a:srgbClr val="071520"/>
          </a:solidFill>
          <a:ln w="12700">
            <a:solidFill>
              <a:srgbClr val="0077A8"/>
            </a:solidFill>
            <a:prstDash val="solid"/>
          </a:ln>
          <a:effectLst>
            <a:outerShdw blurRad="101600" dist="38100" dir="8100000" algn="bl" rotWithShape="0">
              <a:srgbClr val="000000">
                <a:alpha val="18000"/>
              </a:srgbClr>
            </a:outerShdw>
          </a:effectLst>
        </p:spPr>
      </p:sp>
      <p:sp>
        <p:nvSpPr>
          <p:cNvPr id="7" name="Shape 5"/>
          <p:cNvSpPr/>
          <p:nvPr/>
        </p:nvSpPr>
        <p:spPr>
          <a:xfrm>
            <a:off x="8119872" y="1133856"/>
            <a:ext cx="146304" cy="146304"/>
          </a:xfrm>
          <a:prstGeom prst="ellipse">
            <a:avLst/>
          </a:prstGeom>
          <a:solidFill>
            <a:srgbClr val="F72585"/>
          </a:solidFill>
          <a:ln w="12700">
            <a:solidFill>
              <a:srgbClr val="F72585"/>
            </a:solidFill>
            <a:prstDash val="solid"/>
          </a:ln>
        </p:spPr>
      </p:sp>
      <p:sp>
        <p:nvSpPr>
          <p:cNvPr id="8" name="Shape 6"/>
          <p:cNvSpPr/>
          <p:nvPr/>
        </p:nvSpPr>
        <p:spPr>
          <a:xfrm>
            <a:off x="8375904" y="1133856"/>
            <a:ext cx="146304" cy="146304"/>
          </a:xfrm>
          <a:prstGeom prst="ellipse">
            <a:avLst/>
          </a:prstGeom>
          <a:solidFill>
            <a:srgbClr val="FFD60A"/>
          </a:solidFill>
          <a:ln w="12700">
            <a:solidFill>
              <a:srgbClr val="FFD60A"/>
            </a:solidFill>
            <a:prstDash val="solid"/>
          </a:ln>
        </p:spPr>
      </p:sp>
      <p:sp>
        <p:nvSpPr>
          <p:cNvPr id="9" name="Shape 7"/>
          <p:cNvSpPr/>
          <p:nvPr/>
        </p:nvSpPr>
        <p:spPr>
          <a:xfrm>
            <a:off x="8631936" y="1133856"/>
            <a:ext cx="146304" cy="146304"/>
          </a:xfrm>
          <a:prstGeom prst="ellipse">
            <a:avLst/>
          </a:prstGeom>
          <a:solidFill>
            <a:srgbClr val="C3F584"/>
          </a:solidFill>
          <a:ln w="12700">
            <a:solidFill>
              <a:srgbClr val="C3F584"/>
            </a:solidFill>
            <a:prstDash val="solid"/>
          </a:ln>
        </p:spPr>
      </p:sp>
      <p:sp>
        <p:nvSpPr>
          <p:cNvPr id="10" name="Text 8"/>
          <p:cNvSpPr/>
          <p:nvPr/>
        </p:nvSpPr>
        <p:spPr>
          <a:xfrm>
            <a:off x="384048" y="1026728"/>
            <a:ext cx="8321040" cy="3255339"/>
          </a:xfrm>
          <a:prstGeom prst="rect">
            <a:avLst/>
          </a:prstGeom>
          <a:noFill/>
          <a:ln/>
        </p:spPr>
        <p:txBody>
          <a:bodyPr wrap="square" lIns="108000" tIns="0" rIns="127000" bIns="63500" rtlCol="0" anchor="t"/>
          <a:lstStyle/>
          <a:p>
            <a:pPr>
              <a:lnSpc>
                <a:spcPts val="1200"/>
              </a:lnSpc>
            </a:pPr>
            <a:r>
              <a:rPr lang="pl-PL" sz="1100" dirty="0">
                <a:solidFill>
                  <a:srgbClr val="C586C0"/>
                </a:solidFill>
                <a:latin typeface="Consolas" panose="020B0609020204030204" pitchFamily="49" charset="0"/>
              </a:rPr>
              <a:t>import</a:t>
            </a:r>
            <a:r>
              <a:rPr lang="pl-PL" sz="1100" dirty="0">
                <a:solidFill>
                  <a:srgbClr val="BBBEBF"/>
                </a:solidFill>
                <a:latin typeface="Consolas" panose="020B0609020204030204" pitchFamily="49" charset="0"/>
              </a:rPr>
              <a:t> </a:t>
            </a:r>
            <a:r>
              <a:rPr lang="pl-PL" sz="1100" dirty="0" err="1">
                <a:solidFill>
                  <a:srgbClr val="4EC9B0"/>
                </a:solidFill>
                <a:latin typeface="Consolas" panose="020B0609020204030204" pitchFamily="49" charset="0"/>
              </a:rPr>
              <a:t>numpy</a:t>
            </a:r>
            <a:r>
              <a:rPr lang="pl-PL" sz="1100" dirty="0">
                <a:solidFill>
                  <a:srgbClr val="BBBEBF"/>
                </a:solidFill>
                <a:latin typeface="Consolas" panose="020B0609020204030204" pitchFamily="49" charset="0"/>
              </a:rPr>
              <a:t> </a:t>
            </a:r>
            <a:r>
              <a:rPr lang="pl-PL" sz="1100" dirty="0">
                <a:solidFill>
                  <a:srgbClr val="C586C0"/>
                </a:solidFill>
                <a:latin typeface="Consolas" panose="020B0609020204030204" pitchFamily="49" charset="0"/>
              </a:rPr>
              <a:t>as</a:t>
            </a:r>
            <a:r>
              <a:rPr lang="pl-PL" sz="1100" dirty="0">
                <a:solidFill>
                  <a:srgbClr val="BBBEBF"/>
                </a:solidFill>
                <a:latin typeface="Consolas" panose="020B0609020204030204" pitchFamily="49" charset="0"/>
              </a:rPr>
              <a:t> </a:t>
            </a:r>
            <a:r>
              <a:rPr lang="pl-PL" sz="1100" dirty="0" err="1">
                <a:solidFill>
                  <a:srgbClr val="4EC9B0"/>
                </a:solidFill>
                <a:latin typeface="Consolas" panose="020B0609020204030204" pitchFamily="49" charset="0"/>
              </a:rPr>
              <a:t>np</a:t>
            </a:r>
            <a:endParaRPr lang="pl-PL" sz="1100" dirty="0">
              <a:solidFill>
                <a:srgbClr val="BBBEBF"/>
              </a:solidFill>
              <a:latin typeface="Consolas" panose="020B0609020204030204" pitchFamily="49" charset="0"/>
            </a:endParaRPr>
          </a:p>
          <a:p>
            <a:pPr>
              <a:lnSpc>
                <a:spcPts val="1200"/>
              </a:lnSpc>
            </a:pPr>
            <a:r>
              <a:rPr lang="pl-PL" sz="1100" dirty="0">
                <a:solidFill>
                  <a:srgbClr val="BBBEBF"/>
                </a:solidFill>
                <a:latin typeface="Consolas" panose="020B0609020204030204" pitchFamily="49" charset="0"/>
              </a:rPr>
              <a:t/>
            </a:r>
            <a:br>
              <a:rPr lang="pl-PL" sz="1100" dirty="0">
                <a:solidFill>
                  <a:srgbClr val="BBBEBF"/>
                </a:solidFill>
                <a:latin typeface="Consolas" panose="020B0609020204030204" pitchFamily="49" charset="0"/>
              </a:rPr>
            </a:br>
            <a:r>
              <a:rPr lang="pl-PL" sz="1100" dirty="0" err="1">
                <a:solidFill>
                  <a:srgbClr val="FF7B72"/>
                </a:solidFill>
                <a:latin typeface="Consolas" panose="020B0609020204030204" pitchFamily="49" charset="0"/>
              </a:rPr>
              <a:t>class</a:t>
            </a:r>
            <a:r>
              <a:rPr lang="pl-PL" sz="1100" dirty="0">
                <a:solidFill>
                  <a:srgbClr val="BBBEBF"/>
                </a:solidFill>
                <a:latin typeface="Consolas" panose="020B0609020204030204" pitchFamily="49" charset="0"/>
              </a:rPr>
              <a:t> </a:t>
            </a:r>
            <a:r>
              <a:rPr lang="pl-PL" sz="1100" dirty="0">
                <a:solidFill>
                  <a:srgbClr val="4EC9B0"/>
                </a:solidFill>
                <a:latin typeface="Consolas" panose="020B0609020204030204" pitchFamily="49" charset="0"/>
              </a:rPr>
              <a:t>EKF2D</a:t>
            </a:r>
            <a:r>
              <a:rPr lang="pl-PL" sz="1100" dirty="0">
                <a:solidFill>
                  <a:srgbClr val="BBBEBF"/>
                </a:solidFill>
                <a:latin typeface="Consolas" panose="020B0609020204030204" pitchFamily="49" charset="0"/>
              </a:rPr>
              <a:t>:</a:t>
            </a:r>
          </a:p>
          <a:p>
            <a:pPr>
              <a:lnSpc>
                <a:spcPts val="1200"/>
              </a:lnSpc>
            </a:pPr>
            <a:r>
              <a:rPr lang="pl-PL" sz="1100" dirty="0">
                <a:solidFill>
                  <a:srgbClr val="BBBEBF"/>
                </a:solidFill>
                <a:latin typeface="Consolas" panose="020B0609020204030204" pitchFamily="49" charset="0"/>
              </a:rPr>
              <a:t>    </a:t>
            </a:r>
            <a:r>
              <a:rPr lang="pl-PL" sz="1100" dirty="0">
                <a:solidFill>
                  <a:srgbClr val="FF7B72"/>
                </a:solidFill>
                <a:latin typeface="Consolas" panose="020B0609020204030204" pitchFamily="49" charset="0"/>
              </a:rPr>
              <a:t>def</a:t>
            </a:r>
            <a:r>
              <a:rPr lang="pl-PL" sz="1100" dirty="0">
                <a:solidFill>
                  <a:srgbClr val="BBBEBF"/>
                </a:solidFill>
                <a:latin typeface="Consolas" panose="020B0609020204030204" pitchFamily="49" charset="0"/>
              </a:rPr>
              <a:t> </a:t>
            </a:r>
            <a:r>
              <a:rPr lang="pl-PL" sz="1100" dirty="0">
                <a:solidFill>
                  <a:srgbClr val="DCDCAA"/>
                </a:solidFill>
                <a:latin typeface="Consolas" panose="020B0609020204030204" pitchFamily="49" charset="0"/>
              </a:rPr>
              <a:t>__</a:t>
            </a:r>
            <a:r>
              <a:rPr lang="pl-PL" sz="1100" dirty="0" err="1">
                <a:solidFill>
                  <a:srgbClr val="DCDCAA"/>
                </a:solidFill>
                <a:latin typeface="Consolas" panose="020B0609020204030204" pitchFamily="49" charset="0"/>
              </a:rPr>
              <a:t>init</a:t>
            </a:r>
            <a:r>
              <a:rPr lang="pl-PL" sz="1100" dirty="0">
                <a:solidFill>
                  <a:srgbClr val="DCDCAA"/>
                </a:solidFill>
                <a:latin typeface="Consolas" panose="020B0609020204030204" pitchFamily="49" charset="0"/>
              </a:rPr>
              <a:t>__</a:t>
            </a:r>
            <a:r>
              <a:rPr lang="pl-PL" sz="1100" dirty="0">
                <a:solidFill>
                  <a:srgbClr val="BBBEBF"/>
                </a:solidFill>
                <a:latin typeface="Consolas" panose="020B0609020204030204" pitchFamily="49" charset="0"/>
              </a:rPr>
              <a:t>(</a:t>
            </a:r>
            <a:r>
              <a:rPr lang="pl-PL" sz="1100" dirty="0" err="1">
                <a:solidFill>
                  <a:srgbClr val="C9D1D9"/>
                </a:solidFill>
                <a:latin typeface="Consolas" panose="020B0609020204030204" pitchFamily="49" charset="0"/>
              </a:rPr>
              <a:t>self</a:t>
            </a:r>
            <a:r>
              <a:rPr lang="pl-PL" sz="1100" dirty="0">
                <a:solidFill>
                  <a:srgbClr val="BBBEBF"/>
                </a:solidFill>
                <a:latin typeface="Consolas" panose="020B0609020204030204" pitchFamily="49" charset="0"/>
              </a:rPr>
              <a:t>):</a:t>
            </a:r>
          </a:p>
          <a:p>
            <a:pPr>
              <a:lnSpc>
                <a:spcPts val="1200"/>
              </a:lnSpc>
            </a:pPr>
            <a:r>
              <a:rPr lang="pl-PL" sz="1100" dirty="0">
                <a:solidFill>
                  <a:srgbClr val="BBBEBF"/>
                </a:solidFill>
                <a:latin typeface="Consolas" panose="020B0609020204030204" pitchFamily="49" charset="0"/>
              </a:rPr>
              <a:t>        </a:t>
            </a:r>
            <a:r>
              <a:rPr lang="pl-PL" sz="1100" dirty="0" err="1">
                <a:solidFill>
                  <a:srgbClr val="C9D1D9"/>
                </a:solidFill>
                <a:latin typeface="Consolas" panose="020B0609020204030204" pitchFamily="49" charset="0"/>
              </a:rPr>
              <a:t>self</a:t>
            </a:r>
            <a:r>
              <a:rPr lang="pl-PL" sz="1100" dirty="0" err="1">
                <a:solidFill>
                  <a:srgbClr val="BBBEBF"/>
                </a:solidFill>
                <a:latin typeface="Consolas" panose="020B0609020204030204" pitchFamily="49" charset="0"/>
              </a:rPr>
              <a:t>.</a:t>
            </a:r>
            <a:r>
              <a:rPr lang="pl-PL" sz="1100" dirty="0" err="1">
                <a:solidFill>
                  <a:srgbClr val="C9D1D9"/>
                </a:solidFill>
                <a:latin typeface="Consolas" panose="020B0609020204030204" pitchFamily="49" charset="0"/>
              </a:rPr>
              <a:t>x</a:t>
            </a:r>
            <a:r>
              <a:rPr lang="pl-PL" sz="1100" dirty="0">
                <a:solidFill>
                  <a:srgbClr val="BBBEBF"/>
                </a:solidFill>
                <a:latin typeface="Consolas" panose="020B0609020204030204" pitchFamily="49" charset="0"/>
              </a:rPr>
              <a:t> </a:t>
            </a:r>
            <a:r>
              <a:rPr lang="pl-PL" sz="1100" dirty="0">
                <a:solidFill>
                  <a:srgbClr val="D4D4D4"/>
                </a:solidFill>
                <a:latin typeface="Consolas" panose="020B0609020204030204" pitchFamily="49" charset="0"/>
              </a:rPr>
              <a:t>=</a:t>
            </a:r>
            <a:r>
              <a:rPr lang="pl-PL" sz="1100" dirty="0">
                <a:solidFill>
                  <a:srgbClr val="BBBEBF"/>
                </a:solidFill>
                <a:latin typeface="Consolas" panose="020B0609020204030204" pitchFamily="49" charset="0"/>
              </a:rPr>
              <a:t> </a:t>
            </a:r>
            <a:r>
              <a:rPr lang="pl-PL" sz="1100" dirty="0" err="1">
                <a:solidFill>
                  <a:srgbClr val="4EC9B0"/>
                </a:solidFill>
                <a:latin typeface="Consolas" panose="020B0609020204030204" pitchFamily="49" charset="0"/>
              </a:rPr>
              <a:t>np</a:t>
            </a:r>
            <a:r>
              <a:rPr lang="pl-PL" sz="1100" dirty="0" err="1">
                <a:solidFill>
                  <a:srgbClr val="BBBEBF"/>
                </a:solidFill>
                <a:latin typeface="Consolas" panose="020B0609020204030204" pitchFamily="49" charset="0"/>
              </a:rPr>
              <a:t>.</a:t>
            </a:r>
            <a:r>
              <a:rPr lang="pl-PL" sz="1100" dirty="0" err="1">
                <a:solidFill>
                  <a:srgbClr val="D2A8FF"/>
                </a:solidFill>
                <a:latin typeface="Consolas" panose="020B0609020204030204" pitchFamily="49" charset="0"/>
              </a:rPr>
              <a:t>zeros</a:t>
            </a:r>
            <a:r>
              <a:rPr lang="pl-PL" sz="1100" dirty="0">
                <a:solidFill>
                  <a:srgbClr val="BBBEBF"/>
                </a:solidFill>
                <a:latin typeface="Consolas" panose="020B0609020204030204" pitchFamily="49" charset="0"/>
              </a:rPr>
              <a:t>(</a:t>
            </a:r>
            <a:r>
              <a:rPr lang="pl-PL" sz="1100" dirty="0">
                <a:solidFill>
                  <a:srgbClr val="B5CEA8"/>
                </a:solidFill>
                <a:latin typeface="Consolas" panose="020B0609020204030204" pitchFamily="49" charset="0"/>
              </a:rPr>
              <a:t>3</a:t>
            </a:r>
            <a:r>
              <a:rPr lang="pl-PL" sz="1100" dirty="0">
                <a:solidFill>
                  <a:srgbClr val="BBBEBF"/>
                </a:solidFill>
                <a:latin typeface="Consolas" panose="020B0609020204030204" pitchFamily="49" charset="0"/>
              </a:rPr>
              <a:t>)          </a:t>
            </a:r>
            <a:r>
              <a:rPr lang="pl-PL" sz="1100" dirty="0">
                <a:solidFill>
                  <a:srgbClr val="8B949E"/>
                </a:solidFill>
                <a:latin typeface="Consolas" panose="020B0609020204030204" pitchFamily="49" charset="0"/>
              </a:rPr>
              <a:t># [x, y, </a:t>
            </a:r>
            <a:r>
              <a:rPr lang="pl-PL" sz="1100" dirty="0" err="1">
                <a:solidFill>
                  <a:srgbClr val="8B949E"/>
                </a:solidFill>
                <a:latin typeface="Consolas" panose="020B0609020204030204" pitchFamily="49" charset="0"/>
              </a:rPr>
              <a:t>yaw</a:t>
            </a:r>
            <a:r>
              <a:rPr lang="pl-PL" sz="1100" dirty="0">
                <a:solidFill>
                  <a:srgbClr val="8B949E"/>
                </a:solidFill>
                <a:latin typeface="Consolas" panose="020B0609020204030204" pitchFamily="49" charset="0"/>
              </a:rPr>
              <a:t>]</a:t>
            </a:r>
            <a:endParaRPr lang="pl-PL" sz="1100" dirty="0">
              <a:solidFill>
                <a:srgbClr val="BBBEBF"/>
              </a:solidFill>
              <a:latin typeface="Consolas" panose="020B0609020204030204" pitchFamily="49" charset="0"/>
            </a:endParaRPr>
          </a:p>
          <a:p>
            <a:pPr>
              <a:lnSpc>
                <a:spcPts val="1200"/>
              </a:lnSpc>
            </a:pPr>
            <a:r>
              <a:rPr lang="pl-PL" sz="1100" dirty="0">
                <a:solidFill>
                  <a:srgbClr val="BBBEBF"/>
                </a:solidFill>
                <a:latin typeface="Consolas" panose="020B0609020204030204" pitchFamily="49" charset="0"/>
              </a:rPr>
              <a:t>        </a:t>
            </a:r>
            <a:r>
              <a:rPr lang="pl-PL" sz="1100" dirty="0" err="1">
                <a:solidFill>
                  <a:srgbClr val="C9D1D9"/>
                </a:solidFill>
                <a:latin typeface="Consolas" panose="020B0609020204030204" pitchFamily="49" charset="0"/>
              </a:rPr>
              <a:t>self</a:t>
            </a:r>
            <a:r>
              <a:rPr lang="pl-PL" sz="1100" dirty="0" err="1">
                <a:solidFill>
                  <a:srgbClr val="BBBEBF"/>
                </a:solidFill>
                <a:latin typeface="Consolas" panose="020B0609020204030204" pitchFamily="49" charset="0"/>
              </a:rPr>
              <a:t>.</a:t>
            </a:r>
            <a:r>
              <a:rPr lang="pl-PL" sz="1100" dirty="0" err="1">
                <a:solidFill>
                  <a:srgbClr val="C9D1D9"/>
                </a:solidFill>
                <a:latin typeface="Consolas" panose="020B0609020204030204" pitchFamily="49" charset="0"/>
              </a:rPr>
              <a:t>P</a:t>
            </a:r>
            <a:r>
              <a:rPr lang="pl-PL" sz="1100" dirty="0">
                <a:solidFill>
                  <a:srgbClr val="BBBEBF"/>
                </a:solidFill>
                <a:latin typeface="Consolas" panose="020B0609020204030204" pitchFamily="49" charset="0"/>
              </a:rPr>
              <a:t> </a:t>
            </a:r>
            <a:r>
              <a:rPr lang="pl-PL" sz="1100" dirty="0">
                <a:solidFill>
                  <a:srgbClr val="D4D4D4"/>
                </a:solidFill>
                <a:latin typeface="Consolas" panose="020B0609020204030204" pitchFamily="49" charset="0"/>
              </a:rPr>
              <a:t>=</a:t>
            </a:r>
            <a:r>
              <a:rPr lang="pl-PL" sz="1100" dirty="0">
                <a:solidFill>
                  <a:srgbClr val="BBBEBF"/>
                </a:solidFill>
                <a:latin typeface="Consolas" panose="020B0609020204030204" pitchFamily="49" charset="0"/>
              </a:rPr>
              <a:t> </a:t>
            </a:r>
            <a:r>
              <a:rPr lang="pl-PL" sz="1100" dirty="0" err="1">
                <a:solidFill>
                  <a:srgbClr val="4EC9B0"/>
                </a:solidFill>
                <a:latin typeface="Consolas" panose="020B0609020204030204" pitchFamily="49" charset="0"/>
              </a:rPr>
              <a:t>np</a:t>
            </a:r>
            <a:r>
              <a:rPr lang="pl-PL" sz="1100" dirty="0" err="1">
                <a:solidFill>
                  <a:srgbClr val="BBBEBF"/>
                </a:solidFill>
                <a:latin typeface="Consolas" panose="020B0609020204030204" pitchFamily="49" charset="0"/>
              </a:rPr>
              <a:t>.</a:t>
            </a:r>
            <a:r>
              <a:rPr lang="pl-PL" sz="1100" dirty="0" err="1">
                <a:solidFill>
                  <a:srgbClr val="D2A8FF"/>
                </a:solidFill>
                <a:latin typeface="Consolas" panose="020B0609020204030204" pitchFamily="49" charset="0"/>
              </a:rPr>
              <a:t>eye</a:t>
            </a:r>
            <a:r>
              <a:rPr lang="pl-PL" sz="1100" dirty="0">
                <a:solidFill>
                  <a:srgbClr val="BBBEBF"/>
                </a:solidFill>
                <a:latin typeface="Consolas" panose="020B0609020204030204" pitchFamily="49" charset="0"/>
              </a:rPr>
              <a:t>(</a:t>
            </a:r>
            <a:r>
              <a:rPr lang="pl-PL" sz="1100" dirty="0">
                <a:solidFill>
                  <a:srgbClr val="B5CEA8"/>
                </a:solidFill>
                <a:latin typeface="Consolas" panose="020B0609020204030204" pitchFamily="49" charset="0"/>
              </a:rPr>
              <a:t>3</a:t>
            </a:r>
            <a:r>
              <a:rPr lang="pl-PL" sz="1100" dirty="0">
                <a:solidFill>
                  <a:srgbClr val="BBBEBF"/>
                </a:solidFill>
                <a:latin typeface="Consolas" panose="020B0609020204030204" pitchFamily="49" charset="0"/>
              </a:rPr>
              <a:t>) </a:t>
            </a:r>
            <a:r>
              <a:rPr lang="pl-PL" sz="1100" dirty="0">
                <a:solidFill>
                  <a:srgbClr val="DCDCAA"/>
                </a:solidFill>
                <a:latin typeface="Consolas" panose="020B0609020204030204" pitchFamily="49" charset="0"/>
              </a:rPr>
              <a:t>*</a:t>
            </a:r>
            <a:r>
              <a:rPr lang="pl-PL" sz="1100" dirty="0">
                <a:solidFill>
                  <a:srgbClr val="BBBEBF"/>
                </a:solidFill>
                <a:latin typeface="Consolas" panose="020B0609020204030204" pitchFamily="49" charset="0"/>
              </a:rPr>
              <a:t> </a:t>
            </a:r>
            <a:r>
              <a:rPr lang="pl-PL" sz="1100" dirty="0">
                <a:solidFill>
                  <a:srgbClr val="B5CEA8"/>
                </a:solidFill>
                <a:latin typeface="Consolas" panose="020B0609020204030204" pitchFamily="49" charset="0"/>
              </a:rPr>
              <a:t>0.5</a:t>
            </a:r>
            <a:r>
              <a:rPr lang="pl-PL" sz="1100" dirty="0">
                <a:solidFill>
                  <a:srgbClr val="BBBEBF"/>
                </a:solidFill>
                <a:latin typeface="Consolas" panose="020B0609020204030204" pitchFamily="49" charset="0"/>
              </a:rPr>
              <a:t>      </a:t>
            </a:r>
            <a:r>
              <a:rPr lang="pl-PL" sz="1100" dirty="0">
                <a:solidFill>
                  <a:srgbClr val="8B949E"/>
                </a:solidFill>
                <a:latin typeface="Consolas" panose="020B0609020204030204" pitchFamily="49" charset="0"/>
              </a:rPr>
              <a:t># kowariancja </a:t>
            </a:r>
            <a:r>
              <a:rPr lang="pl-PL" sz="1100" dirty="0" smtClean="0">
                <a:solidFill>
                  <a:srgbClr val="8B949E"/>
                </a:solidFill>
                <a:latin typeface="Consolas" panose="020B0609020204030204" pitchFamily="49" charset="0"/>
              </a:rPr>
              <a:t>początkowa</a:t>
            </a:r>
            <a:endParaRPr lang="pl-PL" sz="1100" dirty="0">
              <a:solidFill>
                <a:srgbClr val="BBBEBF"/>
              </a:solidFill>
              <a:latin typeface="Consolas" panose="020B0609020204030204" pitchFamily="49" charset="0"/>
            </a:endParaRPr>
          </a:p>
          <a:p>
            <a:pPr>
              <a:lnSpc>
                <a:spcPts val="1200"/>
              </a:lnSpc>
            </a:pPr>
            <a:r>
              <a:rPr lang="pl-PL" sz="1100" dirty="0">
                <a:solidFill>
                  <a:srgbClr val="BBBEBF"/>
                </a:solidFill>
                <a:latin typeface="Consolas" panose="020B0609020204030204" pitchFamily="49" charset="0"/>
              </a:rPr>
              <a:t>        </a:t>
            </a:r>
            <a:r>
              <a:rPr lang="pl-PL" sz="1100" dirty="0" err="1">
                <a:solidFill>
                  <a:srgbClr val="C9D1D9"/>
                </a:solidFill>
                <a:latin typeface="Consolas" panose="020B0609020204030204" pitchFamily="49" charset="0"/>
              </a:rPr>
              <a:t>self</a:t>
            </a:r>
            <a:r>
              <a:rPr lang="pl-PL" sz="1100" dirty="0" err="1">
                <a:solidFill>
                  <a:srgbClr val="BBBEBF"/>
                </a:solidFill>
                <a:latin typeface="Consolas" panose="020B0609020204030204" pitchFamily="49" charset="0"/>
              </a:rPr>
              <a:t>.</a:t>
            </a:r>
            <a:r>
              <a:rPr lang="pl-PL" sz="1100" dirty="0" err="1">
                <a:solidFill>
                  <a:srgbClr val="C9D1D9"/>
                </a:solidFill>
                <a:latin typeface="Consolas" panose="020B0609020204030204" pitchFamily="49" charset="0"/>
              </a:rPr>
              <a:t>Q</a:t>
            </a:r>
            <a:r>
              <a:rPr lang="pl-PL" sz="1100" dirty="0">
                <a:solidFill>
                  <a:srgbClr val="BBBEBF"/>
                </a:solidFill>
                <a:latin typeface="Consolas" panose="020B0609020204030204" pitchFamily="49" charset="0"/>
              </a:rPr>
              <a:t> </a:t>
            </a:r>
            <a:r>
              <a:rPr lang="pl-PL" sz="1100" dirty="0">
                <a:solidFill>
                  <a:srgbClr val="D4D4D4"/>
                </a:solidFill>
                <a:latin typeface="Consolas" panose="020B0609020204030204" pitchFamily="49" charset="0"/>
              </a:rPr>
              <a:t>=</a:t>
            </a:r>
            <a:r>
              <a:rPr lang="pl-PL" sz="1100" dirty="0">
                <a:solidFill>
                  <a:srgbClr val="BBBEBF"/>
                </a:solidFill>
                <a:latin typeface="Consolas" panose="020B0609020204030204" pitchFamily="49" charset="0"/>
              </a:rPr>
              <a:t> </a:t>
            </a:r>
            <a:r>
              <a:rPr lang="pl-PL" sz="1100" dirty="0" err="1">
                <a:solidFill>
                  <a:srgbClr val="4EC9B0"/>
                </a:solidFill>
                <a:latin typeface="Consolas" panose="020B0609020204030204" pitchFamily="49" charset="0"/>
              </a:rPr>
              <a:t>np</a:t>
            </a:r>
            <a:r>
              <a:rPr lang="pl-PL" sz="1100" dirty="0" err="1">
                <a:solidFill>
                  <a:srgbClr val="BBBEBF"/>
                </a:solidFill>
                <a:latin typeface="Consolas" panose="020B0609020204030204" pitchFamily="49" charset="0"/>
              </a:rPr>
              <a:t>.</a:t>
            </a:r>
            <a:r>
              <a:rPr lang="pl-PL" sz="1100" dirty="0" err="1">
                <a:solidFill>
                  <a:srgbClr val="D2A8FF"/>
                </a:solidFill>
                <a:latin typeface="Consolas" panose="020B0609020204030204" pitchFamily="49" charset="0"/>
              </a:rPr>
              <a:t>diag</a:t>
            </a:r>
            <a:r>
              <a:rPr lang="pl-PL" sz="1100" dirty="0">
                <a:solidFill>
                  <a:srgbClr val="BBBEBF"/>
                </a:solidFill>
                <a:latin typeface="Consolas" panose="020B0609020204030204" pitchFamily="49" charset="0"/>
              </a:rPr>
              <a:t>([</a:t>
            </a:r>
            <a:r>
              <a:rPr lang="pl-PL" sz="1100" dirty="0">
                <a:solidFill>
                  <a:srgbClr val="B5CEA8"/>
                </a:solidFill>
                <a:latin typeface="Consolas" panose="020B0609020204030204" pitchFamily="49" charset="0"/>
              </a:rPr>
              <a:t>0.01</a:t>
            </a:r>
            <a:r>
              <a:rPr lang="pl-PL" sz="1100" dirty="0">
                <a:solidFill>
                  <a:srgbClr val="BBBEBF"/>
                </a:solidFill>
                <a:latin typeface="Consolas" panose="020B0609020204030204" pitchFamily="49" charset="0"/>
              </a:rPr>
              <a:t>, </a:t>
            </a:r>
            <a:r>
              <a:rPr lang="pl-PL" sz="1100" dirty="0">
                <a:solidFill>
                  <a:srgbClr val="B5CEA8"/>
                </a:solidFill>
                <a:latin typeface="Consolas" panose="020B0609020204030204" pitchFamily="49" charset="0"/>
              </a:rPr>
              <a:t>0.01</a:t>
            </a:r>
            <a:r>
              <a:rPr lang="pl-PL" sz="1100" dirty="0">
                <a:solidFill>
                  <a:srgbClr val="BBBEBF"/>
                </a:solidFill>
                <a:latin typeface="Consolas" panose="020B0609020204030204" pitchFamily="49" charset="0"/>
              </a:rPr>
              <a:t>, </a:t>
            </a:r>
            <a:r>
              <a:rPr lang="pl-PL" sz="1100" dirty="0">
                <a:solidFill>
                  <a:srgbClr val="B5CEA8"/>
                </a:solidFill>
                <a:latin typeface="Consolas" panose="020B0609020204030204" pitchFamily="49" charset="0"/>
              </a:rPr>
              <a:t>0.005</a:t>
            </a:r>
            <a:r>
              <a:rPr lang="pl-PL" sz="1100" dirty="0">
                <a:solidFill>
                  <a:srgbClr val="BBBEBF"/>
                </a:solidFill>
                <a:latin typeface="Consolas" panose="020B0609020204030204" pitchFamily="49" charset="0"/>
              </a:rPr>
              <a:t>])  </a:t>
            </a:r>
            <a:r>
              <a:rPr lang="pl-PL" sz="1100" dirty="0">
                <a:solidFill>
                  <a:srgbClr val="8B949E"/>
                </a:solidFill>
                <a:latin typeface="Consolas" panose="020B0609020204030204" pitchFamily="49" charset="0"/>
              </a:rPr>
              <a:t># szum procesu</a:t>
            </a:r>
            <a:endParaRPr lang="pl-PL" sz="1100" dirty="0">
              <a:solidFill>
                <a:srgbClr val="BBBEBF"/>
              </a:solidFill>
              <a:latin typeface="Consolas" panose="020B0609020204030204" pitchFamily="49" charset="0"/>
            </a:endParaRPr>
          </a:p>
          <a:p>
            <a:pPr>
              <a:lnSpc>
                <a:spcPts val="1200"/>
              </a:lnSpc>
            </a:pPr>
            <a:r>
              <a:rPr lang="pl-PL" sz="1100" dirty="0">
                <a:solidFill>
                  <a:srgbClr val="BBBEBF"/>
                </a:solidFill>
                <a:latin typeface="Consolas" panose="020B0609020204030204" pitchFamily="49" charset="0"/>
              </a:rPr>
              <a:t>        </a:t>
            </a:r>
            <a:r>
              <a:rPr lang="pl-PL" sz="1100" dirty="0" err="1">
                <a:solidFill>
                  <a:srgbClr val="C9D1D9"/>
                </a:solidFill>
                <a:latin typeface="Consolas" panose="020B0609020204030204" pitchFamily="49" charset="0"/>
              </a:rPr>
              <a:t>self</a:t>
            </a:r>
            <a:r>
              <a:rPr lang="pl-PL" sz="1100" dirty="0" err="1">
                <a:solidFill>
                  <a:srgbClr val="BBBEBF"/>
                </a:solidFill>
                <a:latin typeface="Consolas" panose="020B0609020204030204" pitchFamily="49" charset="0"/>
              </a:rPr>
              <a:t>.</a:t>
            </a:r>
            <a:r>
              <a:rPr lang="pl-PL" sz="1100" dirty="0" err="1">
                <a:solidFill>
                  <a:srgbClr val="C9D1D9"/>
                </a:solidFill>
                <a:latin typeface="Consolas" panose="020B0609020204030204" pitchFamily="49" charset="0"/>
              </a:rPr>
              <a:t>R</a:t>
            </a:r>
            <a:r>
              <a:rPr lang="pl-PL" sz="1100" dirty="0">
                <a:solidFill>
                  <a:srgbClr val="BBBEBF"/>
                </a:solidFill>
                <a:latin typeface="Consolas" panose="020B0609020204030204" pitchFamily="49" charset="0"/>
              </a:rPr>
              <a:t> </a:t>
            </a:r>
            <a:r>
              <a:rPr lang="pl-PL" sz="1100" dirty="0">
                <a:solidFill>
                  <a:srgbClr val="D4D4D4"/>
                </a:solidFill>
                <a:latin typeface="Consolas" panose="020B0609020204030204" pitchFamily="49" charset="0"/>
              </a:rPr>
              <a:t>=</a:t>
            </a:r>
            <a:r>
              <a:rPr lang="pl-PL" sz="1100" dirty="0">
                <a:solidFill>
                  <a:srgbClr val="BBBEBF"/>
                </a:solidFill>
                <a:latin typeface="Consolas" panose="020B0609020204030204" pitchFamily="49" charset="0"/>
              </a:rPr>
              <a:t> </a:t>
            </a:r>
            <a:r>
              <a:rPr lang="pl-PL" sz="1100" dirty="0" err="1">
                <a:solidFill>
                  <a:srgbClr val="4EC9B0"/>
                </a:solidFill>
                <a:latin typeface="Consolas" panose="020B0609020204030204" pitchFamily="49" charset="0"/>
              </a:rPr>
              <a:t>np</a:t>
            </a:r>
            <a:r>
              <a:rPr lang="pl-PL" sz="1100" dirty="0" err="1">
                <a:solidFill>
                  <a:srgbClr val="BBBEBF"/>
                </a:solidFill>
                <a:latin typeface="Consolas" panose="020B0609020204030204" pitchFamily="49" charset="0"/>
              </a:rPr>
              <a:t>.</a:t>
            </a:r>
            <a:r>
              <a:rPr lang="pl-PL" sz="1100" dirty="0" err="1">
                <a:solidFill>
                  <a:srgbClr val="D2A8FF"/>
                </a:solidFill>
                <a:latin typeface="Consolas" panose="020B0609020204030204" pitchFamily="49" charset="0"/>
              </a:rPr>
              <a:t>diag</a:t>
            </a:r>
            <a:r>
              <a:rPr lang="pl-PL" sz="1100" dirty="0">
                <a:solidFill>
                  <a:srgbClr val="BBBEBF"/>
                </a:solidFill>
                <a:latin typeface="Consolas" panose="020B0609020204030204" pitchFamily="49" charset="0"/>
              </a:rPr>
              <a:t>([</a:t>
            </a:r>
            <a:r>
              <a:rPr lang="pl-PL" sz="1100" dirty="0">
                <a:solidFill>
                  <a:srgbClr val="B5CEA8"/>
                </a:solidFill>
                <a:latin typeface="Consolas" panose="020B0609020204030204" pitchFamily="49" charset="0"/>
              </a:rPr>
              <a:t>0.1</a:t>
            </a:r>
            <a:r>
              <a:rPr lang="pl-PL" sz="1100" dirty="0">
                <a:solidFill>
                  <a:srgbClr val="BBBEBF"/>
                </a:solidFill>
                <a:latin typeface="Consolas" panose="020B0609020204030204" pitchFamily="49" charset="0"/>
              </a:rPr>
              <a:t>, </a:t>
            </a:r>
            <a:r>
              <a:rPr lang="pl-PL" sz="1100" dirty="0">
                <a:solidFill>
                  <a:srgbClr val="B5CEA8"/>
                </a:solidFill>
                <a:latin typeface="Consolas" panose="020B0609020204030204" pitchFamily="49" charset="0"/>
              </a:rPr>
              <a:t>0.1</a:t>
            </a:r>
            <a:r>
              <a:rPr lang="pl-PL" sz="1100" dirty="0">
                <a:solidFill>
                  <a:srgbClr val="BBBEBF"/>
                </a:solidFill>
                <a:latin typeface="Consolas" panose="020B0609020204030204" pitchFamily="49" charset="0"/>
              </a:rPr>
              <a:t>])  </a:t>
            </a:r>
            <a:r>
              <a:rPr lang="pl-PL" sz="1100" dirty="0">
                <a:solidFill>
                  <a:srgbClr val="8B949E"/>
                </a:solidFill>
                <a:latin typeface="Consolas" panose="020B0609020204030204" pitchFamily="49" charset="0"/>
              </a:rPr>
              <a:t># szum pomiaru (x, y)</a:t>
            </a:r>
            <a:endParaRPr lang="pl-PL" sz="1100" dirty="0">
              <a:solidFill>
                <a:srgbClr val="BBBEBF"/>
              </a:solidFill>
              <a:latin typeface="Consolas" panose="020B0609020204030204" pitchFamily="49" charset="0"/>
            </a:endParaRPr>
          </a:p>
          <a:p>
            <a:pPr>
              <a:lnSpc>
                <a:spcPts val="1200"/>
              </a:lnSpc>
            </a:pPr>
            <a:r>
              <a:rPr lang="pl-PL" sz="1100" dirty="0">
                <a:solidFill>
                  <a:srgbClr val="BBBEBF"/>
                </a:solidFill>
                <a:latin typeface="Consolas" panose="020B0609020204030204" pitchFamily="49" charset="0"/>
              </a:rPr>
              <a:t/>
            </a:r>
            <a:br>
              <a:rPr lang="pl-PL" sz="1100" dirty="0">
                <a:solidFill>
                  <a:srgbClr val="BBBEBF"/>
                </a:solidFill>
                <a:latin typeface="Consolas" panose="020B0609020204030204" pitchFamily="49" charset="0"/>
              </a:rPr>
            </a:br>
            <a:r>
              <a:rPr lang="pl-PL" sz="1100" dirty="0">
                <a:solidFill>
                  <a:srgbClr val="BBBEBF"/>
                </a:solidFill>
                <a:latin typeface="Consolas" panose="020B0609020204030204" pitchFamily="49" charset="0"/>
              </a:rPr>
              <a:t>    </a:t>
            </a:r>
            <a:r>
              <a:rPr lang="pl-PL" sz="1100" dirty="0">
                <a:solidFill>
                  <a:srgbClr val="FF7B72"/>
                </a:solidFill>
                <a:latin typeface="Consolas" panose="020B0609020204030204" pitchFamily="49" charset="0"/>
              </a:rPr>
              <a:t>def</a:t>
            </a:r>
            <a:r>
              <a:rPr lang="pl-PL" sz="1100" dirty="0">
                <a:solidFill>
                  <a:srgbClr val="BBBEBF"/>
                </a:solidFill>
                <a:latin typeface="Consolas" panose="020B0609020204030204" pitchFamily="49" charset="0"/>
              </a:rPr>
              <a:t> </a:t>
            </a:r>
            <a:r>
              <a:rPr lang="pl-PL" sz="1100" dirty="0" err="1">
                <a:solidFill>
                  <a:srgbClr val="D2A8FF"/>
                </a:solidFill>
                <a:latin typeface="Consolas" panose="020B0609020204030204" pitchFamily="49" charset="0"/>
              </a:rPr>
              <a:t>predict</a:t>
            </a:r>
            <a:r>
              <a:rPr lang="pl-PL" sz="1100" dirty="0">
                <a:solidFill>
                  <a:srgbClr val="BBBEBF"/>
                </a:solidFill>
                <a:latin typeface="Consolas" panose="020B0609020204030204" pitchFamily="49" charset="0"/>
              </a:rPr>
              <a:t>(</a:t>
            </a:r>
            <a:r>
              <a:rPr lang="pl-PL" sz="1100" dirty="0" err="1">
                <a:solidFill>
                  <a:srgbClr val="C9D1D9"/>
                </a:solidFill>
                <a:latin typeface="Consolas" panose="020B0609020204030204" pitchFamily="49" charset="0"/>
              </a:rPr>
              <a:t>self</a:t>
            </a:r>
            <a:r>
              <a:rPr lang="pl-PL" sz="1100" dirty="0">
                <a:solidFill>
                  <a:srgbClr val="BBBEBF"/>
                </a:solidFill>
                <a:latin typeface="Consolas" panose="020B0609020204030204" pitchFamily="49" charset="0"/>
              </a:rPr>
              <a:t>, </a:t>
            </a:r>
            <a:r>
              <a:rPr lang="pl-PL" sz="1100" dirty="0">
                <a:solidFill>
                  <a:srgbClr val="FFA657"/>
                </a:solidFill>
                <a:latin typeface="Consolas" panose="020B0609020204030204" pitchFamily="49" charset="0"/>
              </a:rPr>
              <a:t>v</a:t>
            </a:r>
            <a:r>
              <a:rPr lang="pl-PL" sz="1100" dirty="0">
                <a:solidFill>
                  <a:srgbClr val="BBBEBF"/>
                </a:solidFill>
                <a:latin typeface="Consolas" panose="020B0609020204030204" pitchFamily="49" charset="0"/>
              </a:rPr>
              <a:t>: </a:t>
            </a:r>
            <a:r>
              <a:rPr lang="pl-PL" sz="1100" dirty="0" err="1">
                <a:solidFill>
                  <a:srgbClr val="4EC9B0"/>
                </a:solidFill>
                <a:latin typeface="Consolas" panose="020B0609020204030204" pitchFamily="49" charset="0"/>
              </a:rPr>
              <a:t>float</a:t>
            </a:r>
            <a:r>
              <a:rPr lang="pl-PL" sz="1100" dirty="0">
                <a:solidFill>
                  <a:srgbClr val="BBBEBF"/>
                </a:solidFill>
                <a:latin typeface="Consolas" panose="020B0609020204030204" pitchFamily="49" charset="0"/>
              </a:rPr>
              <a:t>, </a:t>
            </a:r>
            <a:r>
              <a:rPr lang="pl-PL" sz="1100" dirty="0">
                <a:solidFill>
                  <a:srgbClr val="FFA657"/>
                </a:solidFill>
                <a:latin typeface="Consolas" panose="020B0609020204030204" pitchFamily="49" charset="0"/>
              </a:rPr>
              <a:t>omega</a:t>
            </a:r>
            <a:r>
              <a:rPr lang="pl-PL" sz="1100" dirty="0">
                <a:solidFill>
                  <a:srgbClr val="BBBEBF"/>
                </a:solidFill>
                <a:latin typeface="Consolas" panose="020B0609020204030204" pitchFamily="49" charset="0"/>
              </a:rPr>
              <a:t>: </a:t>
            </a:r>
            <a:r>
              <a:rPr lang="pl-PL" sz="1100" dirty="0" err="1">
                <a:solidFill>
                  <a:srgbClr val="4EC9B0"/>
                </a:solidFill>
                <a:latin typeface="Consolas" panose="020B0609020204030204" pitchFamily="49" charset="0"/>
              </a:rPr>
              <a:t>float</a:t>
            </a:r>
            <a:r>
              <a:rPr lang="pl-PL" sz="1100" dirty="0">
                <a:solidFill>
                  <a:srgbClr val="BBBEBF"/>
                </a:solidFill>
                <a:latin typeface="Consolas" panose="020B0609020204030204" pitchFamily="49" charset="0"/>
              </a:rPr>
              <a:t>, </a:t>
            </a:r>
            <a:r>
              <a:rPr lang="pl-PL" sz="1100" dirty="0" err="1">
                <a:solidFill>
                  <a:srgbClr val="FFA657"/>
                </a:solidFill>
                <a:latin typeface="Consolas" panose="020B0609020204030204" pitchFamily="49" charset="0"/>
              </a:rPr>
              <a:t>dt</a:t>
            </a:r>
            <a:r>
              <a:rPr lang="pl-PL" sz="1100" dirty="0">
                <a:solidFill>
                  <a:srgbClr val="BBBEBF"/>
                </a:solidFill>
                <a:latin typeface="Consolas" panose="020B0609020204030204" pitchFamily="49" charset="0"/>
              </a:rPr>
              <a:t>: </a:t>
            </a:r>
            <a:r>
              <a:rPr lang="pl-PL" sz="1100" dirty="0" err="1">
                <a:solidFill>
                  <a:srgbClr val="4EC9B0"/>
                </a:solidFill>
                <a:latin typeface="Consolas" panose="020B0609020204030204" pitchFamily="49" charset="0"/>
              </a:rPr>
              <a:t>float</a:t>
            </a:r>
            <a:r>
              <a:rPr lang="pl-PL" sz="1100" dirty="0">
                <a:solidFill>
                  <a:srgbClr val="BBBEBF"/>
                </a:solidFill>
                <a:latin typeface="Consolas" panose="020B0609020204030204" pitchFamily="49" charset="0"/>
              </a:rPr>
              <a:t>):</a:t>
            </a:r>
          </a:p>
          <a:p>
            <a:pPr>
              <a:lnSpc>
                <a:spcPts val="1200"/>
              </a:lnSpc>
            </a:pPr>
            <a:r>
              <a:rPr lang="pl-PL" sz="1100" dirty="0">
                <a:solidFill>
                  <a:srgbClr val="BBBEBF"/>
                </a:solidFill>
                <a:latin typeface="Consolas" panose="020B0609020204030204" pitchFamily="49" charset="0"/>
              </a:rPr>
              <a:t>        </a:t>
            </a:r>
            <a:r>
              <a:rPr lang="pl-PL" sz="1100" dirty="0" err="1">
                <a:solidFill>
                  <a:srgbClr val="C9D1D9"/>
                </a:solidFill>
                <a:latin typeface="Consolas" panose="020B0609020204030204" pitchFamily="49" charset="0"/>
              </a:rPr>
              <a:t>yaw</a:t>
            </a:r>
            <a:r>
              <a:rPr lang="pl-PL" sz="1100" dirty="0">
                <a:solidFill>
                  <a:srgbClr val="BBBEBF"/>
                </a:solidFill>
                <a:latin typeface="Consolas" panose="020B0609020204030204" pitchFamily="49" charset="0"/>
              </a:rPr>
              <a:t> </a:t>
            </a:r>
            <a:r>
              <a:rPr lang="pl-PL" sz="1100" dirty="0">
                <a:solidFill>
                  <a:srgbClr val="D4D4D4"/>
                </a:solidFill>
                <a:latin typeface="Consolas" panose="020B0609020204030204" pitchFamily="49" charset="0"/>
              </a:rPr>
              <a:t>=</a:t>
            </a:r>
            <a:r>
              <a:rPr lang="pl-PL" sz="1100" dirty="0">
                <a:solidFill>
                  <a:srgbClr val="BBBEBF"/>
                </a:solidFill>
                <a:latin typeface="Consolas" panose="020B0609020204030204" pitchFamily="49" charset="0"/>
              </a:rPr>
              <a:t> </a:t>
            </a:r>
            <a:r>
              <a:rPr lang="pl-PL" sz="1100" dirty="0" err="1">
                <a:solidFill>
                  <a:srgbClr val="C9D1D9"/>
                </a:solidFill>
                <a:latin typeface="Consolas" panose="020B0609020204030204" pitchFamily="49" charset="0"/>
              </a:rPr>
              <a:t>self</a:t>
            </a:r>
            <a:r>
              <a:rPr lang="pl-PL" sz="1100" dirty="0" err="1">
                <a:solidFill>
                  <a:srgbClr val="BBBEBF"/>
                </a:solidFill>
                <a:latin typeface="Consolas" panose="020B0609020204030204" pitchFamily="49" charset="0"/>
              </a:rPr>
              <a:t>.</a:t>
            </a:r>
            <a:r>
              <a:rPr lang="pl-PL" sz="1100" dirty="0" err="1">
                <a:solidFill>
                  <a:srgbClr val="C9D1D9"/>
                </a:solidFill>
                <a:latin typeface="Consolas" panose="020B0609020204030204" pitchFamily="49" charset="0"/>
              </a:rPr>
              <a:t>x</a:t>
            </a:r>
            <a:r>
              <a:rPr lang="pl-PL" sz="1100" dirty="0">
                <a:solidFill>
                  <a:srgbClr val="BBBEBF"/>
                </a:solidFill>
                <a:latin typeface="Consolas" panose="020B0609020204030204" pitchFamily="49" charset="0"/>
              </a:rPr>
              <a:t>[</a:t>
            </a:r>
            <a:r>
              <a:rPr lang="pl-PL" sz="1100" dirty="0">
                <a:solidFill>
                  <a:srgbClr val="B5CEA8"/>
                </a:solidFill>
                <a:latin typeface="Consolas" panose="020B0609020204030204" pitchFamily="49" charset="0"/>
              </a:rPr>
              <a:t>2</a:t>
            </a:r>
            <a:r>
              <a:rPr lang="pl-PL" sz="1100" dirty="0">
                <a:solidFill>
                  <a:srgbClr val="BBBEBF"/>
                </a:solidFill>
                <a:latin typeface="Consolas" panose="020B0609020204030204" pitchFamily="49" charset="0"/>
              </a:rPr>
              <a:t>]</a:t>
            </a:r>
          </a:p>
          <a:p>
            <a:pPr>
              <a:lnSpc>
                <a:spcPts val="1200"/>
              </a:lnSpc>
            </a:pPr>
            <a:r>
              <a:rPr lang="pl-PL" sz="1100" dirty="0">
                <a:solidFill>
                  <a:srgbClr val="BBBEBF"/>
                </a:solidFill>
                <a:latin typeface="Consolas" panose="020B0609020204030204" pitchFamily="49" charset="0"/>
              </a:rPr>
              <a:t>        </a:t>
            </a:r>
            <a:r>
              <a:rPr lang="pl-PL" sz="1100" dirty="0" err="1">
                <a:solidFill>
                  <a:srgbClr val="C9D1D9"/>
                </a:solidFill>
                <a:latin typeface="Consolas" panose="020B0609020204030204" pitchFamily="49" charset="0"/>
              </a:rPr>
              <a:t>self</a:t>
            </a:r>
            <a:r>
              <a:rPr lang="pl-PL" sz="1100" dirty="0" err="1">
                <a:solidFill>
                  <a:srgbClr val="BBBEBF"/>
                </a:solidFill>
                <a:latin typeface="Consolas" panose="020B0609020204030204" pitchFamily="49" charset="0"/>
              </a:rPr>
              <a:t>.</a:t>
            </a:r>
            <a:r>
              <a:rPr lang="pl-PL" sz="1100" dirty="0" err="1">
                <a:solidFill>
                  <a:srgbClr val="C9D1D9"/>
                </a:solidFill>
                <a:latin typeface="Consolas" panose="020B0609020204030204" pitchFamily="49" charset="0"/>
              </a:rPr>
              <a:t>x</a:t>
            </a:r>
            <a:r>
              <a:rPr lang="pl-PL" sz="1100" dirty="0">
                <a:solidFill>
                  <a:srgbClr val="BBBEBF"/>
                </a:solidFill>
                <a:latin typeface="Consolas" panose="020B0609020204030204" pitchFamily="49" charset="0"/>
              </a:rPr>
              <a:t> </a:t>
            </a:r>
            <a:r>
              <a:rPr lang="pl-PL" sz="1100" dirty="0">
                <a:solidFill>
                  <a:srgbClr val="DCDCAA"/>
                </a:solidFill>
                <a:latin typeface="Consolas" panose="020B0609020204030204" pitchFamily="49" charset="0"/>
              </a:rPr>
              <a:t>+=</a:t>
            </a:r>
            <a:r>
              <a:rPr lang="pl-PL" sz="1100" dirty="0">
                <a:solidFill>
                  <a:srgbClr val="BBBEBF"/>
                </a:solidFill>
                <a:latin typeface="Consolas" panose="020B0609020204030204" pitchFamily="49" charset="0"/>
              </a:rPr>
              <a:t> </a:t>
            </a:r>
            <a:r>
              <a:rPr lang="pl-PL" sz="1100" dirty="0" err="1">
                <a:solidFill>
                  <a:srgbClr val="4EC9B0"/>
                </a:solidFill>
                <a:latin typeface="Consolas" panose="020B0609020204030204" pitchFamily="49" charset="0"/>
              </a:rPr>
              <a:t>np</a:t>
            </a:r>
            <a:r>
              <a:rPr lang="pl-PL" sz="1100" dirty="0" err="1">
                <a:solidFill>
                  <a:srgbClr val="BBBEBF"/>
                </a:solidFill>
                <a:latin typeface="Consolas" panose="020B0609020204030204" pitchFamily="49" charset="0"/>
              </a:rPr>
              <a:t>.</a:t>
            </a:r>
            <a:r>
              <a:rPr lang="pl-PL" sz="1100" dirty="0" err="1">
                <a:solidFill>
                  <a:srgbClr val="D2A8FF"/>
                </a:solidFill>
                <a:latin typeface="Consolas" panose="020B0609020204030204" pitchFamily="49" charset="0"/>
              </a:rPr>
              <a:t>array</a:t>
            </a:r>
            <a:r>
              <a:rPr lang="pl-PL" sz="1100" dirty="0">
                <a:solidFill>
                  <a:srgbClr val="BBBEBF"/>
                </a:solidFill>
                <a:latin typeface="Consolas" panose="020B0609020204030204" pitchFamily="49" charset="0"/>
              </a:rPr>
              <a:t>([</a:t>
            </a:r>
            <a:r>
              <a:rPr lang="pl-PL" sz="1100" dirty="0">
                <a:solidFill>
                  <a:srgbClr val="FFA657"/>
                </a:solidFill>
                <a:latin typeface="Consolas" panose="020B0609020204030204" pitchFamily="49" charset="0"/>
              </a:rPr>
              <a:t>v</a:t>
            </a:r>
            <a:r>
              <a:rPr lang="pl-PL" sz="1100" dirty="0">
                <a:solidFill>
                  <a:srgbClr val="D4D4D4"/>
                </a:solidFill>
                <a:latin typeface="Consolas" panose="020B0609020204030204" pitchFamily="49" charset="0"/>
              </a:rPr>
              <a:t>*</a:t>
            </a:r>
            <a:r>
              <a:rPr lang="pl-PL" sz="1100" dirty="0" err="1">
                <a:solidFill>
                  <a:srgbClr val="4EC9B0"/>
                </a:solidFill>
                <a:latin typeface="Consolas" panose="020B0609020204030204" pitchFamily="49" charset="0"/>
              </a:rPr>
              <a:t>np</a:t>
            </a:r>
            <a:r>
              <a:rPr lang="pl-PL" sz="1100" dirty="0" err="1">
                <a:solidFill>
                  <a:srgbClr val="BBBEBF"/>
                </a:solidFill>
                <a:latin typeface="Consolas" panose="020B0609020204030204" pitchFamily="49" charset="0"/>
              </a:rPr>
              <a:t>.</a:t>
            </a:r>
            <a:r>
              <a:rPr lang="pl-PL" sz="1100" dirty="0" err="1">
                <a:solidFill>
                  <a:srgbClr val="C9D1D9"/>
                </a:solidFill>
                <a:latin typeface="Consolas" panose="020B0609020204030204" pitchFamily="49" charset="0"/>
              </a:rPr>
              <a:t>cos</a:t>
            </a:r>
            <a:r>
              <a:rPr lang="pl-PL" sz="1100" dirty="0">
                <a:solidFill>
                  <a:srgbClr val="BBBEBF"/>
                </a:solidFill>
                <a:latin typeface="Consolas" panose="020B0609020204030204" pitchFamily="49" charset="0"/>
              </a:rPr>
              <a:t>(</a:t>
            </a:r>
            <a:r>
              <a:rPr lang="pl-PL" sz="1100" dirty="0" err="1">
                <a:solidFill>
                  <a:srgbClr val="C9D1D9"/>
                </a:solidFill>
                <a:latin typeface="Consolas" panose="020B0609020204030204" pitchFamily="49" charset="0"/>
              </a:rPr>
              <a:t>yaw</a:t>
            </a:r>
            <a:r>
              <a:rPr lang="pl-PL" sz="1100" dirty="0">
                <a:solidFill>
                  <a:srgbClr val="BBBEBF"/>
                </a:solidFill>
                <a:latin typeface="Consolas" panose="020B0609020204030204" pitchFamily="49" charset="0"/>
              </a:rPr>
              <a:t>)</a:t>
            </a:r>
            <a:r>
              <a:rPr lang="pl-PL" sz="1100" dirty="0">
                <a:solidFill>
                  <a:srgbClr val="D4D4D4"/>
                </a:solidFill>
                <a:latin typeface="Consolas" panose="020B0609020204030204" pitchFamily="49" charset="0"/>
              </a:rPr>
              <a:t>*</a:t>
            </a:r>
            <a:r>
              <a:rPr lang="pl-PL" sz="1100" dirty="0" err="1">
                <a:solidFill>
                  <a:srgbClr val="FFA657"/>
                </a:solidFill>
                <a:latin typeface="Consolas" panose="020B0609020204030204" pitchFamily="49" charset="0"/>
              </a:rPr>
              <a:t>dt</a:t>
            </a:r>
            <a:r>
              <a:rPr lang="pl-PL" sz="1100" dirty="0">
                <a:solidFill>
                  <a:srgbClr val="BBBEBF"/>
                </a:solidFill>
                <a:latin typeface="Consolas" panose="020B0609020204030204" pitchFamily="49" charset="0"/>
              </a:rPr>
              <a:t>, </a:t>
            </a:r>
            <a:r>
              <a:rPr lang="pl-PL" sz="1100" dirty="0">
                <a:solidFill>
                  <a:srgbClr val="FFA657"/>
                </a:solidFill>
                <a:latin typeface="Consolas" panose="020B0609020204030204" pitchFamily="49" charset="0"/>
              </a:rPr>
              <a:t>v</a:t>
            </a:r>
            <a:r>
              <a:rPr lang="pl-PL" sz="1100" dirty="0">
                <a:solidFill>
                  <a:srgbClr val="D4D4D4"/>
                </a:solidFill>
                <a:latin typeface="Consolas" panose="020B0609020204030204" pitchFamily="49" charset="0"/>
              </a:rPr>
              <a:t>*</a:t>
            </a:r>
            <a:r>
              <a:rPr lang="pl-PL" sz="1100" dirty="0" err="1">
                <a:solidFill>
                  <a:srgbClr val="4EC9B0"/>
                </a:solidFill>
                <a:latin typeface="Consolas" panose="020B0609020204030204" pitchFamily="49" charset="0"/>
              </a:rPr>
              <a:t>np</a:t>
            </a:r>
            <a:r>
              <a:rPr lang="pl-PL" sz="1100" dirty="0" err="1">
                <a:solidFill>
                  <a:srgbClr val="BBBEBF"/>
                </a:solidFill>
                <a:latin typeface="Consolas" panose="020B0609020204030204" pitchFamily="49" charset="0"/>
              </a:rPr>
              <a:t>.</a:t>
            </a:r>
            <a:r>
              <a:rPr lang="pl-PL" sz="1100" dirty="0" err="1">
                <a:solidFill>
                  <a:srgbClr val="C9D1D9"/>
                </a:solidFill>
                <a:latin typeface="Consolas" panose="020B0609020204030204" pitchFamily="49" charset="0"/>
              </a:rPr>
              <a:t>sin</a:t>
            </a:r>
            <a:r>
              <a:rPr lang="pl-PL" sz="1100" dirty="0">
                <a:solidFill>
                  <a:srgbClr val="BBBEBF"/>
                </a:solidFill>
                <a:latin typeface="Consolas" panose="020B0609020204030204" pitchFamily="49" charset="0"/>
              </a:rPr>
              <a:t>(</a:t>
            </a:r>
            <a:r>
              <a:rPr lang="pl-PL" sz="1100" dirty="0" err="1">
                <a:solidFill>
                  <a:srgbClr val="C9D1D9"/>
                </a:solidFill>
                <a:latin typeface="Consolas" panose="020B0609020204030204" pitchFamily="49" charset="0"/>
              </a:rPr>
              <a:t>yaw</a:t>
            </a:r>
            <a:r>
              <a:rPr lang="pl-PL" sz="1100" dirty="0">
                <a:solidFill>
                  <a:srgbClr val="BBBEBF"/>
                </a:solidFill>
                <a:latin typeface="Consolas" panose="020B0609020204030204" pitchFamily="49" charset="0"/>
              </a:rPr>
              <a:t>)</a:t>
            </a:r>
            <a:r>
              <a:rPr lang="pl-PL" sz="1100" dirty="0">
                <a:solidFill>
                  <a:srgbClr val="D4D4D4"/>
                </a:solidFill>
                <a:latin typeface="Consolas" panose="020B0609020204030204" pitchFamily="49" charset="0"/>
              </a:rPr>
              <a:t>*</a:t>
            </a:r>
            <a:r>
              <a:rPr lang="pl-PL" sz="1100" dirty="0" err="1">
                <a:solidFill>
                  <a:srgbClr val="FFA657"/>
                </a:solidFill>
                <a:latin typeface="Consolas" panose="020B0609020204030204" pitchFamily="49" charset="0"/>
              </a:rPr>
              <a:t>dt</a:t>
            </a:r>
            <a:r>
              <a:rPr lang="pl-PL" sz="1100" dirty="0">
                <a:solidFill>
                  <a:srgbClr val="BBBEBF"/>
                </a:solidFill>
                <a:latin typeface="Consolas" panose="020B0609020204030204" pitchFamily="49" charset="0"/>
              </a:rPr>
              <a:t>, </a:t>
            </a:r>
            <a:r>
              <a:rPr lang="pl-PL" sz="1100" dirty="0">
                <a:solidFill>
                  <a:srgbClr val="FFA657"/>
                </a:solidFill>
                <a:latin typeface="Consolas" panose="020B0609020204030204" pitchFamily="49" charset="0"/>
              </a:rPr>
              <a:t>omega</a:t>
            </a:r>
            <a:r>
              <a:rPr lang="pl-PL" sz="1100" dirty="0">
                <a:solidFill>
                  <a:srgbClr val="D4D4D4"/>
                </a:solidFill>
                <a:latin typeface="Consolas" panose="020B0609020204030204" pitchFamily="49" charset="0"/>
              </a:rPr>
              <a:t>*</a:t>
            </a:r>
            <a:r>
              <a:rPr lang="pl-PL" sz="1100" dirty="0" err="1">
                <a:solidFill>
                  <a:srgbClr val="FFA657"/>
                </a:solidFill>
                <a:latin typeface="Consolas" panose="020B0609020204030204" pitchFamily="49" charset="0"/>
              </a:rPr>
              <a:t>dt</a:t>
            </a:r>
            <a:r>
              <a:rPr lang="pl-PL" sz="1100" dirty="0">
                <a:solidFill>
                  <a:srgbClr val="BBBEBF"/>
                </a:solidFill>
                <a:latin typeface="Consolas" panose="020B0609020204030204" pitchFamily="49" charset="0"/>
              </a:rPr>
              <a:t>])</a:t>
            </a:r>
          </a:p>
          <a:p>
            <a:pPr>
              <a:lnSpc>
                <a:spcPts val="1200"/>
              </a:lnSpc>
            </a:pPr>
            <a:r>
              <a:rPr lang="pl-PL" sz="1100" dirty="0">
                <a:solidFill>
                  <a:srgbClr val="BBBEBF"/>
                </a:solidFill>
                <a:latin typeface="Consolas" panose="020B0609020204030204" pitchFamily="49" charset="0"/>
              </a:rPr>
              <a:t>        </a:t>
            </a:r>
            <a:r>
              <a:rPr lang="pl-PL" sz="1100" dirty="0">
                <a:solidFill>
                  <a:srgbClr val="79C0FF"/>
                </a:solidFill>
                <a:latin typeface="Consolas" panose="020B0609020204030204" pitchFamily="49" charset="0"/>
              </a:rPr>
              <a:t>F</a:t>
            </a:r>
            <a:r>
              <a:rPr lang="pl-PL" sz="1100" dirty="0">
                <a:solidFill>
                  <a:srgbClr val="BBBEBF"/>
                </a:solidFill>
                <a:latin typeface="Consolas" panose="020B0609020204030204" pitchFamily="49" charset="0"/>
              </a:rPr>
              <a:t> </a:t>
            </a:r>
            <a:r>
              <a:rPr lang="pl-PL" sz="1100" dirty="0">
                <a:solidFill>
                  <a:srgbClr val="D4D4D4"/>
                </a:solidFill>
                <a:latin typeface="Consolas" panose="020B0609020204030204" pitchFamily="49" charset="0"/>
              </a:rPr>
              <a:t>=</a:t>
            </a:r>
            <a:r>
              <a:rPr lang="pl-PL" sz="1100" dirty="0">
                <a:solidFill>
                  <a:srgbClr val="BBBEBF"/>
                </a:solidFill>
                <a:latin typeface="Consolas" panose="020B0609020204030204" pitchFamily="49" charset="0"/>
              </a:rPr>
              <a:t> </a:t>
            </a:r>
            <a:r>
              <a:rPr lang="pl-PL" sz="1100" dirty="0" err="1">
                <a:solidFill>
                  <a:srgbClr val="4EC9B0"/>
                </a:solidFill>
                <a:latin typeface="Consolas" panose="020B0609020204030204" pitchFamily="49" charset="0"/>
              </a:rPr>
              <a:t>np</a:t>
            </a:r>
            <a:r>
              <a:rPr lang="pl-PL" sz="1100" dirty="0" err="1">
                <a:solidFill>
                  <a:srgbClr val="BBBEBF"/>
                </a:solidFill>
                <a:latin typeface="Consolas" panose="020B0609020204030204" pitchFamily="49" charset="0"/>
              </a:rPr>
              <a:t>.</a:t>
            </a:r>
            <a:r>
              <a:rPr lang="pl-PL" sz="1100" dirty="0" err="1">
                <a:solidFill>
                  <a:srgbClr val="D2A8FF"/>
                </a:solidFill>
                <a:latin typeface="Consolas" panose="020B0609020204030204" pitchFamily="49" charset="0"/>
              </a:rPr>
              <a:t>eye</a:t>
            </a:r>
            <a:r>
              <a:rPr lang="pl-PL" sz="1100" dirty="0">
                <a:solidFill>
                  <a:srgbClr val="BBBEBF"/>
                </a:solidFill>
                <a:latin typeface="Consolas" panose="020B0609020204030204" pitchFamily="49" charset="0"/>
              </a:rPr>
              <a:t>(</a:t>
            </a:r>
            <a:r>
              <a:rPr lang="pl-PL" sz="1100" dirty="0">
                <a:solidFill>
                  <a:srgbClr val="B5CEA8"/>
                </a:solidFill>
                <a:latin typeface="Consolas" panose="020B0609020204030204" pitchFamily="49" charset="0"/>
              </a:rPr>
              <a:t>3</a:t>
            </a:r>
            <a:r>
              <a:rPr lang="pl-PL" sz="1100" dirty="0">
                <a:solidFill>
                  <a:srgbClr val="BBBEBF"/>
                </a:solidFill>
                <a:latin typeface="Consolas" panose="020B0609020204030204" pitchFamily="49" charset="0"/>
              </a:rPr>
              <a:t>); </a:t>
            </a:r>
            <a:r>
              <a:rPr lang="pl-PL" sz="1100" dirty="0">
                <a:solidFill>
                  <a:srgbClr val="79C0FF"/>
                </a:solidFill>
                <a:latin typeface="Consolas" panose="020B0609020204030204" pitchFamily="49" charset="0"/>
              </a:rPr>
              <a:t>F</a:t>
            </a:r>
            <a:r>
              <a:rPr lang="pl-PL" sz="1100" dirty="0">
                <a:solidFill>
                  <a:srgbClr val="BBBEBF"/>
                </a:solidFill>
                <a:latin typeface="Consolas" panose="020B0609020204030204" pitchFamily="49" charset="0"/>
              </a:rPr>
              <a:t>[</a:t>
            </a:r>
            <a:r>
              <a:rPr lang="pl-PL" sz="1100" dirty="0">
                <a:solidFill>
                  <a:srgbClr val="B5CEA8"/>
                </a:solidFill>
                <a:latin typeface="Consolas" panose="020B0609020204030204" pitchFamily="49" charset="0"/>
              </a:rPr>
              <a:t>0</a:t>
            </a:r>
            <a:r>
              <a:rPr lang="pl-PL" sz="1100" dirty="0">
                <a:solidFill>
                  <a:srgbClr val="BBBEBF"/>
                </a:solidFill>
                <a:latin typeface="Consolas" panose="020B0609020204030204" pitchFamily="49" charset="0"/>
              </a:rPr>
              <a:t>,</a:t>
            </a:r>
            <a:r>
              <a:rPr lang="pl-PL" sz="1100" dirty="0">
                <a:solidFill>
                  <a:srgbClr val="B5CEA8"/>
                </a:solidFill>
                <a:latin typeface="Consolas" panose="020B0609020204030204" pitchFamily="49" charset="0"/>
              </a:rPr>
              <a:t>2</a:t>
            </a:r>
            <a:r>
              <a:rPr lang="pl-PL" sz="1100" dirty="0">
                <a:solidFill>
                  <a:srgbClr val="BBBEBF"/>
                </a:solidFill>
                <a:latin typeface="Consolas" panose="020B0609020204030204" pitchFamily="49" charset="0"/>
              </a:rPr>
              <a:t>]</a:t>
            </a:r>
            <a:r>
              <a:rPr lang="pl-PL" sz="1100" dirty="0">
                <a:solidFill>
                  <a:srgbClr val="D4D4D4"/>
                </a:solidFill>
                <a:latin typeface="Consolas" panose="020B0609020204030204" pitchFamily="49" charset="0"/>
              </a:rPr>
              <a:t>=-</a:t>
            </a:r>
            <a:r>
              <a:rPr lang="pl-PL" sz="1100" dirty="0">
                <a:solidFill>
                  <a:srgbClr val="FFA657"/>
                </a:solidFill>
                <a:latin typeface="Consolas" panose="020B0609020204030204" pitchFamily="49" charset="0"/>
              </a:rPr>
              <a:t>v</a:t>
            </a:r>
            <a:r>
              <a:rPr lang="pl-PL" sz="1100" dirty="0">
                <a:solidFill>
                  <a:srgbClr val="D4D4D4"/>
                </a:solidFill>
                <a:latin typeface="Consolas" panose="020B0609020204030204" pitchFamily="49" charset="0"/>
              </a:rPr>
              <a:t>*</a:t>
            </a:r>
            <a:r>
              <a:rPr lang="pl-PL" sz="1100" dirty="0" err="1">
                <a:solidFill>
                  <a:srgbClr val="4EC9B0"/>
                </a:solidFill>
                <a:latin typeface="Consolas" panose="020B0609020204030204" pitchFamily="49" charset="0"/>
              </a:rPr>
              <a:t>np</a:t>
            </a:r>
            <a:r>
              <a:rPr lang="pl-PL" sz="1100" dirty="0" err="1">
                <a:solidFill>
                  <a:srgbClr val="BBBEBF"/>
                </a:solidFill>
                <a:latin typeface="Consolas" panose="020B0609020204030204" pitchFamily="49" charset="0"/>
              </a:rPr>
              <a:t>.</a:t>
            </a:r>
            <a:r>
              <a:rPr lang="pl-PL" sz="1100" dirty="0" err="1">
                <a:solidFill>
                  <a:srgbClr val="C9D1D9"/>
                </a:solidFill>
                <a:latin typeface="Consolas" panose="020B0609020204030204" pitchFamily="49" charset="0"/>
              </a:rPr>
              <a:t>sin</a:t>
            </a:r>
            <a:r>
              <a:rPr lang="pl-PL" sz="1100" dirty="0">
                <a:solidFill>
                  <a:srgbClr val="BBBEBF"/>
                </a:solidFill>
                <a:latin typeface="Consolas" panose="020B0609020204030204" pitchFamily="49" charset="0"/>
              </a:rPr>
              <a:t>(</a:t>
            </a:r>
            <a:r>
              <a:rPr lang="pl-PL" sz="1100" dirty="0" err="1">
                <a:solidFill>
                  <a:srgbClr val="C9D1D9"/>
                </a:solidFill>
                <a:latin typeface="Consolas" panose="020B0609020204030204" pitchFamily="49" charset="0"/>
              </a:rPr>
              <a:t>yaw</a:t>
            </a:r>
            <a:r>
              <a:rPr lang="pl-PL" sz="1100" dirty="0">
                <a:solidFill>
                  <a:srgbClr val="BBBEBF"/>
                </a:solidFill>
                <a:latin typeface="Consolas" panose="020B0609020204030204" pitchFamily="49" charset="0"/>
              </a:rPr>
              <a:t>)</a:t>
            </a:r>
            <a:r>
              <a:rPr lang="pl-PL" sz="1100" dirty="0">
                <a:solidFill>
                  <a:srgbClr val="D4D4D4"/>
                </a:solidFill>
                <a:latin typeface="Consolas" panose="020B0609020204030204" pitchFamily="49" charset="0"/>
              </a:rPr>
              <a:t>*</a:t>
            </a:r>
            <a:r>
              <a:rPr lang="pl-PL" sz="1100" dirty="0" err="1">
                <a:solidFill>
                  <a:srgbClr val="FFA657"/>
                </a:solidFill>
                <a:latin typeface="Consolas" panose="020B0609020204030204" pitchFamily="49" charset="0"/>
              </a:rPr>
              <a:t>dt</a:t>
            </a:r>
            <a:r>
              <a:rPr lang="pl-PL" sz="1100" dirty="0">
                <a:solidFill>
                  <a:srgbClr val="BBBEBF"/>
                </a:solidFill>
                <a:latin typeface="Consolas" panose="020B0609020204030204" pitchFamily="49" charset="0"/>
              </a:rPr>
              <a:t>; </a:t>
            </a:r>
            <a:r>
              <a:rPr lang="pl-PL" sz="1100" dirty="0">
                <a:solidFill>
                  <a:srgbClr val="79C0FF"/>
                </a:solidFill>
                <a:latin typeface="Consolas" panose="020B0609020204030204" pitchFamily="49" charset="0"/>
              </a:rPr>
              <a:t>F</a:t>
            </a:r>
            <a:r>
              <a:rPr lang="pl-PL" sz="1100" dirty="0">
                <a:solidFill>
                  <a:srgbClr val="BBBEBF"/>
                </a:solidFill>
                <a:latin typeface="Consolas" panose="020B0609020204030204" pitchFamily="49" charset="0"/>
              </a:rPr>
              <a:t>[</a:t>
            </a:r>
            <a:r>
              <a:rPr lang="pl-PL" sz="1100" dirty="0">
                <a:solidFill>
                  <a:srgbClr val="B5CEA8"/>
                </a:solidFill>
                <a:latin typeface="Consolas" panose="020B0609020204030204" pitchFamily="49" charset="0"/>
              </a:rPr>
              <a:t>1</a:t>
            </a:r>
            <a:r>
              <a:rPr lang="pl-PL" sz="1100" dirty="0">
                <a:solidFill>
                  <a:srgbClr val="BBBEBF"/>
                </a:solidFill>
                <a:latin typeface="Consolas" panose="020B0609020204030204" pitchFamily="49" charset="0"/>
              </a:rPr>
              <a:t>,</a:t>
            </a:r>
            <a:r>
              <a:rPr lang="pl-PL" sz="1100" dirty="0">
                <a:solidFill>
                  <a:srgbClr val="B5CEA8"/>
                </a:solidFill>
                <a:latin typeface="Consolas" panose="020B0609020204030204" pitchFamily="49" charset="0"/>
              </a:rPr>
              <a:t>2</a:t>
            </a:r>
            <a:r>
              <a:rPr lang="pl-PL" sz="1100" dirty="0">
                <a:solidFill>
                  <a:srgbClr val="BBBEBF"/>
                </a:solidFill>
                <a:latin typeface="Consolas" panose="020B0609020204030204" pitchFamily="49" charset="0"/>
              </a:rPr>
              <a:t>]</a:t>
            </a:r>
            <a:r>
              <a:rPr lang="pl-PL" sz="1100" dirty="0">
                <a:solidFill>
                  <a:srgbClr val="D4D4D4"/>
                </a:solidFill>
                <a:latin typeface="Consolas" panose="020B0609020204030204" pitchFamily="49" charset="0"/>
              </a:rPr>
              <a:t>=</a:t>
            </a:r>
            <a:r>
              <a:rPr lang="pl-PL" sz="1100" dirty="0">
                <a:solidFill>
                  <a:srgbClr val="FFA657"/>
                </a:solidFill>
                <a:latin typeface="Consolas" panose="020B0609020204030204" pitchFamily="49" charset="0"/>
              </a:rPr>
              <a:t>v</a:t>
            </a:r>
            <a:r>
              <a:rPr lang="pl-PL" sz="1100" dirty="0">
                <a:solidFill>
                  <a:srgbClr val="D4D4D4"/>
                </a:solidFill>
                <a:latin typeface="Consolas" panose="020B0609020204030204" pitchFamily="49" charset="0"/>
              </a:rPr>
              <a:t>*</a:t>
            </a:r>
            <a:r>
              <a:rPr lang="pl-PL" sz="1100" dirty="0" err="1">
                <a:solidFill>
                  <a:srgbClr val="4EC9B0"/>
                </a:solidFill>
                <a:latin typeface="Consolas" panose="020B0609020204030204" pitchFamily="49" charset="0"/>
              </a:rPr>
              <a:t>np</a:t>
            </a:r>
            <a:r>
              <a:rPr lang="pl-PL" sz="1100" dirty="0" err="1">
                <a:solidFill>
                  <a:srgbClr val="BBBEBF"/>
                </a:solidFill>
                <a:latin typeface="Consolas" panose="020B0609020204030204" pitchFamily="49" charset="0"/>
              </a:rPr>
              <a:t>.</a:t>
            </a:r>
            <a:r>
              <a:rPr lang="pl-PL" sz="1100" dirty="0" err="1">
                <a:solidFill>
                  <a:srgbClr val="C9D1D9"/>
                </a:solidFill>
                <a:latin typeface="Consolas" panose="020B0609020204030204" pitchFamily="49" charset="0"/>
              </a:rPr>
              <a:t>cos</a:t>
            </a:r>
            <a:r>
              <a:rPr lang="pl-PL" sz="1100" dirty="0">
                <a:solidFill>
                  <a:srgbClr val="BBBEBF"/>
                </a:solidFill>
                <a:latin typeface="Consolas" panose="020B0609020204030204" pitchFamily="49" charset="0"/>
              </a:rPr>
              <a:t>(</a:t>
            </a:r>
            <a:r>
              <a:rPr lang="pl-PL" sz="1100" dirty="0" err="1">
                <a:solidFill>
                  <a:srgbClr val="C9D1D9"/>
                </a:solidFill>
                <a:latin typeface="Consolas" panose="020B0609020204030204" pitchFamily="49" charset="0"/>
              </a:rPr>
              <a:t>yaw</a:t>
            </a:r>
            <a:r>
              <a:rPr lang="pl-PL" sz="1100" dirty="0">
                <a:solidFill>
                  <a:srgbClr val="BBBEBF"/>
                </a:solidFill>
                <a:latin typeface="Consolas" panose="020B0609020204030204" pitchFamily="49" charset="0"/>
              </a:rPr>
              <a:t>)</a:t>
            </a:r>
            <a:r>
              <a:rPr lang="pl-PL" sz="1100" dirty="0">
                <a:solidFill>
                  <a:srgbClr val="D4D4D4"/>
                </a:solidFill>
                <a:latin typeface="Consolas" panose="020B0609020204030204" pitchFamily="49" charset="0"/>
              </a:rPr>
              <a:t>*</a:t>
            </a:r>
            <a:r>
              <a:rPr lang="pl-PL" sz="1100" dirty="0" err="1">
                <a:solidFill>
                  <a:srgbClr val="FFA657"/>
                </a:solidFill>
                <a:latin typeface="Consolas" panose="020B0609020204030204" pitchFamily="49" charset="0"/>
              </a:rPr>
              <a:t>dt</a:t>
            </a:r>
            <a:endParaRPr lang="pl-PL" sz="1100" dirty="0">
              <a:solidFill>
                <a:srgbClr val="BBBEBF"/>
              </a:solidFill>
              <a:latin typeface="Consolas" panose="020B0609020204030204" pitchFamily="49" charset="0"/>
            </a:endParaRPr>
          </a:p>
          <a:p>
            <a:pPr>
              <a:lnSpc>
                <a:spcPts val="1200"/>
              </a:lnSpc>
            </a:pPr>
            <a:r>
              <a:rPr lang="pl-PL" sz="1100" dirty="0">
                <a:solidFill>
                  <a:srgbClr val="BBBEBF"/>
                </a:solidFill>
                <a:latin typeface="Consolas" panose="020B0609020204030204" pitchFamily="49" charset="0"/>
              </a:rPr>
              <a:t>        </a:t>
            </a:r>
            <a:r>
              <a:rPr lang="pl-PL" sz="1100" dirty="0" err="1">
                <a:solidFill>
                  <a:srgbClr val="C9D1D9"/>
                </a:solidFill>
                <a:latin typeface="Consolas" panose="020B0609020204030204" pitchFamily="49" charset="0"/>
              </a:rPr>
              <a:t>self</a:t>
            </a:r>
            <a:r>
              <a:rPr lang="pl-PL" sz="1100" dirty="0" err="1">
                <a:solidFill>
                  <a:srgbClr val="BBBEBF"/>
                </a:solidFill>
                <a:latin typeface="Consolas" panose="020B0609020204030204" pitchFamily="49" charset="0"/>
              </a:rPr>
              <a:t>.</a:t>
            </a:r>
            <a:r>
              <a:rPr lang="pl-PL" sz="1100" dirty="0" err="1">
                <a:solidFill>
                  <a:srgbClr val="C9D1D9"/>
                </a:solidFill>
                <a:latin typeface="Consolas" panose="020B0609020204030204" pitchFamily="49" charset="0"/>
              </a:rPr>
              <a:t>P</a:t>
            </a:r>
            <a:r>
              <a:rPr lang="pl-PL" sz="1100" dirty="0">
                <a:solidFill>
                  <a:srgbClr val="BBBEBF"/>
                </a:solidFill>
                <a:latin typeface="Consolas" panose="020B0609020204030204" pitchFamily="49" charset="0"/>
              </a:rPr>
              <a:t> </a:t>
            </a:r>
            <a:r>
              <a:rPr lang="pl-PL" sz="1100" dirty="0">
                <a:solidFill>
                  <a:srgbClr val="D4D4D4"/>
                </a:solidFill>
                <a:latin typeface="Consolas" panose="020B0609020204030204" pitchFamily="49" charset="0"/>
              </a:rPr>
              <a:t>=</a:t>
            </a:r>
            <a:r>
              <a:rPr lang="pl-PL" sz="1100" dirty="0">
                <a:solidFill>
                  <a:srgbClr val="BBBEBF"/>
                </a:solidFill>
                <a:latin typeface="Consolas" panose="020B0609020204030204" pitchFamily="49" charset="0"/>
              </a:rPr>
              <a:t> </a:t>
            </a:r>
            <a:r>
              <a:rPr lang="pl-PL" sz="1100" dirty="0">
                <a:solidFill>
                  <a:srgbClr val="79C0FF"/>
                </a:solidFill>
                <a:latin typeface="Consolas" panose="020B0609020204030204" pitchFamily="49" charset="0"/>
              </a:rPr>
              <a:t>F</a:t>
            </a:r>
            <a:r>
              <a:rPr lang="pl-PL" sz="1100" dirty="0">
                <a:solidFill>
                  <a:srgbClr val="BBBEBF"/>
                </a:solidFill>
                <a:latin typeface="Consolas" panose="020B0609020204030204" pitchFamily="49" charset="0"/>
              </a:rPr>
              <a:t> </a:t>
            </a:r>
            <a:r>
              <a:rPr lang="pl-PL" sz="1100" dirty="0">
                <a:solidFill>
                  <a:srgbClr val="DCDCAA"/>
                </a:solidFill>
                <a:latin typeface="Consolas" panose="020B0609020204030204" pitchFamily="49" charset="0"/>
              </a:rPr>
              <a:t>@</a:t>
            </a:r>
            <a:r>
              <a:rPr lang="pl-PL" sz="1100" dirty="0">
                <a:solidFill>
                  <a:srgbClr val="BBBEBF"/>
                </a:solidFill>
                <a:latin typeface="Consolas" panose="020B0609020204030204" pitchFamily="49" charset="0"/>
              </a:rPr>
              <a:t> </a:t>
            </a:r>
            <a:r>
              <a:rPr lang="pl-PL" sz="1100" dirty="0" err="1">
                <a:solidFill>
                  <a:srgbClr val="C9D1D9"/>
                </a:solidFill>
                <a:latin typeface="Consolas" panose="020B0609020204030204" pitchFamily="49" charset="0"/>
              </a:rPr>
              <a:t>self</a:t>
            </a:r>
            <a:r>
              <a:rPr lang="pl-PL" sz="1100" dirty="0" err="1">
                <a:solidFill>
                  <a:srgbClr val="BBBEBF"/>
                </a:solidFill>
                <a:latin typeface="Consolas" panose="020B0609020204030204" pitchFamily="49" charset="0"/>
              </a:rPr>
              <a:t>.</a:t>
            </a:r>
            <a:r>
              <a:rPr lang="pl-PL" sz="1100" dirty="0" err="1">
                <a:solidFill>
                  <a:srgbClr val="C9D1D9"/>
                </a:solidFill>
                <a:latin typeface="Consolas" panose="020B0609020204030204" pitchFamily="49" charset="0"/>
              </a:rPr>
              <a:t>P</a:t>
            </a:r>
            <a:r>
              <a:rPr lang="pl-PL" sz="1100" dirty="0">
                <a:solidFill>
                  <a:srgbClr val="BBBEBF"/>
                </a:solidFill>
                <a:latin typeface="Consolas" panose="020B0609020204030204" pitchFamily="49" charset="0"/>
              </a:rPr>
              <a:t> </a:t>
            </a:r>
            <a:r>
              <a:rPr lang="pl-PL" sz="1100" dirty="0">
                <a:solidFill>
                  <a:srgbClr val="DCDCAA"/>
                </a:solidFill>
                <a:latin typeface="Consolas" panose="020B0609020204030204" pitchFamily="49" charset="0"/>
              </a:rPr>
              <a:t>@</a:t>
            </a:r>
            <a:r>
              <a:rPr lang="pl-PL" sz="1100" dirty="0">
                <a:solidFill>
                  <a:srgbClr val="BBBEBF"/>
                </a:solidFill>
                <a:latin typeface="Consolas" panose="020B0609020204030204" pitchFamily="49" charset="0"/>
              </a:rPr>
              <a:t> </a:t>
            </a:r>
            <a:r>
              <a:rPr lang="pl-PL" sz="1100" dirty="0">
                <a:solidFill>
                  <a:srgbClr val="79C0FF"/>
                </a:solidFill>
                <a:latin typeface="Consolas" panose="020B0609020204030204" pitchFamily="49" charset="0"/>
              </a:rPr>
              <a:t>F</a:t>
            </a:r>
            <a:r>
              <a:rPr lang="pl-PL" sz="1100" dirty="0">
                <a:solidFill>
                  <a:srgbClr val="BBBEBF"/>
                </a:solidFill>
                <a:latin typeface="Consolas" panose="020B0609020204030204" pitchFamily="49" charset="0"/>
              </a:rPr>
              <a:t>.</a:t>
            </a:r>
            <a:r>
              <a:rPr lang="pl-PL" sz="1100" dirty="0">
                <a:solidFill>
                  <a:srgbClr val="C9D1D9"/>
                </a:solidFill>
                <a:latin typeface="Consolas" panose="020B0609020204030204" pitchFamily="49" charset="0"/>
              </a:rPr>
              <a:t>T</a:t>
            </a:r>
            <a:r>
              <a:rPr lang="pl-PL" sz="1100" dirty="0">
                <a:solidFill>
                  <a:srgbClr val="BBBEBF"/>
                </a:solidFill>
                <a:latin typeface="Consolas" panose="020B0609020204030204" pitchFamily="49" charset="0"/>
              </a:rPr>
              <a:t> </a:t>
            </a:r>
            <a:r>
              <a:rPr lang="pl-PL" sz="1100" dirty="0">
                <a:solidFill>
                  <a:srgbClr val="DCDCAA"/>
                </a:solidFill>
                <a:latin typeface="Consolas" panose="020B0609020204030204" pitchFamily="49" charset="0"/>
              </a:rPr>
              <a:t>+</a:t>
            </a:r>
            <a:r>
              <a:rPr lang="pl-PL" sz="1100" dirty="0">
                <a:solidFill>
                  <a:srgbClr val="BBBEBF"/>
                </a:solidFill>
                <a:latin typeface="Consolas" panose="020B0609020204030204" pitchFamily="49" charset="0"/>
              </a:rPr>
              <a:t> </a:t>
            </a:r>
            <a:r>
              <a:rPr lang="pl-PL" sz="1100" dirty="0" err="1">
                <a:solidFill>
                  <a:srgbClr val="C9D1D9"/>
                </a:solidFill>
                <a:latin typeface="Consolas" panose="020B0609020204030204" pitchFamily="49" charset="0"/>
              </a:rPr>
              <a:t>self</a:t>
            </a:r>
            <a:r>
              <a:rPr lang="pl-PL" sz="1100" dirty="0" err="1">
                <a:solidFill>
                  <a:srgbClr val="BBBEBF"/>
                </a:solidFill>
                <a:latin typeface="Consolas" panose="020B0609020204030204" pitchFamily="49" charset="0"/>
              </a:rPr>
              <a:t>.</a:t>
            </a:r>
            <a:r>
              <a:rPr lang="pl-PL" sz="1100" dirty="0" err="1">
                <a:solidFill>
                  <a:srgbClr val="C9D1D9"/>
                </a:solidFill>
                <a:latin typeface="Consolas" panose="020B0609020204030204" pitchFamily="49" charset="0"/>
              </a:rPr>
              <a:t>Q</a:t>
            </a:r>
            <a:endParaRPr lang="pl-PL" sz="1100" dirty="0">
              <a:solidFill>
                <a:srgbClr val="BBBEBF"/>
              </a:solidFill>
              <a:latin typeface="Consolas" panose="020B0609020204030204" pitchFamily="49" charset="0"/>
            </a:endParaRPr>
          </a:p>
          <a:p>
            <a:pPr>
              <a:lnSpc>
                <a:spcPts val="1200"/>
              </a:lnSpc>
            </a:pPr>
            <a:r>
              <a:rPr lang="pl-PL" sz="1100" dirty="0">
                <a:solidFill>
                  <a:srgbClr val="BBBEBF"/>
                </a:solidFill>
                <a:latin typeface="Consolas" panose="020B0609020204030204" pitchFamily="49" charset="0"/>
              </a:rPr>
              <a:t/>
            </a:r>
            <a:br>
              <a:rPr lang="pl-PL" sz="1100" dirty="0">
                <a:solidFill>
                  <a:srgbClr val="BBBEBF"/>
                </a:solidFill>
                <a:latin typeface="Consolas" panose="020B0609020204030204" pitchFamily="49" charset="0"/>
              </a:rPr>
            </a:br>
            <a:r>
              <a:rPr lang="pl-PL" sz="1100" dirty="0">
                <a:solidFill>
                  <a:srgbClr val="BBBEBF"/>
                </a:solidFill>
                <a:latin typeface="Consolas" panose="020B0609020204030204" pitchFamily="49" charset="0"/>
              </a:rPr>
              <a:t>    </a:t>
            </a:r>
            <a:r>
              <a:rPr lang="pl-PL" sz="1100" dirty="0">
                <a:solidFill>
                  <a:srgbClr val="FF7B72"/>
                </a:solidFill>
                <a:latin typeface="Consolas" panose="020B0609020204030204" pitchFamily="49" charset="0"/>
              </a:rPr>
              <a:t>def</a:t>
            </a:r>
            <a:r>
              <a:rPr lang="pl-PL" sz="1100" dirty="0">
                <a:solidFill>
                  <a:srgbClr val="BBBEBF"/>
                </a:solidFill>
                <a:latin typeface="Consolas" panose="020B0609020204030204" pitchFamily="49" charset="0"/>
              </a:rPr>
              <a:t> </a:t>
            </a:r>
            <a:r>
              <a:rPr lang="pl-PL" sz="1100" dirty="0" err="1">
                <a:solidFill>
                  <a:srgbClr val="D2A8FF"/>
                </a:solidFill>
                <a:latin typeface="Consolas" panose="020B0609020204030204" pitchFamily="49" charset="0"/>
              </a:rPr>
              <a:t>correct</a:t>
            </a:r>
            <a:r>
              <a:rPr lang="pl-PL" sz="1100" dirty="0">
                <a:solidFill>
                  <a:srgbClr val="BBBEBF"/>
                </a:solidFill>
                <a:latin typeface="Consolas" panose="020B0609020204030204" pitchFamily="49" charset="0"/>
              </a:rPr>
              <a:t>(</a:t>
            </a:r>
            <a:r>
              <a:rPr lang="pl-PL" sz="1100" dirty="0" err="1">
                <a:solidFill>
                  <a:srgbClr val="C9D1D9"/>
                </a:solidFill>
                <a:latin typeface="Consolas" panose="020B0609020204030204" pitchFamily="49" charset="0"/>
              </a:rPr>
              <a:t>self</a:t>
            </a:r>
            <a:r>
              <a:rPr lang="pl-PL" sz="1100" dirty="0">
                <a:solidFill>
                  <a:srgbClr val="BBBEBF"/>
                </a:solidFill>
                <a:latin typeface="Consolas" panose="020B0609020204030204" pitchFamily="49" charset="0"/>
              </a:rPr>
              <a:t>, </a:t>
            </a:r>
            <a:r>
              <a:rPr lang="pl-PL" sz="1100" dirty="0" err="1">
                <a:solidFill>
                  <a:srgbClr val="FFA657"/>
                </a:solidFill>
                <a:latin typeface="Consolas" panose="020B0609020204030204" pitchFamily="49" charset="0"/>
              </a:rPr>
              <a:t>z_xy</a:t>
            </a:r>
            <a:r>
              <a:rPr lang="pl-PL" sz="1100" dirty="0">
                <a:solidFill>
                  <a:srgbClr val="BBBEBF"/>
                </a:solidFill>
                <a:latin typeface="Consolas" panose="020B0609020204030204" pitchFamily="49" charset="0"/>
              </a:rPr>
              <a:t>: </a:t>
            </a:r>
            <a:r>
              <a:rPr lang="pl-PL" sz="1100" dirty="0" err="1">
                <a:solidFill>
                  <a:srgbClr val="4EC9B0"/>
                </a:solidFill>
                <a:latin typeface="Consolas" panose="020B0609020204030204" pitchFamily="49" charset="0"/>
              </a:rPr>
              <a:t>np</a:t>
            </a:r>
            <a:r>
              <a:rPr lang="pl-PL" sz="1100" dirty="0" err="1">
                <a:solidFill>
                  <a:srgbClr val="BBBEBF"/>
                </a:solidFill>
                <a:latin typeface="Consolas" panose="020B0609020204030204" pitchFamily="49" charset="0"/>
              </a:rPr>
              <a:t>.</a:t>
            </a:r>
            <a:r>
              <a:rPr lang="pl-PL" sz="1100" dirty="0" err="1">
                <a:solidFill>
                  <a:srgbClr val="4EC9B0"/>
                </a:solidFill>
                <a:latin typeface="Consolas" panose="020B0609020204030204" pitchFamily="49" charset="0"/>
              </a:rPr>
              <a:t>ndarray</a:t>
            </a:r>
            <a:r>
              <a:rPr lang="pl-PL" sz="1100" dirty="0">
                <a:solidFill>
                  <a:srgbClr val="BBBEBF"/>
                </a:solidFill>
                <a:latin typeface="Consolas" panose="020B0609020204030204" pitchFamily="49" charset="0"/>
              </a:rPr>
              <a:t>):</a:t>
            </a:r>
          </a:p>
          <a:p>
            <a:pPr>
              <a:lnSpc>
                <a:spcPts val="1200"/>
              </a:lnSpc>
            </a:pPr>
            <a:r>
              <a:rPr lang="pl-PL" sz="1100" dirty="0">
                <a:solidFill>
                  <a:srgbClr val="BBBEBF"/>
                </a:solidFill>
                <a:latin typeface="Consolas" panose="020B0609020204030204" pitchFamily="49" charset="0"/>
              </a:rPr>
              <a:t>        </a:t>
            </a:r>
            <a:r>
              <a:rPr lang="pl-PL" sz="1100" dirty="0">
                <a:solidFill>
                  <a:srgbClr val="79C0FF"/>
                </a:solidFill>
                <a:latin typeface="Consolas" panose="020B0609020204030204" pitchFamily="49" charset="0"/>
              </a:rPr>
              <a:t>H</a:t>
            </a:r>
            <a:r>
              <a:rPr lang="pl-PL" sz="1100" dirty="0">
                <a:solidFill>
                  <a:srgbClr val="BBBEBF"/>
                </a:solidFill>
                <a:latin typeface="Consolas" panose="020B0609020204030204" pitchFamily="49" charset="0"/>
              </a:rPr>
              <a:t> </a:t>
            </a:r>
            <a:r>
              <a:rPr lang="pl-PL" sz="1100" dirty="0">
                <a:solidFill>
                  <a:srgbClr val="D4D4D4"/>
                </a:solidFill>
                <a:latin typeface="Consolas" panose="020B0609020204030204" pitchFamily="49" charset="0"/>
              </a:rPr>
              <a:t>=</a:t>
            </a:r>
            <a:r>
              <a:rPr lang="pl-PL" sz="1100" dirty="0">
                <a:solidFill>
                  <a:srgbClr val="BBBEBF"/>
                </a:solidFill>
                <a:latin typeface="Consolas" panose="020B0609020204030204" pitchFamily="49" charset="0"/>
              </a:rPr>
              <a:t> </a:t>
            </a:r>
            <a:r>
              <a:rPr lang="pl-PL" sz="1100" dirty="0" err="1">
                <a:solidFill>
                  <a:srgbClr val="4EC9B0"/>
                </a:solidFill>
                <a:latin typeface="Consolas" panose="020B0609020204030204" pitchFamily="49" charset="0"/>
              </a:rPr>
              <a:t>np</a:t>
            </a:r>
            <a:r>
              <a:rPr lang="pl-PL" sz="1100" dirty="0" err="1">
                <a:solidFill>
                  <a:srgbClr val="BBBEBF"/>
                </a:solidFill>
                <a:latin typeface="Consolas" panose="020B0609020204030204" pitchFamily="49" charset="0"/>
              </a:rPr>
              <a:t>.</a:t>
            </a:r>
            <a:r>
              <a:rPr lang="pl-PL" sz="1100" dirty="0" err="1">
                <a:solidFill>
                  <a:srgbClr val="D2A8FF"/>
                </a:solidFill>
                <a:latin typeface="Consolas" panose="020B0609020204030204" pitchFamily="49" charset="0"/>
              </a:rPr>
              <a:t>array</a:t>
            </a:r>
            <a:r>
              <a:rPr lang="pl-PL" sz="1100" dirty="0">
                <a:solidFill>
                  <a:srgbClr val="BBBEBF"/>
                </a:solidFill>
                <a:latin typeface="Consolas" panose="020B0609020204030204" pitchFamily="49" charset="0"/>
              </a:rPr>
              <a:t>([[</a:t>
            </a:r>
            <a:r>
              <a:rPr lang="pl-PL" sz="1100" dirty="0">
                <a:solidFill>
                  <a:srgbClr val="B5CEA8"/>
                </a:solidFill>
                <a:latin typeface="Consolas" panose="020B0609020204030204" pitchFamily="49" charset="0"/>
              </a:rPr>
              <a:t>1</a:t>
            </a:r>
            <a:r>
              <a:rPr lang="pl-PL" sz="1100" dirty="0">
                <a:solidFill>
                  <a:srgbClr val="BBBEBF"/>
                </a:solidFill>
                <a:latin typeface="Consolas" panose="020B0609020204030204" pitchFamily="49" charset="0"/>
              </a:rPr>
              <a:t>,</a:t>
            </a:r>
            <a:r>
              <a:rPr lang="pl-PL" sz="1100" dirty="0">
                <a:solidFill>
                  <a:srgbClr val="B5CEA8"/>
                </a:solidFill>
                <a:latin typeface="Consolas" panose="020B0609020204030204" pitchFamily="49" charset="0"/>
              </a:rPr>
              <a:t>0</a:t>
            </a:r>
            <a:r>
              <a:rPr lang="pl-PL" sz="1100" dirty="0">
                <a:solidFill>
                  <a:srgbClr val="BBBEBF"/>
                </a:solidFill>
                <a:latin typeface="Consolas" panose="020B0609020204030204" pitchFamily="49" charset="0"/>
              </a:rPr>
              <a:t>,</a:t>
            </a:r>
            <a:r>
              <a:rPr lang="pl-PL" sz="1100" dirty="0">
                <a:solidFill>
                  <a:srgbClr val="B5CEA8"/>
                </a:solidFill>
                <a:latin typeface="Consolas" panose="020B0609020204030204" pitchFamily="49" charset="0"/>
              </a:rPr>
              <a:t>0</a:t>
            </a:r>
            <a:r>
              <a:rPr lang="pl-PL" sz="1100" dirty="0">
                <a:solidFill>
                  <a:srgbClr val="BBBEBF"/>
                </a:solidFill>
                <a:latin typeface="Consolas" panose="020B0609020204030204" pitchFamily="49" charset="0"/>
              </a:rPr>
              <a:t>],[</a:t>
            </a:r>
            <a:r>
              <a:rPr lang="pl-PL" sz="1100" dirty="0">
                <a:solidFill>
                  <a:srgbClr val="B5CEA8"/>
                </a:solidFill>
                <a:latin typeface="Consolas" panose="020B0609020204030204" pitchFamily="49" charset="0"/>
              </a:rPr>
              <a:t>0</a:t>
            </a:r>
            <a:r>
              <a:rPr lang="pl-PL" sz="1100" dirty="0">
                <a:solidFill>
                  <a:srgbClr val="BBBEBF"/>
                </a:solidFill>
                <a:latin typeface="Consolas" panose="020B0609020204030204" pitchFamily="49" charset="0"/>
              </a:rPr>
              <a:t>,</a:t>
            </a:r>
            <a:r>
              <a:rPr lang="pl-PL" sz="1100" dirty="0">
                <a:solidFill>
                  <a:srgbClr val="B5CEA8"/>
                </a:solidFill>
                <a:latin typeface="Consolas" panose="020B0609020204030204" pitchFamily="49" charset="0"/>
              </a:rPr>
              <a:t>1</a:t>
            </a:r>
            <a:r>
              <a:rPr lang="pl-PL" sz="1100" dirty="0">
                <a:solidFill>
                  <a:srgbClr val="BBBEBF"/>
                </a:solidFill>
                <a:latin typeface="Consolas" panose="020B0609020204030204" pitchFamily="49" charset="0"/>
              </a:rPr>
              <a:t>,</a:t>
            </a:r>
            <a:r>
              <a:rPr lang="pl-PL" sz="1100" dirty="0">
                <a:solidFill>
                  <a:srgbClr val="B5CEA8"/>
                </a:solidFill>
                <a:latin typeface="Consolas" panose="020B0609020204030204" pitchFamily="49" charset="0"/>
              </a:rPr>
              <a:t>0</a:t>
            </a:r>
            <a:r>
              <a:rPr lang="pl-PL" sz="1100" dirty="0">
                <a:solidFill>
                  <a:srgbClr val="BBBEBF"/>
                </a:solidFill>
                <a:latin typeface="Consolas" panose="020B0609020204030204" pitchFamily="49" charset="0"/>
              </a:rPr>
              <a:t>]])</a:t>
            </a:r>
          </a:p>
          <a:p>
            <a:pPr>
              <a:lnSpc>
                <a:spcPts val="1200"/>
              </a:lnSpc>
            </a:pPr>
            <a:r>
              <a:rPr lang="pl-PL" sz="1100" dirty="0">
                <a:solidFill>
                  <a:srgbClr val="BBBEBF"/>
                </a:solidFill>
                <a:latin typeface="Consolas" panose="020B0609020204030204" pitchFamily="49" charset="0"/>
              </a:rPr>
              <a:t>        </a:t>
            </a:r>
            <a:r>
              <a:rPr lang="pl-PL" sz="1100" dirty="0">
                <a:solidFill>
                  <a:srgbClr val="79C0FF"/>
                </a:solidFill>
                <a:latin typeface="Consolas" panose="020B0609020204030204" pitchFamily="49" charset="0"/>
              </a:rPr>
              <a:t>S</a:t>
            </a:r>
            <a:r>
              <a:rPr lang="pl-PL" sz="1100" dirty="0">
                <a:solidFill>
                  <a:srgbClr val="BBBEBF"/>
                </a:solidFill>
                <a:latin typeface="Consolas" panose="020B0609020204030204" pitchFamily="49" charset="0"/>
              </a:rPr>
              <a:t> </a:t>
            </a:r>
            <a:r>
              <a:rPr lang="pl-PL" sz="1100" dirty="0">
                <a:solidFill>
                  <a:srgbClr val="D4D4D4"/>
                </a:solidFill>
                <a:latin typeface="Consolas" panose="020B0609020204030204" pitchFamily="49" charset="0"/>
              </a:rPr>
              <a:t>=</a:t>
            </a:r>
            <a:r>
              <a:rPr lang="pl-PL" sz="1100" dirty="0">
                <a:solidFill>
                  <a:srgbClr val="BBBEBF"/>
                </a:solidFill>
                <a:latin typeface="Consolas" panose="020B0609020204030204" pitchFamily="49" charset="0"/>
              </a:rPr>
              <a:t> </a:t>
            </a:r>
            <a:r>
              <a:rPr lang="pl-PL" sz="1100" dirty="0">
                <a:solidFill>
                  <a:srgbClr val="79C0FF"/>
                </a:solidFill>
                <a:latin typeface="Consolas" panose="020B0609020204030204" pitchFamily="49" charset="0"/>
              </a:rPr>
              <a:t>H</a:t>
            </a:r>
            <a:r>
              <a:rPr lang="pl-PL" sz="1100" dirty="0">
                <a:solidFill>
                  <a:srgbClr val="BBBEBF"/>
                </a:solidFill>
                <a:latin typeface="Consolas" panose="020B0609020204030204" pitchFamily="49" charset="0"/>
              </a:rPr>
              <a:t> </a:t>
            </a:r>
            <a:r>
              <a:rPr lang="pl-PL" sz="1100" dirty="0">
                <a:solidFill>
                  <a:srgbClr val="DCDCAA"/>
                </a:solidFill>
                <a:latin typeface="Consolas" panose="020B0609020204030204" pitchFamily="49" charset="0"/>
              </a:rPr>
              <a:t>@</a:t>
            </a:r>
            <a:r>
              <a:rPr lang="pl-PL" sz="1100" dirty="0">
                <a:solidFill>
                  <a:srgbClr val="BBBEBF"/>
                </a:solidFill>
                <a:latin typeface="Consolas" panose="020B0609020204030204" pitchFamily="49" charset="0"/>
              </a:rPr>
              <a:t> </a:t>
            </a:r>
            <a:r>
              <a:rPr lang="pl-PL" sz="1100" dirty="0" err="1">
                <a:solidFill>
                  <a:srgbClr val="C9D1D9"/>
                </a:solidFill>
                <a:latin typeface="Consolas" panose="020B0609020204030204" pitchFamily="49" charset="0"/>
              </a:rPr>
              <a:t>self</a:t>
            </a:r>
            <a:r>
              <a:rPr lang="pl-PL" sz="1100" dirty="0" err="1">
                <a:solidFill>
                  <a:srgbClr val="BBBEBF"/>
                </a:solidFill>
                <a:latin typeface="Consolas" panose="020B0609020204030204" pitchFamily="49" charset="0"/>
              </a:rPr>
              <a:t>.</a:t>
            </a:r>
            <a:r>
              <a:rPr lang="pl-PL" sz="1100" dirty="0" err="1">
                <a:solidFill>
                  <a:srgbClr val="C9D1D9"/>
                </a:solidFill>
                <a:latin typeface="Consolas" panose="020B0609020204030204" pitchFamily="49" charset="0"/>
              </a:rPr>
              <a:t>P</a:t>
            </a:r>
            <a:r>
              <a:rPr lang="pl-PL" sz="1100" dirty="0">
                <a:solidFill>
                  <a:srgbClr val="BBBEBF"/>
                </a:solidFill>
                <a:latin typeface="Consolas" panose="020B0609020204030204" pitchFamily="49" charset="0"/>
              </a:rPr>
              <a:t> </a:t>
            </a:r>
            <a:r>
              <a:rPr lang="pl-PL" sz="1100" dirty="0">
                <a:solidFill>
                  <a:srgbClr val="DCDCAA"/>
                </a:solidFill>
                <a:latin typeface="Consolas" panose="020B0609020204030204" pitchFamily="49" charset="0"/>
              </a:rPr>
              <a:t>@</a:t>
            </a:r>
            <a:r>
              <a:rPr lang="pl-PL" sz="1100" dirty="0">
                <a:solidFill>
                  <a:srgbClr val="BBBEBF"/>
                </a:solidFill>
                <a:latin typeface="Consolas" panose="020B0609020204030204" pitchFamily="49" charset="0"/>
              </a:rPr>
              <a:t> </a:t>
            </a:r>
            <a:r>
              <a:rPr lang="pl-PL" sz="1100" dirty="0">
                <a:solidFill>
                  <a:srgbClr val="79C0FF"/>
                </a:solidFill>
                <a:latin typeface="Consolas" panose="020B0609020204030204" pitchFamily="49" charset="0"/>
              </a:rPr>
              <a:t>H</a:t>
            </a:r>
            <a:r>
              <a:rPr lang="pl-PL" sz="1100" dirty="0">
                <a:solidFill>
                  <a:srgbClr val="BBBEBF"/>
                </a:solidFill>
                <a:latin typeface="Consolas" panose="020B0609020204030204" pitchFamily="49" charset="0"/>
              </a:rPr>
              <a:t>.</a:t>
            </a:r>
            <a:r>
              <a:rPr lang="pl-PL" sz="1100" dirty="0">
                <a:solidFill>
                  <a:srgbClr val="C9D1D9"/>
                </a:solidFill>
                <a:latin typeface="Consolas" panose="020B0609020204030204" pitchFamily="49" charset="0"/>
              </a:rPr>
              <a:t>T</a:t>
            </a:r>
            <a:r>
              <a:rPr lang="pl-PL" sz="1100" dirty="0">
                <a:solidFill>
                  <a:srgbClr val="BBBEBF"/>
                </a:solidFill>
                <a:latin typeface="Consolas" panose="020B0609020204030204" pitchFamily="49" charset="0"/>
              </a:rPr>
              <a:t> </a:t>
            </a:r>
            <a:r>
              <a:rPr lang="pl-PL" sz="1100" dirty="0">
                <a:solidFill>
                  <a:srgbClr val="DCDCAA"/>
                </a:solidFill>
                <a:latin typeface="Consolas" panose="020B0609020204030204" pitchFamily="49" charset="0"/>
              </a:rPr>
              <a:t>+</a:t>
            </a:r>
            <a:r>
              <a:rPr lang="pl-PL" sz="1100" dirty="0">
                <a:solidFill>
                  <a:srgbClr val="BBBEBF"/>
                </a:solidFill>
                <a:latin typeface="Consolas" panose="020B0609020204030204" pitchFamily="49" charset="0"/>
              </a:rPr>
              <a:t> </a:t>
            </a:r>
            <a:r>
              <a:rPr lang="pl-PL" sz="1100" dirty="0" err="1">
                <a:solidFill>
                  <a:srgbClr val="C9D1D9"/>
                </a:solidFill>
                <a:latin typeface="Consolas" panose="020B0609020204030204" pitchFamily="49" charset="0"/>
              </a:rPr>
              <a:t>self</a:t>
            </a:r>
            <a:r>
              <a:rPr lang="pl-PL" sz="1100" dirty="0" err="1">
                <a:solidFill>
                  <a:srgbClr val="BBBEBF"/>
                </a:solidFill>
                <a:latin typeface="Consolas" panose="020B0609020204030204" pitchFamily="49" charset="0"/>
              </a:rPr>
              <a:t>.</a:t>
            </a:r>
            <a:r>
              <a:rPr lang="pl-PL" sz="1100" dirty="0" err="1">
                <a:solidFill>
                  <a:srgbClr val="C9D1D9"/>
                </a:solidFill>
                <a:latin typeface="Consolas" panose="020B0609020204030204" pitchFamily="49" charset="0"/>
              </a:rPr>
              <a:t>R</a:t>
            </a:r>
            <a:endParaRPr lang="pl-PL" sz="1100" dirty="0">
              <a:solidFill>
                <a:srgbClr val="BBBEBF"/>
              </a:solidFill>
              <a:latin typeface="Consolas" panose="020B0609020204030204" pitchFamily="49" charset="0"/>
            </a:endParaRPr>
          </a:p>
          <a:p>
            <a:pPr>
              <a:lnSpc>
                <a:spcPts val="1200"/>
              </a:lnSpc>
            </a:pPr>
            <a:r>
              <a:rPr lang="pl-PL" sz="1100" dirty="0">
                <a:solidFill>
                  <a:srgbClr val="BBBEBF"/>
                </a:solidFill>
                <a:latin typeface="Consolas" panose="020B0609020204030204" pitchFamily="49" charset="0"/>
              </a:rPr>
              <a:t>        </a:t>
            </a:r>
            <a:r>
              <a:rPr lang="pl-PL" sz="1100" dirty="0">
                <a:solidFill>
                  <a:srgbClr val="79C0FF"/>
                </a:solidFill>
                <a:latin typeface="Consolas" panose="020B0609020204030204" pitchFamily="49" charset="0"/>
              </a:rPr>
              <a:t>K</a:t>
            </a:r>
            <a:r>
              <a:rPr lang="pl-PL" sz="1100" dirty="0">
                <a:solidFill>
                  <a:srgbClr val="BBBEBF"/>
                </a:solidFill>
                <a:latin typeface="Consolas" panose="020B0609020204030204" pitchFamily="49" charset="0"/>
              </a:rPr>
              <a:t> </a:t>
            </a:r>
            <a:r>
              <a:rPr lang="pl-PL" sz="1100" dirty="0">
                <a:solidFill>
                  <a:srgbClr val="D4D4D4"/>
                </a:solidFill>
                <a:latin typeface="Consolas" panose="020B0609020204030204" pitchFamily="49" charset="0"/>
              </a:rPr>
              <a:t>=</a:t>
            </a:r>
            <a:r>
              <a:rPr lang="pl-PL" sz="1100" dirty="0">
                <a:solidFill>
                  <a:srgbClr val="BBBEBF"/>
                </a:solidFill>
                <a:latin typeface="Consolas" panose="020B0609020204030204" pitchFamily="49" charset="0"/>
              </a:rPr>
              <a:t> </a:t>
            </a:r>
            <a:r>
              <a:rPr lang="pl-PL" sz="1100" dirty="0" err="1">
                <a:solidFill>
                  <a:srgbClr val="C9D1D9"/>
                </a:solidFill>
                <a:latin typeface="Consolas" panose="020B0609020204030204" pitchFamily="49" charset="0"/>
              </a:rPr>
              <a:t>self</a:t>
            </a:r>
            <a:r>
              <a:rPr lang="pl-PL" sz="1100" dirty="0" err="1">
                <a:solidFill>
                  <a:srgbClr val="BBBEBF"/>
                </a:solidFill>
                <a:latin typeface="Consolas" panose="020B0609020204030204" pitchFamily="49" charset="0"/>
              </a:rPr>
              <a:t>.</a:t>
            </a:r>
            <a:r>
              <a:rPr lang="pl-PL" sz="1100" dirty="0" err="1">
                <a:solidFill>
                  <a:srgbClr val="C9D1D9"/>
                </a:solidFill>
                <a:latin typeface="Consolas" panose="020B0609020204030204" pitchFamily="49" charset="0"/>
              </a:rPr>
              <a:t>P</a:t>
            </a:r>
            <a:r>
              <a:rPr lang="pl-PL" sz="1100" dirty="0">
                <a:solidFill>
                  <a:srgbClr val="BBBEBF"/>
                </a:solidFill>
                <a:latin typeface="Consolas" panose="020B0609020204030204" pitchFamily="49" charset="0"/>
              </a:rPr>
              <a:t> </a:t>
            </a:r>
            <a:r>
              <a:rPr lang="pl-PL" sz="1100" dirty="0">
                <a:solidFill>
                  <a:srgbClr val="DCDCAA"/>
                </a:solidFill>
                <a:latin typeface="Consolas" panose="020B0609020204030204" pitchFamily="49" charset="0"/>
              </a:rPr>
              <a:t>@</a:t>
            </a:r>
            <a:r>
              <a:rPr lang="pl-PL" sz="1100" dirty="0">
                <a:solidFill>
                  <a:srgbClr val="BBBEBF"/>
                </a:solidFill>
                <a:latin typeface="Consolas" panose="020B0609020204030204" pitchFamily="49" charset="0"/>
              </a:rPr>
              <a:t> </a:t>
            </a:r>
            <a:r>
              <a:rPr lang="pl-PL" sz="1100" dirty="0">
                <a:solidFill>
                  <a:srgbClr val="79C0FF"/>
                </a:solidFill>
                <a:latin typeface="Consolas" panose="020B0609020204030204" pitchFamily="49" charset="0"/>
              </a:rPr>
              <a:t>H</a:t>
            </a:r>
            <a:r>
              <a:rPr lang="pl-PL" sz="1100" dirty="0">
                <a:solidFill>
                  <a:srgbClr val="BBBEBF"/>
                </a:solidFill>
                <a:latin typeface="Consolas" panose="020B0609020204030204" pitchFamily="49" charset="0"/>
              </a:rPr>
              <a:t>.</a:t>
            </a:r>
            <a:r>
              <a:rPr lang="pl-PL" sz="1100" dirty="0">
                <a:solidFill>
                  <a:srgbClr val="C9D1D9"/>
                </a:solidFill>
                <a:latin typeface="Consolas" panose="020B0609020204030204" pitchFamily="49" charset="0"/>
              </a:rPr>
              <a:t>T</a:t>
            </a:r>
            <a:r>
              <a:rPr lang="pl-PL" sz="1100" dirty="0">
                <a:solidFill>
                  <a:srgbClr val="BBBEBF"/>
                </a:solidFill>
                <a:latin typeface="Consolas" panose="020B0609020204030204" pitchFamily="49" charset="0"/>
              </a:rPr>
              <a:t> </a:t>
            </a:r>
            <a:r>
              <a:rPr lang="pl-PL" sz="1100" dirty="0">
                <a:solidFill>
                  <a:srgbClr val="DCDCAA"/>
                </a:solidFill>
                <a:latin typeface="Consolas" panose="020B0609020204030204" pitchFamily="49" charset="0"/>
              </a:rPr>
              <a:t>@</a:t>
            </a:r>
            <a:r>
              <a:rPr lang="pl-PL" sz="1100" dirty="0">
                <a:solidFill>
                  <a:srgbClr val="BBBEBF"/>
                </a:solidFill>
                <a:latin typeface="Consolas" panose="020B0609020204030204" pitchFamily="49" charset="0"/>
              </a:rPr>
              <a:t> </a:t>
            </a:r>
            <a:r>
              <a:rPr lang="pl-PL" sz="1100" dirty="0" err="1">
                <a:solidFill>
                  <a:srgbClr val="4EC9B0"/>
                </a:solidFill>
                <a:latin typeface="Consolas" panose="020B0609020204030204" pitchFamily="49" charset="0"/>
              </a:rPr>
              <a:t>np</a:t>
            </a:r>
            <a:r>
              <a:rPr lang="pl-PL" sz="1100" dirty="0" err="1">
                <a:solidFill>
                  <a:srgbClr val="BBBEBF"/>
                </a:solidFill>
                <a:latin typeface="Consolas" panose="020B0609020204030204" pitchFamily="49" charset="0"/>
              </a:rPr>
              <a:t>.</a:t>
            </a:r>
            <a:r>
              <a:rPr lang="pl-PL" sz="1100" dirty="0" err="1">
                <a:solidFill>
                  <a:srgbClr val="4EC9B0"/>
                </a:solidFill>
                <a:latin typeface="Consolas" panose="020B0609020204030204" pitchFamily="49" charset="0"/>
              </a:rPr>
              <a:t>linalg</a:t>
            </a:r>
            <a:r>
              <a:rPr lang="pl-PL" sz="1100" dirty="0" err="1">
                <a:solidFill>
                  <a:srgbClr val="BBBEBF"/>
                </a:solidFill>
                <a:latin typeface="Consolas" panose="020B0609020204030204" pitchFamily="49" charset="0"/>
              </a:rPr>
              <a:t>.</a:t>
            </a:r>
            <a:r>
              <a:rPr lang="pl-PL" sz="1100" dirty="0" err="1">
                <a:solidFill>
                  <a:srgbClr val="D2A8FF"/>
                </a:solidFill>
                <a:latin typeface="Consolas" panose="020B0609020204030204" pitchFamily="49" charset="0"/>
              </a:rPr>
              <a:t>inv</a:t>
            </a:r>
            <a:r>
              <a:rPr lang="pl-PL" sz="1100" dirty="0">
                <a:solidFill>
                  <a:srgbClr val="BBBEBF"/>
                </a:solidFill>
                <a:latin typeface="Consolas" panose="020B0609020204030204" pitchFamily="49" charset="0"/>
              </a:rPr>
              <a:t>(</a:t>
            </a:r>
            <a:r>
              <a:rPr lang="pl-PL" sz="1100" dirty="0">
                <a:solidFill>
                  <a:srgbClr val="79C0FF"/>
                </a:solidFill>
                <a:latin typeface="Consolas" panose="020B0609020204030204" pitchFamily="49" charset="0"/>
              </a:rPr>
              <a:t>S</a:t>
            </a:r>
            <a:r>
              <a:rPr lang="pl-PL" sz="1100" dirty="0">
                <a:solidFill>
                  <a:srgbClr val="BBBEBF"/>
                </a:solidFill>
                <a:latin typeface="Consolas" panose="020B0609020204030204" pitchFamily="49" charset="0"/>
              </a:rPr>
              <a:t>)</a:t>
            </a:r>
          </a:p>
          <a:p>
            <a:pPr>
              <a:lnSpc>
                <a:spcPts val="1200"/>
              </a:lnSpc>
            </a:pPr>
            <a:r>
              <a:rPr lang="pl-PL" sz="1100" dirty="0">
                <a:solidFill>
                  <a:srgbClr val="BBBEBF"/>
                </a:solidFill>
                <a:latin typeface="Consolas" panose="020B0609020204030204" pitchFamily="49" charset="0"/>
              </a:rPr>
              <a:t>        </a:t>
            </a:r>
            <a:r>
              <a:rPr lang="pl-PL" sz="1100" dirty="0" err="1">
                <a:solidFill>
                  <a:srgbClr val="C9D1D9"/>
                </a:solidFill>
                <a:latin typeface="Consolas" panose="020B0609020204030204" pitchFamily="49" charset="0"/>
              </a:rPr>
              <a:t>self</a:t>
            </a:r>
            <a:r>
              <a:rPr lang="pl-PL" sz="1100" dirty="0" err="1">
                <a:solidFill>
                  <a:srgbClr val="BBBEBF"/>
                </a:solidFill>
                <a:latin typeface="Consolas" panose="020B0609020204030204" pitchFamily="49" charset="0"/>
              </a:rPr>
              <a:t>.</a:t>
            </a:r>
            <a:r>
              <a:rPr lang="pl-PL" sz="1100" dirty="0" err="1">
                <a:solidFill>
                  <a:srgbClr val="C9D1D9"/>
                </a:solidFill>
                <a:latin typeface="Consolas" panose="020B0609020204030204" pitchFamily="49" charset="0"/>
              </a:rPr>
              <a:t>x</a:t>
            </a:r>
            <a:r>
              <a:rPr lang="pl-PL" sz="1100" dirty="0">
                <a:solidFill>
                  <a:srgbClr val="BBBEBF"/>
                </a:solidFill>
                <a:latin typeface="Consolas" panose="020B0609020204030204" pitchFamily="49" charset="0"/>
              </a:rPr>
              <a:t> </a:t>
            </a:r>
            <a:r>
              <a:rPr lang="pl-PL" sz="1100" dirty="0">
                <a:solidFill>
                  <a:srgbClr val="DCDCAA"/>
                </a:solidFill>
                <a:latin typeface="Consolas" panose="020B0609020204030204" pitchFamily="49" charset="0"/>
              </a:rPr>
              <a:t>+=</a:t>
            </a:r>
            <a:r>
              <a:rPr lang="pl-PL" sz="1100" dirty="0">
                <a:solidFill>
                  <a:srgbClr val="BBBEBF"/>
                </a:solidFill>
                <a:latin typeface="Consolas" panose="020B0609020204030204" pitchFamily="49" charset="0"/>
              </a:rPr>
              <a:t> </a:t>
            </a:r>
            <a:r>
              <a:rPr lang="pl-PL" sz="1100" dirty="0">
                <a:solidFill>
                  <a:srgbClr val="79C0FF"/>
                </a:solidFill>
                <a:latin typeface="Consolas" panose="020B0609020204030204" pitchFamily="49" charset="0"/>
              </a:rPr>
              <a:t>K</a:t>
            </a:r>
            <a:r>
              <a:rPr lang="pl-PL" sz="1100" dirty="0">
                <a:solidFill>
                  <a:srgbClr val="BBBEBF"/>
                </a:solidFill>
                <a:latin typeface="Consolas" panose="020B0609020204030204" pitchFamily="49" charset="0"/>
              </a:rPr>
              <a:t> </a:t>
            </a:r>
            <a:r>
              <a:rPr lang="pl-PL" sz="1100" dirty="0">
                <a:solidFill>
                  <a:srgbClr val="DCDCAA"/>
                </a:solidFill>
                <a:latin typeface="Consolas" panose="020B0609020204030204" pitchFamily="49" charset="0"/>
              </a:rPr>
              <a:t>@</a:t>
            </a:r>
            <a:r>
              <a:rPr lang="pl-PL" sz="1100" dirty="0">
                <a:solidFill>
                  <a:srgbClr val="BBBEBF"/>
                </a:solidFill>
                <a:latin typeface="Consolas" panose="020B0609020204030204" pitchFamily="49" charset="0"/>
              </a:rPr>
              <a:t> (</a:t>
            </a:r>
            <a:r>
              <a:rPr lang="pl-PL" sz="1100" dirty="0" err="1">
                <a:solidFill>
                  <a:srgbClr val="FFA657"/>
                </a:solidFill>
                <a:latin typeface="Consolas" panose="020B0609020204030204" pitchFamily="49" charset="0"/>
              </a:rPr>
              <a:t>z_xy</a:t>
            </a:r>
            <a:r>
              <a:rPr lang="pl-PL" sz="1100" dirty="0">
                <a:solidFill>
                  <a:srgbClr val="BBBEBF"/>
                </a:solidFill>
                <a:latin typeface="Consolas" panose="020B0609020204030204" pitchFamily="49" charset="0"/>
              </a:rPr>
              <a:t> </a:t>
            </a:r>
            <a:r>
              <a:rPr lang="pl-PL" sz="1100" dirty="0">
                <a:solidFill>
                  <a:srgbClr val="DCDCAA"/>
                </a:solidFill>
                <a:latin typeface="Consolas" panose="020B0609020204030204" pitchFamily="49" charset="0"/>
              </a:rPr>
              <a:t>-</a:t>
            </a:r>
            <a:r>
              <a:rPr lang="pl-PL" sz="1100" dirty="0">
                <a:solidFill>
                  <a:srgbClr val="BBBEBF"/>
                </a:solidFill>
                <a:latin typeface="Consolas" panose="020B0609020204030204" pitchFamily="49" charset="0"/>
              </a:rPr>
              <a:t> </a:t>
            </a:r>
            <a:r>
              <a:rPr lang="pl-PL" sz="1100" dirty="0" err="1">
                <a:solidFill>
                  <a:srgbClr val="C9D1D9"/>
                </a:solidFill>
                <a:latin typeface="Consolas" panose="020B0609020204030204" pitchFamily="49" charset="0"/>
              </a:rPr>
              <a:t>self</a:t>
            </a:r>
            <a:r>
              <a:rPr lang="pl-PL" sz="1100" dirty="0" err="1">
                <a:solidFill>
                  <a:srgbClr val="BBBEBF"/>
                </a:solidFill>
                <a:latin typeface="Consolas" panose="020B0609020204030204" pitchFamily="49" charset="0"/>
              </a:rPr>
              <a:t>.</a:t>
            </a:r>
            <a:r>
              <a:rPr lang="pl-PL" sz="1100" dirty="0" err="1">
                <a:solidFill>
                  <a:srgbClr val="C9D1D9"/>
                </a:solidFill>
                <a:latin typeface="Consolas" panose="020B0609020204030204" pitchFamily="49" charset="0"/>
              </a:rPr>
              <a:t>x</a:t>
            </a:r>
            <a:r>
              <a:rPr lang="pl-PL" sz="1100" dirty="0">
                <a:solidFill>
                  <a:srgbClr val="BBBEBF"/>
                </a:solidFill>
                <a:latin typeface="Consolas" panose="020B0609020204030204" pitchFamily="49" charset="0"/>
              </a:rPr>
              <a:t>[:</a:t>
            </a:r>
            <a:r>
              <a:rPr lang="pl-PL" sz="1100" dirty="0">
                <a:solidFill>
                  <a:srgbClr val="B5CEA8"/>
                </a:solidFill>
                <a:latin typeface="Consolas" panose="020B0609020204030204" pitchFamily="49" charset="0"/>
              </a:rPr>
              <a:t>2</a:t>
            </a:r>
            <a:r>
              <a:rPr lang="pl-PL" sz="1100" dirty="0">
                <a:solidFill>
                  <a:srgbClr val="BBBEBF"/>
                </a:solidFill>
                <a:latin typeface="Consolas" panose="020B0609020204030204" pitchFamily="49" charset="0"/>
              </a:rPr>
              <a:t>])</a:t>
            </a:r>
          </a:p>
          <a:p>
            <a:pPr>
              <a:lnSpc>
                <a:spcPts val="1200"/>
              </a:lnSpc>
            </a:pPr>
            <a:r>
              <a:rPr lang="pl-PL" sz="1100" dirty="0">
                <a:solidFill>
                  <a:srgbClr val="BBBEBF"/>
                </a:solidFill>
                <a:latin typeface="Consolas" panose="020B0609020204030204" pitchFamily="49" charset="0"/>
              </a:rPr>
              <a:t>        </a:t>
            </a:r>
            <a:r>
              <a:rPr lang="pl-PL" sz="1100" dirty="0" err="1">
                <a:solidFill>
                  <a:srgbClr val="C9D1D9"/>
                </a:solidFill>
                <a:latin typeface="Consolas" panose="020B0609020204030204" pitchFamily="49" charset="0"/>
              </a:rPr>
              <a:t>self</a:t>
            </a:r>
            <a:r>
              <a:rPr lang="pl-PL" sz="1100" dirty="0" err="1">
                <a:solidFill>
                  <a:srgbClr val="BBBEBF"/>
                </a:solidFill>
                <a:latin typeface="Consolas" panose="020B0609020204030204" pitchFamily="49" charset="0"/>
              </a:rPr>
              <a:t>.</a:t>
            </a:r>
            <a:r>
              <a:rPr lang="pl-PL" sz="1100" dirty="0" err="1">
                <a:solidFill>
                  <a:srgbClr val="C9D1D9"/>
                </a:solidFill>
                <a:latin typeface="Consolas" panose="020B0609020204030204" pitchFamily="49" charset="0"/>
              </a:rPr>
              <a:t>P</a:t>
            </a:r>
            <a:r>
              <a:rPr lang="pl-PL" sz="1100" dirty="0">
                <a:solidFill>
                  <a:srgbClr val="BBBEBF"/>
                </a:solidFill>
                <a:latin typeface="Consolas" panose="020B0609020204030204" pitchFamily="49" charset="0"/>
              </a:rPr>
              <a:t> </a:t>
            </a:r>
            <a:r>
              <a:rPr lang="pl-PL" sz="1100" dirty="0">
                <a:solidFill>
                  <a:srgbClr val="D4D4D4"/>
                </a:solidFill>
                <a:latin typeface="Consolas" panose="020B0609020204030204" pitchFamily="49" charset="0"/>
              </a:rPr>
              <a:t>=</a:t>
            </a:r>
            <a:r>
              <a:rPr lang="pl-PL" sz="1100" dirty="0">
                <a:solidFill>
                  <a:srgbClr val="BBBEBF"/>
                </a:solidFill>
                <a:latin typeface="Consolas" panose="020B0609020204030204" pitchFamily="49" charset="0"/>
              </a:rPr>
              <a:t> (</a:t>
            </a:r>
            <a:r>
              <a:rPr lang="pl-PL" sz="1100" dirty="0" err="1">
                <a:solidFill>
                  <a:srgbClr val="4EC9B0"/>
                </a:solidFill>
                <a:latin typeface="Consolas" panose="020B0609020204030204" pitchFamily="49" charset="0"/>
              </a:rPr>
              <a:t>np</a:t>
            </a:r>
            <a:r>
              <a:rPr lang="pl-PL" sz="1100" dirty="0" err="1">
                <a:solidFill>
                  <a:srgbClr val="BBBEBF"/>
                </a:solidFill>
                <a:latin typeface="Consolas" panose="020B0609020204030204" pitchFamily="49" charset="0"/>
              </a:rPr>
              <a:t>.</a:t>
            </a:r>
            <a:r>
              <a:rPr lang="pl-PL" sz="1100" dirty="0" err="1">
                <a:solidFill>
                  <a:srgbClr val="D2A8FF"/>
                </a:solidFill>
                <a:latin typeface="Consolas" panose="020B0609020204030204" pitchFamily="49" charset="0"/>
              </a:rPr>
              <a:t>eye</a:t>
            </a:r>
            <a:r>
              <a:rPr lang="pl-PL" sz="1100" dirty="0">
                <a:solidFill>
                  <a:srgbClr val="BBBEBF"/>
                </a:solidFill>
                <a:latin typeface="Consolas" panose="020B0609020204030204" pitchFamily="49" charset="0"/>
              </a:rPr>
              <a:t>(</a:t>
            </a:r>
            <a:r>
              <a:rPr lang="pl-PL" sz="1100" dirty="0">
                <a:solidFill>
                  <a:srgbClr val="B5CEA8"/>
                </a:solidFill>
                <a:latin typeface="Consolas" panose="020B0609020204030204" pitchFamily="49" charset="0"/>
              </a:rPr>
              <a:t>3</a:t>
            </a:r>
            <a:r>
              <a:rPr lang="pl-PL" sz="1100" dirty="0">
                <a:solidFill>
                  <a:srgbClr val="BBBEBF"/>
                </a:solidFill>
                <a:latin typeface="Consolas" panose="020B0609020204030204" pitchFamily="49" charset="0"/>
              </a:rPr>
              <a:t>) </a:t>
            </a:r>
            <a:r>
              <a:rPr lang="pl-PL" sz="1100" dirty="0">
                <a:solidFill>
                  <a:srgbClr val="DCDCAA"/>
                </a:solidFill>
                <a:latin typeface="Consolas" panose="020B0609020204030204" pitchFamily="49" charset="0"/>
              </a:rPr>
              <a:t>-</a:t>
            </a:r>
            <a:r>
              <a:rPr lang="pl-PL" sz="1100" dirty="0">
                <a:solidFill>
                  <a:srgbClr val="BBBEBF"/>
                </a:solidFill>
                <a:latin typeface="Consolas" panose="020B0609020204030204" pitchFamily="49" charset="0"/>
              </a:rPr>
              <a:t> </a:t>
            </a:r>
            <a:r>
              <a:rPr lang="pl-PL" sz="1100" dirty="0">
                <a:solidFill>
                  <a:srgbClr val="79C0FF"/>
                </a:solidFill>
                <a:latin typeface="Consolas" panose="020B0609020204030204" pitchFamily="49" charset="0"/>
              </a:rPr>
              <a:t>K</a:t>
            </a:r>
            <a:r>
              <a:rPr lang="pl-PL" sz="1100" dirty="0">
                <a:solidFill>
                  <a:srgbClr val="BBBEBF"/>
                </a:solidFill>
                <a:latin typeface="Consolas" panose="020B0609020204030204" pitchFamily="49" charset="0"/>
              </a:rPr>
              <a:t> </a:t>
            </a:r>
            <a:r>
              <a:rPr lang="pl-PL" sz="1100" dirty="0">
                <a:solidFill>
                  <a:srgbClr val="DCDCAA"/>
                </a:solidFill>
                <a:latin typeface="Consolas" panose="020B0609020204030204" pitchFamily="49" charset="0"/>
              </a:rPr>
              <a:t>@</a:t>
            </a:r>
            <a:r>
              <a:rPr lang="pl-PL" sz="1100" dirty="0">
                <a:solidFill>
                  <a:srgbClr val="BBBEBF"/>
                </a:solidFill>
                <a:latin typeface="Consolas" panose="020B0609020204030204" pitchFamily="49" charset="0"/>
              </a:rPr>
              <a:t> </a:t>
            </a:r>
            <a:r>
              <a:rPr lang="pl-PL" sz="1100" dirty="0">
                <a:solidFill>
                  <a:srgbClr val="79C0FF"/>
                </a:solidFill>
                <a:latin typeface="Consolas" panose="020B0609020204030204" pitchFamily="49" charset="0"/>
              </a:rPr>
              <a:t>H</a:t>
            </a:r>
            <a:r>
              <a:rPr lang="pl-PL" sz="1100" dirty="0">
                <a:solidFill>
                  <a:srgbClr val="BBBEBF"/>
                </a:solidFill>
                <a:latin typeface="Consolas" panose="020B0609020204030204" pitchFamily="49" charset="0"/>
              </a:rPr>
              <a:t>) </a:t>
            </a:r>
            <a:r>
              <a:rPr lang="pl-PL" sz="1100" dirty="0">
                <a:solidFill>
                  <a:srgbClr val="DCDCAA"/>
                </a:solidFill>
                <a:latin typeface="Consolas" panose="020B0609020204030204" pitchFamily="49" charset="0"/>
              </a:rPr>
              <a:t>@</a:t>
            </a:r>
            <a:r>
              <a:rPr lang="pl-PL" sz="1100" dirty="0">
                <a:solidFill>
                  <a:srgbClr val="BBBEBF"/>
                </a:solidFill>
                <a:latin typeface="Consolas" panose="020B0609020204030204" pitchFamily="49" charset="0"/>
              </a:rPr>
              <a:t> </a:t>
            </a:r>
            <a:r>
              <a:rPr lang="pl-PL" sz="1100" dirty="0" err="1" smtClean="0">
                <a:solidFill>
                  <a:srgbClr val="C9D1D9"/>
                </a:solidFill>
                <a:latin typeface="Consolas" panose="020B0609020204030204" pitchFamily="49" charset="0"/>
              </a:rPr>
              <a:t>self</a:t>
            </a:r>
            <a:r>
              <a:rPr lang="pl-PL" sz="1100" dirty="0" err="1" smtClean="0">
                <a:solidFill>
                  <a:srgbClr val="BBBEBF"/>
                </a:solidFill>
                <a:latin typeface="Consolas" panose="020B0609020204030204" pitchFamily="49" charset="0"/>
              </a:rPr>
              <a:t>.</a:t>
            </a:r>
            <a:r>
              <a:rPr lang="pl-PL" sz="1100" dirty="0" err="1" smtClean="0">
                <a:solidFill>
                  <a:srgbClr val="C9D1D9"/>
                </a:solidFill>
                <a:latin typeface="Consolas" panose="020B0609020204030204" pitchFamily="49" charset="0"/>
              </a:rPr>
              <a:t>P</a:t>
            </a:r>
            <a:endParaRPr lang="pl-PL" sz="1100" dirty="0">
              <a:solidFill>
                <a:srgbClr val="BBBEBF"/>
              </a:solidFill>
              <a:latin typeface="Consolas" panose="020B0609020204030204" pitchFamily="49" charset="0"/>
            </a:endParaRPr>
          </a:p>
        </p:txBody>
      </p:sp>
      <p:sp>
        <p:nvSpPr>
          <p:cNvPr id="11" name="Shape 9"/>
          <p:cNvSpPr/>
          <p:nvPr/>
        </p:nvSpPr>
        <p:spPr>
          <a:xfrm>
            <a:off x="274320" y="4512526"/>
            <a:ext cx="8595360" cy="425233"/>
          </a:xfrm>
          <a:prstGeom prst="rect">
            <a:avLst/>
          </a:prstGeom>
          <a:solidFill>
            <a:srgbClr val="1A3550"/>
          </a:solidFill>
          <a:ln w="12700">
            <a:solidFill>
              <a:srgbClr val="0077A8"/>
            </a:solidFill>
            <a:prstDash val="solid"/>
          </a:ln>
        </p:spPr>
      </p:sp>
      <p:sp>
        <p:nvSpPr>
          <p:cNvPr id="12" name="Text 10"/>
          <p:cNvSpPr/>
          <p:nvPr/>
        </p:nvSpPr>
        <p:spPr>
          <a:xfrm>
            <a:off x="327102" y="4512526"/>
            <a:ext cx="8451138" cy="425234"/>
          </a:xfrm>
          <a:prstGeom prst="rect">
            <a:avLst/>
          </a:prstGeom>
          <a:noFill/>
          <a:ln/>
        </p:spPr>
        <p:txBody>
          <a:bodyPr wrap="square" lIns="0" tIns="0" rIns="127000" bIns="0" rtlCol="0" anchor="ctr"/>
          <a:lstStyle/>
          <a:p>
            <a:pPr marL="0" indent="0" algn="ctr">
              <a:buNone/>
            </a:pPr>
            <a:r>
              <a:rPr lang="en-US" sz="1600" b="1" spc="-40" dirty="0">
                <a:solidFill>
                  <a:srgbClr val="00B4D8"/>
                </a:solidFill>
                <a:latin typeface="Calibri" pitchFamily="34" charset="0"/>
                <a:ea typeface="Calibri" pitchFamily="34" charset="-122"/>
                <a:cs typeface="Calibri" pitchFamily="34" charset="-120"/>
              </a:rPr>
              <a:t>Opis: </a:t>
            </a:r>
            <a:r>
              <a:rPr lang="en-US" sz="1600" spc="-40" dirty="0">
                <a:solidFill>
                  <a:srgbClr val="E2EBF3"/>
                </a:solidFill>
                <a:latin typeface="Calibri" pitchFamily="34" charset="0"/>
                <a:ea typeface="Calibri" pitchFamily="34" charset="-122"/>
                <a:cs typeface="Calibri" pitchFamily="34" charset="-120"/>
              </a:rPr>
              <a:t>predict() używa modelu jednośladowego (unicycle); correct() koryguje pomiar GPS </a:t>
            </a:r>
            <a:r>
              <a:rPr lang="en-US" sz="1600" spc="-40" dirty="0" err="1">
                <a:solidFill>
                  <a:srgbClr val="E2EBF3"/>
                </a:solidFill>
                <a:latin typeface="Calibri" pitchFamily="34" charset="0"/>
                <a:ea typeface="Calibri" pitchFamily="34" charset="-122"/>
                <a:cs typeface="Calibri" pitchFamily="34" charset="-120"/>
              </a:rPr>
              <a:t>lub</a:t>
            </a:r>
            <a:r>
              <a:rPr lang="en-US" sz="1600" spc="-40" dirty="0">
                <a:solidFill>
                  <a:srgbClr val="E2EBF3"/>
                </a:solidFill>
                <a:latin typeface="Calibri" pitchFamily="34" charset="0"/>
                <a:ea typeface="Calibri" pitchFamily="34" charset="-122"/>
                <a:cs typeface="Calibri" pitchFamily="34" charset="-120"/>
              </a:rPr>
              <a:t> </a:t>
            </a:r>
            <a:r>
              <a:rPr lang="en-US" sz="1600" spc="-40" dirty="0" err="1" smtClean="0">
                <a:solidFill>
                  <a:srgbClr val="E2EBF3"/>
                </a:solidFill>
                <a:latin typeface="Calibri" pitchFamily="34" charset="0"/>
                <a:ea typeface="Calibri" pitchFamily="34" charset="-122"/>
                <a:cs typeface="Calibri" pitchFamily="34" charset="-120"/>
              </a:rPr>
              <a:t>znacznika</a:t>
            </a:r>
            <a:endParaRPr lang="en-US" sz="1600" spc="-4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0F4F8"/>
        </a:solidFill>
        <a:effectLst/>
      </p:bgPr>
    </p:bg>
    <p:spTree>
      <p:nvGrpSpPr>
        <p:cNvPr id="1" name=""/>
        <p:cNvGrpSpPr/>
        <p:nvPr/>
      </p:nvGrpSpPr>
      <p:grpSpPr>
        <a:xfrm>
          <a:off x="0" y="0"/>
          <a:ext cx="0" cy="0"/>
          <a:chOff x="0" y="0"/>
          <a:chExt cx="0" cy="0"/>
        </a:xfrm>
      </p:grpSpPr>
      <p:sp>
        <p:nvSpPr>
          <p:cNvPr id="2" name="Shape 0"/>
          <p:cNvSpPr/>
          <p:nvPr/>
        </p:nvSpPr>
        <p:spPr>
          <a:xfrm>
            <a:off x="0" y="0"/>
            <a:ext cx="64008" cy="5143500"/>
          </a:xfrm>
          <a:prstGeom prst="rect">
            <a:avLst/>
          </a:prstGeom>
          <a:solidFill>
            <a:srgbClr val="00B4D8"/>
          </a:solidFill>
          <a:ln w="12700">
            <a:solidFill>
              <a:srgbClr val="00B4D8"/>
            </a:solidFill>
            <a:prstDash val="solid"/>
          </a:ln>
        </p:spPr>
      </p:sp>
      <p:sp>
        <p:nvSpPr>
          <p:cNvPr id="3" name="Shape 1"/>
          <p:cNvSpPr/>
          <p:nvPr/>
        </p:nvSpPr>
        <p:spPr>
          <a:xfrm>
            <a:off x="64008" y="0"/>
            <a:ext cx="9079992" cy="960120"/>
          </a:xfrm>
          <a:prstGeom prst="rect">
            <a:avLst/>
          </a:prstGeom>
          <a:solidFill>
            <a:srgbClr val="0D1B2A"/>
          </a:solidFill>
          <a:ln w="12700">
            <a:solidFill>
              <a:srgbClr val="0D1B2A"/>
            </a:solidFill>
            <a:prstDash val="solid"/>
          </a:ln>
        </p:spPr>
      </p:sp>
      <p:sp>
        <p:nvSpPr>
          <p:cNvPr id="4" name="Text 2"/>
          <p:cNvSpPr/>
          <p:nvPr/>
        </p:nvSpPr>
        <p:spPr>
          <a:xfrm>
            <a:off x="228600" y="73152"/>
            <a:ext cx="4572000" cy="274320"/>
          </a:xfrm>
          <a:prstGeom prst="rect">
            <a:avLst/>
          </a:prstGeom>
          <a:noFill/>
          <a:ln/>
        </p:spPr>
        <p:txBody>
          <a:bodyPr wrap="square" lIns="0" tIns="0" rIns="0" bIns="0" rtlCol="0" anchor="ctr"/>
          <a:lstStyle/>
          <a:p>
            <a:pPr marL="0" indent="0">
              <a:buNone/>
            </a:pPr>
            <a:r>
              <a:rPr lang="en-US" sz="900" b="1" kern="0" spc="200" dirty="0">
                <a:solidFill>
                  <a:srgbClr val="00B4D8"/>
                </a:solidFill>
                <a:latin typeface="Trebuchet MS" pitchFamily="34" charset="0"/>
                <a:ea typeface="Trebuchet MS" pitchFamily="34" charset="-122"/>
                <a:cs typeface="Trebuchet MS" pitchFamily="34" charset="-120"/>
              </a:rPr>
              <a:t>SEKCJA 2 | FUZJA IMU+ENKODERY+WIZJA</a:t>
            </a:r>
            <a:endParaRPr lang="en-US" sz="900" dirty="0"/>
          </a:p>
        </p:txBody>
      </p:sp>
      <p:sp>
        <p:nvSpPr>
          <p:cNvPr id="5" name="Text 3"/>
          <p:cNvSpPr/>
          <p:nvPr/>
        </p:nvSpPr>
        <p:spPr>
          <a:xfrm>
            <a:off x="228600" y="274320"/>
            <a:ext cx="8686800" cy="594360"/>
          </a:xfrm>
          <a:prstGeom prst="rect">
            <a:avLst/>
          </a:prstGeom>
          <a:noFill/>
          <a:ln/>
        </p:spPr>
        <p:txBody>
          <a:bodyPr wrap="square" lIns="0" tIns="0" rIns="0" bIns="0" rtlCol="0" anchor="ctr"/>
          <a:lstStyle/>
          <a:p>
            <a:pPr marL="0" indent="0">
              <a:buNone/>
            </a:pPr>
            <a:r>
              <a:rPr lang="en-US" sz="2800" b="1" dirty="0">
                <a:solidFill>
                  <a:srgbClr val="FFFFFF"/>
                </a:solidFill>
                <a:latin typeface="Trebuchet MS" pitchFamily="34" charset="0"/>
                <a:ea typeface="Trebuchet MS" pitchFamily="34" charset="-122"/>
                <a:cs typeface="Trebuchet MS" pitchFamily="34" charset="-120"/>
              </a:rPr>
              <a:t>Fuzja IMU, enkoderów i wizji</a:t>
            </a:r>
            <a:endParaRPr lang="en-US" sz="2800" dirty="0"/>
          </a:p>
        </p:txBody>
      </p:sp>
      <p:sp>
        <p:nvSpPr>
          <p:cNvPr id="6" name="Shape 4"/>
          <p:cNvSpPr/>
          <p:nvPr/>
        </p:nvSpPr>
        <p:spPr>
          <a:xfrm>
            <a:off x="274320" y="1097280"/>
            <a:ext cx="8595360" cy="2847487"/>
          </a:xfrm>
          <a:prstGeom prst="rect">
            <a:avLst/>
          </a:prstGeom>
          <a:solidFill>
            <a:srgbClr val="FFFFFF"/>
          </a:solidFill>
          <a:ln w="12700">
            <a:solidFill>
              <a:srgbClr val="E2EBF3"/>
            </a:solidFill>
            <a:prstDash val="solid"/>
          </a:ln>
          <a:effectLst>
            <a:outerShdw blurRad="76200" dist="25400" dir="8100000" algn="bl" rotWithShape="0">
              <a:srgbClr val="000000">
                <a:alpha val="12000"/>
              </a:srgbClr>
            </a:outerShdw>
          </a:effectLst>
        </p:spPr>
      </p:sp>
      <p:sp>
        <p:nvSpPr>
          <p:cNvPr id="7" name="Text 5"/>
          <p:cNvSpPr/>
          <p:nvPr/>
        </p:nvSpPr>
        <p:spPr>
          <a:xfrm>
            <a:off x="457200" y="1135821"/>
            <a:ext cx="8229600" cy="2755933"/>
          </a:xfrm>
          <a:prstGeom prst="rect">
            <a:avLst/>
          </a:prstGeom>
          <a:noFill/>
          <a:ln/>
        </p:spPr>
        <p:txBody>
          <a:bodyPr wrap="square" lIns="127000" tIns="72000" rIns="127000" bIns="36000" rtlCol="0" anchor="t">
            <a:spAutoFit/>
          </a:bodyPr>
          <a:lstStyle/>
          <a:p>
            <a:pPr marL="216000" indent="-216000">
              <a:spcAft>
                <a:spcPts val="1200"/>
              </a:spcAft>
              <a:buSzPct val="100000"/>
              <a:buChar char="•"/>
            </a:pPr>
            <a:r>
              <a:rPr lang="en-US" sz="1600" b="1" spc="-40" dirty="0">
                <a:solidFill>
                  <a:srgbClr val="0D1B2A"/>
                </a:solidFill>
                <a:latin typeface="Calibri" pitchFamily="34" charset="0"/>
                <a:ea typeface="Calibri" pitchFamily="34" charset="-122"/>
                <a:cs typeface="Calibri" pitchFamily="34" charset="-120"/>
              </a:rPr>
              <a:t>IMU </a:t>
            </a:r>
            <a:r>
              <a:rPr lang="en-US" sz="1600" b="1" i="1" spc="-40" dirty="0">
                <a:solidFill>
                  <a:srgbClr val="0D1B2A"/>
                </a:solidFill>
                <a:latin typeface="Calibri" pitchFamily="34" charset="0"/>
                <a:ea typeface="Calibri" pitchFamily="34" charset="-122"/>
                <a:cs typeface="Calibri" pitchFamily="34" charset="-120"/>
              </a:rPr>
              <a:t>(200 Hz): </a:t>
            </a:r>
            <a:r>
              <a:rPr lang="en-US" sz="1600" spc="-40" dirty="0">
                <a:solidFill>
                  <a:srgbClr val="0D1B2A"/>
                </a:solidFill>
                <a:latin typeface="Calibri" pitchFamily="34" charset="0"/>
                <a:ea typeface="Calibri" pitchFamily="34" charset="-122"/>
                <a:cs typeface="Calibri" pitchFamily="34" charset="-120"/>
              </a:rPr>
              <a:t>predykcja stanu – szybka propagacja orientacji i przyspieszenia</a:t>
            </a:r>
            <a:endParaRPr lang="en-US" sz="1600" spc="-40" dirty="0"/>
          </a:p>
          <a:p>
            <a:pPr marL="216000" indent="-216000">
              <a:spcAft>
                <a:spcPts val="1200"/>
              </a:spcAft>
              <a:buSzPct val="100000"/>
              <a:buChar char="•"/>
            </a:pPr>
            <a:r>
              <a:rPr lang="en-US" sz="1600" b="1" spc="-40" dirty="0">
                <a:solidFill>
                  <a:srgbClr val="0D1B2A"/>
                </a:solidFill>
                <a:latin typeface="Calibri" pitchFamily="34" charset="0"/>
                <a:ea typeface="Calibri" pitchFamily="34" charset="-122"/>
                <a:cs typeface="Calibri" pitchFamily="34" charset="-120"/>
              </a:rPr>
              <a:t>Enkodery + kontakty stóp </a:t>
            </a:r>
            <a:r>
              <a:rPr lang="en-US" sz="1600" b="1" i="1" spc="-40" dirty="0">
                <a:solidFill>
                  <a:srgbClr val="0D1B2A"/>
                </a:solidFill>
                <a:latin typeface="Calibri" pitchFamily="34" charset="0"/>
                <a:ea typeface="Calibri" pitchFamily="34" charset="-122"/>
                <a:cs typeface="Calibri" pitchFamily="34" charset="-120"/>
              </a:rPr>
              <a:t>(100–500 Hz): </a:t>
            </a:r>
            <a:r>
              <a:rPr lang="en-US" sz="1600" spc="-40" dirty="0">
                <a:solidFill>
                  <a:srgbClr val="0D1B2A"/>
                </a:solidFill>
                <a:latin typeface="Calibri" pitchFamily="34" charset="0"/>
                <a:ea typeface="Calibri" pitchFamily="34" charset="-122"/>
                <a:cs typeface="Calibri" pitchFamily="34" charset="-120"/>
              </a:rPr>
              <a:t>kinematyczna odometria kroków – korekta translacji</a:t>
            </a:r>
            <a:endParaRPr lang="en-US" sz="1600" spc="-40" dirty="0"/>
          </a:p>
          <a:p>
            <a:pPr marL="216000" indent="-216000">
              <a:spcAft>
                <a:spcPts val="1200"/>
              </a:spcAft>
              <a:buSzPct val="100000"/>
              <a:buChar char="•"/>
            </a:pPr>
            <a:r>
              <a:rPr lang="en-US" sz="1600" b="1" spc="-40" dirty="0">
                <a:solidFill>
                  <a:srgbClr val="0D1B2A"/>
                </a:solidFill>
                <a:latin typeface="Calibri" pitchFamily="34" charset="0"/>
                <a:ea typeface="Calibri" pitchFamily="34" charset="-122"/>
                <a:cs typeface="Calibri" pitchFamily="34" charset="-120"/>
              </a:rPr>
              <a:t>Kamera </a:t>
            </a:r>
            <a:r>
              <a:rPr lang="en-US" sz="1600" b="1" i="1" spc="-40" dirty="0">
                <a:solidFill>
                  <a:srgbClr val="0D1B2A"/>
                </a:solidFill>
                <a:latin typeface="Calibri" pitchFamily="34" charset="0"/>
                <a:ea typeface="Calibri" pitchFamily="34" charset="-122"/>
                <a:cs typeface="Calibri" pitchFamily="34" charset="-120"/>
              </a:rPr>
              <a:t>(30 Hz) </a:t>
            </a:r>
            <a:r>
              <a:rPr lang="en-US" sz="1600" b="1" spc="-40" dirty="0">
                <a:solidFill>
                  <a:srgbClr val="0D1B2A"/>
                </a:solidFill>
                <a:latin typeface="Calibri" pitchFamily="34" charset="0"/>
                <a:ea typeface="Calibri" pitchFamily="34" charset="-122"/>
                <a:cs typeface="Calibri" pitchFamily="34" charset="-120"/>
              </a:rPr>
              <a:t>/ LiDAR </a:t>
            </a:r>
            <a:r>
              <a:rPr lang="en-US" sz="1600" b="1" i="1" spc="-40" dirty="0">
                <a:solidFill>
                  <a:srgbClr val="0D1B2A"/>
                </a:solidFill>
                <a:latin typeface="Calibri" pitchFamily="34" charset="0"/>
                <a:ea typeface="Calibri" pitchFamily="34" charset="-122"/>
                <a:cs typeface="Calibri" pitchFamily="34" charset="-120"/>
              </a:rPr>
              <a:t>(10 Hz): </a:t>
            </a:r>
            <a:r>
              <a:rPr lang="en-US" sz="1600" spc="-40" dirty="0">
                <a:solidFill>
                  <a:srgbClr val="0D1B2A"/>
                </a:solidFill>
                <a:latin typeface="Calibri" pitchFamily="34" charset="0"/>
                <a:ea typeface="Calibri" pitchFamily="34" charset="-122"/>
                <a:cs typeface="Calibri" pitchFamily="34" charset="-120"/>
              </a:rPr>
              <a:t>obserwacje pozycyjne – usuwanie skumulowanego dryfu</a:t>
            </a:r>
            <a:endParaRPr lang="en-US" sz="1600" spc="-40" dirty="0"/>
          </a:p>
          <a:p>
            <a:pPr marL="216000" indent="-216000">
              <a:spcAft>
                <a:spcPts val="1200"/>
              </a:spcAft>
              <a:buSzPct val="100000"/>
              <a:buChar char="•"/>
            </a:pPr>
            <a:r>
              <a:rPr lang="en-US" sz="1600" b="1" spc="-40" dirty="0">
                <a:solidFill>
                  <a:srgbClr val="0D1B2A"/>
                </a:solidFill>
                <a:latin typeface="Calibri" pitchFamily="34" charset="0"/>
                <a:ea typeface="Calibri" pitchFamily="34" charset="-122"/>
                <a:cs typeface="Calibri" pitchFamily="34" charset="-120"/>
              </a:rPr>
              <a:t>Architektura looselycoupled</a:t>
            </a:r>
            <a:r>
              <a:rPr lang="en-US" sz="1600" spc="-40" dirty="0">
                <a:solidFill>
                  <a:srgbClr val="0D1B2A"/>
                </a:solidFill>
                <a:latin typeface="Calibri" pitchFamily="34" charset="0"/>
                <a:ea typeface="Calibri" pitchFamily="34" charset="-122"/>
                <a:cs typeface="Calibri" pitchFamily="34" charset="-120"/>
              </a:rPr>
              <a:t>: każde źródło dostarcza niezależnej estymatę pozycji do EKF</a:t>
            </a:r>
            <a:endParaRPr lang="en-US" sz="1600" spc="-40" dirty="0"/>
          </a:p>
          <a:p>
            <a:pPr marL="216000" indent="-216000">
              <a:spcAft>
                <a:spcPts val="1200"/>
              </a:spcAft>
              <a:buSzPct val="100000"/>
              <a:buChar char="•"/>
            </a:pPr>
            <a:r>
              <a:rPr lang="en-US" sz="1600" b="1" spc="-40" dirty="0">
                <a:solidFill>
                  <a:srgbClr val="0D1B2A"/>
                </a:solidFill>
                <a:latin typeface="Calibri" pitchFamily="34" charset="0"/>
                <a:ea typeface="Calibri" pitchFamily="34" charset="-122"/>
                <a:cs typeface="Calibri" pitchFamily="34" charset="-120"/>
              </a:rPr>
              <a:t>Architektura tightly coupled</a:t>
            </a:r>
            <a:r>
              <a:rPr lang="en-US" sz="1600" spc="-40" dirty="0">
                <a:solidFill>
                  <a:srgbClr val="0D1B2A"/>
                </a:solidFill>
                <a:latin typeface="Calibri" pitchFamily="34" charset="0"/>
                <a:ea typeface="Calibri" pitchFamily="34" charset="-122"/>
                <a:cs typeface="Calibri" pitchFamily="34" charset="-120"/>
              </a:rPr>
              <a:t>: surowe pomiary sensorów trafiają bezpośrednio do jednego filtru</a:t>
            </a:r>
            <a:endParaRPr lang="en-US" sz="1600" spc="-40" dirty="0"/>
          </a:p>
          <a:p>
            <a:pPr marL="216000" indent="-216000">
              <a:spcAft>
                <a:spcPts val="1200"/>
              </a:spcAft>
              <a:buSzPct val="100000"/>
              <a:buChar char="•"/>
            </a:pPr>
            <a:r>
              <a:rPr lang="en-US" sz="1600" b="1" spc="-40" dirty="0">
                <a:solidFill>
                  <a:srgbClr val="0D1B2A"/>
                </a:solidFill>
                <a:latin typeface="Calibri" pitchFamily="34" charset="0"/>
                <a:ea typeface="Calibri" pitchFamily="34" charset="-122"/>
                <a:cs typeface="Calibri" pitchFamily="34" charset="-120"/>
              </a:rPr>
              <a:t>Opóźnienia</a:t>
            </a:r>
            <a:r>
              <a:rPr lang="en-US" sz="1600" spc="-40" dirty="0">
                <a:solidFill>
                  <a:srgbClr val="0D1B2A"/>
                </a:solidFill>
                <a:latin typeface="Calibri" pitchFamily="34" charset="0"/>
                <a:ea typeface="Calibri" pitchFamily="34" charset="-122"/>
                <a:cs typeface="Calibri" pitchFamily="34" charset="-120"/>
              </a:rPr>
              <a:t>: pomiar z kamery z 33 ms opóźnieniem wymaga cofnięcia stanu (state rewinding)</a:t>
            </a:r>
            <a:endParaRPr lang="en-US" sz="1600" spc="-40" dirty="0"/>
          </a:p>
          <a:p>
            <a:pPr marL="216000" indent="-216000">
              <a:spcAft>
                <a:spcPts val="1200"/>
              </a:spcAft>
              <a:buSzPct val="100000"/>
              <a:buChar char="•"/>
            </a:pPr>
            <a:r>
              <a:rPr lang="en-US" sz="1600" b="1" spc="-40" dirty="0">
                <a:solidFill>
                  <a:srgbClr val="0D1B2A"/>
                </a:solidFill>
                <a:latin typeface="Calibri" pitchFamily="34" charset="0"/>
                <a:ea typeface="Calibri" pitchFamily="34" charset="-122"/>
                <a:cs typeface="Calibri" pitchFamily="34" charset="-120"/>
              </a:rPr>
              <a:t>Stan złożony</a:t>
            </a:r>
            <a:r>
              <a:rPr lang="en-US" sz="1600" spc="-40" dirty="0">
                <a:solidFill>
                  <a:srgbClr val="0D1B2A"/>
                </a:solidFill>
                <a:latin typeface="Calibri" pitchFamily="34" charset="0"/>
                <a:ea typeface="Calibri" pitchFamily="34" charset="-122"/>
                <a:cs typeface="Calibri" pitchFamily="34" charset="-120"/>
              </a:rPr>
              <a:t>: x = [pos, vel, orient, biasy IMU] – typowo 15–21 zmiennych stanu</a:t>
            </a:r>
            <a:endParaRPr lang="en-US" sz="1600" spc="-40" dirty="0"/>
          </a:p>
        </p:txBody>
      </p:sp>
      <p:sp>
        <p:nvSpPr>
          <p:cNvPr id="8" name="Prostokąt 7"/>
          <p:cNvSpPr/>
          <p:nvPr/>
        </p:nvSpPr>
        <p:spPr>
          <a:xfrm>
            <a:off x="274320" y="4096759"/>
            <a:ext cx="8595360" cy="992516"/>
          </a:xfrm>
          <a:prstGeom prst="rect">
            <a:avLst/>
          </a:prstGeom>
          <a:solidFill>
            <a:srgbClr val="0D1B2A"/>
          </a:solidFill>
        </p:spPr>
        <p:txBody>
          <a:bodyPr wrap="square">
            <a:spAutoFit/>
          </a:bodyPr>
          <a:lstStyle/>
          <a:p>
            <a:pPr algn="just">
              <a:lnSpc>
                <a:spcPts val="1400"/>
              </a:lnSpc>
            </a:pPr>
            <a:r>
              <a:rPr lang="pl-PL" sz="1400" dirty="0">
                <a:solidFill>
                  <a:schemeClr val="bg1"/>
                </a:solidFill>
              </a:rPr>
              <a:t>W pełnym systemie </a:t>
            </a:r>
            <a:r>
              <a:rPr lang="pl-PL" sz="1400" dirty="0" err="1">
                <a:solidFill>
                  <a:schemeClr val="bg1"/>
                </a:solidFill>
              </a:rPr>
              <a:t>humanoida</a:t>
            </a:r>
            <a:r>
              <a:rPr lang="pl-PL" sz="1400" dirty="0">
                <a:solidFill>
                  <a:schemeClr val="bg1"/>
                </a:solidFill>
              </a:rPr>
              <a:t> typowa architektura wygląda tak: IMU pracuje bardzo szybko i służy do predykcji stanu, </a:t>
            </a:r>
            <a:r>
              <a:rPr lang="pl-PL" sz="1400" dirty="0" err="1">
                <a:solidFill>
                  <a:schemeClr val="bg1"/>
                </a:solidFill>
              </a:rPr>
              <a:t>enkodery</a:t>
            </a:r>
            <a:r>
              <a:rPr lang="pl-PL" sz="1400" dirty="0">
                <a:solidFill>
                  <a:schemeClr val="bg1"/>
                </a:solidFill>
              </a:rPr>
              <a:t> wraz z kontaktami stóp korygują translację przez </a:t>
            </a:r>
            <a:r>
              <a:rPr lang="pl-PL" sz="1400" dirty="0" err="1">
                <a:solidFill>
                  <a:schemeClr val="bg1"/>
                </a:solidFill>
              </a:rPr>
              <a:t>odometrię</a:t>
            </a:r>
            <a:r>
              <a:rPr lang="pl-PL" sz="1400" dirty="0">
                <a:solidFill>
                  <a:schemeClr val="bg1"/>
                </a:solidFill>
              </a:rPr>
              <a:t> kroków, a kamera albo </a:t>
            </a:r>
            <a:r>
              <a:rPr lang="pl-PL" sz="1400" dirty="0" err="1">
                <a:solidFill>
                  <a:schemeClr val="bg1"/>
                </a:solidFill>
              </a:rPr>
              <a:t>LiDAR</a:t>
            </a:r>
            <a:r>
              <a:rPr lang="pl-PL" sz="1400" dirty="0">
                <a:solidFill>
                  <a:schemeClr val="bg1"/>
                </a:solidFill>
              </a:rPr>
              <a:t> dostarczają rzadszych, ale absolutnie kluczowych obserwacji pozycyjnych, które kasują skumulowany dryft. Można to spiąć architekturą </a:t>
            </a:r>
            <a:r>
              <a:rPr lang="pl-PL" sz="1400" dirty="0" err="1">
                <a:solidFill>
                  <a:schemeClr val="bg1"/>
                </a:solidFill>
              </a:rPr>
              <a:t>loosely</a:t>
            </a:r>
            <a:r>
              <a:rPr lang="pl-PL" sz="1400" dirty="0">
                <a:solidFill>
                  <a:schemeClr val="bg1"/>
                </a:solidFill>
              </a:rPr>
              <a:t> </a:t>
            </a:r>
            <a:r>
              <a:rPr lang="pl-PL" sz="1400" dirty="0" err="1">
                <a:solidFill>
                  <a:schemeClr val="bg1"/>
                </a:solidFill>
              </a:rPr>
              <a:t>coupled</a:t>
            </a:r>
            <a:r>
              <a:rPr lang="pl-PL" sz="1400" dirty="0">
                <a:solidFill>
                  <a:schemeClr val="bg1"/>
                </a:solidFill>
              </a:rPr>
              <a:t>, gdzie źródła dają osobne </a:t>
            </a:r>
            <a:r>
              <a:rPr lang="pl-PL" sz="1400" dirty="0" err="1">
                <a:solidFill>
                  <a:schemeClr val="bg1"/>
                </a:solidFill>
              </a:rPr>
              <a:t>estymaty</a:t>
            </a:r>
            <a:r>
              <a:rPr lang="pl-PL" sz="1400" dirty="0">
                <a:solidFill>
                  <a:schemeClr val="bg1"/>
                </a:solidFill>
              </a:rPr>
              <a:t>, albo </a:t>
            </a:r>
            <a:r>
              <a:rPr lang="pl-PL" sz="1400" dirty="0" err="1">
                <a:solidFill>
                  <a:schemeClr val="bg1"/>
                </a:solidFill>
              </a:rPr>
              <a:t>tightly</a:t>
            </a:r>
            <a:r>
              <a:rPr lang="pl-PL" sz="1400" dirty="0">
                <a:solidFill>
                  <a:schemeClr val="bg1"/>
                </a:solidFill>
              </a:rPr>
              <a:t> </a:t>
            </a:r>
            <a:r>
              <a:rPr lang="pl-PL" sz="1400" dirty="0" err="1">
                <a:solidFill>
                  <a:schemeClr val="bg1"/>
                </a:solidFill>
              </a:rPr>
              <a:t>coupled</a:t>
            </a:r>
            <a:r>
              <a:rPr lang="pl-PL" sz="1400" dirty="0">
                <a:solidFill>
                  <a:schemeClr val="bg1"/>
                </a:solidFill>
              </a:rPr>
              <a:t>, gdzie do jednego filtru trafiają surowe pomiary. Przy tym trzeba jeszcze uwzględnić opóźnienia i </a:t>
            </a:r>
            <a:r>
              <a:rPr lang="pl-PL" sz="1400" dirty="0" err="1">
                <a:solidFill>
                  <a:schemeClr val="bg1"/>
                </a:solidFill>
              </a:rPr>
              <a:t>biasy</a:t>
            </a:r>
            <a:r>
              <a:rPr lang="pl-PL" sz="1400" dirty="0">
                <a:solidFill>
                  <a:schemeClr val="bg1"/>
                </a:solidFill>
              </a:rPr>
              <a:t> IMU.</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0F4F8"/>
        </a:solidFill>
        <a:effectLst/>
      </p:bgPr>
    </p:bg>
    <p:spTree>
      <p:nvGrpSpPr>
        <p:cNvPr id="1" name=""/>
        <p:cNvGrpSpPr/>
        <p:nvPr/>
      </p:nvGrpSpPr>
      <p:grpSpPr>
        <a:xfrm>
          <a:off x="0" y="0"/>
          <a:ext cx="0" cy="0"/>
          <a:chOff x="0" y="0"/>
          <a:chExt cx="0" cy="0"/>
        </a:xfrm>
      </p:grpSpPr>
      <p:sp>
        <p:nvSpPr>
          <p:cNvPr id="2" name="Shape 0"/>
          <p:cNvSpPr/>
          <p:nvPr/>
        </p:nvSpPr>
        <p:spPr>
          <a:xfrm>
            <a:off x="0" y="0"/>
            <a:ext cx="64008" cy="5143500"/>
          </a:xfrm>
          <a:prstGeom prst="rect">
            <a:avLst/>
          </a:prstGeom>
          <a:solidFill>
            <a:srgbClr val="F72585"/>
          </a:solidFill>
          <a:ln w="12700">
            <a:solidFill>
              <a:srgbClr val="F72585"/>
            </a:solidFill>
            <a:prstDash val="solid"/>
          </a:ln>
        </p:spPr>
      </p:sp>
      <p:sp>
        <p:nvSpPr>
          <p:cNvPr id="3" name="Shape 1"/>
          <p:cNvSpPr/>
          <p:nvPr/>
        </p:nvSpPr>
        <p:spPr>
          <a:xfrm>
            <a:off x="64008" y="0"/>
            <a:ext cx="9079992" cy="960120"/>
          </a:xfrm>
          <a:prstGeom prst="rect">
            <a:avLst/>
          </a:prstGeom>
          <a:solidFill>
            <a:srgbClr val="0D1B2A"/>
          </a:solidFill>
          <a:ln w="12700">
            <a:solidFill>
              <a:srgbClr val="0D1B2A"/>
            </a:solidFill>
            <a:prstDash val="solid"/>
          </a:ln>
        </p:spPr>
      </p:sp>
      <p:sp>
        <p:nvSpPr>
          <p:cNvPr id="4" name="Text 2"/>
          <p:cNvSpPr/>
          <p:nvPr/>
        </p:nvSpPr>
        <p:spPr>
          <a:xfrm>
            <a:off x="228600" y="73152"/>
            <a:ext cx="4572000" cy="274320"/>
          </a:xfrm>
          <a:prstGeom prst="rect">
            <a:avLst/>
          </a:prstGeom>
          <a:noFill/>
          <a:ln/>
        </p:spPr>
        <p:txBody>
          <a:bodyPr wrap="square" lIns="0" tIns="0" rIns="0" bIns="0" rtlCol="0" anchor="ctr"/>
          <a:lstStyle/>
          <a:p>
            <a:pPr marL="0" indent="0">
              <a:buNone/>
            </a:pPr>
            <a:r>
              <a:rPr lang="en-US" sz="900" b="1" kern="0" spc="200" dirty="0">
                <a:solidFill>
                  <a:srgbClr val="F72585"/>
                </a:solidFill>
                <a:latin typeface="Trebuchet MS" pitchFamily="34" charset="0"/>
                <a:ea typeface="Trebuchet MS" pitchFamily="34" charset="-122"/>
                <a:cs typeface="Trebuchet MS" pitchFamily="34" charset="-120"/>
              </a:rPr>
              <a:t>SEKCJA 2 | AWARIE SENSORÓW</a:t>
            </a:r>
            <a:endParaRPr lang="en-US" sz="900" dirty="0"/>
          </a:p>
        </p:txBody>
      </p:sp>
      <p:sp>
        <p:nvSpPr>
          <p:cNvPr id="5" name="Text 3"/>
          <p:cNvSpPr/>
          <p:nvPr/>
        </p:nvSpPr>
        <p:spPr>
          <a:xfrm>
            <a:off x="228600" y="274320"/>
            <a:ext cx="8686800" cy="594360"/>
          </a:xfrm>
          <a:prstGeom prst="rect">
            <a:avLst/>
          </a:prstGeom>
          <a:noFill/>
          <a:ln/>
        </p:spPr>
        <p:txBody>
          <a:bodyPr wrap="square" lIns="0" tIns="0" rIns="0" bIns="0" rtlCol="0" anchor="ctr"/>
          <a:lstStyle/>
          <a:p>
            <a:pPr marL="0" indent="0">
              <a:buNone/>
            </a:pPr>
            <a:r>
              <a:rPr lang="en-US" sz="2800" b="1" dirty="0">
                <a:solidFill>
                  <a:srgbClr val="FFFFFF"/>
                </a:solidFill>
                <a:latin typeface="Trebuchet MS" pitchFamily="34" charset="0"/>
                <a:ea typeface="Trebuchet MS" pitchFamily="34" charset="-122"/>
                <a:cs typeface="Trebuchet MS" pitchFamily="34" charset="-120"/>
              </a:rPr>
              <a:t>Wykrywanie awarii sensora</a:t>
            </a:r>
            <a:endParaRPr lang="en-US" sz="2800" dirty="0"/>
          </a:p>
        </p:txBody>
      </p:sp>
      <p:sp>
        <p:nvSpPr>
          <p:cNvPr id="6" name="Shape 4"/>
          <p:cNvSpPr/>
          <p:nvPr/>
        </p:nvSpPr>
        <p:spPr>
          <a:xfrm>
            <a:off x="274320" y="1097280"/>
            <a:ext cx="4160520" cy="2947179"/>
          </a:xfrm>
          <a:prstGeom prst="rect">
            <a:avLst/>
          </a:prstGeom>
          <a:solidFill>
            <a:srgbClr val="EFF6FF"/>
          </a:solidFill>
          <a:ln w="12700">
            <a:solidFill>
              <a:srgbClr val="E2EBF3"/>
            </a:solidFill>
            <a:prstDash val="solid"/>
          </a:ln>
          <a:effectLst>
            <a:outerShdw blurRad="76200" dist="25400" dir="8100000" algn="bl" rotWithShape="0">
              <a:srgbClr val="000000">
                <a:alpha val="12000"/>
              </a:srgbClr>
            </a:outerShdw>
          </a:effectLst>
        </p:spPr>
      </p:sp>
      <p:sp>
        <p:nvSpPr>
          <p:cNvPr id="7" name="Shape 5"/>
          <p:cNvSpPr/>
          <p:nvPr/>
        </p:nvSpPr>
        <p:spPr>
          <a:xfrm>
            <a:off x="4709160" y="1097280"/>
            <a:ext cx="4160520" cy="2947179"/>
          </a:xfrm>
          <a:prstGeom prst="rect">
            <a:avLst/>
          </a:prstGeom>
          <a:solidFill>
            <a:srgbClr val="FFF1F5"/>
          </a:solidFill>
          <a:ln w="12700">
            <a:solidFill>
              <a:srgbClr val="E2EBF3"/>
            </a:solidFill>
            <a:prstDash val="solid"/>
          </a:ln>
          <a:effectLst>
            <a:outerShdw blurRad="76200" dist="25400" dir="8100000" algn="bl" rotWithShape="0">
              <a:srgbClr val="000000">
                <a:alpha val="12000"/>
              </a:srgbClr>
            </a:outerShdw>
          </a:effectLst>
        </p:spPr>
      </p:sp>
      <p:sp>
        <p:nvSpPr>
          <p:cNvPr id="8" name="Shape 6"/>
          <p:cNvSpPr/>
          <p:nvPr/>
        </p:nvSpPr>
        <p:spPr>
          <a:xfrm>
            <a:off x="274320" y="1097280"/>
            <a:ext cx="4160520" cy="411480"/>
          </a:xfrm>
          <a:prstGeom prst="rect">
            <a:avLst/>
          </a:prstGeom>
          <a:solidFill>
            <a:srgbClr val="0077A8"/>
          </a:solidFill>
          <a:ln w="12700">
            <a:solidFill>
              <a:srgbClr val="0077A8"/>
            </a:solidFill>
            <a:prstDash val="solid"/>
          </a:ln>
        </p:spPr>
      </p:sp>
      <p:sp>
        <p:nvSpPr>
          <p:cNvPr id="9" name="Text 7"/>
          <p:cNvSpPr/>
          <p:nvPr/>
        </p:nvSpPr>
        <p:spPr>
          <a:xfrm>
            <a:off x="457200" y="1115568"/>
            <a:ext cx="3794760" cy="365760"/>
          </a:xfrm>
          <a:prstGeom prst="rect">
            <a:avLst/>
          </a:prstGeom>
          <a:noFill/>
          <a:ln/>
        </p:spPr>
        <p:txBody>
          <a:bodyPr wrap="square" lIns="0" tIns="0" rIns="0" bIns="0" rtlCol="0" anchor="ctr"/>
          <a:lstStyle/>
          <a:p>
            <a:pPr marL="0" indent="0">
              <a:buNone/>
            </a:pPr>
            <a:r>
              <a:rPr lang="en-US" sz="1600" b="1" dirty="0">
                <a:solidFill>
                  <a:srgbClr val="FFFFFF"/>
                </a:solidFill>
                <a:latin typeface="Trebuchet MS" pitchFamily="34" charset="0"/>
                <a:ea typeface="Trebuchet MS" pitchFamily="34" charset="-122"/>
                <a:cs typeface="Trebuchet MS" pitchFamily="34" charset="-120"/>
              </a:rPr>
              <a:t>Test innowacji </a:t>
            </a:r>
            <a:r>
              <a:rPr lang="en-US" sz="1600" dirty="0">
                <a:solidFill>
                  <a:srgbClr val="FFFFFF"/>
                </a:solidFill>
                <a:latin typeface="Trebuchet MS" pitchFamily="34" charset="0"/>
                <a:ea typeface="Trebuchet MS" pitchFamily="34" charset="-122"/>
                <a:cs typeface="Trebuchet MS" pitchFamily="34" charset="-120"/>
              </a:rPr>
              <a:t>(chi-squared)</a:t>
            </a:r>
            <a:endParaRPr lang="en-US" sz="1600" dirty="0"/>
          </a:p>
        </p:txBody>
      </p:sp>
      <p:sp>
        <p:nvSpPr>
          <p:cNvPr id="10" name="Shape 8"/>
          <p:cNvSpPr/>
          <p:nvPr/>
        </p:nvSpPr>
        <p:spPr>
          <a:xfrm>
            <a:off x="4709160" y="1097280"/>
            <a:ext cx="4160520" cy="411480"/>
          </a:xfrm>
          <a:prstGeom prst="rect">
            <a:avLst/>
          </a:prstGeom>
          <a:solidFill>
            <a:srgbClr val="F72585"/>
          </a:solidFill>
          <a:ln w="12700">
            <a:solidFill>
              <a:srgbClr val="F72585"/>
            </a:solidFill>
            <a:prstDash val="solid"/>
          </a:ln>
        </p:spPr>
      </p:sp>
      <p:sp>
        <p:nvSpPr>
          <p:cNvPr id="11" name="Text 9"/>
          <p:cNvSpPr/>
          <p:nvPr/>
        </p:nvSpPr>
        <p:spPr>
          <a:xfrm>
            <a:off x="4892040" y="1115568"/>
            <a:ext cx="3794760" cy="365760"/>
          </a:xfrm>
          <a:prstGeom prst="rect">
            <a:avLst/>
          </a:prstGeom>
          <a:noFill/>
          <a:ln/>
        </p:spPr>
        <p:txBody>
          <a:bodyPr wrap="square" lIns="0" tIns="0" rIns="0" bIns="0" rtlCol="0" anchor="ctr"/>
          <a:lstStyle/>
          <a:p>
            <a:pPr marL="0" indent="0">
              <a:buNone/>
            </a:pPr>
            <a:r>
              <a:rPr lang="en-US" sz="1600" b="1" dirty="0">
                <a:solidFill>
                  <a:srgbClr val="FFFFFF"/>
                </a:solidFill>
                <a:latin typeface="Trebuchet MS" pitchFamily="34" charset="0"/>
                <a:ea typeface="Trebuchet MS" pitchFamily="34" charset="-122"/>
                <a:cs typeface="Trebuchet MS" pitchFamily="34" charset="-120"/>
              </a:rPr>
              <a:t>Tryb degradacji </a:t>
            </a:r>
            <a:r>
              <a:rPr lang="en-US" sz="1600" dirty="0">
                <a:solidFill>
                  <a:srgbClr val="FFFFFF"/>
                </a:solidFill>
                <a:latin typeface="Trebuchet MS" pitchFamily="34" charset="0"/>
                <a:ea typeface="Trebuchet MS" pitchFamily="34" charset="-122"/>
                <a:cs typeface="Trebuchet MS" pitchFamily="34" charset="-120"/>
              </a:rPr>
              <a:t>(graceful degradation)</a:t>
            </a:r>
            <a:endParaRPr lang="en-US" sz="1600" dirty="0"/>
          </a:p>
        </p:txBody>
      </p:sp>
      <p:sp>
        <p:nvSpPr>
          <p:cNvPr id="12" name="Text 10"/>
          <p:cNvSpPr/>
          <p:nvPr/>
        </p:nvSpPr>
        <p:spPr>
          <a:xfrm>
            <a:off x="457200" y="1600200"/>
            <a:ext cx="3794760" cy="2351926"/>
          </a:xfrm>
          <a:prstGeom prst="rect">
            <a:avLst/>
          </a:prstGeom>
          <a:noFill/>
          <a:ln/>
        </p:spPr>
        <p:txBody>
          <a:bodyPr wrap="square" lIns="63500" tIns="101600" rIns="101600" bIns="63500" rtlCol="0" anchor="t">
            <a:spAutoFit/>
          </a:bodyPr>
          <a:lstStyle/>
          <a:p>
            <a:pPr marL="216000" indent="-216000">
              <a:spcAft>
                <a:spcPts val="1200"/>
              </a:spcAft>
              <a:buSzPct val="100000"/>
              <a:buChar char="•"/>
            </a:pPr>
            <a:r>
              <a:rPr lang="en-US" sz="1600" dirty="0">
                <a:solidFill>
                  <a:srgbClr val="0D1B2A"/>
                </a:solidFill>
                <a:latin typeface="Calibri" pitchFamily="34" charset="0"/>
                <a:ea typeface="Calibri" pitchFamily="34" charset="-122"/>
                <a:cs typeface="Calibri" pitchFamily="34" charset="-120"/>
              </a:rPr>
              <a:t>Innowacja ν = z – H·x̂⁻ powinna być zbliżona do zera</a:t>
            </a:r>
            <a:endParaRPr lang="en-US" sz="1600" dirty="0"/>
          </a:p>
          <a:p>
            <a:pPr marL="216000" indent="-216000">
              <a:spcAft>
                <a:spcPts val="1200"/>
              </a:spcAft>
              <a:buSzPct val="100000"/>
              <a:buChar char="•"/>
            </a:pPr>
            <a:r>
              <a:rPr lang="en-US" sz="1600" dirty="0">
                <a:solidFill>
                  <a:srgbClr val="0D1B2A"/>
                </a:solidFill>
                <a:latin typeface="Calibri" pitchFamily="34" charset="0"/>
                <a:ea typeface="Calibri" pitchFamily="34" charset="-122"/>
                <a:cs typeface="Calibri" pitchFamily="34" charset="-120"/>
              </a:rPr>
              <a:t>Statystyka χ²: ν⁻¹·S⁻¹·ν &gt; próg → sensor awaryjny</a:t>
            </a:r>
            <a:endParaRPr lang="en-US" sz="1600" dirty="0"/>
          </a:p>
          <a:p>
            <a:pPr marL="216000" indent="-216000">
              <a:spcAft>
                <a:spcPts val="1200"/>
              </a:spcAft>
              <a:buSzPct val="100000"/>
              <a:buChar char="•"/>
            </a:pPr>
            <a:r>
              <a:rPr lang="en-US" sz="1600" dirty="0">
                <a:solidFill>
                  <a:srgbClr val="0D1B2A"/>
                </a:solidFill>
                <a:latin typeface="Calibri" pitchFamily="34" charset="0"/>
                <a:ea typeface="Calibri" pitchFamily="34" charset="-122"/>
                <a:cs typeface="Calibri" pitchFamily="34" charset="-120"/>
              </a:rPr>
              <a:t>Zaimplementowane w bibliotekach iSAM2, GTSAM</a:t>
            </a:r>
            <a:endParaRPr lang="en-US" sz="1600" dirty="0"/>
          </a:p>
          <a:p>
            <a:pPr marL="216000" indent="-216000">
              <a:spcAft>
                <a:spcPts val="1200"/>
              </a:spcAft>
              <a:buSzPct val="100000"/>
              <a:buChar char="•"/>
            </a:pPr>
            <a:r>
              <a:rPr lang="en-US" sz="1600" dirty="0">
                <a:solidFill>
                  <a:srgbClr val="0D1B2A"/>
                </a:solidFill>
                <a:latin typeface="Calibri" pitchFamily="34" charset="0"/>
                <a:ea typeface="Calibri" pitchFamily="34" charset="-122"/>
                <a:cs typeface="Calibri" pitchFamily="34" charset="-120"/>
              </a:rPr>
              <a:t>Działa online, bez zatrzymywania robota</a:t>
            </a:r>
            <a:endParaRPr lang="en-US" sz="1600" dirty="0"/>
          </a:p>
        </p:txBody>
      </p:sp>
      <p:sp>
        <p:nvSpPr>
          <p:cNvPr id="13" name="Text 11"/>
          <p:cNvSpPr/>
          <p:nvPr/>
        </p:nvSpPr>
        <p:spPr>
          <a:xfrm>
            <a:off x="4892040" y="1600200"/>
            <a:ext cx="3794760" cy="2444259"/>
          </a:xfrm>
          <a:prstGeom prst="rect">
            <a:avLst/>
          </a:prstGeom>
          <a:noFill/>
          <a:ln/>
        </p:spPr>
        <p:txBody>
          <a:bodyPr wrap="square" lIns="63500" tIns="101600" rIns="101600" bIns="63500" rtlCol="0" anchor="t">
            <a:spAutoFit/>
          </a:bodyPr>
          <a:lstStyle/>
          <a:p>
            <a:pPr marL="216000" indent="-216000">
              <a:spcAft>
                <a:spcPts val="800"/>
              </a:spcAft>
              <a:buSzPct val="100000"/>
              <a:buChar char="•"/>
            </a:pPr>
            <a:r>
              <a:rPr lang="en-US" sz="1600" dirty="0">
                <a:solidFill>
                  <a:srgbClr val="0D1B2A"/>
                </a:solidFill>
                <a:latin typeface="Calibri" pitchFamily="34" charset="0"/>
                <a:ea typeface="Calibri" pitchFamily="34" charset="-122"/>
                <a:cs typeface="Calibri" pitchFamily="34" charset="-120"/>
              </a:rPr>
              <a:t>Awaria kamery → nawigacja tylko na IMU + enkodery</a:t>
            </a:r>
            <a:endParaRPr lang="en-US" sz="1600" dirty="0"/>
          </a:p>
          <a:p>
            <a:pPr marL="216000" indent="-216000">
              <a:spcAft>
                <a:spcPts val="800"/>
              </a:spcAft>
              <a:buSzPct val="100000"/>
              <a:buChar char="•"/>
            </a:pPr>
            <a:r>
              <a:rPr lang="en-US" sz="1600" dirty="0">
                <a:solidFill>
                  <a:srgbClr val="0D1B2A"/>
                </a:solidFill>
                <a:latin typeface="Calibri" pitchFamily="34" charset="0"/>
                <a:ea typeface="Calibri" pitchFamily="34" charset="-122"/>
                <a:cs typeface="Calibri" pitchFamily="34" charset="-120"/>
              </a:rPr>
              <a:t>Awaria LiDAR → zmniejszony zasięg planowania</a:t>
            </a:r>
            <a:endParaRPr lang="en-US" sz="1600" dirty="0"/>
          </a:p>
          <a:p>
            <a:pPr marL="216000" indent="-216000">
              <a:spcAft>
                <a:spcPts val="800"/>
              </a:spcAft>
              <a:buSzPct val="100000"/>
              <a:buChar char="•"/>
            </a:pPr>
            <a:r>
              <a:rPr lang="en-US" sz="1600" dirty="0">
                <a:solidFill>
                  <a:srgbClr val="0D1B2A"/>
                </a:solidFill>
                <a:latin typeface="Calibri" pitchFamily="34" charset="0"/>
                <a:ea typeface="Calibri" pitchFamily="34" charset="-122"/>
                <a:cs typeface="Calibri" pitchFamily="34" charset="-120"/>
              </a:rPr>
              <a:t>Awaria jednej stopy F/T → wyłącz kinematyczną odo dla tej nogi</a:t>
            </a:r>
            <a:endParaRPr lang="en-US" sz="1600" dirty="0"/>
          </a:p>
          <a:p>
            <a:pPr marL="216000" indent="-216000">
              <a:spcAft>
                <a:spcPts val="800"/>
              </a:spcAft>
              <a:buSzPct val="100000"/>
              <a:buChar char="•"/>
            </a:pPr>
            <a:r>
              <a:rPr lang="en-US" sz="1600" dirty="0">
                <a:solidFill>
                  <a:srgbClr val="0D1B2A"/>
                </a:solidFill>
                <a:latin typeface="Calibri" pitchFamily="34" charset="0"/>
                <a:ea typeface="Calibri" pitchFamily="34" charset="-122"/>
                <a:cs typeface="Calibri" pitchFamily="34" charset="-120"/>
              </a:rPr>
              <a:t>Zwiększenie macierzy Q i P → większy obszar niepewności</a:t>
            </a:r>
            <a:endParaRPr lang="en-US" sz="1600" dirty="0"/>
          </a:p>
        </p:txBody>
      </p:sp>
      <p:sp>
        <p:nvSpPr>
          <p:cNvPr id="14" name="Prostokąt 13"/>
          <p:cNvSpPr/>
          <p:nvPr/>
        </p:nvSpPr>
        <p:spPr>
          <a:xfrm>
            <a:off x="274320" y="4202557"/>
            <a:ext cx="8595360" cy="812979"/>
          </a:xfrm>
          <a:prstGeom prst="rect">
            <a:avLst/>
          </a:prstGeom>
          <a:solidFill>
            <a:srgbClr val="0D1B2A"/>
          </a:solidFill>
        </p:spPr>
        <p:txBody>
          <a:bodyPr wrap="square">
            <a:spAutoFit/>
          </a:bodyPr>
          <a:lstStyle/>
          <a:p>
            <a:pPr algn="just">
              <a:lnSpc>
                <a:spcPts val="1400"/>
              </a:lnSpc>
            </a:pPr>
            <a:r>
              <a:rPr lang="pl-PL" sz="1400" dirty="0">
                <a:solidFill>
                  <a:schemeClr val="bg1"/>
                </a:solidFill>
              </a:rPr>
              <a:t>Dobry system lokalizacji musi również wykrywać awarie sensorów. Robi się to między innymi przez analizę innowacji. Jeśli różnica między pomiarem a przewidywaniem staje się statystycznie zbyt duża, uznajemy sensor za niewiarygodny. Wtedy system przechodzi w tryb degradacji, na przykład jedzie bez kamery albo wyłącza </a:t>
            </a:r>
            <a:r>
              <a:rPr lang="pl-PL" sz="1400" dirty="0" err="1">
                <a:solidFill>
                  <a:schemeClr val="bg1"/>
                </a:solidFill>
              </a:rPr>
              <a:t>odometrię</a:t>
            </a:r>
            <a:r>
              <a:rPr lang="pl-PL" sz="1400" dirty="0">
                <a:solidFill>
                  <a:schemeClr val="bg1"/>
                </a:solidFill>
              </a:rPr>
              <a:t> jednej stopy. Jednocześnie rośnie niepewność estymacji, co powinno znaleźć odbicie w macierzach Q i P. </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1A3550"/>
        </a:solidFill>
        <a:effectLst/>
      </p:bgPr>
    </p:bg>
    <p:spTree>
      <p:nvGrpSpPr>
        <p:cNvPr id="1" name=""/>
        <p:cNvGrpSpPr/>
        <p:nvPr/>
      </p:nvGrpSpPr>
      <p:grpSpPr>
        <a:xfrm>
          <a:off x="0" y="0"/>
          <a:ext cx="0" cy="0"/>
          <a:chOff x="0" y="0"/>
          <a:chExt cx="0" cy="0"/>
        </a:xfrm>
      </p:grpSpPr>
      <p:sp>
        <p:nvSpPr>
          <p:cNvPr id="2" name="Shape 0"/>
          <p:cNvSpPr/>
          <p:nvPr/>
        </p:nvSpPr>
        <p:spPr>
          <a:xfrm>
            <a:off x="0" y="0"/>
            <a:ext cx="9144000" cy="91440"/>
          </a:xfrm>
          <a:prstGeom prst="rect">
            <a:avLst/>
          </a:prstGeom>
          <a:solidFill>
            <a:srgbClr val="00B4D8"/>
          </a:solidFill>
          <a:ln w="12700">
            <a:solidFill>
              <a:srgbClr val="00B4D8"/>
            </a:solidFill>
            <a:prstDash val="solid"/>
          </a:ln>
        </p:spPr>
      </p:sp>
      <p:sp>
        <p:nvSpPr>
          <p:cNvPr id="3" name="Shape 1"/>
          <p:cNvSpPr/>
          <p:nvPr/>
        </p:nvSpPr>
        <p:spPr>
          <a:xfrm>
            <a:off x="0" y="5052060"/>
            <a:ext cx="9144000" cy="91440"/>
          </a:xfrm>
          <a:prstGeom prst="rect">
            <a:avLst/>
          </a:prstGeom>
          <a:solidFill>
            <a:srgbClr val="0077A8"/>
          </a:solidFill>
          <a:ln w="12700">
            <a:solidFill>
              <a:srgbClr val="0077A8"/>
            </a:solidFill>
            <a:prstDash val="solid"/>
          </a:ln>
        </p:spPr>
      </p:sp>
      <p:sp>
        <p:nvSpPr>
          <p:cNvPr id="4" name="Text 2"/>
          <p:cNvSpPr/>
          <p:nvPr/>
        </p:nvSpPr>
        <p:spPr>
          <a:xfrm>
            <a:off x="457200" y="640080"/>
            <a:ext cx="2286000" cy="2286000"/>
          </a:xfrm>
          <a:prstGeom prst="rect">
            <a:avLst/>
          </a:prstGeom>
          <a:noFill/>
          <a:ln/>
          <a:effectLst>
            <a:outerShdw blurRad="50800" dist="38100" dir="2700000" algn="tl" rotWithShape="0">
              <a:prstClr val="black">
                <a:alpha val="40000"/>
              </a:prstClr>
            </a:outerShdw>
          </a:effectLst>
        </p:spPr>
        <p:txBody>
          <a:bodyPr wrap="square" lIns="0" tIns="0" rIns="0" bIns="0" rtlCol="0" anchor="ctr"/>
          <a:lstStyle/>
          <a:p>
            <a:pPr marL="0" indent="0" algn="ctr">
              <a:buNone/>
            </a:pPr>
            <a:r>
              <a:rPr lang="en-US" sz="12000" b="1" dirty="0">
                <a:solidFill>
                  <a:srgbClr val="00B4D8">
                    <a:alpha val="80000"/>
                  </a:srgbClr>
                </a:solidFill>
                <a:latin typeface="Trebuchet MS" pitchFamily="34" charset="0"/>
                <a:ea typeface="Trebuchet MS" pitchFamily="34" charset="-122"/>
                <a:cs typeface="Trebuchet MS" pitchFamily="34" charset="-120"/>
              </a:rPr>
              <a:t>03</a:t>
            </a:r>
            <a:endParaRPr lang="en-US" sz="12000" dirty="0"/>
          </a:p>
        </p:txBody>
      </p:sp>
      <p:sp>
        <p:nvSpPr>
          <p:cNvPr id="5" name="Shape 3"/>
          <p:cNvSpPr/>
          <p:nvPr/>
        </p:nvSpPr>
        <p:spPr>
          <a:xfrm>
            <a:off x="7132320" y="1371600"/>
            <a:ext cx="1645920" cy="1645920"/>
          </a:xfrm>
          <a:prstGeom prst="ellipse">
            <a:avLst/>
          </a:prstGeom>
          <a:solidFill>
            <a:schemeClr val="bg1"/>
          </a:solidFill>
          <a:ln w="57150">
            <a:solidFill>
              <a:srgbClr val="00B4D8"/>
            </a:solidFill>
            <a:prstDash val="solid"/>
          </a:ln>
          <a:effectLst>
            <a:outerShdw blurRad="50800" dist="38100" dir="2700000" algn="tl" rotWithShape="0">
              <a:prstClr val="black">
                <a:alpha val="40000"/>
              </a:prstClr>
            </a:outerShdw>
          </a:effectLst>
        </p:spPr>
      </p:sp>
      <p:pic>
        <p:nvPicPr>
          <p:cNvPr id="6" name="Image 0" descr="preencoded.png"/>
          <p:cNvPicPr>
            <a:picLocks noChangeAspect="1"/>
          </p:cNvPicPr>
          <p:nvPr/>
        </p:nvPicPr>
        <p:blipFill>
          <a:blip r:embed="rId3"/>
          <a:stretch>
            <a:fillRect/>
          </a:stretch>
        </p:blipFill>
        <p:spPr>
          <a:xfrm>
            <a:off x="7406640" y="1645920"/>
            <a:ext cx="1097280" cy="1097280"/>
          </a:xfrm>
          <a:prstGeom prst="rect">
            <a:avLst/>
          </a:prstGeom>
        </p:spPr>
      </p:pic>
      <p:sp>
        <p:nvSpPr>
          <p:cNvPr id="7" name="Text 4"/>
          <p:cNvSpPr/>
          <p:nvPr/>
        </p:nvSpPr>
        <p:spPr>
          <a:xfrm>
            <a:off x="2926080" y="1188720"/>
            <a:ext cx="3931920" cy="365760"/>
          </a:xfrm>
          <a:prstGeom prst="rect">
            <a:avLst/>
          </a:prstGeom>
          <a:noFill/>
          <a:ln/>
        </p:spPr>
        <p:txBody>
          <a:bodyPr wrap="square" lIns="0" tIns="0" rIns="0" bIns="0" rtlCol="0" anchor="ctr"/>
          <a:lstStyle/>
          <a:p>
            <a:pPr marL="0" indent="0">
              <a:buNone/>
            </a:pPr>
            <a:r>
              <a:rPr lang="en-US" sz="1200" b="1" kern="0" spc="400" dirty="0">
                <a:solidFill>
                  <a:srgbClr val="00B4D8"/>
                </a:solidFill>
                <a:latin typeface="Trebuchet MS" pitchFamily="34" charset="0"/>
                <a:ea typeface="Trebuchet MS" pitchFamily="34" charset="-122"/>
                <a:cs typeface="Trebuchet MS" pitchFamily="34" charset="-120"/>
              </a:rPr>
              <a:t>SEKCJA</a:t>
            </a:r>
            <a:endParaRPr lang="en-US" sz="1200" dirty="0"/>
          </a:p>
        </p:txBody>
      </p:sp>
      <p:sp>
        <p:nvSpPr>
          <p:cNvPr id="8" name="Text 5"/>
          <p:cNvSpPr/>
          <p:nvPr/>
        </p:nvSpPr>
        <p:spPr>
          <a:xfrm>
            <a:off x="2926080" y="1600200"/>
            <a:ext cx="3931920" cy="1005840"/>
          </a:xfrm>
          <a:prstGeom prst="rect">
            <a:avLst/>
          </a:prstGeom>
          <a:noFill/>
          <a:ln/>
        </p:spPr>
        <p:txBody>
          <a:bodyPr wrap="square" lIns="0" tIns="0" rIns="0" bIns="0" rtlCol="0" anchor="ctr"/>
          <a:lstStyle/>
          <a:p>
            <a:pPr marL="0" indent="0">
              <a:buNone/>
            </a:pPr>
            <a:r>
              <a:rPr lang="en-US" sz="3200" b="1" dirty="0">
                <a:solidFill>
                  <a:srgbClr val="FFFFFF"/>
                </a:solidFill>
                <a:latin typeface="Trebuchet MS" pitchFamily="34" charset="0"/>
                <a:ea typeface="Trebuchet MS" pitchFamily="34" charset="-122"/>
                <a:cs typeface="Trebuchet MS" pitchFamily="34" charset="-120"/>
              </a:rPr>
              <a:t>Lokalizacja globalna</a:t>
            </a:r>
            <a:endParaRPr lang="en-US" sz="3200" dirty="0"/>
          </a:p>
          <a:p>
            <a:pPr marL="0" indent="0">
              <a:buNone/>
            </a:pPr>
            <a:r>
              <a:rPr lang="en-US" sz="3200" b="1" dirty="0">
                <a:solidFill>
                  <a:srgbClr val="FFFFFF"/>
                </a:solidFill>
                <a:latin typeface="Trebuchet MS" pitchFamily="34" charset="0"/>
                <a:ea typeface="Trebuchet MS" pitchFamily="34" charset="-122"/>
                <a:cs typeface="Trebuchet MS" pitchFamily="34" charset="-120"/>
              </a:rPr>
              <a:t>i SLAM</a:t>
            </a:r>
            <a:endParaRPr lang="en-US" sz="3200" dirty="0"/>
          </a:p>
        </p:txBody>
      </p:sp>
      <p:sp>
        <p:nvSpPr>
          <p:cNvPr id="9" name="Shape 6"/>
          <p:cNvSpPr/>
          <p:nvPr/>
        </p:nvSpPr>
        <p:spPr>
          <a:xfrm>
            <a:off x="2926080" y="2697480"/>
            <a:ext cx="3931920" cy="27432"/>
          </a:xfrm>
          <a:prstGeom prst="rect">
            <a:avLst/>
          </a:prstGeom>
          <a:solidFill>
            <a:srgbClr val="00B4D8"/>
          </a:solidFill>
          <a:ln w="12700">
            <a:solidFill>
              <a:srgbClr val="00B4D8"/>
            </a:solidFill>
            <a:prstDash val="solid"/>
          </a:ln>
          <a:effectLst>
            <a:outerShdw blurRad="50800" dist="38100" dir="2700000" algn="tl" rotWithShape="0">
              <a:prstClr val="black">
                <a:alpha val="40000"/>
              </a:prstClr>
            </a:outerShdw>
          </a:effectLst>
        </p:spPr>
      </p:sp>
      <p:sp>
        <p:nvSpPr>
          <p:cNvPr id="10" name="Text 7"/>
          <p:cNvSpPr/>
          <p:nvPr/>
        </p:nvSpPr>
        <p:spPr>
          <a:xfrm>
            <a:off x="2926080" y="2834640"/>
            <a:ext cx="3931920" cy="822960"/>
          </a:xfrm>
          <a:prstGeom prst="rect">
            <a:avLst/>
          </a:prstGeom>
          <a:noFill/>
          <a:ln/>
        </p:spPr>
        <p:txBody>
          <a:bodyPr wrap="square" lIns="0" tIns="0" rIns="0" bIns="0" rtlCol="0" anchor="ctr"/>
          <a:lstStyle/>
          <a:p>
            <a:pPr marL="0" indent="0">
              <a:buNone/>
            </a:pPr>
            <a:r>
              <a:rPr lang="en-US" sz="1400" i="1" dirty="0">
                <a:solidFill>
                  <a:srgbClr val="E2EBF3"/>
                </a:solidFill>
                <a:latin typeface="Calibri" pitchFamily="34" charset="0"/>
                <a:ea typeface="Calibri" pitchFamily="34" charset="-122"/>
                <a:cs typeface="Calibri" pitchFamily="34" charset="-120"/>
              </a:rPr>
              <a:t>ICP, visual odometry, pose graph, domykanie pętli</a:t>
            </a:r>
            <a:endParaRPr lang="en-US" sz="1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0F4F8"/>
        </a:solidFill>
        <a:effectLst/>
      </p:bgPr>
    </p:bg>
    <p:spTree>
      <p:nvGrpSpPr>
        <p:cNvPr id="1" name=""/>
        <p:cNvGrpSpPr/>
        <p:nvPr/>
      </p:nvGrpSpPr>
      <p:grpSpPr>
        <a:xfrm>
          <a:off x="0" y="0"/>
          <a:ext cx="0" cy="0"/>
          <a:chOff x="0" y="0"/>
          <a:chExt cx="0" cy="0"/>
        </a:xfrm>
      </p:grpSpPr>
      <p:sp>
        <p:nvSpPr>
          <p:cNvPr id="2" name="Shape 0"/>
          <p:cNvSpPr/>
          <p:nvPr/>
        </p:nvSpPr>
        <p:spPr>
          <a:xfrm>
            <a:off x="0" y="0"/>
            <a:ext cx="64008" cy="5143500"/>
          </a:xfrm>
          <a:prstGeom prst="rect">
            <a:avLst/>
          </a:prstGeom>
          <a:solidFill>
            <a:srgbClr val="00B4D8"/>
          </a:solidFill>
          <a:ln w="12700">
            <a:solidFill>
              <a:srgbClr val="00B4D8"/>
            </a:solidFill>
            <a:prstDash val="solid"/>
          </a:ln>
        </p:spPr>
      </p:sp>
      <p:sp>
        <p:nvSpPr>
          <p:cNvPr id="3" name="Shape 1"/>
          <p:cNvSpPr/>
          <p:nvPr/>
        </p:nvSpPr>
        <p:spPr>
          <a:xfrm>
            <a:off x="64008" y="0"/>
            <a:ext cx="9079992" cy="960120"/>
          </a:xfrm>
          <a:prstGeom prst="rect">
            <a:avLst/>
          </a:prstGeom>
          <a:solidFill>
            <a:srgbClr val="0D1B2A"/>
          </a:solidFill>
          <a:ln w="12700">
            <a:solidFill>
              <a:srgbClr val="0D1B2A"/>
            </a:solidFill>
            <a:prstDash val="solid"/>
          </a:ln>
        </p:spPr>
      </p:sp>
      <p:sp>
        <p:nvSpPr>
          <p:cNvPr id="4" name="Text 2"/>
          <p:cNvSpPr/>
          <p:nvPr/>
        </p:nvSpPr>
        <p:spPr>
          <a:xfrm>
            <a:off x="228600" y="73152"/>
            <a:ext cx="4572000" cy="274320"/>
          </a:xfrm>
          <a:prstGeom prst="rect">
            <a:avLst/>
          </a:prstGeom>
          <a:noFill/>
          <a:ln/>
        </p:spPr>
        <p:txBody>
          <a:bodyPr wrap="square" lIns="0" tIns="0" rIns="0" bIns="0" rtlCol="0" anchor="ctr"/>
          <a:lstStyle/>
          <a:p>
            <a:pPr marL="0" indent="0">
              <a:buNone/>
            </a:pPr>
            <a:r>
              <a:rPr lang="en-US" sz="900" b="1" kern="0" spc="200" dirty="0">
                <a:solidFill>
                  <a:srgbClr val="00B4D8"/>
                </a:solidFill>
                <a:latin typeface="Trebuchet MS" pitchFamily="34" charset="0"/>
                <a:ea typeface="Trebuchet MS" pitchFamily="34" charset="-122"/>
                <a:cs typeface="Trebuchet MS" pitchFamily="34" charset="-120"/>
              </a:rPr>
              <a:t>SEKCJA 3 | LOKALIZACJA</a:t>
            </a:r>
            <a:endParaRPr lang="en-US" sz="900" dirty="0"/>
          </a:p>
        </p:txBody>
      </p:sp>
      <p:sp>
        <p:nvSpPr>
          <p:cNvPr id="5" name="Text 3"/>
          <p:cNvSpPr/>
          <p:nvPr/>
        </p:nvSpPr>
        <p:spPr>
          <a:xfrm>
            <a:off x="228600" y="274320"/>
            <a:ext cx="8686800" cy="594360"/>
          </a:xfrm>
          <a:prstGeom prst="rect">
            <a:avLst/>
          </a:prstGeom>
          <a:noFill/>
          <a:ln/>
        </p:spPr>
        <p:txBody>
          <a:bodyPr wrap="square" lIns="0" tIns="0" rIns="0" bIns="0" rtlCol="0" anchor="ctr"/>
          <a:lstStyle/>
          <a:p>
            <a:pPr marL="0" indent="0">
              <a:buNone/>
            </a:pPr>
            <a:r>
              <a:rPr lang="en-US" sz="2800" b="1" dirty="0">
                <a:solidFill>
                  <a:srgbClr val="FFFFFF"/>
                </a:solidFill>
                <a:latin typeface="Trebuchet MS" pitchFamily="34" charset="0"/>
                <a:ea typeface="Trebuchet MS" pitchFamily="34" charset="-122"/>
                <a:cs typeface="Trebuchet MS" pitchFamily="34" charset="-120"/>
              </a:rPr>
              <a:t>Lokalizacja względem znanych map</a:t>
            </a:r>
            <a:endParaRPr lang="en-US" sz="2800" dirty="0"/>
          </a:p>
        </p:txBody>
      </p:sp>
      <p:sp>
        <p:nvSpPr>
          <p:cNvPr id="6" name="Shape 4"/>
          <p:cNvSpPr/>
          <p:nvPr/>
        </p:nvSpPr>
        <p:spPr>
          <a:xfrm>
            <a:off x="274320" y="1097281"/>
            <a:ext cx="8595360" cy="2900386"/>
          </a:xfrm>
          <a:prstGeom prst="rect">
            <a:avLst/>
          </a:prstGeom>
          <a:solidFill>
            <a:srgbClr val="FFFFFF"/>
          </a:solidFill>
          <a:ln w="12700">
            <a:solidFill>
              <a:srgbClr val="E2EBF3"/>
            </a:solidFill>
            <a:prstDash val="solid"/>
          </a:ln>
          <a:effectLst>
            <a:outerShdw blurRad="76200" dist="25400" dir="8100000" algn="bl" rotWithShape="0">
              <a:srgbClr val="000000">
                <a:alpha val="12000"/>
              </a:srgbClr>
            </a:outerShdw>
          </a:effectLst>
        </p:spPr>
      </p:sp>
      <p:sp>
        <p:nvSpPr>
          <p:cNvPr id="7" name="Text 5"/>
          <p:cNvSpPr/>
          <p:nvPr/>
        </p:nvSpPr>
        <p:spPr>
          <a:xfrm>
            <a:off x="457200" y="1188720"/>
            <a:ext cx="8229600" cy="2755933"/>
          </a:xfrm>
          <a:prstGeom prst="rect">
            <a:avLst/>
          </a:prstGeom>
          <a:noFill/>
          <a:ln/>
        </p:spPr>
        <p:txBody>
          <a:bodyPr wrap="square" lIns="127000" tIns="36000" rIns="127000" bIns="0" rtlCol="0" anchor="t">
            <a:spAutoFit/>
          </a:bodyPr>
          <a:lstStyle/>
          <a:p>
            <a:pPr marL="216000" indent="-216000">
              <a:spcAft>
                <a:spcPts val="1200"/>
              </a:spcAft>
              <a:buSzPct val="100000"/>
              <a:buFont typeface="+mj-lt"/>
              <a:buAutoNum type="arabicPeriod"/>
            </a:pPr>
            <a:r>
              <a:rPr lang="en-US" sz="1600" b="1" spc="-20" dirty="0">
                <a:solidFill>
                  <a:srgbClr val="0D1B2A"/>
                </a:solidFill>
                <a:latin typeface="Calibri" pitchFamily="34" charset="0"/>
                <a:ea typeface="Calibri" pitchFamily="34" charset="-122"/>
                <a:cs typeface="Calibri" pitchFamily="34" charset="-120"/>
              </a:rPr>
              <a:t>Cel</a:t>
            </a:r>
            <a:r>
              <a:rPr lang="en-US" sz="1600" spc="-20" dirty="0">
                <a:solidFill>
                  <a:srgbClr val="0D1B2A"/>
                </a:solidFill>
                <a:latin typeface="Calibri" pitchFamily="34" charset="0"/>
                <a:ea typeface="Calibri" pitchFamily="34" charset="-122"/>
                <a:cs typeface="Calibri" pitchFamily="34" charset="-120"/>
              </a:rPr>
              <a:t>: wyznaczenie pozycji robota w już zbudowanej mapie środowiska</a:t>
            </a:r>
            <a:endParaRPr lang="en-US" sz="1600" spc="-20" dirty="0"/>
          </a:p>
          <a:p>
            <a:pPr marL="216000" indent="-216000">
              <a:spcAft>
                <a:spcPts val="1200"/>
              </a:spcAft>
              <a:buSzPct val="100000"/>
              <a:buFont typeface="+mj-lt"/>
              <a:buAutoNum type="arabicPeriod"/>
            </a:pPr>
            <a:r>
              <a:rPr lang="en-US" sz="1600" b="1" spc="-20" dirty="0">
                <a:solidFill>
                  <a:srgbClr val="0D1B2A"/>
                </a:solidFill>
                <a:latin typeface="Calibri" pitchFamily="34" charset="0"/>
                <a:ea typeface="Calibri" pitchFamily="34" charset="-122"/>
                <a:cs typeface="Calibri" pitchFamily="34" charset="-120"/>
              </a:rPr>
              <a:t>Monte Carlo Localization </a:t>
            </a:r>
            <a:r>
              <a:rPr lang="en-US" sz="1600" b="1" i="1" spc="-20" dirty="0">
                <a:solidFill>
                  <a:srgbClr val="0D1B2A"/>
                </a:solidFill>
                <a:latin typeface="Calibri" pitchFamily="34" charset="0"/>
                <a:ea typeface="Calibri" pitchFamily="34" charset="-122"/>
                <a:cs typeface="Calibri" pitchFamily="34" charset="-120"/>
              </a:rPr>
              <a:t>(MCL / AMCL): </a:t>
            </a:r>
            <a:r>
              <a:rPr lang="en-US" sz="1600" spc="-20" dirty="0">
                <a:solidFill>
                  <a:srgbClr val="0D1B2A"/>
                </a:solidFill>
                <a:latin typeface="Calibri" pitchFamily="34" charset="0"/>
                <a:ea typeface="Calibri" pitchFamily="34" charset="-122"/>
                <a:cs typeface="Calibri" pitchFamily="34" charset="-120"/>
              </a:rPr>
              <a:t>filtr cząsteczkowy z obserwacjami LiDAR</a:t>
            </a:r>
            <a:endParaRPr lang="en-US" sz="1600" spc="-20" dirty="0"/>
          </a:p>
          <a:p>
            <a:pPr marL="216000" indent="-216000">
              <a:spcAft>
                <a:spcPts val="1200"/>
              </a:spcAft>
              <a:buSzPct val="100000"/>
              <a:buFont typeface="+mj-lt"/>
              <a:buAutoNum type="arabicPeriod"/>
            </a:pPr>
            <a:r>
              <a:rPr lang="en-US" sz="1600" b="1" spc="-20" dirty="0">
                <a:solidFill>
                  <a:srgbClr val="0D1B2A"/>
                </a:solidFill>
                <a:latin typeface="Calibri" pitchFamily="34" charset="0"/>
                <a:ea typeface="Calibri" pitchFamily="34" charset="-122"/>
                <a:cs typeface="Calibri" pitchFamily="34" charset="-120"/>
              </a:rPr>
              <a:t>Matching 2D</a:t>
            </a:r>
            <a:r>
              <a:rPr lang="en-US" sz="1600" spc="-20" dirty="0">
                <a:solidFill>
                  <a:srgbClr val="0D1B2A"/>
                </a:solidFill>
                <a:latin typeface="Calibri" pitchFamily="34" charset="0"/>
                <a:ea typeface="Calibri" pitchFamily="34" charset="-122"/>
                <a:cs typeface="Calibri" pitchFamily="34" charset="-120"/>
              </a:rPr>
              <a:t>: porównanie aktualnego skanu z mapą zajętości – scoring hipotez</a:t>
            </a:r>
            <a:endParaRPr lang="en-US" sz="1600" spc="-20" dirty="0"/>
          </a:p>
          <a:p>
            <a:pPr marL="216000" indent="-216000">
              <a:spcAft>
                <a:spcPts val="1200"/>
              </a:spcAft>
              <a:buSzPct val="100000"/>
              <a:buFont typeface="+mj-lt"/>
              <a:buAutoNum type="arabicPeriod"/>
            </a:pPr>
            <a:r>
              <a:rPr lang="en-US" sz="1600" b="1" spc="-20" dirty="0">
                <a:solidFill>
                  <a:srgbClr val="0D1B2A"/>
                </a:solidFill>
                <a:latin typeface="Calibri" pitchFamily="34" charset="0"/>
                <a:ea typeface="Calibri" pitchFamily="34" charset="-122"/>
                <a:cs typeface="Calibri" pitchFamily="34" charset="-120"/>
              </a:rPr>
              <a:t>Matching 3D </a:t>
            </a:r>
            <a:r>
              <a:rPr lang="en-US" sz="1600" b="1" i="1" spc="-20" dirty="0">
                <a:solidFill>
                  <a:srgbClr val="0D1B2A"/>
                </a:solidFill>
                <a:latin typeface="Calibri" pitchFamily="34" charset="0"/>
                <a:ea typeface="Calibri" pitchFamily="34" charset="-122"/>
                <a:cs typeface="Calibri" pitchFamily="34" charset="-120"/>
              </a:rPr>
              <a:t>(ICP): </a:t>
            </a:r>
            <a:r>
              <a:rPr lang="en-US" sz="1600" spc="-20" dirty="0">
                <a:solidFill>
                  <a:srgbClr val="0D1B2A"/>
                </a:solidFill>
                <a:latin typeface="Calibri" pitchFamily="34" charset="0"/>
                <a:ea typeface="Calibri" pitchFamily="34" charset="-122"/>
                <a:cs typeface="Calibri" pitchFamily="34" charset="-120"/>
              </a:rPr>
              <a:t>dopasowanie chmury punktów do globalnej mapy PCL</a:t>
            </a:r>
            <a:endParaRPr lang="en-US" sz="1600" spc="-20" dirty="0"/>
          </a:p>
          <a:p>
            <a:pPr marL="216000" indent="-216000">
              <a:spcAft>
                <a:spcPts val="1200"/>
              </a:spcAft>
              <a:buSzPct val="100000"/>
              <a:buFont typeface="+mj-lt"/>
              <a:buAutoNum type="arabicPeriod"/>
            </a:pPr>
            <a:r>
              <a:rPr lang="en-US" sz="1600" b="1" spc="-20" dirty="0">
                <a:solidFill>
                  <a:srgbClr val="0D1B2A"/>
                </a:solidFill>
                <a:latin typeface="Calibri" pitchFamily="34" charset="0"/>
                <a:ea typeface="Calibri" pitchFamily="34" charset="-122"/>
                <a:cs typeface="Calibri" pitchFamily="34" charset="-120"/>
              </a:rPr>
              <a:t>Histogram Filter </a:t>
            </a:r>
            <a:r>
              <a:rPr lang="en-US" sz="1600" b="1" i="1" spc="-20" dirty="0">
                <a:solidFill>
                  <a:srgbClr val="0D1B2A"/>
                </a:solidFill>
                <a:latin typeface="Calibri" pitchFamily="34" charset="0"/>
                <a:ea typeface="Calibri" pitchFamily="34" charset="-122"/>
                <a:cs typeface="Calibri" pitchFamily="34" charset="-120"/>
              </a:rPr>
              <a:t>(HMM): </a:t>
            </a:r>
            <a:r>
              <a:rPr lang="en-US" sz="1600" spc="-20" dirty="0">
                <a:solidFill>
                  <a:srgbClr val="0D1B2A"/>
                </a:solidFill>
                <a:latin typeface="Calibri" pitchFamily="34" charset="0"/>
                <a:ea typeface="Calibri" pitchFamily="34" charset="-122"/>
                <a:cs typeface="Calibri" pitchFamily="34" charset="-120"/>
              </a:rPr>
              <a:t>dyskretne komórki mapy jako hipotezy lokalizacji</a:t>
            </a:r>
            <a:endParaRPr lang="en-US" sz="1600" spc="-20" dirty="0"/>
          </a:p>
          <a:p>
            <a:pPr marL="216000" indent="-216000">
              <a:spcAft>
                <a:spcPts val="1200"/>
              </a:spcAft>
              <a:buSzPct val="100000"/>
              <a:buFont typeface="+mj-lt"/>
              <a:buAutoNum type="arabicPeriod"/>
            </a:pPr>
            <a:r>
              <a:rPr lang="en-US" sz="1600" b="1" spc="-20" dirty="0">
                <a:solidFill>
                  <a:srgbClr val="0D1B2A"/>
                </a:solidFill>
                <a:latin typeface="Calibri" pitchFamily="34" charset="0"/>
                <a:ea typeface="Calibri" pitchFamily="34" charset="-122"/>
                <a:cs typeface="Calibri" pitchFamily="34" charset="-120"/>
              </a:rPr>
              <a:t>Warunek dobrej lokalizacji</a:t>
            </a:r>
            <a:r>
              <a:rPr lang="en-US" sz="1600" spc="-20" dirty="0">
                <a:solidFill>
                  <a:srgbClr val="0D1B2A"/>
                </a:solidFill>
                <a:latin typeface="Calibri" pitchFamily="34" charset="0"/>
                <a:ea typeface="Calibri" pitchFamily="34" charset="-122"/>
                <a:cs typeface="Calibri" pitchFamily="34" charset="-120"/>
              </a:rPr>
              <a:t>: mapa aktualna i środowisko o charakterystycznych elementach</a:t>
            </a:r>
            <a:endParaRPr lang="en-US" sz="1600" spc="-20" dirty="0"/>
          </a:p>
          <a:p>
            <a:pPr marL="216000" indent="-216000">
              <a:spcAft>
                <a:spcPts val="1200"/>
              </a:spcAft>
              <a:buSzPct val="100000"/>
              <a:buFont typeface="+mj-lt"/>
              <a:buAutoNum type="arabicPeriod"/>
            </a:pPr>
            <a:r>
              <a:rPr lang="en-US" sz="1600" b="1" spc="-20" dirty="0">
                <a:solidFill>
                  <a:srgbClr val="0D1B2A"/>
                </a:solidFill>
                <a:latin typeface="Calibri" pitchFamily="34" charset="0"/>
                <a:ea typeface="Calibri" pitchFamily="34" charset="-122"/>
                <a:cs typeface="Calibri" pitchFamily="34" charset="-120"/>
              </a:rPr>
              <a:t>Kidnapped robot problem</a:t>
            </a:r>
            <a:r>
              <a:rPr lang="en-US" sz="1600" spc="-20" dirty="0">
                <a:solidFill>
                  <a:srgbClr val="0D1B2A"/>
                </a:solidFill>
                <a:latin typeface="Calibri" pitchFamily="34" charset="0"/>
                <a:ea typeface="Calibri" pitchFamily="34" charset="-122"/>
                <a:cs typeface="Calibri" pitchFamily="34" charset="-120"/>
              </a:rPr>
              <a:t>: wymagana inicjalizacja globalna, gdy pozycja startowa jest nieznana</a:t>
            </a:r>
            <a:endParaRPr lang="en-US" sz="1600" spc="-20" dirty="0"/>
          </a:p>
        </p:txBody>
      </p:sp>
      <p:sp>
        <p:nvSpPr>
          <p:cNvPr id="8" name="Prostokąt 7"/>
          <p:cNvSpPr/>
          <p:nvPr/>
        </p:nvSpPr>
        <p:spPr>
          <a:xfrm>
            <a:off x="274320" y="4066531"/>
            <a:ext cx="8595360" cy="992516"/>
          </a:xfrm>
          <a:prstGeom prst="rect">
            <a:avLst/>
          </a:prstGeom>
          <a:solidFill>
            <a:srgbClr val="0D1B2A"/>
          </a:solidFill>
        </p:spPr>
        <p:txBody>
          <a:bodyPr wrap="square">
            <a:spAutoFit/>
          </a:bodyPr>
          <a:lstStyle/>
          <a:p>
            <a:pPr algn="just">
              <a:lnSpc>
                <a:spcPts val="1400"/>
              </a:lnSpc>
            </a:pPr>
            <a:r>
              <a:rPr lang="pl-PL" sz="1400" dirty="0">
                <a:solidFill>
                  <a:schemeClr val="bg1"/>
                </a:solidFill>
              </a:rPr>
              <a:t>Lokalizacja względem znanej mapy polega na znalezieniu pozycji robota w już istniejącym modelu środowiska. Można to robić filtrem cząsteczkowym AMCL z obserwacjami </a:t>
            </a:r>
            <a:r>
              <a:rPr lang="pl-PL" sz="1400" dirty="0" err="1">
                <a:solidFill>
                  <a:schemeClr val="bg1"/>
                </a:solidFill>
              </a:rPr>
              <a:t>LiDAR</a:t>
            </a:r>
            <a:r>
              <a:rPr lang="pl-PL" sz="1400" dirty="0">
                <a:solidFill>
                  <a:schemeClr val="bg1"/>
                </a:solidFill>
              </a:rPr>
              <a:t>, dopasowaniem skanu 2D do mapy zajętości, ICP dla chmur 3D albo filtrem histogramowym. Warunkiem sukcesu jest aktualna mapa i środowisko z wystarczająco charakterystycznymi elementami. Jeśli robot zostanie przeniesiony w nieznane miejsce, pojawia się problem </a:t>
            </a:r>
            <a:r>
              <a:rPr lang="pl-PL" sz="1400" dirty="0" err="1">
                <a:solidFill>
                  <a:schemeClr val="bg1"/>
                </a:solidFill>
              </a:rPr>
              <a:t>kidnapped</a:t>
            </a:r>
            <a:r>
              <a:rPr lang="pl-PL" sz="1400" dirty="0">
                <a:solidFill>
                  <a:schemeClr val="bg1"/>
                </a:solidFill>
              </a:rPr>
              <a:t> robot i wtedy potrzebna jest inicjalizacja globalna. </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0F4F8"/>
        </a:solidFill>
        <a:effectLst/>
      </p:bgPr>
    </p:bg>
    <p:spTree>
      <p:nvGrpSpPr>
        <p:cNvPr id="1" name=""/>
        <p:cNvGrpSpPr/>
        <p:nvPr/>
      </p:nvGrpSpPr>
      <p:grpSpPr>
        <a:xfrm>
          <a:off x="0" y="0"/>
          <a:ext cx="0" cy="0"/>
          <a:chOff x="0" y="0"/>
          <a:chExt cx="0" cy="0"/>
        </a:xfrm>
      </p:grpSpPr>
      <p:sp>
        <p:nvSpPr>
          <p:cNvPr id="2" name="Shape 0"/>
          <p:cNvSpPr/>
          <p:nvPr/>
        </p:nvSpPr>
        <p:spPr>
          <a:xfrm>
            <a:off x="0" y="0"/>
            <a:ext cx="64008" cy="5143500"/>
          </a:xfrm>
          <a:prstGeom prst="rect">
            <a:avLst/>
          </a:prstGeom>
          <a:solidFill>
            <a:srgbClr val="00B4D8"/>
          </a:solidFill>
          <a:ln w="12700">
            <a:solidFill>
              <a:srgbClr val="00B4D8"/>
            </a:solidFill>
            <a:prstDash val="solid"/>
          </a:ln>
        </p:spPr>
      </p:sp>
      <p:sp>
        <p:nvSpPr>
          <p:cNvPr id="3" name="Shape 1"/>
          <p:cNvSpPr/>
          <p:nvPr/>
        </p:nvSpPr>
        <p:spPr>
          <a:xfrm>
            <a:off x="64008" y="0"/>
            <a:ext cx="9079992" cy="960120"/>
          </a:xfrm>
          <a:prstGeom prst="rect">
            <a:avLst/>
          </a:prstGeom>
          <a:solidFill>
            <a:srgbClr val="0D1B2A"/>
          </a:solidFill>
          <a:ln w="12700">
            <a:solidFill>
              <a:srgbClr val="0D1B2A"/>
            </a:solidFill>
            <a:prstDash val="solid"/>
          </a:ln>
        </p:spPr>
      </p:sp>
      <p:sp>
        <p:nvSpPr>
          <p:cNvPr id="4" name="Text 2"/>
          <p:cNvSpPr/>
          <p:nvPr/>
        </p:nvSpPr>
        <p:spPr>
          <a:xfrm>
            <a:off x="228600" y="73152"/>
            <a:ext cx="4572000" cy="274320"/>
          </a:xfrm>
          <a:prstGeom prst="rect">
            <a:avLst/>
          </a:prstGeom>
          <a:noFill/>
          <a:ln/>
        </p:spPr>
        <p:txBody>
          <a:bodyPr wrap="square" lIns="0" tIns="0" rIns="0" bIns="0" rtlCol="0" anchor="ctr"/>
          <a:lstStyle/>
          <a:p>
            <a:pPr marL="0" indent="0">
              <a:buNone/>
            </a:pPr>
            <a:r>
              <a:rPr lang="en-US" sz="900" b="1" kern="0" spc="200" dirty="0">
                <a:solidFill>
                  <a:srgbClr val="00B4D8"/>
                </a:solidFill>
                <a:latin typeface="Trebuchet MS" pitchFamily="34" charset="0"/>
                <a:ea typeface="Trebuchet MS" pitchFamily="34" charset="-122"/>
                <a:cs typeface="Trebuchet MS" pitchFamily="34" charset="-120"/>
              </a:rPr>
              <a:t>SEKCJA 3 | ICP</a:t>
            </a:r>
            <a:endParaRPr lang="en-US" sz="900" dirty="0"/>
          </a:p>
        </p:txBody>
      </p:sp>
      <p:sp>
        <p:nvSpPr>
          <p:cNvPr id="5" name="Text 3"/>
          <p:cNvSpPr/>
          <p:nvPr/>
        </p:nvSpPr>
        <p:spPr>
          <a:xfrm>
            <a:off x="228600" y="274320"/>
            <a:ext cx="8686800" cy="594360"/>
          </a:xfrm>
          <a:prstGeom prst="rect">
            <a:avLst/>
          </a:prstGeom>
          <a:noFill/>
          <a:ln/>
        </p:spPr>
        <p:txBody>
          <a:bodyPr wrap="square" lIns="0" tIns="0" rIns="0" bIns="0" rtlCol="0" anchor="ctr"/>
          <a:lstStyle/>
          <a:p>
            <a:pPr marL="0" indent="0">
              <a:buNone/>
            </a:pPr>
            <a:r>
              <a:rPr lang="en-US" sz="2800" b="1" dirty="0">
                <a:solidFill>
                  <a:srgbClr val="FFFFFF"/>
                </a:solidFill>
                <a:latin typeface="Trebuchet MS" pitchFamily="34" charset="0"/>
                <a:ea typeface="Trebuchet MS" pitchFamily="34" charset="-122"/>
                <a:cs typeface="Trebuchet MS" pitchFamily="34" charset="-120"/>
              </a:rPr>
              <a:t>ICP – Iterative Closest Point</a:t>
            </a:r>
            <a:endParaRPr lang="en-US" sz="2800" dirty="0"/>
          </a:p>
        </p:txBody>
      </p:sp>
      <p:sp>
        <p:nvSpPr>
          <p:cNvPr id="6" name="Shape 4"/>
          <p:cNvSpPr/>
          <p:nvPr/>
        </p:nvSpPr>
        <p:spPr>
          <a:xfrm>
            <a:off x="274320" y="1097280"/>
            <a:ext cx="8595360" cy="2950195"/>
          </a:xfrm>
          <a:prstGeom prst="rect">
            <a:avLst/>
          </a:prstGeom>
          <a:solidFill>
            <a:srgbClr val="FFFFFF"/>
          </a:solidFill>
          <a:ln w="12700">
            <a:solidFill>
              <a:srgbClr val="E2EBF3"/>
            </a:solidFill>
            <a:prstDash val="solid"/>
          </a:ln>
          <a:effectLst>
            <a:outerShdw blurRad="76200" dist="25400" dir="8100000" algn="bl" rotWithShape="0">
              <a:srgbClr val="000000">
                <a:alpha val="12000"/>
              </a:srgbClr>
            </a:outerShdw>
          </a:effectLst>
        </p:spPr>
      </p:sp>
      <p:sp>
        <p:nvSpPr>
          <p:cNvPr id="7" name="Text 5"/>
          <p:cNvSpPr/>
          <p:nvPr/>
        </p:nvSpPr>
        <p:spPr>
          <a:xfrm>
            <a:off x="397727" y="1144116"/>
            <a:ext cx="8382000" cy="2903359"/>
          </a:xfrm>
          <a:prstGeom prst="rect">
            <a:avLst/>
          </a:prstGeom>
          <a:noFill/>
          <a:ln/>
        </p:spPr>
        <p:txBody>
          <a:bodyPr wrap="square" lIns="127000" tIns="127000" rIns="127000" bIns="127000" rtlCol="0" anchor="t">
            <a:spAutoFit/>
          </a:bodyPr>
          <a:lstStyle/>
          <a:p>
            <a:pPr marL="144000" indent="-144000">
              <a:spcAft>
                <a:spcPts val="1200"/>
              </a:spcAft>
              <a:buSzPct val="100000"/>
              <a:buChar char="•"/>
            </a:pPr>
            <a:r>
              <a:rPr lang="en-US" sz="1600" b="1" spc="-40" dirty="0">
                <a:solidFill>
                  <a:srgbClr val="0D1B2A"/>
                </a:solidFill>
                <a:latin typeface="Calibri" pitchFamily="34" charset="0"/>
                <a:ea typeface="Calibri" pitchFamily="34" charset="-122"/>
                <a:cs typeface="Calibri" pitchFamily="34" charset="-120"/>
              </a:rPr>
              <a:t>Cel</a:t>
            </a:r>
            <a:r>
              <a:rPr lang="en-US" sz="1600" spc="-40" dirty="0">
                <a:solidFill>
                  <a:srgbClr val="0D1B2A"/>
                </a:solidFill>
                <a:latin typeface="Calibri" pitchFamily="34" charset="0"/>
                <a:ea typeface="Calibri" pitchFamily="34" charset="-122"/>
                <a:cs typeface="Calibri" pitchFamily="34" charset="-120"/>
              </a:rPr>
              <a:t>: znalezienie transformacji (R, t) minimalizującej odległości między dwoma chmurami punktów</a:t>
            </a:r>
            <a:endParaRPr lang="en-US" sz="1600" spc="-40" dirty="0"/>
          </a:p>
          <a:p>
            <a:pPr marL="144000" indent="-144000">
              <a:spcAft>
                <a:spcPts val="1200"/>
              </a:spcAft>
              <a:buSzPct val="100000"/>
              <a:buChar char="•"/>
            </a:pPr>
            <a:r>
              <a:rPr lang="en-US" sz="1600" b="1" spc="-60" dirty="0">
                <a:solidFill>
                  <a:srgbClr val="0D1B2A"/>
                </a:solidFill>
                <a:latin typeface="Calibri" pitchFamily="34" charset="0"/>
                <a:ea typeface="Calibri" pitchFamily="34" charset="-122"/>
                <a:cs typeface="Calibri" pitchFamily="34" charset="-120"/>
              </a:rPr>
              <a:t>Krok 1 </a:t>
            </a:r>
            <a:r>
              <a:rPr lang="en-US" sz="1600" spc="-60" dirty="0">
                <a:solidFill>
                  <a:srgbClr val="0D1B2A"/>
                </a:solidFill>
                <a:latin typeface="Calibri" pitchFamily="34" charset="0"/>
                <a:ea typeface="Calibri" pitchFamily="34" charset="-122"/>
                <a:cs typeface="Calibri" pitchFamily="34" charset="-120"/>
              </a:rPr>
              <a:t>– </a:t>
            </a:r>
            <a:r>
              <a:rPr lang="en-US" sz="1600" b="1" spc="-60" dirty="0">
                <a:solidFill>
                  <a:srgbClr val="0D1B2A"/>
                </a:solidFill>
                <a:latin typeface="Calibri" pitchFamily="34" charset="0"/>
                <a:ea typeface="Calibri" pitchFamily="34" charset="-122"/>
                <a:cs typeface="Calibri" pitchFamily="34" charset="-120"/>
              </a:rPr>
              <a:t>Korespondencja</a:t>
            </a:r>
            <a:r>
              <a:rPr lang="en-US" sz="1600" spc="-60" dirty="0">
                <a:solidFill>
                  <a:srgbClr val="0D1B2A"/>
                </a:solidFill>
                <a:latin typeface="Calibri" pitchFamily="34" charset="0"/>
                <a:ea typeface="Calibri" pitchFamily="34" charset="-122"/>
                <a:cs typeface="Calibri" pitchFamily="34" charset="-120"/>
              </a:rPr>
              <a:t>: dla każdego punktu źródłowego znajdź najbliższy punkt w chmurze docelowej</a:t>
            </a:r>
            <a:endParaRPr lang="en-US" sz="1600" spc="-60" dirty="0"/>
          </a:p>
          <a:p>
            <a:pPr marL="144000" indent="-144000">
              <a:spcAft>
                <a:spcPts val="1200"/>
              </a:spcAft>
              <a:buSzPct val="100000"/>
              <a:buChar char="•"/>
            </a:pPr>
            <a:r>
              <a:rPr lang="en-US" sz="1600" b="1" spc="-40" dirty="0">
                <a:solidFill>
                  <a:srgbClr val="0D1B2A"/>
                </a:solidFill>
                <a:latin typeface="Calibri" pitchFamily="34" charset="0"/>
                <a:ea typeface="Calibri" pitchFamily="34" charset="-122"/>
                <a:cs typeface="Calibri" pitchFamily="34" charset="-120"/>
              </a:rPr>
              <a:t>Krok 2 – Estymacja</a:t>
            </a:r>
            <a:r>
              <a:rPr lang="en-US" sz="1600" spc="-40" dirty="0">
                <a:solidFill>
                  <a:srgbClr val="0D1B2A"/>
                </a:solidFill>
                <a:latin typeface="Calibri" pitchFamily="34" charset="0"/>
                <a:ea typeface="Calibri" pitchFamily="34" charset="-122"/>
                <a:cs typeface="Calibri" pitchFamily="34" charset="-120"/>
              </a:rPr>
              <a:t>: oblicz optymalną transformację (metoda SVD lub minimalizacja MLS)</a:t>
            </a:r>
            <a:endParaRPr lang="en-US" sz="1600" spc="-40" dirty="0"/>
          </a:p>
          <a:p>
            <a:pPr marL="144000" indent="-144000">
              <a:spcAft>
                <a:spcPts val="1200"/>
              </a:spcAft>
              <a:buSzPct val="100000"/>
              <a:buChar char="•"/>
            </a:pPr>
            <a:r>
              <a:rPr lang="en-US" sz="1600" b="1" spc="-40" dirty="0">
                <a:solidFill>
                  <a:srgbClr val="0D1B2A"/>
                </a:solidFill>
                <a:latin typeface="Calibri" pitchFamily="34" charset="0"/>
                <a:ea typeface="Calibri" pitchFamily="34" charset="-122"/>
                <a:cs typeface="Calibri" pitchFamily="34" charset="-120"/>
              </a:rPr>
              <a:t>Krok 3 – Aktualizacja</a:t>
            </a:r>
            <a:r>
              <a:rPr lang="en-US" sz="1600" spc="-40" dirty="0">
                <a:solidFill>
                  <a:srgbClr val="0D1B2A"/>
                </a:solidFill>
                <a:latin typeface="Calibri" pitchFamily="34" charset="0"/>
                <a:ea typeface="Calibri" pitchFamily="34" charset="-122"/>
                <a:cs typeface="Calibri" pitchFamily="34" charset="-120"/>
              </a:rPr>
              <a:t>: zastosuj transformację i oblicz błąd residualny</a:t>
            </a:r>
            <a:endParaRPr lang="en-US" sz="1600" spc="-40" dirty="0"/>
          </a:p>
          <a:p>
            <a:pPr marL="144000" indent="-144000">
              <a:spcAft>
                <a:spcPts val="1200"/>
              </a:spcAft>
              <a:buSzPct val="100000"/>
              <a:buChar char="•"/>
            </a:pPr>
            <a:r>
              <a:rPr lang="en-US" sz="1600" b="1" spc="-40" dirty="0">
                <a:solidFill>
                  <a:srgbClr val="0D1B2A"/>
                </a:solidFill>
                <a:latin typeface="Calibri" pitchFamily="34" charset="0"/>
                <a:ea typeface="Calibri" pitchFamily="34" charset="-122"/>
                <a:cs typeface="Calibri" pitchFamily="34" charset="-120"/>
              </a:rPr>
              <a:t>Iteruj do zbieżności </a:t>
            </a:r>
            <a:r>
              <a:rPr lang="en-US" sz="1600" spc="-40" dirty="0">
                <a:solidFill>
                  <a:srgbClr val="0D1B2A"/>
                </a:solidFill>
                <a:latin typeface="Calibri" pitchFamily="34" charset="0"/>
                <a:ea typeface="Calibri" pitchFamily="34" charset="-122"/>
                <a:cs typeface="Calibri" pitchFamily="34" charset="-120"/>
              </a:rPr>
              <a:t>(błąd &lt; próg) lub </a:t>
            </a:r>
            <a:r>
              <a:rPr lang="en-US" sz="1600" b="1" spc="-40" dirty="0">
                <a:solidFill>
                  <a:srgbClr val="0D1B2A"/>
                </a:solidFill>
                <a:latin typeface="Calibri" pitchFamily="34" charset="0"/>
                <a:ea typeface="Calibri" pitchFamily="34" charset="-122"/>
                <a:cs typeface="Calibri" pitchFamily="34" charset="-120"/>
              </a:rPr>
              <a:t>osiągnięcia max. iteracji</a:t>
            </a:r>
            <a:endParaRPr lang="en-US" sz="1600" b="1" spc="-40" dirty="0"/>
          </a:p>
          <a:p>
            <a:pPr marL="144000" indent="-144000">
              <a:spcAft>
                <a:spcPts val="1200"/>
              </a:spcAft>
              <a:buSzPct val="100000"/>
              <a:buChar char="•"/>
            </a:pPr>
            <a:r>
              <a:rPr lang="en-US" sz="1600" b="1" spc="-40" dirty="0">
                <a:solidFill>
                  <a:srgbClr val="0D1B2A"/>
                </a:solidFill>
                <a:latin typeface="Calibri" pitchFamily="34" charset="0"/>
                <a:ea typeface="Calibri" pitchFamily="34" charset="-122"/>
                <a:cs typeface="Calibri" pitchFamily="34" charset="-120"/>
              </a:rPr>
              <a:t>Wady</a:t>
            </a:r>
            <a:r>
              <a:rPr lang="en-US" sz="1600" spc="-40" dirty="0">
                <a:solidFill>
                  <a:srgbClr val="0D1B2A"/>
                </a:solidFill>
                <a:latin typeface="Calibri" pitchFamily="34" charset="0"/>
                <a:ea typeface="Calibri" pitchFamily="34" charset="-122"/>
                <a:cs typeface="Calibri" pitchFamily="34" charset="-120"/>
              </a:rPr>
              <a:t>: wolna zbieżność, wrażliwość na punkt startowy (koniecznie dobre wstępne wyrównanie)</a:t>
            </a:r>
            <a:endParaRPr lang="en-US" sz="1600" spc="-40" dirty="0"/>
          </a:p>
          <a:p>
            <a:pPr marL="144000" indent="-144000">
              <a:spcAft>
                <a:spcPts val="1200"/>
              </a:spcAft>
              <a:buSzPct val="100000"/>
              <a:buChar char="•"/>
            </a:pPr>
            <a:r>
              <a:rPr lang="en-US" sz="1600" b="1" spc="-40" dirty="0">
                <a:solidFill>
                  <a:srgbClr val="0D1B2A"/>
                </a:solidFill>
                <a:latin typeface="Calibri" pitchFamily="34" charset="0"/>
                <a:ea typeface="Calibri" pitchFamily="34" charset="-122"/>
                <a:cs typeface="Calibri" pitchFamily="34" charset="-120"/>
              </a:rPr>
              <a:t>Warianty</a:t>
            </a:r>
            <a:r>
              <a:rPr lang="en-US" sz="1600" spc="-40" dirty="0">
                <a:solidFill>
                  <a:srgbClr val="0D1B2A"/>
                </a:solidFill>
                <a:latin typeface="Calibri" pitchFamily="34" charset="0"/>
                <a:ea typeface="Calibri" pitchFamily="34" charset="-122"/>
                <a:cs typeface="Calibri" pitchFamily="34" charset="-120"/>
              </a:rPr>
              <a:t>: Point-to-Plane ICP, GICP – znacznie szybsze i bardziej niezawodne</a:t>
            </a:r>
            <a:endParaRPr lang="en-US" sz="1600" spc="-40" dirty="0"/>
          </a:p>
        </p:txBody>
      </p:sp>
      <p:sp>
        <p:nvSpPr>
          <p:cNvPr id="8" name="Prostokąt 7"/>
          <p:cNvSpPr/>
          <p:nvPr/>
        </p:nvSpPr>
        <p:spPr>
          <a:xfrm>
            <a:off x="274320" y="4202557"/>
            <a:ext cx="8595360" cy="812979"/>
          </a:xfrm>
          <a:prstGeom prst="rect">
            <a:avLst/>
          </a:prstGeom>
          <a:solidFill>
            <a:srgbClr val="0D1B2A"/>
          </a:solidFill>
        </p:spPr>
        <p:txBody>
          <a:bodyPr wrap="square">
            <a:spAutoFit/>
          </a:bodyPr>
          <a:lstStyle/>
          <a:p>
            <a:pPr algn="just">
              <a:lnSpc>
                <a:spcPts val="1400"/>
              </a:lnSpc>
            </a:pPr>
            <a:r>
              <a:rPr lang="pl-PL" sz="1400" dirty="0">
                <a:solidFill>
                  <a:schemeClr val="bg1"/>
                </a:solidFill>
              </a:rPr>
              <a:t>ICP, czyli </a:t>
            </a:r>
            <a:r>
              <a:rPr lang="pl-PL" sz="1400" dirty="0" err="1">
                <a:solidFill>
                  <a:schemeClr val="bg1"/>
                </a:solidFill>
              </a:rPr>
              <a:t>Iterative</a:t>
            </a:r>
            <a:r>
              <a:rPr lang="pl-PL" sz="1400" dirty="0">
                <a:solidFill>
                  <a:schemeClr val="bg1"/>
                </a:solidFill>
              </a:rPr>
              <a:t> </a:t>
            </a:r>
            <a:r>
              <a:rPr lang="pl-PL" sz="1400" dirty="0" err="1">
                <a:solidFill>
                  <a:schemeClr val="bg1"/>
                </a:solidFill>
              </a:rPr>
              <a:t>Closest</a:t>
            </a:r>
            <a:r>
              <a:rPr lang="pl-PL" sz="1400" dirty="0">
                <a:solidFill>
                  <a:schemeClr val="bg1"/>
                </a:solidFill>
              </a:rPr>
              <a:t> Point, służy do znajdowania transformacji między dwiema chmurami punktów. Najpierw wyznaczamy korespondencje, potem obliczamy transformację minimalizującą błąd, aktualizujemy położenie i iterujemy do zbieżności. Metoda jest bardzo ważna, ale ma też swoje ograniczenia: bywa wolna i jest czuła na punkt startowy. Dlatego w praktyce stosuje się też warianty takie jak point-to-</a:t>
            </a:r>
            <a:r>
              <a:rPr lang="pl-PL" sz="1400" dirty="0" err="1">
                <a:solidFill>
                  <a:schemeClr val="bg1"/>
                </a:solidFill>
              </a:rPr>
              <a:t>plane</a:t>
            </a:r>
            <a:r>
              <a:rPr lang="pl-PL" sz="1400" dirty="0">
                <a:solidFill>
                  <a:schemeClr val="bg1"/>
                </a:solidFill>
              </a:rPr>
              <a:t> ICP albo GICP. </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0F4F8"/>
        </a:solidFill>
        <a:effectLst/>
      </p:bgPr>
    </p:bg>
    <p:spTree>
      <p:nvGrpSpPr>
        <p:cNvPr id="1" name=""/>
        <p:cNvGrpSpPr/>
        <p:nvPr/>
      </p:nvGrpSpPr>
      <p:grpSpPr>
        <a:xfrm>
          <a:off x="0" y="0"/>
          <a:ext cx="0" cy="0"/>
          <a:chOff x="0" y="0"/>
          <a:chExt cx="0" cy="0"/>
        </a:xfrm>
      </p:grpSpPr>
      <p:sp>
        <p:nvSpPr>
          <p:cNvPr id="2" name="Shape 0"/>
          <p:cNvSpPr/>
          <p:nvPr/>
        </p:nvSpPr>
        <p:spPr>
          <a:xfrm>
            <a:off x="0" y="0"/>
            <a:ext cx="64008" cy="5143500"/>
          </a:xfrm>
          <a:prstGeom prst="rect">
            <a:avLst/>
          </a:prstGeom>
          <a:solidFill>
            <a:srgbClr val="00B4D8"/>
          </a:solidFill>
          <a:ln w="12700">
            <a:solidFill>
              <a:srgbClr val="00B4D8"/>
            </a:solidFill>
            <a:prstDash val="solid"/>
          </a:ln>
        </p:spPr>
      </p:sp>
      <p:sp>
        <p:nvSpPr>
          <p:cNvPr id="3" name="Shape 1"/>
          <p:cNvSpPr/>
          <p:nvPr/>
        </p:nvSpPr>
        <p:spPr>
          <a:xfrm>
            <a:off x="64008" y="0"/>
            <a:ext cx="9079992" cy="960120"/>
          </a:xfrm>
          <a:prstGeom prst="rect">
            <a:avLst/>
          </a:prstGeom>
          <a:solidFill>
            <a:srgbClr val="0D1B2A"/>
          </a:solidFill>
          <a:ln w="12700">
            <a:solidFill>
              <a:srgbClr val="0D1B2A"/>
            </a:solidFill>
            <a:prstDash val="solid"/>
          </a:ln>
        </p:spPr>
      </p:sp>
      <p:sp>
        <p:nvSpPr>
          <p:cNvPr id="4" name="Text 2"/>
          <p:cNvSpPr/>
          <p:nvPr/>
        </p:nvSpPr>
        <p:spPr>
          <a:xfrm>
            <a:off x="228600" y="73152"/>
            <a:ext cx="4572000" cy="274320"/>
          </a:xfrm>
          <a:prstGeom prst="rect">
            <a:avLst/>
          </a:prstGeom>
          <a:noFill/>
          <a:ln/>
        </p:spPr>
        <p:txBody>
          <a:bodyPr wrap="square" lIns="0" tIns="0" rIns="0" bIns="0" rtlCol="0" anchor="ctr"/>
          <a:lstStyle/>
          <a:p>
            <a:pPr marL="0" indent="0">
              <a:buNone/>
            </a:pPr>
            <a:r>
              <a:rPr lang="en-US" sz="900" b="1" kern="0" spc="200" dirty="0">
                <a:solidFill>
                  <a:srgbClr val="00B4D8"/>
                </a:solidFill>
                <a:latin typeface="Trebuchet MS" pitchFamily="34" charset="0"/>
                <a:ea typeface="Trebuchet MS" pitchFamily="34" charset="-122"/>
                <a:cs typeface="Trebuchet MS" pitchFamily="34" charset="-120"/>
              </a:rPr>
              <a:t>SEKCJA 3 | VISUAL ODOMETRY</a:t>
            </a:r>
            <a:endParaRPr lang="en-US" sz="900" dirty="0"/>
          </a:p>
        </p:txBody>
      </p:sp>
      <p:sp>
        <p:nvSpPr>
          <p:cNvPr id="5" name="Text 3"/>
          <p:cNvSpPr/>
          <p:nvPr/>
        </p:nvSpPr>
        <p:spPr>
          <a:xfrm>
            <a:off x="228600" y="274320"/>
            <a:ext cx="8686800" cy="594360"/>
          </a:xfrm>
          <a:prstGeom prst="rect">
            <a:avLst/>
          </a:prstGeom>
          <a:noFill/>
          <a:ln/>
        </p:spPr>
        <p:txBody>
          <a:bodyPr wrap="square" lIns="0" tIns="0" rIns="0" bIns="0" rtlCol="0" anchor="ctr"/>
          <a:lstStyle/>
          <a:p>
            <a:pPr marL="0" indent="0">
              <a:buNone/>
            </a:pPr>
            <a:r>
              <a:rPr lang="en-US" sz="2800" b="1" dirty="0">
                <a:solidFill>
                  <a:srgbClr val="FFFFFF"/>
                </a:solidFill>
                <a:latin typeface="Trebuchet MS" pitchFamily="34" charset="0"/>
                <a:ea typeface="Trebuchet MS" pitchFamily="34" charset="-122"/>
                <a:cs typeface="Trebuchet MS" pitchFamily="34" charset="-120"/>
              </a:rPr>
              <a:t>Odometria wizyjna (Visual Odometry)</a:t>
            </a:r>
            <a:endParaRPr lang="en-US" sz="2800" dirty="0"/>
          </a:p>
        </p:txBody>
      </p:sp>
      <p:sp>
        <p:nvSpPr>
          <p:cNvPr id="6" name="Shape 4"/>
          <p:cNvSpPr/>
          <p:nvPr/>
        </p:nvSpPr>
        <p:spPr>
          <a:xfrm>
            <a:off x="274320" y="1097280"/>
            <a:ext cx="4160520" cy="2787031"/>
          </a:xfrm>
          <a:prstGeom prst="rect">
            <a:avLst/>
          </a:prstGeom>
          <a:solidFill>
            <a:srgbClr val="FFFFFF"/>
          </a:solidFill>
          <a:ln w="12700">
            <a:solidFill>
              <a:srgbClr val="E2EBF3"/>
            </a:solidFill>
            <a:prstDash val="solid"/>
          </a:ln>
          <a:effectLst>
            <a:outerShdw blurRad="76200" dist="25400" dir="8100000" algn="bl" rotWithShape="0">
              <a:srgbClr val="000000">
                <a:alpha val="12000"/>
              </a:srgbClr>
            </a:outerShdw>
          </a:effectLst>
        </p:spPr>
      </p:sp>
      <p:sp>
        <p:nvSpPr>
          <p:cNvPr id="7" name="Shape 5"/>
          <p:cNvSpPr/>
          <p:nvPr/>
        </p:nvSpPr>
        <p:spPr>
          <a:xfrm>
            <a:off x="4709160" y="1097280"/>
            <a:ext cx="4160520" cy="2787031"/>
          </a:xfrm>
          <a:prstGeom prst="rect">
            <a:avLst/>
          </a:prstGeom>
          <a:solidFill>
            <a:srgbClr val="FFFFFF"/>
          </a:solidFill>
          <a:ln w="12700">
            <a:solidFill>
              <a:srgbClr val="E2EBF3"/>
            </a:solidFill>
            <a:prstDash val="solid"/>
          </a:ln>
          <a:effectLst>
            <a:outerShdw blurRad="76200" dist="25400" dir="8100000" algn="bl" rotWithShape="0">
              <a:srgbClr val="000000">
                <a:alpha val="12000"/>
              </a:srgbClr>
            </a:outerShdw>
          </a:effectLst>
        </p:spPr>
      </p:sp>
      <p:sp>
        <p:nvSpPr>
          <p:cNvPr id="8" name="Shape 6"/>
          <p:cNvSpPr/>
          <p:nvPr/>
        </p:nvSpPr>
        <p:spPr>
          <a:xfrm>
            <a:off x="274320" y="1097280"/>
            <a:ext cx="4160520" cy="384048"/>
          </a:xfrm>
          <a:prstGeom prst="rect">
            <a:avLst/>
          </a:prstGeom>
          <a:solidFill>
            <a:srgbClr val="0077A8"/>
          </a:solidFill>
          <a:ln w="12700">
            <a:solidFill>
              <a:srgbClr val="0077A8"/>
            </a:solidFill>
            <a:prstDash val="solid"/>
          </a:ln>
        </p:spPr>
      </p:sp>
      <p:sp>
        <p:nvSpPr>
          <p:cNvPr id="9" name="Text 7"/>
          <p:cNvSpPr/>
          <p:nvPr/>
        </p:nvSpPr>
        <p:spPr>
          <a:xfrm>
            <a:off x="457200" y="1115568"/>
            <a:ext cx="3886200" cy="347472"/>
          </a:xfrm>
          <a:prstGeom prst="rect">
            <a:avLst/>
          </a:prstGeom>
          <a:noFill/>
          <a:ln/>
        </p:spPr>
        <p:txBody>
          <a:bodyPr wrap="square" lIns="0" tIns="0" rIns="0" bIns="0" rtlCol="0" anchor="ctr"/>
          <a:lstStyle/>
          <a:p>
            <a:pPr marL="0" indent="0">
              <a:buNone/>
            </a:pPr>
            <a:r>
              <a:rPr lang="en-US" b="1" dirty="0">
                <a:solidFill>
                  <a:srgbClr val="FFFFFF"/>
                </a:solidFill>
                <a:latin typeface="Trebuchet MS" pitchFamily="34" charset="0"/>
                <a:ea typeface="Trebuchet MS" pitchFamily="34" charset="-122"/>
                <a:cs typeface="Trebuchet MS" pitchFamily="34" charset="-120"/>
              </a:rPr>
              <a:t>Monokularna VO</a:t>
            </a:r>
            <a:endParaRPr lang="en-US" dirty="0"/>
          </a:p>
        </p:txBody>
      </p:sp>
      <p:sp>
        <p:nvSpPr>
          <p:cNvPr id="10" name="Shape 8"/>
          <p:cNvSpPr/>
          <p:nvPr/>
        </p:nvSpPr>
        <p:spPr>
          <a:xfrm>
            <a:off x="4709160" y="1097280"/>
            <a:ext cx="4160520" cy="384048"/>
          </a:xfrm>
          <a:prstGeom prst="rect">
            <a:avLst/>
          </a:prstGeom>
          <a:solidFill>
            <a:srgbClr val="1A3550"/>
          </a:solidFill>
          <a:ln w="12700">
            <a:solidFill>
              <a:srgbClr val="1A3550"/>
            </a:solidFill>
            <a:prstDash val="solid"/>
          </a:ln>
        </p:spPr>
      </p:sp>
      <p:sp>
        <p:nvSpPr>
          <p:cNvPr id="11" name="Text 9"/>
          <p:cNvSpPr/>
          <p:nvPr/>
        </p:nvSpPr>
        <p:spPr>
          <a:xfrm>
            <a:off x="4892040" y="1115568"/>
            <a:ext cx="3886200" cy="347472"/>
          </a:xfrm>
          <a:prstGeom prst="rect">
            <a:avLst/>
          </a:prstGeom>
          <a:noFill/>
          <a:ln/>
        </p:spPr>
        <p:txBody>
          <a:bodyPr wrap="square" lIns="0" tIns="0" rIns="0" bIns="0" rtlCol="0" anchor="ctr"/>
          <a:lstStyle/>
          <a:p>
            <a:pPr marL="0" indent="0">
              <a:buNone/>
            </a:pPr>
            <a:r>
              <a:rPr lang="en-US" b="1" dirty="0">
                <a:solidFill>
                  <a:srgbClr val="FFFFFF"/>
                </a:solidFill>
                <a:latin typeface="Trebuchet MS" pitchFamily="34" charset="0"/>
                <a:ea typeface="Trebuchet MS" pitchFamily="34" charset="-122"/>
                <a:cs typeface="Trebuchet MS" pitchFamily="34" charset="-120"/>
              </a:rPr>
              <a:t>Stereofoniczna / RGB-D VO</a:t>
            </a:r>
            <a:endParaRPr lang="en-US" dirty="0"/>
          </a:p>
        </p:txBody>
      </p:sp>
      <p:sp>
        <p:nvSpPr>
          <p:cNvPr id="12" name="Text 10"/>
          <p:cNvSpPr/>
          <p:nvPr/>
        </p:nvSpPr>
        <p:spPr>
          <a:xfrm>
            <a:off x="457200" y="1600200"/>
            <a:ext cx="3794760" cy="2115964"/>
          </a:xfrm>
          <a:prstGeom prst="rect">
            <a:avLst/>
          </a:prstGeom>
          <a:noFill/>
          <a:ln/>
        </p:spPr>
        <p:txBody>
          <a:bodyPr wrap="square" lIns="63500" tIns="101600" rIns="63500" bIns="63500" rtlCol="0" anchor="t">
            <a:spAutoFit/>
          </a:bodyPr>
          <a:lstStyle/>
          <a:p>
            <a:pPr marL="180000" indent="-180000">
              <a:spcAft>
                <a:spcPts val="1400"/>
              </a:spcAft>
              <a:buSzPct val="100000"/>
              <a:buChar char="•"/>
            </a:pPr>
            <a:r>
              <a:rPr lang="en-US" sz="1600" dirty="0">
                <a:solidFill>
                  <a:srgbClr val="0D1B2A"/>
                </a:solidFill>
                <a:latin typeface="Calibri" pitchFamily="34" charset="0"/>
                <a:ea typeface="Calibri" pitchFamily="34" charset="-122"/>
                <a:cs typeface="Calibri" pitchFamily="34" charset="-120"/>
              </a:rPr>
              <a:t>Śledzenie cech ORB/SIFT między klatkami</a:t>
            </a:r>
            <a:endParaRPr lang="en-US" sz="1600" dirty="0"/>
          </a:p>
          <a:p>
            <a:pPr marL="180000" indent="-180000">
              <a:spcAft>
                <a:spcPts val="1400"/>
              </a:spcAft>
              <a:buSzPct val="100000"/>
              <a:buChar char="•"/>
            </a:pPr>
            <a:r>
              <a:rPr lang="en-US" sz="1600" dirty="0">
                <a:solidFill>
                  <a:srgbClr val="0D1B2A"/>
                </a:solidFill>
                <a:latin typeface="Calibri" pitchFamily="34" charset="0"/>
                <a:ea typeface="Calibri" pitchFamily="34" charset="-122"/>
                <a:cs typeface="Calibri" pitchFamily="34" charset="-120"/>
              </a:rPr>
              <a:t>Essential Matrix → ruch kamery R, t</a:t>
            </a:r>
            <a:endParaRPr lang="en-US" sz="1600" dirty="0"/>
          </a:p>
          <a:p>
            <a:pPr marL="180000" indent="-180000">
              <a:spcAft>
                <a:spcPts val="1400"/>
              </a:spcAft>
              <a:buSzPct val="100000"/>
              <a:buChar char="•"/>
            </a:pPr>
            <a:r>
              <a:rPr lang="en-US" sz="1600" dirty="0">
                <a:solidFill>
                  <a:srgbClr val="0D1B2A"/>
                </a:solidFill>
                <a:latin typeface="Calibri" pitchFamily="34" charset="0"/>
                <a:ea typeface="Calibri" pitchFamily="34" charset="-122"/>
                <a:cs typeface="Calibri" pitchFamily="34" charset="-120"/>
              </a:rPr>
              <a:t>Skala ruchu nieznana (do 5-punktowego)</a:t>
            </a:r>
            <a:endParaRPr lang="en-US" sz="1600" dirty="0"/>
          </a:p>
          <a:p>
            <a:pPr marL="180000" indent="-180000">
              <a:spcAft>
                <a:spcPts val="1400"/>
              </a:spcAft>
              <a:buSzPct val="100000"/>
              <a:buChar char="•"/>
            </a:pPr>
            <a:r>
              <a:rPr lang="en-US" sz="1600" dirty="0">
                <a:solidFill>
                  <a:srgbClr val="0D1B2A"/>
                </a:solidFill>
                <a:latin typeface="Calibri" pitchFamily="34" charset="0"/>
                <a:ea typeface="Calibri" pitchFamily="34" charset="-122"/>
                <a:cs typeface="Calibri" pitchFamily="34" charset="-120"/>
              </a:rPr>
              <a:t>Skumulowany dryft bez domknięcia pętli</a:t>
            </a:r>
            <a:endParaRPr lang="en-US" sz="1600" dirty="0"/>
          </a:p>
          <a:p>
            <a:pPr marL="180000" indent="-180000">
              <a:spcAft>
                <a:spcPts val="1400"/>
              </a:spcAft>
              <a:buSzPct val="100000"/>
              <a:buChar char="•"/>
            </a:pPr>
            <a:r>
              <a:rPr lang="en-US" sz="1600" dirty="0">
                <a:solidFill>
                  <a:srgbClr val="0D1B2A"/>
                </a:solidFill>
                <a:latin typeface="Calibri" pitchFamily="34" charset="0"/>
                <a:ea typeface="Calibri" pitchFamily="34" charset="-122"/>
                <a:cs typeface="Calibri" pitchFamily="34" charset="-120"/>
              </a:rPr>
              <a:t>Niska cena – jedna kamera wystarczy</a:t>
            </a:r>
            <a:endParaRPr lang="en-US" sz="1600" dirty="0"/>
          </a:p>
        </p:txBody>
      </p:sp>
      <p:sp>
        <p:nvSpPr>
          <p:cNvPr id="13" name="Text 11"/>
          <p:cNvSpPr/>
          <p:nvPr/>
        </p:nvSpPr>
        <p:spPr>
          <a:xfrm>
            <a:off x="4862304" y="1600200"/>
            <a:ext cx="3886200" cy="2115964"/>
          </a:xfrm>
          <a:prstGeom prst="rect">
            <a:avLst/>
          </a:prstGeom>
          <a:noFill/>
          <a:ln/>
        </p:spPr>
        <p:txBody>
          <a:bodyPr wrap="square" lIns="63500" tIns="101600" rIns="63500" bIns="63500" rtlCol="0" anchor="t">
            <a:spAutoFit/>
          </a:bodyPr>
          <a:lstStyle/>
          <a:p>
            <a:pPr marL="180000" indent="-180000">
              <a:spcAft>
                <a:spcPts val="1400"/>
              </a:spcAft>
              <a:buSzPct val="100000"/>
              <a:buChar char="•"/>
            </a:pPr>
            <a:r>
              <a:rPr lang="en-US" sz="1600" spc="-50" dirty="0">
                <a:solidFill>
                  <a:srgbClr val="0D1B2A"/>
                </a:solidFill>
                <a:latin typeface="Calibri" pitchFamily="34" charset="0"/>
                <a:ea typeface="Calibri" pitchFamily="34" charset="-122"/>
                <a:cs typeface="Calibri" pitchFamily="34" charset="-120"/>
              </a:rPr>
              <a:t>Bezpośrednia metryczna skala ruchu</a:t>
            </a:r>
            <a:endParaRPr lang="en-US" sz="1600" spc="-50" dirty="0"/>
          </a:p>
          <a:p>
            <a:pPr marL="180000" indent="-180000">
              <a:spcAft>
                <a:spcPts val="1400"/>
              </a:spcAft>
              <a:buSzPct val="100000"/>
              <a:buChar char="•"/>
            </a:pPr>
            <a:r>
              <a:rPr lang="en-US" sz="1600" spc="-50" dirty="0">
                <a:solidFill>
                  <a:srgbClr val="0D1B2A"/>
                </a:solidFill>
                <a:latin typeface="Calibri" pitchFamily="34" charset="0"/>
                <a:ea typeface="Calibri" pitchFamily="34" charset="-122"/>
                <a:cs typeface="Calibri" pitchFamily="34" charset="-120"/>
              </a:rPr>
              <a:t>Głębia z paralaksy lub strukturowanego światła</a:t>
            </a:r>
            <a:endParaRPr lang="en-US" sz="1600" spc="-50" dirty="0"/>
          </a:p>
          <a:p>
            <a:pPr marL="180000" indent="-180000">
              <a:spcAft>
                <a:spcPts val="1400"/>
              </a:spcAft>
              <a:buSzPct val="100000"/>
              <a:buChar char="•"/>
            </a:pPr>
            <a:r>
              <a:rPr lang="en-US" sz="1600" spc="-50" dirty="0">
                <a:solidFill>
                  <a:srgbClr val="0D1B2A"/>
                </a:solidFill>
                <a:latin typeface="Calibri" pitchFamily="34" charset="0"/>
                <a:ea typeface="Calibri" pitchFamily="34" charset="-122"/>
                <a:cs typeface="Calibri" pitchFamily="34" charset="-120"/>
              </a:rPr>
              <a:t>Mniejszy dryft niż mono VO</a:t>
            </a:r>
            <a:endParaRPr lang="en-US" sz="1600" spc="-50" dirty="0"/>
          </a:p>
          <a:p>
            <a:pPr marL="180000" indent="-180000">
              <a:spcAft>
                <a:spcPts val="1400"/>
              </a:spcAft>
              <a:buSzPct val="100000"/>
              <a:buChar char="•"/>
            </a:pPr>
            <a:r>
              <a:rPr lang="en-US" sz="1600" spc="-50" dirty="0">
                <a:solidFill>
                  <a:srgbClr val="0D1B2A"/>
                </a:solidFill>
                <a:latin typeface="Calibri" pitchFamily="34" charset="0"/>
                <a:ea typeface="Calibri" pitchFamily="34" charset="-122"/>
                <a:cs typeface="Calibri" pitchFamily="34" charset="-120"/>
              </a:rPr>
              <a:t>Wymagana synchronizacja i kalibracja stereo</a:t>
            </a:r>
            <a:endParaRPr lang="en-US" sz="1600" spc="-50" dirty="0"/>
          </a:p>
          <a:p>
            <a:pPr marL="180000" indent="-180000">
              <a:spcAft>
                <a:spcPts val="1400"/>
              </a:spcAft>
              <a:buSzPct val="100000"/>
              <a:buChar char="•"/>
            </a:pPr>
            <a:r>
              <a:rPr lang="en-US" sz="1600" spc="-50" dirty="0">
                <a:solidFill>
                  <a:srgbClr val="0D1B2A"/>
                </a:solidFill>
                <a:latin typeface="Calibri" pitchFamily="34" charset="0"/>
                <a:ea typeface="Calibri" pitchFamily="34" charset="-122"/>
                <a:cs typeface="Calibri" pitchFamily="34" charset="-120"/>
              </a:rPr>
              <a:t>Podstawa Visual-Inertial Odometry (VIO)</a:t>
            </a:r>
            <a:endParaRPr lang="en-US" sz="1600" spc="-50" dirty="0"/>
          </a:p>
        </p:txBody>
      </p:sp>
      <p:sp>
        <p:nvSpPr>
          <p:cNvPr id="14" name="Prostokąt 13"/>
          <p:cNvSpPr/>
          <p:nvPr/>
        </p:nvSpPr>
        <p:spPr>
          <a:xfrm>
            <a:off x="274320" y="4225228"/>
            <a:ext cx="8595360" cy="812979"/>
          </a:xfrm>
          <a:prstGeom prst="rect">
            <a:avLst/>
          </a:prstGeom>
          <a:solidFill>
            <a:srgbClr val="0D1B2A"/>
          </a:solidFill>
        </p:spPr>
        <p:txBody>
          <a:bodyPr wrap="square">
            <a:spAutoFit/>
          </a:bodyPr>
          <a:lstStyle/>
          <a:p>
            <a:pPr algn="just">
              <a:lnSpc>
                <a:spcPts val="1400"/>
              </a:lnSpc>
            </a:pPr>
            <a:r>
              <a:rPr lang="pl-PL" sz="1400" dirty="0">
                <a:solidFill>
                  <a:schemeClr val="bg1"/>
                </a:solidFill>
              </a:rPr>
              <a:t>Odometria wizyjna może być </a:t>
            </a:r>
            <a:r>
              <a:rPr lang="pl-PL" sz="1400" dirty="0" err="1">
                <a:solidFill>
                  <a:schemeClr val="bg1"/>
                </a:solidFill>
              </a:rPr>
              <a:t>monokularna</a:t>
            </a:r>
            <a:r>
              <a:rPr lang="pl-PL" sz="1400" dirty="0">
                <a:solidFill>
                  <a:schemeClr val="bg1"/>
                </a:solidFill>
              </a:rPr>
              <a:t> albo stereofoniczna, ewentualnie RGB-D. W wersji </a:t>
            </a:r>
            <a:r>
              <a:rPr lang="pl-PL" sz="1400" dirty="0" err="1">
                <a:solidFill>
                  <a:schemeClr val="bg1"/>
                </a:solidFill>
              </a:rPr>
              <a:t>monokularnej</a:t>
            </a:r>
            <a:r>
              <a:rPr lang="pl-PL" sz="1400" dirty="0">
                <a:solidFill>
                  <a:schemeClr val="bg1"/>
                </a:solidFill>
              </a:rPr>
              <a:t> śledzimy cechy między klatkami i odzyskujemy ruch kamery, ale tracimy metryczną skalę. W stereo albo RGB-D skala jest bezpośrednio dostępna, więc dryft jest zwykle mniejszy. To właśnie dlatego systemy </a:t>
            </a:r>
            <a:r>
              <a:rPr lang="pl-PL" sz="1400" dirty="0" err="1">
                <a:solidFill>
                  <a:schemeClr val="bg1"/>
                </a:solidFill>
              </a:rPr>
              <a:t>visual-inertial</a:t>
            </a:r>
            <a:r>
              <a:rPr lang="pl-PL" sz="1400" dirty="0">
                <a:solidFill>
                  <a:schemeClr val="bg1"/>
                </a:solidFill>
              </a:rPr>
              <a:t> </a:t>
            </a:r>
            <a:r>
              <a:rPr lang="pl-PL" sz="1400" dirty="0" err="1">
                <a:solidFill>
                  <a:schemeClr val="bg1"/>
                </a:solidFill>
              </a:rPr>
              <a:t>odometry</a:t>
            </a:r>
            <a:r>
              <a:rPr lang="pl-PL" sz="1400" dirty="0">
                <a:solidFill>
                  <a:schemeClr val="bg1"/>
                </a:solidFill>
              </a:rPr>
              <a:t> tak często opierają się na stereo lub głębi, szczególnie wtedy, gdy zależy nam na stabilnej estymacji metrycznej.</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0F4F8"/>
        </a:solidFill>
        <a:effectLst/>
      </p:bgPr>
    </p:bg>
    <p:spTree>
      <p:nvGrpSpPr>
        <p:cNvPr id="1" name=""/>
        <p:cNvGrpSpPr/>
        <p:nvPr/>
      </p:nvGrpSpPr>
      <p:grpSpPr>
        <a:xfrm>
          <a:off x="0" y="0"/>
          <a:ext cx="0" cy="0"/>
          <a:chOff x="0" y="0"/>
          <a:chExt cx="0" cy="0"/>
        </a:xfrm>
      </p:grpSpPr>
      <p:sp>
        <p:nvSpPr>
          <p:cNvPr id="2" name="Shape 0"/>
          <p:cNvSpPr/>
          <p:nvPr/>
        </p:nvSpPr>
        <p:spPr>
          <a:xfrm>
            <a:off x="0" y="0"/>
            <a:ext cx="64008" cy="5143500"/>
          </a:xfrm>
          <a:prstGeom prst="rect">
            <a:avLst/>
          </a:prstGeom>
          <a:solidFill>
            <a:srgbClr val="00B4D8"/>
          </a:solidFill>
          <a:ln w="12700">
            <a:solidFill>
              <a:srgbClr val="00B4D8"/>
            </a:solidFill>
            <a:prstDash val="solid"/>
          </a:ln>
        </p:spPr>
      </p:sp>
      <p:sp>
        <p:nvSpPr>
          <p:cNvPr id="3" name="Shape 1"/>
          <p:cNvSpPr/>
          <p:nvPr/>
        </p:nvSpPr>
        <p:spPr>
          <a:xfrm>
            <a:off x="64008" y="0"/>
            <a:ext cx="9079992" cy="960120"/>
          </a:xfrm>
          <a:prstGeom prst="rect">
            <a:avLst/>
          </a:prstGeom>
          <a:solidFill>
            <a:srgbClr val="0D1B2A"/>
          </a:solidFill>
          <a:ln w="12700">
            <a:solidFill>
              <a:srgbClr val="0D1B2A"/>
            </a:solidFill>
            <a:prstDash val="solid"/>
          </a:ln>
        </p:spPr>
      </p:sp>
      <p:sp>
        <p:nvSpPr>
          <p:cNvPr id="4" name="Text 2"/>
          <p:cNvSpPr/>
          <p:nvPr/>
        </p:nvSpPr>
        <p:spPr>
          <a:xfrm>
            <a:off x="228600" y="73152"/>
            <a:ext cx="4572000" cy="274320"/>
          </a:xfrm>
          <a:prstGeom prst="rect">
            <a:avLst/>
          </a:prstGeom>
          <a:noFill/>
          <a:ln/>
        </p:spPr>
        <p:txBody>
          <a:bodyPr wrap="square" lIns="0" tIns="0" rIns="0" bIns="0" rtlCol="0" anchor="ctr"/>
          <a:lstStyle/>
          <a:p>
            <a:pPr marL="0" indent="0">
              <a:buNone/>
            </a:pPr>
            <a:r>
              <a:rPr lang="en-US" sz="900" b="1" kern="0" spc="200" dirty="0">
                <a:solidFill>
                  <a:srgbClr val="00B4D8"/>
                </a:solidFill>
                <a:latin typeface="Trebuchet MS" pitchFamily="34" charset="0"/>
                <a:ea typeface="Trebuchet MS" pitchFamily="34" charset="-122"/>
                <a:cs typeface="Trebuchet MS" pitchFamily="34" charset="-120"/>
              </a:rPr>
              <a:t>SEKCJA 3 | SLAM</a:t>
            </a:r>
            <a:endParaRPr lang="en-US" sz="900" dirty="0"/>
          </a:p>
        </p:txBody>
      </p:sp>
      <p:sp>
        <p:nvSpPr>
          <p:cNvPr id="5" name="Text 3"/>
          <p:cNvSpPr/>
          <p:nvPr/>
        </p:nvSpPr>
        <p:spPr>
          <a:xfrm>
            <a:off x="228600" y="274320"/>
            <a:ext cx="8686800" cy="594360"/>
          </a:xfrm>
          <a:prstGeom prst="rect">
            <a:avLst/>
          </a:prstGeom>
          <a:noFill/>
          <a:ln/>
        </p:spPr>
        <p:txBody>
          <a:bodyPr wrap="square" lIns="0" tIns="0" rIns="0" bIns="0" rtlCol="0" anchor="ctr"/>
          <a:lstStyle/>
          <a:p>
            <a:pPr marL="0" indent="0">
              <a:buNone/>
            </a:pPr>
            <a:r>
              <a:rPr lang="en-US" sz="2800" b="1" dirty="0">
                <a:solidFill>
                  <a:srgbClr val="FFFFFF"/>
                </a:solidFill>
                <a:latin typeface="Trebuchet MS" pitchFamily="34" charset="0"/>
                <a:ea typeface="Trebuchet MS" pitchFamily="34" charset="-122"/>
                <a:cs typeface="Trebuchet MS" pitchFamily="34" charset="-120"/>
              </a:rPr>
              <a:t>SLAM – Simultaneous Localization and Mapping</a:t>
            </a:r>
            <a:endParaRPr lang="en-US" sz="2800" dirty="0"/>
          </a:p>
        </p:txBody>
      </p:sp>
      <p:sp>
        <p:nvSpPr>
          <p:cNvPr id="6" name="Shape 4"/>
          <p:cNvSpPr/>
          <p:nvPr/>
        </p:nvSpPr>
        <p:spPr>
          <a:xfrm>
            <a:off x="274320" y="1097280"/>
            <a:ext cx="8595360" cy="2847373"/>
          </a:xfrm>
          <a:prstGeom prst="rect">
            <a:avLst/>
          </a:prstGeom>
          <a:solidFill>
            <a:srgbClr val="FFFFFF"/>
          </a:solidFill>
          <a:ln w="12700">
            <a:solidFill>
              <a:srgbClr val="E2EBF3"/>
            </a:solidFill>
            <a:prstDash val="solid"/>
          </a:ln>
          <a:effectLst>
            <a:outerShdw blurRad="76200" dist="25400" dir="8100000" algn="bl" rotWithShape="0">
              <a:srgbClr val="000000">
                <a:alpha val="12000"/>
              </a:srgbClr>
            </a:outerShdw>
          </a:effectLst>
        </p:spPr>
      </p:sp>
      <p:sp>
        <p:nvSpPr>
          <p:cNvPr id="7" name="Text 5"/>
          <p:cNvSpPr/>
          <p:nvPr/>
        </p:nvSpPr>
        <p:spPr>
          <a:xfrm>
            <a:off x="457200" y="1188720"/>
            <a:ext cx="8229600" cy="2755933"/>
          </a:xfrm>
          <a:prstGeom prst="rect">
            <a:avLst/>
          </a:prstGeom>
          <a:noFill/>
          <a:ln/>
        </p:spPr>
        <p:txBody>
          <a:bodyPr wrap="square" lIns="127000" tIns="36000" rIns="127000" bIns="0" rtlCol="0" anchor="t">
            <a:spAutoFit/>
          </a:bodyPr>
          <a:lstStyle/>
          <a:p>
            <a:pPr marL="180000" indent="-180000">
              <a:spcAft>
                <a:spcPts val="1200"/>
              </a:spcAft>
              <a:buSzPct val="100000"/>
              <a:buChar char="•"/>
            </a:pPr>
            <a:r>
              <a:rPr lang="en-US" sz="1600" b="1" dirty="0">
                <a:solidFill>
                  <a:srgbClr val="0D1B2A"/>
                </a:solidFill>
                <a:latin typeface="Calibri" pitchFamily="34" charset="0"/>
                <a:ea typeface="Calibri" pitchFamily="34" charset="-122"/>
                <a:cs typeface="Calibri" pitchFamily="34" charset="-120"/>
              </a:rPr>
              <a:t>Problem sprzężony</a:t>
            </a:r>
            <a:r>
              <a:rPr lang="en-US" sz="1600" dirty="0">
                <a:solidFill>
                  <a:srgbClr val="0D1B2A"/>
                </a:solidFill>
                <a:latin typeface="Calibri" pitchFamily="34" charset="0"/>
                <a:ea typeface="Calibri" pitchFamily="34" charset="-122"/>
                <a:cs typeface="Calibri" pitchFamily="34" charset="-120"/>
              </a:rPr>
              <a:t>: mapa zależy od dobrej lokalizacji; lokalizacja zależy od dobrej mapy</a:t>
            </a:r>
            <a:endParaRPr lang="en-US" sz="1600" dirty="0"/>
          </a:p>
          <a:p>
            <a:pPr marL="180000" indent="-180000">
              <a:spcAft>
                <a:spcPts val="1200"/>
              </a:spcAft>
              <a:buSzPct val="100000"/>
              <a:buChar char="•"/>
            </a:pPr>
            <a:r>
              <a:rPr lang="en-US" sz="1600" b="1" dirty="0">
                <a:solidFill>
                  <a:srgbClr val="0D1B2A"/>
                </a:solidFill>
                <a:latin typeface="Calibri" pitchFamily="34" charset="0"/>
                <a:ea typeface="Calibri" pitchFamily="34" charset="-122"/>
                <a:cs typeface="Calibri" pitchFamily="34" charset="-120"/>
              </a:rPr>
              <a:t>Online SLAM</a:t>
            </a:r>
            <a:r>
              <a:rPr lang="en-US" sz="1600" dirty="0">
                <a:solidFill>
                  <a:srgbClr val="0D1B2A"/>
                </a:solidFill>
                <a:latin typeface="Calibri" pitchFamily="34" charset="0"/>
                <a:ea typeface="Calibri" pitchFamily="34" charset="-122"/>
                <a:cs typeface="Calibri" pitchFamily="34" charset="-120"/>
              </a:rPr>
              <a:t>: estymacja bieżącej pozycji i mapy w czasie rzeczywistym</a:t>
            </a:r>
            <a:endParaRPr lang="en-US" sz="1600" dirty="0"/>
          </a:p>
          <a:p>
            <a:pPr marL="180000" indent="-180000">
              <a:spcAft>
                <a:spcPts val="1200"/>
              </a:spcAft>
              <a:buSzPct val="100000"/>
              <a:buChar char="•"/>
            </a:pPr>
            <a:r>
              <a:rPr lang="en-US" sz="1600" b="1" dirty="0">
                <a:solidFill>
                  <a:srgbClr val="0D1B2A"/>
                </a:solidFill>
                <a:latin typeface="Calibri" pitchFamily="34" charset="0"/>
                <a:ea typeface="Calibri" pitchFamily="34" charset="-122"/>
                <a:cs typeface="Calibri" pitchFamily="34" charset="-120"/>
              </a:rPr>
              <a:t>Full SLAM</a:t>
            </a:r>
            <a:r>
              <a:rPr lang="en-US" sz="1600" dirty="0">
                <a:solidFill>
                  <a:srgbClr val="0D1B2A"/>
                </a:solidFill>
                <a:latin typeface="Calibri" pitchFamily="34" charset="0"/>
                <a:ea typeface="Calibri" pitchFamily="34" charset="-122"/>
                <a:cs typeface="Calibri" pitchFamily="34" charset="-120"/>
              </a:rPr>
              <a:t>: pełna trajektoria i mapa (post-processing </a:t>
            </a:r>
            <a:r>
              <a:rPr lang="pl-PL" sz="1600" dirty="0" smtClean="0">
                <a:solidFill>
                  <a:srgbClr val="0D1B2A"/>
                </a:solidFill>
                <a:latin typeface="Calibri" pitchFamily="34" charset="0"/>
                <a:ea typeface="Calibri" pitchFamily="34" charset="-122"/>
                <a:cs typeface="Calibri" pitchFamily="34" charset="-120"/>
              </a:rPr>
              <a:t>w</a:t>
            </a:r>
            <a:r>
              <a:rPr lang="en-US" sz="1600" dirty="0" smtClean="0">
                <a:solidFill>
                  <a:srgbClr val="0D1B2A"/>
                </a:solidFill>
                <a:latin typeface="Calibri" pitchFamily="34" charset="0"/>
                <a:ea typeface="Calibri" pitchFamily="34" charset="-122"/>
                <a:cs typeface="Calibri" pitchFamily="34" charset="-120"/>
              </a:rPr>
              <a:t> </a:t>
            </a:r>
            <a:r>
              <a:rPr lang="en-US" sz="1600" dirty="0">
                <a:solidFill>
                  <a:srgbClr val="0D1B2A"/>
                </a:solidFill>
                <a:latin typeface="Calibri" pitchFamily="34" charset="0"/>
                <a:ea typeface="Calibri" pitchFamily="34" charset="-122"/>
                <a:cs typeface="Calibri" pitchFamily="34" charset="-120"/>
              </a:rPr>
              <a:t>np. Google Cartographer)</a:t>
            </a:r>
            <a:endParaRPr lang="en-US" sz="1600" dirty="0"/>
          </a:p>
          <a:p>
            <a:pPr marL="180000" indent="-180000">
              <a:spcAft>
                <a:spcPts val="1200"/>
              </a:spcAft>
              <a:buSzPct val="100000"/>
              <a:buChar char="•"/>
            </a:pPr>
            <a:r>
              <a:rPr lang="en-US" sz="1600" b="1" dirty="0">
                <a:solidFill>
                  <a:srgbClr val="0D1B2A"/>
                </a:solidFill>
                <a:latin typeface="Calibri" pitchFamily="34" charset="0"/>
                <a:ea typeface="Calibri" pitchFamily="34" charset="-122"/>
                <a:cs typeface="Calibri" pitchFamily="34" charset="-120"/>
              </a:rPr>
              <a:t>Dane obserwacyjne</a:t>
            </a:r>
            <a:r>
              <a:rPr lang="en-US" sz="1600" dirty="0">
                <a:solidFill>
                  <a:srgbClr val="0D1B2A"/>
                </a:solidFill>
                <a:latin typeface="Calibri" pitchFamily="34" charset="0"/>
                <a:ea typeface="Calibri" pitchFamily="34" charset="-122"/>
                <a:cs typeface="Calibri" pitchFamily="34" charset="-120"/>
              </a:rPr>
              <a:t>: LiDAR (2D/3D SLAM), kamera (Visual SLAM – ORB-SLAM3, RTAB-Map)</a:t>
            </a:r>
            <a:endParaRPr lang="en-US" sz="1600" dirty="0"/>
          </a:p>
          <a:p>
            <a:pPr marL="180000" indent="-180000">
              <a:spcAft>
                <a:spcPts val="1200"/>
              </a:spcAft>
              <a:buSzPct val="100000"/>
              <a:buChar char="•"/>
            </a:pPr>
            <a:r>
              <a:rPr lang="en-US" sz="1600" b="1" dirty="0">
                <a:solidFill>
                  <a:srgbClr val="0D1B2A"/>
                </a:solidFill>
                <a:latin typeface="Calibri" pitchFamily="34" charset="0"/>
                <a:ea typeface="Calibri" pitchFamily="34" charset="-122"/>
                <a:cs typeface="Calibri" pitchFamily="34" charset="-120"/>
              </a:rPr>
              <a:t>Reprezentacja mapy</a:t>
            </a:r>
            <a:r>
              <a:rPr lang="en-US" sz="1600" dirty="0">
                <a:solidFill>
                  <a:srgbClr val="0D1B2A"/>
                </a:solidFill>
                <a:latin typeface="Calibri" pitchFamily="34" charset="0"/>
                <a:ea typeface="Calibri" pitchFamily="34" charset="-122"/>
                <a:cs typeface="Calibri" pitchFamily="34" charset="-120"/>
              </a:rPr>
              <a:t>: chmura punktów, mapa cech (deskryptory), submapa siatek</a:t>
            </a:r>
            <a:endParaRPr lang="en-US" sz="1600" dirty="0"/>
          </a:p>
          <a:p>
            <a:pPr marL="180000" indent="-180000">
              <a:spcAft>
                <a:spcPts val="1200"/>
              </a:spcAft>
              <a:buSzPct val="100000"/>
              <a:buChar char="•"/>
            </a:pPr>
            <a:r>
              <a:rPr lang="en-US" sz="1600" b="1" dirty="0">
                <a:solidFill>
                  <a:srgbClr val="0D1B2A"/>
                </a:solidFill>
                <a:latin typeface="Calibri" pitchFamily="34" charset="0"/>
                <a:ea typeface="Calibri" pitchFamily="34" charset="-122"/>
                <a:cs typeface="Calibri" pitchFamily="34" charset="-120"/>
              </a:rPr>
              <a:t>Współdziałanie z planistą</a:t>
            </a:r>
            <a:r>
              <a:rPr lang="en-US" sz="1600" dirty="0">
                <a:solidFill>
                  <a:srgbClr val="0D1B2A"/>
                </a:solidFill>
                <a:latin typeface="Calibri" pitchFamily="34" charset="0"/>
                <a:ea typeface="Calibri" pitchFamily="34" charset="-122"/>
                <a:cs typeface="Calibri" pitchFamily="34" charset="-120"/>
              </a:rPr>
              <a:t>: gotowa mapa przekazywana do globalnego planisty ścieżki</a:t>
            </a:r>
            <a:endParaRPr lang="en-US" sz="1600" dirty="0"/>
          </a:p>
          <a:p>
            <a:pPr marL="180000" indent="-180000">
              <a:spcAft>
                <a:spcPts val="1200"/>
              </a:spcAft>
              <a:buSzPct val="100000"/>
              <a:buChar char="•"/>
            </a:pPr>
            <a:r>
              <a:rPr lang="en-US" sz="1600" b="1" dirty="0" err="1">
                <a:solidFill>
                  <a:srgbClr val="0D1B2A"/>
                </a:solidFill>
                <a:latin typeface="Calibri" pitchFamily="34" charset="0"/>
                <a:ea typeface="Calibri" pitchFamily="34" charset="-122"/>
                <a:cs typeface="Calibri" pitchFamily="34" charset="-120"/>
              </a:rPr>
              <a:t>Błąd</a:t>
            </a:r>
            <a:r>
              <a:rPr lang="en-US" sz="1600" b="1" dirty="0">
                <a:solidFill>
                  <a:srgbClr val="0D1B2A"/>
                </a:solidFill>
                <a:latin typeface="Calibri" pitchFamily="34" charset="0"/>
                <a:ea typeface="Calibri" pitchFamily="34" charset="-122"/>
                <a:cs typeface="Calibri" pitchFamily="34" charset="-120"/>
              </a:rPr>
              <a:t> </a:t>
            </a:r>
            <a:r>
              <a:rPr lang="en-US" sz="1600" b="1" dirty="0" err="1">
                <a:solidFill>
                  <a:srgbClr val="0D1B2A"/>
                </a:solidFill>
                <a:latin typeface="Calibri" pitchFamily="34" charset="0"/>
                <a:ea typeface="Calibri" pitchFamily="34" charset="-122"/>
                <a:cs typeface="Calibri" pitchFamily="34" charset="-120"/>
              </a:rPr>
              <a:t>rośnie</a:t>
            </a:r>
            <a:r>
              <a:rPr lang="en-US" sz="1600" b="1" dirty="0">
                <a:solidFill>
                  <a:srgbClr val="0D1B2A"/>
                </a:solidFill>
                <a:latin typeface="Calibri" pitchFamily="34" charset="0"/>
                <a:ea typeface="Calibri" pitchFamily="34" charset="-122"/>
                <a:cs typeface="Calibri" pitchFamily="34" charset="-120"/>
              </a:rPr>
              <a:t> </a:t>
            </a:r>
            <a:r>
              <a:rPr lang="en-US" sz="1600" b="1" dirty="0" err="1">
                <a:solidFill>
                  <a:srgbClr val="0D1B2A"/>
                </a:solidFill>
                <a:latin typeface="Calibri" pitchFamily="34" charset="0"/>
                <a:ea typeface="Calibri" pitchFamily="34" charset="-122"/>
                <a:cs typeface="Calibri" pitchFamily="34" charset="-120"/>
              </a:rPr>
              <a:t>liniowo</a:t>
            </a:r>
            <a:r>
              <a:rPr lang="en-US" sz="1600" b="1" dirty="0">
                <a:solidFill>
                  <a:srgbClr val="0D1B2A"/>
                </a:solidFill>
                <a:latin typeface="Calibri" pitchFamily="34" charset="0"/>
                <a:ea typeface="Calibri" pitchFamily="34" charset="-122"/>
                <a:cs typeface="Calibri" pitchFamily="34" charset="-120"/>
              </a:rPr>
              <a:t> </a:t>
            </a:r>
            <a:r>
              <a:rPr lang="en-US" sz="1600" b="1" dirty="0" smtClean="0">
                <a:solidFill>
                  <a:srgbClr val="0D1B2A"/>
                </a:solidFill>
                <a:latin typeface="Calibri" pitchFamily="34" charset="0"/>
                <a:ea typeface="Calibri" pitchFamily="34" charset="-122"/>
                <a:cs typeface="Calibri" pitchFamily="34" charset="-120"/>
              </a:rPr>
              <a:t>z </a:t>
            </a:r>
            <a:r>
              <a:rPr lang="en-US" sz="1600" b="1" dirty="0">
                <a:solidFill>
                  <a:srgbClr val="0D1B2A"/>
                </a:solidFill>
                <a:latin typeface="Calibri" pitchFamily="34" charset="0"/>
                <a:ea typeface="Calibri" pitchFamily="34" charset="-122"/>
                <a:cs typeface="Calibri" pitchFamily="34" charset="-120"/>
              </a:rPr>
              <a:t>odległością </a:t>
            </a:r>
            <a:r>
              <a:rPr lang="en-US" sz="1600" dirty="0">
                <a:solidFill>
                  <a:srgbClr val="0D1B2A"/>
                </a:solidFill>
                <a:latin typeface="Calibri" pitchFamily="34" charset="0"/>
                <a:ea typeface="Calibri" pitchFamily="34" charset="-122"/>
                <a:cs typeface="Calibri" pitchFamily="34" charset="-120"/>
              </a:rPr>
              <a:t>bez </a:t>
            </a:r>
            <a:r>
              <a:rPr lang="en-US" sz="1600" dirty="0" err="1">
                <a:solidFill>
                  <a:srgbClr val="0D1B2A"/>
                </a:solidFill>
                <a:latin typeface="Calibri" pitchFamily="34" charset="0"/>
                <a:ea typeface="Calibri" pitchFamily="34" charset="-122"/>
                <a:cs typeface="Calibri" pitchFamily="34" charset="-120"/>
              </a:rPr>
              <a:t>domknięcia</a:t>
            </a:r>
            <a:r>
              <a:rPr lang="en-US" sz="1600" dirty="0">
                <a:solidFill>
                  <a:srgbClr val="0D1B2A"/>
                </a:solidFill>
                <a:latin typeface="Calibri" pitchFamily="34" charset="0"/>
                <a:ea typeface="Calibri" pitchFamily="34" charset="-122"/>
                <a:cs typeface="Calibri" pitchFamily="34" charset="-120"/>
              </a:rPr>
              <a:t> </a:t>
            </a:r>
            <a:r>
              <a:rPr lang="en-US" sz="1600" dirty="0" err="1" smtClean="0">
                <a:solidFill>
                  <a:srgbClr val="0D1B2A"/>
                </a:solidFill>
                <a:latin typeface="Calibri" pitchFamily="34" charset="0"/>
                <a:ea typeface="Calibri" pitchFamily="34" charset="-122"/>
                <a:cs typeface="Calibri" pitchFamily="34" charset="-120"/>
              </a:rPr>
              <a:t>pętli</a:t>
            </a:r>
            <a:r>
              <a:rPr lang="pl-PL" sz="1600" dirty="0" smtClean="0">
                <a:solidFill>
                  <a:srgbClr val="0D1B2A"/>
                </a:solidFill>
                <a:latin typeface="Calibri" pitchFamily="34" charset="0"/>
                <a:ea typeface="Calibri" pitchFamily="34" charset="-122"/>
                <a:cs typeface="Calibri" pitchFamily="34" charset="-120"/>
              </a:rPr>
              <a:t>;</a:t>
            </a:r>
            <a:r>
              <a:rPr lang="en-US" sz="1600" dirty="0" smtClean="0">
                <a:solidFill>
                  <a:srgbClr val="0D1B2A"/>
                </a:solidFill>
                <a:latin typeface="Calibri" pitchFamily="34" charset="0"/>
                <a:ea typeface="Calibri" pitchFamily="34" charset="-122"/>
                <a:cs typeface="Calibri" pitchFamily="34" charset="-120"/>
              </a:rPr>
              <a:t> </a:t>
            </a:r>
            <a:r>
              <a:rPr lang="en-US" sz="1600" dirty="0">
                <a:solidFill>
                  <a:srgbClr val="0D1B2A"/>
                </a:solidFill>
                <a:latin typeface="Calibri" pitchFamily="34" charset="0"/>
                <a:ea typeface="Calibri" pitchFamily="34" charset="-122"/>
                <a:cs typeface="Calibri" pitchFamily="34" charset="-120"/>
              </a:rPr>
              <a:t>po 100 m może sięgnąć kilku metrów</a:t>
            </a:r>
            <a:endParaRPr lang="en-US" sz="1600" dirty="0"/>
          </a:p>
        </p:txBody>
      </p:sp>
      <p:sp>
        <p:nvSpPr>
          <p:cNvPr id="8" name="Prostokąt 7"/>
          <p:cNvSpPr/>
          <p:nvPr/>
        </p:nvSpPr>
        <p:spPr>
          <a:xfrm>
            <a:off x="274320" y="4089202"/>
            <a:ext cx="8595360" cy="992516"/>
          </a:xfrm>
          <a:prstGeom prst="rect">
            <a:avLst/>
          </a:prstGeom>
          <a:solidFill>
            <a:srgbClr val="0D1B2A"/>
          </a:solidFill>
        </p:spPr>
        <p:txBody>
          <a:bodyPr wrap="square">
            <a:spAutoFit/>
          </a:bodyPr>
          <a:lstStyle/>
          <a:p>
            <a:pPr algn="just">
              <a:lnSpc>
                <a:spcPts val="1400"/>
              </a:lnSpc>
            </a:pPr>
            <a:r>
              <a:rPr lang="pl-PL" sz="1400" dirty="0">
                <a:solidFill>
                  <a:schemeClr val="bg1"/>
                </a:solidFill>
              </a:rPr>
              <a:t>SLAM to jednoczesna lokalizacja i mapowanie. Jest to problem sprzężony, bo dobra mapa wymaga dobrej lokalizacji, a dobra lokalizacja wymaga dobrej mapy. W wersji online system estymuje bieżącą pozycję i buduje mapę w czasie rzeczywistym. W wersji </a:t>
            </a:r>
            <a:r>
              <a:rPr lang="pl-PL" sz="1400" dirty="0" err="1">
                <a:solidFill>
                  <a:schemeClr val="bg1"/>
                </a:solidFill>
              </a:rPr>
              <a:t>full</a:t>
            </a:r>
            <a:r>
              <a:rPr lang="pl-PL" sz="1400" dirty="0">
                <a:solidFill>
                  <a:schemeClr val="bg1"/>
                </a:solidFill>
              </a:rPr>
              <a:t> SLAM optymalizujemy całą trajektorię i mapę również po zakończeniu przejazdu. Możemy robić to na danych z </a:t>
            </a:r>
            <a:r>
              <a:rPr lang="pl-PL" sz="1400" dirty="0" err="1">
                <a:solidFill>
                  <a:schemeClr val="bg1"/>
                </a:solidFill>
              </a:rPr>
              <a:t>LiDAR</a:t>
            </a:r>
            <a:r>
              <a:rPr lang="pl-PL" sz="1400" dirty="0">
                <a:solidFill>
                  <a:schemeClr val="bg1"/>
                </a:solidFill>
              </a:rPr>
              <a:t>-u albo kamery, a wynik trafia potem do planisty globalnego. Bez domknięcia pętli błąd rośnie wraz z odległością i może stać się bardzo duży.</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0F4F8"/>
        </a:solidFill>
        <a:effectLst/>
      </p:bgPr>
    </p:bg>
    <p:spTree>
      <p:nvGrpSpPr>
        <p:cNvPr id="1" name=""/>
        <p:cNvGrpSpPr/>
        <p:nvPr/>
      </p:nvGrpSpPr>
      <p:grpSpPr>
        <a:xfrm>
          <a:off x="0" y="0"/>
          <a:ext cx="0" cy="0"/>
          <a:chOff x="0" y="0"/>
          <a:chExt cx="0" cy="0"/>
        </a:xfrm>
      </p:grpSpPr>
      <p:sp>
        <p:nvSpPr>
          <p:cNvPr id="2" name="Shape 0"/>
          <p:cNvSpPr/>
          <p:nvPr/>
        </p:nvSpPr>
        <p:spPr>
          <a:xfrm>
            <a:off x="0" y="0"/>
            <a:ext cx="64008" cy="5143500"/>
          </a:xfrm>
          <a:prstGeom prst="rect">
            <a:avLst/>
          </a:prstGeom>
          <a:solidFill>
            <a:srgbClr val="FB923C"/>
          </a:solidFill>
          <a:ln w="12700">
            <a:solidFill>
              <a:srgbClr val="FB923C"/>
            </a:solidFill>
            <a:prstDash val="solid"/>
          </a:ln>
        </p:spPr>
      </p:sp>
      <p:sp>
        <p:nvSpPr>
          <p:cNvPr id="3" name="Shape 1"/>
          <p:cNvSpPr/>
          <p:nvPr/>
        </p:nvSpPr>
        <p:spPr>
          <a:xfrm>
            <a:off x="64008" y="0"/>
            <a:ext cx="9079992" cy="960120"/>
          </a:xfrm>
          <a:prstGeom prst="rect">
            <a:avLst/>
          </a:prstGeom>
          <a:solidFill>
            <a:srgbClr val="0D1B2A"/>
          </a:solidFill>
          <a:ln w="12700">
            <a:solidFill>
              <a:srgbClr val="0D1B2A"/>
            </a:solidFill>
            <a:prstDash val="solid"/>
          </a:ln>
        </p:spPr>
      </p:sp>
      <p:sp>
        <p:nvSpPr>
          <p:cNvPr id="4" name="Text 2"/>
          <p:cNvSpPr/>
          <p:nvPr/>
        </p:nvSpPr>
        <p:spPr>
          <a:xfrm>
            <a:off x="228600" y="73152"/>
            <a:ext cx="4572000" cy="274320"/>
          </a:xfrm>
          <a:prstGeom prst="rect">
            <a:avLst/>
          </a:prstGeom>
          <a:noFill/>
          <a:ln/>
        </p:spPr>
        <p:txBody>
          <a:bodyPr wrap="square" lIns="0" tIns="0" rIns="0" bIns="0" rtlCol="0" anchor="ctr"/>
          <a:lstStyle/>
          <a:p>
            <a:pPr marL="0" indent="0">
              <a:buNone/>
            </a:pPr>
            <a:r>
              <a:rPr lang="en-US" sz="900" b="1" kern="0" spc="200" dirty="0">
                <a:solidFill>
                  <a:srgbClr val="FB923C"/>
                </a:solidFill>
                <a:latin typeface="Trebuchet MS" pitchFamily="34" charset="0"/>
                <a:ea typeface="Trebuchet MS" pitchFamily="34" charset="-122"/>
                <a:cs typeface="Trebuchet MS" pitchFamily="34" charset="-120"/>
              </a:rPr>
              <a:t>SEKCJA 3 | POSE GRAPH</a:t>
            </a:r>
            <a:endParaRPr lang="en-US" sz="900" dirty="0"/>
          </a:p>
        </p:txBody>
      </p:sp>
      <p:sp>
        <p:nvSpPr>
          <p:cNvPr id="5" name="Text 3"/>
          <p:cNvSpPr/>
          <p:nvPr/>
        </p:nvSpPr>
        <p:spPr>
          <a:xfrm>
            <a:off x="228600" y="274320"/>
            <a:ext cx="8686800" cy="594360"/>
          </a:xfrm>
          <a:prstGeom prst="rect">
            <a:avLst/>
          </a:prstGeom>
          <a:noFill/>
          <a:ln/>
        </p:spPr>
        <p:txBody>
          <a:bodyPr wrap="square" lIns="0" tIns="0" rIns="0" bIns="0" rtlCol="0" anchor="ctr"/>
          <a:lstStyle/>
          <a:p>
            <a:pPr marL="0" indent="0">
              <a:buNone/>
            </a:pPr>
            <a:r>
              <a:rPr lang="en-US" sz="2800" b="1" dirty="0">
                <a:solidFill>
                  <a:srgbClr val="FFFFFF"/>
                </a:solidFill>
                <a:latin typeface="Trebuchet MS" pitchFamily="34" charset="0"/>
                <a:ea typeface="Trebuchet MS" pitchFamily="34" charset="-122"/>
                <a:cs typeface="Trebuchet MS" pitchFamily="34" charset="-120"/>
              </a:rPr>
              <a:t>Pose Graph </a:t>
            </a:r>
            <a:r>
              <a:rPr lang="en-US" sz="2800" b="1" dirty="0" smtClean="0">
                <a:solidFill>
                  <a:srgbClr val="FFFFFF"/>
                </a:solidFill>
                <a:latin typeface="Trebuchet MS" pitchFamily="34" charset="0"/>
                <a:ea typeface="Trebuchet MS" pitchFamily="34" charset="-122"/>
                <a:cs typeface="Trebuchet MS" pitchFamily="34" charset="-120"/>
              </a:rPr>
              <a:t>SLAM</a:t>
            </a:r>
            <a:r>
              <a:rPr lang="pl-PL" sz="2800" b="1" dirty="0" smtClean="0">
                <a:solidFill>
                  <a:srgbClr val="FFFFFF"/>
                </a:solidFill>
                <a:latin typeface="Trebuchet MS" pitchFamily="34" charset="0"/>
                <a:ea typeface="Trebuchet MS" pitchFamily="34" charset="-122"/>
                <a:cs typeface="Trebuchet MS" pitchFamily="34" charset="-120"/>
              </a:rPr>
              <a:t>, czyli </a:t>
            </a:r>
            <a:r>
              <a:rPr lang="en-US" sz="2800" b="1" dirty="0" smtClean="0">
                <a:solidFill>
                  <a:srgbClr val="FFFFFF"/>
                </a:solidFill>
                <a:latin typeface="Trebuchet MS" pitchFamily="34" charset="0"/>
                <a:ea typeface="Trebuchet MS" pitchFamily="34" charset="-122"/>
                <a:cs typeface="Trebuchet MS" pitchFamily="34" charset="-120"/>
              </a:rPr>
              <a:t>idea </a:t>
            </a:r>
            <a:r>
              <a:rPr lang="en-US" sz="2800" b="1" dirty="0" err="1" smtClean="0">
                <a:solidFill>
                  <a:srgbClr val="FFFFFF"/>
                </a:solidFill>
                <a:latin typeface="Trebuchet MS" pitchFamily="34" charset="0"/>
                <a:ea typeface="Trebuchet MS" pitchFamily="34" charset="-122"/>
                <a:cs typeface="Trebuchet MS" pitchFamily="34" charset="-120"/>
              </a:rPr>
              <a:t>grafowa</a:t>
            </a:r>
            <a:r>
              <a:rPr lang="pl-PL" sz="2800" b="1" dirty="0" smtClean="0">
                <a:solidFill>
                  <a:srgbClr val="FFFFFF"/>
                </a:solidFill>
                <a:latin typeface="Trebuchet MS" pitchFamily="34" charset="0"/>
                <a:ea typeface="Trebuchet MS" pitchFamily="34" charset="-122"/>
                <a:cs typeface="Trebuchet MS" pitchFamily="34" charset="-120"/>
              </a:rPr>
              <a:t> SLAM-u</a:t>
            </a:r>
            <a:endParaRPr lang="en-US" sz="2800" dirty="0"/>
          </a:p>
        </p:txBody>
      </p:sp>
      <p:grpSp>
        <p:nvGrpSpPr>
          <p:cNvPr id="27" name="Grupa 26"/>
          <p:cNvGrpSpPr/>
          <p:nvPr/>
        </p:nvGrpSpPr>
        <p:grpSpPr>
          <a:xfrm>
            <a:off x="274320" y="1097280"/>
            <a:ext cx="8717280" cy="2628333"/>
            <a:chOff x="274320" y="1097280"/>
            <a:chExt cx="8458200" cy="2628333"/>
          </a:xfrm>
        </p:grpSpPr>
        <p:sp>
          <p:nvSpPr>
            <p:cNvPr id="6" name="Shape 4"/>
            <p:cNvSpPr/>
            <p:nvPr/>
          </p:nvSpPr>
          <p:spPr>
            <a:xfrm>
              <a:off x="274320" y="1097280"/>
              <a:ext cx="2011680" cy="2628333"/>
            </a:xfrm>
            <a:prstGeom prst="rect">
              <a:avLst/>
            </a:prstGeom>
            <a:solidFill>
              <a:srgbClr val="FFFFFF"/>
            </a:solidFill>
            <a:ln w="12700">
              <a:solidFill>
                <a:srgbClr val="E2EBF3"/>
              </a:solidFill>
              <a:prstDash val="solid"/>
            </a:ln>
            <a:effectLst>
              <a:outerShdw blurRad="76200" dist="25400" dir="8100000" algn="bl" rotWithShape="0">
                <a:srgbClr val="000000">
                  <a:alpha val="12000"/>
                </a:srgbClr>
              </a:outerShdw>
            </a:effectLst>
          </p:spPr>
        </p:sp>
        <p:sp>
          <p:nvSpPr>
            <p:cNvPr id="7" name="Shape 5"/>
            <p:cNvSpPr/>
            <p:nvPr/>
          </p:nvSpPr>
          <p:spPr>
            <a:xfrm>
              <a:off x="987552" y="1270494"/>
              <a:ext cx="585216" cy="585216"/>
            </a:xfrm>
            <a:prstGeom prst="ellipse">
              <a:avLst/>
            </a:prstGeom>
            <a:solidFill>
              <a:srgbClr val="FB923C"/>
            </a:solidFill>
            <a:ln w="12700">
              <a:solidFill>
                <a:srgbClr val="FB923C"/>
              </a:solidFill>
              <a:prstDash val="solid"/>
            </a:ln>
          </p:spPr>
        </p:sp>
        <p:sp>
          <p:nvSpPr>
            <p:cNvPr id="8" name="Text 6"/>
            <p:cNvSpPr/>
            <p:nvPr/>
          </p:nvSpPr>
          <p:spPr>
            <a:xfrm>
              <a:off x="987552" y="1270494"/>
              <a:ext cx="585216" cy="585216"/>
            </a:xfrm>
            <a:prstGeom prst="rect">
              <a:avLst/>
            </a:prstGeom>
            <a:noFill/>
            <a:ln/>
          </p:spPr>
          <p:txBody>
            <a:bodyPr wrap="square" lIns="0" tIns="0" rIns="0" bIns="0" rtlCol="0" anchor="ctr"/>
            <a:lstStyle/>
            <a:p>
              <a:pPr marL="0" indent="0" algn="ctr">
                <a:buNone/>
              </a:pPr>
              <a:r>
                <a:rPr lang="en-US" sz="2800" b="1" dirty="0">
                  <a:solidFill>
                    <a:srgbClr val="FFFFFF"/>
                  </a:solidFill>
                  <a:latin typeface="Trebuchet MS" pitchFamily="34" charset="0"/>
                  <a:ea typeface="Trebuchet MS" pitchFamily="34" charset="-122"/>
                  <a:cs typeface="Trebuchet MS" pitchFamily="34" charset="-120"/>
                </a:rPr>
                <a:t>1</a:t>
              </a:r>
              <a:endParaRPr lang="en-US" sz="2800" dirty="0"/>
            </a:p>
          </p:txBody>
        </p:sp>
        <p:sp>
          <p:nvSpPr>
            <p:cNvPr id="9" name="Text 7"/>
            <p:cNvSpPr/>
            <p:nvPr/>
          </p:nvSpPr>
          <p:spPr>
            <a:xfrm>
              <a:off x="365760" y="1874520"/>
              <a:ext cx="1828800" cy="502920"/>
            </a:xfrm>
            <a:prstGeom prst="rect">
              <a:avLst/>
            </a:prstGeom>
            <a:noFill/>
            <a:ln/>
          </p:spPr>
          <p:txBody>
            <a:bodyPr wrap="square" lIns="0" tIns="0" rIns="0" bIns="0" rtlCol="0" anchor="ctr"/>
            <a:lstStyle/>
            <a:p>
              <a:pPr marL="0" indent="0" algn="ctr">
                <a:buNone/>
              </a:pPr>
              <a:r>
                <a:rPr lang="en-US" b="1" dirty="0">
                  <a:solidFill>
                    <a:srgbClr val="0D1B2A"/>
                  </a:solidFill>
                  <a:latin typeface="Trebuchet MS" pitchFamily="34" charset="0"/>
                  <a:ea typeface="Trebuchet MS" pitchFamily="34" charset="-122"/>
                  <a:cs typeface="Trebuchet MS" pitchFamily="34" charset="-120"/>
                </a:rPr>
                <a:t>Węzły </a:t>
              </a:r>
              <a:r>
                <a:rPr lang="en-US" i="1" dirty="0">
                  <a:solidFill>
                    <a:srgbClr val="0D1B2A"/>
                  </a:solidFill>
                  <a:latin typeface="Trebuchet MS" pitchFamily="34" charset="0"/>
                  <a:ea typeface="Trebuchet MS" pitchFamily="34" charset="-122"/>
                  <a:cs typeface="Trebuchet MS" pitchFamily="34" charset="-120"/>
                </a:rPr>
                <a:t>(poses)</a:t>
              </a:r>
              <a:endParaRPr lang="en-US" i="1" dirty="0"/>
            </a:p>
          </p:txBody>
        </p:sp>
        <p:sp>
          <p:nvSpPr>
            <p:cNvPr id="10" name="Text 8"/>
            <p:cNvSpPr/>
            <p:nvPr/>
          </p:nvSpPr>
          <p:spPr>
            <a:xfrm>
              <a:off x="365760" y="2423160"/>
              <a:ext cx="1828800" cy="1302453"/>
            </a:xfrm>
            <a:prstGeom prst="rect">
              <a:avLst/>
            </a:prstGeom>
            <a:noFill/>
            <a:ln/>
          </p:spPr>
          <p:txBody>
            <a:bodyPr wrap="square" lIns="0" tIns="0" rIns="0" bIns="0" rtlCol="0" anchor="ctr"/>
            <a:lstStyle/>
            <a:p>
              <a:pPr marL="0" indent="0" algn="ctr">
                <a:spcAft>
                  <a:spcPts val="600"/>
                </a:spcAft>
                <a:buNone/>
              </a:pPr>
              <a:r>
                <a:rPr lang="en-US" sz="1400" dirty="0">
                  <a:solidFill>
                    <a:srgbClr val="475569"/>
                  </a:solidFill>
                  <a:latin typeface="Calibri" pitchFamily="34" charset="0"/>
                  <a:ea typeface="Calibri" pitchFamily="34" charset="-122"/>
                  <a:cs typeface="Calibri" pitchFamily="34" charset="-120"/>
                </a:rPr>
                <a:t>Każda pozycja robota x₁, x₂, …, xₙ to wierzchołek w grafie; zazwyczaj SE(2) lub SE(3)</a:t>
              </a:r>
              <a:endParaRPr lang="en-US" sz="1400" dirty="0"/>
            </a:p>
          </p:txBody>
        </p:sp>
        <p:sp>
          <p:nvSpPr>
            <p:cNvPr id="11" name="Shape 9"/>
            <p:cNvSpPr/>
            <p:nvPr/>
          </p:nvSpPr>
          <p:spPr>
            <a:xfrm>
              <a:off x="2423160" y="1097280"/>
              <a:ext cx="2011680" cy="2628333"/>
            </a:xfrm>
            <a:prstGeom prst="rect">
              <a:avLst/>
            </a:prstGeom>
            <a:solidFill>
              <a:srgbClr val="FFFFFF"/>
            </a:solidFill>
            <a:ln w="12700">
              <a:solidFill>
                <a:srgbClr val="E2EBF3"/>
              </a:solidFill>
              <a:prstDash val="solid"/>
            </a:ln>
            <a:effectLst>
              <a:outerShdw blurRad="76200" dist="25400" dir="8100000" algn="bl" rotWithShape="0">
                <a:srgbClr val="000000">
                  <a:alpha val="12000"/>
                </a:srgbClr>
              </a:outerShdw>
            </a:effectLst>
          </p:spPr>
        </p:sp>
        <p:sp>
          <p:nvSpPr>
            <p:cNvPr id="12" name="Shape 10"/>
            <p:cNvSpPr/>
            <p:nvPr/>
          </p:nvSpPr>
          <p:spPr>
            <a:xfrm>
              <a:off x="3136392" y="1270494"/>
              <a:ext cx="585216" cy="585216"/>
            </a:xfrm>
            <a:prstGeom prst="ellipse">
              <a:avLst/>
            </a:prstGeom>
            <a:solidFill>
              <a:srgbClr val="FB923C"/>
            </a:solidFill>
            <a:ln w="12700">
              <a:solidFill>
                <a:srgbClr val="FB923C"/>
              </a:solidFill>
              <a:prstDash val="solid"/>
            </a:ln>
          </p:spPr>
        </p:sp>
        <p:sp>
          <p:nvSpPr>
            <p:cNvPr id="13" name="Text 11"/>
            <p:cNvSpPr/>
            <p:nvPr/>
          </p:nvSpPr>
          <p:spPr>
            <a:xfrm>
              <a:off x="3136392" y="1270494"/>
              <a:ext cx="585216" cy="585216"/>
            </a:xfrm>
            <a:prstGeom prst="rect">
              <a:avLst/>
            </a:prstGeom>
            <a:noFill/>
            <a:ln/>
          </p:spPr>
          <p:txBody>
            <a:bodyPr wrap="square" lIns="0" tIns="0" rIns="0" bIns="0" rtlCol="0" anchor="ctr"/>
            <a:lstStyle/>
            <a:p>
              <a:pPr marL="0" indent="0" algn="ctr">
                <a:buNone/>
              </a:pPr>
              <a:r>
                <a:rPr lang="en-US" sz="2800" b="1" dirty="0">
                  <a:solidFill>
                    <a:srgbClr val="FFFFFF"/>
                  </a:solidFill>
                  <a:latin typeface="Trebuchet MS" pitchFamily="34" charset="0"/>
                  <a:ea typeface="Trebuchet MS" pitchFamily="34" charset="-122"/>
                  <a:cs typeface="Trebuchet MS" pitchFamily="34" charset="-120"/>
                </a:rPr>
                <a:t>2</a:t>
              </a:r>
              <a:endParaRPr lang="en-US" sz="2800" dirty="0"/>
            </a:p>
          </p:txBody>
        </p:sp>
        <p:sp>
          <p:nvSpPr>
            <p:cNvPr id="14" name="Text 12"/>
            <p:cNvSpPr/>
            <p:nvPr/>
          </p:nvSpPr>
          <p:spPr>
            <a:xfrm>
              <a:off x="2514600" y="1874520"/>
              <a:ext cx="1828800" cy="502920"/>
            </a:xfrm>
            <a:prstGeom prst="rect">
              <a:avLst/>
            </a:prstGeom>
            <a:noFill/>
            <a:ln/>
          </p:spPr>
          <p:txBody>
            <a:bodyPr wrap="square" lIns="0" tIns="0" rIns="0" bIns="0" rtlCol="0" anchor="ctr"/>
            <a:lstStyle/>
            <a:p>
              <a:pPr marL="0" indent="0" algn="ctr">
                <a:buNone/>
              </a:pPr>
              <a:r>
                <a:rPr lang="en-US" b="1" dirty="0">
                  <a:solidFill>
                    <a:srgbClr val="0D1B2A"/>
                  </a:solidFill>
                  <a:latin typeface="Trebuchet MS" pitchFamily="34" charset="0"/>
                  <a:ea typeface="Trebuchet MS" pitchFamily="34" charset="-122"/>
                  <a:cs typeface="Trebuchet MS" pitchFamily="34" charset="-120"/>
                </a:rPr>
                <a:t>Krawędzie </a:t>
              </a:r>
              <a:r>
                <a:rPr lang="en-US" i="1" dirty="0">
                  <a:solidFill>
                    <a:srgbClr val="0D1B2A"/>
                  </a:solidFill>
                  <a:latin typeface="Trebuchet MS" pitchFamily="34" charset="0"/>
                  <a:ea typeface="Trebuchet MS" pitchFamily="34" charset="-122"/>
                  <a:cs typeface="Trebuchet MS" pitchFamily="34" charset="-120"/>
                </a:rPr>
                <a:t>(constraints)</a:t>
              </a:r>
              <a:endParaRPr lang="en-US" i="1" dirty="0"/>
            </a:p>
          </p:txBody>
        </p:sp>
        <p:sp>
          <p:nvSpPr>
            <p:cNvPr id="15" name="Text 13"/>
            <p:cNvSpPr/>
            <p:nvPr/>
          </p:nvSpPr>
          <p:spPr>
            <a:xfrm>
              <a:off x="2514600" y="2423160"/>
              <a:ext cx="1828800" cy="1302453"/>
            </a:xfrm>
            <a:prstGeom prst="rect">
              <a:avLst/>
            </a:prstGeom>
            <a:noFill/>
            <a:ln/>
          </p:spPr>
          <p:txBody>
            <a:bodyPr wrap="square" lIns="0" tIns="0" rIns="0" bIns="0" rtlCol="0" anchor="ctr"/>
            <a:lstStyle/>
            <a:p>
              <a:pPr marL="0" indent="0" algn="ctr">
                <a:spcAft>
                  <a:spcPts val="600"/>
                </a:spcAft>
                <a:buNone/>
              </a:pPr>
              <a:r>
                <a:rPr lang="en-US" sz="1400" dirty="0">
                  <a:solidFill>
                    <a:srgbClr val="475569"/>
                  </a:solidFill>
                  <a:latin typeface="Calibri" pitchFamily="34" charset="0"/>
                  <a:ea typeface="Calibri" pitchFamily="34" charset="-122"/>
                  <a:cs typeface="Calibri" pitchFamily="34" charset="-120"/>
                </a:rPr>
                <a:t>Relacja między dwoma pozycjami: odometria, ICP, wizja. Niesie kowariancję błędu.</a:t>
              </a:r>
              <a:endParaRPr lang="en-US" sz="1400" dirty="0"/>
            </a:p>
          </p:txBody>
        </p:sp>
        <p:sp>
          <p:nvSpPr>
            <p:cNvPr id="16" name="Shape 14"/>
            <p:cNvSpPr/>
            <p:nvPr/>
          </p:nvSpPr>
          <p:spPr>
            <a:xfrm>
              <a:off x="4572000" y="1097280"/>
              <a:ext cx="2011680" cy="2628333"/>
            </a:xfrm>
            <a:prstGeom prst="rect">
              <a:avLst/>
            </a:prstGeom>
            <a:solidFill>
              <a:srgbClr val="FFFFFF"/>
            </a:solidFill>
            <a:ln w="12700">
              <a:solidFill>
                <a:srgbClr val="E2EBF3"/>
              </a:solidFill>
              <a:prstDash val="solid"/>
            </a:ln>
            <a:effectLst>
              <a:outerShdw blurRad="76200" dist="25400" dir="8100000" algn="bl" rotWithShape="0">
                <a:srgbClr val="000000">
                  <a:alpha val="12000"/>
                </a:srgbClr>
              </a:outerShdw>
            </a:effectLst>
          </p:spPr>
        </p:sp>
        <p:sp>
          <p:nvSpPr>
            <p:cNvPr id="17" name="Shape 15"/>
            <p:cNvSpPr/>
            <p:nvPr/>
          </p:nvSpPr>
          <p:spPr>
            <a:xfrm>
              <a:off x="5285232" y="1270494"/>
              <a:ext cx="585216" cy="585216"/>
            </a:xfrm>
            <a:prstGeom prst="ellipse">
              <a:avLst/>
            </a:prstGeom>
            <a:solidFill>
              <a:srgbClr val="FB923C"/>
            </a:solidFill>
            <a:ln w="12700">
              <a:solidFill>
                <a:srgbClr val="FB923C"/>
              </a:solidFill>
              <a:prstDash val="solid"/>
            </a:ln>
          </p:spPr>
        </p:sp>
        <p:sp>
          <p:nvSpPr>
            <p:cNvPr id="18" name="Text 16"/>
            <p:cNvSpPr/>
            <p:nvPr/>
          </p:nvSpPr>
          <p:spPr>
            <a:xfrm>
              <a:off x="5285232" y="1270494"/>
              <a:ext cx="585216" cy="585216"/>
            </a:xfrm>
            <a:prstGeom prst="rect">
              <a:avLst/>
            </a:prstGeom>
            <a:noFill/>
            <a:ln/>
          </p:spPr>
          <p:txBody>
            <a:bodyPr wrap="square" lIns="0" tIns="0" rIns="0" bIns="0" rtlCol="0" anchor="ctr"/>
            <a:lstStyle/>
            <a:p>
              <a:pPr marL="0" indent="0" algn="ctr">
                <a:buNone/>
              </a:pPr>
              <a:r>
                <a:rPr lang="en-US" sz="2800" b="1" dirty="0">
                  <a:solidFill>
                    <a:srgbClr val="FFFFFF"/>
                  </a:solidFill>
                  <a:latin typeface="Trebuchet MS" pitchFamily="34" charset="0"/>
                  <a:ea typeface="Trebuchet MS" pitchFamily="34" charset="-122"/>
                  <a:cs typeface="Trebuchet MS" pitchFamily="34" charset="-120"/>
                </a:rPr>
                <a:t>3</a:t>
              </a:r>
              <a:endParaRPr lang="en-US" sz="2800" dirty="0"/>
            </a:p>
          </p:txBody>
        </p:sp>
        <p:sp>
          <p:nvSpPr>
            <p:cNvPr id="19" name="Text 17"/>
            <p:cNvSpPr/>
            <p:nvPr/>
          </p:nvSpPr>
          <p:spPr>
            <a:xfrm>
              <a:off x="4663440" y="1874520"/>
              <a:ext cx="1828800" cy="502920"/>
            </a:xfrm>
            <a:prstGeom prst="rect">
              <a:avLst/>
            </a:prstGeom>
            <a:noFill/>
            <a:ln/>
          </p:spPr>
          <p:txBody>
            <a:bodyPr wrap="square" lIns="0" tIns="0" rIns="0" bIns="0" rtlCol="0" anchor="ctr"/>
            <a:lstStyle/>
            <a:p>
              <a:pPr marL="0" indent="0" algn="ctr">
                <a:buNone/>
              </a:pPr>
              <a:r>
                <a:rPr lang="en-US" b="1" dirty="0">
                  <a:solidFill>
                    <a:srgbClr val="0D1B2A"/>
                  </a:solidFill>
                  <a:latin typeface="Trebuchet MS" pitchFamily="34" charset="0"/>
                  <a:ea typeface="Trebuchet MS" pitchFamily="34" charset="-122"/>
                  <a:cs typeface="Trebuchet MS" pitchFamily="34" charset="-120"/>
                </a:rPr>
                <a:t>Optymalizacja</a:t>
              </a:r>
              <a:endParaRPr lang="en-US" dirty="0"/>
            </a:p>
          </p:txBody>
        </p:sp>
        <p:sp>
          <p:nvSpPr>
            <p:cNvPr id="20" name="Text 18"/>
            <p:cNvSpPr/>
            <p:nvPr/>
          </p:nvSpPr>
          <p:spPr>
            <a:xfrm>
              <a:off x="4663440" y="2423160"/>
              <a:ext cx="1828800" cy="1302453"/>
            </a:xfrm>
            <a:prstGeom prst="rect">
              <a:avLst/>
            </a:prstGeom>
            <a:noFill/>
            <a:ln/>
          </p:spPr>
          <p:txBody>
            <a:bodyPr wrap="square" lIns="0" tIns="0" rIns="0" bIns="0" rtlCol="0" anchor="ctr"/>
            <a:lstStyle/>
            <a:p>
              <a:pPr marL="0" indent="0" algn="ctr">
                <a:spcAft>
                  <a:spcPts val="600"/>
                </a:spcAft>
                <a:buNone/>
              </a:pPr>
              <a:r>
                <a:rPr lang="en-US" sz="1400" dirty="0">
                  <a:solidFill>
                    <a:srgbClr val="475569"/>
                  </a:solidFill>
                  <a:latin typeface="Calibri" pitchFamily="34" charset="0"/>
                  <a:ea typeface="Calibri" pitchFamily="34" charset="-122"/>
                  <a:cs typeface="Calibri" pitchFamily="34" charset="-120"/>
                </a:rPr>
                <a:t>Minimalizacja sumy błędów kwadratowych (least squares): g2o, GTSAM, iSAM2</a:t>
              </a:r>
              <a:endParaRPr lang="en-US" sz="1400" dirty="0"/>
            </a:p>
          </p:txBody>
        </p:sp>
        <p:sp>
          <p:nvSpPr>
            <p:cNvPr id="21" name="Shape 19"/>
            <p:cNvSpPr/>
            <p:nvPr/>
          </p:nvSpPr>
          <p:spPr>
            <a:xfrm>
              <a:off x="6720840" y="1097280"/>
              <a:ext cx="2011680" cy="2628333"/>
            </a:xfrm>
            <a:prstGeom prst="rect">
              <a:avLst/>
            </a:prstGeom>
            <a:solidFill>
              <a:srgbClr val="FFFFFF"/>
            </a:solidFill>
            <a:ln w="12700">
              <a:solidFill>
                <a:srgbClr val="E2EBF3"/>
              </a:solidFill>
              <a:prstDash val="solid"/>
            </a:ln>
            <a:effectLst>
              <a:outerShdw blurRad="76200" dist="25400" dir="8100000" algn="bl" rotWithShape="0">
                <a:srgbClr val="000000">
                  <a:alpha val="12000"/>
                </a:srgbClr>
              </a:outerShdw>
            </a:effectLst>
          </p:spPr>
        </p:sp>
        <p:sp>
          <p:nvSpPr>
            <p:cNvPr id="22" name="Shape 20"/>
            <p:cNvSpPr/>
            <p:nvPr/>
          </p:nvSpPr>
          <p:spPr>
            <a:xfrm>
              <a:off x="7434072" y="1270494"/>
              <a:ext cx="585216" cy="585216"/>
            </a:xfrm>
            <a:prstGeom prst="ellipse">
              <a:avLst/>
            </a:prstGeom>
            <a:solidFill>
              <a:srgbClr val="FB923C"/>
            </a:solidFill>
            <a:ln w="12700">
              <a:solidFill>
                <a:srgbClr val="FB923C"/>
              </a:solidFill>
              <a:prstDash val="solid"/>
            </a:ln>
          </p:spPr>
        </p:sp>
        <p:sp>
          <p:nvSpPr>
            <p:cNvPr id="23" name="Text 21"/>
            <p:cNvSpPr/>
            <p:nvPr/>
          </p:nvSpPr>
          <p:spPr>
            <a:xfrm>
              <a:off x="7434072" y="1270494"/>
              <a:ext cx="585216" cy="585216"/>
            </a:xfrm>
            <a:prstGeom prst="rect">
              <a:avLst/>
            </a:prstGeom>
            <a:noFill/>
            <a:ln/>
          </p:spPr>
          <p:txBody>
            <a:bodyPr wrap="square" lIns="0" tIns="0" rIns="0" bIns="0" rtlCol="0" anchor="ctr"/>
            <a:lstStyle/>
            <a:p>
              <a:pPr marL="0" indent="0" algn="ctr">
                <a:buNone/>
              </a:pPr>
              <a:r>
                <a:rPr lang="en-US" sz="2800" b="1" dirty="0">
                  <a:solidFill>
                    <a:srgbClr val="FFFFFF"/>
                  </a:solidFill>
                  <a:latin typeface="Trebuchet MS" pitchFamily="34" charset="0"/>
                  <a:ea typeface="Trebuchet MS" pitchFamily="34" charset="-122"/>
                  <a:cs typeface="Trebuchet MS" pitchFamily="34" charset="-120"/>
                </a:rPr>
                <a:t>4</a:t>
              </a:r>
              <a:endParaRPr lang="en-US" sz="2800" dirty="0"/>
            </a:p>
          </p:txBody>
        </p:sp>
        <p:sp>
          <p:nvSpPr>
            <p:cNvPr id="24" name="Text 22"/>
            <p:cNvSpPr/>
            <p:nvPr/>
          </p:nvSpPr>
          <p:spPr>
            <a:xfrm>
              <a:off x="6812280" y="1874520"/>
              <a:ext cx="1828800" cy="502920"/>
            </a:xfrm>
            <a:prstGeom prst="rect">
              <a:avLst/>
            </a:prstGeom>
            <a:noFill/>
            <a:ln/>
          </p:spPr>
          <p:txBody>
            <a:bodyPr wrap="square" lIns="0" tIns="0" rIns="0" bIns="0" rtlCol="0" anchor="ctr"/>
            <a:lstStyle/>
            <a:p>
              <a:pPr marL="0" indent="0" algn="ctr">
                <a:buNone/>
              </a:pPr>
              <a:r>
                <a:rPr lang="en-US" b="1" dirty="0">
                  <a:solidFill>
                    <a:srgbClr val="0D1B2A"/>
                  </a:solidFill>
                  <a:latin typeface="Trebuchet MS" pitchFamily="34" charset="0"/>
                  <a:ea typeface="Trebuchet MS" pitchFamily="34" charset="-122"/>
                  <a:cs typeface="Trebuchet MS" pitchFamily="34" charset="-120"/>
                </a:rPr>
                <a:t>Domknięcie pętli</a:t>
              </a:r>
              <a:endParaRPr lang="en-US" dirty="0"/>
            </a:p>
          </p:txBody>
        </p:sp>
        <p:sp>
          <p:nvSpPr>
            <p:cNvPr id="25" name="Text 23"/>
            <p:cNvSpPr/>
            <p:nvPr/>
          </p:nvSpPr>
          <p:spPr>
            <a:xfrm>
              <a:off x="6812280" y="2423160"/>
              <a:ext cx="1828800" cy="1302453"/>
            </a:xfrm>
            <a:prstGeom prst="rect">
              <a:avLst/>
            </a:prstGeom>
            <a:noFill/>
            <a:ln/>
          </p:spPr>
          <p:txBody>
            <a:bodyPr wrap="square" lIns="0" tIns="0" rIns="0" bIns="0" rtlCol="0" anchor="ctr"/>
            <a:lstStyle/>
            <a:p>
              <a:pPr marL="0" indent="0" algn="ctr">
                <a:spcAft>
                  <a:spcPts val="600"/>
                </a:spcAft>
                <a:buNone/>
              </a:pPr>
              <a:r>
                <a:rPr lang="en-US" sz="1400" dirty="0">
                  <a:solidFill>
                    <a:srgbClr val="475569"/>
                  </a:solidFill>
                  <a:latin typeface="Calibri" pitchFamily="34" charset="0"/>
                  <a:ea typeface="Calibri" pitchFamily="34" charset="-122"/>
                  <a:cs typeface="Calibri" pitchFamily="34" charset="-120"/>
                </a:rPr>
                <a:t>Detekcja </a:t>
              </a:r>
              <a:r>
                <a:rPr lang="en-US" sz="1400" dirty="0" err="1">
                  <a:solidFill>
                    <a:srgbClr val="475569"/>
                  </a:solidFill>
                  <a:latin typeface="Calibri" pitchFamily="34" charset="0"/>
                  <a:ea typeface="Calibri" pitchFamily="34" charset="-122"/>
                  <a:cs typeface="Calibri" pitchFamily="34" charset="-120"/>
                </a:rPr>
                <a:t>powrotu</a:t>
              </a:r>
              <a:r>
                <a:rPr lang="en-US" sz="1400" dirty="0">
                  <a:solidFill>
                    <a:srgbClr val="475569"/>
                  </a:solidFill>
                  <a:latin typeface="Calibri" pitchFamily="34" charset="0"/>
                  <a:ea typeface="Calibri" pitchFamily="34" charset="-122"/>
                  <a:cs typeface="Calibri" pitchFamily="34" charset="-120"/>
                </a:rPr>
                <a:t> </a:t>
              </a:r>
              <a:r>
                <a:rPr lang="pl-PL" sz="1400" dirty="0" smtClean="0">
                  <a:solidFill>
                    <a:srgbClr val="475569"/>
                  </a:solidFill>
                  <a:latin typeface="Calibri" pitchFamily="34" charset="0"/>
                  <a:ea typeface="Calibri" pitchFamily="34" charset="-122"/>
                  <a:cs typeface="Calibri" pitchFamily="34" charset="-120"/>
                </a:rPr>
                <a:t/>
              </a:r>
              <a:br>
                <a:rPr lang="pl-PL" sz="1400" dirty="0" smtClean="0">
                  <a:solidFill>
                    <a:srgbClr val="475569"/>
                  </a:solidFill>
                  <a:latin typeface="Calibri" pitchFamily="34" charset="0"/>
                  <a:ea typeface="Calibri" pitchFamily="34" charset="-122"/>
                  <a:cs typeface="Calibri" pitchFamily="34" charset="-120"/>
                </a:rPr>
              </a:br>
              <a:r>
                <a:rPr lang="en-US" sz="1400" dirty="0" smtClean="0">
                  <a:solidFill>
                    <a:srgbClr val="475569"/>
                  </a:solidFill>
                  <a:latin typeface="Calibri" pitchFamily="34" charset="0"/>
                  <a:ea typeface="Calibri" pitchFamily="34" charset="-122"/>
                  <a:cs typeface="Calibri" pitchFamily="34" charset="-120"/>
                </a:rPr>
                <a:t>do </a:t>
              </a:r>
              <a:r>
                <a:rPr lang="en-US" sz="1400" dirty="0">
                  <a:solidFill>
                    <a:srgbClr val="475569"/>
                  </a:solidFill>
                  <a:latin typeface="Calibri" pitchFamily="34" charset="0"/>
                  <a:ea typeface="Calibri" pitchFamily="34" charset="-122"/>
                  <a:cs typeface="Calibri" pitchFamily="34" charset="-120"/>
                </a:rPr>
                <a:t>miejsca; dodanie krawędzi pogrubionej; jednorazowa korekta dryfu</a:t>
              </a:r>
              <a:endParaRPr lang="en-US" sz="1400" dirty="0"/>
            </a:p>
          </p:txBody>
        </p:sp>
      </p:grpSp>
      <p:sp>
        <p:nvSpPr>
          <p:cNvPr id="26" name="Prostokąt 25"/>
          <p:cNvSpPr/>
          <p:nvPr/>
        </p:nvSpPr>
        <p:spPr>
          <a:xfrm>
            <a:off x="274320" y="4024495"/>
            <a:ext cx="8717280" cy="913070"/>
          </a:xfrm>
          <a:prstGeom prst="rect">
            <a:avLst/>
          </a:prstGeom>
          <a:solidFill>
            <a:srgbClr val="0D1B2A"/>
          </a:solidFill>
        </p:spPr>
        <p:txBody>
          <a:bodyPr wrap="square">
            <a:spAutoFit/>
          </a:bodyPr>
          <a:lstStyle/>
          <a:p>
            <a:pPr algn="just">
              <a:lnSpc>
                <a:spcPts val="1600"/>
              </a:lnSpc>
            </a:pPr>
            <a:r>
              <a:rPr lang="pl-PL" sz="1400" b="1" dirty="0" err="1">
                <a:solidFill>
                  <a:schemeClr val="bg1"/>
                </a:solidFill>
              </a:rPr>
              <a:t>Pose</a:t>
            </a:r>
            <a:r>
              <a:rPr lang="pl-PL" sz="1400" b="1" dirty="0">
                <a:solidFill>
                  <a:schemeClr val="bg1"/>
                </a:solidFill>
              </a:rPr>
              <a:t> </a:t>
            </a:r>
            <a:r>
              <a:rPr lang="pl-PL" sz="1400" b="1" dirty="0" err="1">
                <a:solidFill>
                  <a:schemeClr val="bg1"/>
                </a:solidFill>
              </a:rPr>
              <a:t>Graph</a:t>
            </a:r>
            <a:r>
              <a:rPr lang="pl-PL" sz="1400" b="1" dirty="0">
                <a:solidFill>
                  <a:schemeClr val="bg1"/>
                </a:solidFill>
              </a:rPr>
              <a:t> </a:t>
            </a:r>
            <a:r>
              <a:rPr lang="pl-PL" sz="1400" dirty="0">
                <a:solidFill>
                  <a:schemeClr val="bg1"/>
                </a:solidFill>
              </a:rPr>
              <a:t>SLAM ujmuje problem w formie grafu. Węzły reprezentują kolejne pozy robota, a krawędzie relacje między nimi: </a:t>
            </a:r>
            <a:r>
              <a:rPr lang="pl-PL" sz="1400" dirty="0" err="1">
                <a:solidFill>
                  <a:schemeClr val="bg1"/>
                </a:solidFill>
              </a:rPr>
              <a:t>odometrię</a:t>
            </a:r>
            <a:r>
              <a:rPr lang="pl-PL" sz="1400" dirty="0">
                <a:solidFill>
                  <a:schemeClr val="bg1"/>
                </a:solidFill>
              </a:rPr>
              <a:t>, dopasowanie ICP albo ograniczenia z wizji. Każda krawędź niesie też informację </a:t>
            </a:r>
            <a:r>
              <a:rPr lang="pl-PL" sz="1400" dirty="0" smtClean="0">
                <a:solidFill>
                  <a:schemeClr val="bg1"/>
                </a:solidFill>
              </a:rPr>
              <a:t/>
            </a:r>
            <a:br>
              <a:rPr lang="pl-PL" sz="1400" dirty="0" smtClean="0">
                <a:solidFill>
                  <a:schemeClr val="bg1"/>
                </a:solidFill>
              </a:rPr>
            </a:br>
            <a:r>
              <a:rPr lang="pl-PL" sz="1400" dirty="0" smtClean="0">
                <a:solidFill>
                  <a:schemeClr val="bg1"/>
                </a:solidFill>
              </a:rPr>
              <a:t>o </a:t>
            </a:r>
            <a:r>
              <a:rPr lang="pl-PL" sz="1400" dirty="0">
                <a:solidFill>
                  <a:schemeClr val="bg1"/>
                </a:solidFill>
              </a:rPr>
              <a:t>niepewności. Optymalizacja grafu polega na minimalizacji sumy błędów wszystkich ograniczeń. Gdy wykryjemy powrót do wcześniej odwiedzonego miejsca, dodajemy nową krawędź i globalnie korygujemy cały przebieg trajektorii. </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0F4F8"/>
        </a:solidFill>
        <a:effectLst/>
      </p:bgPr>
    </p:bg>
    <p:spTree>
      <p:nvGrpSpPr>
        <p:cNvPr id="1" name=""/>
        <p:cNvGrpSpPr/>
        <p:nvPr/>
      </p:nvGrpSpPr>
      <p:grpSpPr>
        <a:xfrm>
          <a:off x="0" y="0"/>
          <a:ext cx="0" cy="0"/>
          <a:chOff x="0" y="0"/>
          <a:chExt cx="0" cy="0"/>
        </a:xfrm>
      </p:grpSpPr>
      <p:sp>
        <p:nvSpPr>
          <p:cNvPr id="2" name="Shape 0"/>
          <p:cNvSpPr/>
          <p:nvPr/>
        </p:nvSpPr>
        <p:spPr>
          <a:xfrm>
            <a:off x="0" y="0"/>
            <a:ext cx="64008" cy="5143500"/>
          </a:xfrm>
          <a:prstGeom prst="rect">
            <a:avLst/>
          </a:prstGeom>
          <a:solidFill>
            <a:srgbClr val="F72585"/>
          </a:solidFill>
          <a:ln w="12700">
            <a:solidFill>
              <a:srgbClr val="F72585"/>
            </a:solidFill>
            <a:prstDash val="solid"/>
          </a:ln>
        </p:spPr>
      </p:sp>
      <p:sp>
        <p:nvSpPr>
          <p:cNvPr id="3" name="Shape 1"/>
          <p:cNvSpPr/>
          <p:nvPr/>
        </p:nvSpPr>
        <p:spPr>
          <a:xfrm>
            <a:off x="64008" y="0"/>
            <a:ext cx="9079992" cy="960120"/>
          </a:xfrm>
          <a:prstGeom prst="rect">
            <a:avLst/>
          </a:prstGeom>
          <a:solidFill>
            <a:srgbClr val="0D1B2A"/>
          </a:solidFill>
          <a:ln w="12700">
            <a:solidFill>
              <a:srgbClr val="0D1B2A"/>
            </a:solidFill>
            <a:prstDash val="solid"/>
          </a:ln>
        </p:spPr>
      </p:sp>
      <p:sp>
        <p:nvSpPr>
          <p:cNvPr id="4" name="Text 2"/>
          <p:cNvSpPr/>
          <p:nvPr/>
        </p:nvSpPr>
        <p:spPr>
          <a:xfrm>
            <a:off x="228600" y="73152"/>
            <a:ext cx="4572000" cy="274320"/>
          </a:xfrm>
          <a:prstGeom prst="rect">
            <a:avLst/>
          </a:prstGeom>
          <a:noFill/>
          <a:ln/>
        </p:spPr>
        <p:txBody>
          <a:bodyPr wrap="square" lIns="0" tIns="0" rIns="0" bIns="0" rtlCol="0" anchor="ctr"/>
          <a:lstStyle/>
          <a:p>
            <a:pPr marL="0" indent="0">
              <a:buNone/>
            </a:pPr>
            <a:r>
              <a:rPr lang="en-US" sz="900" b="1" kern="0" spc="200" dirty="0">
                <a:solidFill>
                  <a:srgbClr val="F72585"/>
                </a:solidFill>
                <a:latin typeface="Trebuchet MS" pitchFamily="34" charset="0"/>
                <a:ea typeface="Trebuchet MS" pitchFamily="34" charset="-122"/>
                <a:cs typeface="Trebuchet MS" pitchFamily="34" charset="-120"/>
              </a:rPr>
              <a:t>SEKCJA 3 | LOOP CLOSURE</a:t>
            </a:r>
            <a:endParaRPr lang="en-US" sz="900" dirty="0"/>
          </a:p>
        </p:txBody>
      </p:sp>
      <p:sp>
        <p:nvSpPr>
          <p:cNvPr id="5" name="Text 3"/>
          <p:cNvSpPr/>
          <p:nvPr/>
        </p:nvSpPr>
        <p:spPr>
          <a:xfrm>
            <a:off x="228600" y="274320"/>
            <a:ext cx="8686800" cy="594360"/>
          </a:xfrm>
          <a:prstGeom prst="rect">
            <a:avLst/>
          </a:prstGeom>
          <a:noFill/>
          <a:ln/>
        </p:spPr>
        <p:txBody>
          <a:bodyPr wrap="square" lIns="0" tIns="0" rIns="0" bIns="0" rtlCol="0" anchor="ctr"/>
          <a:lstStyle/>
          <a:p>
            <a:pPr marL="0" indent="0">
              <a:buNone/>
            </a:pPr>
            <a:r>
              <a:rPr lang="en-US" sz="2800" b="1" dirty="0">
                <a:solidFill>
                  <a:srgbClr val="FFFFFF"/>
                </a:solidFill>
                <a:latin typeface="Trebuchet MS" pitchFamily="34" charset="0"/>
                <a:ea typeface="Trebuchet MS" pitchFamily="34" charset="-122"/>
                <a:cs typeface="Trebuchet MS" pitchFamily="34" charset="-120"/>
              </a:rPr>
              <a:t>Domykanie pętli </a:t>
            </a:r>
            <a:r>
              <a:rPr lang="en-US" sz="2800" i="1" dirty="0">
                <a:solidFill>
                  <a:srgbClr val="FFFFFF"/>
                </a:solidFill>
                <a:latin typeface="Trebuchet MS" pitchFamily="34" charset="0"/>
                <a:ea typeface="Trebuchet MS" pitchFamily="34" charset="-122"/>
                <a:cs typeface="Trebuchet MS" pitchFamily="34" charset="-120"/>
              </a:rPr>
              <a:t>(loop closure)</a:t>
            </a:r>
            <a:endParaRPr lang="en-US" sz="2800" i="1" dirty="0"/>
          </a:p>
        </p:txBody>
      </p:sp>
      <p:sp>
        <p:nvSpPr>
          <p:cNvPr id="6" name="Shape 4"/>
          <p:cNvSpPr/>
          <p:nvPr/>
        </p:nvSpPr>
        <p:spPr>
          <a:xfrm>
            <a:off x="274320" y="1097280"/>
            <a:ext cx="4251960" cy="3089407"/>
          </a:xfrm>
          <a:prstGeom prst="rect">
            <a:avLst/>
          </a:prstGeom>
          <a:solidFill>
            <a:srgbClr val="EFF6FF"/>
          </a:solidFill>
          <a:ln w="12700">
            <a:solidFill>
              <a:srgbClr val="E2EBF3"/>
            </a:solidFill>
            <a:prstDash val="solid"/>
          </a:ln>
          <a:effectLst>
            <a:outerShdw blurRad="76200" dist="25400" dir="8100000" algn="bl" rotWithShape="0">
              <a:srgbClr val="000000">
                <a:alpha val="12000"/>
              </a:srgbClr>
            </a:outerShdw>
          </a:effectLst>
        </p:spPr>
      </p:sp>
      <p:sp>
        <p:nvSpPr>
          <p:cNvPr id="7" name="Shape 5"/>
          <p:cNvSpPr/>
          <p:nvPr/>
        </p:nvSpPr>
        <p:spPr>
          <a:xfrm>
            <a:off x="4769616" y="1097280"/>
            <a:ext cx="4160520" cy="3089407"/>
          </a:xfrm>
          <a:prstGeom prst="rect">
            <a:avLst/>
          </a:prstGeom>
          <a:solidFill>
            <a:srgbClr val="FFF1F5"/>
          </a:solidFill>
          <a:ln w="12700">
            <a:solidFill>
              <a:srgbClr val="E2EBF3"/>
            </a:solidFill>
            <a:prstDash val="solid"/>
          </a:ln>
          <a:effectLst>
            <a:outerShdw blurRad="76200" dist="25400" dir="8100000" algn="bl" rotWithShape="0">
              <a:srgbClr val="000000">
                <a:alpha val="12000"/>
              </a:srgbClr>
            </a:outerShdw>
          </a:effectLst>
        </p:spPr>
      </p:sp>
      <p:sp>
        <p:nvSpPr>
          <p:cNvPr id="8" name="Shape 6"/>
          <p:cNvSpPr/>
          <p:nvPr/>
        </p:nvSpPr>
        <p:spPr>
          <a:xfrm>
            <a:off x="274320" y="1097280"/>
            <a:ext cx="4251960" cy="411480"/>
          </a:xfrm>
          <a:prstGeom prst="rect">
            <a:avLst/>
          </a:prstGeom>
          <a:solidFill>
            <a:srgbClr val="0077A8"/>
          </a:solidFill>
          <a:ln w="12700">
            <a:solidFill>
              <a:srgbClr val="0077A8"/>
            </a:solidFill>
            <a:prstDash val="solid"/>
          </a:ln>
        </p:spPr>
      </p:sp>
      <p:sp>
        <p:nvSpPr>
          <p:cNvPr id="9" name="Text 7"/>
          <p:cNvSpPr/>
          <p:nvPr/>
        </p:nvSpPr>
        <p:spPr>
          <a:xfrm>
            <a:off x="457200" y="1115568"/>
            <a:ext cx="3794760" cy="365760"/>
          </a:xfrm>
          <a:prstGeom prst="rect">
            <a:avLst/>
          </a:prstGeom>
          <a:noFill/>
          <a:ln/>
        </p:spPr>
        <p:txBody>
          <a:bodyPr wrap="square" lIns="0" tIns="0" rIns="0" bIns="0" rtlCol="0" anchor="ctr"/>
          <a:lstStyle/>
          <a:p>
            <a:pPr marL="0" indent="0">
              <a:buNone/>
            </a:pPr>
            <a:r>
              <a:rPr lang="en-US" b="1" dirty="0">
                <a:solidFill>
                  <a:srgbClr val="FFFFFF"/>
                </a:solidFill>
                <a:latin typeface="Trebuchet MS" pitchFamily="34" charset="0"/>
                <a:ea typeface="Trebuchet MS" pitchFamily="34" charset="-122"/>
                <a:cs typeface="Trebuchet MS" pitchFamily="34" charset="-120"/>
              </a:rPr>
              <a:t>Detekcja powrotu do miejsca</a:t>
            </a:r>
            <a:endParaRPr lang="en-US" dirty="0"/>
          </a:p>
        </p:txBody>
      </p:sp>
      <p:sp>
        <p:nvSpPr>
          <p:cNvPr id="10" name="Shape 8"/>
          <p:cNvSpPr/>
          <p:nvPr/>
        </p:nvSpPr>
        <p:spPr>
          <a:xfrm>
            <a:off x="4769616" y="1097280"/>
            <a:ext cx="4160520" cy="411480"/>
          </a:xfrm>
          <a:prstGeom prst="rect">
            <a:avLst/>
          </a:prstGeom>
          <a:solidFill>
            <a:srgbClr val="F72585"/>
          </a:solidFill>
          <a:ln w="12700">
            <a:solidFill>
              <a:srgbClr val="F72585"/>
            </a:solidFill>
            <a:prstDash val="solid"/>
          </a:ln>
        </p:spPr>
      </p:sp>
      <p:sp>
        <p:nvSpPr>
          <p:cNvPr id="11" name="Text 9"/>
          <p:cNvSpPr/>
          <p:nvPr/>
        </p:nvSpPr>
        <p:spPr>
          <a:xfrm>
            <a:off x="4892040" y="1115568"/>
            <a:ext cx="3794760" cy="365760"/>
          </a:xfrm>
          <a:prstGeom prst="rect">
            <a:avLst/>
          </a:prstGeom>
          <a:noFill/>
          <a:ln/>
        </p:spPr>
        <p:txBody>
          <a:bodyPr wrap="square" lIns="0" tIns="0" rIns="0" bIns="0" rtlCol="0" anchor="ctr"/>
          <a:lstStyle/>
          <a:p>
            <a:pPr marL="0" indent="0">
              <a:buNone/>
            </a:pPr>
            <a:r>
              <a:rPr lang="en-US" b="1" dirty="0">
                <a:solidFill>
                  <a:srgbClr val="FFFFFF"/>
                </a:solidFill>
                <a:latin typeface="Trebuchet MS" pitchFamily="34" charset="0"/>
                <a:ea typeface="Trebuchet MS" pitchFamily="34" charset="-122"/>
                <a:cs typeface="Trebuchet MS" pitchFamily="34" charset="-120"/>
              </a:rPr>
              <a:t>Korekta dryfu po domknięciu</a:t>
            </a:r>
            <a:endParaRPr lang="en-US" dirty="0"/>
          </a:p>
        </p:txBody>
      </p:sp>
      <p:sp>
        <p:nvSpPr>
          <p:cNvPr id="12" name="Text 10"/>
          <p:cNvSpPr/>
          <p:nvPr/>
        </p:nvSpPr>
        <p:spPr>
          <a:xfrm>
            <a:off x="290945" y="1562415"/>
            <a:ext cx="4228533" cy="2596471"/>
          </a:xfrm>
          <a:prstGeom prst="rect">
            <a:avLst/>
          </a:prstGeom>
          <a:noFill/>
          <a:ln/>
        </p:spPr>
        <p:txBody>
          <a:bodyPr wrap="square" lIns="36000" tIns="36000" rIns="36000" bIns="36000" rtlCol="0" anchor="t">
            <a:spAutoFit/>
          </a:bodyPr>
          <a:lstStyle/>
          <a:p>
            <a:pPr marL="180000" indent="-180000">
              <a:spcAft>
                <a:spcPts val="600"/>
              </a:spcAft>
              <a:buSzPct val="100000"/>
              <a:buChar char="•"/>
            </a:pPr>
            <a:r>
              <a:rPr lang="en-US" sz="1600" b="1" spc="-20" dirty="0">
                <a:solidFill>
                  <a:srgbClr val="0D1B2A"/>
                </a:solidFill>
                <a:latin typeface="Calibri" pitchFamily="34" charset="0"/>
                <a:ea typeface="Calibri" pitchFamily="34" charset="-122"/>
                <a:cs typeface="Calibri" pitchFamily="34" charset="-120"/>
              </a:rPr>
              <a:t>Bag-of-Words</a:t>
            </a:r>
            <a:r>
              <a:rPr lang="en-US" sz="1600" spc="-20" dirty="0">
                <a:solidFill>
                  <a:srgbClr val="0D1B2A"/>
                </a:solidFill>
                <a:latin typeface="Calibri" pitchFamily="34" charset="0"/>
                <a:ea typeface="Calibri" pitchFamily="34" charset="-122"/>
                <a:cs typeface="Calibri" pitchFamily="34" charset="-120"/>
              </a:rPr>
              <a:t> (DBoW2): histogram deskryptorów wizualnych</a:t>
            </a:r>
            <a:endParaRPr lang="en-US" sz="1600" spc="-20" dirty="0"/>
          </a:p>
          <a:p>
            <a:pPr marL="180000" indent="-180000">
              <a:spcAft>
                <a:spcPts val="600"/>
              </a:spcAft>
              <a:buSzPct val="100000"/>
              <a:buChar char="•"/>
            </a:pPr>
            <a:r>
              <a:rPr lang="en-US" sz="1600" b="1" spc="-20" dirty="0">
                <a:solidFill>
                  <a:srgbClr val="0D1B2A"/>
                </a:solidFill>
                <a:latin typeface="Calibri" pitchFamily="34" charset="0"/>
                <a:ea typeface="Calibri" pitchFamily="34" charset="-122"/>
                <a:cs typeface="Calibri" pitchFamily="34" charset="-120"/>
              </a:rPr>
              <a:t>Scan matching</a:t>
            </a:r>
            <a:r>
              <a:rPr lang="en-US" sz="1600" spc="-20" dirty="0">
                <a:solidFill>
                  <a:srgbClr val="0D1B2A"/>
                </a:solidFill>
                <a:latin typeface="Calibri" pitchFamily="34" charset="0"/>
                <a:ea typeface="Calibri" pitchFamily="34" charset="-122"/>
                <a:cs typeface="Calibri" pitchFamily="34" charset="-120"/>
              </a:rPr>
              <a:t>: ICP </a:t>
            </a:r>
            <a:r>
              <a:rPr lang="en-US" sz="1600" spc="-20" dirty="0" err="1">
                <a:solidFill>
                  <a:srgbClr val="0D1B2A"/>
                </a:solidFill>
                <a:latin typeface="Calibri" pitchFamily="34" charset="0"/>
                <a:ea typeface="Calibri" pitchFamily="34" charset="-122"/>
                <a:cs typeface="Calibri" pitchFamily="34" charset="-120"/>
              </a:rPr>
              <a:t>między</a:t>
            </a:r>
            <a:r>
              <a:rPr lang="en-US" sz="1600" spc="-20" dirty="0">
                <a:solidFill>
                  <a:srgbClr val="0D1B2A"/>
                </a:solidFill>
                <a:latin typeface="Calibri" pitchFamily="34" charset="0"/>
                <a:ea typeface="Calibri" pitchFamily="34" charset="-122"/>
                <a:cs typeface="Calibri" pitchFamily="34" charset="-120"/>
              </a:rPr>
              <a:t> </a:t>
            </a:r>
            <a:r>
              <a:rPr lang="en-US" sz="1600" spc="-20" dirty="0" err="1" smtClean="0">
                <a:solidFill>
                  <a:srgbClr val="0D1B2A"/>
                </a:solidFill>
                <a:latin typeface="Calibri" pitchFamily="34" charset="0"/>
                <a:ea typeface="Calibri" pitchFamily="34" charset="-122"/>
                <a:cs typeface="Calibri" pitchFamily="34" charset="-120"/>
              </a:rPr>
              <a:t>bieżącym</a:t>
            </a:r>
            <a:r>
              <a:rPr lang="pl-PL" sz="1600" spc="-20" dirty="0" smtClean="0">
                <a:solidFill>
                  <a:srgbClr val="0D1B2A"/>
                </a:solidFill>
                <a:latin typeface="Calibri" pitchFamily="34" charset="0"/>
                <a:ea typeface="Calibri" pitchFamily="34" charset="-122"/>
                <a:cs typeface="Calibri" pitchFamily="34" charset="-120"/>
              </a:rPr>
              <a:t>,</a:t>
            </a:r>
            <a:r>
              <a:rPr lang="en-US" sz="1600" spc="-20" dirty="0" smtClean="0">
                <a:solidFill>
                  <a:srgbClr val="0D1B2A"/>
                </a:solidFill>
                <a:latin typeface="Calibri" pitchFamily="34" charset="0"/>
                <a:ea typeface="Calibri" pitchFamily="34" charset="-122"/>
                <a:cs typeface="Calibri" pitchFamily="34" charset="-120"/>
              </a:rPr>
              <a:t> </a:t>
            </a:r>
            <a:r>
              <a:rPr lang="pl-PL" sz="1600" spc="-20" dirty="0" smtClean="0">
                <a:solidFill>
                  <a:srgbClr val="0D1B2A"/>
                </a:solidFill>
                <a:latin typeface="Calibri" pitchFamily="34" charset="0"/>
                <a:ea typeface="Calibri" pitchFamily="34" charset="-122"/>
                <a:cs typeface="Calibri" pitchFamily="34" charset="-120"/>
              </a:rPr>
              <a:t/>
            </a:r>
            <a:br>
              <a:rPr lang="pl-PL" sz="1600" spc="-20" dirty="0" smtClean="0">
                <a:solidFill>
                  <a:srgbClr val="0D1B2A"/>
                </a:solidFill>
                <a:latin typeface="Calibri" pitchFamily="34" charset="0"/>
                <a:ea typeface="Calibri" pitchFamily="34" charset="-122"/>
                <a:cs typeface="Calibri" pitchFamily="34" charset="-120"/>
              </a:rPr>
            </a:br>
            <a:r>
              <a:rPr lang="en-US" sz="1600" spc="-20" dirty="0" smtClean="0">
                <a:solidFill>
                  <a:srgbClr val="0D1B2A"/>
                </a:solidFill>
                <a:latin typeface="Calibri" pitchFamily="34" charset="0"/>
                <a:ea typeface="Calibri" pitchFamily="34" charset="-122"/>
                <a:cs typeface="Calibri" pitchFamily="34" charset="-120"/>
              </a:rPr>
              <a:t>a </a:t>
            </a:r>
            <a:r>
              <a:rPr lang="en-US" sz="1600" spc="-20" dirty="0">
                <a:solidFill>
                  <a:srgbClr val="0D1B2A"/>
                </a:solidFill>
                <a:latin typeface="Calibri" pitchFamily="34" charset="0"/>
                <a:ea typeface="Calibri" pitchFamily="34" charset="-122"/>
                <a:cs typeface="Calibri" pitchFamily="34" charset="-120"/>
              </a:rPr>
              <a:t>historycznym skanem</a:t>
            </a:r>
            <a:endParaRPr lang="en-US" sz="1600" spc="-20" dirty="0"/>
          </a:p>
          <a:p>
            <a:pPr marL="180000" indent="-180000">
              <a:spcAft>
                <a:spcPts val="600"/>
              </a:spcAft>
              <a:buSzPct val="100000"/>
              <a:buChar char="•"/>
            </a:pPr>
            <a:r>
              <a:rPr lang="en-US" sz="1600" b="1" spc="-40" dirty="0">
                <a:solidFill>
                  <a:srgbClr val="0D1B2A"/>
                </a:solidFill>
                <a:latin typeface="Calibri" pitchFamily="34" charset="0"/>
                <a:ea typeface="Calibri" pitchFamily="34" charset="-122"/>
                <a:cs typeface="Calibri" pitchFamily="34" charset="-120"/>
              </a:rPr>
              <a:t>Mapa cech</a:t>
            </a:r>
            <a:r>
              <a:rPr lang="en-US" sz="1600" spc="-40" dirty="0">
                <a:solidFill>
                  <a:srgbClr val="0D1B2A"/>
                </a:solidFill>
                <a:latin typeface="Calibri" pitchFamily="34" charset="0"/>
                <a:ea typeface="Calibri" pitchFamily="34" charset="-122"/>
                <a:cs typeface="Calibri" pitchFamily="34" charset="-120"/>
              </a:rPr>
              <a:t>: dopasowanie deskryptorów ORB/SIFT</a:t>
            </a:r>
            <a:endParaRPr lang="en-US" sz="1600" spc="-40" dirty="0"/>
          </a:p>
          <a:p>
            <a:pPr marL="180000" indent="-180000">
              <a:spcAft>
                <a:spcPts val="600"/>
              </a:spcAft>
              <a:buSzPct val="100000"/>
              <a:buChar char="•"/>
            </a:pPr>
            <a:r>
              <a:rPr lang="en-US" sz="1600" b="1" spc="-20" dirty="0">
                <a:solidFill>
                  <a:srgbClr val="0D1B2A"/>
                </a:solidFill>
                <a:latin typeface="Calibri" pitchFamily="34" charset="0"/>
                <a:ea typeface="Calibri" pitchFamily="34" charset="-122"/>
                <a:cs typeface="Calibri" pitchFamily="34" charset="-120"/>
              </a:rPr>
              <a:t>Próg podobieństwa</a:t>
            </a:r>
            <a:r>
              <a:rPr lang="en-US" sz="1600" spc="-20" dirty="0">
                <a:solidFill>
                  <a:srgbClr val="0D1B2A"/>
                </a:solidFill>
                <a:latin typeface="Calibri" pitchFamily="34" charset="0"/>
                <a:ea typeface="Calibri" pitchFamily="34" charset="-122"/>
                <a:cs typeface="Calibri" pitchFamily="34" charset="-120"/>
              </a:rPr>
              <a:t>: zapobiega fałszywym detekcjom</a:t>
            </a:r>
            <a:endParaRPr lang="en-US" sz="1600" spc="-20" dirty="0"/>
          </a:p>
          <a:p>
            <a:pPr marL="180000" indent="-180000">
              <a:spcAft>
                <a:spcPts val="600"/>
              </a:spcAft>
              <a:buSzPct val="100000"/>
              <a:buChar char="•"/>
            </a:pPr>
            <a:r>
              <a:rPr lang="en-US" sz="1600" b="1" spc="-20" dirty="0">
                <a:solidFill>
                  <a:srgbClr val="0D1B2A"/>
                </a:solidFill>
                <a:latin typeface="Calibri" pitchFamily="34" charset="0"/>
                <a:ea typeface="Calibri" pitchFamily="34" charset="-122"/>
                <a:cs typeface="Calibri" pitchFamily="34" charset="-120"/>
              </a:rPr>
              <a:t>Weryfikacja geometryczna</a:t>
            </a:r>
            <a:r>
              <a:rPr lang="en-US" sz="1600" spc="-20" dirty="0">
                <a:solidFill>
                  <a:srgbClr val="0D1B2A"/>
                </a:solidFill>
                <a:latin typeface="Calibri" pitchFamily="34" charset="0"/>
                <a:ea typeface="Calibri" pitchFamily="34" charset="-122"/>
                <a:cs typeface="Calibri" pitchFamily="34" charset="-120"/>
              </a:rPr>
              <a:t>: RANSAC na korespondencjach</a:t>
            </a:r>
            <a:endParaRPr lang="en-US" sz="1600" spc="-20" dirty="0"/>
          </a:p>
        </p:txBody>
      </p:sp>
      <p:sp>
        <p:nvSpPr>
          <p:cNvPr id="13" name="Text 11"/>
          <p:cNvSpPr/>
          <p:nvPr/>
        </p:nvSpPr>
        <p:spPr>
          <a:xfrm>
            <a:off x="4816469" y="1600200"/>
            <a:ext cx="3964793" cy="2411805"/>
          </a:xfrm>
          <a:prstGeom prst="rect">
            <a:avLst/>
          </a:prstGeom>
          <a:noFill/>
          <a:ln/>
        </p:spPr>
        <p:txBody>
          <a:bodyPr wrap="square" lIns="63500" tIns="36000" rIns="101600" bIns="36000" rtlCol="0" anchor="t">
            <a:spAutoFit/>
          </a:bodyPr>
          <a:lstStyle/>
          <a:p>
            <a:pPr marL="180000" indent="-180000">
              <a:spcAft>
                <a:spcPts val="1200"/>
              </a:spcAft>
              <a:buSzPct val="100000"/>
              <a:buChar char="•"/>
            </a:pPr>
            <a:r>
              <a:rPr lang="en-US" sz="1600" b="1" spc="-20" dirty="0">
                <a:solidFill>
                  <a:srgbClr val="0D1B2A"/>
                </a:solidFill>
                <a:latin typeface="Calibri" pitchFamily="34" charset="0"/>
                <a:ea typeface="Calibri" pitchFamily="34" charset="-122"/>
                <a:cs typeface="Calibri" pitchFamily="34" charset="-120"/>
              </a:rPr>
              <a:t>Nowa krawędź </a:t>
            </a:r>
            <a:r>
              <a:rPr lang="en-US" sz="1600" spc="-20" dirty="0">
                <a:solidFill>
                  <a:srgbClr val="0D1B2A"/>
                </a:solidFill>
                <a:latin typeface="Calibri" pitchFamily="34" charset="0"/>
                <a:ea typeface="Calibri" pitchFamily="34" charset="-122"/>
                <a:cs typeface="Calibri" pitchFamily="34" charset="-120"/>
              </a:rPr>
              <a:t>w pose graph z małą kowariancją</a:t>
            </a:r>
            <a:endParaRPr lang="en-US" sz="1600" spc="-20" dirty="0"/>
          </a:p>
          <a:p>
            <a:pPr marL="180000" indent="-180000">
              <a:spcAft>
                <a:spcPts val="1200"/>
              </a:spcAft>
              <a:buSzPct val="100000"/>
              <a:buChar char="•"/>
            </a:pPr>
            <a:r>
              <a:rPr lang="en-US" sz="1600" b="1" spc="-20" dirty="0">
                <a:solidFill>
                  <a:srgbClr val="0D1B2A"/>
                </a:solidFill>
                <a:latin typeface="Calibri" pitchFamily="34" charset="0"/>
                <a:ea typeface="Calibri" pitchFamily="34" charset="-122"/>
                <a:cs typeface="Calibri" pitchFamily="34" charset="-120"/>
              </a:rPr>
              <a:t>Optymalizator</a:t>
            </a:r>
            <a:r>
              <a:rPr lang="en-US" sz="1600" spc="-20" dirty="0">
                <a:solidFill>
                  <a:srgbClr val="0D1B2A"/>
                </a:solidFill>
                <a:latin typeface="Calibri" pitchFamily="34" charset="0"/>
                <a:ea typeface="Calibri" pitchFamily="34" charset="-122"/>
                <a:cs typeface="Calibri" pitchFamily="34" charset="-120"/>
              </a:rPr>
              <a:t> (g2o) przelicza cały graf</a:t>
            </a:r>
            <a:endParaRPr lang="en-US" sz="1600" spc="-20" dirty="0"/>
          </a:p>
          <a:p>
            <a:pPr marL="180000" indent="-180000">
              <a:spcAft>
                <a:spcPts val="1200"/>
              </a:spcAft>
              <a:buSzPct val="100000"/>
              <a:buChar char="•"/>
            </a:pPr>
            <a:r>
              <a:rPr lang="en-US" sz="1600" b="1" spc="-20" dirty="0">
                <a:solidFill>
                  <a:srgbClr val="0D1B2A"/>
                </a:solidFill>
                <a:latin typeface="Calibri" pitchFamily="34" charset="0"/>
                <a:ea typeface="Calibri" pitchFamily="34" charset="-122"/>
                <a:cs typeface="Calibri" pitchFamily="34" charset="-120"/>
              </a:rPr>
              <a:t>Błąd dryfu </a:t>
            </a:r>
            <a:r>
              <a:rPr lang="en-US" sz="1600" spc="-20" dirty="0">
                <a:solidFill>
                  <a:srgbClr val="0D1B2A"/>
                </a:solidFill>
                <a:latin typeface="Calibri" pitchFamily="34" charset="0"/>
                <a:ea typeface="Calibri" pitchFamily="34" charset="-122"/>
                <a:cs typeface="Calibri" pitchFamily="34" charset="-120"/>
              </a:rPr>
              <a:t>rozłożony wzdłuż zamkniętej pętli</a:t>
            </a:r>
            <a:endParaRPr lang="en-US" sz="1600" spc="-20" dirty="0"/>
          </a:p>
          <a:p>
            <a:pPr marL="180000" indent="-180000">
              <a:spcAft>
                <a:spcPts val="1200"/>
              </a:spcAft>
              <a:buSzPct val="100000"/>
              <a:buChar char="•"/>
            </a:pPr>
            <a:r>
              <a:rPr lang="en-US" sz="1600" b="1" spc="-20" dirty="0">
                <a:solidFill>
                  <a:srgbClr val="0D1B2A"/>
                </a:solidFill>
                <a:latin typeface="Calibri" pitchFamily="34" charset="0"/>
                <a:ea typeface="Calibri" pitchFamily="34" charset="-122"/>
                <a:cs typeface="Calibri" pitchFamily="34" charset="-120"/>
              </a:rPr>
              <a:t>Efekt</a:t>
            </a:r>
            <a:r>
              <a:rPr lang="en-US" sz="1600" spc="-20" dirty="0">
                <a:solidFill>
                  <a:srgbClr val="0D1B2A"/>
                </a:solidFill>
                <a:latin typeface="Calibri" pitchFamily="34" charset="0"/>
                <a:ea typeface="Calibri" pitchFamily="34" charset="-122"/>
                <a:cs typeface="Calibri" pitchFamily="34" charset="-120"/>
              </a:rPr>
              <a:t>: mapa globalna spójana bez artefaktów</a:t>
            </a:r>
            <a:endParaRPr lang="en-US" sz="1600" spc="-20" dirty="0"/>
          </a:p>
          <a:p>
            <a:pPr marL="180000" indent="-180000">
              <a:spcAft>
                <a:spcPts val="1200"/>
              </a:spcAft>
              <a:buSzPct val="100000"/>
              <a:buChar char="•"/>
            </a:pPr>
            <a:r>
              <a:rPr lang="en-US" sz="1600" b="1" spc="-20" dirty="0">
                <a:solidFill>
                  <a:srgbClr val="0D1B2A"/>
                </a:solidFill>
                <a:latin typeface="Calibri" pitchFamily="34" charset="0"/>
                <a:ea typeface="Calibri" pitchFamily="34" charset="-122"/>
                <a:cs typeface="Calibri" pitchFamily="34" charset="-120"/>
              </a:rPr>
              <a:t>Częstość</a:t>
            </a:r>
            <a:r>
              <a:rPr lang="en-US" sz="1600" spc="-20" dirty="0">
                <a:solidFill>
                  <a:srgbClr val="0D1B2A"/>
                </a:solidFill>
                <a:latin typeface="Calibri" pitchFamily="34" charset="0"/>
                <a:ea typeface="Calibri" pitchFamily="34" charset="-122"/>
                <a:cs typeface="Calibri" pitchFamily="34" charset="-120"/>
              </a:rPr>
              <a:t>: co kilka sekund dla środowisk cyklicznych</a:t>
            </a:r>
            <a:endParaRPr lang="en-US" sz="1600" spc="-20" dirty="0"/>
          </a:p>
        </p:txBody>
      </p:sp>
      <p:sp>
        <p:nvSpPr>
          <p:cNvPr id="14" name="Prostokąt 13"/>
          <p:cNvSpPr/>
          <p:nvPr/>
        </p:nvSpPr>
        <p:spPr>
          <a:xfrm>
            <a:off x="274320" y="4278127"/>
            <a:ext cx="8595360" cy="812979"/>
          </a:xfrm>
          <a:prstGeom prst="rect">
            <a:avLst/>
          </a:prstGeom>
          <a:solidFill>
            <a:srgbClr val="0D1B2A"/>
          </a:solidFill>
        </p:spPr>
        <p:txBody>
          <a:bodyPr wrap="square">
            <a:spAutoFit/>
          </a:bodyPr>
          <a:lstStyle/>
          <a:p>
            <a:pPr algn="just">
              <a:lnSpc>
                <a:spcPts val="1400"/>
              </a:lnSpc>
            </a:pPr>
            <a:r>
              <a:rPr lang="pl-PL" sz="1400" spc="-40" dirty="0">
                <a:solidFill>
                  <a:schemeClr val="bg1"/>
                </a:solidFill>
              </a:rPr>
              <a:t>Domykanie pętli składa się z dwóch etapów. Najpierw trzeba wykryć, że wróciliśmy do znanego miejsca, na przykład przez </a:t>
            </a:r>
            <a:r>
              <a:rPr lang="pl-PL" sz="1400" spc="-40" dirty="0" err="1">
                <a:solidFill>
                  <a:schemeClr val="bg1"/>
                </a:solidFill>
              </a:rPr>
              <a:t>bag</a:t>
            </a:r>
            <a:r>
              <a:rPr lang="pl-PL" sz="1400" spc="-40" dirty="0">
                <a:solidFill>
                  <a:schemeClr val="bg1"/>
                </a:solidFill>
              </a:rPr>
              <a:t> of </a:t>
            </a:r>
            <a:r>
              <a:rPr lang="pl-PL" sz="1400" spc="-40" dirty="0" err="1">
                <a:solidFill>
                  <a:schemeClr val="bg1"/>
                </a:solidFill>
              </a:rPr>
              <a:t>words</a:t>
            </a:r>
            <a:r>
              <a:rPr lang="pl-PL" sz="1400" spc="-40" dirty="0">
                <a:solidFill>
                  <a:schemeClr val="bg1"/>
                </a:solidFill>
              </a:rPr>
              <a:t>, </a:t>
            </a:r>
            <a:r>
              <a:rPr lang="pl-PL" sz="1400" spc="-40" dirty="0" err="1">
                <a:solidFill>
                  <a:schemeClr val="bg1"/>
                </a:solidFill>
              </a:rPr>
              <a:t>scan</a:t>
            </a:r>
            <a:r>
              <a:rPr lang="pl-PL" sz="1400" spc="-40" dirty="0">
                <a:solidFill>
                  <a:schemeClr val="bg1"/>
                </a:solidFill>
              </a:rPr>
              <a:t> </a:t>
            </a:r>
            <a:r>
              <a:rPr lang="pl-PL" sz="1400" spc="-40" dirty="0" err="1">
                <a:solidFill>
                  <a:schemeClr val="bg1"/>
                </a:solidFill>
              </a:rPr>
              <a:t>matching</a:t>
            </a:r>
            <a:r>
              <a:rPr lang="pl-PL" sz="1400" spc="-40" dirty="0">
                <a:solidFill>
                  <a:schemeClr val="bg1"/>
                </a:solidFill>
              </a:rPr>
              <a:t> albo dopasowanie deskryptorów cech. Potem trzeba to jeszcze zweryfikować geometrycznie, często przez RANSAC. Jeśli wynik jest wiarygodny, dodajemy mocne ograniczenie do </a:t>
            </a:r>
            <a:r>
              <a:rPr lang="pl-PL" sz="1400" spc="-40" dirty="0" smtClean="0">
                <a:solidFill>
                  <a:schemeClr val="bg1"/>
                </a:solidFill>
              </a:rPr>
              <a:t>grafu i </a:t>
            </a:r>
            <a:r>
              <a:rPr lang="pl-PL" sz="1400" spc="-40" dirty="0">
                <a:solidFill>
                  <a:schemeClr val="bg1"/>
                </a:solidFill>
              </a:rPr>
              <a:t>uruchamiamy optymalizację. Efekt jest taki, że skumulowany dryft rozkłada się po całej pętli, a mapa staje się globalnie spójna. </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F2335"/>
        </a:solidFill>
        <a:effectLst/>
      </p:bgPr>
    </p:bg>
    <p:spTree>
      <p:nvGrpSpPr>
        <p:cNvPr id="1" name=""/>
        <p:cNvGrpSpPr/>
        <p:nvPr/>
      </p:nvGrpSpPr>
      <p:grpSpPr>
        <a:xfrm>
          <a:off x="0" y="0"/>
          <a:ext cx="0" cy="0"/>
          <a:chOff x="0" y="0"/>
          <a:chExt cx="0" cy="0"/>
        </a:xfrm>
      </p:grpSpPr>
      <p:sp>
        <p:nvSpPr>
          <p:cNvPr id="2" name="Shape 0"/>
          <p:cNvSpPr/>
          <p:nvPr/>
        </p:nvSpPr>
        <p:spPr>
          <a:xfrm>
            <a:off x="0" y="0"/>
            <a:ext cx="64008" cy="5143500"/>
          </a:xfrm>
          <a:prstGeom prst="rect">
            <a:avLst/>
          </a:prstGeom>
          <a:solidFill>
            <a:srgbClr val="F72585"/>
          </a:solidFill>
          <a:ln w="12700">
            <a:solidFill>
              <a:srgbClr val="F72585"/>
            </a:solidFill>
            <a:prstDash val="solid"/>
          </a:ln>
        </p:spPr>
      </p:sp>
      <p:sp>
        <p:nvSpPr>
          <p:cNvPr id="3" name="Shape 1"/>
          <p:cNvSpPr/>
          <p:nvPr/>
        </p:nvSpPr>
        <p:spPr>
          <a:xfrm>
            <a:off x="64008" y="0"/>
            <a:ext cx="9079992" cy="914400"/>
          </a:xfrm>
          <a:prstGeom prst="rect">
            <a:avLst/>
          </a:prstGeom>
          <a:solidFill>
            <a:srgbClr val="0D1B2A"/>
          </a:solidFill>
          <a:ln w="12700">
            <a:solidFill>
              <a:srgbClr val="0D1B2A"/>
            </a:solidFill>
            <a:prstDash val="solid"/>
          </a:ln>
        </p:spPr>
      </p:sp>
      <p:sp>
        <p:nvSpPr>
          <p:cNvPr id="4" name="Text 2"/>
          <p:cNvSpPr/>
          <p:nvPr/>
        </p:nvSpPr>
        <p:spPr>
          <a:xfrm>
            <a:off x="228600" y="73152"/>
            <a:ext cx="3657600" cy="256032"/>
          </a:xfrm>
          <a:prstGeom prst="rect">
            <a:avLst/>
          </a:prstGeom>
          <a:noFill/>
          <a:ln/>
        </p:spPr>
        <p:txBody>
          <a:bodyPr wrap="square" lIns="0" tIns="0" rIns="0" bIns="0" rtlCol="0" anchor="ctr"/>
          <a:lstStyle/>
          <a:p>
            <a:pPr marL="0" indent="0">
              <a:buNone/>
            </a:pPr>
            <a:r>
              <a:rPr lang="en-US" sz="900" b="1" kern="0" spc="200" dirty="0">
                <a:solidFill>
                  <a:srgbClr val="F72585"/>
                </a:solidFill>
                <a:latin typeface="Trebuchet MS" pitchFamily="34" charset="0"/>
                <a:ea typeface="Trebuchet MS" pitchFamily="34" charset="-122"/>
                <a:cs typeface="Trebuchet MS" pitchFamily="34" charset="-120"/>
              </a:rPr>
              <a:t>KOD PYTHON</a:t>
            </a:r>
            <a:endParaRPr lang="en-US" sz="900" dirty="0"/>
          </a:p>
        </p:txBody>
      </p:sp>
      <p:sp>
        <p:nvSpPr>
          <p:cNvPr id="5" name="Text 3"/>
          <p:cNvSpPr/>
          <p:nvPr/>
        </p:nvSpPr>
        <p:spPr>
          <a:xfrm>
            <a:off x="228600" y="292608"/>
            <a:ext cx="8686800" cy="548640"/>
          </a:xfrm>
          <a:prstGeom prst="rect">
            <a:avLst/>
          </a:prstGeom>
          <a:noFill/>
          <a:ln/>
        </p:spPr>
        <p:txBody>
          <a:bodyPr wrap="square" lIns="0" tIns="0" rIns="0" bIns="0" rtlCol="0" anchor="ctr"/>
          <a:lstStyle/>
          <a:p>
            <a:pPr marL="0" indent="0">
              <a:buNone/>
            </a:pPr>
            <a:r>
              <a:rPr lang="en-US" sz="2800" b="1" dirty="0">
                <a:solidFill>
                  <a:srgbClr val="FFFFFF"/>
                </a:solidFill>
                <a:latin typeface="Trebuchet MS" pitchFamily="34" charset="0"/>
                <a:ea typeface="Trebuchet MS" pitchFamily="34" charset="-122"/>
                <a:cs typeface="Trebuchet MS" pitchFamily="34" charset="-120"/>
              </a:rPr>
              <a:t>Prosta korekta pozycji po detekcji znacznika</a:t>
            </a:r>
            <a:endParaRPr lang="en-US" sz="2800" dirty="0"/>
          </a:p>
        </p:txBody>
      </p:sp>
      <p:sp>
        <p:nvSpPr>
          <p:cNvPr id="6" name="Shape 4"/>
          <p:cNvSpPr/>
          <p:nvPr/>
        </p:nvSpPr>
        <p:spPr>
          <a:xfrm>
            <a:off x="274320" y="1005839"/>
            <a:ext cx="8595360" cy="3127545"/>
          </a:xfrm>
          <a:prstGeom prst="rect">
            <a:avLst/>
          </a:prstGeom>
          <a:solidFill>
            <a:srgbClr val="071520"/>
          </a:solidFill>
          <a:ln w="12700">
            <a:solidFill>
              <a:srgbClr val="0077A8"/>
            </a:solidFill>
            <a:prstDash val="solid"/>
          </a:ln>
          <a:effectLst>
            <a:outerShdw blurRad="101600" dist="38100" dir="8100000" algn="bl" rotWithShape="0">
              <a:srgbClr val="000000">
                <a:alpha val="18000"/>
              </a:srgbClr>
            </a:outerShdw>
          </a:effectLst>
        </p:spPr>
      </p:sp>
      <p:sp>
        <p:nvSpPr>
          <p:cNvPr id="7" name="Shape 5"/>
          <p:cNvSpPr/>
          <p:nvPr/>
        </p:nvSpPr>
        <p:spPr>
          <a:xfrm>
            <a:off x="8119872" y="1106424"/>
            <a:ext cx="146304" cy="146304"/>
          </a:xfrm>
          <a:prstGeom prst="ellipse">
            <a:avLst/>
          </a:prstGeom>
          <a:solidFill>
            <a:srgbClr val="F72585"/>
          </a:solidFill>
          <a:ln w="12700">
            <a:solidFill>
              <a:srgbClr val="F72585"/>
            </a:solidFill>
            <a:prstDash val="solid"/>
          </a:ln>
        </p:spPr>
      </p:sp>
      <p:sp>
        <p:nvSpPr>
          <p:cNvPr id="8" name="Shape 6"/>
          <p:cNvSpPr/>
          <p:nvPr/>
        </p:nvSpPr>
        <p:spPr>
          <a:xfrm>
            <a:off x="8375904" y="1106424"/>
            <a:ext cx="146304" cy="146304"/>
          </a:xfrm>
          <a:prstGeom prst="ellipse">
            <a:avLst/>
          </a:prstGeom>
          <a:solidFill>
            <a:srgbClr val="FFD60A"/>
          </a:solidFill>
          <a:ln w="12700">
            <a:solidFill>
              <a:srgbClr val="FFD60A"/>
            </a:solidFill>
            <a:prstDash val="solid"/>
          </a:ln>
        </p:spPr>
      </p:sp>
      <p:sp>
        <p:nvSpPr>
          <p:cNvPr id="9" name="Shape 7"/>
          <p:cNvSpPr/>
          <p:nvPr/>
        </p:nvSpPr>
        <p:spPr>
          <a:xfrm>
            <a:off x="8631936" y="1106424"/>
            <a:ext cx="146304" cy="146304"/>
          </a:xfrm>
          <a:prstGeom prst="ellipse">
            <a:avLst/>
          </a:prstGeom>
          <a:solidFill>
            <a:srgbClr val="C3F584"/>
          </a:solidFill>
          <a:ln w="12700">
            <a:solidFill>
              <a:srgbClr val="C3F584"/>
            </a:solidFill>
            <a:prstDash val="solid"/>
          </a:ln>
        </p:spPr>
      </p:sp>
      <p:sp>
        <p:nvSpPr>
          <p:cNvPr id="10" name="Text 8"/>
          <p:cNvSpPr/>
          <p:nvPr/>
        </p:nvSpPr>
        <p:spPr>
          <a:xfrm>
            <a:off x="384048" y="1060704"/>
            <a:ext cx="8321040" cy="3072680"/>
          </a:xfrm>
          <a:prstGeom prst="rect">
            <a:avLst/>
          </a:prstGeom>
          <a:noFill/>
          <a:ln/>
        </p:spPr>
        <p:txBody>
          <a:bodyPr wrap="square" lIns="108000" tIns="0" rIns="127000" bIns="63500" rtlCol="0" anchor="t"/>
          <a:lstStyle/>
          <a:p>
            <a:r>
              <a:rPr lang="pl-PL" sz="1200" dirty="0">
                <a:solidFill>
                  <a:srgbClr val="C586C0"/>
                </a:solidFill>
                <a:latin typeface="Consolas" panose="020B0609020204030204" pitchFamily="49" charset="0"/>
              </a:rPr>
              <a:t>import</a:t>
            </a:r>
            <a:r>
              <a:rPr lang="pl-PL" sz="1200" dirty="0">
                <a:solidFill>
                  <a:srgbClr val="BBBEBF"/>
                </a:solidFill>
                <a:latin typeface="Consolas" panose="020B0609020204030204" pitchFamily="49" charset="0"/>
              </a:rPr>
              <a:t> </a:t>
            </a:r>
            <a:r>
              <a:rPr lang="pl-PL" sz="1200" dirty="0" err="1">
                <a:solidFill>
                  <a:srgbClr val="4EC9B0"/>
                </a:solidFill>
                <a:latin typeface="Consolas" panose="020B0609020204030204" pitchFamily="49" charset="0"/>
              </a:rPr>
              <a:t>numpy</a:t>
            </a:r>
            <a:r>
              <a:rPr lang="pl-PL" sz="1200" dirty="0">
                <a:solidFill>
                  <a:srgbClr val="BBBEBF"/>
                </a:solidFill>
                <a:latin typeface="Consolas" panose="020B0609020204030204" pitchFamily="49" charset="0"/>
              </a:rPr>
              <a:t> </a:t>
            </a:r>
            <a:r>
              <a:rPr lang="pl-PL" sz="1200" dirty="0">
                <a:solidFill>
                  <a:srgbClr val="C586C0"/>
                </a:solidFill>
                <a:latin typeface="Consolas" panose="020B0609020204030204" pitchFamily="49" charset="0"/>
              </a:rPr>
              <a:t>as</a:t>
            </a:r>
            <a:r>
              <a:rPr lang="pl-PL" sz="1200" dirty="0">
                <a:solidFill>
                  <a:srgbClr val="BBBEBF"/>
                </a:solidFill>
                <a:latin typeface="Consolas" panose="020B0609020204030204" pitchFamily="49" charset="0"/>
              </a:rPr>
              <a:t> </a:t>
            </a:r>
            <a:r>
              <a:rPr lang="pl-PL" sz="1200" dirty="0" err="1">
                <a:solidFill>
                  <a:srgbClr val="4EC9B0"/>
                </a:solidFill>
                <a:latin typeface="Consolas" panose="020B0609020204030204" pitchFamily="49" charset="0"/>
              </a:rPr>
              <a:t>np</a:t>
            </a:r>
            <a:endParaRPr lang="pl-PL" sz="1200" dirty="0">
              <a:solidFill>
                <a:srgbClr val="BBBEBF"/>
              </a:solidFill>
              <a:latin typeface="Consolas" panose="020B0609020204030204" pitchFamily="49" charset="0"/>
            </a:endParaRPr>
          </a:p>
          <a:p>
            <a:r>
              <a:rPr lang="pl-PL" sz="1200" dirty="0">
                <a:solidFill>
                  <a:srgbClr val="BBBEBF"/>
                </a:solidFill>
                <a:latin typeface="Consolas" panose="020B0609020204030204" pitchFamily="49" charset="0"/>
              </a:rPr>
              <a:t/>
            </a:r>
            <a:br>
              <a:rPr lang="pl-PL" sz="1200" dirty="0">
                <a:solidFill>
                  <a:srgbClr val="BBBEBF"/>
                </a:solidFill>
                <a:latin typeface="Consolas" panose="020B0609020204030204" pitchFamily="49" charset="0"/>
              </a:rPr>
            </a:br>
            <a:r>
              <a:rPr lang="pl-PL" sz="1200" dirty="0">
                <a:solidFill>
                  <a:srgbClr val="FF7B72"/>
                </a:solidFill>
                <a:latin typeface="Consolas" panose="020B0609020204030204" pitchFamily="49" charset="0"/>
              </a:rPr>
              <a:t>def</a:t>
            </a:r>
            <a:r>
              <a:rPr lang="pl-PL" sz="1200" dirty="0">
                <a:solidFill>
                  <a:srgbClr val="BBBEBF"/>
                </a:solidFill>
                <a:latin typeface="Consolas" panose="020B0609020204030204" pitchFamily="49" charset="0"/>
              </a:rPr>
              <a:t> </a:t>
            </a:r>
            <a:r>
              <a:rPr lang="pl-PL" sz="1200" dirty="0" err="1">
                <a:solidFill>
                  <a:srgbClr val="D2A8FF"/>
                </a:solidFill>
                <a:latin typeface="Consolas" panose="020B0609020204030204" pitchFamily="49" charset="0"/>
              </a:rPr>
              <a:t>correct_with_landmark</a:t>
            </a:r>
            <a:r>
              <a:rPr lang="pl-PL" sz="1200" dirty="0">
                <a:solidFill>
                  <a:srgbClr val="BBBEBF"/>
                </a:solidFill>
                <a:latin typeface="Consolas" panose="020B0609020204030204" pitchFamily="49" charset="0"/>
              </a:rPr>
              <a:t>(</a:t>
            </a:r>
            <a:r>
              <a:rPr lang="pl-PL" sz="1200" dirty="0" err="1">
                <a:solidFill>
                  <a:srgbClr val="FFA657"/>
                </a:solidFill>
                <a:latin typeface="Consolas" panose="020B0609020204030204" pitchFamily="49" charset="0"/>
              </a:rPr>
              <a:t>state</a:t>
            </a:r>
            <a:r>
              <a:rPr lang="pl-PL" sz="1200" dirty="0">
                <a:solidFill>
                  <a:srgbClr val="BBBEBF"/>
                </a:solidFill>
                <a:latin typeface="Consolas" panose="020B0609020204030204" pitchFamily="49" charset="0"/>
              </a:rPr>
              <a:t>: </a:t>
            </a:r>
            <a:r>
              <a:rPr lang="pl-PL" sz="1200" dirty="0" err="1">
                <a:solidFill>
                  <a:srgbClr val="4EC9B0"/>
                </a:solidFill>
                <a:latin typeface="Consolas" panose="020B0609020204030204" pitchFamily="49" charset="0"/>
              </a:rPr>
              <a:t>np</a:t>
            </a:r>
            <a:r>
              <a:rPr lang="pl-PL" sz="1200" dirty="0" err="1">
                <a:solidFill>
                  <a:srgbClr val="BBBEBF"/>
                </a:solidFill>
                <a:latin typeface="Consolas" panose="020B0609020204030204" pitchFamily="49" charset="0"/>
              </a:rPr>
              <a:t>.</a:t>
            </a:r>
            <a:r>
              <a:rPr lang="pl-PL" sz="1200" dirty="0" err="1">
                <a:solidFill>
                  <a:srgbClr val="4EC9B0"/>
                </a:solidFill>
                <a:latin typeface="Consolas" panose="020B0609020204030204" pitchFamily="49" charset="0"/>
              </a:rPr>
              <a:t>ndarray</a:t>
            </a:r>
            <a:r>
              <a:rPr lang="pl-PL" sz="1200" dirty="0">
                <a:solidFill>
                  <a:srgbClr val="BBBEBF"/>
                </a:solidFill>
                <a:latin typeface="Consolas" panose="020B0609020204030204" pitchFamily="49" charset="0"/>
              </a:rPr>
              <a:t>,</a:t>
            </a:r>
          </a:p>
          <a:p>
            <a:r>
              <a:rPr lang="pl-PL" sz="1200" dirty="0">
                <a:solidFill>
                  <a:srgbClr val="BBBEBF"/>
                </a:solidFill>
                <a:latin typeface="Consolas" panose="020B0609020204030204" pitchFamily="49" charset="0"/>
              </a:rPr>
              <a:t>                          </a:t>
            </a:r>
            <a:r>
              <a:rPr lang="pl-PL" sz="1200" dirty="0">
                <a:solidFill>
                  <a:srgbClr val="FFA657"/>
                </a:solidFill>
                <a:latin typeface="Consolas" panose="020B0609020204030204" pitchFamily="49" charset="0"/>
              </a:rPr>
              <a:t>P</a:t>
            </a:r>
            <a:r>
              <a:rPr lang="pl-PL" sz="1200" dirty="0">
                <a:solidFill>
                  <a:srgbClr val="BBBEBF"/>
                </a:solidFill>
                <a:latin typeface="Consolas" panose="020B0609020204030204" pitchFamily="49" charset="0"/>
              </a:rPr>
              <a:t>: </a:t>
            </a:r>
            <a:r>
              <a:rPr lang="pl-PL" sz="1200" dirty="0" err="1">
                <a:solidFill>
                  <a:srgbClr val="4EC9B0"/>
                </a:solidFill>
                <a:latin typeface="Consolas" panose="020B0609020204030204" pitchFamily="49" charset="0"/>
              </a:rPr>
              <a:t>np</a:t>
            </a:r>
            <a:r>
              <a:rPr lang="pl-PL" sz="1200" dirty="0" err="1">
                <a:solidFill>
                  <a:srgbClr val="BBBEBF"/>
                </a:solidFill>
                <a:latin typeface="Consolas" panose="020B0609020204030204" pitchFamily="49" charset="0"/>
              </a:rPr>
              <a:t>.</a:t>
            </a:r>
            <a:r>
              <a:rPr lang="pl-PL" sz="1200" dirty="0" err="1">
                <a:solidFill>
                  <a:srgbClr val="4EC9B0"/>
                </a:solidFill>
                <a:latin typeface="Consolas" panose="020B0609020204030204" pitchFamily="49" charset="0"/>
              </a:rPr>
              <a:t>ndarray</a:t>
            </a:r>
            <a:r>
              <a:rPr lang="pl-PL" sz="1200" dirty="0">
                <a:solidFill>
                  <a:srgbClr val="BBBEBF"/>
                </a:solidFill>
                <a:latin typeface="Consolas" panose="020B0609020204030204" pitchFamily="49" charset="0"/>
              </a:rPr>
              <a:t>,</a:t>
            </a:r>
          </a:p>
          <a:p>
            <a:r>
              <a:rPr lang="pl-PL" sz="1200" dirty="0">
                <a:solidFill>
                  <a:srgbClr val="BBBEBF"/>
                </a:solidFill>
                <a:latin typeface="Consolas" panose="020B0609020204030204" pitchFamily="49" charset="0"/>
              </a:rPr>
              <a:t>                          </a:t>
            </a:r>
            <a:r>
              <a:rPr lang="pl-PL" sz="1200" dirty="0" err="1">
                <a:solidFill>
                  <a:srgbClr val="FFA657"/>
                </a:solidFill>
                <a:latin typeface="Consolas" panose="020B0609020204030204" pitchFamily="49" charset="0"/>
              </a:rPr>
              <a:t>landmark_pos</a:t>
            </a:r>
            <a:r>
              <a:rPr lang="pl-PL" sz="1200" dirty="0">
                <a:solidFill>
                  <a:srgbClr val="BBBEBF"/>
                </a:solidFill>
                <a:latin typeface="Consolas" panose="020B0609020204030204" pitchFamily="49" charset="0"/>
              </a:rPr>
              <a:t>: </a:t>
            </a:r>
            <a:r>
              <a:rPr lang="pl-PL" sz="1200" dirty="0" err="1">
                <a:solidFill>
                  <a:srgbClr val="4EC9B0"/>
                </a:solidFill>
                <a:latin typeface="Consolas" panose="020B0609020204030204" pitchFamily="49" charset="0"/>
              </a:rPr>
              <a:t>np</a:t>
            </a:r>
            <a:r>
              <a:rPr lang="pl-PL" sz="1200" dirty="0" err="1">
                <a:solidFill>
                  <a:srgbClr val="BBBEBF"/>
                </a:solidFill>
                <a:latin typeface="Consolas" panose="020B0609020204030204" pitchFamily="49" charset="0"/>
              </a:rPr>
              <a:t>.</a:t>
            </a:r>
            <a:r>
              <a:rPr lang="pl-PL" sz="1200" dirty="0" err="1">
                <a:solidFill>
                  <a:srgbClr val="4EC9B0"/>
                </a:solidFill>
                <a:latin typeface="Consolas" panose="020B0609020204030204" pitchFamily="49" charset="0"/>
              </a:rPr>
              <a:t>ndarray</a:t>
            </a:r>
            <a:r>
              <a:rPr lang="pl-PL" sz="1200" dirty="0">
                <a:solidFill>
                  <a:srgbClr val="BBBEBF"/>
                </a:solidFill>
                <a:latin typeface="Consolas" panose="020B0609020204030204" pitchFamily="49" charset="0"/>
              </a:rPr>
              <a:t>,</a:t>
            </a:r>
          </a:p>
          <a:p>
            <a:r>
              <a:rPr lang="pl-PL" sz="1200" dirty="0">
                <a:solidFill>
                  <a:srgbClr val="BBBEBF"/>
                </a:solidFill>
                <a:latin typeface="Consolas" panose="020B0609020204030204" pitchFamily="49" charset="0"/>
              </a:rPr>
              <a:t>                          </a:t>
            </a:r>
            <a:r>
              <a:rPr lang="pl-PL" sz="1200" dirty="0" err="1">
                <a:solidFill>
                  <a:srgbClr val="FFA657"/>
                </a:solidFill>
                <a:latin typeface="Consolas" panose="020B0609020204030204" pitchFamily="49" charset="0"/>
              </a:rPr>
              <a:t>measured_pos</a:t>
            </a:r>
            <a:r>
              <a:rPr lang="pl-PL" sz="1200" dirty="0">
                <a:solidFill>
                  <a:srgbClr val="BBBEBF"/>
                </a:solidFill>
                <a:latin typeface="Consolas" panose="020B0609020204030204" pitchFamily="49" charset="0"/>
              </a:rPr>
              <a:t>: </a:t>
            </a:r>
            <a:r>
              <a:rPr lang="pl-PL" sz="1200" dirty="0" err="1">
                <a:solidFill>
                  <a:srgbClr val="4EC9B0"/>
                </a:solidFill>
                <a:latin typeface="Consolas" panose="020B0609020204030204" pitchFamily="49" charset="0"/>
              </a:rPr>
              <a:t>np</a:t>
            </a:r>
            <a:r>
              <a:rPr lang="pl-PL" sz="1200" dirty="0" err="1">
                <a:solidFill>
                  <a:srgbClr val="BBBEBF"/>
                </a:solidFill>
                <a:latin typeface="Consolas" panose="020B0609020204030204" pitchFamily="49" charset="0"/>
              </a:rPr>
              <a:t>.</a:t>
            </a:r>
            <a:r>
              <a:rPr lang="pl-PL" sz="1200" dirty="0" err="1">
                <a:solidFill>
                  <a:srgbClr val="4EC9B0"/>
                </a:solidFill>
                <a:latin typeface="Consolas" panose="020B0609020204030204" pitchFamily="49" charset="0"/>
              </a:rPr>
              <a:t>ndarray</a:t>
            </a:r>
            <a:r>
              <a:rPr lang="pl-PL" sz="1200" dirty="0">
                <a:solidFill>
                  <a:srgbClr val="BBBEBF"/>
                </a:solidFill>
                <a:latin typeface="Consolas" panose="020B0609020204030204" pitchFamily="49" charset="0"/>
              </a:rPr>
              <a:t>,</a:t>
            </a:r>
          </a:p>
          <a:p>
            <a:r>
              <a:rPr lang="pl-PL" sz="1200" dirty="0">
                <a:solidFill>
                  <a:srgbClr val="BBBEBF"/>
                </a:solidFill>
                <a:latin typeface="Consolas" panose="020B0609020204030204" pitchFamily="49" charset="0"/>
              </a:rPr>
              <a:t>                          </a:t>
            </a:r>
            <a:r>
              <a:rPr lang="pl-PL" sz="1200" dirty="0" err="1">
                <a:solidFill>
                  <a:srgbClr val="FFA657"/>
                </a:solidFill>
                <a:latin typeface="Consolas" panose="020B0609020204030204" pitchFamily="49" charset="0"/>
              </a:rPr>
              <a:t>R_meas</a:t>
            </a:r>
            <a:r>
              <a:rPr lang="pl-PL" sz="1200" dirty="0">
                <a:solidFill>
                  <a:srgbClr val="BBBEBF"/>
                </a:solidFill>
                <a:latin typeface="Consolas" panose="020B0609020204030204" pitchFamily="49" charset="0"/>
              </a:rPr>
              <a:t>: </a:t>
            </a:r>
            <a:r>
              <a:rPr lang="pl-PL" sz="1200" dirty="0" err="1">
                <a:solidFill>
                  <a:srgbClr val="4EC9B0"/>
                </a:solidFill>
                <a:latin typeface="Consolas" panose="020B0609020204030204" pitchFamily="49" charset="0"/>
              </a:rPr>
              <a:t>np</a:t>
            </a:r>
            <a:r>
              <a:rPr lang="pl-PL" sz="1200" dirty="0" err="1">
                <a:solidFill>
                  <a:srgbClr val="BBBEBF"/>
                </a:solidFill>
                <a:latin typeface="Consolas" panose="020B0609020204030204" pitchFamily="49" charset="0"/>
              </a:rPr>
              <a:t>.</a:t>
            </a:r>
            <a:r>
              <a:rPr lang="pl-PL" sz="1200" dirty="0" err="1">
                <a:solidFill>
                  <a:srgbClr val="4EC9B0"/>
                </a:solidFill>
                <a:latin typeface="Consolas" panose="020B0609020204030204" pitchFamily="49" charset="0"/>
              </a:rPr>
              <a:t>ndarray</a:t>
            </a:r>
            <a:r>
              <a:rPr lang="pl-PL" sz="1200" dirty="0">
                <a:solidFill>
                  <a:srgbClr val="BBBEBF"/>
                </a:solidFill>
                <a:latin typeface="Consolas" panose="020B0609020204030204" pitchFamily="49" charset="0"/>
              </a:rPr>
              <a:t>) -&gt; </a:t>
            </a:r>
            <a:r>
              <a:rPr lang="pl-PL" sz="1200" dirty="0" err="1">
                <a:solidFill>
                  <a:srgbClr val="4EC9B0"/>
                </a:solidFill>
                <a:latin typeface="Consolas" panose="020B0609020204030204" pitchFamily="49" charset="0"/>
              </a:rPr>
              <a:t>tuple</a:t>
            </a:r>
            <a:r>
              <a:rPr lang="pl-PL" sz="1200" dirty="0">
                <a:solidFill>
                  <a:srgbClr val="BBBEBF"/>
                </a:solidFill>
                <a:latin typeface="Consolas" panose="020B0609020204030204" pitchFamily="49" charset="0"/>
              </a:rPr>
              <a:t>:</a:t>
            </a:r>
          </a:p>
          <a:p>
            <a:r>
              <a:rPr lang="pl-PL" sz="1200" dirty="0">
                <a:solidFill>
                  <a:srgbClr val="BBBEBF"/>
                </a:solidFill>
                <a:latin typeface="Consolas" panose="020B0609020204030204" pitchFamily="49" charset="0"/>
              </a:rPr>
              <a:t>    </a:t>
            </a:r>
            <a:r>
              <a:rPr lang="pl-PL" sz="1200" dirty="0">
                <a:solidFill>
                  <a:srgbClr val="A5D6FF"/>
                </a:solidFill>
                <a:latin typeface="Consolas" panose="020B0609020204030204" pitchFamily="49" charset="0"/>
              </a:rPr>
              <a:t>"""Korekta EKF po pomiarze pozycji znajomego znacznika."""</a:t>
            </a:r>
            <a:endParaRPr lang="pl-PL" sz="1200" dirty="0">
              <a:solidFill>
                <a:srgbClr val="BBBEBF"/>
              </a:solidFill>
              <a:latin typeface="Consolas" panose="020B0609020204030204" pitchFamily="49" charset="0"/>
            </a:endParaRPr>
          </a:p>
          <a:p>
            <a:r>
              <a:rPr lang="pl-PL" sz="1200" dirty="0">
                <a:solidFill>
                  <a:srgbClr val="BBBEBF"/>
                </a:solidFill>
                <a:latin typeface="Consolas" panose="020B0609020204030204" pitchFamily="49" charset="0"/>
              </a:rPr>
              <a:t>    </a:t>
            </a:r>
            <a:r>
              <a:rPr lang="pl-PL" sz="1200" dirty="0">
                <a:solidFill>
                  <a:srgbClr val="79C0FF"/>
                </a:solidFill>
                <a:latin typeface="Consolas" panose="020B0609020204030204" pitchFamily="49" charset="0"/>
              </a:rPr>
              <a:t>H</a:t>
            </a:r>
            <a:r>
              <a:rPr lang="pl-PL" sz="1200" dirty="0">
                <a:solidFill>
                  <a:srgbClr val="BBBEBF"/>
                </a:solidFill>
                <a:latin typeface="Consolas" panose="020B0609020204030204" pitchFamily="49" charset="0"/>
              </a:rPr>
              <a:t> </a:t>
            </a:r>
            <a:r>
              <a:rPr lang="pl-PL" sz="1200" dirty="0">
                <a:solidFill>
                  <a:srgbClr val="D4D4D4"/>
                </a:solidFill>
                <a:latin typeface="Consolas" panose="020B0609020204030204" pitchFamily="49" charset="0"/>
              </a:rPr>
              <a:t>=</a:t>
            </a:r>
            <a:r>
              <a:rPr lang="pl-PL" sz="1200" dirty="0">
                <a:solidFill>
                  <a:srgbClr val="BBBEBF"/>
                </a:solidFill>
                <a:latin typeface="Consolas" panose="020B0609020204030204" pitchFamily="49" charset="0"/>
              </a:rPr>
              <a:t> </a:t>
            </a:r>
            <a:r>
              <a:rPr lang="pl-PL" sz="1200" dirty="0" err="1">
                <a:solidFill>
                  <a:srgbClr val="4EC9B0"/>
                </a:solidFill>
                <a:latin typeface="Consolas" panose="020B0609020204030204" pitchFamily="49" charset="0"/>
              </a:rPr>
              <a:t>np</a:t>
            </a:r>
            <a:r>
              <a:rPr lang="pl-PL" sz="1200" dirty="0" err="1">
                <a:solidFill>
                  <a:srgbClr val="BBBEBF"/>
                </a:solidFill>
                <a:latin typeface="Consolas" panose="020B0609020204030204" pitchFamily="49" charset="0"/>
              </a:rPr>
              <a:t>.</a:t>
            </a:r>
            <a:r>
              <a:rPr lang="pl-PL" sz="1200" dirty="0" err="1">
                <a:solidFill>
                  <a:srgbClr val="D2A8FF"/>
                </a:solidFill>
                <a:latin typeface="Consolas" panose="020B0609020204030204" pitchFamily="49" charset="0"/>
              </a:rPr>
              <a:t>eye</a:t>
            </a:r>
            <a:r>
              <a:rPr lang="pl-PL" sz="1200" dirty="0">
                <a:solidFill>
                  <a:srgbClr val="BBBEBF"/>
                </a:solidFill>
                <a:latin typeface="Consolas" panose="020B0609020204030204" pitchFamily="49" charset="0"/>
              </a:rPr>
              <a:t>(</a:t>
            </a:r>
            <a:r>
              <a:rPr lang="pl-PL" sz="1200" dirty="0">
                <a:solidFill>
                  <a:srgbClr val="B5CEA8"/>
                </a:solidFill>
                <a:latin typeface="Consolas" panose="020B0609020204030204" pitchFamily="49" charset="0"/>
              </a:rPr>
              <a:t>2</a:t>
            </a:r>
            <a:r>
              <a:rPr lang="pl-PL" sz="1200" dirty="0">
                <a:solidFill>
                  <a:srgbClr val="BBBEBF"/>
                </a:solidFill>
                <a:latin typeface="Consolas" panose="020B0609020204030204" pitchFamily="49" charset="0"/>
              </a:rPr>
              <a:t>, </a:t>
            </a:r>
            <a:r>
              <a:rPr lang="pl-PL" sz="1200" dirty="0">
                <a:solidFill>
                  <a:srgbClr val="B5CEA8"/>
                </a:solidFill>
                <a:latin typeface="Consolas" panose="020B0609020204030204" pitchFamily="49" charset="0"/>
              </a:rPr>
              <a:t>3</a:t>
            </a:r>
            <a:r>
              <a:rPr lang="pl-PL" sz="1200" dirty="0">
                <a:solidFill>
                  <a:srgbClr val="BBBEBF"/>
                </a:solidFill>
                <a:latin typeface="Consolas" panose="020B0609020204030204" pitchFamily="49" charset="0"/>
              </a:rPr>
              <a:t>)              </a:t>
            </a:r>
            <a:r>
              <a:rPr lang="pl-PL" sz="1200" dirty="0" smtClean="0">
                <a:solidFill>
                  <a:srgbClr val="BBBEBF"/>
                </a:solidFill>
                <a:latin typeface="Consolas" panose="020B0609020204030204" pitchFamily="49" charset="0"/>
              </a:rPr>
              <a:t>                       </a:t>
            </a:r>
            <a:r>
              <a:rPr lang="pl-PL" sz="1200" dirty="0" smtClean="0">
                <a:solidFill>
                  <a:srgbClr val="8B949E"/>
                </a:solidFill>
                <a:latin typeface="Consolas" panose="020B0609020204030204" pitchFamily="49" charset="0"/>
              </a:rPr>
              <a:t># </a:t>
            </a:r>
            <a:r>
              <a:rPr lang="pl-PL" sz="1200" dirty="0">
                <a:solidFill>
                  <a:srgbClr val="8B949E"/>
                </a:solidFill>
                <a:latin typeface="Consolas" panose="020B0609020204030204" pitchFamily="49" charset="0"/>
              </a:rPr>
              <a:t>obserwujemy tylko x, y</a:t>
            </a:r>
            <a:endParaRPr lang="pl-PL" sz="1200" dirty="0">
              <a:solidFill>
                <a:srgbClr val="BBBEBF"/>
              </a:solidFill>
              <a:latin typeface="Consolas" panose="020B0609020204030204" pitchFamily="49" charset="0"/>
            </a:endParaRPr>
          </a:p>
          <a:p>
            <a:r>
              <a:rPr lang="pl-PL" sz="1200" dirty="0">
                <a:solidFill>
                  <a:srgbClr val="BBBEBF"/>
                </a:solidFill>
                <a:latin typeface="Consolas" panose="020B0609020204030204" pitchFamily="49" charset="0"/>
              </a:rPr>
              <a:t>    </a:t>
            </a:r>
            <a:r>
              <a:rPr lang="pl-PL" sz="1200" dirty="0" err="1">
                <a:solidFill>
                  <a:srgbClr val="C9D1D9"/>
                </a:solidFill>
                <a:latin typeface="Consolas" panose="020B0609020204030204" pitchFamily="49" charset="0"/>
              </a:rPr>
              <a:t>predicted_z</a:t>
            </a:r>
            <a:r>
              <a:rPr lang="pl-PL" sz="1200" dirty="0">
                <a:solidFill>
                  <a:srgbClr val="BBBEBF"/>
                </a:solidFill>
                <a:latin typeface="Consolas" panose="020B0609020204030204" pitchFamily="49" charset="0"/>
              </a:rPr>
              <a:t> </a:t>
            </a:r>
            <a:r>
              <a:rPr lang="pl-PL" sz="1200" dirty="0">
                <a:solidFill>
                  <a:srgbClr val="D4D4D4"/>
                </a:solidFill>
                <a:latin typeface="Consolas" panose="020B0609020204030204" pitchFamily="49" charset="0"/>
              </a:rPr>
              <a:t>=</a:t>
            </a:r>
            <a:r>
              <a:rPr lang="pl-PL" sz="1200" dirty="0">
                <a:solidFill>
                  <a:srgbClr val="BBBEBF"/>
                </a:solidFill>
                <a:latin typeface="Consolas" panose="020B0609020204030204" pitchFamily="49" charset="0"/>
              </a:rPr>
              <a:t> </a:t>
            </a:r>
            <a:r>
              <a:rPr lang="pl-PL" sz="1200" dirty="0" err="1">
                <a:solidFill>
                  <a:srgbClr val="FFA657"/>
                </a:solidFill>
                <a:latin typeface="Consolas" panose="020B0609020204030204" pitchFamily="49" charset="0"/>
              </a:rPr>
              <a:t>landmark_pos</a:t>
            </a:r>
            <a:r>
              <a:rPr lang="pl-PL" sz="1200" dirty="0">
                <a:solidFill>
                  <a:srgbClr val="BBBEBF"/>
                </a:solidFill>
                <a:latin typeface="Consolas" panose="020B0609020204030204" pitchFamily="49" charset="0"/>
              </a:rPr>
              <a:t>[:</a:t>
            </a:r>
            <a:r>
              <a:rPr lang="pl-PL" sz="1200" dirty="0">
                <a:solidFill>
                  <a:srgbClr val="B5CEA8"/>
                </a:solidFill>
                <a:latin typeface="Consolas" panose="020B0609020204030204" pitchFamily="49" charset="0"/>
              </a:rPr>
              <a:t>2</a:t>
            </a:r>
            <a:r>
              <a:rPr lang="pl-PL" sz="1200" dirty="0">
                <a:solidFill>
                  <a:srgbClr val="BBBEBF"/>
                </a:solidFill>
                <a:latin typeface="Consolas" panose="020B0609020204030204" pitchFamily="49" charset="0"/>
              </a:rPr>
              <a:t>]</a:t>
            </a:r>
          </a:p>
          <a:p>
            <a:r>
              <a:rPr lang="pl-PL" sz="1200" dirty="0">
                <a:solidFill>
                  <a:srgbClr val="BBBEBF"/>
                </a:solidFill>
                <a:latin typeface="Consolas" panose="020B0609020204030204" pitchFamily="49" charset="0"/>
              </a:rPr>
              <a:t>    </a:t>
            </a:r>
            <a:r>
              <a:rPr lang="pl-PL" sz="1200" dirty="0" err="1">
                <a:solidFill>
                  <a:srgbClr val="C9D1D9"/>
                </a:solidFill>
                <a:latin typeface="Consolas" panose="020B0609020204030204" pitchFamily="49" charset="0"/>
              </a:rPr>
              <a:t>innovation</a:t>
            </a:r>
            <a:r>
              <a:rPr lang="pl-PL" sz="1200" dirty="0">
                <a:solidFill>
                  <a:srgbClr val="BBBEBF"/>
                </a:solidFill>
                <a:latin typeface="Consolas" panose="020B0609020204030204" pitchFamily="49" charset="0"/>
              </a:rPr>
              <a:t>  </a:t>
            </a:r>
            <a:r>
              <a:rPr lang="pl-PL" sz="1200" dirty="0">
                <a:solidFill>
                  <a:srgbClr val="D4D4D4"/>
                </a:solidFill>
                <a:latin typeface="Consolas" panose="020B0609020204030204" pitchFamily="49" charset="0"/>
              </a:rPr>
              <a:t>=</a:t>
            </a:r>
            <a:r>
              <a:rPr lang="pl-PL" sz="1200" dirty="0">
                <a:solidFill>
                  <a:srgbClr val="BBBEBF"/>
                </a:solidFill>
                <a:latin typeface="Consolas" panose="020B0609020204030204" pitchFamily="49" charset="0"/>
              </a:rPr>
              <a:t> </a:t>
            </a:r>
            <a:r>
              <a:rPr lang="pl-PL" sz="1200" dirty="0" err="1">
                <a:solidFill>
                  <a:srgbClr val="FFA657"/>
                </a:solidFill>
                <a:latin typeface="Consolas" panose="020B0609020204030204" pitchFamily="49" charset="0"/>
              </a:rPr>
              <a:t>measured_pos</a:t>
            </a:r>
            <a:r>
              <a:rPr lang="pl-PL" sz="1200" dirty="0">
                <a:solidFill>
                  <a:srgbClr val="BBBEBF"/>
                </a:solidFill>
                <a:latin typeface="Consolas" panose="020B0609020204030204" pitchFamily="49" charset="0"/>
              </a:rPr>
              <a:t> </a:t>
            </a:r>
            <a:r>
              <a:rPr lang="pl-PL" sz="1200" dirty="0">
                <a:solidFill>
                  <a:srgbClr val="DCDCAA"/>
                </a:solidFill>
                <a:latin typeface="Consolas" panose="020B0609020204030204" pitchFamily="49" charset="0"/>
              </a:rPr>
              <a:t>-</a:t>
            </a:r>
            <a:r>
              <a:rPr lang="pl-PL" sz="1200" dirty="0">
                <a:solidFill>
                  <a:srgbClr val="BBBEBF"/>
                </a:solidFill>
                <a:latin typeface="Consolas" panose="020B0609020204030204" pitchFamily="49" charset="0"/>
              </a:rPr>
              <a:t> </a:t>
            </a:r>
            <a:r>
              <a:rPr lang="pl-PL" sz="1200" dirty="0" err="1">
                <a:solidFill>
                  <a:srgbClr val="C9D1D9"/>
                </a:solidFill>
                <a:latin typeface="Consolas" panose="020B0609020204030204" pitchFamily="49" charset="0"/>
              </a:rPr>
              <a:t>predicted_z</a:t>
            </a:r>
            <a:endParaRPr lang="pl-PL" sz="1200" dirty="0">
              <a:solidFill>
                <a:srgbClr val="BBBEBF"/>
              </a:solidFill>
              <a:latin typeface="Consolas" panose="020B0609020204030204" pitchFamily="49" charset="0"/>
            </a:endParaRPr>
          </a:p>
          <a:p>
            <a:r>
              <a:rPr lang="pl-PL" sz="1200" dirty="0">
                <a:solidFill>
                  <a:srgbClr val="BBBEBF"/>
                </a:solidFill>
                <a:latin typeface="Consolas" panose="020B0609020204030204" pitchFamily="49" charset="0"/>
              </a:rPr>
              <a:t>    </a:t>
            </a:r>
            <a:r>
              <a:rPr lang="pl-PL" sz="1200" dirty="0">
                <a:solidFill>
                  <a:srgbClr val="79C0FF"/>
                </a:solidFill>
                <a:latin typeface="Consolas" panose="020B0609020204030204" pitchFamily="49" charset="0"/>
              </a:rPr>
              <a:t>S</a:t>
            </a:r>
            <a:r>
              <a:rPr lang="pl-PL" sz="1200" dirty="0">
                <a:solidFill>
                  <a:srgbClr val="BBBEBF"/>
                </a:solidFill>
                <a:latin typeface="Consolas" panose="020B0609020204030204" pitchFamily="49" charset="0"/>
              </a:rPr>
              <a:t> </a:t>
            </a:r>
            <a:r>
              <a:rPr lang="pl-PL" sz="1200" dirty="0">
                <a:solidFill>
                  <a:srgbClr val="D4D4D4"/>
                </a:solidFill>
                <a:latin typeface="Consolas" panose="020B0609020204030204" pitchFamily="49" charset="0"/>
              </a:rPr>
              <a:t>=</a:t>
            </a:r>
            <a:r>
              <a:rPr lang="pl-PL" sz="1200" dirty="0">
                <a:solidFill>
                  <a:srgbClr val="BBBEBF"/>
                </a:solidFill>
                <a:latin typeface="Consolas" panose="020B0609020204030204" pitchFamily="49" charset="0"/>
              </a:rPr>
              <a:t> </a:t>
            </a:r>
            <a:r>
              <a:rPr lang="pl-PL" sz="1200" dirty="0">
                <a:solidFill>
                  <a:srgbClr val="79C0FF"/>
                </a:solidFill>
                <a:latin typeface="Consolas" panose="020B0609020204030204" pitchFamily="49" charset="0"/>
              </a:rPr>
              <a:t>H</a:t>
            </a:r>
            <a:r>
              <a:rPr lang="pl-PL" sz="1200" dirty="0">
                <a:solidFill>
                  <a:srgbClr val="BBBEBF"/>
                </a:solidFill>
                <a:latin typeface="Consolas" panose="020B0609020204030204" pitchFamily="49" charset="0"/>
              </a:rPr>
              <a:t> </a:t>
            </a:r>
            <a:r>
              <a:rPr lang="pl-PL" sz="1200" dirty="0">
                <a:solidFill>
                  <a:srgbClr val="DCDCAA"/>
                </a:solidFill>
                <a:latin typeface="Consolas" panose="020B0609020204030204" pitchFamily="49" charset="0"/>
              </a:rPr>
              <a:t>@</a:t>
            </a:r>
            <a:r>
              <a:rPr lang="pl-PL" sz="1200" dirty="0">
                <a:solidFill>
                  <a:srgbClr val="BBBEBF"/>
                </a:solidFill>
                <a:latin typeface="Consolas" panose="020B0609020204030204" pitchFamily="49" charset="0"/>
              </a:rPr>
              <a:t> </a:t>
            </a:r>
            <a:r>
              <a:rPr lang="pl-PL" sz="1200" dirty="0">
                <a:solidFill>
                  <a:srgbClr val="FFA657"/>
                </a:solidFill>
                <a:latin typeface="Consolas" panose="020B0609020204030204" pitchFamily="49" charset="0"/>
              </a:rPr>
              <a:t>P</a:t>
            </a:r>
            <a:r>
              <a:rPr lang="pl-PL" sz="1200" dirty="0">
                <a:solidFill>
                  <a:srgbClr val="BBBEBF"/>
                </a:solidFill>
                <a:latin typeface="Consolas" panose="020B0609020204030204" pitchFamily="49" charset="0"/>
              </a:rPr>
              <a:t> </a:t>
            </a:r>
            <a:r>
              <a:rPr lang="pl-PL" sz="1200" dirty="0">
                <a:solidFill>
                  <a:srgbClr val="DCDCAA"/>
                </a:solidFill>
                <a:latin typeface="Consolas" panose="020B0609020204030204" pitchFamily="49" charset="0"/>
              </a:rPr>
              <a:t>@</a:t>
            </a:r>
            <a:r>
              <a:rPr lang="pl-PL" sz="1200" dirty="0">
                <a:solidFill>
                  <a:srgbClr val="BBBEBF"/>
                </a:solidFill>
                <a:latin typeface="Consolas" panose="020B0609020204030204" pitchFamily="49" charset="0"/>
              </a:rPr>
              <a:t> </a:t>
            </a:r>
            <a:r>
              <a:rPr lang="pl-PL" sz="1200" dirty="0">
                <a:solidFill>
                  <a:srgbClr val="79C0FF"/>
                </a:solidFill>
                <a:latin typeface="Consolas" panose="020B0609020204030204" pitchFamily="49" charset="0"/>
              </a:rPr>
              <a:t>H</a:t>
            </a:r>
            <a:r>
              <a:rPr lang="pl-PL" sz="1200" dirty="0">
                <a:solidFill>
                  <a:srgbClr val="BBBEBF"/>
                </a:solidFill>
                <a:latin typeface="Consolas" panose="020B0609020204030204" pitchFamily="49" charset="0"/>
              </a:rPr>
              <a:t>.</a:t>
            </a:r>
            <a:r>
              <a:rPr lang="pl-PL" sz="1200" dirty="0">
                <a:solidFill>
                  <a:srgbClr val="C9D1D9"/>
                </a:solidFill>
                <a:latin typeface="Consolas" panose="020B0609020204030204" pitchFamily="49" charset="0"/>
              </a:rPr>
              <a:t>T</a:t>
            </a:r>
            <a:r>
              <a:rPr lang="pl-PL" sz="1200" dirty="0">
                <a:solidFill>
                  <a:srgbClr val="BBBEBF"/>
                </a:solidFill>
                <a:latin typeface="Consolas" panose="020B0609020204030204" pitchFamily="49" charset="0"/>
              </a:rPr>
              <a:t> </a:t>
            </a:r>
            <a:r>
              <a:rPr lang="pl-PL" sz="1200" dirty="0">
                <a:solidFill>
                  <a:srgbClr val="DCDCAA"/>
                </a:solidFill>
                <a:latin typeface="Consolas" panose="020B0609020204030204" pitchFamily="49" charset="0"/>
              </a:rPr>
              <a:t>+</a:t>
            </a:r>
            <a:r>
              <a:rPr lang="pl-PL" sz="1200" dirty="0">
                <a:solidFill>
                  <a:srgbClr val="BBBEBF"/>
                </a:solidFill>
                <a:latin typeface="Consolas" panose="020B0609020204030204" pitchFamily="49" charset="0"/>
              </a:rPr>
              <a:t> </a:t>
            </a:r>
            <a:r>
              <a:rPr lang="pl-PL" sz="1200" dirty="0" err="1">
                <a:solidFill>
                  <a:srgbClr val="FFA657"/>
                </a:solidFill>
                <a:latin typeface="Consolas" panose="020B0609020204030204" pitchFamily="49" charset="0"/>
              </a:rPr>
              <a:t>R_meas</a:t>
            </a:r>
            <a:endParaRPr lang="pl-PL" sz="1200" dirty="0">
              <a:solidFill>
                <a:srgbClr val="BBBEBF"/>
              </a:solidFill>
              <a:latin typeface="Consolas" panose="020B0609020204030204" pitchFamily="49" charset="0"/>
            </a:endParaRPr>
          </a:p>
          <a:p>
            <a:r>
              <a:rPr lang="pl-PL" sz="1200" dirty="0">
                <a:solidFill>
                  <a:srgbClr val="BBBEBF"/>
                </a:solidFill>
                <a:latin typeface="Consolas" panose="020B0609020204030204" pitchFamily="49" charset="0"/>
              </a:rPr>
              <a:t>    </a:t>
            </a:r>
            <a:r>
              <a:rPr lang="pl-PL" sz="1200" dirty="0">
                <a:solidFill>
                  <a:srgbClr val="79C0FF"/>
                </a:solidFill>
                <a:latin typeface="Consolas" panose="020B0609020204030204" pitchFamily="49" charset="0"/>
              </a:rPr>
              <a:t>K</a:t>
            </a:r>
            <a:r>
              <a:rPr lang="pl-PL" sz="1200" dirty="0">
                <a:solidFill>
                  <a:srgbClr val="BBBEBF"/>
                </a:solidFill>
                <a:latin typeface="Consolas" panose="020B0609020204030204" pitchFamily="49" charset="0"/>
              </a:rPr>
              <a:t> </a:t>
            </a:r>
            <a:r>
              <a:rPr lang="pl-PL" sz="1200" dirty="0">
                <a:solidFill>
                  <a:srgbClr val="D4D4D4"/>
                </a:solidFill>
                <a:latin typeface="Consolas" panose="020B0609020204030204" pitchFamily="49" charset="0"/>
              </a:rPr>
              <a:t>=</a:t>
            </a:r>
            <a:r>
              <a:rPr lang="pl-PL" sz="1200" dirty="0">
                <a:solidFill>
                  <a:srgbClr val="BBBEBF"/>
                </a:solidFill>
                <a:latin typeface="Consolas" panose="020B0609020204030204" pitchFamily="49" charset="0"/>
              </a:rPr>
              <a:t> </a:t>
            </a:r>
            <a:r>
              <a:rPr lang="pl-PL" sz="1200" dirty="0">
                <a:solidFill>
                  <a:srgbClr val="FFA657"/>
                </a:solidFill>
                <a:latin typeface="Consolas" panose="020B0609020204030204" pitchFamily="49" charset="0"/>
              </a:rPr>
              <a:t>P</a:t>
            </a:r>
            <a:r>
              <a:rPr lang="pl-PL" sz="1200" dirty="0">
                <a:solidFill>
                  <a:srgbClr val="BBBEBF"/>
                </a:solidFill>
                <a:latin typeface="Consolas" panose="020B0609020204030204" pitchFamily="49" charset="0"/>
              </a:rPr>
              <a:t> </a:t>
            </a:r>
            <a:r>
              <a:rPr lang="pl-PL" sz="1200" dirty="0">
                <a:solidFill>
                  <a:srgbClr val="DCDCAA"/>
                </a:solidFill>
                <a:latin typeface="Consolas" panose="020B0609020204030204" pitchFamily="49" charset="0"/>
              </a:rPr>
              <a:t>@</a:t>
            </a:r>
            <a:r>
              <a:rPr lang="pl-PL" sz="1200" dirty="0">
                <a:solidFill>
                  <a:srgbClr val="BBBEBF"/>
                </a:solidFill>
                <a:latin typeface="Consolas" panose="020B0609020204030204" pitchFamily="49" charset="0"/>
              </a:rPr>
              <a:t> </a:t>
            </a:r>
            <a:r>
              <a:rPr lang="pl-PL" sz="1200" dirty="0">
                <a:solidFill>
                  <a:srgbClr val="79C0FF"/>
                </a:solidFill>
                <a:latin typeface="Consolas" panose="020B0609020204030204" pitchFamily="49" charset="0"/>
              </a:rPr>
              <a:t>H</a:t>
            </a:r>
            <a:r>
              <a:rPr lang="pl-PL" sz="1200" dirty="0">
                <a:solidFill>
                  <a:srgbClr val="BBBEBF"/>
                </a:solidFill>
                <a:latin typeface="Consolas" panose="020B0609020204030204" pitchFamily="49" charset="0"/>
              </a:rPr>
              <a:t>.</a:t>
            </a:r>
            <a:r>
              <a:rPr lang="pl-PL" sz="1200" dirty="0">
                <a:solidFill>
                  <a:srgbClr val="C9D1D9"/>
                </a:solidFill>
                <a:latin typeface="Consolas" panose="020B0609020204030204" pitchFamily="49" charset="0"/>
              </a:rPr>
              <a:t>T</a:t>
            </a:r>
            <a:r>
              <a:rPr lang="pl-PL" sz="1200" dirty="0">
                <a:solidFill>
                  <a:srgbClr val="BBBEBF"/>
                </a:solidFill>
                <a:latin typeface="Consolas" panose="020B0609020204030204" pitchFamily="49" charset="0"/>
              </a:rPr>
              <a:t> </a:t>
            </a:r>
            <a:r>
              <a:rPr lang="pl-PL" sz="1200" dirty="0">
                <a:solidFill>
                  <a:srgbClr val="DCDCAA"/>
                </a:solidFill>
                <a:latin typeface="Consolas" panose="020B0609020204030204" pitchFamily="49" charset="0"/>
              </a:rPr>
              <a:t>@</a:t>
            </a:r>
            <a:r>
              <a:rPr lang="pl-PL" sz="1200" dirty="0">
                <a:solidFill>
                  <a:srgbClr val="BBBEBF"/>
                </a:solidFill>
                <a:latin typeface="Consolas" panose="020B0609020204030204" pitchFamily="49" charset="0"/>
              </a:rPr>
              <a:t> </a:t>
            </a:r>
            <a:r>
              <a:rPr lang="pl-PL" sz="1200" dirty="0" err="1">
                <a:solidFill>
                  <a:srgbClr val="4EC9B0"/>
                </a:solidFill>
                <a:latin typeface="Consolas" panose="020B0609020204030204" pitchFamily="49" charset="0"/>
              </a:rPr>
              <a:t>np</a:t>
            </a:r>
            <a:r>
              <a:rPr lang="pl-PL" sz="1200" dirty="0" err="1">
                <a:solidFill>
                  <a:srgbClr val="BBBEBF"/>
                </a:solidFill>
                <a:latin typeface="Consolas" panose="020B0609020204030204" pitchFamily="49" charset="0"/>
              </a:rPr>
              <a:t>.</a:t>
            </a:r>
            <a:r>
              <a:rPr lang="pl-PL" sz="1200" dirty="0" err="1">
                <a:solidFill>
                  <a:srgbClr val="4EC9B0"/>
                </a:solidFill>
                <a:latin typeface="Consolas" panose="020B0609020204030204" pitchFamily="49" charset="0"/>
              </a:rPr>
              <a:t>linalg</a:t>
            </a:r>
            <a:r>
              <a:rPr lang="pl-PL" sz="1200" dirty="0" err="1">
                <a:solidFill>
                  <a:srgbClr val="BBBEBF"/>
                </a:solidFill>
                <a:latin typeface="Consolas" panose="020B0609020204030204" pitchFamily="49" charset="0"/>
              </a:rPr>
              <a:t>.</a:t>
            </a:r>
            <a:r>
              <a:rPr lang="pl-PL" sz="1200" dirty="0" err="1">
                <a:solidFill>
                  <a:srgbClr val="D2A8FF"/>
                </a:solidFill>
                <a:latin typeface="Consolas" panose="020B0609020204030204" pitchFamily="49" charset="0"/>
              </a:rPr>
              <a:t>inv</a:t>
            </a:r>
            <a:r>
              <a:rPr lang="pl-PL" sz="1200" dirty="0">
                <a:solidFill>
                  <a:srgbClr val="BBBEBF"/>
                </a:solidFill>
                <a:latin typeface="Consolas" panose="020B0609020204030204" pitchFamily="49" charset="0"/>
              </a:rPr>
              <a:t>(</a:t>
            </a:r>
            <a:r>
              <a:rPr lang="pl-PL" sz="1200" dirty="0">
                <a:solidFill>
                  <a:srgbClr val="79C0FF"/>
                </a:solidFill>
                <a:latin typeface="Consolas" panose="020B0609020204030204" pitchFamily="49" charset="0"/>
              </a:rPr>
              <a:t>S</a:t>
            </a:r>
            <a:r>
              <a:rPr lang="pl-PL" sz="1200" dirty="0">
                <a:solidFill>
                  <a:srgbClr val="BBBEBF"/>
                </a:solidFill>
                <a:latin typeface="Consolas" panose="020B0609020204030204" pitchFamily="49" charset="0"/>
              </a:rPr>
              <a:t>) </a:t>
            </a:r>
            <a:r>
              <a:rPr lang="pl-PL" sz="1200" dirty="0" smtClean="0">
                <a:solidFill>
                  <a:srgbClr val="BBBEBF"/>
                </a:solidFill>
                <a:latin typeface="Consolas" panose="020B0609020204030204" pitchFamily="49" charset="0"/>
              </a:rPr>
              <a:t>                     </a:t>
            </a:r>
            <a:r>
              <a:rPr lang="pl-PL" sz="1200" dirty="0">
                <a:solidFill>
                  <a:srgbClr val="BBBEBF"/>
                </a:solidFill>
                <a:latin typeface="Consolas" panose="020B0609020204030204" pitchFamily="49" charset="0"/>
              </a:rPr>
              <a:t> </a:t>
            </a:r>
            <a:r>
              <a:rPr lang="pl-PL" sz="1200" dirty="0">
                <a:solidFill>
                  <a:srgbClr val="8B949E"/>
                </a:solidFill>
                <a:latin typeface="Consolas" panose="020B0609020204030204" pitchFamily="49" charset="0"/>
              </a:rPr>
              <a:t># wzmocnienie Kalmana</a:t>
            </a:r>
            <a:endParaRPr lang="pl-PL" sz="1200" dirty="0">
              <a:solidFill>
                <a:srgbClr val="BBBEBF"/>
              </a:solidFill>
              <a:latin typeface="Consolas" panose="020B0609020204030204" pitchFamily="49" charset="0"/>
            </a:endParaRPr>
          </a:p>
          <a:p>
            <a:r>
              <a:rPr lang="pl-PL" sz="1200" dirty="0">
                <a:solidFill>
                  <a:srgbClr val="BBBEBF"/>
                </a:solidFill>
                <a:latin typeface="Consolas" panose="020B0609020204030204" pitchFamily="49" charset="0"/>
              </a:rPr>
              <a:t>    </a:t>
            </a:r>
            <a:r>
              <a:rPr lang="pl-PL" sz="1200" dirty="0" err="1">
                <a:solidFill>
                  <a:srgbClr val="C9D1D9"/>
                </a:solidFill>
                <a:latin typeface="Consolas" panose="020B0609020204030204" pitchFamily="49" charset="0"/>
              </a:rPr>
              <a:t>state_new</a:t>
            </a:r>
            <a:r>
              <a:rPr lang="pl-PL" sz="1200" dirty="0">
                <a:solidFill>
                  <a:srgbClr val="BBBEBF"/>
                </a:solidFill>
                <a:latin typeface="Consolas" panose="020B0609020204030204" pitchFamily="49" charset="0"/>
              </a:rPr>
              <a:t> </a:t>
            </a:r>
            <a:r>
              <a:rPr lang="pl-PL" sz="1200" dirty="0">
                <a:solidFill>
                  <a:srgbClr val="D4D4D4"/>
                </a:solidFill>
                <a:latin typeface="Consolas" panose="020B0609020204030204" pitchFamily="49" charset="0"/>
              </a:rPr>
              <a:t>=</a:t>
            </a:r>
            <a:r>
              <a:rPr lang="pl-PL" sz="1200" dirty="0">
                <a:solidFill>
                  <a:srgbClr val="BBBEBF"/>
                </a:solidFill>
                <a:latin typeface="Consolas" panose="020B0609020204030204" pitchFamily="49" charset="0"/>
              </a:rPr>
              <a:t> </a:t>
            </a:r>
            <a:r>
              <a:rPr lang="pl-PL" sz="1200" dirty="0" err="1">
                <a:solidFill>
                  <a:srgbClr val="FFA657"/>
                </a:solidFill>
                <a:latin typeface="Consolas" panose="020B0609020204030204" pitchFamily="49" charset="0"/>
              </a:rPr>
              <a:t>state</a:t>
            </a:r>
            <a:r>
              <a:rPr lang="pl-PL" sz="1200" dirty="0">
                <a:solidFill>
                  <a:srgbClr val="BBBEBF"/>
                </a:solidFill>
                <a:latin typeface="Consolas" panose="020B0609020204030204" pitchFamily="49" charset="0"/>
              </a:rPr>
              <a:t> </a:t>
            </a:r>
            <a:r>
              <a:rPr lang="pl-PL" sz="1200" dirty="0">
                <a:solidFill>
                  <a:srgbClr val="DCDCAA"/>
                </a:solidFill>
                <a:latin typeface="Consolas" panose="020B0609020204030204" pitchFamily="49" charset="0"/>
              </a:rPr>
              <a:t>+</a:t>
            </a:r>
            <a:r>
              <a:rPr lang="pl-PL" sz="1200" dirty="0">
                <a:solidFill>
                  <a:srgbClr val="BBBEBF"/>
                </a:solidFill>
                <a:latin typeface="Consolas" panose="020B0609020204030204" pitchFamily="49" charset="0"/>
              </a:rPr>
              <a:t> </a:t>
            </a:r>
            <a:r>
              <a:rPr lang="pl-PL" sz="1200" dirty="0">
                <a:solidFill>
                  <a:srgbClr val="79C0FF"/>
                </a:solidFill>
                <a:latin typeface="Consolas" panose="020B0609020204030204" pitchFamily="49" charset="0"/>
              </a:rPr>
              <a:t>K</a:t>
            </a:r>
            <a:r>
              <a:rPr lang="pl-PL" sz="1200" dirty="0">
                <a:solidFill>
                  <a:srgbClr val="BBBEBF"/>
                </a:solidFill>
                <a:latin typeface="Consolas" panose="020B0609020204030204" pitchFamily="49" charset="0"/>
              </a:rPr>
              <a:t> </a:t>
            </a:r>
            <a:r>
              <a:rPr lang="pl-PL" sz="1200" dirty="0">
                <a:solidFill>
                  <a:srgbClr val="DCDCAA"/>
                </a:solidFill>
                <a:latin typeface="Consolas" panose="020B0609020204030204" pitchFamily="49" charset="0"/>
              </a:rPr>
              <a:t>@</a:t>
            </a:r>
            <a:r>
              <a:rPr lang="pl-PL" sz="1200" dirty="0">
                <a:solidFill>
                  <a:srgbClr val="BBBEBF"/>
                </a:solidFill>
                <a:latin typeface="Consolas" panose="020B0609020204030204" pitchFamily="49" charset="0"/>
              </a:rPr>
              <a:t> </a:t>
            </a:r>
            <a:r>
              <a:rPr lang="pl-PL" sz="1200" dirty="0" err="1">
                <a:solidFill>
                  <a:srgbClr val="C9D1D9"/>
                </a:solidFill>
                <a:latin typeface="Consolas" panose="020B0609020204030204" pitchFamily="49" charset="0"/>
              </a:rPr>
              <a:t>innovation</a:t>
            </a:r>
            <a:endParaRPr lang="pl-PL" sz="1200" dirty="0">
              <a:solidFill>
                <a:srgbClr val="BBBEBF"/>
              </a:solidFill>
              <a:latin typeface="Consolas" panose="020B0609020204030204" pitchFamily="49" charset="0"/>
            </a:endParaRPr>
          </a:p>
          <a:p>
            <a:r>
              <a:rPr lang="pl-PL" sz="1200" dirty="0">
                <a:solidFill>
                  <a:srgbClr val="BBBEBF"/>
                </a:solidFill>
                <a:latin typeface="Consolas" panose="020B0609020204030204" pitchFamily="49" charset="0"/>
              </a:rPr>
              <a:t>    </a:t>
            </a:r>
            <a:r>
              <a:rPr lang="pl-PL" sz="1200" dirty="0" err="1">
                <a:solidFill>
                  <a:srgbClr val="C9D1D9"/>
                </a:solidFill>
                <a:latin typeface="Consolas" panose="020B0609020204030204" pitchFamily="49" charset="0"/>
              </a:rPr>
              <a:t>P_new</a:t>
            </a:r>
            <a:r>
              <a:rPr lang="pl-PL" sz="1200" dirty="0">
                <a:solidFill>
                  <a:srgbClr val="BBBEBF"/>
                </a:solidFill>
                <a:latin typeface="Consolas" panose="020B0609020204030204" pitchFamily="49" charset="0"/>
              </a:rPr>
              <a:t>     </a:t>
            </a:r>
            <a:r>
              <a:rPr lang="pl-PL" sz="1200" dirty="0">
                <a:solidFill>
                  <a:srgbClr val="D4D4D4"/>
                </a:solidFill>
                <a:latin typeface="Consolas" panose="020B0609020204030204" pitchFamily="49" charset="0"/>
              </a:rPr>
              <a:t>=</a:t>
            </a:r>
            <a:r>
              <a:rPr lang="pl-PL" sz="1200" dirty="0">
                <a:solidFill>
                  <a:srgbClr val="BBBEBF"/>
                </a:solidFill>
                <a:latin typeface="Consolas" panose="020B0609020204030204" pitchFamily="49" charset="0"/>
              </a:rPr>
              <a:t> (</a:t>
            </a:r>
            <a:r>
              <a:rPr lang="pl-PL" sz="1200" dirty="0" err="1">
                <a:solidFill>
                  <a:srgbClr val="4EC9B0"/>
                </a:solidFill>
                <a:latin typeface="Consolas" panose="020B0609020204030204" pitchFamily="49" charset="0"/>
              </a:rPr>
              <a:t>np</a:t>
            </a:r>
            <a:r>
              <a:rPr lang="pl-PL" sz="1200" dirty="0" err="1">
                <a:solidFill>
                  <a:srgbClr val="BBBEBF"/>
                </a:solidFill>
                <a:latin typeface="Consolas" panose="020B0609020204030204" pitchFamily="49" charset="0"/>
              </a:rPr>
              <a:t>.</a:t>
            </a:r>
            <a:r>
              <a:rPr lang="pl-PL" sz="1200" dirty="0" err="1">
                <a:solidFill>
                  <a:srgbClr val="D2A8FF"/>
                </a:solidFill>
                <a:latin typeface="Consolas" panose="020B0609020204030204" pitchFamily="49" charset="0"/>
              </a:rPr>
              <a:t>eye</a:t>
            </a:r>
            <a:r>
              <a:rPr lang="pl-PL" sz="1200" dirty="0">
                <a:solidFill>
                  <a:srgbClr val="BBBEBF"/>
                </a:solidFill>
                <a:latin typeface="Consolas" panose="020B0609020204030204" pitchFamily="49" charset="0"/>
              </a:rPr>
              <a:t>(</a:t>
            </a:r>
            <a:r>
              <a:rPr lang="pl-PL" sz="1200" dirty="0">
                <a:solidFill>
                  <a:srgbClr val="B5CEA8"/>
                </a:solidFill>
                <a:latin typeface="Consolas" panose="020B0609020204030204" pitchFamily="49" charset="0"/>
              </a:rPr>
              <a:t>3</a:t>
            </a:r>
            <a:r>
              <a:rPr lang="pl-PL" sz="1200" dirty="0">
                <a:solidFill>
                  <a:srgbClr val="BBBEBF"/>
                </a:solidFill>
                <a:latin typeface="Consolas" panose="020B0609020204030204" pitchFamily="49" charset="0"/>
              </a:rPr>
              <a:t>) </a:t>
            </a:r>
            <a:r>
              <a:rPr lang="pl-PL" sz="1200" dirty="0">
                <a:solidFill>
                  <a:srgbClr val="DCDCAA"/>
                </a:solidFill>
                <a:latin typeface="Consolas" panose="020B0609020204030204" pitchFamily="49" charset="0"/>
              </a:rPr>
              <a:t>-</a:t>
            </a:r>
            <a:r>
              <a:rPr lang="pl-PL" sz="1200" dirty="0">
                <a:solidFill>
                  <a:srgbClr val="BBBEBF"/>
                </a:solidFill>
                <a:latin typeface="Consolas" panose="020B0609020204030204" pitchFamily="49" charset="0"/>
              </a:rPr>
              <a:t> </a:t>
            </a:r>
            <a:r>
              <a:rPr lang="pl-PL" sz="1200" dirty="0">
                <a:solidFill>
                  <a:srgbClr val="79C0FF"/>
                </a:solidFill>
                <a:latin typeface="Consolas" panose="020B0609020204030204" pitchFamily="49" charset="0"/>
              </a:rPr>
              <a:t>K</a:t>
            </a:r>
            <a:r>
              <a:rPr lang="pl-PL" sz="1200" dirty="0">
                <a:solidFill>
                  <a:srgbClr val="BBBEBF"/>
                </a:solidFill>
                <a:latin typeface="Consolas" panose="020B0609020204030204" pitchFamily="49" charset="0"/>
              </a:rPr>
              <a:t> </a:t>
            </a:r>
            <a:r>
              <a:rPr lang="pl-PL" sz="1200" dirty="0">
                <a:solidFill>
                  <a:srgbClr val="DCDCAA"/>
                </a:solidFill>
                <a:latin typeface="Consolas" panose="020B0609020204030204" pitchFamily="49" charset="0"/>
              </a:rPr>
              <a:t>@</a:t>
            </a:r>
            <a:r>
              <a:rPr lang="pl-PL" sz="1200" dirty="0">
                <a:solidFill>
                  <a:srgbClr val="BBBEBF"/>
                </a:solidFill>
                <a:latin typeface="Consolas" panose="020B0609020204030204" pitchFamily="49" charset="0"/>
              </a:rPr>
              <a:t> </a:t>
            </a:r>
            <a:r>
              <a:rPr lang="pl-PL" sz="1200" dirty="0">
                <a:solidFill>
                  <a:srgbClr val="79C0FF"/>
                </a:solidFill>
                <a:latin typeface="Consolas" panose="020B0609020204030204" pitchFamily="49" charset="0"/>
              </a:rPr>
              <a:t>H</a:t>
            </a:r>
            <a:r>
              <a:rPr lang="pl-PL" sz="1200" dirty="0">
                <a:solidFill>
                  <a:srgbClr val="BBBEBF"/>
                </a:solidFill>
                <a:latin typeface="Consolas" panose="020B0609020204030204" pitchFamily="49" charset="0"/>
              </a:rPr>
              <a:t>) </a:t>
            </a:r>
            <a:r>
              <a:rPr lang="pl-PL" sz="1200" dirty="0">
                <a:solidFill>
                  <a:srgbClr val="DCDCAA"/>
                </a:solidFill>
                <a:latin typeface="Consolas" panose="020B0609020204030204" pitchFamily="49" charset="0"/>
              </a:rPr>
              <a:t>@</a:t>
            </a:r>
            <a:r>
              <a:rPr lang="pl-PL" sz="1200" dirty="0">
                <a:solidFill>
                  <a:srgbClr val="BBBEBF"/>
                </a:solidFill>
                <a:latin typeface="Consolas" panose="020B0609020204030204" pitchFamily="49" charset="0"/>
              </a:rPr>
              <a:t> </a:t>
            </a:r>
            <a:r>
              <a:rPr lang="pl-PL" sz="1200" dirty="0">
                <a:solidFill>
                  <a:srgbClr val="FFA657"/>
                </a:solidFill>
                <a:latin typeface="Consolas" panose="020B0609020204030204" pitchFamily="49" charset="0"/>
              </a:rPr>
              <a:t>P</a:t>
            </a:r>
            <a:endParaRPr lang="pl-PL" sz="1200" dirty="0">
              <a:solidFill>
                <a:srgbClr val="BBBEBF"/>
              </a:solidFill>
              <a:latin typeface="Consolas" panose="020B0609020204030204" pitchFamily="49" charset="0"/>
            </a:endParaRPr>
          </a:p>
          <a:p>
            <a:r>
              <a:rPr lang="pl-PL" sz="1200" dirty="0">
                <a:solidFill>
                  <a:srgbClr val="BBBEBF"/>
                </a:solidFill>
                <a:latin typeface="Consolas" panose="020B0609020204030204" pitchFamily="49" charset="0"/>
              </a:rPr>
              <a:t>    </a:t>
            </a:r>
            <a:r>
              <a:rPr lang="pl-PL" sz="1200" dirty="0">
                <a:solidFill>
                  <a:srgbClr val="C586C0"/>
                </a:solidFill>
                <a:latin typeface="Consolas" panose="020B0609020204030204" pitchFamily="49" charset="0"/>
              </a:rPr>
              <a:t>return</a:t>
            </a:r>
            <a:r>
              <a:rPr lang="pl-PL" sz="1200" dirty="0">
                <a:solidFill>
                  <a:srgbClr val="BBBEBF"/>
                </a:solidFill>
                <a:latin typeface="Consolas" panose="020B0609020204030204" pitchFamily="49" charset="0"/>
              </a:rPr>
              <a:t> </a:t>
            </a:r>
            <a:r>
              <a:rPr lang="pl-PL" sz="1200" dirty="0" err="1">
                <a:solidFill>
                  <a:srgbClr val="C9D1D9"/>
                </a:solidFill>
                <a:latin typeface="Consolas" panose="020B0609020204030204" pitchFamily="49" charset="0"/>
              </a:rPr>
              <a:t>state_new</a:t>
            </a:r>
            <a:r>
              <a:rPr lang="pl-PL" sz="1200" dirty="0">
                <a:solidFill>
                  <a:srgbClr val="BBBEBF"/>
                </a:solidFill>
                <a:latin typeface="Consolas" panose="020B0609020204030204" pitchFamily="49" charset="0"/>
              </a:rPr>
              <a:t>, </a:t>
            </a:r>
            <a:r>
              <a:rPr lang="pl-PL" sz="1200" dirty="0" err="1" smtClean="0">
                <a:solidFill>
                  <a:srgbClr val="C9D1D9"/>
                </a:solidFill>
                <a:latin typeface="Consolas" panose="020B0609020204030204" pitchFamily="49" charset="0"/>
              </a:rPr>
              <a:t>P_new</a:t>
            </a:r>
            <a:endParaRPr lang="pl-PL" sz="1200" dirty="0">
              <a:solidFill>
                <a:srgbClr val="BBBEBF"/>
              </a:solidFill>
              <a:latin typeface="Consolas" panose="020B0609020204030204" pitchFamily="49" charset="0"/>
            </a:endParaRPr>
          </a:p>
        </p:txBody>
      </p:sp>
      <p:sp>
        <p:nvSpPr>
          <p:cNvPr id="11" name="Shape 9"/>
          <p:cNvSpPr/>
          <p:nvPr/>
        </p:nvSpPr>
        <p:spPr>
          <a:xfrm>
            <a:off x="274320" y="4397760"/>
            <a:ext cx="8595360" cy="540000"/>
          </a:xfrm>
          <a:prstGeom prst="rect">
            <a:avLst/>
          </a:prstGeom>
          <a:solidFill>
            <a:srgbClr val="1A3550"/>
          </a:solidFill>
          <a:ln w="12700">
            <a:solidFill>
              <a:srgbClr val="0077A8"/>
            </a:solidFill>
            <a:prstDash val="solid"/>
          </a:ln>
        </p:spPr>
      </p:sp>
      <p:sp>
        <p:nvSpPr>
          <p:cNvPr id="12" name="Text 10"/>
          <p:cNvSpPr/>
          <p:nvPr/>
        </p:nvSpPr>
        <p:spPr>
          <a:xfrm>
            <a:off x="457200" y="4397760"/>
            <a:ext cx="8321040" cy="540000"/>
          </a:xfrm>
          <a:prstGeom prst="rect">
            <a:avLst/>
          </a:prstGeom>
          <a:noFill/>
          <a:ln/>
        </p:spPr>
        <p:txBody>
          <a:bodyPr wrap="square" lIns="0" tIns="0" rIns="127000" bIns="0" rtlCol="0" anchor="ctr"/>
          <a:lstStyle/>
          <a:p>
            <a:pPr marL="0" indent="0" algn="ctr">
              <a:buNone/>
            </a:pPr>
            <a:r>
              <a:rPr lang="en-US" sz="1600" b="1" dirty="0">
                <a:solidFill>
                  <a:srgbClr val="00B4D8"/>
                </a:solidFill>
                <a:latin typeface="Calibri" pitchFamily="34" charset="0"/>
                <a:ea typeface="Calibri" pitchFamily="34" charset="-122"/>
                <a:cs typeface="Calibri" pitchFamily="34" charset="-120"/>
              </a:rPr>
              <a:t>Opis: </a:t>
            </a:r>
            <a:r>
              <a:rPr lang="en-US" sz="1600" dirty="0">
                <a:solidFill>
                  <a:srgbClr val="E2EBF3"/>
                </a:solidFill>
                <a:latin typeface="Calibri" pitchFamily="34" charset="0"/>
                <a:ea typeface="Calibri" pitchFamily="34" charset="-122"/>
                <a:cs typeface="Calibri" pitchFamily="34" charset="-120"/>
              </a:rPr>
              <a:t>Korekta EKF: innowacja z detekcji ArUco/AprilTag eliminuje skumulowany </a:t>
            </a:r>
            <a:r>
              <a:rPr lang="en-US" sz="1600" dirty="0" err="1">
                <a:solidFill>
                  <a:srgbClr val="E2EBF3"/>
                </a:solidFill>
                <a:latin typeface="Calibri" pitchFamily="34" charset="0"/>
                <a:ea typeface="Calibri" pitchFamily="34" charset="-122"/>
                <a:cs typeface="Calibri" pitchFamily="34" charset="-120"/>
              </a:rPr>
              <a:t>dryft</a:t>
            </a:r>
            <a:r>
              <a:rPr lang="en-US" sz="1600" dirty="0">
                <a:solidFill>
                  <a:srgbClr val="E2EBF3"/>
                </a:solidFill>
                <a:latin typeface="Calibri" pitchFamily="34" charset="0"/>
                <a:ea typeface="Calibri" pitchFamily="34" charset="-122"/>
                <a:cs typeface="Calibri" pitchFamily="34" charset="-120"/>
              </a:rPr>
              <a:t> </a:t>
            </a:r>
            <a:r>
              <a:rPr lang="en-US" sz="1600" dirty="0" err="1" smtClean="0">
                <a:solidFill>
                  <a:srgbClr val="E2EBF3"/>
                </a:solidFill>
                <a:latin typeface="Calibri" pitchFamily="34" charset="0"/>
                <a:ea typeface="Calibri" pitchFamily="34" charset="-122"/>
                <a:cs typeface="Calibri" pitchFamily="34" charset="-120"/>
              </a:rPr>
              <a:t>odometrii</a:t>
            </a:r>
            <a:endParaRPr lang="en-US" sz="16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0F4F8"/>
        </a:solidFill>
        <a:effectLst/>
      </p:bgPr>
    </p:bg>
    <p:spTree>
      <p:nvGrpSpPr>
        <p:cNvPr id="1" name=""/>
        <p:cNvGrpSpPr/>
        <p:nvPr/>
      </p:nvGrpSpPr>
      <p:grpSpPr>
        <a:xfrm>
          <a:off x="0" y="0"/>
          <a:ext cx="0" cy="0"/>
          <a:chOff x="0" y="0"/>
          <a:chExt cx="0" cy="0"/>
        </a:xfrm>
      </p:grpSpPr>
      <p:sp>
        <p:nvSpPr>
          <p:cNvPr id="2" name="Shape 0"/>
          <p:cNvSpPr/>
          <p:nvPr/>
        </p:nvSpPr>
        <p:spPr>
          <a:xfrm>
            <a:off x="0" y="0"/>
            <a:ext cx="64008" cy="5143500"/>
          </a:xfrm>
          <a:prstGeom prst="rect">
            <a:avLst/>
          </a:prstGeom>
          <a:solidFill>
            <a:srgbClr val="00B4D8"/>
          </a:solidFill>
          <a:ln w="12700">
            <a:solidFill>
              <a:srgbClr val="00B4D8"/>
            </a:solidFill>
            <a:prstDash val="solid"/>
          </a:ln>
        </p:spPr>
      </p:sp>
      <p:sp>
        <p:nvSpPr>
          <p:cNvPr id="3" name="Shape 1"/>
          <p:cNvSpPr/>
          <p:nvPr/>
        </p:nvSpPr>
        <p:spPr>
          <a:xfrm>
            <a:off x="64008" y="0"/>
            <a:ext cx="9079992" cy="960120"/>
          </a:xfrm>
          <a:prstGeom prst="rect">
            <a:avLst/>
          </a:prstGeom>
          <a:solidFill>
            <a:srgbClr val="0D1B2A"/>
          </a:solidFill>
          <a:ln w="12700">
            <a:solidFill>
              <a:srgbClr val="0D1B2A"/>
            </a:solidFill>
            <a:prstDash val="solid"/>
          </a:ln>
        </p:spPr>
      </p:sp>
      <p:sp>
        <p:nvSpPr>
          <p:cNvPr id="4" name="Text 2"/>
          <p:cNvSpPr/>
          <p:nvPr/>
        </p:nvSpPr>
        <p:spPr>
          <a:xfrm>
            <a:off x="228600" y="73152"/>
            <a:ext cx="4572000" cy="274320"/>
          </a:xfrm>
          <a:prstGeom prst="rect">
            <a:avLst/>
          </a:prstGeom>
          <a:noFill/>
          <a:ln/>
        </p:spPr>
        <p:txBody>
          <a:bodyPr wrap="square" lIns="0" tIns="0" rIns="0" bIns="0" rtlCol="0" anchor="ctr"/>
          <a:lstStyle/>
          <a:p>
            <a:pPr marL="0" indent="0">
              <a:buNone/>
            </a:pPr>
            <a:r>
              <a:rPr lang="en-US" sz="900" b="1" kern="0" spc="200" dirty="0">
                <a:solidFill>
                  <a:srgbClr val="00B4D8"/>
                </a:solidFill>
                <a:latin typeface="Trebuchet MS" pitchFamily="34" charset="0"/>
                <a:ea typeface="Trebuchet MS" pitchFamily="34" charset="-122"/>
                <a:cs typeface="Trebuchet MS" pitchFamily="34" charset="-120"/>
              </a:rPr>
              <a:t>SEKCJA 3 | DOBÓR METODY</a:t>
            </a:r>
            <a:endParaRPr lang="en-US" sz="900" dirty="0"/>
          </a:p>
        </p:txBody>
      </p:sp>
      <p:sp>
        <p:nvSpPr>
          <p:cNvPr id="5" name="Text 3"/>
          <p:cNvSpPr/>
          <p:nvPr/>
        </p:nvSpPr>
        <p:spPr>
          <a:xfrm>
            <a:off x="228600" y="274320"/>
            <a:ext cx="8686800" cy="594360"/>
          </a:xfrm>
          <a:prstGeom prst="rect">
            <a:avLst/>
          </a:prstGeom>
          <a:noFill/>
          <a:ln/>
        </p:spPr>
        <p:txBody>
          <a:bodyPr wrap="square" lIns="0" tIns="0" rIns="0" bIns="0" rtlCol="0" anchor="ctr"/>
          <a:lstStyle/>
          <a:p>
            <a:pPr marL="0" indent="0">
              <a:buNone/>
            </a:pPr>
            <a:r>
              <a:rPr lang="en-US" sz="2800" b="1" dirty="0">
                <a:solidFill>
                  <a:srgbClr val="FFFFFF"/>
                </a:solidFill>
                <a:latin typeface="Trebuchet MS" pitchFamily="34" charset="0"/>
                <a:ea typeface="Trebuchet MS" pitchFamily="34" charset="-122"/>
                <a:cs typeface="Trebuchet MS" pitchFamily="34" charset="-120"/>
              </a:rPr>
              <a:t>Dobór metody lokalizacji do zadania</a:t>
            </a:r>
            <a:endParaRPr lang="en-US" sz="2800" dirty="0"/>
          </a:p>
        </p:txBody>
      </p:sp>
      <p:grpSp>
        <p:nvGrpSpPr>
          <p:cNvPr id="30" name="Grupa 29"/>
          <p:cNvGrpSpPr/>
          <p:nvPr/>
        </p:nvGrpSpPr>
        <p:grpSpPr>
          <a:xfrm>
            <a:off x="274320" y="1090101"/>
            <a:ext cx="8641080" cy="2847109"/>
            <a:chOff x="274320" y="1143000"/>
            <a:chExt cx="8412480" cy="3520440"/>
          </a:xfrm>
        </p:grpSpPr>
        <p:sp>
          <p:nvSpPr>
            <p:cNvPr id="6" name="Shape 4"/>
            <p:cNvSpPr/>
            <p:nvPr/>
          </p:nvSpPr>
          <p:spPr>
            <a:xfrm>
              <a:off x="274320" y="1143000"/>
              <a:ext cx="2651760" cy="1691640"/>
            </a:xfrm>
            <a:prstGeom prst="rect">
              <a:avLst/>
            </a:prstGeom>
            <a:solidFill>
              <a:srgbClr val="FFFFFF"/>
            </a:solidFill>
            <a:ln w="12700">
              <a:solidFill>
                <a:srgbClr val="E2EBF3"/>
              </a:solidFill>
              <a:prstDash val="solid"/>
            </a:ln>
            <a:effectLst>
              <a:outerShdw blurRad="76200" dist="25400" dir="8100000" algn="bl" rotWithShape="0">
                <a:srgbClr val="000000">
                  <a:alpha val="12000"/>
                </a:srgbClr>
              </a:outerShdw>
            </a:effectLst>
          </p:spPr>
        </p:sp>
        <p:sp>
          <p:nvSpPr>
            <p:cNvPr id="7" name="Shape 5"/>
            <p:cNvSpPr/>
            <p:nvPr/>
          </p:nvSpPr>
          <p:spPr>
            <a:xfrm>
              <a:off x="274320" y="1143000"/>
              <a:ext cx="2651760" cy="54864"/>
            </a:xfrm>
            <a:prstGeom prst="rect">
              <a:avLst/>
            </a:prstGeom>
            <a:solidFill>
              <a:srgbClr val="00B4D8"/>
            </a:solidFill>
            <a:ln w="12700">
              <a:solidFill>
                <a:srgbClr val="00B4D8"/>
              </a:solidFill>
              <a:prstDash val="solid"/>
            </a:ln>
          </p:spPr>
        </p:sp>
        <p:sp>
          <p:nvSpPr>
            <p:cNvPr id="8" name="Text 6"/>
            <p:cNvSpPr/>
            <p:nvPr/>
          </p:nvSpPr>
          <p:spPr>
            <a:xfrm>
              <a:off x="384048" y="1234441"/>
              <a:ext cx="2432304" cy="376275"/>
            </a:xfrm>
            <a:prstGeom prst="rect">
              <a:avLst/>
            </a:prstGeom>
            <a:noFill/>
            <a:ln/>
          </p:spPr>
          <p:txBody>
            <a:bodyPr wrap="square" lIns="0" tIns="0" rIns="0" bIns="0" rtlCol="0" anchor="ctr"/>
            <a:lstStyle/>
            <a:p>
              <a:pPr marL="0" indent="0" algn="ctr">
                <a:buNone/>
              </a:pPr>
              <a:r>
                <a:rPr lang="en-US" sz="2000" b="1" spc="-40" dirty="0">
                  <a:solidFill>
                    <a:srgbClr val="0D1B2A"/>
                  </a:solidFill>
                  <a:latin typeface="Trebuchet MS" pitchFamily="34" charset="0"/>
                  <a:ea typeface="Trebuchet MS" pitchFamily="34" charset="-122"/>
                  <a:cs typeface="Trebuchet MS" pitchFamily="34" charset="-120"/>
                </a:rPr>
                <a:t>Laboratorium</a:t>
              </a:r>
              <a:endParaRPr lang="en-US" sz="2000" spc="-40" dirty="0"/>
            </a:p>
          </p:txBody>
        </p:sp>
        <p:sp>
          <p:nvSpPr>
            <p:cNvPr id="9" name="Text 7"/>
            <p:cNvSpPr/>
            <p:nvPr/>
          </p:nvSpPr>
          <p:spPr>
            <a:xfrm>
              <a:off x="384048" y="1797424"/>
              <a:ext cx="2432304" cy="930402"/>
            </a:xfrm>
            <a:prstGeom prst="rect">
              <a:avLst/>
            </a:prstGeom>
            <a:noFill/>
            <a:ln/>
          </p:spPr>
          <p:txBody>
            <a:bodyPr wrap="square" lIns="0" tIns="0" rIns="0" bIns="0" rtlCol="0" anchor="ctr"/>
            <a:lstStyle/>
            <a:p>
              <a:pPr marL="0" indent="0" algn="ctr">
                <a:buNone/>
              </a:pPr>
              <a:r>
                <a:rPr lang="en-US" sz="1500" spc="-80" dirty="0">
                  <a:solidFill>
                    <a:srgbClr val="475569"/>
                  </a:solidFill>
                  <a:latin typeface="Calibri" pitchFamily="34" charset="0"/>
                  <a:ea typeface="Calibri" pitchFamily="34" charset="-122"/>
                  <a:cs typeface="Calibri" pitchFamily="34" charset="-120"/>
                </a:rPr>
                <a:t>Znana, statyczna mapa; AMCL </a:t>
              </a:r>
              <a:r>
                <a:rPr lang="pl-PL" sz="1500" spc="-80" dirty="0" smtClean="0">
                  <a:solidFill>
                    <a:srgbClr val="475569"/>
                  </a:solidFill>
                  <a:latin typeface="Calibri" pitchFamily="34" charset="0"/>
                  <a:ea typeface="Calibri" pitchFamily="34" charset="-122"/>
                  <a:cs typeface="Calibri" pitchFamily="34" charset="-120"/>
                </a:rPr>
                <a:t/>
              </a:r>
              <a:br>
                <a:rPr lang="pl-PL" sz="1500" spc="-80" dirty="0" smtClean="0">
                  <a:solidFill>
                    <a:srgbClr val="475569"/>
                  </a:solidFill>
                  <a:latin typeface="Calibri" pitchFamily="34" charset="0"/>
                  <a:ea typeface="Calibri" pitchFamily="34" charset="-122"/>
                  <a:cs typeface="Calibri" pitchFamily="34" charset="-120"/>
                </a:rPr>
              </a:br>
              <a:r>
                <a:rPr lang="en-US" sz="1500" spc="-80" dirty="0" smtClean="0">
                  <a:solidFill>
                    <a:srgbClr val="475569"/>
                  </a:solidFill>
                  <a:latin typeface="Calibri" pitchFamily="34" charset="0"/>
                  <a:ea typeface="Calibri" pitchFamily="34" charset="-122"/>
                  <a:cs typeface="Calibri" pitchFamily="34" charset="-120"/>
                </a:rPr>
                <a:t>z </a:t>
              </a:r>
              <a:r>
                <a:rPr lang="en-US" sz="1500" spc="-80" dirty="0">
                  <a:solidFill>
                    <a:srgbClr val="475569"/>
                  </a:solidFill>
                  <a:latin typeface="Calibri" pitchFamily="34" charset="0"/>
                  <a:ea typeface="Calibri" pitchFamily="34" charset="-122"/>
                  <a:cs typeface="Calibri" pitchFamily="34" charset="-120"/>
                </a:rPr>
                <a:t>LiDAR-em 2D wystarczy; opcjonalnie znaczniki ArUco</a:t>
              </a:r>
              <a:endParaRPr lang="en-US" sz="1500" spc="-80" dirty="0"/>
            </a:p>
          </p:txBody>
        </p:sp>
        <p:sp>
          <p:nvSpPr>
            <p:cNvPr id="10" name="Shape 8"/>
            <p:cNvSpPr/>
            <p:nvPr/>
          </p:nvSpPr>
          <p:spPr>
            <a:xfrm>
              <a:off x="3154680" y="1143000"/>
              <a:ext cx="2651760" cy="1691640"/>
            </a:xfrm>
            <a:prstGeom prst="rect">
              <a:avLst/>
            </a:prstGeom>
            <a:solidFill>
              <a:srgbClr val="FFFFFF"/>
            </a:solidFill>
            <a:ln w="12700">
              <a:solidFill>
                <a:srgbClr val="E2EBF3"/>
              </a:solidFill>
              <a:prstDash val="solid"/>
            </a:ln>
            <a:effectLst>
              <a:outerShdw blurRad="76200" dist="25400" dir="8100000" algn="bl" rotWithShape="0">
                <a:srgbClr val="000000">
                  <a:alpha val="12000"/>
                </a:srgbClr>
              </a:outerShdw>
            </a:effectLst>
          </p:spPr>
        </p:sp>
        <p:sp>
          <p:nvSpPr>
            <p:cNvPr id="11" name="Shape 9"/>
            <p:cNvSpPr/>
            <p:nvPr/>
          </p:nvSpPr>
          <p:spPr>
            <a:xfrm>
              <a:off x="3154680" y="1143000"/>
              <a:ext cx="2651760" cy="54864"/>
            </a:xfrm>
            <a:prstGeom prst="rect">
              <a:avLst/>
            </a:prstGeom>
            <a:solidFill>
              <a:srgbClr val="0077A8"/>
            </a:solidFill>
            <a:ln w="12700">
              <a:solidFill>
                <a:srgbClr val="0077A8"/>
              </a:solidFill>
              <a:prstDash val="solid"/>
            </a:ln>
          </p:spPr>
        </p:sp>
        <p:sp>
          <p:nvSpPr>
            <p:cNvPr id="12" name="Text 10"/>
            <p:cNvSpPr/>
            <p:nvPr/>
          </p:nvSpPr>
          <p:spPr>
            <a:xfrm>
              <a:off x="3264408" y="1234441"/>
              <a:ext cx="2432304" cy="376275"/>
            </a:xfrm>
            <a:prstGeom prst="rect">
              <a:avLst/>
            </a:prstGeom>
            <a:noFill/>
            <a:ln/>
          </p:spPr>
          <p:txBody>
            <a:bodyPr wrap="square" lIns="0" tIns="0" rIns="0" bIns="0" rtlCol="0" anchor="ctr"/>
            <a:lstStyle/>
            <a:p>
              <a:pPr marL="0" indent="0" algn="ctr">
                <a:buNone/>
              </a:pPr>
              <a:r>
                <a:rPr lang="en-US" sz="2000" b="1" spc="-40" dirty="0">
                  <a:solidFill>
                    <a:srgbClr val="0D1B2A"/>
                  </a:solidFill>
                  <a:latin typeface="Trebuchet MS" pitchFamily="34" charset="0"/>
                  <a:ea typeface="Trebuchet MS" pitchFamily="34" charset="-122"/>
                  <a:cs typeface="Trebuchet MS" pitchFamily="34" charset="-120"/>
                </a:rPr>
                <a:t>Biuro</a:t>
              </a:r>
              <a:endParaRPr lang="en-US" sz="2000" spc="-40" dirty="0"/>
            </a:p>
          </p:txBody>
        </p:sp>
        <p:sp>
          <p:nvSpPr>
            <p:cNvPr id="13" name="Text 11"/>
            <p:cNvSpPr/>
            <p:nvPr/>
          </p:nvSpPr>
          <p:spPr>
            <a:xfrm>
              <a:off x="3264408" y="1797424"/>
              <a:ext cx="2432304" cy="930402"/>
            </a:xfrm>
            <a:prstGeom prst="rect">
              <a:avLst/>
            </a:prstGeom>
            <a:noFill/>
            <a:ln/>
          </p:spPr>
          <p:txBody>
            <a:bodyPr wrap="square" lIns="0" tIns="0" rIns="0" bIns="0" rtlCol="0" anchor="ctr"/>
            <a:lstStyle/>
            <a:p>
              <a:pPr marL="0" indent="0" algn="ctr">
                <a:buNone/>
              </a:pPr>
              <a:r>
                <a:rPr lang="en-US" sz="1500" spc="-80" dirty="0">
                  <a:solidFill>
                    <a:srgbClr val="475569"/>
                  </a:solidFill>
                  <a:latin typeface="Calibri" pitchFamily="34" charset="0"/>
                  <a:ea typeface="Calibri" pitchFamily="34" charset="-122"/>
                  <a:cs typeface="Calibri" pitchFamily="34" charset="-120"/>
                </a:rPr>
                <a:t>Zmienna mapa (meble); </a:t>
              </a:r>
              <a:r>
                <a:rPr lang="pl-PL" sz="1500" spc="-80" dirty="0" smtClean="0">
                  <a:solidFill>
                    <a:srgbClr val="475569"/>
                  </a:solidFill>
                  <a:latin typeface="Calibri" pitchFamily="34" charset="0"/>
                  <a:ea typeface="Calibri" pitchFamily="34" charset="-122"/>
                  <a:cs typeface="Calibri" pitchFamily="34" charset="-120"/>
                </a:rPr>
                <a:t/>
              </a:r>
              <a:br>
                <a:rPr lang="pl-PL" sz="1500" spc="-80" dirty="0" smtClean="0">
                  <a:solidFill>
                    <a:srgbClr val="475569"/>
                  </a:solidFill>
                  <a:latin typeface="Calibri" pitchFamily="34" charset="0"/>
                  <a:ea typeface="Calibri" pitchFamily="34" charset="-122"/>
                  <a:cs typeface="Calibri" pitchFamily="34" charset="-120"/>
                </a:rPr>
              </a:br>
              <a:r>
                <a:rPr lang="en-US" sz="1500" spc="-80" dirty="0" smtClean="0">
                  <a:solidFill>
                    <a:srgbClr val="475569"/>
                  </a:solidFill>
                  <a:latin typeface="Calibri" pitchFamily="34" charset="0"/>
                  <a:ea typeface="Calibri" pitchFamily="34" charset="-122"/>
                  <a:cs typeface="Calibri" pitchFamily="34" charset="-120"/>
                </a:rPr>
                <a:t>SLAM </a:t>
              </a:r>
              <a:r>
                <a:rPr lang="en-US" sz="1500" spc="-80" dirty="0">
                  <a:solidFill>
                    <a:srgbClr val="475569"/>
                  </a:solidFill>
                  <a:latin typeface="Calibri" pitchFamily="34" charset="0"/>
                  <a:ea typeface="Calibri" pitchFamily="34" charset="-122"/>
                  <a:cs typeface="Calibri" pitchFamily="34" charset="-120"/>
                </a:rPr>
                <a:t>online (Cartographer) </a:t>
              </a:r>
              <a:r>
                <a:rPr lang="pl-PL" sz="1500" spc="-80" dirty="0" smtClean="0">
                  <a:solidFill>
                    <a:srgbClr val="475569"/>
                  </a:solidFill>
                  <a:latin typeface="Calibri" pitchFamily="34" charset="0"/>
                  <a:ea typeface="Calibri" pitchFamily="34" charset="-122"/>
                  <a:cs typeface="Calibri" pitchFamily="34" charset="-120"/>
                </a:rPr>
                <a:t/>
              </a:r>
              <a:br>
                <a:rPr lang="pl-PL" sz="1500" spc="-80" dirty="0" smtClean="0">
                  <a:solidFill>
                    <a:srgbClr val="475569"/>
                  </a:solidFill>
                  <a:latin typeface="Calibri" pitchFamily="34" charset="0"/>
                  <a:ea typeface="Calibri" pitchFamily="34" charset="-122"/>
                  <a:cs typeface="Calibri" pitchFamily="34" charset="-120"/>
                </a:rPr>
              </a:br>
              <a:r>
                <a:rPr lang="en-US" sz="1500" spc="-80" dirty="0" smtClean="0">
                  <a:solidFill>
                    <a:srgbClr val="475569"/>
                  </a:solidFill>
                  <a:latin typeface="Calibri" pitchFamily="34" charset="0"/>
                  <a:ea typeface="Calibri" pitchFamily="34" charset="-122"/>
                  <a:cs typeface="Calibri" pitchFamily="34" charset="-120"/>
                </a:rPr>
                <a:t>+ </a:t>
              </a:r>
              <a:r>
                <a:rPr lang="en-US" sz="1500" spc="-80" dirty="0">
                  <a:solidFill>
                    <a:srgbClr val="475569"/>
                  </a:solidFill>
                  <a:latin typeface="Calibri" pitchFamily="34" charset="0"/>
                  <a:ea typeface="Calibri" pitchFamily="34" charset="-122"/>
                  <a:cs typeface="Calibri" pitchFamily="34" charset="-120"/>
                </a:rPr>
                <a:t>MCL; UWB jako wsparcie</a:t>
              </a:r>
              <a:endParaRPr lang="en-US" sz="1500" spc="-80" dirty="0"/>
            </a:p>
          </p:txBody>
        </p:sp>
        <p:sp>
          <p:nvSpPr>
            <p:cNvPr id="14" name="Shape 12"/>
            <p:cNvSpPr/>
            <p:nvPr/>
          </p:nvSpPr>
          <p:spPr>
            <a:xfrm>
              <a:off x="6035040" y="1143000"/>
              <a:ext cx="2651760" cy="1691640"/>
            </a:xfrm>
            <a:prstGeom prst="rect">
              <a:avLst/>
            </a:prstGeom>
            <a:solidFill>
              <a:srgbClr val="FFFFFF"/>
            </a:solidFill>
            <a:ln w="12700">
              <a:solidFill>
                <a:srgbClr val="E2EBF3"/>
              </a:solidFill>
              <a:prstDash val="solid"/>
            </a:ln>
            <a:effectLst>
              <a:outerShdw blurRad="76200" dist="25400" dir="8100000" algn="bl" rotWithShape="0">
                <a:srgbClr val="000000">
                  <a:alpha val="12000"/>
                </a:srgbClr>
              </a:outerShdw>
            </a:effectLst>
          </p:spPr>
        </p:sp>
        <p:sp>
          <p:nvSpPr>
            <p:cNvPr id="15" name="Shape 13"/>
            <p:cNvSpPr/>
            <p:nvPr/>
          </p:nvSpPr>
          <p:spPr>
            <a:xfrm>
              <a:off x="6035040" y="1143000"/>
              <a:ext cx="2651760" cy="54864"/>
            </a:xfrm>
            <a:prstGeom prst="rect">
              <a:avLst/>
            </a:prstGeom>
            <a:solidFill>
              <a:srgbClr val="0077A8"/>
            </a:solidFill>
            <a:ln w="12700">
              <a:solidFill>
                <a:srgbClr val="0077A8"/>
              </a:solidFill>
              <a:prstDash val="solid"/>
            </a:ln>
          </p:spPr>
        </p:sp>
        <p:sp>
          <p:nvSpPr>
            <p:cNvPr id="16" name="Text 14"/>
            <p:cNvSpPr/>
            <p:nvPr/>
          </p:nvSpPr>
          <p:spPr>
            <a:xfrm>
              <a:off x="6144768" y="1234441"/>
              <a:ext cx="2432304" cy="376275"/>
            </a:xfrm>
            <a:prstGeom prst="rect">
              <a:avLst/>
            </a:prstGeom>
            <a:noFill/>
            <a:ln/>
          </p:spPr>
          <p:txBody>
            <a:bodyPr wrap="square" lIns="0" tIns="0" rIns="0" bIns="0" rtlCol="0" anchor="ctr"/>
            <a:lstStyle/>
            <a:p>
              <a:pPr marL="0" indent="0" algn="ctr">
                <a:buNone/>
              </a:pPr>
              <a:r>
                <a:rPr lang="en-US" sz="2000" b="1" spc="-40" dirty="0">
                  <a:solidFill>
                    <a:srgbClr val="0D1B2A"/>
                  </a:solidFill>
                  <a:latin typeface="Trebuchet MS" pitchFamily="34" charset="0"/>
                  <a:ea typeface="Trebuchet MS" pitchFamily="34" charset="-122"/>
                  <a:cs typeface="Trebuchet MS" pitchFamily="34" charset="-120"/>
                </a:rPr>
                <a:t>Magazyn</a:t>
              </a:r>
              <a:endParaRPr lang="en-US" sz="2000" spc="-40" dirty="0"/>
            </a:p>
          </p:txBody>
        </p:sp>
        <p:sp>
          <p:nvSpPr>
            <p:cNvPr id="17" name="Text 15"/>
            <p:cNvSpPr/>
            <p:nvPr/>
          </p:nvSpPr>
          <p:spPr>
            <a:xfrm>
              <a:off x="6144768" y="1797424"/>
              <a:ext cx="2432304" cy="930402"/>
            </a:xfrm>
            <a:prstGeom prst="rect">
              <a:avLst/>
            </a:prstGeom>
            <a:noFill/>
            <a:ln/>
          </p:spPr>
          <p:txBody>
            <a:bodyPr wrap="square" lIns="0" tIns="0" rIns="0" bIns="0" rtlCol="0" anchor="ctr"/>
            <a:lstStyle/>
            <a:p>
              <a:pPr marL="0" indent="0" algn="ctr">
                <a:buNone/>
              </a:pPr>
              <a:r>
                <a:rPr lang="en-US" sz="1500" spc="-80" dirty="0">
                  <a:solidFill>
                    <a:srgbClr val="475569"/>
                  </a:solidFill>
                  <a:latin typeface="Calibri" pitchFamily="34" charset="0"/>
                  <a:ea typeface="Calibri" pitchFamily="34" charset="-122"/>
                  <a:cs typeface="Calibri" pitchFamily="34" charset="-120"/>
                </a:rPr>
                <a:t>Pojazdy AGV i regały; </a:t>
              </a:r>
              <a:r>
                <a:rPr lang="pl-PL" sz="1500" spc="-80" dirty="0" smtClean="0">
                  <a:solidFill>
                    <a:srgbClr val="475569"/>
                  </a:solidFill>
                  <a:latin typeface="Calibri" pitchFamily="34" charset="0"/>
                  <a:ea typeface="Calibri" pitchFamily="34" charset="-122"/>
                  <a:cs typeface="Calibri" pitchFamily="34" charset="-120"/>
                </a:rPr>
                <a:t/>
              </a:r>
              <a:br>
                <a:rPr lang="pl-PL" sz="1500" spc="-80" dirty="0" smtClean="0">
                  <a:solidFill>
                    <a:srgbClr val="475569"/>
                  </a:solidFill>
                  <a:latin typeface="Calibri" pitchFamily="34" charset="0"/>
                  <a:ea typeface="Calibri" pitchFamily="34" charset="-122"/>
                  <a:cs typeface="Calibri" pitchFamily="34" charset="-120"/>
                </a:rPr>
              </a:br>
              <a:r>
                <a:rPr lang="en-US" sz="1500" spc="-80" dirty="0" smtClean="0">
                  <a:solidFill>
                    <a:srgbClr val="475569"/>
                  </a:solidFill>
                  <a:latin typeface="Calibri" pitchFamily="34" charset="0"/>
                  <a:ea typeface="Calibri" pitchFamily="34" charset="-122"/>
                  <a:cs typeface="Calibri" pitchFamily="34" charset="-120"/>
                </a:rPr>
                <a:t>Visual </a:t>
              </a:r>
              <a:r>
                <a:rPr lang="en-US" sz="1500" spc="-80" dirty="0">
                  <a:solidFill>
                    <a:srgbClr val="475569"/>
                  </a:solidFill>
                  <a:latin typeface="Calibri" pitchFamily="34" charset="0"/>
                  <a:ea typeface="Calibri" pitchFamily="34" charset="-122"/>
                  <a:cs typeface="Calibri" pitchFamily="34" charset="-120"/>
                </a:rPr>
                <a:t>SLAM z kamerami panoramicznymi; QR na półkach</a:t>
              </a:r>
              <a:endParaRPr lang="en-US" sz="1500" spc="-80" dirty="0"/>
            </a:p>
          </p:txBody>
        </p:sp>
        <p:sp>
          <p:nvSpPr>
            <p:cNvPr id="18" name="Shape 16"/>
            <p:cNvSpPr/>
            <p:nvPr/>
          </p:nvSpPr>
          <p:spPr>
            <a:xfrm>
              <a:off x="274320" y="2971800"/>
              <a:ext cx="2651760" cy="1691640"/>
            </a:xfrm>
            <a:prstGeom prst="rect">
              <a:avLst/>
            </a:prstGeom>
            <a:solidFill>
              <a:srgbClr val="FFFFFF"/>
            </a:solidFill>
            <a:ln w="12700">
              <a:solidFill>
                <a:srgbClr val="E2EBF3"/>
              </a:solidFill>
              <a:prstDash val="solid"/>
            </a:ln>
            <a:effectLst>
              <a:outerShdw blurRad="76200" dist="25400" dir="8100000" algn="bl" rotWithShape="0">
                <a:srgbClr val="000000">
                  <a:alpha val="12000"/>
                </a:srgbClr>
              </a:outerShdw>
            </a:effectLst>
          </p:spPr>
        </p:sp>
        <p:sp>
          <p:nvSpPr>
            <p:cNvPr id="19" name="Shape 17"/>
            <p:cNvSpPr/>
            <p:nvPr/>
          </p:nvSpPr>
          <p:spPr>
            <a:xfrm>
              <a:off x="274320" y="2971800"/>
              <a:ext cx="2651760" cy="54864"/>
            </a:xfrm>
            <a:prstGeom prst="rect">
              <a:avLst/>
            </a:prstGeom>
            <a:solidFill>
              <a:srgbClr val="006490"/>
            </a:solidFill>
            <a:ln w="12700">
              <a:solidFill>
                <a:srgbClr val="006490"/>
              </a:solidFill>
              <a:prstDash val="solid"/>
            </a:ln>
          </p:spPr>
        </p:sp>
        <p:sp>
          <p:nvSpPr>
            <p:cNvPr id="20" name="Text 18"/>
            <p:cNvSpPr/>
            <p:nvPr/>
          </p:nvSpPr>
          <p:spPr>
            <a:xfrm>
              <a:off x="384048" y="3063241"/>
              <a:ext cx="2432304" cy="376275"/>
            </a:xfrm>
            <a:prstGeom prst="rect">
              <a:avLst/>
            </a:prstGeom>
            <a:noFill/>
            <a:ln/>
          </p:spPr>
          <p:txBody>
            <a:bodyPr wrap="square" lIns="0" tIns="0" rIns="0" bIns="0" rtlCol="0" anchor="ctr"/>
            <a:lstStyle/>
            <a:p>
              <a:pPr marL="0" indent="0" algn="ctr">
                <a:buNone/>
              </a:pPr>
              <a:r>
                <a:rPr lang="en-US" sz="2000" b="1" spc="-40" dirty="0">
                  <a:solidFill>
                    <a:srgbClr val="0D1B2A"/>
                  </a:solidFill>
                  <a:latin typeface="Trebuchet MS" pitchFamily="34" charset="0"/>
                  <a:ea typeface="Trebuchet MS" pitchFamily="34" charset="-122"/>
                  <a:cs typeface="Trebuchet MS" pitchFamily="34" charset="-120"/>
                </a:rPr>
                <a:t>Schody</a:t>
              </a:r>
              <a:endParaRPr lang="en-US" sz="2000" spc="-40" dirty="0"/>
            </a:p>
          </p:txBody>
        </p:sp>
        <p:sp>
          <p:nvSpPr>
            <p:cNvPr id="21" name="Text 19"/>
            <p:cNvSpPr/>
            <p:nvPr/>
          </p:nvSpPr>
          <p:spPr>
            <a:xfrm>
              <a:off x="384048" y="3626224"/>
              <a:ext cx="2432304" cy="930402"/>
            </a:xfrm>
            <a:prstGeom prst="rect">
              <a:avLst/>
            </a:prstGeom>
            <a:noFill/>
            <a:ln/>
          </p:spPr>
          <p:txBody>
            <a:bodyPr wrap="square" lIns="0" tIns="0" rIns="0" bIns="0" rtlCol="0" anchor="ctr"/>
            <a:lstStyle/>
            <a:p>
              <a:pPr marL="0" indent="0" algn="ctr">
                <a:buNone/>
              </a:pPr>
              <a:r>
                <a:rPr lang="en-US" sz="1500" spc="-80" dirty="0">
                  <a:solidFill>
                    <a:srgbClr val="475569"/>
                  </a:solidFill>
                  <a:latin typeface="Calibri" pitchFamily="34" charset="0"/>
                  <a:ea typeface="Calibri" pitchFamily="34" charset="-122"/>
                  <a:cs typeface="Calibri" pitchFamily="34" charset="-120"/>
                </a:rPr>
                <a:t>3D LiDAR SLAM (LeGO-LOAM) lub RGB-D SLAM (RTAB-Map); height map aktywna</a:t>
              </a:r>
              <a:endParaRPr lang="en-US" sz="1500" spc="-80" dirty="0"/>
            </a:p>
          </p:txBody>
        </p:sp>
        <p:sp>
          <p:nvSpPr>
            <p:cNvPr id="22" name="Shape 20"/>
            <p:cNvSpPr/>
            <p:nvPr/>
          </p:nvSpPr>
          <p:spPr>
            <a:xfrm>
              <a:off x="3154680" y="2971800"/>
              <a:ext cx="2651760" cy="1691640"/>
            </a:xfrm>
            <a:prstGeom prst="rect">
              <a:avLst/>
            </a:prstGeom>
            <a:solidFill>
              <a:srgbClr val="FFFFFF"/>
            </a:solidFill>
            <a:ln w="12700">
              <a:solidFill>
                <a:srgbClr val="E2EBF3"/>
              </a:solidFill>
              <a:prstDash val="solid"/>
            </a:ln>
            <a:effectLst>
              <a:outerShdw blurRad="76200" dist="25400" dir="8100000" algn="bl" rotWithShape="0">
                <a:srgbClr val="000000">
                  <a:alpha val="12000"/>
                </a:srgbClr>
              </a:outerShdw>
            </a:effectLst>
          </p:spPr>
        </p:sp>
        <p:sp>
          <p:nvSpPr>
            <p:cNvPr id="23" name="Shape 21"/>
            <p:cNvSpPr/>
            <p:nvPr/>
          </p:nvSpPr>
          <p:spPr>
            <a:xfrm>
              <a:off x="3154680" y="2971800"/>
              <a:ext cx="2651760" cy="54864"/>
            </a:xfrm>
            <a:prstGeom prst="rect">
              <a:avLst/>
            </a:prstGeom>
            <a:solidFill>
              <a:srgbClr val="1A3550"/>
            </a:solidFill>
            <a:ln w="12700">
              <a:solidFill>
                <a:srgbClr val="1A3550"/>
              </a:solidFill>
              <a:prstDash val="solid"/>
            </a:ln>
          </p:spPr>
        </p:sp>
        <p:sp>
          <p:nvSpPr>
            <p:cNvPr id="24" name="Text 22"/>
            <p:cNvSpPr/>
            <p:nvPr/>
          </p:nvSpPr>
          <p:spPr>
            <a:xfrm>
              <a:off x="3213608" y="3075941"/>
              <a:ext cx="2539492" cy="376275"/>
            </a:xfrm>
            <a:prstGeom prst="rect">
              <a:avLst/>
            </a:prstGeom>
            <a:noFill/>
            <a:ln/>
          </p:spPr>
          <p:txBody>
            <a:bodyPr wrap="square" lIns="0" tIns="0" rIns="0" bIns="0" rtlCol="0" anchor="ctr"/>
            <a:lstStyle/>
            <a:p>
              <a:pPr algn="ctr"/>
              <a:r>
                <a:rPr lang="pl-PL" b="1" spc="-60" dirty="0" err="1" smtClean="0">
                  <a:solidFill>
                    <a:srgbClr val="0D1B2A"/>
                  </a:solidFill>
                  <a:latin typeface="Trebuchet MS" pitchFamily="34" charset="0"/>
                  <a:ea typeface="Trebuchet MS" pitchFamily="34" charset="-122"/>
                  <a:cs typeface="Trebuchet MS" pitchFamily="34" charset="-120"/>
                </a:rPr>
                <a:t>D</a:t>
              </a:r>
              <a:r>
                <a:rPr lang="en-US" b="1" spc="-60" dirty="0" err="1" smtClean="0">
                  <a:solidFill>
                    <a:srgbClr val="0D1B2A"/>
                  </a:solidFill>
                  <a:latin typeface="Trebuchet MS" pitchFamily="34" charset="0"/>
                  <a:ea typeface="Trebuchet MS" pitchFamily="34" charset="-122"/>
                  <a:cs typeface="Trebuchet MS" pitchFamily="34" charset="-120"/>
                </a:rPr>
                <a:t>ynamiczne</a:t>
              </a:r>
              <a:r>
                <a:rPr lang="en-US" b="1" spc="-60" dirty="0" smtClean="0">
                  <a:solidFill>
                    <a:srgbClr val="0D1B2A"/>
                  </a:solidFill>
                  <a:latin typeface="Trebuchet MS" pitchFamily="34" charset="0"/>
                  <a:ea typeface="Trebuchet MS" pitchFamily="34" charset="-122"/>
                  <a:cs typeface="Trebuchet MS" pitchFamily="34" charset="-120"/>
                </a:rPr>
                <a:t> </a:t>
              </a:r>
              <a:r>
                <a:rPr lang="pl-PL" b="1" spc="-60" dirty="0" smtClean="0">
                  <a:solidFill>
                    <a:srgbClr val="0D1B2A"/>
                  </a:solidFill>
                  <a:latin typeface="Trebuchet MS" pitchFamily="34" charset="0"/>
                  <a:ea typeface="Trebuchet MS" pitchFamily="34" charset="-122"/>
                  <a:cs typeface="Trebuchet MS" pitchFamily="34" charset="-120"/>
                </a:rPr>
                <a:t>o</a:t>
              </a:r>
              <a:r>
                <a:rPr lang="en-US" b="1" spc="-60" dirty="0" err="1" smtClean="0">
                  <a:solidFill>
                    <a:srgbClr val="0D1B2A"/>
                  </a:solidFill>
                  <a:latin typeface="Trebuchet MS" pitchFamily="34" charset="0"/>
                  <a:ea typeface="Trebuchet MS" pitchFamily="34" charset="-122"/>
                  <a:cs typeface="Trebuchet MS" pitchFamily="34" charset="-120"/>
                </a:rPr>
                <a:t>toczenie</a:t>
              </a:r>
              <a:endParaRPr lang="en-US" spc="-60" dirty="0"/>
            </a:p>
          </p:txBody>
        </p:sp>
        <p:sp>
          <p:nvSpPr>
            <p:cNvPr id="25" name="Text 23"/>
            <p:cNvSpPr/>
            <p:nvPr/>
          </p:nvSpPr>
          <p:spPr>
            <a:xfrm>
              <a:off x="3264408" y="3626224"/>
              <a:ext cx="2432304" cy="930402"/>
            </a:xfrm>
            <a:prstGeom prst="rect">
              <a:avLst/>
            </a:prstGeom>
            <a:noFill/>
            <a:ln/>
          </p:spPr>
          <p:txBody>
            <a:bodyPr wrap="square" lIns="0" tIns="0" rIns="0" bIns="0" rtlCol="0" anchor="ctr"/>
            <a:lstStyle/>
            <a:p>
              <a:pPr marL="0" indent="0" algn="ctr">
                <a:buNone/>
              </a:pPr>
              <a:r>
                <a:rPr lang="en-US" sz="1500" spc="-80" dirty="0">
                  <a:solidFill>
                    <a:srgbClr val="475569"/>
                  </a:solidFill>
                  <a:latin typeface="Calibri" pitchFamily="34" charset="0"/>
                  <a:ea typeface="Calibri" pitchFamily="34" charset="-122"/>
                  <a:cs typeface="Calibri" pitchFamily="34" charset="-120"/>
                </a:rPr>
                <a:t>EKF + filtr cząsteczkowy; odrzucanie ruchomych obiektów ze skanów mapowania</a:t>
              </a:r>
              <a:endParaRPr lang="en-US" sz="1500" spc="-80" dirty="0"/>
            </a:p>
          </p:txBody>
        </p:sp>
        <p:sp>
          <p:nvSpPr>
            <p:cNvPr id="26" name="Shape 24"/>
            <p:cNvSpPr/>
            <p:nvPr/>
          </p:nvSpPr>
          <p:spPr>
            <a:xfrm>
              <a:off x="6035040" y="2971800"/>
              <a:ext cx="2651760" cy="1691640"/>
            </a:xfrm>
            <a:prstGeom prst="rect">
              <a:avLst/>
            </a:prstGeom>
            <a:solidFill>
              <a:srgbClr val="FFFFFF"/>
            </a:solidFill>
            <a:ln w="12700">
              <a:solidFill>
                <a:srgbClr val="E2EBF3"/>
              </a:solidFill>
              <a:prstDash val="solid"/>
            </a:ln>
            <a:effectLst>
              <a:outerShdw blurRad="76200" dist="25400" dir="8100000" algn="bl" rotWithShape="0">
                <a:srgbClr val="000000">
                  <a:alpha val="12000"/>
                </a:srgbClr>
              </a:outerShdw>
            </a:effectLst>
          </p:spPr>
        </p:sp>
        <p:sp>
          <p:nvSpPr>
            <p:cNvPr id="27" name="Shape 25"/>
            <p:cNvSpPr/>
            <p:nvPr/>
          </p:nvSpPr>
          <p:spPr>
            <a:xfrm>
              <a:off x="6035040" y="2971800"/>
              <a:ext cx="2651760" cy="54864"/>
            </a:xfrm>
            <a:prstGeom prst="rect">
              <a:avLst/>
            </a:prstGeom>
            <a:solidFill>
              <a:srgbClr val="F72585"/>
            </a:solidFill>
            <a:ln w="12700">
              <a:solidFill>
                <a:srgbClr val="F72585"/>
              </a:solidFill>
              <a:prstDash val="solid"/>
            </a:ln>
          </p:spPr>
        </p:sp>
        <p:sp>
          <p:nvSpPr>
            <p:cNvPr id="28" name="Text 26"/>
            <p:cNvSpPr/>
            <p:nvPr/>
          </p:nvSpPr>
          <p:spPr>
            <a:xfrm>
              <a:off x="6144768" y="3075941"/>
              <a:ext cx="2432304" cy="376275"/>
            </a:xfrm>
            <a:prstGeom prst="rect">
              <a:avLst/>
            </a:prstGeom>
            <a:noFill/>
            <a:ln/>
          </p:spPr>
          <p:txBody>
            <a:bodyPr wrap="square" lIns="0" tIns="0" rIns="0" bIns="0" rtlCol="0" anchor="ctr"/>
            <a:lstStyle/>
            <a:p>
              <a:pPr marL="0" indent="0" algn="ctr">
                <a:buNone/>
              </a:pPr>
              <a:r>
                <a:rPr lang="en-US" b="1" spc="-40" dirty="0" err="1" smtClean="0">
                  <a:solidFill>
                    <a:srgbClr val="0D1B2A"/>
                  </a:solidFill>
                  <a:latin typeface="Trebuchet MS" pitchFamily="34" charset="0"/>
                  <a:ea typeface="Trebuchet MS" pitchFamily="34" charset="-122"/>
                  <a:cs typeface="Trebuchet MS" pitchFamily="34" charset="-120"/>
                </a:rPr>
                <a:t>Zewnętrzne</a:t>
              </a:r>
              <a:r>
                <a:rPr lang="pl-PL" b="1" spc="-40" dirty="0" smtClean="0">
                  <a:solidFill>
                    <a:srgbClr val="0D1B2A"/>
                  </a:solidFill>
                  <a:latin typeface="Trebuchet MS" pitchFamily="34" charset="0"/>
                  <a:ea typeface="Trebuchet MS" pitchFamily="34" charset="-122"/>
                  <a:cs typeface="Trebuchet MS" pitchFamily="34" charset="-120"/>
                </a:rPr>
                <a:t> warunki</a:t>
              </a:r>
              <a:endParaRPr lang="en-US" spc="-40" dirty="0"/>
            </a:p>
          </p:txBody>
        </p:sp>
        <p:sp>
          <p:nvSpPr>
            <p:cNvPr id="29" name="Text 27"/>
            <p:cNvSpPr/>
            <p:nvPr/>
          </p:nvSpPr>
          <p:spPr>
            <a:xfrm>
              <a:off x="6062218" y="3626224"/>
              <a:ext cx="2599182" cy="930402"/>
            </a:xfrm>
            <a:prstGeom prst="rect">
              <a:avLst/>
            </a:prstGeom>
            <a:noFill/>
            <a:ln/>
          </p:spPr>
          <p:txBody>
            <a:bodyPr wrap="square" lIns="0" tIns="0" rIns="0" bIns="0" rtlCol="0" anchor="ctr"/>
            <a:lstStyle/>
            <a:p>
              <a:pPr marL="0" indent="0" algn="ctr">
                <a:buNone/>
              </a:pPr>
              <a:r>
                <a:rPr lang="en-US" sz="1500" spc="-80" dirty="0">
                  <a:solidFill>
                    <a:srgbClr val="475569"/>
                  </a:solidFill>
                  <a:latin typeface="Calibri" pitchFamily="34" charset="0"/>
                  <a:ea typeface="Calibri" pitchFamily="34" charset="-122"/>
                  <a:cs typeface="Calibri" pitchFamily="34" charset="-120"/>
                </a:rPr>
                <a:t>GPS + IMU (EKF) jako baza; </a:t>
              </a:r>
              <a:r>
                <a:rPr lang="pl-PL" sz="1500" spc="-80" dirty="0" smtClean="0">
                  <a:solidFill>
                    <a:srgbClr val="475569"/>
                  </a:solidFill>
                  <a:latin typeface="Calibri" pitchFamily="34" charset="0"/>
                  <a:ea typeface="Calibri" pitchFamily="34" charset="-122"/>
                  <a:cs typeface="Calibri" pitchFamily="34" charset="-120"/>
                </a:rPr>
                <a:t/>
              </a:r>
              <a:br>
                <a:rPr lang="pl-PL" sz="1500" spc="-80" dirty="0" smtClean="0">
                  <a:solidFill>
                    <a:srgbClr val="475569"/>
                  </a:solidFill>
                  <a:latin typeface="Calibri" pitchFamily="34" charset="0"/>
                  <a:ea typeface="Calibri" pitchFamily="34" charset="-122"/>
                  <a:cs typeface="Calibri" pitchFamily="34" charset="-120"/>
                </a:rPr>
              </a:br>
              <a:r>
                <a:rPr lang="en-US" sz="1500" spc="-80" dirty="0" smtClean="0">
                  <a:solidFill>
                    <a:srgbClr val="475569"/>
                  </a:solidFill>
                  <a:latin typeface="Calibri" pitchFamily="34" charset="0"/>
                  <a:ea typeface="Calibri" pitchFamily="34" charset="-122"/>
                  <a:cs typeface="Calibri" pitchFamily="34" charset="-120"/>
                </a:rPr>
                <a:t>LiDAR </a:t>
              </a:r>
              <a:r>
                <a:rPr lang="en-US" sz="1500" spc="-80" dirty="0">
                  <a:solidFill>
                    <a:srgbClr val="475569"/>
                  </a:solidFill>
                  <a:latin typeface="Calibri" pitchFamily="34" charset="0"/>
                  <a:ea typeface="Calibri" pitchFamily="34" charset="-122"/>
                  <a:cs typeface="Calibri" pitchFamily="34" charset="-120"/>
                </a:rPr>
                <a:t>do refinement; </a:t>
              </a:r>
              <a:r>
                <a:rPr lang="en-US" sz="1500" spc="-80" dirty="0" err="1" smtClean="0">
                  <a:solidFill>
                    <a:srgbClr val="475569"/>
                  </a:solidFill>
                  <a:latin typeface="Calibri" pitchFamily="34" charset="0"/>
                  <a:ea typeface="Calibri" pitchFamily="34" charset="-122"/>
                  <a:cs typeface="Calibri" pitchFamily="34" charset="-120"/>
                </a:rPr>
                <a:t>odporność</a:t>
              </a:r>
              <a:r>
                <a:rPr lang="en-US" sz="1500" spc="-80" dirty="0" smtClean="0">
                  <a:solidFill>
                    <a:srgbClr val="475569"/>
                  </a:solidFill>
                  <a:latin typeface="Calibri" pitchFamily="34" charset="0"/>
                  <a:ea typeface="Calibri" pitchFamily="34" charset="-122"/>
                  <a:cs typeface="Calibri" pitchFamily="34" charset="-120"/>
                </a:rPr>
                <a:t> </a:t>
              </a:r>
              <a:r>
                <a:rPr lang="pl-PL" sz="1500" spc="-80" dirty="0" smtClean="0">
                  <a:solidFill>
                    <a:srgbClr val="475569"/>
                  </a:solidFill>
                  <a:latin typeface="Calibri" pitchFamily="34" charset="0"/>
                  <a:ea typeface="Calibri" pitchFamily="34" charset="-122"/>
                  <a:cs typeface="Calibri" pitchFamily="34" charset="-120"/>
                </a:rPr>
                <a:t/>
              </a:r>
              <a:br>
                <a:rPr lang="pl-PL" sz="1500" spc="-80" dirty="0" smtClean="0">
                  <a:solidFill>
                    <a:srgbClr val="475569"/>
                  </a:solidFill>
                  <a:latin typeface="Calibri" pitchFamily="34" charset="0"/>
                  <a:ea typeface="Calibri" pitchFamily="34" charset="-122"/>
                  <a:cs typeface="Calibri" pitchFamily="34" charset="-120"/>
                </a:rPr>
              </a:br>
              <a:r>
                <a:rPr lang="en-US" sz="1500" spc="-80" dirty="0" err="1" smtClean="0">
                  <a:solidFill>
                    <a:srgbClr val="475569"/>
                  </a:solidFill>
                  <a:latin typeface="Calibri" pitchFamily="34" charset="0"/>
                  <a:ea typeface="Calibri" pitchFamily="34" charset="-122"/>
                  <a:cs typeface="Calibri" pitchFamily="34" charset="-120"/>
                </a:rPr>
                <a:t>na</a:t>
              </a:r>
              <a:r>
                <a:rPr lang="en-US" sz="1500" spc="-80" dirty="0" smtClean="0">
                  <a:solidFill>
                    <a:srgbClr val="475569"/>
                  </a:solidFill>
                  <a:latin typeface="Calibri" pitchFamily="34" charset="0"/>
                  <a:ea typeface="Calibri" pitchFamily="34" charset="-122"/>
                  <a:cs typeface="Calibri" pitchFamily="34" charset="-120"/>
                </a:rPr>
                <a:t> </a:t>
              </a:r>
              <a:r>
                <a:rPr lang="en-US" sz="1500" spc="-80" dirty="0">
                  <a:solidFill>
                    <a:srgbClr val="475569"/>
                  </a:solidFill>
                  <a:latin typeface="Calibri" pitchFamily="34" charset="0"/>
                  <a:ea typeface="Calibri" pitchFamily="34" charset="-122"/>
                  <a:cs typeface="Calibri" pitchFamily="34" charset="-120"/>
                </a:rPr>
                <a:t>warunki pogodowe</a:t>
              </a:r>
              <a:endParaRPr lang="en-US" sz="1500" spc="-80" dirty="0"/>
            </a:p>
          </p:txBody>
        </p:sp>
      </p:grpSp>
      <p:sp>
        <p:nvSpPr>
          <p:cNvPr id="31" name="Prostokąt 30"/>
          <p:cNvSpPr/>
          <p:nvPr/>
        </p:nvSpPr>
        <p:spPr>
          <a:xfrm>
            <a:off x="274320" y="4081645"/>
            <a:ext cx="8595360" cy="992516"/>
          </a:xfrm>
          <a:prstGeom prst="rect">
            <a:avLst/>
          </a:prstGeom>
          <a:solidFill>
            <a:srgbClr val="0D1B2A"/>
          </a:solidFill>
        </p:spPr>
        <p:txBody>
          <a:bodyPr wrap="square">
            <a:spAutoFit/>
          </a:bodyPr>
          <a:lstStyle/>
          <a:p>
            <a:pPr algn="just">
              <a:lnSpc>
                <a:spcPts val="1400"/>
              </a:lnSpc>
            </a:pPr>
            <a:r>
              <a:rPr lang="pl-PL" sz="1400" spc="-40" dirty="0">
                <a:solidFill>
                  <a:schemeClr val="bg1"/>
                </a:solidFill>
              </a:rPr>
              <a:t>Dobór metody lokalizacji zależy od zadania. W laboratorium zwykle wystarcza AMCL z </a:t>
            </a:r>
            <a:r>
              <a:rPr lang="pl-PL" sz="1400" spc="-40" dirty="0" err="1">
                <a:solidFill>
                  <a:schemeClr val="bg1"/>
                </a:solidFill>
              </a:rPr>
              <a:t>LiDAR</a:t>
            </a:r>
            <a:r>
              <a:rPr lang="pl-PL" sz="1400" spc="-40" dirty="0">
                <a:solidFill>
                  <a:schemeClr val="bg1"/>
                </a:solidFill>
              </a:rPr>
              <a:t>-em 2D. W biurze, gdzie środowisko się zmienia, lepiej sprawdza się SLAM online z dodatkowym wsparciem. W magazynie przydaje się </a:t>
            </a:r>
            <a:r>
              <a:rPr lang="pl-PL" sz="1400" spc="-40" dirty="0" err="1">
                <a:solidFill>
                  <a:schemeClr val="bg1"/>
                </a:solidFill>
              </a:rPr>
              <a:t>visual</a:t>
            </a:r>
            <a:r>
              <a:rPr lang="pl-PL" sz="1400" spc="-40" dirty="0">
                <a:solidFill>
                  <a:schemeClr val="bg1"/>
                </a:solidFill>
              </a:rPr>
              <a:t> SLAM </a:t>
            </a:r>
            <a:r>
              <a:rPr lang="pl-PL" sz="1400" spc="-40" dirty="0" smtClean="0">
                <a:solidFill>
                  <a:schemeClr val="bg1"/>
                </a:solidFill>
              </a:rPr>
              <a:t/>
            </a:r>
            <a:br>
              <a:rPr lang="pl-PL" sz="1400" spc="-40" dirty="0" smtClean="0">
                <a:solidFill>
                  <a:schemeClr val="bg1"/>
                </a:solidFill>
              </a:rPr>
            </a:br>
            <a:r>
              <a:rPr lang="pl-PL" sz="1400" spc="-40" dirty="0" smtClean="0">
                <a:solidFill>
                  <a:schemeClr val="bg1"/>
                </a:solidFill>
              </a:rPr>
              <a:t>i </a:t>
            </a:r>
            <a:r>
              <a:rPr lang="pl-PL" sz="1400" spc="-40" dirty="0">
                <a:solidFill>
                  <a:schemeClr val="bg1"/>
                </a:solidFill>
              </a:rPr>
              <a:t>znaczniki na regałach. Na schodach potrzebujemy już 3D </a:t>
            </a:r>
            <a:r>
              <a:rPr lang="pl-PL" sz="1400" spc="-40" dirty="0" err="1">
                <a:solidFill>
                  <a:schemeClr val="bg1"/>
                </a:solidFill>
              </a:rPr>
              <a:t>LiDAR</a:t>
            </a:r>
            <a:r>
              <a:rPr lang="pl-PL" sz="1400" spc="-40" dirty="0">
                <a:solidFill>
                  <a:schemeClr val="bg1"/>
                </a:solidFill>
              </a:rPr>
              <a:t> SLAM albo RGB-D SLAM wraz z aktywną </a:t>
            </a:r>
            <a:r>
              <a:rPr lang="pl-PL" sz="1400" spc="-40" dirty="0" err="1">
                <a:solidFill>
                  <a:schemeClr val="bg1"/>
                </a:solidFill>
              </a:rPr>
              <a:t>height</a:t>
            </a:r>
            <a:r>
              <a:rPr lang="pl-PL" sz="1400" spc="-40" dirty="0">
                <a:solidFill>
                  <a:schemeClr val="bg1"/>
                </a:solidFill>
              </a:rPr>
              <a:t> mapą. </a:t>
            </a:r>
            <a:r>
              <a:rPr lang="pl-PL" sz="1400" spc="-40" dirty="0" smtClean="0">
                <a:solidFill>
                  <a:schemeClr val="bg1"/>
                </a:solidFill>
              </a:rPr>
              <a:t/>
            </a:r>
            <a:br>
              <a:rPr lang="pl-PL" sz="1400" spc="-40" dirty="0" smtClean="0">
                <a:solidFill>
                  <a:schemeClr val="bg1"/>
                </a:solidFill>
              </a:rPr>
            </a:br>
            <a:r>
              <a:rPr lang="pl-PL" sz="1400" spc="-40" dirty="0" smtClean="0">
                <a:solidFill>
                  <a:schemeClr val="bg1"/>
                </a:solidFill>
              </a:rPr>
              <a:t>W </a:t>
            </a:r>
            <a:r>
              <a:rPr lang="pl-PL" sz="1400" spc="-40" dirty="0">
                <a:solidFill>
                  <a:schemeClr val="bg1"/>
                </a:solidFill>
              </a:rPr>
              <a:t>dynamicznym otoczeniu trzeba odrzucać ruchome obiekty, a na zewnątrz połączyć GPS z IMU i </a:t>
            </a:r>
            <a:r>
              <a:rPr lang="pl-PL" sz="1400" spc="-40" dirty="0" err="1">
                <a:solidFill>
                  <a:schemeClr val="bg1"/>
                </a:solidFill>
              </a:rPr>
              <a:t>LiDAR</a:t>
            </a:r>
            <a:r>
              <a:rPr lang="pl-PL" sz="1400" spc="-40" dirty="0">
                <a:solidFill>
                  <a:schemeClr val="bg1"/>
                </a:solidFill>
              </a:rPr>
              <a:t>-em. Nie istnieje jedna uniwersalna metoda dobra do wszystkiego. </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0D1B2A"/>
        </a:solidFill>
        <a:effectLst/>
      </p:bgPr>
    </p:bg>
    <p:spTree>
      <p:nvGrpSpPr>
        <p:cNvPr id="1" name=""/>
        <p:cNvGrpSpPr/>
        <p:nvPr/>
      </p:nvGrpSpPr>
      <p:grpSpPr>
        <a:xfrm>
          <a:off x="0" y="0"/>
          <a:ext cx="0" cy="0"/>
          <a:chOff x="0" y="0"/>
          <a:chExt cx="0" cy="0"/>
        </a:xfrm>
      </p:grpSpPr>
      <p:sp>
        <p:nvSpPr>
          <p:cNvPr id="2" name="Shape 0"/>
          <p:cNvSpPr/>
          <p:nvPr/>
        </p:nvSpPr>
        <p:spPr>
          <a:xfrm>
            <a:off x="0" y="0"/>
            <a:ext cx="64008" cy="5143500"/>
          </a:xfrm>
          <a:prstGeom prst="rect">
            <a:avLst/>
          </a:prstGeom>
          <a:solidFill>
            <a:srgbClr val="00B4D8"/>
          </a:solidFill>
          <a:ln w="12700">
            <a:solidFill>
              <a:srgbClr val="00B4D8"/>
            </a:solidFill>
            <a:prstDash val="solid"/>
          </a:ln>
        </p:spPr>
      </p:sp>
      <p:sp>
        <p:nvSpPr>
          <p:cNvPr id="3" name="Shape 1"/>
          <p:cNvSpPr/>
          <p:nvPr/>
        </p:nvSpPr>
        <p:spPr>
          <a:xfrm>
            <a:off x="64008" y="0"/>
            <a:ext cx="9079992" cy="54864"/>
          </a:xfrm>
          <a:prstGeom prst="rect">
            <a:avLst/>
          </a:prstGeom>
          <a:solidFill>
            <a:srgbClr val="00B4D8"/>
          </a:solidFill>
          <a:ln w="12700">
            <a:solidFill>
              <a:srgbClr val="00B4D8"/>
            </a:solidFill>
            <a:prstDash val="solid"/>
          </a:ln>
        </p:spPr>
      </p:sp>
      <p:sp>
        <p:nvSpPr>
          <p:cNvPr id="4" name="Text 2"/>
          <p:cNvSpPr/>
          <p:nvPr/>
        </p:nvSpPr>
        <p:spPr>
          <a:xfrm>
            <a:off x="320040" y="457200"/>
            <a:ext cx="8503920" cy="502920"/>
          </a:xfrm>
          <a:prstGeom prst="rect">
            <a:avLst/>
          </a:prstGeom>
          <a:noFill/>
          <a:ln/>
        </p:spPr>
        <p:txBody>
          <a:bodyPr wrap="square" lIns="0" tIns="0" rIns="0" bIns="0" rtlCol="0" anchor="ctr"/>
          <a:lstStyle/>
          <a:p>
            <a:pPr marL="0" indent="0" algn="ctr">
              <a:buNone/>
            </a:pPr>
            <a:r>
              <a:rPr lang="en-US" sz="3600" b="1" dirty="0" smtClean="0">
                <a:solidFill>
                  <a:srgbClr val="FFFFFF"/>
                </a:solidFill>
                <a:latin typeface="Trebuchet MS" pitchFamily="34" charset="0"/>
                <a:ea typeface="Trebuchet MS" pitchFamily="34" charset="-122"/>
                <a:cs typeface="Trebuchet MS" pitchFamily="34" charset="-120"/>
              </a:rPr>
              <a:t>PODSUMOWANIE</a:t>
            </a:r>
            <a:endParaRPr lang="en-US" sz="3600" dirty="0"/>
          </a:p>
        </p:txBody>
      </p:sp>
      <p:sp>
        <p:nvSpPr>
          <p:cNvPr id="5" name="Shape 3"/>
          <p:cNvSpPr/>
          <p:nvPr/>
        </p:nvSpPr>
        <p:spPr>
          <a:xfrm>
            <a:off x="2743200" y="1005840"/>
            <a:ext cx="3657600" cy="36576"/>
          </a:xfrm>
          <a:prstGeom prst="rect">
            <a:avLst/>
          </a:prstGeom>
          <a:solidFill>
            <a:srgbClr val="00B4D8"/>
          </a:solidFill>
          <a:ln w="12700">
            <a:solidFill>
              <a:srgbClr val="00B4D8"/>
            </a:solidFill>
            <a:prstDash val="solid"/>
          </a:ln>
        </p:spPr>
      </p:sp>
      <p:sp>
        <p:nvSpPr>
          <p:cNvPr id="6" name="Shape 4"/>
          <p:cNvSpPr/>
          <p:nvPr/>
        </p:nvSpPr>
        <p:spPr>
          <a:xfrm>
            <a:off x="365760" y="1188720"/>
            <a:ext cx="502920" cy="502920"/>
          </a:xfrm>
          <a:prstGeom prst="ellipse">
            <a:avLst/>
          </a:prstGeom>
          <a:solidFill>
            <a:srgbClr val="00B4D8"/>
          </a:solidFill>
          <a:ln w="12700">
            <a:solidFill>
              <a:srgbClr val="00B4D8"/>
            </a:solidFill>
            <a:prstDash val="solid"/>
          </a:ln>
        </p:spPr>
      </p:sp>
      <p:sp>
        <p:nvSpPr>
          <p:cNvPr id="7" name="Text 5"/>
          <p:cNvSpPr/>
          <p:nvPr/>
        </p:nvSpPr>
        <p:spPr>
          <a:xfrm>
            <a:off x="365760" y="1188720"/>
            <a:ext cx="502920" cy="502920"/>
          </a:xfrm>
          <a:prstGeom prst="rect">
            <a:avLst/>
          </a:prstGeom>
          <a:noFill/>
          <a:ln/>
        </p:spPr>
        <p:txBody>
          <a:bodyPr wrap="square" lIns="0" tIns="0" rIns="0" bIns="0" rtlCol="0" anchor="ctr"/>
          <a:lstStyle/>
          <a:p>
            <a:pPr marL="0" indent="0" algn="ctr">
              <a:buNone/>
            </a:pPr>
            <a:r>
              <a:rPr lang="en-US" b="1" dirty="0">
                <a:solidFill>
                  <a:srgbClr val="0D1B2A"/>
                </a:solidFill>
                <a:latin typeface="Trebuchet MS" pitchFamily="34" charset="0"/>
                <a:ea typeface="Trebuchet MS" pitchFamily="34" charset="-122"/>
                <a:cs typeface="Trebuchet MS" pitchFamily="34" charset="-120"/>
              </a:rPr>
              <a:t>01</a:t>
            </a:r>
            <a:endParaRPr lang="en-US" dirty="0"/>
          </a:p>
        </p:txBody>
      </p:sp>
      <p:sp>
        <p:nvSpPr>
          <p:cNvPr id="8" name="Text 6"/>
          <p:cNvSpPr/>
          <p:nvPr/>
        </p:nvSpPr>
        <p:spPr>
          <a:xfrm>
            <a:off x="1005840" y="1164590"/>
            <a:ext cx="7863840" cy="502920"/>
          </a:xfrm>
          <a:prstGeom prst="rect">
            <a:avLst/>
          </a:prstGeom>
          <a:noFill/>
          <a:ln/>
        </p:spPr>
        <p:txBody>
          <a:bodyPr wrap="square" lIns="0" tIns="0" rIns="0" bIns="0" rtlCol="0" anchor="ctr"/>
          <a:lstStyle/>
          <a:p>
            <a:pPr marL="0" indent="0">
              <a:buNone/>
            </a:pPr>
            <a:r>
              <a:rPr lang="en-US" sz="1600" spc="-50" dirty="0">
                <a:solidFill>
                  <a:srgbClr val="E2EBF3"/>
                </a:solidFill>
                <a:latin typeface="Calibri" pitchFamily="34" charset="0"/>
                <a:ea typeface="Calibri" pitchFamily="34" charset="-122"/>
                <a:cs typeface="Calibri" pitchFamily="34" charset="-120"/>
              </a:rPr>
              <a:t>Dryft odometrii jest nieunikniony – konieczna jest korekta z zewnętrznych sensorów </a:t>
            </a:r>
            <a:r>
              <a:rPr lang="en-US" sz="1600" spc="-50" dirty="0" err="1">
                <a:solidFill>
                  <a:srgbClr val="E2EBF3"/>
                </a:solidFill>
                <a:latin typeface="Calibri" pitchFamily="34" charset="0"/>
                <a:ea typeface="Calibri" pitchFamily="34" charset="-122"/>
                <a:cs typeface="Calibri" pitchFamily="34" charset="-120"/>
              </a:rPr>
              <a:t>lub</a:t>
            </a:r>
            <a:r>
              <a:rPr lang="en-US" sz="1600" spc="-50" dirty="0">
                <a:solidFill>
                  <a:srgbClr val="E2EBF3"/>
                </a:solidFill>
                <a:latin typeface="Calibri" pitchFamily="34" charset="0"/>
                <a:ea typeface="Calibri" pitchFamily="34" charset="-122"/>
                <a:cs typeface="Calibri" pitchFamily="34" charset="-120"/>
              </a:rPr>
              <a:t> </a:t>
            </a:r>
            <a:r>
              <a:rPr lang="en-US" sz="1600" spc="-50" dirty="0" smtClean="0">
                <a:solidFill>
                  <a:srgbClr val="E2EBF3"/>
                </a:solidFill>
                <a:latin typeface="Calibri" pitchFamily="34" charset="0"/>
                <a:ea typeface="Calibri" pitchFamily="34" charset="-122"/>
                <a:cs typeface="Calibri" pitchFamily="34" charset="-120"/>
              </a:rPr>
              <a:t>SLAM</a:t>
            </a:r>
            <a:endParaRPr lang="en-US" sz="1600" spc="-50" dirty="0"/>
          </a:p>
        </p:txBody>
      </p:sp>
      <p:sp>
        <p:nvSpPr>
          <p:cNvPr id="9" name="Shape 7"/>
          <p:cNvSpPr/>
          <p:nvPr/>
        </p:nvSpPr>
        <p:spPr>
          <a:xfrm>
            <a:off x="365760" y="1947672"/>
            <a:ext cx="502920" cy="502920"/>
          </a:xfrm>
          <a:prstGeom prst="ellipse">
            <a:avLst/>
          </a:prstGeom>
          <a:solidFill>
            <a:srgbClr val="00B4D8"/>
          </a:solidFill>
          <a:ln w="12700">
            <a:solidFill>
              <a:srgbClr val="00B4D8"/>
            </a:solidFill>
            <a:prstDash val="solid"/>
          </a:ln>
        </p:spPr>
      </p:sp>
      <p:sp>
        <p:nvSpPr>
          <p:cNvPr id="10" name="Text 8"/>
          <p:cNvSpPr/>
          <p:nvPr/>
        </p:nvSpPr>
        <p:spPr>
          <a:xfrm>
            <a:off x="365760" y="1947672"/>
            <a:ext cx="502920" cy="502920"/>
          </a:xfrm>
          <a:prstGeom prst="rect">
            <a:avLst/>
          </a:prstGeom>
          <a:noFill/>
          <a:ln/>
        </p:spPr>
        <p:txBody>
          <a:bodyPr wrap="square" lIns="0" tIns="0" rIns="0" bIns="0" rtlCol="0" anchor="ctr"/>
          <a:lstStyle/>
          <a:p>
            <a:pPr marL="0" indent="0" algn="ctr">
              <a:buNone/>
            </a:pPr>
            <a:r>
              <a:rPr lang="en-US" b="1" dirty="0">
                <a:solidFill>
                  <a:srgbClr val="0D1B2A"/>
                </a:solidFill>
                <a:latin typeface="Trebuchet MS" pitchFamily="34" charset="0"/>
                <a:ea typeface="Trebuchet MS" pitchFamily="34" charset="-122"/>
                <a:cs typeface="Trebuchet MS" pitchFamily="34" charset="-120"/>
              </a:rPr>
              <a:t>02</a:t>
            </a:r>
            <a:endParaRPr lang="en-US" dirty="0"/>
          </a:p>
        </p:txBody>
      </p:sp>
      <p:sp>
        <p:nvSpPr>
          <p:cNvPr id="11" name="Text 9"/>
          <p:cNvSpPr/>
          <p:nvPr/>
        </p:nvSpPr>
        <p:spPr>
          <a:xfrm>
            <a:off x="1005840" y="1923542"/>
            <a:ext cx="7863840" cy="502920"/>
          </a:xfrm>
          <a:prstGeom prst="rect">
            <a:avLst/>
          </a:prstGeom>
          <a:noFill/>
          <a:ln/>
        </p:spPr>
        <p:txBody>
          <a:bodyPr wrap="square" lIns="0" tIns="0" rIns="0" bIns="0" rtlCol="0" anchor="ctr"/>
          <a:lstStyle/>
          <a:p>
            <a:pPr marL="0" indent="0">
              <a:buNone/>
            </a:pPr>
            <a:r>
              <a:rPr lang="en-US" sz="1600" spc="-50" dirty="0">
                <a:solidFill>
                  <a:srgbClr val="E2EBF3"/>
                </a:solidFill>
                <a:latin typeface="Calibri" pitchFamily="34" charset="0"/>
                <a:ea typeface="Calibri" pitchFamily="34" charset="-122"/>
                <a:cs typeface="Calibri" pitchFamily="34" charset="-120"/>
              </a:rPr>
              <a:t>Filtr Kalmana (EKF/UKF) to złoty standard fuzji IMU, enkoderów i </a:t>
            </a:r>
            <a:r>
              <a:rPr lang="en-US" sz="1600" spc="-50" dirty="0" err="1">
                <a:solidFill>
                  <a:srgbClr val="E2EBF3"/>
                </a:solidFill>
                <a:latin typeface="Calibri" pitchFamily="34" charset="0"/>
                <a:ea typeface="Calibri" pitchFamily="34" charset="-122"/>
                <a:cs typeface="Calibri" pitchFamily="34" charset="-120"/>
              </a:rPr>
              <a:t>danych</a:t>
            </a:r>
            <a:r>
              <a:rPr lang="en-US" sz="1600" spc="-50" dirty="0">
                <a:solidFill>
                  <a:srgbClr val="E2EBF3"/>
                </a:solidFill>
                <a:latin typeface="Calibri" pitchFamily="34" charset="0"/>
                <a:ea typeface="Calibri" pitchFamily="34" charset="-122"/>
                <a:cs typeface="Calibri" pitchFamily="34" charset="-120"/>
              </a:rPr>
              <a:t> </a:t>
            </a:r>
            <a:r>
              <a:rPr lang="pl-PL" sz="1600" spc="-50" dirty="0" smtClean="0">
                <a:solidFill>
                  <a:srgbClr val="E2EBF3"/>
                </a:solidFill>
                <a:latin typeface="Calibri" pitchFamily="34" charset="0"/>
                <a:ea typeface="Calibri" pitchFamily="34" charset="-122"/>
                <a:cs typeface="Calibri" pitchFamily="34" charset="-120"/>
              </a:rPr>
              <a:t>wizyjnych</a:t>
            </a:r>
            <a:endParaRPr lang="pl-PL" sz="1600" spc="-50" dirty="0"/>
          </a:p>
        </p:txBody>
      </p:sp>
      <p:sp>
        <p:nvSpPr>
          <p:cNvPr id="12" name="Shape 10"/>
          <p:cNvSpPr/>
          <p:nvPr/>
        </p:nvSpPr>
        <p:spPr>
          <a:xfrm>
            <a:off x="365760" y="2706624"/>
            <a:ext cx="502920" cy="502920"/>
          </a:xfrm>
          <a:prstGeom prst="ellipse">
            <a:avLst/>
          </a:prstGeom>
          <a:solidFill>
            <a:srgbClr val="00B4D8"/>
          </a:solidFill>
          <a:ln w="12700">
            <a:solidFill>
              <a:srgbClr val="00B4D8"/>
            </a:solidFill>
            <a:prstDash val="solid"/>
          </a:ln>
        </p:spPr>
      </p:sp>
      <p:sp>
        <p:nvSpPr>
          <p:cNvPr id="13" name="Text 11"/>
          <p:cNvSpPr/>
          <p:nvPr/>
        </p:nvSpPr>
        <p:spPr>
          <a:xfrm>
            <a:off x="365760" y="2706624"/>
            <a:ext cx="502920" cy="502920"/>
          </a:xfrm>
          <a:prstGeom prst="rect">
            <a:avLst/>
          </a:prstGeom>
          <a:noFill/>
          <a:ln/>
        </p:spPr>
        <p:txBody>
          <a:bodyPr wrap="square" lIns="0" tIns="0" rIns="0" bIns="0" rtlCol="0" anchor="ctr"/>
          <a:lstStyle/>
          <a:p>
            <a:pPr marL="0" indent="0" algn="ctr">
              <a:buNone/>
            </a:pPr>
            <a:r>
              <a:rPr lang="en-US" b="1" dirty="0">
                <a:solidFill>
                  <a:srgbClr val="0D1B2A"/>
                </a:solidFill>
                <a:latin typeface="Trebuchet MS" pitchFamily="34" charset="0"/>
                <a:ea typeface="Trebuchet MS" pitchFamily="34" charset="-122"/>
                <a:cs typeface="Trebuchet MS" pitchFamily="34" charset="-120"/>
              </a:rPr>
              <a:t>03</a:t>
            </a:r>
            <a:endParaRPr lang="en-US" dirty="0"/>
          </a:p>
        </p:txBody>
      </p:sp>
      <p:sp>
        <p:nvSpPr>
          <p:cNvPr id="14" name="Text 12"/>
          <p:cNvSpPr/>
          <p:nvPr/>
        </p:nvSpPr>
        <p:spPr>
          <a:xfrm>
            <a:off x="1005840" y="2682494"/>
            <a:ext cx="7863840" cy="502920"/>
          </a:xfrm>
          <a:prstGeom prst="rect">
            <a:avLst/>
          </a:prstGeom>
          <a:noFill/>
          <a:ln/>
        </p:spPr>
        <p:txBody>
          <a:bodyPr wrap="square" lIns="0" tIns="0" rIns="0" bIns="0" rtlCol="0" anchor="ctr"/>
          <a:lstStyle/>
          <a:p>
            <a:pPr marL="0" indent="0">
              <a:buNone/>
            </a:pPr>
            <a:r>
              <a:rPr lang="en-US" sz="1600" spc="-50" dirty="0">
                <a:solidFill>
                  <a:srgbClr val="E2EBF3"/>
                </a:solidFill>
                <a:latin typeface="Calibri" pitchFamily="34" charset="0"/>
                <a:ea typeface="Calibri" pitchFamily="34" charset="-122"/>
                <a:cs typeface="Calibri" pitchFamily="34" charset="-120"/>
              </a:rPr>
              <a:t>Filtr cząsteczkowy radzi sobie z wielomodalnością, lecz wymaga większych </a:t>
            </a:r>
            <a:r>
              <a:rPr lang="en-US" sz="1600" spc="-50" dirty="0" err="1">
                <a:solidFill>
                  <a:srgbClr val="E2EBF3"/>
                </a:solidFill>
                <a:latin typeface="Calibri" pitchFamily="34" charset="0"/>
                <a:ea typeface="Calibri" pitchFamily="34" charset="-122"/>
                <a:cs typeface="Calibri" pitchFamily="34" charset="-120"/>
              </a:rPr>
              <a:t>zasobów</a:t>
            </a:r>
            <a:r>
              <a:rPr lang="en-US" sz="1600" spc="-50" dirty="0">
                <a:solidFill>
                  <a:srgbClr val="E2EBF3"/>
                </a:solidFill>
                <a:latin typeface="Calibri" pitchFamily="34" charset="0"/>
                <a:ea typeface="Calibri" pitchFamily="34" charset="-122"/>
                <a:cs typeface="Calibri" pitchFamily="34" charset="-120"/>
              </a:rPr>
              <a:t> </a:t>
            </a:r>
            <a:r>
              <a:rPr lang="en-US" sz="1600" spc="-50" dirty="0" err="1" smtClean="0">
                <a:solidFill>
                  <a:srgbClr val="E2EBF3"/>
                </a:solidFill>
                <a:latin typeface="Calibri" pitchFamily="34" charset="0"/>
                <a:ea typeface="Calibri" pitchFamily="34" charset="-122"/>
                <a:cs typeface="Calibri" pitchFamily="34" charset="-120"/>
              </a:rPr>
              <a:t>obliczeniowych</a:t>
            </a:r>
            <a:endParaRPr lang="en-US" sz="1600" spc="-50" dirty="0"/>
          </a:p>
        </p:txBody>
      </p:sp>
      <p:sp>
        <p:nvSpPr>
          <p:cNvPr id="15" name="Shape 13"/>
          <p:cNvSpPr/>
          <p:nvPr/>
        </p:nvSpPr>
        <p:spPr>
          <a:xfrm>
            <a:off x="365760" y="3465576"/>
            <a:ext cx="502920" cy="502920"/>
          </a:xfrm>
          <a:prstGeom prst="ellipse">
            <a:avLst/>
          </a:prstGeom>
          <a:solidFill>
            <a:srgbClr val="00B4D8"/>
          </a:solidFill>
          <a:ln w="12700">
            <a:solidFill>
              <a:srgbClr val="00B4D8"/>
            </a:solidFill>
            <a:prstDash val="solid"/>
          </a:ln>
        </p:spPr>
      </p:sp>
      <p:sp>
        <p:nvSpPr>
          <p:cNvPr id="16" name="Text 14"/>
          <p:cNvSpPr/>
          <p:nvPr/>
        </p:nvSpPr>
        <p:spPr>
          <a:xfrm>
            <a:off x="365760" y="3465576"/>
            <a:ext cx="502920" cy="502920"/>
          </a:xfrm>
          <a:prstGeom prst="rect">
            <a:avLst/>
          </a:prstGeom>
          <a:noFill/>
          <a:ln/>
        </p:spPr>
        <p:txBody>
          <a:bodyPr wrap="square" lIns="0" tIns="0" rIns="0" bIns="0" rtlCol="0" anchor="ctr"/>
          <a:lstStyle/>
          <a:p>
            <a:pPr marL="0" indent="0" algn="ctr">
              <a:buNone/>
            </a:pPr>
            <a:r>
              <a:rPr lang="en-US" b="1" dirty="0">
                <a:solidFill>
                  <a:srgbClr val="0D1B2A"/>
                </a:solidFill>
                <a:latin typeface="Trebuchet MS" pitchFamily="34" charset="0"/>
                <a:ea typeface="Trebuchet MS" pitchFamily="34" charset="-122"/>
                <a:cs typeface="Trebuchet MS" pitchFamily="34" charset="-120"/>
              </a:rPr>
              <a:t>04</a:t>
            </a:r>
            <a:endParaRPr lang="en-US" dirty="0"/>
          </a:p>
        </p:txBody>
      </p:sp>
      <p:sp>
        <p:nvSpPr>
          <p:cNvPr id="17" name="Text 15"/>
          <p:cNvSpPr/>
          <p:nvPr/>
        </p:nvSpPr>
        <p:spPr>
          <a:xfrm>
            <a:off x="1005840" y="3441446"/>
            <a:ext cx="7863840" cy="502920"/>
          </a:xfrm>
          <a:prstGeom prst="rect">
            <a:avLst/>
          </a:prstGeom>
          <a:noFill/>
          <a:ln/>
        </p:spPr>
        <p:txBody>
          <a:bodyPr wrap="square" lIns="0" tIns="0" rIns="0" bIns="0" rtlCol="0" anchor="ctr"/>
          <a:lstStyle/>
          <a:p>
            <a:pPr marL="0" indent="0">
              <a:buNone/>
            </a:pPr>
            <a:r>
              <a:rPr lang="en-US" sz="1600" spc="-50" dirty="0">
                <a:solidFill>
                  <a:srgbClr val="E2EBF3"/>
                </a:solidFill>
                <a:latin typeface="Calibri" pitchFamily="34" charset="0"/>
                <a:ea typeface="Calibri" pitchFamily="34" charset="-122"/>
                <a:cs typeface="Calibri" pitchFamily="34" charset="-120"/>
              </a:rPr>
              <a:t>SLAM </a:t>
            </a:r>
            <a:r>
              <a:rPr lang="pl-PL" sz="1600" spc="-50" dirty="0" smtClean="0">
                <a:solidFill>
                  <a:srgbClr val="E2EBF3"/>
                </a:solidFill>
                <a:latin typeface="Calibri" pitchFamily="34" charset="0"/>
                <a:ea typeface="Calibri" pitchFamily="34" charset="-122"/>
                <a:cs typeface="Calibri" pitchFamily="34" charset="-120"/>
              </a:rPr>
              <a:t>(</a:t>
            </a:r>
            <a:r>
              <a:rPr lang="en-US" sz="1600" spc="-50" dirty="0" err="1" smtClean="0">
                <a:solidFill>
                  <a:srgbClr val="E2EBF3"/>
                </a:solidFill>
                <a:latin typeface="Calibri" pitchFamily="34" charset="0"/>
                <a:ea typeface="Calibri" pitchFamily="34" charset="-122"/>
                <a:cs typeface="Calibri" pitchFamily="34" charset="-120"/>
              </a:rPr>
              <a:t>jednoczesne</a:t>
            </a:r>
            <a:r>
              <a:rPr lang="en-US" sz="1600" spc="-50" dirty="0" smtClean="0">
                <a:solidFill>
                  <a:srgbClr val="E2EBF3"/>
                </a:solidFill>
                <a:latin typeface="Calibri" pitchFamily="34" charset="0"/>
                <a:ea typeface="Calibri" pitchFamily="34" charset="-122"/>
                <a:cs typeface="Calibri" pitchFamily="34" charset="-120"/>
              </a:rPr>
              <a:t> </a:t>
            </a:r>
            <a:r>
              <a:rPr lang="en-US" sz="1600" spc="-50" dirty="0">
                <a:solidFill>
                  <a:srgbClr val="E2EBF3"/>
                </a:solidFill>
                <a:latin typeface="Calibri" pitchFamily="34" charset="0"/>
                <a:ea typeface="Calibri" pitchFamily="34" charset="-122"/>
                <a:cs typeface="Calibri" pitchFamily="34" charset="-120"/>
              </a:rPr>
              <a:t>mapowanie </a:t>
            </a:r>
            <a:r>
              <a:rPr lang="en-US" sz="1600" spc="-50" dirty="0" err="1">
                <a:solidFill>
                  <a:srgbClr val="E2EBF3"/>
                </a:solidFill>
                <a:latin typeface="Calibri" pitchFamily="34" charset="0"/>
                <a:ea typeface="Calibri" pitchFamily="34" charset="-122"/>
                <a:cs typeface="Calibri" pitchFamily="34" charset="-120"/>
              </a:rPr>
              <a:t>i</a:t>
            </a:r>
            <a:r>
              <a:rPr lang="en-US" sz="1600" spc="-50" dirty="0">
                <a:solidFill>
                  <a:srgbClr val="E2EBF3"/>
                </a:solidFill>
                <a:latin typeface="Calibri" pitchFamily="34" charset="0"/>
                <a:ea typeface="Calibri" pitchFamily="34" charset="-122"/>
                <a:cs typeface="Calibri" pitchFamily="34" charset="-120"/>
              </a:rPr>
              <a:t> </a:t>
            </a:r>
            <a:r>
              <a:rPr lang="en-US" sz="1600" spc="-50" dirty="0" err="1" smtClean="0">
                <a:solidFill>
                  <a:srgbClr val="E2EBF3"/>
                </a:solidFill>
                <a:latin typeface="Calibri" pitchFamily="34" charset="0"/>
                <a:ea typeface="Calibri" pitchFamily="34" charset="-122"/>
                <a:cs typeface="Calibri" pitchFamily="34" charset="-120"/>
              </a:rPr>
              <a:t>lokalizacja</a:t>
            </a:r>
            <a:r>
              <a:rPr lang="pl-PL" sz="1600" spc="-50" dirty="0" smtClean="0">
                <a:solidFill>
                  <a:srgbClr val="E2EBF3"/>
                </a:solidFill>
                <a:latin typeface="Calibri" pitchFamily="34" charset="0"/>
                <a:ea typeface="Calibri" pitchFamily="34" charset="-122"/>
                <a:cs typeface="Calibri" pitchFamily="34" charset="-120"/>
              </a:rPr>
              <a:t>)</a:t>
            </a:r>
            <a:r>
              <a:rPr lang="en-US" sz="1600" spc="-50" dirty="0" smtClean="0">
                <a:solidFill>
                  <a:srgbClr val="E2EBF3"/>
                </a:solidFill>
                <a:latin typeface="Calibri" pitchFamily="34" charset="0"/>
                <a:ea typeface="Calibri" pitchFamily="34" charset="-122"/>
                <a:cs typeface="Calibri" pitchFamily="34" charset="-120"/>
              </a:rPr>
              <a:t> </a:t>
            </a:r>
            <a:r>
              <a:rPr lang="en-US" sz="1600" spc="-50" dirty="0">
                <a:solidFill>
                  <a:srgbClr val="E2EBF3"/>
                </a:solidFill>
                <a:latin typeface="Calibri" pitchFamily="34" charset="0"/>
                <a:ea typeface="Calibri" pitchFamily="34" charset="-122"/>
                <a:cs typeface="Calibri" pitchFamily="34" charset="-120"/>
              </a:rPr>
              <a:t>– pozwala robotowi budować i korygować mapę w </a:t>
            </a:r>
            <a:r>
              <a:rPr lang="en-US" sz="1600" spc="-50" dirty="0" err="1" smtClean="0">
                <a:solidFill>
                  <a:srgbClr val="E2EBF3"/>
                </a:solidFill>
                <a:latin typeface="Calibri" pitchFamily="34" charset="0"/>
                <a:ea typeface="Calibri" pitchFamily="34" charset="-122"/>
                <a:cs typeface="Calibri" pitchFamily="34" charset="-120"/>
              </a:rPr>
              <a:t>locie</a:t>
            </a:r>
            <a:endParaRPr lang="en-US" sz="1600" spc="-50" dirty="0"/>
          </a:p>
        </p:txBody>
      </p:sp>
      <p:sp>
        <p:nvSpPr>
          <p:cNvPr id="18" name="Shape 16"/>
          <p:cNvSpPr/>
          <p:nvPr/>
        </p:nvSpPr>
        <p:spPr>
          <a:xfrm>
            <a:off x="365760" y="4224528"/>
            <a:ext cx="502920" cy="502920"/>
          </a:xfrm>
          <a:prstGeom prst="ellipse">
            <a:avLst/>
          </a:prstGeom>
          <a:solidFill>
            <a:srgbClr val="00B4D8"/>
          </a:solidFill>
          <a:ln w="12700">
            <a:solidFill>
              <a:srgbClr val="00B4D8"/>
            </a:solidFill>
            <a:prstDash val="solid"/>
          </a:ln>
        </p:spPr>
      </p:sp>
      <p:sp>
        <p:nvSpPr>
          <p:cNvPr id="19" name="Text 17"/>
          <p:cNvSpPr/>
          <p:nvPr/>
        </p:nvSpPr>
        <p:spPr>
          <a:xfrm>
            <a:off x="365760" y="4224528"/>
            <a:ext cx="502920" cy="502920"/>
          </a:xfrm>
          <a:prstGeom prst="rect">
            <a:avLst/>
          </a:prstGeom>
          <a:noFill/>
          <a:ln/>
        </p:spPr>
        <p:txBody>
          <a:bodyPr wrap="square" lIns="0" tIns="0" rIns="0" bIns="0" rtlCol="0" anchor="ctr"/>
          <a:lstStyle/>
          <a:p>
            <a:pPr marL="0" indent="0" algn="ctr">
              <a:buNone/>
            </a:pPr>
            <a:r>
              <a:rPr lang="en-US" b="1" dirty="0">
                <a:solidFill>
                  <a:srgbClr val="0D1B2A"/>
                </a:solidFill>
                <a:latin typeface="Trebuchet MS" pitchFamily="34" charset="0"/>
                <a:ea typeface="Trebuchet MS" pitchFamily="34" charset="-122"/>
                <a:cs typeface="Trebuchet MS" pitchFamily="34" charset="-120"/>
              </a:rPr>
              <a:t>05</a:t>
            </a:r>
            <a:endParaRPr lang="en-US" dirty="0"/>
          </a:p>
        </p:txBody>
      </p:sp>
      <p:sp>
        <p:nvSpPr>
          <p:cNvPr id="20" name="Text 18"/>
          <p:cNvSpPr/>
          <p:nvPr/>
        </p:nvSpPr>
        <p:spPr>
          <a:xfrm>
            <a:off x="1005840" y="4200398"/>
            <a:ext cx="7863840" cy="502920"/>
          </a:xfrm>
          <a:prstGeom prst="rect">
            <a:avLst/>
          </a:prstGeom>
          <a:noFill/>
          <a:ln/>
        </p:spPr>
        <p:txBody>
          <a:bodyPr wrap="square" lIns="0" tIns="0" rIns="0" bIns="0" rtlCol="0" anchor="ctr"/>
          <a:lstStyle/>
          <a:p>
            <a:pPr marL="0" indent="0">
              <a:buNone/>
            </a:pPr>
            <a:r>
              <a:rPr lang="en-US" sz="1600" spc="-50" dirty="0">
                <a:solidFill>
                  <a:srgbClr val="E2EBF3"/>
                </a:solidFill>
                <a:latin typeface="Calibri" pitchFamily="34" charset="0"/>
                <a:ea typeface="Calibri" pitchFamily="34" charset="-122"/>
                <a:cs typeface="Calibri" pitchFamily="34" charset="-120"/>
              </a:rPr>
              <a:t>Domykanie pętli eliminuje skumulowany dryft; awarię sensora wykrywa się przez test </a:t>
            </a:r>
            <a:r>
              <a:rPr lang="en-US" sz="1600" spc="-50" dirty="0" err="1" smtClean="0">
                <a:solidFill>
                  <a:srgbClr val="E2EBF3"/>
                </a:solidFill>
                <a:latin typeface="Calibri" pitchFamily="34" charset="0"/>
                <a:ea typeface="Calibri" pitchFamily="34" charset="-122"/>
                <a:cs typeface="Calibri" pitchFamily="34" charset="-120"/>
              </a:rPr>
              <a:t>innowacji</a:t>
            </a:r>
            <a:endParaRPr lang="en-US" sz="1600" spc="-50" dirty="0"/>
          </a:p>
        </p:txBody>
      </p:sp>
    </p:spTree>
  </p:cSld>
  <p:clrMapOvr>
    <a:masterClrMapping/>
  </p:clrMapOvr>
  <p:timing>
    <p:tnLst>
      <p:par>
        <p:cTn id="1" dur="indefinite" restart="never" nodeType="tmRoot"/>
      </p:par>
    </p:tnLst>
  </p:timing>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0F4F8"/>
        </a:solidFill>
        <a:effectLst/>
      </p:bgPr>
    </p:bg>
    <p:spTree>
      <p:nvGrpSpPr>
        <p:cNvPr id="1" name=""/>
        <p:cNvGrpSpPr/>
        <p:nvPr/>
      </p:nvGrpSpPr>
      <p:grpSpPr>
        <a:xfrm>
          <a:off x="0" y="0"/>
          <a:ext cx="0" cy="0"/>
          <a:chOff x="0" y="0"/>
          <a:chExt cx="0" cy="0"/>
        </a:xfrm>
      </p:grpSpPr>
      <p:sp>
        <p:nvSpPr>
          <p:cNvPr id="2" name="Shape 0"/>
          <p:cNvSpPr/>
          <p:nvPr/>
        </p:nvSpPr>
        <p:spPr>
          <a:xfrm>
            <a:off x="0" y="0"/>
            <a:ext cx="64008" cy="5143500"/>
          </a:xfrm>
          <a:prstGeom prst="rect">
            <a:avLst/>
          </a:prstGeom>
          <a:solidFill>
            <a:srgbClr val="00B4D8"/>
          </a:solidFill>
          <a:ln w="12700">
            <a:solidFill>
              <a:srgbClr val="00B4D8"/>
            </a:solidFill>
            <a:prstDash val="solid"/>
          </a:ln>
        </p:spPr>
      </p:sp>
      <p:sp>
        <p:nvSpPr>
          <p:cNvPr id="3" name="Shape 1"/>
          <p:cNvSpPr/>
          <p:nvPr/>
        </p:nvSpPr>
        <p:spPr>
          <a:xfrm>
            <a:off x="64008" y="0"/>
            <a:ext cx="9079992" cy="960120"/>
          </a:xfrm>
          <a:prstGeom prst="rect">
            <a:avLst/>
          </a:prstGeom>
          <a:solidFill>
            <a:srgbClr val="0D1B2A"/>
          </a:solidFill>
          <a:ln w="12700">
            <a:solidFill>
              <a:srgbClr val="0D1B2A"/>
            </a:solidFill>
            <a:prstDash val="solid"/>
          </a:ln>
        </p:spPr>
      </p:sp>
      <p:sp>
        <p:nvSpPr>
          <p:cNvPr id="4" name="Text 2"/>
          <p:cNvSpPr/>
          <p:nvPr/>
        </p:nvSpPr>
        <p:spPr>
          <a:xfrm>
            <a:off x="228600" y="73152"/>
            <a:ext cx="4572000" cy="274320"/>
          </a:xfrm>
          <a:prstGeom prst="rect">
            <a:avLst/>
          </a:prstGeom>
          <a:noFill/>
          <a:ln/>
        </p:spPr>
        <p:txBody>
          <a:bodyPr wrap="square" lIns="0" tIns="0" rIns="0" bIns="0" rtlCol="0" anchor="ctr"/>
          <a:lstStyle/>
          <a:p>
            <a:pPr marL="0" indent="0">
              <a:buNone/>
            </a:pPr>
            <a:r>
              <a:rPr lang="en-US" sz="900" b="1" kern="0" spc="200" dirty="0">
                <a:solidFill>
                  <a:srgbClr val="00B4D8"/>
                </a:solidFill>
                <a:latin typeface="Trebuchet MS" pitchFamily="34" charset="0"/>
                <a:ea typeface="Trebuchet MS" pitchFamily="34" charset="-122"/>
                <a:cs typeface="Trebuchet MS" pitchFamily="34" charset="-120"/>
              </a:rPr>
              <a:t>PYTANIA I ZADANIE</a:t>
            </a:r>
            <a:endParaRPr lang="en-US" sz="900" dirty="0"/>
          </a:p>
        </p:txBody>
      </p:sp>
      <p:sp>
        <p:nvSpPr>
          <p:cNvPr id="5" name="Text 3"/>
          <p:cNvSpPr/>
          <p:nvPr/>
        </p:nvSpPr>
        <p:spPr>
          <a:xfrm>
            <a:off x="228600" y="274320"/>
            <a:ext cx="8686800" cy="594360"/>
          </a:xfrm>
          <a:prstGeom prst="rect">
            <a:avLst/>
          </a:prstGeom>
          <a:noFill/>
          <a:ln/>
        </p:spPr>
        <p:txBody>
          <a:bodyPr wrap="square" lIns="0" tIns="0" rIns="0" bIns="0" rtlCol="0" anchor="ctr"/>
          <a:lstStyle/>
          <a:p>
            <a:pPr marL="0" indent="0">
              <a:buNone/>
            </a:pPr>
            <a:r>
              <a:rPr lang="en-US" sz="2800" b="1" dirty="0">
                <a:solidFill>
                  <a:srgbClr val="FFFFFF"/>
                </a:solidFill>
                <a:latin typeface="Trebuchet MS" pitchFamily="34" charset="0"/>
                <a:ea typeface="Trebuchet MS" pitchFamily="34" charset="-122"/>
                <a:cs typeface="Trebuchet MS" pitchFamily="34" charset="-120"/>
              </a:rPr>
              <a:t>Pytania i mini-studium przypadku</a:t>
            </a:r>
            <a:endParaRPr lang="en-US" sz="2800" dirty="0"/>
          </a:p>
        </p:txBody>
      </p:sp>
      <p:sp>
        <p:nvSpPr>
          <p:cNvPr id="6" name="Shape 4"/>
          <p:cNvSpPr/>
          <p:nvPr/>
        </p:nvSpPr>
        <p:spPr>
          <a:xfrm>
            <a:off x="274320" y="1097280"/>
            <a:ext cx="8595360" cy="3749040"/>
          </a:xfrm>
          <a:prstGeom prst="rect">
            <a:avLst/>
          </a:prstGeom>
          <a:solidFill>
            <a:srgbClr val="FFFFFF"/>
          </a:solidFill>
          <a:ln w="12700">
            <a:solidFill>
              <a:srgbClr val="E2EBF3"/>
            </a:solidFill>
            <a:prstDash val="solid"/>
          </a:ln>
          <a:effectLst>
            <a:outerShdw blurRad="76200" dist="25400" dir="8100000" algn="bl" rotWithShape="0">
              <a:srgbClr val="000000">
                <a:alpha val="12000"/>
              </a:srgbClr>
            </a:outerShdw>
          </a:effectLst>
        </p:spPr>
      </p:sp>
      <p:sp>
        <p:nvSpPr>
          <p:cNvPr id="7" name="Text 5"/>
          <p:cNvSpPr/>
          <p:nvPr/>
        </p:nvSpPr>
        <p:spPr>
          <a:xfrm>
            <a:off x="404301" y="1188720"/>
            <a:ext cx="8361848" cy="3041858"/>
          </a:xfrm>
          <a:prstGeom prst="rect">
            <a:avLst/>
          </a:prstGeom>
          <a:noFill/>
          <a:ln/>
        </p:spPr>
        <p:txBody>
          <a:bodyPr wrap="square" lIns="127000" tIns="127000" rIns="127000" bIns="127000" rtlCol="0" anchor="t">
            <a:spAutoFit/>
          </a:bodyPr>
          <a:lstStyle/>
          <a:p>
            <a:pPr marL="216000" indent="-216000">
              <a:spcAft>
                <a:spcPts val="900"/>
              </a:spcAft>
              <a:buSzPct val="100000"/>
              <a:buChar char="•"/>
            </a:pPr>
            <a:r>
              <a:rPr lang="en-US" sz="1600" spc="-40" dirty="0">
                <a:solidFill>
                  <a:srgbClr val="0D1B2A"/>
                </a:solidFill>
                <a:latin typeface="Calibri" pitchFamily="34" charset="0"/>
                <a:ea typeface="Calibri" pitchFamily="34" charset="-122"/>
                <a:cs typeface="Calibri" pitchFamily="34" charset="-120"/>
              </a:rPr>
              <a:t>Dlaczego filtr komplementarny nie może zastąpić EKF w pełnym systemie lokalizacji?</a:t>
            </a:r>
            <a:endParaRPr lang="en-US" sz="1600" spc="-40" dirty="0"/>
          </a:p>
          <a:p>
            <a:pPr marL="216000" indent="-216000">
              <a:spcAft>
                <a:spcPts val="900"/>
              </a:spcAft>
              <a:buSzPct val="100000"/>
              <a:buChar char="•"/>
            </a:pPr>
            <a:r>
              <a:rPr lang="en-US" sz="1600" spc="-40" dirty="0">
                <a:solidFill>
                  <a:srgbClr val="0D1B2A"/>
                </a:solidFill>
                <a:latin typeface="Calibri" pitchFamily="34" charset="0"/>
                <a:ea typeface="Calibri" pitchFamily="34" charset="-122"/>
                <a:cs typeface="Calibri" pitchFamily="34" charset="-120"/>
              </a:rPr>
              <a:t>Jak wzmocnienie Kalmana K zmienia się, gdy macierz szumu pomiaru R jest bardzo duża?</a:t>
            </a:r>
            <a:endParaRPr lang="en-US" sz="1600" spc="-40" dirty="0"/>
          </a:p>
          <a:p>
            <a:pPr marL="216000" indent="-216000">
              <a:spcAft>
                <a:spcPts val="900"/>
              </a:spcAft>
              <a:buSzPct val="100000"/>
              <a:buChar char="•"/>
            </a:pPr>
            <a:r>
              <a:rPr lang="en-US" sz="1600" spc="-40" dirty="0">
                <a:solidFill>
                  <a:srgbClr val="0D1B2A"/>
                </a:solidFill>
                <a:latin typeface="Calibri" pitchFamily="34" charset="0"/>
                <a:ea typeface="Calibri" pitchFamily="34" charset="-122"/>
                <a:cs typeface="Calibri" pitchFamily="34" charset="-120"/>
              </a:rPr>
              <a:t>Co to jest NIS (Normalized Innovation Squared) i jak wykrywa awarię sensora?</a:t>
            </a:r>
            <a:endParaRPr lang="en-US" sz="1600" spc="-40" dirty="0"/>
          </a:p>
          <a:p>
            <a:pPr marL="216000" indent="-216000">
              <a:spcAft>
                <a:spcPts val="900"/>
              </a:spcAft>
              <a:buSzPct val="100000"/>
              <a:buChar char="•"/>
            </a:pPr>
            <a:r>
              <a:rPr lang="en-US" sz="1600" spc="-60" dirty="0" err="1" smtClean="0">
                <a:solidFill>
                  <a:srgbClr val="0D1B2A"/>
                </a:solidFill>
                <a:latin typeface="Calibri" pitchFamily="34" charset="0"/>
                <a:ea typeface="Calibri" pitchFamily="34" charset="-122"/>
                <a:cs typeface="Calibri" pitchFamily="34" charset="-120"/>
              </a:rPr>
              <a:t>Opisz</a:t>
            </a:r>
            <a:r>
              <a:rPr lang="en-US" sz="1600" spc="-60" dirty="0">
                <a:solidFill>
                  <a:srgbClr val="0D1B2A"/>
                </a:solidFill>
                <a:latin typeface="Calibri" pitchFamily="34" charset="0"/>
                <a:ea typeface="Calibri" pitchFamily="34" charset="-122"/>
                <a:cs typeface="Calibri" pitchFamily="34" charset="-120"/>
              </a:rPr>
              <a:t>, jakie sensory i jakie filtry </a:t>
            </a:r>
            <a:r>
              <a:rPr lang="en-US" sz="1600" spc="-60" dirty="0" err="1">
                <a:solidFill>
                  <a:srgbClr val="0D1B2A"/>
                </a:solidFill>
                <a:latin typeface="Calibri" pitchFamily="34" charset="0"/>
                <a:ea typeface="Calibri" pitchFamily="34" charset="-122"/>
                <a:cs typeface="Calibri" pitchFamily="34" charset="-120"/>
              </a:rPr>
              <a:t>wybrać</a:t>
            </a:r>
            <a:r>
              <a:rPr lang="en-US" sz="1600" spc="-60" dirty="0" smtClean="0">
                <a:solidFill>
                  <a:srgbClr val="0D1B2A"/>
                </a:solidFill>
                <a:latin typeface="Calibri" pitchFamily="34" charset="0"/>
                <a:ea typeface="Calibri" pitchFamily="34" charset="-122"/>
                <a:cs typeface="Calibri" pitchFamily="34" charset="-120"/>
              </a:rPr>
              <a:t>,</a:t>
            </a:r>
            <a:r>
              <a:rPr lang="pl-PL" sz="1600" spc="-60" dirty="0" smtClean="0">
                <a:solidFill>
                  <a:srgbClr val="0D1B2A"/>
                </a:solidFill>
                <a:latin typeface="Calibri" pitchFamily="34" charset="0"/>
                <a:ea typeface="Calibri" pitchFamily="34" charset="-122"/>
                <a:cs typeface="Calibri" pitchFamily="34" charset="-120"/>
              </a:rPr>
              <a:t> dla </a:t>
            </a:r>
            <a:r>
              <a:rPr lang="en-US" sz="1600" spc="-60" dirty="0" smtClean="0">
                <a:solidFill>
                  <a:srgbClr val="0D1B2A"/>
                </a:solidFill>
                <a:latin typeface="Calibri" pitchFamily="34" charset="0"/>
                <a:ea typeface="Calibri" pitchFamily="34" charset="-122"/>
                <a:cs typeface="Calibri" pitchFamily="34" charset="-120"/>
              </a:rPr>
              <a:t>humanoid</a:t>
            </a:r>
            <a:r>
              <a:rPr lang="pl-PL" sz="1600" spc="-60" dirty="0" smtClean="0">
                <a:solidFill>
                  <a:srgbClr val="0D1B2A"/>
                </a:solidFill>
                <a:latin typeface="Calibri" pitchFamily="34" charset="0"/>
                <a:ea typeface="Calibri" pitchFamily="34" charset="-122"/>
                <a:cs typeface="Calibri" pitchFamily="34" charset="-120"/>
              </a:rPr>
              <a:t>a</a:t>
            </a:r>
            <a:r>
              <a:rPr lang="en-US" sz="1600" spc="-60" dirty="0" smtClean="0">
                <a:solidFill>
                  <a:srgbClr val="0D1B2A"/>
                </a:solidFill>
                <a:latin typeface="Calibri" pitchFamily="34" charset="0"/>
                <a:ea typeface="Calibri" pitchFamily="34" charset="-122"/>
                <a:cs typeface="Calibri" pitchFamily="34" charset="-120"/>
              </a:rPr>
              <a:t> </a:t>
            </a:r>
            <a:r>
              <a:rPr lang="en-US" sz="1600" spc="-60" dirty="0" err="1" smtClean="0">
                <a:solidFill>
                  <a:srgbClr val="0D1B2A"/>
                </a:solidFill>
                <a:latin typeface="Calibri" pitchFamily="34" charset="0"/>
                <a:ea typeface="Calibri" pitchFamily="34" charset="-122"/>
                <a:cs typeface="Calibri" pitchFamily="34" charset="-120"/>
              </a:rPr>
              <a:t>patroluj</a:t>
            </a:r>
            <a:r>
              <a:rPr lang="pl-PL" sz="1600" spc="-60" dirty="0" err="1" smtClean="0">
                <a:solidFill>
                  <a:srgbClr val="0D1B2A"/>
                </a:solidFill>
                <a:latin typeface="Calibri" pitchFamily="34" charset="0"/>
                <a:ea typeface="Calibri" pitchFamily="34" charset="-122"/>
                <a:cs typeface="Calibri" pitchFamily="34" charset="-120"/>
              </a:rPr>
              <a:t>acego</a:t>
            </a:r>
            <a:r>
              <a:rPr lang="en-US" sz="1600" spc="-60" dirty="0" smtClean="0">
                <a:solidFill>
                  <a:srgbClr val="0D1B2A"/>
                </a:solidFill>
                <a:latin typeface="Calibri" pitchFamily="34" charset="0"/>
                <a:ea typeface="Calibri" pitchFamily="34" charset="-122"/>
                <a:cs typeface="Calibri" pitchFamily="34" charset="-120"/>
              </a:rPr>
              <a:t> </a:t>
            </a:r>
            <a:r>
              <a:rPr lang="en-US" sz="1600" spc="-60" dirty="0" err="1">
                <a:solidFill>
                  <a:srgbClr val="0D1B2A"/>
                </a:solidFill>
                <a:latin typeface="Calibri" pitchFamily="34" charset="0"/>
                <a:ea typeface="Calibri" pitchFamily="34" charset="-122"/>
                <a:cs typeface="Calibri" pitchFamily="34" charset="-120"/>
              </a:rPr>
              <a:t>budynek</a:t>
            </a:r>
            <a:r>
              <a:rPr lang="en-US" sz="1600" spc="-60" dirty="0">
                <a:solidFill>
                  <a:srgbClr val="0D1B2A"/>
                </a:solidFill>
                <a:latin typeface="Calibri" pitchFamily="34" charset="0"/>
                <a:ea typeface="Calibri" pitchFamily="34" charset="-122"/>
                <a:cs typeface="Calibri" pitchFamily="34" charset="-120"/>
              </a:rPr>
              <a:t> </a:t>
            </a:r>
            <a:r>
              <a:rPr lang="en-US" sz="1600" spc="-60" dirty="0" err="1">
                <a:solidFill>
                  <a:srgbClr val="0D1B2A"/>
                </a:solidFill>
                <a:latin typeface="Calibri" pitchFamily="34" charset="0"/>
                <a:ea typeface="Calibri" pitchFamily="34" charset="-122"/>
                <a:cs typeface="Calibri" pitchFamily="34" charset="-120"/>
              </a:rPr>
              <a:t>przez</a:t>
            </a:r>
            <a:r>
              <a:rPr lang="en-US" sz="1600" spc="-60" dirty="0">
                <a:solidFill>
                  <a:srgbClr val="0D1B2A"/>
                </a:solidFill>
                <a:latin typeface="Calibri" pitchFamily="34" charset="0"/>
                <a:ea typeface="Calibri" pitchFamily="34" charset="-122"/>
                <a:cs typeface="Calibri" pitchFamily="34" charset="-120"/>
              </a:rPr>
              <a:t> 30 </a:t>
            </a:r>
            <a:r>
              <a:rPr lang="en-US" sz="1600" spc="-60" dirty="0" smtClean="0">
                <a:solidFill>
                  <a:srgbClr val="0D1B2A"/>
                </a:solidFill>
                <a:latin typeface="Calibri" pitchFamily="34" charset="0"/>
                <a:ea typeface="Calibri" pitchFamily="34" charset="-122"/>
                <a:cs typeface="Calibri" pitchFamily="34" charset="-120"/>
              </a:rPr>
              <a:t>min</a:t>
            </a:r>
            <a:r>
              <a:rPr lang="pl-PL" sz="1600" spc="-60" dirty="0" smtClean="0">
                <a:solidFill>
                  <a:srgbClr val="0D1B2A"/>
                </a:solidFill>
                <a:latin typeface="Calibri" pitchFamily="34" charset="0"/>
                <a:ea typeface="Calibri" pitchFamily="34" charset="-122"/>
                <a:cs typeface="Calibri" pitchFamily="34" charset="-120"/>
              </a:rPr>
              <a:t>,</a:t>
            </a:r>
            <a:r>
              <a:rPr lang="en-US" sz="1600" spc="-60" dirty="0" smtClean="0">
                <a:solidFill>
                  <a:srgbClr val="0D1B2A"/>
                </a:solidFill>
                <a:latin typeface="Calibri" pitchFamily="34" charset="0"/>
                <a:ea typeface="Calibri" pitchFamily="34" charset="-122"/>
                <a:cs typeface="Calibri" pitchFamily="34" charset="-120"/>
              </a:rPr>
              <a:t> </a:t>
            </a:r>
            <a:r>
              <a:rPr lang="en-US" sz="1600" spc="-60" dirty="0">
                <a:solidFill>
                  <a:srgbClr val="0D1B2A"/>
                </a:solidFill>
                <a:latin typeface="Calibri" pitchFamily="34" charset="0"/>
                <a:ea typeface="Calibri" pitchFamily="34" charset="-122"/>
                <a:cs typeface="Calibri" pitchFamily="34" charset="-120"/>
              </a:rPr>
              <a:t>aby błąd pozycji nie </a:t>
            </a:r>
            <a:r>
              <a:rPr lang="en-US" sz="1600" spc="-60" dirty="0" err="1">
                <a:solidFill>
                  <a:srgbClr val="0D1B2A"/>
                </a:solidFill>
                <a:latin typeface="Calibri" pitchFamily="34" charset="0"/>
                <a:ea typeface="Calibri" pitchFamily="34" charset="-122"/>
                <a:cs typeface="Calibri" pitchFamily="34" charset="-120"/>
              </a:rPr>
              <a:t>przekroczył</a:t>
            </a:r>
            <a:r>
              <a:rPr lang="en-US" sz="1600" spc="-60" dirty="0">
                <a:solidFill>
                  <a:srgbClr val="0D1B2A"/>
                </a:solidFill>
                <a:latin typeface="Calibri" pitchFamily="34" charset="0"/>
                <a:ea typeface="Calibri" pitchFamily="34" charset="-122"/>
                <a:cs typeface="Calibri" pitchFamily="34" charset="-120"/>
              </a:rPr>
              <a:t> </a:t>
            </a:r>
            <a:r>
              <a:rPr lang="en-US" sz="1600" spc="-60" dirty="0" smtClean="0">
                <a:solidFill>
                  <a:srgbClr val="0D1B2A"/>
                </a:solidFill>
                <a:latin typeface="Calibri" pitchFamily="34" charset="0"/>
                <a:ea typeface="Calibri" pitchFamily="34" charset="-122"/>
                <a:cs typeface="Calibri" pitchFamily="34" charset="-120"/>
              </a:rPr>
              <a:t>0,3m</a:t>
            </a:r>
            <a:r>
              <a:rPr lang="en-US" sz="1600" spc="-60" dirty="0">
                <a:solidFill>
                  <a:srgbClr val="0D1B2A"/>
                </a:solidFill>
                <a:latin typeface="Calibri" pitchFamily="34" charset="0"/>
                <a:ea typeface="Calibri" pitchFamily="34" charset="-122"/>
                <a:cs typeface="Calibri" pitchFamily="34" charset="-120"/>
              </a:rPr>
              <a:t>. Jakie jest minimalne wymaganie na częstotliwość domknięcia pętli?</a:t>
            </a:r>
            <a:endParaRPr lang="en-US" sz="1600" spc="-60" dirty="0"/>
          </a:p>
          <a:p>
            <a:pPr>
              <a:spcAft>
                <a:spcPts val="900"/>
              </a:spcAft>
              <a:buSzPct val="100000"/>
            </a:pPr>
            <a:endParaRPr lang="pl-PL" sz="1050" b="1" dirty="0" smtClean="0">
              <a:solidFill>
                <a:srgbClr val="0D1B2A"/>
              </a:solidFill>
              <a:latin typeface="Calibri" pitchFamily="34" charset="0"/>
              <a:ea typeface="Calibri" pitchFamily="34" charset="-122"/>
              <a:cs typeface="Calibri" pitchFamily="34" charset="-120"/>
            </a:endParaRPr>
          </a:p>
          <a:p>
            <a:pPr>
              <a:spcAft>
                <a:spcPts val="600"/>
              </a:spcAft>
              <a:buSzPct val="100000"/>
            </a:pPr>
            <a:r>
              <a:rPr lang="en-US" sz="1600" b="1" dirty="0" err="1" smtClean="0">
                <a:solidFill>
                  <a:srgbClr val="0D1B2A"/>
                </a:solidFill>
                <a:latin typeface="Calibri" pitchFamily="34" charset="0"/>
                <a:ea typeface="Calibri" pitchFamily="34" charset="-122"/>
                <a:cs typeface="Calibri" pitchFamily="34" charset="-120"/>
              </a:rPr>
              <a:t>Zadanie</a:t>
            </a:r>
            <a:r>
              <a:rPr lang="en-US" sz="1600" dirty="0" smtClean="0">
                <a:solidFill>
                  <a:srgbClr val="0D1B2A"/>
                </a:solidFill>
                <a:latin typeface="Calibri" pitchFamily="34" charset="0"/>
                <a:ea typeface="Calibri" pitchFamily="34" charset="-122"/>
                <a:cs typeface="Calibri" pitchFamily="34" charset="-120"/>
              </a:rPr>
              <a:t> </a:t>
            </a:r>
            <a:endParaRPr lang="pl-PL" sz="1600" dirty="0" smtClean="0">
              <a:solidFill>
                <a:srgbClr val="0D1B2A"/>
              </a:solidFill>
              <a:latin typeface="Calibri" pitchFamily="34" charset="0"/>
              <a:ea typeface="Calibri" pitchFamily="34" charset="-122"/>
              <a:cs typeface="Calibri" pitchFamily="34" charset="-120"/>
            </a:endParaRPr>
          </a:p>
          <a:p>
            <a:pPr>
              <a:spcAft>
                <a:spcPts val="900"/>
              </a:spcAft>
              <a:buSzPct val="100000"/>
            </a:pPr>
            <a:r>
              <a:rPr lang="pl-PL" sz="1600" dirty="0" smtClean="0">
                <a:solidFill>
                  <a:srgbClr val="0D1B2A"/>
                </a:solidFill>
                <a:latin typeface="Calibri" pitchFamily="34" charset="0"/>
                <a:ea typeface="Calibri" pitchFamily="34" charset="-122"/>
                <a:cs typeface="Calibri" pitchFamily="34" charset="-120"/>
              </a:rPr>
              <a:t>Z</a:t>
            </a:r>
            <a:r>
              <a:rPr lang="en-US" sz="1600" dirty="0" err="1" smtClean="0">
                <a:solidFill>
                  <a:srgbClr val="0D1B2A"/>
                </a:solidFill>
                <a:latin typeface="Calibri" pitchFamily="34" charset="0"/>
                <a:ea typeface="Calibri" pitchFamily="34" charset="-122"/>
                <a:cs typeface="Calibri" pitchFamily="34" charset="-120"/>
              </a:rPr>
              <a:t>aimplementuj</a:t>
            </a:r>
            <a:r>
              <a:rPr lang="en-US" sz="1600" dirty="0" smtClean="0">
                <a:solidFill>
                  <a:srgbClr val="0D1B2A"/>
                </a:solidFill>
                <a:latin typeface="Calibri" pitchFamily="34" charset="0"/>
                <a:ea typeface="Calibri" pitchFamily="34" charset="-122"/>
                <a:cs typeface="Calibri" pitchFamily="34" charset="-120"/>
              </a:rPr>
              <a:t> </a:t>
            </a:r>
            <a:r>
              <a:rPr lang="en-US" sz="1600" dirty="0">
                <a:solidFill>
                  <a:srgbClr val="0D1B2A"/>
                </a:solidFill>
                <a:latin typeface="Calibri" pitchFamily="34" charset="0"/>
                <a:ea typeface="Calibri" pitchFamily="34" charset="-122"/>
                <a:cs typeface="Calibri" pitchFamily="34" charset="-120"/>
              </a:rPr>
              <a:t>StepOdometry z Sekcji 1 i porównaj dryft z i bez korekty z EKF przy symulowanym szumie yaw = 0,02 rad/krok.</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Motyw pakietu Office">
  <a:themeElements>
    <a:clrScheme name="Pakiet 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Pakiet 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Pakiet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7256</Words>
  <Application>Microsoft Office PowerPoint</Application>
  <PresentationFormat>Pokaz na ekranie (16:9)</PresentationFormat>
  <Paragraphs>473</Paragraphs>
  <Slides>32</Slides>
  <Notes>32</Notes>
  <HiddenSlides>0</HiddenSlides>
  <MMClips>0</MMClips>
  <ScaleCrop>false</ScaleCrop>
  <HeadingPairs>
    <vt:vector size="6" baseType="variant">
      <vt:variant>
        <vt:lpstr>Używane czcionki</vt:lpstr>
      </vt:variant>
      <vt:variant>
        <vt:i4>4</vt:i4>
      </vt:variant>
      <vt:variant>
        <vt:lpstr>Motyw</vt:lpstr>
      </vt:variant>
      <vt:variant>
        <vt:i4>1</vt:i4>
      </vt:variant>
      <vt:variant>
        <vt:lpstr>Tytuły slajdów</vt:lpstr>
      </vt:variant>
      <vt:variant>
        <vt:i4>32</vt:i4>
      </vt:variant>
    </vt:vector>
  </HeadingPairs>
  <TitlesOfParts>
    <vt:vector size="37" baseType="lpstr">
      <vt:lpstr>Arial</vt:lpstr>
      <vt:lpstr>Calibri</vt:lpstr>
      <vt:lpstr>Consolas</vt:lpstr>
      <vt:lpstr>Trebuchet MS</vt:lpstr>
      <vt:lpstr>Office Theme</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Wykład 2 – Lokalizacja, odometria i fuzja sensoryczna</dc:title>
  <dc:subject>Nawigacja robotyczna</dc:subject>
  <dc:creator>Politechnika – Katedra Robotyki</dc:creator>
  <cp:lastModifiedBy>Mateusz Pomianek</cp:lastModifiedBy>
  <cp:revision>143</cp:revision>
  <dcterms:created xsi:type="dcterms:W3CDTF">2026-04-13T11:35:45Z</dcterms:created>
  <dcterms:modified xsi:type="dcterms:W3CDTF">2026-04-29T14:50:43Z</dcterms:modified>
</cp:coreProperties>
</file>