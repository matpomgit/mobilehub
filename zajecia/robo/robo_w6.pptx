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47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98978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github.com/nicklashansen/tdmpc2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" y="0"/>
            <a:ext cx="9070848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822960"/>
            <a:ext cx="2286000" cy="2286000"/>
          </a:xfrm>
          <a:prstGeom prst="ellipse">
            <a:avLst/>
          </a:prstGeom>
          <a:solidFill>
            <a:schemeClr val="bg1"/>
          </a:solidFill>
          <a:ln w="76200">
            <a:solidFill>
              <a:srgbClr val="F59E0B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234440"/>
            <a:ext cx="1463040" cy="1463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" y="82296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NAWIGACJA ROBOTÓW HUMANOIDALNYCH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20040" y="123444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WYKŁAD 6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320040" y="192024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World-Model-Action (WMA)
w nawigacji humanoida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320040" y="2834640"/>
            <a:ext cx="5760720" cy="274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29718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1200" b="1" dirty="0" smtClean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inż. Mateusz Pomianek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20040" y="4096512"/>
            <a:ext cx="1993392" cy="566928"/>
          </a:xfrm>
          <a:prstGeom prst="rect">
            <a:avLst/>
          </a:prstGeom>
          <a:solidFill>
            <a:srgbClr val="1A3550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0040" y="4096512"/>
            <a:ext cx="1993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świata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3" name="Shape 10"/>
          <p:cNvSpPr/>
          <p:nvPr/>
        </p:nvSpPr>
        <p:spPr>
          <a:xfrm>
            <a:off x="2468880" y="4096512"/>
            <a:ext cx="1993392" cy="566928"/>
          </a:xfrm>
          <a:prstGeom prst="rect">
            <a:avLst/>
          </a:prstGeom>
          <a:solidFill>
            <a:srgbClr val="1A3550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468880" y="4096512"/>
            <a:ext cx="1993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Planowanie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5" name="Shape 12"/>
          <p:cNvSpPr/>
          <p:nvPr/>
        </p:nvSpPr>
        <p:spPr>
          <a:xfrm>
            <a:off x="4617720" y="4096512"/>
            <a:ext cx="1993392" cy="566928"/>
          </a:xfrm>
          <a:prstGeom prst="rect">
            <a:avLst/>
          </a:prstGeom>
          <a:solidFill>
            <a:srgbClr val="1A3550"/>
          </a:solidFill>
          <a:ln w="19050">
            <a:solidFill>
              <a:srgbClr val="0077A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617720" y="4096512"/>
            <a:ext cx="1993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DreamerV3/TDMPC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7" name="Shape 14"/>
          <p:cNvSpPr/>
          <p:nvPr/>
        </p:nvSpPr>
        <p:spPr>
          <a:xfrm>
            <a:off x="6766560" y="4096512"/>
            <a:ext cx="1993392" cy="566928"/>
          </a:xfrm>
          <a:prstGeom prst="rect">
            <a:avLst/>
          </a:prstGeom>
          <a:solidFill>
            <a:srgbClr val="1A3550"/>
          </a:solidFill>
          <a:ln w="19050">
            <a:solidFill>
              <a:srgbClr val="90E0E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4096512"/>
            <a:ext cx="1993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ROS 2 + WMA</a:t>
            </a:r>
            <a:endParaRPr lang="en-US" sz="1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WPROWADZENIE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wykładu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43000"/>
            <a:ext cx="416052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234440"/>
            <a:ext cx="394106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84048" y="1853489"/>
            <a:ext cx="3941064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Intuicja i architektura WMA: model świata, stan latentny, planowanie w wyobraźni, RSSM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09160" y="114300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143000"/>
            <a:ext cx="4160520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18888" y="1234440"/>
            <a:ext cx="394106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818888" y="1853489"/>
            <a:ext cx="3941064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Algorytmy i implementacje: DreamerV3, TDMPC2, JEPA; jak działają krok po kroku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74320" y="297180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971800"/>
            <a:ext cx="4160520" cy="5486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3063240"/>
            <a:ext cx="394106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84048" y="3682289"/>
            <a:ext cx="3941064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WMA w nawigacji humanoida: integracja z ROS 2, planista wielopoziomowy, trening i wdrożenie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709160" y="297180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2971800"/>
            <a:ext cx="4160520" cy="54864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18888" y="3063240"/>
            <a:ext cx="394106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Kody Python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4818888" y="3682289"/>
            <a:ext cx="3941064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RSSM, planowanie w wyobraźni, trening DreamerV3, integracja z Nav2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35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2286000" cy="2286000"/>
          </a:xfrm>
          <a:prstGeom prst="rect">
            <a:avLst/>
          </a:prstGeom>
          <a:noFill/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F59E0B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2000" dirty="0"/>
          </a:p>
        </p:txBody>
      </p:sp>
      <p:sp>
        <p:nvSpPr>
          <p:cNvPr id="5" name="Shape 3"/>
          <p:cNvSpPr/>
          <p:nvPr/>
        </p:nvSpPr>
        <p:spPr>
          <a:xfrm>
            <a:off x="7132320" y="1371600"/>
            <a:ext cx="1645920" cy="164592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59E0B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6459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260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926080" y="160020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Czym jest WMA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model świata</a:t>
            </a:r>
            <a:endParaRPr lang="en-US" sz="3600" dirty="0"/>
          </a:p>
        </p:txBody>
      </p:sp>
      <p:sp>
        <p:nvSpPr>
          <p:cNvPr id="9" name="Shape 6"/>
          <p:cNvSpPr/>
          <p:nvPr/>
        </p:nvSpPr>
        <p:spPr>
          <a:xfrm>
            <a:off x="2926080" y="2697480"/>
            <a:ext cx="3931920" cy="274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926080" y="28346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Intuicja, architektura, stan latentny i planowanie w wyobraźni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ANALOGIA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Intuicja: jak człowiek planuje ruch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30810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30200" y="1188720"/>
            <a:ext cx="8539480" cy="285623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16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Zanim wstaniesz z krzesła i przejdziesz do kuchni, wyobrażasz sobie tę trasę w głowie</a:t>
            </a:r>
            <a:endParaRPr lang="en-US" sz="1600" spc="-4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16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Twój mózg posiada wewnętrzny model </a:t>
            </a:r>
            <a:r>
              <a:rPr lang="pl-PL" sz="1600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mieszkania</a:t>
            </a:r>
            <a:r>
              <a:rPr lang="en-US" sz="1600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l-PL" sz="1600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600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przewiduje, co zobaczysz za rogiem</a:t>
            </a:r>
            <a:endParaRPr lang="en-US" sz="1600" spc="-4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16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 testujesz każdego kroku fizycznie; symulacja w głowie jest tańsza i bezpieczniejsza</a:t>
            </a:r>
            <a:endParaRPr lang="en-US" sz="1600" spc="-4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16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Jeśli wyobrażona ścieżka prowadzi do kolizji, wybierasz inną ZANIM zaczniesz iść</a:t>
            </a:r>
            <a:endParaRPr lang="en-US" sz="1600" spc="-40" dirty="0"/>
          </a:p>
          <a:p>
            <a:pPr>
              <a:spcAft>
                <a:spcPts val="1200"/>
              </a:spcAft>
              <a:buSzPct val="100000"/>
            </a:pPr>
            <a:r>
              <a:rPr lang="en-US" sz="160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właśnie robi World Model</a:t>
            </a:r>
            <a:r>
              <a:rPr lang="en-US" sz="16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uczy się kompaktowej reprezentacji (stanu latentnego) i symuluje przyszłość</a:t>
            </a:r>
            <a:endParaRPr lang="en-US" sz="1600" spc="-40" dirty="0"/>
          </a:p>
          <a:p>
            <a:pPr>
              <a:spcAft>
                <a:spcPts val="1200"/>
              </a:spcAft>
              <a:buSzPct val="100000"/>
            </a:pPr>
            <a:r>
              <a:rPr lang="en-US" sz="160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WMA </a:t>
            </a:r>
            <a:r>
              <a:rPr lang="pl-PL" sz="1600" b="1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r>
              <a:rPr lang="en-US" sz="1600" b="1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z wbudowaną wyobraźnią</a:t>
            </a:r>
            <a:r>
              <a:rPr lang="en-US" sz="16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planuje w przestrzeni latentnej, nie na fizycznym robocie</a:t>
            </a:r>
            <a:endParaRPr lang="en-US" sz="1600" spc="-40" dirty="0"/>
          </a:p>
          <a:p>
            <a:pPr>
              <a:spcAft>
                <a:spcPts val="1200"/>
              </a:spcAft>
              <a:buSzPct val="100000"/>
            </a:pPr>
            <a:r>
              <a:rPr lang="en-US" sz="160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Korzyść</a:t>
            </a:r>
            <a:r>
              <a:rPr lang="en-US" sz="16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można przetestować tysiące sekwencji akcji w milisekundach bez ryzyka uszkodzenia sprzętu</a:t>
            </a:r>
            <a:endParaRPr lang="en-US" sz="1600" spc="-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PORÓWNANIE PODEJŚĆ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Trzy podejścia do sterowania robotem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2651760" cy="28003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43000"/>
            <a:ext cx="2651760" cy="41148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16128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Reaktywne (Reflex)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84048" y="1627632"/>
            <a:ext cx="2432304" cy="3154680"/>
          </a:xfrm>
          <a:prstGeom prst="rect">
            <a:avLst/>
          </a:prstGeom>
          <a:noFill/>
          <a:ln/>
        </p:spPr>
        <p:txBody>
          <a:bodyPr wrap="square" lIns="50800" tIns="76200" rIns="50800" bIns="50800" rtlCol="0" anchor="t"/>
          <a:lstStyle/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 → action natychmiast</a:t>
            </a:r>
            <a:endParaRPr lang="en-US" sz="1400" spc="-4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Szybkie, proste (PID, DWA)</a:t>
            </a:r>
            <a:endParaRPr lang="en-US" sz="1400" spc="-4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planowania do przodu</a:t>
            </a:r>
            <a:endParaRPr lang="en-US" sz="1400" spc="-4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 uczy się środowiska</a:t>
            </a:r>
            <a:endParaRPr lang="en-US" sz="1400" spc="-4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Wrażliwe na zmiany otoczenia</a:t>
            </a:r>
            <a:endParaRPr lang="en-US" sz="1400" spc="-4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Przykład: regulator P dla yaw</a:t>
            </a:r>
            <a:endParaRPr lang="en-US" sz="1400" spc="-40" dirty="0"/>
          </a:p>
        </p:txBody>
      </p:sp>
      <p:sp>
        <p:nvSpPr>
          <p:cNvPr id="10" name="Shape 8"/>
          <p:cNvSpPr/>
          <p:nvPr/>
        </p:nvSpPr>
        <p:spPr>
          <a:xfrm>
            <a:off x="3154680" y="1143000"/>
            <a:ext cx="2651760" cy="28003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143000"/>
            <a:ext cx="2651760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116128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Model-free RL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264408" y="1627632"/>
            <a:ext cx="2432304" cy="3154680"/>
          </a:xfrm>
          <a:prstGeom prst="rect">
            <a:avLst/>
          </a:prstGeom>
          <a:noFill/>
          <a:ln/>
        </p:spPr>
        <p:txBody>
          <a:bodyPr wrap="square" lIns="50800" tIns="76200" rIns="50800" bIns="50800" rtlCol="0" anchor="t"/>
          <a:lstStyle/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Polityka uczona metodą prób</a:t>
            </a:r>
            <a:endParaRPr lang="en-US" sz="1400" spc="-4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Miliony rollout-ów na robocie</a:t>
            </a:r>
            <a:endParaRPr lang="en-US" sz="1400" spc="-4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jawnego modelu środowiska</a:t>
            </a:r>
            <a:endParaRPr lang="en-US" sz="1400" spc="-4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Dobra wydajność końcowa</a:t>
            </a:r>
            <a:endParaRPr lang="en-US" sz="1400" spc="-4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Drogie: czas + zużycie sprzętu</a:t>
            </a:r>
            <a:endParaRPr lang="en-US" sz="1400" spc="-4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Przykład: PPO, SAC, TD3</a:t>
            </a:r>
            <a:endParaRPr lang="en-US" sz="1400" spc="-40" dirty="0"/>
          </a:p>
        </p:txBody>
      </p:sp>
      <p:sp>
        <p:nvSpPr>
          <p:cNvPr id="14" name="Shape 12"/>
          <p:cNvSpPr/>
          <p:nvPr/>
        </p:nvSpPr>
        <p:spPr>
          <a:xfrm>
            <a:off x="6035040" y="1143000"/>
            <a:ext cx="2651760" cy="280035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143000"/>
            <a:ext cx="2651760" cy="411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44768" y="116128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WMA (Model-based)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093968" y="1627632"/>
            <a:ext cx="2542032" cy="3154680"/>
          </a:xfrm>
          <a:prstGeom prst="rect">
            <a:avLst/>
          </a:prstGeom>
          <a:noFill/>
          <a:ln/>
        </p:spPr>
        <p:txBody>
          <a:bodyPr wrap="square" lIns="50800" tIns="76200" rIns="50800" bIns="50800" rtlCol="0" anchor="t"/>
          <a:lstStyle/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świata: (</a:t>
            </a:r>
            <a:r>
              <a:rPr lang="en-US" sz="1400" spc="-4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r>
              <a:rPr lang="en-US" sz="1400" spc="-40" baseline="-2500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n-US" sz="1400" spc="-40" baseline="-2500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→ </a:t>
            </a:r>
            <a:r>
              <a:rPr lang="en-US" sz="1400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r>
              <a:rPr lang="en-US" sz="1400" spc="-40" baseline="-2500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t+1</a:t>
            </a:r>
            <a:endParaRPr lang="en-US" sz="1400" spc="-4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Planowanie w wyobraźni (latent)</a:t>
            </a:r>
            <a:endParaRPr lang="en-US" sz="1400" spc="-4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400" spc="-8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r>
              <a:rPr lang="pl-PL" sz="1400" spc="-8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1400" spc="-8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r>
              <a:rPr lang="en-US" sz="1400" spc="-8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mniej </a:t>
            </a:r>
            <a:r>
              <a:rPr lang="en-US" sz="1400" spc="-8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interakcji</a:t>
            </a:r>
            <a:r>
              <a:rPr lang="en-US" sz="1400" spc="-8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spc="-8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</a:t>
            </a:r>
            <a:r>
              <a:rPr lang="en-US" sz="1400" spc="-8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robotem</a:t>
            </a:r>
            <a:endParaRPr lang="en-US" sz="1400" spc="-8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Generalizacja z modelu na nowe sceny</a:t>
            </a:r>
            <a:endParaRPr lang="en-US" sz="1400" spc="-40" dirty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400" spc="-8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Wymaga</a:t>
            </a:r>
            <a:r>
              <a:rPr lang="en-US" sz="1400" spc="-8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spc="-8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dobrego</a:t>
            </a:r>
            <a:r>
              <a:rPr lang="en-US" sz="1400" spc="-8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spc="-8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modelu</a:t>
            </a:r>
            <a:r>
              <a:rPr lang="en-US" sz="1400" spc="-8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spc="-8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przejścia</a:t>
            </a:r>
            <a:endParaRPr lang="en-US" sz="1400" spc="-80" dirty="0" smtClean="0"/>
          </a:p>
          <a:p>
            <a:pPr marL="144000" indent="-144000">
              <a:spcAft>
                <a:spcPts val="800"/>
              </a:spcAft>
              <a:buSzPct val="100000"/>
              <a:buChar char="•"/>
            </a:pPr>
            <a:r>
              <a:rPr lang="en-US" sz="1400" spc="-4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Przykład</a:t>
            </a:r>
            <a:r>
              <a:rPr lang="en-US" sz="1400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DreamerV3, TDMPC2</a:t>
            </a:r>
            <a:endParaRPr lang="en-US" sz="1400" spc="-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DEFINICJA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Definicja i składowe architektury WMA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8229600" cy="352044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WMA (World-Model-Action)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system sterowania zbudowany wokół wyuczonego modelu dynamiki środowiska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Komponent 1 </a:t>
            </a:r>
            <a:r>
              <a:rPr lang="en-US" sz="1400" b="1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Enkoder (encoder): </a:t>
            </a:r>
            <a:r>
              <a:rPr lang="en-US" sz="14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obserwacja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o_t</a:t>
            </a:r>
            <a:r>
              <a:rPr lang="en-US" sz="140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stan </a:t>
            </a:r>
            <a:r>
              <a:rPr lang="en-US" sz="14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latentny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r>
              <a:rPr lang="en-US" sz="1400" baseline="-2500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40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4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kompresja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niskwymiarowej reprezentacji)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Komponent 2 </a:t>
            </a:r>
            <a:r>
              <a:rPr lang="en-US" sz="1400" b="1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przejścia (transition model):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40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z_t</a:t>
            </a:r>
            <a:r>
              <a:rPr lang="en-US" sz="140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a_t</a:t>
            </a:r>
            <a:r>
              <a:rPr lang="en-US" sz="140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z_{t+1} (przewiduje następny stan w przestrzeni latentnej)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Komponent 3 </a:t>
            </a:r>
            <a:r>
              <a:rPr lang="en-US" sz="1400" b="1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nagrody/wartości (reward/value head): </a:t>
            </a:r>
            <a:r>
              <a:rPr lang="en-US" sz="140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z_t</a:t>
            </a:r>
            <a:r>
              <a:rPr lang="en-US" sz="140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40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r_t</a:t>
            </a:r>
            <a:r>
              <a:rPr lang="en-US" sz="140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lub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V(</a:t>
            </a:r>
            <a:r>
              <a:rPr lang="en-US" sz="140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z_t</a:t>
            </a:r>
            <a:r>
              <a:rPr lang="en-US" sz="140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(ocena jakości stanu)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Komponent 4 </a:t>
            </a:r>
            <a:r>
              <a:rPr lang="en-US" sz="1400" b="1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Dekoder (decoder, opcjonalny): </a:t>
            </a:r>
            <a:r>
              <a:rPr lang="en-US" sz="140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z_t</a:t>
            </a:r>
            <a:r>
              <a:rPr lang="en-US" sz="140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40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ô_t</a:t>
            </a:r>
            <a:r>
              <a:rPr lang="en-US" sz="140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(rekonstrukcja obserwacji; służy do uczenia enkodera)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Komponent 5 </a:t>
            </a:r>
            <a:r>
              <a:rPr lang="en-US" sz="1400" b="1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Planista/polityka (policy):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planuje sekwencję akcji maksymalizującą wartość w przestrzeni latentnej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Trening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minimalizacja błędu rekonstrukcji + błędu predykcji przejścia + maximalizacja nagrody (ELBO / RL)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ARCHITEKTURA WMA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Architektura WMA 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 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od obserwacji do akcji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5394960" cy="662026"/>
          </a:xfrm>
          <a:prstGeom prst="rect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1143000"/>
            <a:ext cx="182880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Obserwacja</a:t>
            </a:r>
            <a:r>
              <a:rPr lang="en-US" sz="1250" b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250" b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o_t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331720" y="1143000"/>
            <a:ext cx="315468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Obraz RGB, chmura LiDAR, propriocepcja (q, dq, τ) </a:t>
            </a:r>
            <a:r>
              <a:rPr lang="en-US" sz="11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surowe dane z sensorów robota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44368" y="1814170"/>
            <a:ext cx="54864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1914754"/>
            <a:ext cx="5394960" cy="66202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11480" y="1914754"/>
            <a:ext cx="182880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Enkoder E(·)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331720" y="1914754"/>
            <a:ext cx="315468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lub ViT kompresuje obserwację do stanu </a:t>
            </a:r>
            <a:r>
              <a:rPr lang="en-US" sz="110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latentnego</a:t>
            </a: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z_t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∈ ℝ^d (d = </a:t>
            </a:r>
            <a:r>
              <a:rPr lang="en-US" sz="11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512-2048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944368" y="2585923"/>
            <a:ext cx="54864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320" y="2686507"/>
            <a:ext cx="5394960" cy="66202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11480" y="2686507"/>
            <a:ext cx="182880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Recurrent </a:t>
            </a:r>
            <a:r>
              <a:rPr lang="en-US" sz="1250" b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</a:t>
            </a:r>
            <a:r>
              <a:rPr lang="en-US" sz="1250" b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h_t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331720" y="2686507"/>
            <a:ext cx="315468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GRU/LSTM przechowuje historię</a:t>
            </a: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r>
              <a:rPr lang="en-US" sz="110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h_t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f(h_{t-1</a:t>
            </a: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}, </a:t>
            </a:r>
            <a:r>
              <a:rPr lang="en-US" sz="110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z_t);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modeluje zależności czasowe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944368" y="3357677"/>
            <a:ext cx="54864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3458261"/>
            <a:ext cx="5394960" cy="66202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11480" y="3458261"/>
            <a:ext cx="182880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przejścia T(·)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331720" y="3458261"/>
            <a:ext cx="315468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MLP/Transformer: </a:t>
            </a: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10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h_t, a_t)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ẑ_{t+1}; predykcja w wyobraźni bez rzeczywistego kroku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944368" y="4129430"/>
            <a:ext cx="54864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4320" y="4230014"/>
            <a:ext cx="5394960" cy="66202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11480" y="4230014"/>
            <a:ext cx="182880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Planista + polityka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2331720" y="4230014"/>
            <a:ext cx="315468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MPPI / CEM / actor-critic planuje N kroków do przodu w latent space; </a:t>
            </a:r>
            <a:r>
              <a:rPr lang="en-US" sz="110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wybiera</a:t>
            </a: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a_t*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943600" y="1143000"/>
            <a:ext cx="2926080" cy="3749040"/>
          </a:xfrm>
          <a:prstGeom prst="rect">
            <a:avLst/>
          </a:prstGeom>
          <a:solidFill>
            <a:srgbClr val="0D1B2A"/>
          </a:solidFill>
          <a:ln w="12700">
            <a:solidFill>
              <a:srgbClr val="F59E0B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43600" y="1143000"/>
            <a:ext cx="2926080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80760" y="116128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Kluczowe cechy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080760" y="1600200"/>
            <a:ext cx="2651760" cy="3200400"/>
          </a:xfrm>
          <a:prstGeom prst="rect">
            <a:avLst/>
          </a:prstGeom>
          <a:noFill/>
          <a:ln/>
        </p:spPr>
        <p:txBody>
          <a:bodyPr wrap="square" lIns="63500" tIns="101600" rIns="63500" bIns="6350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Planowanie bez GPU-heavy forward pass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 dim 512: 1000 trajektorii w ~5 ms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przejścia: ~2M parametrów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Enkoder: ViT-S ~22M lub CNN ~5M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Trening: </a:t>
            </a:r>
            <a:r>
              <a:rPr lang="en-US" sz="1200" dirty="0" smtClean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100k-10M </a:t>
            </a: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klatek z robota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Inferencja: ~1 ms na GPU embedded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STAN LATENTNY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 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latentny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 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czym jest i dlaczego działa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60520" cy="266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709160" y="1097280"/>
            <a:ext cx="4160520" cy="266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97280"/>
            <a:ext cx="4160520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1155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Czym jest stan </a:t>
            </a:r>
            <a:r>
              <a:rPr lang="en-US" sz="1400" b="1" dirty="0" err="1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latentny</a:t>
            </a: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400" b="1" dirty="0" err="1" smtClean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</a:t>
            </a:r>
            <a:r>
              <a:rPr lang="en-US" sz="1400" b="1" baseline="-25000" dirty="0" err="1" smtClean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09160" y="1097280"/>
            <a:ext cx="416052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94250" y="1115568"/>
            <a:ext cx="40754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spc="-4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Dlaczego planowanie w latent space działa?</a:t>
            </a:r>
            <a:endParaRPr lang="en-US" sz="1400" spc="-40" dirty="0"/>
          </a:p>
        </p:txBody>
      </p:sp>
      <p:sp>
        <p:nvSpPr>
          <p:cNvPr id="12" name="Text 10"/>
          <p:cNvSpPr/>
          <p:nvPr/>
        </p:nvSpPr>
        <p:spPr>
          <a:xfrm>
            <a:off x="359410" y="1600200"/>
            <a:ext cx="4003040" cy="2082800"/>
          </a:xfrm>
          <a:prstGeom prst="rect">
            <a:avLst/>
          </a:prstGeom>
          <a:noFill/>
          <a:ln/>
        </p:spPr>
        <p:txBody>
          <a:bodyPr wrap="square" lIns="63500" tIns="101600" rIns="63500" bIns="63500" rtlCol="0" anchor="t"/>
          <a:lstStyle/>
          <a:p>
            <a:pPr marL="144000" indent="-144000">
              <a:spcAft>
                <a:spcPts val="600"/>
              </a:spcAft>
              <a:buSzPct val="100000"/>
              <a:buChar char="•"/>
            </a:pPr>
            <a:r>
              <a:rPr lang="pl-PL" sz="1300" b="1" spc="-6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Kompresja obserwacji </a:t>
            </a:r>
            <a:r>
              <a:rPr lang="pl-PL" sz="1300" spc="-6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wektora o wymiarze d (np. 512)</a:t>
            </a:r>
            <a:endParaRPr lang="pl-PL" sz="1300" spc="-60" dirty="0" smtClean="0"/>
          </a:p>
          <a:p>
            <a:pPr marL="144000" indent="-144000">
              <a:spcAft>
                <a:spcPts val="600"/>
              </a:spcAft>
              <a:buSzPct val="100000"/>
              <a:buChar char="•"/>
            </a:pPr>
            <a:r>
              <a:rPr lang="pl-PL" sz="1300" b="1" spc="-6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Enkoder</a:t>
            </a:r>
            <a:r>
              <a:rPr lang="pl-PL" sz="1300" spc="-6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uczy się wybrać z 1920×1080 RGB tylko istotne cechy</a:t>
            </a:r>
            <a:endParaRPr lang="pl-PL" sz="1300" spc="-60" dirty="0" smtClean="0"/>
          </a:p>
          <a:p>
            <a:pPr marL="144000" indent="-144000">
              <a:spcAft>
                <a:spcPts val="600"/>
              </a:spcAft>
              <a:buSzPct val="100000"/>
              <a:buChar char="•"/>
            </a:pPr>
            <a:r>
              <a:rPr lang="pl-PL" sz="1300" b="1" spc="-6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z_t</a:t>
            </a:r>
            <a:r>
              <a:rPr lang="pl-PL" sz="1300" b="1" spc="-6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zawiera</a:t>
            </a:r>
            <a:r>
              <a:rPr lang="pl-PL" sz="1300" spc="-6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pozycję obiektów, kształt przejść, kierunek ruchu</a:t>
            </a:r>
            <a:endParaRPr lang="pl-PL" sz="1300" spc="-60" dirty="0" smtClean="0"/>
          </a:p>
          <a:p>
            <a:pPr marL="144000" indent="-144000">
              <a:spcAft>
                <a:spcPts val="600"/>
              </a:spcAft>
              <a:buSzPct val="100000"/>
              <a:buChar char="•"/>
            </a:pPr>
            <a:r>
              <a:rPr lang="pl-PL" sz="1300" b="1" spc="-6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Analogia</a:t>
            </a:r>
            <a:r>
              <a:rPr lang="pl-PL" sz="1300" spc="-6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notatka "drzwi otwarte, 2 m do przodu" zamiast całego obrazu</a:t>
            </a:r>
            <a:endParaRPr lang="pl-PL" sz="1300" spc="-60" dirty="0" smtClean="0"/>
          </a:p>
          <a:p>
            <a:pPr marL="144000" indent="-144000">
              <a:spcAft>
                <a:spcPts val="600"/>
              </a:spcAft>
              <a:buSzPct val="100000"/>
              <a:buChar char="•"/>
            </a:pPr>
            <a:r>
              <a:rPr lang="pl-PL" sz="1300" b="1" spc="-6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Stochastyczny</a:t>
            </a:r>
            <a:r>
              <a:rPr lang="pl-PL" sz="1300" spc="-60" dirty="0" smtClean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pl-PL" sz="1300" spc="-60" dirty="0" err="1" smtClean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z_t</a:t>
            </a:r>
            <a:r>
              <a:rPr lang="pl-PL" sz="1300" spc="-60" dirty="0" smtClean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~ q(</a:t>
            </a:r>
            <a:r>
              <a:rPr lang="pl-PL" sz="1300" spc="-60" dirty="0" err="1" smtClean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z|o_t</a:t>
            </a:r>
            <a:r>
              <a:rPr lang="pl-PL" sz="1300" spc="-60" dirty="0" smtClean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</a:t>
            </a:r>
            <a:r>
              <a:rPr lang="pl-PL" sz="1300" spc="-6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rozkład Gaussa; próbkowanie</a:t>
            </a:r>
            <a:endParaRPr lang="pl-PL" sz="1300" spc="-60" dirty="0" smtClean="0"/>
          </a:p>
          <a:p>
            <a:pPr marL="144000" indent="-144000">
              <a:spcAft>
                <a:spcPts val="600"/>
              </a:spcAft>
              <a:buSzPct val="100000"/>
              <a:buChar char="•"/>
            </a:pPr>
            <a:r>
              <a:rPr lang="pl-PL" sz="1300" b="1" spc="-6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Deterministyczny</a:t>
            </a:r>
            <a:r>
              <a:rPr lang="pl-PL" sz="1300" spc="-6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pl-PL" sz="1300" spc="-60" dirty="0" err="1" smtClean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h_t</a:t>
            </a:r>
            <a:r>
              <a:rPr lang="pl-PL" sz="1300" spc="-60" dirty="0" smtClean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GRU(h_{t-1}, </a:t>
            </a:r>
            <a:r>
              <a:rPr lang="pl-PL" sz="1300" spc="-60" dirty="0" err="1" smtClean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z_t</a:t>
            </a:r>
            <a:r>
              <a:rPr lang="pl-PL" sz="1300" spc="-60" dirty="0" smtClean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</a:t>
            </a:r>
            <a:r>
              <a:rPr lang="pl-PL" sz="1300" spc="-6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pamięć sekwencji</a:t>
            </a:r>
            <a:endParaRPr lang="pl-PL" sz="1300" spc="-60" dirty="0"/>
          </a:p>
        </p:txBody>
      </p:sp>
      <p:sp>
        <p:nvSpPr>
          <p:cNvPr id="13" name="Text 11"/>
          <p:cNvSpPr/>
          <p:nvPr/>
        </p:nvSpPr>
        <p:spPr>
          <a:xfrm>
            <a:off x="4794250" y="1600200"/>
            <a:ext cx="4075430" cy="2082800"/>
          </a:xfrm>
          <a:prstGeom prst="rect">
            <a:avLst/>
          </a:prstGeom>
          <a:noFill/>
          <a:ln/>
        </p:spPr>
        <p:txBody>
          <a:bodyPr wrap="square" lIns="63500" tIns="101600" rIns="63500" bIns="63500" rtlCol="0" anchor="t"/>
          <a:lstStyle/>
          <a:p>
            <a:pPr marL="144000" indent="-144000">
              <a:spcAft>
                <a:spcPts val="600"/>
              </a:spcAft>
              <a:buSzPct val="100000"/>
              <a:buChar char="•"/>
            </a:pPr>
            <a:r>
              <a:rPr lang="en-US" sz="13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przejścia T</a:t>
            </a:r>
            <a:r>
              <a:rPr lang="en-US" sz="13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300" spc="-6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300" spc="-60" dirty="0" err="1" smtClean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z_t</a:t>
            </a:r>
            <a:r>
              <a:rPr lang="en-US" sz="1300" spc="-60" dirty="0" smtClean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spc="-60" dirty="0" err="1" smtClean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a_t</a:t>
            </a:r>
            <a:r>
              <a:rPr lang="en-US" sz="1300" spc="-60" dirty="0" smtClean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</a:t>
            </a:r>
            <a:r>
              <a:rPr lang="en-US" sz="1300" spc="-6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z_{t+1} </a:t>
            </a:r>
            <a:r>
              <a:rPr lang="en-US" sz="13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gładki i ciągły</a:t>
            </a:r>
            <a:endParaRPr lang="en-US" sz="1300" spc="-60" dirty="0"/>
          </a:p>
          <a:p>
            <a:pPr marL="144000" indent="-144000">
              <a:spcAft>
                <a:spcPts val="600"/>
              </a:spcAft>
              <a:buSzPct val="100000"/>
              <a:buChar char="•"/>
            </a:pPr>
            <a:r>
              <a:rPr lang="en-US" sz="13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</a:t>
            </a:r>
            <a:r>
              <a:rPr lang="en-US" sz="13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propaguje się </a:t>
            </a:r>
            <a:r>
              <a:rPr lang="en-US" sz="13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przez wirtualne kroki → uczenie polityki</a:t>
            </a:r>
            <a:endParaRPr lang="en-US" sz="1300" spc="-60" dirty="0"/>
          </a:p>
          <a:p>
            <a:pPr marL="144000" indent="-144000">
              <a:spcAft>
                <a:spcPts val="600"/>
              </a:spcAft>
              <a:buSzPct val="100000"/>
              <a:buChar char="•"/>
            </a:pPr>
            <a:r>
              <a:rPr lang="en-US" sz="13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 trajektorii w latent space = 1000 wyobrażeń w ~2 ms</a:t>
            </a:r>
            <a:endParaRPr lang="en-US" sz="1300" spc="-60" dirty="0"/>
          </a:p>
          <a:p>
            <a:pPr marL="144000" indent="-144000">
              <a:spcAft>
                <a:spcPts val="600"/>
              </a:spcAft>
              <a:buSzPct val="100000"/>
              <a:buChar char="•"/>
            </a:pPr>
            <a:r>
              <a:rPr lang="en-US" sz="13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 przejścia generalizują</a:t>
            </a:r>
            <a:r>
              <a:rPr lang="en-US" sz="13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jeśli korytarz podobny → działa</a:t>
            </a:r>
            <a:endParaRPr lang="en-US" sz="1300" spc="-60" dirty="0"/>
          </a:p>
          <a:p>
            <a:pPr marL="144000" indent="-144000">
              <a:spcAft>
                <a:spcPts val="600"/>
              </a:spcAft>
              <a:buSzPct val="100000"/>
              <a:buChar char="•"/>
            </a:pPr>
            <a:r>
              <a:rPr lang="en-US" sz="13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Błędy kumulują </a:t>
            </a:r>
            <a:r>
              <a:rPr lang="en-US" sz="13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się po ~10-20 krokach; stąd krótki horyzont planowania</a:t>
            </a:r>
            <a:endParaRPr lang="en-US" sz="1300" spc="-60" dirty="0"/>
          </a:p>
          <a:p>
            <a:pPr marL="144000" indent="-144000">
              <a:spcAft>
                <a:spcPts val="600"/>
              </a:spcAft>
              <a:buSzPct val="100000"/>
              <a:buChar char="•"/>
            </a:pPr>
            <a:r>
              <a:rPr lang="en-US" sz="13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Re-planowanie co krok</a:t>
            </a:r>
            <a:r>
              <a:rPr lang="en-US" sz="13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plan 1 kroku, wykonaj, planuj od nowa</a:t>
            </a:r>
            <a:endParaRPr lang="en-US" sz="1300" spc="-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RSSM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RSSM</a:t>
            </a: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: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Recurrent State Space Model (serce WMA)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94767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/>
              <p:nvPr/>
            </p:nvSpPr>
            <p:spPr>
              <a:xfrm>
                <a:off x="336550" y="1188720"/>
                <a:ext cx="8350250" cy="2633980"/>
              </a:xfrm>
              <a:prstGeom prst="rect">
                <a:avLst/>
              </a:prstGeom>
              <a:noFill/>
              <a:ln/>
            </p:spPr>
            <p:txBody>
              <a:bodyPr wrap="square" lIns="127000" tIns="127000" rIns="127000" bIns="127000" rtlCol="0" anchor="t"/>
              <a:lstStyle/>
              <a:p>
                <a:pPr marL="144000" indent="-144000">
                  <a:spcAft>
                    <a:spcPts val="1200"/>
                  </a:spcAft>
                  <a:buSzPct val="100000"/>
                  <a:buChar char="•"/>
                </a:pPr>
                <a:r>
                  <a:rPr lang="en-US" sz="1450" b="1" dirty="0" smtClean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RSSM</a:t>
                </a:r>
                <a:r>
                  <a:rPr lang="en-US" sz="145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to podstawowy blok DreamerV3; łączy deterministyczny i stochastyczny model stanu</a:t>
                </a:r>
                <a:endParaRPr lang="en-US" sz="1450" dirty="0"/>
              </a:p>
              <a:p>
                <a:pPr marL="144000" indent="-144000">
                  <a:spcAft>
                    <a:spcPts val="1200"/>
                  </a:spcAft>
                  <a:buSzPct val="100000"/>
                  <a:buChar char="•"/>
                </a:pPr>
                <a:r>
                  <a:rPr lang="en-US" sz="1450" b="1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Deterministyczna część</a:t>
                </a:r>
                <a:r>
                  <a:rPr lang="en-US" sz="145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45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h</m:t>
                    </m:r>
                    <m:r>
                      <a:rPr lang="en-US" sz="1450" i="1" baseline="-25000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𝑡</m:t>
                    </m:r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 </m:t>
                    </m:r>
                    <m:r>
                      <a:rPr lang="en-US" sz="145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= </m:t>
                    </m:r>
                    <m:sSub>
                      <m:sSubPr>
                        <m:ctrlP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𝑓</m:t>
                        </m:r>
                      </m:e>
                      <m:sub>
                        <m: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𝜃</m:t>
                        </m:r>
                      </m:sub>
                    </m:sSub>
                    <m:r>
                      <a:rPr lang="pl-PL" sz="145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 </m:t>
                    </m:r>
                    <m:d>
                      <m:dPr>
                        <m:ctrlP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5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sSubPr>
                          <m:e>
                            <m:r>
                              <a:rPr lang="en-US" sz="145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libri" pitchFamily="34" charset="-122"/>
                                <a:cs typeface="Calibri" pitchFamily="34" charset="-120"/>
                              </a:rPr>
                              <m:t>h</m:t>
                            </m:r>
                          </m:e>
                          <m:sub>
                            <m:d>
                              <m:dPr>
                                <m:begChr m:val="{"/>
                                <m:endChr m:val="}"/>
                                <m:ctrlPr>
                                  <a:rPr lang="en-US" sz="1450" i="1" dirty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libri" pitchFamily="34" charset="-122"/>
                                    <a:cs typeface="Calibri" pitchFamily="34" charset="-120"/>
                                  </a:rPr>
                                </m:ctrlPr>
                              </m:dPr>
                              <m:e>
                                <m:r>
                                  <a:rPr lang="en-US" sz="1450" i="1" dirty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libri" pitchFamily="34" charset="-122"/>
                                    <a:cs typeface="Calibri" pitchFamily="34" charset="-120"/>
                                  </a:rPr>
                                  <m:t>𝑡</m:t>
                                </m:r>
                                <m:r>
                                  <a:rPr lang="en-US" sz="1450" i="1" dirty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libri" pitchFamily="34" charset="-122"/>
                                    <a:cs typeface="Calibri" pitchFamily="34" charset="-120"/>
                                  </a:rPr>
                                  <m:t>−1</m:t>
                                </m:r>
                              </m:e>
                            </m:d>
                          </m:sub>
                        </m:sSub>
                        <m: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, </m:t>
                        </m:r>
                        <m:sSub>
                          <m:sSubPr>
                            <m:ctrlPr>
                              <a:rPr lang="en-US" sz="145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sSubPr>
                          <m:e>
                            <m:r>
                              <a:rPr lang="en-US" sz="145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libri" pitchFamily="34" charset="-122"/>
                                <a:cs typeface="Calibri" pitchFamily="34" charset="-120"/>
                              </a:rPr>
                              <m:t>𝑧</m:t>
                            </m:r>
                          </m:e>
                          <m:sub>
                            <m:d>
                              <m:dPr>
                                <m:begChr m:val="{"/>
                                <m:endChr m:val="}"/>
                                <m:ctrlPr>
                                  <a:rPr lang="en-US" sz="1450" i="1" dirty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libri" pitchFamily="34" charset="-122"/>
                                    <a:cs typeface="Calibri" pitchFamily="34" charset="-120"/>
                                  </a:rPr>
                                </m:ctrlPr>
                              </m:dPr>
                              <m:e>
                                <m:r>
                                  <a:rPr lang="en-US" sz="1450" i="1" dirty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libri" pitchFamily="34" charset="-122"/>
                                    <a:cs typeface="Calibri" pitchFamily="34" charset="-120"/>
                                  </a:rPr>
                                  <m:t>𝑡</m:t>
                                </m:r>
                                <m:r>
                                  <a:rPr lang="en-US" sz="1450" i="1" dirty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libri" pitchFamily="34" charset="-122"/>
                                    <a:cs typeface="Calibri" pitchFamily="34" charset="-120"/>
                                  </a:rPr>
                                  <m:t>−1</m:t>
                                </m:r>
                              </m:e>
                            </m:d>
                          </m:sub>
                        </m:sSub>
                        <m: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, </m:t>
                        </m:r>
                        <m:sSub>
                          <m:sSubPr>
                            <m:ctrlPr>
                              <a:rPr lang="en-US" sz="145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sSubPr>
                          <m:e>
                            <m:r>
                              <a:rPr lang="en-US" sz="145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libri" pitchFamily="34" charset="-122"/>
                                <a:cs typeface="Calibri" pitchFamily="34" charset="-120"/>
                              </a:rPr>
                              <m:t>𝑎</m:t>
                            </m:r>
                          </m:e>
                          <m:sub>
                            <m:d>
                              <m:dPr>
                                <m:begChr m:val="{"/>
                                <m:endChr m:val="}"/>
                                <m:ctrlPr>
                                  <a:rPr lang="en-US" sz="1450" i="1" dirty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libri" pitchFamily="34" charset="-122"/>
                                    <a:cs typeface="Calibri" pitchFamily="34" charset="-120"/>
                                  </a:rPr>
                                </m:ctrlPr>
                              </m:dPr>
                              <m:e>
                                <m:r>
                                  <a:rPr lang="en-US" sz="1450" i="1" dirty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libri" pitchFamily="34" charset="-122"/>
                                    <a:cs typeface="Calibri" pitchFamily="34" charset="-120"/>
                                  </a:rPr>
                                  <m:t>𝑡</m:t>
                                </m:r>
                                <m:r>
                                  <a:rPr lang="en-US" sz="1450" i="1" dirty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libri" pitchFamily="34" charset="-122"/>
                                    <a:cs typeface="Calibri" pitchFamily="34" charset="-120"/>
                                  </a:rPr>
                                  <m:t>−1</m:t>
                                </m:r>
                              </m:e>
                            </m:d>
                          </m:sub>
                        </m:sSub>
                      </m:e>
                    </m:d>
                    <m:r>
                      <a:rPr lang="en-US" sz="145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 </m:t>
                    </m:r>
                    <m:r>
                      <a:rPr lang="pl-PL" sz="145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−</m:t>
                    </m:r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 </m:t>
                    </m:r>
                    <m:r>
                      <a:rPr lang="en-US" sz="145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𝐺𝑅𝑈</m:t>
                    </m:r>
                  </m:oMath>
                </a14:m>
                <a:r>
                  <a:rPr lang="en-US" sz="145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; zapewnia ciągłość historii</a:t>
                </a:r>
                <a:endParaRPr lang="en-US" sz="1450" dirty="0"/>
              </a:p>
              <a:p>
                <a:pPr marL="144000" indent="-144000">
                  <a:spcAft>
                    <a:spcPts val="1200"/>
                  </a:spcAft>
                  <a:buSzPct val="100000"/>
                  <a:buFontTx/>
                  <a:buChar char="•"/>
                </a:pPr>
                <a:r>
                  <a:rPr lang="en-US" sz="1450" b="1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Stochastyczna część</a:t>
                </a:r>
                <a:r>
                  <a:rPr lang="en-US" sz="145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𝑧</m:t>
                    </m:r>
                    <m:r>
                      <m:rPr>
                        <m:nor/>
                      </m:rPr>
                      <a:rPr lang="en-US" sz="1450" baseline="-25000" dirty="0">
                        <a:solidFill>
                          <a:schemeClr val="accent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>t</m:t>
                    </m:r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 </m:t>
                    </m:r>
                    <m:r>
                      <a:rPr lang="en-US" sz="145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~ </m:t>
                    </m:r>
                    <m:r>
                      <a:rPr lang="en-US" sz="1450" i="1" dirty="0" err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𝑞</m:t>
                    </m:r>
                    <m:r>
                      <a:rPr lang="en-US" sz="1450" i="1" baseline="-25000" dirty="0" err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𝜑</m:t>
                    </m:r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(</m:t>
                    </m:r>
                    <m:r>
                      <a:rPr lang="en-US" sz="1450" i="1" dirty="0" err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𝑧</m:t>
                    </m:r>
                    <m:r>
                      <a:rPr lang="en-US" sz="1450" i="1" dirty="0" err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|</m:t>
                    </m:r>
                    <m:r>
                      <a:rPr lang="en-US" sz="1450" i="1" dirty="0" err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h</m:t>
                    </m:r>
                    <m:r>
                      <m:rPr>
                        <m:nor/>
                      </m:rPr>
                      <a:rPr lang="en-US" sz="1450" baseline="-25000" dirty="0">
                        <a:solidFill>
                          <a:schemeClr val="accent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>t</m:t>
                    </m:r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, </m:t>
                    </m:r>
                    <m:r>
                      <a:rPr lang="en-US" sz="1450" i="1" dirty="0" err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𝑜</m:t>
                    </m:r>
                    <m:r>
                      <m:rPr>
                        <m:nor/>
                      </m:rPr>
                      <a:rPr lang="en-US" sz="1450" baseline="-25000" dirty="0">
                        <a:solidFill>
                          <a:schemeClr val="accent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>t</m:t>
                    </m:r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)  </m:t>
                    </m:r>
                  </m:oMath>
                </a14:m>
                <a:r>
                  <a:rPr lang="en-US" sz="1450" dirty="0" smtClean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- </a:t>
                </a:r>
                <a:r>
                  <a:rPr lang="en-US" sz="145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enkoder posterior; </a:t>
                </a:r>
                <a14:m>
                  <m:oMath xmlns:m="http://schemas.openxmlformats.org/officeDocument/2006/math"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𝑧</m:t>
                    </m:r>
                    <m:r>
                      <m:rPr>
                        <m:nor/>
                      </m:rPr>
                      <a:rPr lang="en-US" sz="1450" baseline="-25000" dirty="0">
                        <a:solidFill>
                          <a:schemeClr val="accent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>t</m:t>
                    </m:r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 </m:t>
                    </m:r>
                    <m:r>
                      <a:rPr lang="en-US" sz="145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~ </m:t>
                    </m:r>
                    <m:r>
                      <a:rPr lang="en-US" sz="1450" i="1" dirty="0" err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𝑝</m:t>
                    </m:r>
                    <m:r>
                      <a:rPr lang="en-US" sz="1450" i="1" baseline="-25000" dirty="0" err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𝜃</m:t>
                    </m:r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(</m:t>
                    </m:r>
                    <m:r>
                      <a:rPr lang="en-US" sz="1450" i="1" dirty="0" err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𝑧</m:t>
                    </m:r>
                    <m:r>
                      <a:rPr lang="en-US" sz="1450" i="1" dirty="0" err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|</m:t>
                    </m:r>
                    <m:r>
                      <a:rPr lang="en-US" sz="1450" i="1" dirty="0" err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h</m:t>
                    </m:r>
                    <m:r>
                      <m:rPr>
                        <m:nor/>
                      </m:rPr>
                      <a:rPr lang="en-US" sz="1450" baseline="-25000" dirty="0">
                        <a:solidFill>
                          <a:schemeClr val="accent1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>t</m:t>
                    </m:r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)  </m:t>
                    </m:r>
                  </m:oMath>
                </a14:m>
                <a:r>
                  <a:rPr lang="en-US" sz="1450" dirty="0" smtClean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- </a:t>
                </a:r>
                <a:r>
                  <a:rPr lang="en-US" sz="145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prior</a:t>
                </a:r>
                <a:endParaRPr lang="en-US" sz="1450" dirty="0"/>
              </a:p>
              <a:p>
                <a:pPr marL="144000" indent="-144000">
                  <a:spcAft>
                    <a:spcPts val="1200"/>
                  </a:spcAft>
                  <a:buSzPct val="100000"/>
                  <a:buChar char="•"/>
                </a:pPr>
                <a:r>
                  <a:rPr lang="en-US" sz="1450" b="1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Predykcja bez obserwacji (wyobraźnia): </a:t>
                </a:r>
                <a:r>
                  <a:rPr lang="en-US" sz="145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zaczynając od </a:t>
                </a:r>
                <a14:m>
                  <m:oMath xmlns:m="http://schemas.openxmlformats.org/officeDocument/2006/math"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(</m:t>
                    </m:r>
                    <m:sSub>
                      <m:sSubPr>
                        <m:ctrlPr>
                          <a:rPr lang="en-US" sz="1450" i="1" dirty="0" err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US" sz="1450" i="1" dirty="0" err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h</m:t>
                        </m:r>
                      </m:e>
                      <m:sub>
                        <m:r>
                          <a:rPr lang="en-US" sz="1450" i="1" dirty="0" err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</m:sub>
                    </m:sSub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, </m:t>
                    </m:r>
                    <m:sSub>
                      <m:sSubPr>
                        <m:ctrlPr>
                          <a:rPr lang="en-US" sz="1450" i="1" dirty="0" err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US" sz="1450" i="1" dirty="0" err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𝑧</m:t>
                        </m:r>
                      </m:e>
                      <m:sub>
                        <m:r>
                          <a:rPr lang="en-US" sz="1450" i="1" dirty="0" err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</m:sub>
                    </m:sSub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) </m:t>
                    </m:r>
                  </m:oMath>
                </a14:m>
                <a:r>
                  <a:rPr lang="en-US" sz="145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propaguj TYLKO prior bez </a:t>
                </a:r>
                <a:r>
                  <a:rPr lang="en-US" sz="1450" dirty="0" err="1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nowych</a:t>
                </a:r>
                <a:r>
                  <a:rPr lang="en-US" sz="145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1450" dirty="0" err="1" smtClean="0">
                    <a:solidFill>
                      <a:schemeClr val="accent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o</a:t>
                </a:r>
                <a:r>
                  <a:rPr lang="en-US" sz="1450" baseline="-25000" dirty="0" err="1" smtClean="0">
                    <a:solidFill>
                      <a:schemeClr val="accent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</a:t>
                </a:r>
                <a:endParaRPr lang="en-US" sz="1450" baseline="-25000" dirty="0">
                  <a:solidFill>
                    <a:schemeClr val="accent1"/>
                  </a:solidFill>
                </a:endParaRPr>
              </a:p>
              <a:p>
                <a:pPr marL="144000" indent="-144000">
                  <a:spcAft>
                    <a:spcPts val="1200"/>
                  </a:spcAft>
                  <a:buSzPct val="100000"/>
                  <a:buChar char="•"/>
                </a:pPr>
                <a:r>
                  <a:rPr lang="en-US" sz="1450" b="1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Funkcja straty</a:t>
                </a:r>
                <a:r>
                  <a:rPr lang="en-US" sz="145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𝐿</m:t>
                    </m:r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 = </m:t>
                    </m:r>
                    <m:sSub>
                      <m:sSubPr>
                        <m:ctrlP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𝐿</m:t>
                        </m:r>
                      </m:e>
                      <m:sub>
                        <m: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𝑟𝑒𝑐𝑜𝑛</m:t>
                        </m:r>
                      </m:sub>
                    </m:sSub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 + </m:t>
                    </m:r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𝛽</m:t>
                    </m:r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·</m:t>
                    </m:r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𝐾𝐿</m:t>
                    </m:r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(</m:t>
                    </m:r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𝑝𝑜𝑠𝑡𝑒𝑟𝑖𝑜𝑟</m:t>
                    </m:r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 || </m:t>
                    </m:r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𝑝𝑟𝑖𝑜𝑟</m:t>
                    </m:r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) + </m:t>
                    </m:r>
                    <m:sSub>
                      <m:sSubPr>
                        <m:ctrlP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𝐿</m:t>
                        </m:r>
                      </m:e>
                      <m:sub>
                        <m: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𝑟𝑒𝑤𝑎𝑟𝑑</m:t>
                        </m:r>
                      </m:sub>
                    </m:sSub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 + </m:t>
                    </m:r>
                    <m:sSub>
                      <m:sSubPr>
                        <m:ctrlP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𝐿</m:t>
                        </m:r>
                      </m:e>
                      <m:sub>
                        <m: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𝑐𝑜𝑛𝑡𝑖𝑛𝑢𝑒</m:t>
                        </m:r>
                      </m:sub>
                    </m:sSub>
                  </m:oMath>
                </a14:m>
                <a:endParaRPr lang="en-US" sz="1450" dirty="0">
                  <a:solidFill>
                    <a:schemeClr val="accent1"/>
                  </a:solidFill>
                </a:endParaRPr>
              </a:p>
              <a:p>
                <a:pPr marL="144000" indent="-144000">
                  <a:spcAft>
                    <a:spcPts val="1200"/>
                  </a:spcAft>
                  <a:buSzPct val="100000"/>
                  <a:buChar char="•"/>
                </a:pPr>
                <a:r>
                  <a:rPr lang="en-US" sz="1450" b="1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KL-balancing</a:t>
                </a:r>
                <a:r>
                  <a:rPr lang="en-US" sz="145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gradient przez prior i posterior osobno skalowany (</a:t>
                </a:r>
                <a:r>
                  <a:rPr lang="en-US" sz="1450" dirty="0">
                    <a:solidFill>
                      <a:schemeClr val="accent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β = 0,1→0,5 </a:t>
                </a:r>
                <a:r>
                  <a:rPr lang="en-US" sz="145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dla prior)</a:t>
                </a:r>
                <a:endParaRPr lang="en-US" sz="1450" dirty="0"/>
              </a:p>
              <a:p>
                <a:pPr marL="144000" indent="-144000">
                  <a:spcAft>
                    <a:spcPts val="1200"/>
                  </a:spcAft>
                  <a:buSzPct val="100000"/>
                  <a:buChar char="•"/>
                </a:pPr>
                <a:r>
                  <a:rPr lang="en-US" sz="1450" b="1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Wynik</a:t>
                </a:r>
                <a:r>
                  <a:rPr lang="en-US" sz="145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model umie jednocześnie OPISYWAĆ teraźniejszość i WYOBRAŻAĆ sobie przyszłość</a:t>
                </a:r>
                <a:endParaRPr lang="en-US" sz="1450" dirty="0"/>
              </a:p>
            </p:txBody>
          </p:sp>
        </mc:Choice>
        <mc:Fallback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550" y="1188720"/>
                <a:ext cx="8350250" cy="2633980"/>
              </a:xfrm>
              <a:prstGeom prst="rect">
                <a:avLst/>
              </a:prstGeom>
              <a:blipFill>
                <a:blip r:embed="rId3"/>
                <a:stretch>
                  <a:fillRect b="-3935"/>
                </a:stretch>
              </a:blipFill>
              <a:ln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PLANOWANIE W WYOBRAŹNI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Planowanie w 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wyobraźni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 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krok po kroku</a:t>
            </a:r>
            <a:endParaRPr lang="en-US" sz="2400" dirty="0"/>
          </a:p>
        </p:txBody>
      </p:sp>
      <p:grpSp>
        <p:nvGrpSpPr>
          <p:cNvPr id="26" name="Grupa 25"/>
          <p:cNvGrpSpPr/>
          <p:nvPr/>
        </p:nvGrpSpPr>
        <p:grpSpPr>
          <a:xfrm>
            <a:off x="274320" y="1097280"/>
            <a:ext cx="8641080" cy="2515870"/>
            <a:chOff x="274320" y="1097280"/>
            <a:chExt cx="8458200" cy="2515870"/>
          </a:xfrm>
        </p:grpSpPr>
        <p:sp>
          <p:nvSpPr>
            <p:cNvPr id="6" name="Shape 4"/>
            <p:cNvSpPr/>
            <p:nvPr/>
          </p:nvSpPr>
          <p:spPr>
            <a:xfrm>
              <a:off x="274320" y="1097280"/>
              <a:ext cx="2011680" cy="251587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BF3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7" name="Shape 5"/>
            <p:cNvSpPr/>
            <p:nvPr/>
          </p:nvSpPr>
          <p:spPr>
            <a:xfrm>
              <a:off x="987552" y="1188720"/>
              <a:ext cx="585216" cy="585216"/>
            </a:xfrm>
            <a:prstGeom prst="ellipse">
              <a:avLst/>
            </a:prstGeom>
            <a:solidFill>
              <a:srgbClr val="F59E0B"/>
            </a:solidFill>
            <a:ln w="12700">
              <a:solidFill>
                <a:srgbClr val="F59E0B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987552" y="1188720"/>
              <a:ext cx="585216" cy="5852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1</a:t>
              </a:r>
              <a:endParaRPr lang="en-US" sz="17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65760" y="1874520"/>
              <a:ext cx="18288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Kodowanie bieżącej obserwacji</a:t>
              </a:r>
              <a:endParaRPr lang="en-US" sz="13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65760" y="2423160"/>
              <a:ext cx="1828800" cy="1056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Enkoder E pobiera </a:t>
              </a:r>
              <a:r>
                <a:rPr lang="en-US" sz="1100" dirty="0" err="1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klatkę</a:t>
              </a:r>
              <a:r>
                <a:rPr lang="en-US" sz="11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100" dirty="0" err="1" smtClean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o_t</a:t>
              </a:r>
              <a:r>
                <a:rPr lang="en-US" sz="1100" dirty="0" smtClean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1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 </a:t>
              </a:r>
              <a:r>
                <a:rPr lang="en-US" sz="1100" dirty="0" err="1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tworzy</a:t>
              </a:r>
              <a:r>
                <a:rPr lang="en-US" sz="11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100" dirty="0" err="1" smtClean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z_t</a:t>
              </a:r>
              <a:r>
                <a:rPr lang="en-US" sz="1100" dirty="0" smtClean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; </a:t>
              </a:r>
              <a:r>
                <a:rPr lang="en-US" sz="11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GRU </a:t>
              </a:r>
              <a:r>
                <a:rPr lang="en-US" sz="1100" dirty="0" err="1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aktualizuje</a:t>
              </a:r>
              <a:r>
                <a:rPr lang="en-US" sz="11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100" dirty="0" err="1" smtClean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h_t</a:t>
              </a:r>
              <a:r>
                <a:rPr lang="en-US" sz="1100" dirty="0" smtClean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; </a:t>
              </a:r>
              <a:r>
                <a:rPr lang="en-US" sz="11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razem = bieżący stan świata</a:t>
              </a:r>
              <a:endParaRPr lang="en-US" sz="11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423160" y="1097280"/>
              <a:ext cx="2011680" cy="251587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BF3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12" name="Shape 10"/>
            <p:cNvSpPr/>
            <p:nvPr/>
          </p:nvSpPr>
          <p:spPr>
            <a:xfrm>
              <a:off x="3136392" y="1188720"/>
              <a:ext cx="585216" cy="585216"/>
            </a:xfrm>
            <a:prstGeom prst="ellipse">
              <a:avLst/>
            </a:prstGeom>
            <a:solidFill>
              <a:srgbClr val="F59E0B"/>
            </a:solidFill>
            <a:ln w="12700">
              <a:solidFill>
                <a:srgbClr val="F59E0B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136392" y="1188720"/>
              <a:ext cx="585216" cy="5852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2</a:t>
              </a:r>
              <a:endParaRPr lang="en-US" sz="17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2514600" y="1874520"/>
              <a:ext cx="18288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Rozwinięcie wyobraźni</a:t>
              </a:r>
              <a:endParaRPr lang="en-US" sz="13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2514600" y="2423160"/>
              <a:ext cx="1828800" cy="1056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Polityka π(a|h,z) proponuje akcje; model T(h,z,a)→(h',z') propaguje stan TYLKO w latent space przez H kroków (H=15)</a:t>
              </a:r>
              <a:endParaRPr lang="en-US" sz="11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72000" y="1097280"/>
              <a:ext cx="2011680" cy="251587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BF3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17" name="Shape 15"/>
            <p:cNvSpPr/>
            <p:nvPr/>
          </p:nvSpPr>
          <p:spPr>
            <a:xfrm>
              <a:off x="5285232" y="1188720"/>
              <a:ext cx="585216" cy="585216"/>
            </a:xfrm>
            <a:prstGeom prst="ellipse">
              <a:avLst/>
            </a:prstGeom>
            <a:solidFill>
              <a:srgbClr val="F59E0B"/>
            </a:solidFill>
            <a:ln w="12700">
              <a:solidFill>
                <a:srgbClr val="F59E0B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285232" y="1188720"/>
              <a:ext cx="585216" cy="5852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3</a:t>
              </a:r>
              <a:endParaRPr lang="en-US" sz="17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63440" y="1874520"/>
              <a:ext cx="18288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Ocena trajektorii</a:t>
              </a:r>
              <a:endParaRPr lang="en-US" sz="13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663440" y="2423160"/>
              <a:ext cx="1828800" cy="1056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Model wartości V(h,z) i nagrody r(h,z) oceniają każdy wirtualny krok; λ-return sumuje zdyskontowane nagrody</a:t>
              </a:r>
              <a:endParaRPr lang="en-US" sz="11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720840" y="1097280"/>
              <a:ext cx="2011680" cy="251587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BF3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22" name="Shape 20"/>
            <p:cNvSpPr/>
            <p:nvPr/>
          </p:nvSpPr>
          <p:spPr>
            <a:xfrm>
              <a:off x="7434072" y="1188720"/>
              <a:ext cx="585216" cy="585216"/>
            </a:xfrm>
            <a:prstGeom prst="ellipse">
              <a:avLst/>
            </a:prstGeom>
            <a:solidFill>
              <a:srgbClr val="F59E0B"/>
            </a:solidFill>
            <a:ln w="12700">
              <a:solidFill>
                <a:srgbClr val="F59E0B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434072" y="1188720"/>
              <a:ext cx="585216" cy="5852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4</a:t>
              </a:r>
              <a:endParaRPr lang="en-US" sz="17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12280" y="1874520"/>
              <a:ext cx="18288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Aktualizacja polityki</a:t>
              </a:r>
              <a:endParaRPr lang="en-US" sz="13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6812280" y="2423160"/>
              <a:ext cx="1828800" cy="1056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Gradient z V i r propaguje się wstecz przez wirtualne kroki aż do π; actor-critic update bez fizycznego robota</a:t>
              </a:r>
              <a:endParaRPr lang="en-US" sz="11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RSSM</a:t>
            </a: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: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implementacja rdzenia modelu świata (PyTorch)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3261360"/>
          </a:xfrm>
          <a:prstGeom prst="rect">
            <a:avLst/>
          </a:prstGeom>
          <a:solidFill>
            <a:srgbClr val="071520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119872" y="1133856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75904" y="1133856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31936" y="1133856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0896" y="978408"/>
            <a:ext cx="8321040" cy="2958592"/>
          </a:xfrm>
          <a:prstGeom prst="rect">
            <a:avLst/>
          </a:prstGeom>
          <a:noFill/>
          <a:ln/>
        </p:spPr>
        <p:txBody>
          <a:bodyPr wrap="square" lIns="63500" tIns="127000" rIns="127000" bIns="63500" rtlCol="0" anchor="t"/>
          <a:lstStyle/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torch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torch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as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nn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000" dirty="0" err="1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4EC9B0"/>
                </a:solidFill>
                <a:latin typeface="Consolas" panose="020B0609020204030204" pitchFamily="49" charset="0"/>
              </a:rPr>
              <a:t>RSSM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nn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Module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init</a:t>
            </a:r>
            <a:r>
              <a:rPr lang="pl-PL" sz="1000" dirty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obs_dim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512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act_dim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7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 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det_dim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512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stoch_dim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32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stoch_classes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32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>
                <a:solidFill>
                  <a:srgbClr val="4EC9B0"/>
                </a:solidFill>
                <a:latin typeface="Consolas" panose="020B0609020204030204" pitchFamily="49" charset="0"/>
              </a:rPr>
              <a:t>super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().</a:t>
            </a:r>
            <a:r>
              <a:rPr lang="pl-PL" sz="1000" dirty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init</a:t>
            </a:r>
            <a:r>
              <a:rPr lang="pl-PL" sz="1000" dirty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# Deterministyczna </a:t>
            </a:r>
            <a:r>
              <a:rPr lang="pl-PL" sz="1000" dirty="0" err="1">
                <a:solidFill>
                  <a:srgbClr val="6A9955"/>
                </a:solidFill>
                <a:latin typeface="Consolas" panose="020B0609020204030204" pitchFamily="49" charset="0"/>
              </a:rPr>
              <a:t>czesc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 (GRU)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gru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nn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GRUCell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stoch_dim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stoch_classes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act_dim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det_dim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# </a:t>
            </a:r>
            <a:r>
              <a:rPr lang="pl-PL" sz="1000" dirty="0" err="1">
                <a:solidFill>
                  <a:srgbClr val="6A9955"/>
                </a:solidFill>
                <a:latin typeface="Consolas" panose="020B0609020204030204" pitchFamily="49" charset="0"/>
              </a:rPr>
              <a:t>Prior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 p(z | h)  - bez obserwacji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prior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nn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Linear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det_dim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stoch_dim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stoch_classes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# </a:t>
            </a:r>
            <a:r>
              <a:rPr lang="pl-PL" sz="1000" dirty="0" err="1">
                <a:solidFill>
                  <a:srgbClr val="6A9955"/>
                </a:solidFill>
                <a:latin typeface="Consolas" panose="020B0609020204030204" pitchFamily="49" charset="0"/>
              </a:rPr>
              <a:t>Posterior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 q(z | h, </a:t>
            </a:r>
            <a:r>
              <a:rPr lang="pl-PL" sz="1000" dirty="0" err="1">
                <a:solidFill>
                  <a:srgbClr val="6A9955"/>
                </a:solidFill>
                <a:latin typeface="Consolas" panose="020B0609020204030204" pitchFamily="49" charset="0"/>
              </a:rPr>
              <a:t>obs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)  - z obserwacja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posterior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nn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Linear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det_dim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obs_dim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stoch_dim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stoch_classes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stoch_dim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stoch_classes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stoch_dim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stoch_classes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imagine_step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z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action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"""Krok </a:t>
            </a:r>
            <a:r>
              <a:rPr lang="pl-PL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wyobrazni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: (</a:t>
            </a:r>
            <a:r>
              <a:rPr lang="pl-PL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h,z,a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) -&gt; (</a:t>
            </a:r>
            <a:r>
              <a:rPr lang="pl-PL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h_next,z_next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) BEZ obserwacji."""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z_flat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z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.view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z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.shape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],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  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# (B, </a:t>
            </a:r>
            <a:r>
              <a:rPr lang="pl-PL" sz="1000" dirty="0" err="1">
                <a:solidFill>
                  <a:srgbClr val="6A9955"/>
                </a:solidFill>
                <a:latin typeface="Consolas" panose="020B0609020204030204" pitchFamily="49" charset="0"/>
              </a:rPr>
              <a:t>stoch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*</a:t>
            </a:r>
            <a:r>
              <a:rPr lang="pl-PL" sz="1000" dirty="0" err="1">
                <a:solidFill>
                  <a:srgbClr val="6A9955"/>
                </a:solidFill>
                <a:latin typeface="Consolas" panose="020B0609020204030204" pitchFamily="49" charset="0"/>
              </a:rPr>
              <a:t>classes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)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h_next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gru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4EC9B0"/>
                </a:solidFill>
                <a:latin typeface="Consolas" panose="020B0609020204030204" pitchFamily="49" charset="0"/>
              </a:rPr>
              <a:t>torch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>
                <a:solidFill>
                  <a:srgbClr val="DCDCAA"/>
                </a:solidFill>
                <a:latin typeface="Consolas" panose="020B0609020204030204" pitchFamily="49" charset="0"/>
              </a:rPr>
              <a:t>cat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([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z_flat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action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],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logits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prior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h_next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       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# </a:t>
            </a:r>
            <a:r>
              <a:rPr lang="pl-PL" sz="1000" dirty="0" err="1">
                <a:solidFill>
                  <a:srgbClr val="6A9955"/>
                </a:solidFill>
                <a:latin typeface="Consolas" panose="020B0609020204030204" pitchFamily="49" charset="0"/>
              </a:rPr>
              <a:t>prior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 p(</a:t>
            </a:r>
            <a:r>
              <a:rPr lang="pl-PL" sz="1000" dirty="0" err="1">
                <a:solidFill>
                  <a:srgbClr val="6A9955"/>
                </a:solidFill>
                <a:latin typeface="Consolas" panose="020B0609020204030204" pitchFamily="49" charset="0"/>
              </a:rPr>
              <a:t>z|h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)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z_next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>
                <a:solidFill>
                  <a:srgbClr val="DCDCAA"/>
                </a:solidFill>
                <a:latin typeface="Consolas" panose="020B0609020204030204" pitchFamily="49" charset="0"/>
              </a:rPr>
              <a:t>_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gumbel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logits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     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# </a:t>
            </a:r>
            <a:r>
              <a:rPr lang="pl-PL" sz="1000" dirty="0" err="1">
                <a:solidFill>
                  <a:srgbClr val="6A9955"/>
                </a:solidFill>
                <a:latin typeface="Consolas" panose="020B0609020204030204" pitchFamily="49" charset="0"/>
              </a:rPr>
              <a:t>Gumbel-softmax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h_next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z_next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CDCAA"/>
                </a:solidFill>
                <a:latin typeface="Consolas" panose="020B0609020204030204" pitchFamily="49" charset="0"/>
              </a:rPr>
              <a:t>_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gumbel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l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l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.view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stoch_dim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stoch_classes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nn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functional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gumbel_softmax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l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tau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1.0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hard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4FC1FF"/>
                </a:solidFill>
                <a:latin typeface="Consolas" panose="020B0609020204030204" pitchFamily="49" charset="0"/>
              </a:rPr>
              <a:t>True</a:t>
            </a:r>
            <a:r>
              <a:rPr lang="pl-PL" sz="10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74320" y="4483100"/>
            <a:ext cx="8595360" cy="454660"/>
          </a:xfrm>
          <a:prstGeom prst="rect">
            <a:avLst/>
          </a:prstGeom>
          <a:solidFill>
            <a:srgbClr val="1A3550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375150"/>
            <a:ext cx="8321040" cy="562610"/>
          </a:xfrm>
          <a:prstGeom prst="rect">
            <a:avLst/>
          </a:prstGeom>
          <a:noFill/>
          <a:ln/>
        </p:spPr>
        <p:txBody>
          <a:bodyPr wrap="square" lIns="0" tIns="127000" rIns="127000" bIns="0" rtlCol="0" anchor="ctr"/>
          <a:lstStyle/>
          <a:p>
            <a:pPr marL="0" indent="0">
              <a:buNone/>
            </a:pPr>
            <a:r>
              <a:rPr lang="en-US" sz="1600" b="1" spc="-4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Opis: </a:t>
            </a:r>
            <a:r>
              <a:rPr lang="en-US" sz="1600" spc="-4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imagine_step() propaguje stan w latent space; nie </a:t>
            </a:r>
            <a:r>
              <a:rPr lang="en-US" sz="1600" spc="-40" dirty="0" err="1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potrzebuje</a:t>
            </a:r>
            <a:r>
              <a:rPr lang="en-US" sz="1600" spc="-4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spc="-4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obserwacji</a:t>
            </a:r>
            <a:r>
              <a:rPr lang="pl-PL" sz="1600" spc="-40" dirty="0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r>
              <a:rPr lang="en-US" sz="1600" spc="-4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planowanie</a:t>
            </a:r>
            <a:r>
              <a:rPr lang="en-US" sz="1600" spc="-40" dirty="0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spc="-4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</a:t>
            </a:r>
            <a:r>
              <a:rPr lang="en-US" sz="1600" spc="-4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wyobraźni</a:t>
            </a:r>
            <a:endParaRPr lang="en-US" sz="1600" spc="-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35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2286000" cy="2286000"/>
          </a:xfrm>
          <a:prstGeom prst="rect">
            <a:avLst/>
          </a:prstGeom>
          <a:noFill/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D97706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2000" dirty="0"/>
          </a:p>
        </p:txBody>
      </p:sp>
      <p:sp>
        <p:nvSpPr>
          <p:cNvPr id="5" name="Shape 3"/>
          <p:cNvSpPr/>
          <p:nvPr/>
        </p:nvSpPr>
        <p:spPr>
          <a:xfrm>
            <a:off x="7132320" y="1371600"/>
            <a:ext cx="1645920" cy="1645920"/>
          </a:xfrm>
          <a:prstGeom prst="ellipse">
            <a:avLst/>
          </a:prstGeom>
          <a:solidFill>
            <a:schemeClr val="bg1"/>
          </a:solidFill>
          <a:ln w="57150">
            <a:solidFill>
              <a:srgbClr val="D97706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6459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84353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87650" y="1600200"/>
            <a:ext cx="407035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spc="-4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Algorytmy WMA </a:t>
            </a:r>
            <a:r>
              <a:rPr lang="en-US" sz="2600" b="1" spc="-40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</a:t>
            </a:r>
            <a:endParaRPr lang="en-US" sz="2600" spc="-40" dirty="0"/>
          </a:p>
          <a:p>
            <a:pPr marL="0" indent="0">
              <a:buNone/>
            </a:pPr>
            <a:r>
              <a:rPr lang="en-US" sz="2600" b="1" spc="-4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DreamerV3, TDMPC2, JEPA</a:t>
            </a:r>
            <a:endParaRPr lang="en-US" sz="2600" spc="-40" dirty="0"/>
          </a:p>
        </p:txBody>
      </p:sp>
      <p:sp>
        <p:nvSpPr>
          <p:cNvPr id="9" name="Shape 6"/>
          <p:cNvSpPr/>
          <p:nvPr/>
        </p:nvSpPr>
        <p:spPr>
          <a:xfrm>
            <a:off x="2843530" y="2697480"/>
            <a:ext cx="3931920" cy="274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843530" y="28346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działają krok po kroku; różnice i zastosowania w lokomocji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DREAMERV3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DreamerV3 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 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architektura i cykl uczenia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5394960" cy="662026"/>
          </a:xfrm>
          <a:prstGeom prst="rect">
            <a:avLst/>
          </a:prstGeom>
          <a:solidFill>
            <a:srgbClr val="78350F"/>
          </a:solidFill>
          <a:ln w="12700">
            <a:solidFill>
              <a:srgbClr val="78350F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1143000"/>
            <a:ext cx="182880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Zbieranie danych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331720" y="1143000"/>
            <a:ext cx="315468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Polityka π wykonuje akcje na robocie; (o, a, r, done) zapisywane do replay buffer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44368" y="1814170"/>
            <a:ext cx="54864" cy="91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1914754"/>
            <a:ext cx="5394960" cy="66202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11480" y="1914754"/>
            <a:ext cx="182880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Uczenie modelu świata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331720" y="1914754"/>
            <a:ext cx="315468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Mini-batch z replay → RSSM; minimalizacja L_recon + KL + L_reward + L_continue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944368" y="2585923"/>
            <a:ext cx="54864" cy="91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320" y="2686507"/>
            <a:ext cx="5394960" cy="66202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11480" y="2686507"/>
            <a:ext cx="182880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Wyobraźnia (Imagine)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331720" y="2686507"/>
            <a:ext cx="315468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replay buffer inicjuj stany; rozwiń H=15 kroków wyłącznie modelem T; bez robota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944368" y="3357677"/>
            <a:ext cx="54864" cy="91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3458261"/>
            <a:ext cx="5394960" cy="66202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11480" y="3458261"/>
            <a:ext cx="182880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Uczenie aktora-krytyka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331720" y="3458261"/>
            <a:ext cx="315468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Actor: max λ-return przez gradienty z wyobraźni; Critic: regresja na λ-return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944368" y="4129430"/>
            <a:ext cx="54864" cy="91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4320" y="4230014"/>
            <a:ext cx="5394960" cy="66202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11480" y="4230014"/>
            <a:ext cx="182880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Wykonanie na robocie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2331720" y="4230014"/>
            <a:ext cx="315468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Polityka π(a|h,z) w latent space; akcja dekodowana i wysyłana do ros2_control / WBC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943600" y="1143000"/>
            <a:ext cx="2926080" cy="3749040"/>
          </a:xfrm>
          <a:prstGeom prst="rect">
            <a:avLst/>
          </a:prstGeom>
          <a:solidFill>
            <a:srgbClr val="0D1B2A"/>
          </a:solidFill>
          <a:ln w="12700">
            <a:solidFill>
              <a:srgbClr val="D97706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43600" y="1143000"/>
            <a:ext cx="292608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80760" y="116128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Kluczowe cechy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080760" y="1600200"/>
            <a:ext cx="2651760" cy="3200400"/>
          </a:xfrm>
          <a:prstGeom prst="rect">
            <a:avLst/>
          </a:prstGeom>
          <a:noFill/>
          <a:ln/>
        </p:spPr>
        <p:txBody>
          <a:bodyPr wrap="square" lIns="63500" tIns="101600" rIns="63500" bIns="6350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Symultaniczny trening: model + policy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GPU (RTX 3090): ~10h training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Działa z obrazem RGB lub proprio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DreamerV3: zunifikowane hiperparametry dla wszystkich środowisk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Atari, DMControl, HumanoidWalk: SoTA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Open-source: github.com/danijar/dreamerv3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TDMPC2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TDMPC2</a:t>
            </a: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: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Temporal Difference Model Predictive Control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97307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3850" y="1188720"/>
            <a:ext cx="8545830" cy="278003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TDMPC2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łączy model świata z optymalizacją trajektorii w stylu MPC (Model Predictive Control)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 world model</a:t>
            </a:r>
            <a:r>
              <a:rPr lang="en-US" sz="145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enkoder E + model przejścia T + głowica nagrody R + value function V (wszystkie MLP)</a:t>
            </a:r>
            <a:endParaRPr lang="en-US" sz="1450" spc="-6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Planowanie przez MPPI (Model Predictive Path Integral): 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próbkuj N trajektorii w latent space, weź najlepszą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consistency loss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predykcja H kroków do przodu; gradienty przez cały horyzont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Kluczowa zaleta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bardzo małe modele (~</a:t>
            </a:r>
            <a:r>
              <a:rPr lang="en-US" sz="145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0,5M-5M 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parametrów) i szybka inferencja (~0,5 ms/krok)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SoTA na Humanoid-9DoF (DMControl); chód, bieg, backflip w ciągłej przestrzeni akcji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45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github.com/</a:t>
            </a:r>
            <a:r>
              <a:rPr lang="en-US" sz="145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nicklashansen</a:t>
            </a:r>
            <a:r>
              <a:rPr lang="en-US" sz="145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/tdmpc2</a:t>
            </a:r>
            <a:r>
              <a:rPr lang="en-US" sz="145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gotowy interfejs dla robotów z PyTorch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JEPA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JEPA</a:t>
            </a: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: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Joint Embedding Predictive Architecture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60520" cy="346837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709160" y="1097280"/>
            <a:ext cx="4160520" cy="346837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97280"/>
            <a:ext cx="4160520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1155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Idea JEPA (LeCun, Meta AI)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09160" y="1097280"/>
            <a:ext cx="416052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1155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JEPA w nawigacji robota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91160" y="1600200"/>
            <a:ext cx="3860800" cy="2965450"/>
          </a:xfrm>
          <a:prstGeom prst="rect">
            <a:avLst/>
          </a:prstGeom>
          <a:noFill/>
          <a:ln/>
        </p:spPr>
        <p:txBody>
          <a:bodyPr wrap="square" lIns="63500" tIns="101600" rIns="63500" bIns="63500" rtlCol="0" anchor="t"/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Predykcja</a:t>
            </a: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 przestrzeni reprezentacji, nie pikseli</a:t>
            </a:r>
            <a:endParaRPr lang="en-US" sz="13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encoder</a:t>
            </a: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koduje widoczny fragment sceny</a:t>
            </a:r>
            <a:endParaRPr lang="en-US" sz="13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encoder</a:t>
            </a: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koduje ukryty/przyszły fragment</a:t>
            </a:r>
            <a:endParaRPr lang="en-US" sz="13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</a:t>
            </a: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próbuje przewidzieć target z context</a:t>
            </a:r>
            <a:endParaRPr lang="en-US" sz="13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dekodera</a:t>
            </a: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nie rekonstruuje surowych pikseli</a:t>
            </a:r>
            <a:endParaRPr lang="en-US" sz="13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Zaleta</a:t>
            </a: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uczy się abstrakcyjnych cech, a nie tekstur</a:t>
            </a:r>
            <a:endParaRPr lang="en-US" sz="13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Szybszy trening</a:t>
            </a: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bez kosztownej rekonstrukcji RGB</a:t>
            </a:r>
            <a:endParaRPr lang="en-US" sz="13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 11"/>
              <p:cNvSpPr/>
              <p:nvPr/>
            </p:nvSpPr>
            <p:spPr>
              <a:xfrm>
                <a:off x="4762500" y="1600200"/>
                <a:ext cx="4152900" cy="2965450"/>
              </a:xfrm>
              <a:prstGeom prst="rect">
                <a:avLst/>
              </a:prstGeom>
              <a:noFill/>
              <a:ln/>
            </p:spPr>
            <p:txBody>
              <a:bodyPr wrap="square" lIns="63500" tIns="101600" rIns="63500" bIns="63500" rtlCol="0" anchor="t"/>
              <a:lstStyle/>
              <a:p>
                <a:pPr marL="144000" indent="-144000">
                  <a:spcAft>
                    <a:spcPts val="1200"/>
                  </a:spcAft>
                  <a:buSzPct val="100000"/>
                  <a:buChar char="•"/>
                </a:pPr>
                <a:r>
                  <a:rPr lang="en-US" sz="1300" b="1" dirty="0" smtClean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I-JEPA (obraz): </a:t>
                </a:r>
                <a:r>
                  <a:rPr lang="en-US" sz="130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pre-training enkodera ViT bez etykiet</a:t>
                </a:r>
                <a:endParaRPr lang="en-US" sz="1300" dirty="0"/>
              </a:p>
              <a:p>
                <a:pPr marL="144000" indent="-144000">
                  <a:spcAft>
                    <a:spcPts val="1200"/>
                  </a:spcAft>
                  <a:buSzPct val="100000"/>
                  <a:buChar char="•"/>
                </a:pPr>
                <a:r>
                  <a:rPr lang="en-US" sz="1300" b="1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V-JEPA (wideo): </a:t>
                </a:r>
                <a:r>
                  <a:rPr lang="en-US" sz="130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predykcja przyszłych klatek wideo</a:t>
                </a:r>
                <a:endParaRPr lang="en-US" sz="1300" dirty="0"/>
              </a:p>
              <a:p>
                <a:pPr marL="144000" indent="-144000">
                  <a:spcAft>
                    <a:spcPts val="1200"/>
                  </a:spcAft>
                  <a:buSzPct val="100000"/>
                  <a:buChar char="•"/>
                </a:pPr>
                <a:r>
                  <a:rPr lang="en-US" sz="1300" b="1" spc="-6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Używane jako pre-trained backbone </a:t>
                </a:r>
                <a:r>
                  <a:rPr lang="en-US" sz="1300" spc="-6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dla RSSM lub TDMPC2</a:t>
                </a:r>
                <a:endParaRPr lang="en-US" sz="1300" spc="-60" dirty="0"/>
              </a:p>
              <a:p>
                <a:pPr marL="144000" indent="-144000">
                  <a:spcAft>
                    <a:spcPts val="1200"/>
                  </a:spcAft>
                  <a:buSzPct val="100000"/>
                  <a:buChar char="•"/>
                </a:pPr>
                <a:r>
                  <a:rPr lang="en-US" sz="1300" spc="-2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Robot widzi lewą połowę korytarza → przewiduje prawą</a:t>
                </a:r>
                <a:endParaRPr lang="en-US" sz="1300" spc="-20" dirty="0"/>
              </a:p>
              <a:p>
                <a:pPr marL="144000" indent="-144000">
                  <a:spcAft>
                    <a:spcPts val="1200"/>
                  </a:spcAft>
                  <a:buSzPct val="100000"/>
                  <a:buChar char="•"/>
                </a:pPr>
                <a:r>
                  <a:rPr lang="en-US" sz="1300" b="1" spc="-2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Semantyczne reprezentacje </a:t>
                </a:r>
                <a:r>
                  <a:rPr lang="en-US" sz="1300" spc="-2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lepsze niż px-rekonstrukcja</a:t>
                </a:r>
                <a:endParaRPr lang="en-US" sz="1300" spc="-20" dirty="0"/>
              </a:p>
              <a:p>
                <a:pPr marL="144000" indent="-144000">
                  <a:spcAft>
                    <a:spcPts val="1200"/>
                  </a:spcAft>
                  <a:buSzPct val="100000"/>
                  <a:buChar char="•"/>
                </a:pPr>
                <a:r>
                  <a:rPr lang="en-US" sz="1300" b="1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Integracja</a:t>
                </a:r>
                <a:r>
                  <a:rPr lang="en-US" sz="130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JEPA encoder → latent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00" i="1" dirty="0" smtClean="0">
                            <a:solidFill>
                              <a:srgbClr val="0D1B2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US" sz="1300" i="1" dirty="0" smtClean="0">
                            <a:solidFill>
                              <a:srgbClr val="0D1B2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𝑧</m:t>
                        </m:r>
                      </m:e>
                      <m:sub>
                        <m:r>
                          <a:rPr lang="en-US" sz="1300" i="1" dirty="0" smtClean="0">
                            <a:solidFill>
                              <a:srgbClr val="0D1B2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300" dirty="0" smtClean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130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 RSSM/TDMPC2</a:t>
                </a:r>
                <a:endParaRPr lang="en-US" sz="1300" dirty="0"/>
              </a:p>
            </p:txBody>
          </p:sp>
        </mc:Choice>
        <mc:Fallback>
          <p:sp>
            <p:nvSpPr>
              <p:cNvPr id="13" name="Text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500" y="1600200"/>
                <a:ext cx="4152900" cy="2965450"/>
              </a:xfrm>
              <a:prstGeom prst="rect">
                <a:avLst/>
              </a:prstGeom>
              <a:blipFill>
                <a:blip r:embed="rId3"/>
                <a:stretch>
                  <a:fillRect l="-880"/>
                </a:stretch>
              </a:blipFill>
              <a:ln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PORÓWNANIE ALGORYTMÓW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Porównanie algorytmów WMA dla humanoida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2651760" cy="1422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43000"/>
            <a:ext cx="265176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234440"/>
            <a:ext cx="243230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DreamerV3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84048" y="1853489"/>
            <a:ext cx="2432304" cy="654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RSSM + actor-critic; imagen. H=15; SoTA na humanoid locomotion; pełny kod open-source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54680" y="1143000"/>
            <a:ext cx="2651760" cy="1422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143000"/>
            <a:ext cx="2651760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1234440"/>
            <a:ext cx="243230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TDMPC2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264408" y="1853489"/>
            <a:ext cx="2432304" cy="654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world model + MPPI; 0,5M param; szybki; idealny na Jetson; SoTA DMControl Humanoid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1143000"/>
            <a:ext cx="2651760" cy="1422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143000"/>
            <a:ext cx="265176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44768" y="1234440"/>
            <a:ext cx="243230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IRIS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44768" y="1853489"/>
            <a:ext cx="2432304" cy="654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model jako autoregressive transformer (jak GPT); tokeny stanu; silny w rzadkich nagrodach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2749550"/>
            <a:ext cx="2651760" cy="1422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749550"/>
            <a:ext cx="2651760" cy="5486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" y="2840990"/>
            <a:ext cx="243230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DayDreamer (robot)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84048" y="3460039"/>
            <a:ext cx="2432304" cy="654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Adaptacja Dreamer do real robotów; trening na żywym robocie bez resetów; prawie zero-shot transfer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154680" y="2749550"/>
            <a:ext cx="2651760" cy="1422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54680" y="2749550"/>
            <a:ext cx="2651760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64408" y="2840990"/>
            <a:ext cx="243230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HarmonyDream</a:t>
            </a: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264408" y="3460039"/>
            <a:ext cx="2432304" cy="654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WMA dla humanoid navigation: hierarchia Dreamer (wysoki) + TDMPC2 (niski); wyniki ICRA 2024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35040" y="2749550"/>
            <a:ext cx="2651760" cy="1422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035040" y="2749550"/>
            <a:ext cx="2651760" cy="54864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44768" y="2840990"/>
            <a:ext cx="2432304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SWIM (MuJoCo)</a:t>
            </a: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144768" y="3460039"/>
            <a:ext cx="2432304" cy="654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World-model for Imagination; 3D voxel world model; planowanie 3D dla humanoida na schodach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UCZENIE WMA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Uczenie WMA 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 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dane, trening i hiperparametry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8229600" cy="352044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Dane wejściowe: sekwencje (o₁, a₁, r₁, o₂, a₂, …) z eksploracyjnej polityki lub teleoperation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Rozmiar replay buffer: </a:t>
            </a:r>
            <a:r>
              <a:rPr lang="en-US" sz="145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typowo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1M-10M 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kroków; priorytetowe próbkowanie (PER) poprawia próbkowanie rzadkich zdarzeń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size: 16 sekwencji × 64 kroki = 1024 kroków na batch; częstość uczenia: 1 krok uczenia / 1 krok środowiska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Hiperparametry DreamerV3 zunifikowane: lr=1e-4, γ=0,997, λ=0,95, β=1,0; działają bez strojenia między środowiskami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Curriculum: zacznij od krótkich trajektorii i prostych środowisk; stopniowo zwiększaj horyzont i złożoność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Augmentacja danych: random crop, color jitter, losowe wycinki </a:t>
            </a:r>
            <a:r>
              <a:rPr lang="en-US" sz="145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czasowe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podwaja efektywność danych z robota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Metryki treningu: błąd rekonstrukcji, KL divergence, episode return podczas walidacji w symulacji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Planowanie w </a:t>
            </a:r>
            <a:r>
              <a:rPr lang="en-US" sz="24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wyobraźni</a:t>
            </a:r>
            <a:r>
              <a:rPr lang="pl-PL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: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horyzont H kroków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3216910"/>
          </a:xfrm>
          <a:prstGeom prst="rect">
            <a:avLst/>
          </a:prstGeom>
          <a:solidFill>
            <a:srgbClr val="071520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119872" y="1106424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75904" y="1106424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31936" y="1106424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1005840"/>
            <a:ext cx="8321040" cy="3070860"/>
          </a:xfrm>
          <a:prstGeom prst="rect">
            <a:avLst/>
          </a:prstGeom>
          <a:noFill/>
          <a:ln/>
        </p:spPr>
        <p:txBody>
          <a:bodyPr wrap="square" lIns="63500" tIns="127000" rIns="127000" bIns="63500" rtlCol="0" anchor="t"/>
          <a:lstStyle/>
          <a:p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torch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0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imagine_rollout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rssm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actor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h0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z0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horizon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15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n_traj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512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"""</a:t>
            </a:r>
            <a:r>
              <a:rPr lang="pl-PL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Rozija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 N trajektorii w przestrzeni </a:t>
            </a:r>
            <a:r>
              <a:rPr lang="pl-PL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latentnej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 przez H </a:t>
            </a:r>
            <a:r>
              <a:rPr lang="pl-PL" sz="1000" dirty="0" smtClean="0">
                <a:solidFill>
                  <a:srgbClr val="CE9178"/>
                </a:solidFill>
                <a:latin typeface="Consolas" panose="020B0609020204030204" pitchFamily="49" charset="0"/>
              </a:rPr>
              <a:t>kroków."""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4FC1FF"/>
                </a:solidFill>
                <a:latin typeface="Consolas" panose="020B0609020204030204" pitchFamily="49" charset="0"/>
              </a:rPr>
              <a:t>B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n_traj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# Inicjalizacja: powiel stan </a:t>
            </a:r>
            <a:r>
              <a:rPr lang="pl-PL" sz="1000" dirty="0" smtClean="0">
                <a:solidFill>
                  <a:srgbClr val="6A9955"/>
                </a:solidFill>
                <a:latin typeface="Consolas" panose="020B0609020204030204" pitchFamily="49" charset="0"/>
              </a:rPr>
              <a:t>początkowy 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dla wszystkich trajektorii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h0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.unsqueeze(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).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expand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4FC1FF"/>
                </a:solidFill>
                <a:latin typeface="Consolas" panose="020B0609020204030204" pitchFamily="49" charset="0"/>
              </a:rPr>
              <a:t>B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   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# (B, </a:t>
            </a:r>
            <a:r>
              <a:rPr lang="pl-PL" sz="1000" dirty="0" err="1">
                <a:solidFill>
                  <a:srgbClr val="6A9955"/>
                </a:solidFill>
                <a:latin typeface="Consolas" panose="020B0609020204030204" pitchFamily="49" charset="0"/>
              </a:rPr>
              <a:t>det_dim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)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z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z0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.unsqueeze(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).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expand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4FC1FF"/>
                </a:solidFill>
                <a:latin typeface="Consolas" panose="020B0609020204030204" pitchFamily="49" charset="0"/>
              </a:rPr>
              <a:t>B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  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# (B, </a:t>
            </a:r>
            <a:r>
              <a:rPr lang="pl-PL" sz="1000" dirty="0" err="1">
                <a:solidFill>
                  <a:srgbClr val="6A9955"/>
                </a:solidFill>
                <a:latin typeface="Consolas" panose="020B0609020204030204" pitchFamily="49" charset="0"/>
              </a:rPr>
              <a:t>stoch_dim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6A9955"/>
                </a:solidFill>
                <a:latin typeface="Consolas" panose="020B0609020204030204" pitchFamily="49" charset="0"/>
              </a:rPr>
              <a:t>classes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)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states_h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states_z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actions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[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], [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z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], []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_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range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horizon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# Polityka wybiera akcje z </a:t>
            </a:r>
            <a:r>
              <a:rPr lang="pl-PL" sz="1000" dirty="0" smtClean="0">
                <a:solidFill>
                  <a:srgbClr val="6A9955"/>
                </a:solidFill>
                <a:latin typeface="Consolas" panose="020B0609020204030204" pitchFamily="49" charset="0"/>
              </a:rPr>
              <a:t>bieżącego 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stanu </a:t>
            </a:r>
            <a:r>
              <a:rPr lang="pl-PL" sz="1000" dirty="0" err="1">
                <a:solidFill>
                  <a:srgbClr val="6A9955"/>
                </a:solidFill>
                <a:latin typeface="Consolas" panose="020B0609020204030204" pitchFamily="49" charset="0"/>
              </a:rPr>
              <a:t>latentnego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z_flat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z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.view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4FC1FF"/>
                </a:solidFill>
                <a:latin typeface="Consolas" panose="020B0609020204030204" pitchFamily="49" charset="0"/>
              </a:rPr>
              <a:t>B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a_dist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actor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4EC9B0"/>
                </a:solidFill>
                <a:latin typeface="Consolas" panose="020B0609020204030204" pitchFamily="49" charset="0"/>
              </a:rPr>
              <a:t>torch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>
                <a:solidFill>
                  <a:srgbClr val="DCDCAA"/>
                </a:solidFill>
                <a:latin typeface="Consolas" panose="020B0609020204030204" pitchFamily="49" charset="0"/>
              </a:rPr>
              <a:t>cat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([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z_flat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dim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=-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))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a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     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a_dist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.rsample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()       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# </a:t>
            </a:r>
            <a:r>
              <a:rPr lang="pl-PL" sz="1000" dirty="0" smtClean="0">
                <a:solidFill>
                  <a:srgbClr val="6A9955"/>
                </a:solidFill>
                <a:latin typeface="Consolas" panose="020B0609020204030204" pitchFamily="49" charset="0"/>
              </a:rPr>
              <a:t>różniczkowane próbkowanie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# Krok </a:t>
            </a:r>
            <a:r>
              <a:rPr lang="pl-PL" sz="1000" dirty="0" err="1">
                <a:solidFill>
                  <a:srgbClr val="6A9955"/>
                </a:solidFill>
                <a:latin typeface="Consolas" panose="020B0609020204030204" pitchFamily="49" charset="0"/>
              </a:rPr>
              <a:t>wyobrazni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 (bez robota!)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z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 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rssm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.imagine_step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z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a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states_h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append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);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states_z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append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z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);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actions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append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a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# </a:t>
            </a:r>
            <a:r>
              <a:rPr lang="pl-PL" sz="1000" dirty="0" smtClean="0">
                <a:solidFill>
                  <a:srgbClr val="6A9955"/>
                </a:solidFill>
                <a:latin typeface="Consolas" panose="020B0609020204030204" pitchFamily="49" charset="0"/>
              </a:rPr>
              <a:t>Zwróć 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stosy </a:t>
            </a:r>
            <a:r>
              <a:rPr lang="pl-PL" sz="1000" dirty="0" smtClean="0">
                <a:solidFill>
                  <a:srgbClr val="6A9955"/>
                </a:solidFill>
                <a:latin typeface="Consolas" panose="020B0609020204030204" pitchFamily="49" charset="0"/>
              </a:rPr>
              <a:t>tensorów: 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(H+1, B, </a:t>
            </a:r>
            <a:r>
              <a:rPr lang="pl-PL" sz="1000" dirty="0" err="1">
                <a:solidFill>
                  <a:srgbClr val="6A9955"/>
                </a:solidFill>
                <a:latin typeface="Consolas" panose="020B0609020204030204" pitchFamily="49" charset="0"/>
              </a:rPr>
              <a:t>dim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)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torch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stack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states_h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torch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stack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states_z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torch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stack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actions</a:t>
            </a:r>
            <a:r>
              <a:rPr lang="pl-PL" sz="10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74320" y="4502150"/>
            <a:ext cx="8595360" cy="435610"/>
          </a:xfrm>
          <a:prstGeom prst="rect">
            <a:avLst/>
          </a:prstGeom>
          <a:solidFill>
            <a:srgbClr val="1A3550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50" y="4381500"/>
            <a:ext cx="8454390" cy="556260"/>
          </a:xfrm>
          <a:prstGeom prst="rect">
            <a:avLst/>
          </a:prstGeom>
          <a:noFill/>
          <a:ln/>
        </p:spPr>
        <p:txBody>
          <a:bodyPr wrap="square" lIns="0" tIns="127000" rIns="12700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Opis: </a:t>
            </a:r>
            <a:r>
              <a:rPr lang="en-US" sz="14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n_traj</a:t>
            </a:r>
            <a:r>
              <a:rPr lang="en-US" sz="1400" dirty="0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=512 </a:t>
            </a: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trajektorii × H=15 kroków: cały rollout zajmuje ~2 ms na GPU; gradients flow przez </a:t>
            </a:r>
            <a:r>
              <a:rPr lang="en-US" sz="1400" dirty="0" err="1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wszystkie</a:t>
            </a: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kroki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Szkielet treningu DreamerV3 (pętla treningowa)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3382010"/>
          </a:xfrm>
          <a:prstGeom prst="rect">
            <a:avLst/>
          </a:prstGeom>
          <a:solidFill>
            <a:srgbClr val="071520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10896" y="981202"/>
            <a:ext cx="8321040" cy="3349498"/>
          </a:xfrm>
          <a:prstGeom prst="rect">
            <a:avLst/>
          </a:prstGeom>
          <a:noFill/>
          <a:ln/>
        </p:spPr>
        <p:txBody>
          <a:bodyPr wrap="square" lIns="63500" tIns="127000" rIns="127000" bIns="63500" rtlCol="0" anchor="t"/>
          <a:lstStyle/>
          <a:p>
            <a:pPr>
              <a:lnSpc>
                <a:spcPts val="1100"/>
              </a:lnSpc>
            </a:pP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# Zakładamy: </a:t>
            </a:r>
            <a:r>
              <a:rPr lang="pl-PL" sz="1000" dirty="0" err="1">
                <a:solidFill>
                  <a:srgbClr val="6A9955"/>
                </a:solidFill>
                <a:latin typeface="Consolas" panose="020B0609020204030204" pitchFamily="49" charset="0"/>
              </a:rPr>
              <a:t>rssm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6A9955"/>
                </a:solidFill>
                <a:latin typeface="Consolas" panose="020B0609020204030204" pitchFamily="49" charset="0"/>
              </a:rPr>
              <a:t>decoder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6A9955"/>
                </a:solidFill>
                <a:latin typeface="Consolas" panose="020B0609020204030204" pitchFamily="49" charset="0"/>
              </a:rPr>
              <a:t>reward_head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6A9955"/>
                </a:solidFill>
                <a:latin typeface="Consolas" panose="020B0609020204030204" pitchFamily="49" charset="0"/>
              </a:rPr>
              <a:t>value_fn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6A9955"/>
                </a:solidFill>
                <a:latin typeface="Consolas" panose="020B0609020204030204" pitchFamily="49" charset="0"/>
              </a:rPr>
              <a:t>actor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6A9955"/>
                </a:solidFill>
                <a:latin typeface="Consolas" panose="020B0609020204030204" pitchFamily="49" charset="0"/>
              </a:rPr>
              <a:t>critic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# </a:t>
            </a:r>
            <a:r>
              <a:rPr lang="pl-PL" sz="1000" dirty="0" err="1">
                <a:solidFill>
                  <a:srgbClr val="6A9955"/>
                </a:solidFill>
                <a:latin typeface="Consolas" panose="020B0609020204030204" pitchFamily="49" charset="0"/>
              </a:rPr>
              <a:t>replay_buffer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 przechowuje sekwencje (</a:t>
            </a:r>
            <a:r>
              <a:rPr lang="pl-PL" sz="1000" dirty="0" err="1">
                <a:solidFill>
                  <a:srgbClr val="6A9955"/>
                </a:solidFill>
                <a:latin typeface="Consolas" panose="020B0609020204030204" pitchFamily="49" charset="0"/>
              </a:rPr>
              <a:t>o,a,r,done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)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step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range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total_steps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1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# --- 1. Krok na robocie ---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obs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robot.get_observation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()           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# RGB + </a:t>
            </a:r>
            <a:r>
              <a:rPr lang="pl-PL" sz="1000" dirty="0" err="1">
                <a:solidFill>
                  <a:srgbClr val="6A9955"/>
                </a:solidFill>
                <a:latin typeface="Consolas" panose="020B0609020204030204" pitchFamily="49" charset="0"/>
              </a:rPr>
              <a:t>proprio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z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rssm.encode_and_update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obs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      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# </a:t>
            </a:r>
            <a:r>
              <a:rPr lang="pl-PL" sz="1000" dirty="0" err="1">
                <a:solidFill>
                  <a:srgbClr val="6A9955"/>
                </a:solidFill>
                <a:latin typeface="Consolas" panose="020B0609020204030204" pitchFamily="49" charset="0"/>
              </a:rPr>
              <a:t>posterior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 + GRU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action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actor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z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).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sample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().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clamp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1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reward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next_obs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done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robot.step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action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1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replay_buffer.add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obs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action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reward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done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1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# --- 2. Uczenie modelu </a:t>
            </a:r>
            <a:r>
              <a:rPr lang="pl-PL" sz="1000" dirty="0" err="1">
                <a:solidFill>
                  <a:srgbClr val="6A9955"/>
                </a:solidFill>
                <a:latin typeface="Consolas" panose="020B0609020204030204" pitchFamily="49" charset="0"/>
              </a:rPr>
              <a:t>swiata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 ---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batch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replay_buffer.sample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batch_size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16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seq_len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64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1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loss_wm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world_model_loss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rssm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decoder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reward_head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batch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1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loss_wm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.backward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(); 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opt_wm.step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(); 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opt_wm.zero_grad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1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# --- 3. Uczenie aktora-krytyka w </a:t>
            </a:r>
            <a:r>
              <a:rPr lang="pl-PL" sz="1000" dirty="0" smtClean="0">
                <a:solidFill>
                  <a:srgbClr val="6A9955"/>
                </a:solidFill>
                <a:latin typeface="Consolas" panose="020B0609020204030204" pitchFamily="49" charset="0"/>
              </a:rPr>
              <a:t>wyobraźni 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---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h0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z0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rssm.get_current_state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1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hs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zs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acts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imagine_rollout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rssm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actor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h0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z0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1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returns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 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compute_lambda_returns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reward_head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value_fn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hs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zs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1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loss_ac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 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actor_critic_loss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actor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critic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hs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zs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acts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returns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1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loss_ac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.backward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(); 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opt_ac.step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(); 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opt_ac.zero_grad</a:t>
            </a:r>
            <a:r>
              <a:rPr lang="pl-PL" sz="10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()</a:t>
            </a:r>
            <a:endParaRPr lang="pl-PL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74320" y="4552950"/>
            <a:ext cx="8595360" cy="384810"/>
          </a:xfrm>
          <a:prstGeom prst="rect">
            <a:avLst/>
          </a:prstGeom>
          <a:solidFill>
            <a:srgbClr val="1A3550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470400"/>
            <a:ext cx="8321040" cy="467360"/>
          </a:xfrm>
          <a:prstGeom prst="rect">
            <a:avLst/>
          </a:prstGeom>
          <a:noFill/>
          <a:ln/>
        </p:spPr>
        <p:txBody>
          <a:bodyPr wrap="square" lIns="0" tIns="127000" rIns="127000" bIns="0" rtlCol="0" anchor="ctr"/>
          <a:lstStyle/>
          <a:p>
            <a:pPr marL="0" indent="0" algn="ctr">
              <a:buNone/>
            </a:pPr>
            <a:r>
              <a:rPr lang="en-US" sz="1600" b="1" spc="-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Opis: </a:t>
            </a:r>
            <a:r>
              <a:rPr lang="en-US" sz="1600" spc="-5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Trzy fazy w każdym kroku: rollout na robocie → ucz model świata → ucz actor-critic w </a:t>
            </a:r>
            <a:r>
              <a:rPr lang="en-US" sz="1600" spc="-5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wyobraźni</a:t>
            </a:r>
            <a:endParaRPr lang="en-US" sz="1600" spc="-50" dirty="0"/>
          </a:p>
        </p:txBody>
      </p:sp>
      <p:sp>
        <p:nvSpPr>
          <p:cNvPr id="13" name="Shape 5"/>
          <p:cNvSpPr/>
          <p:nvPr/>
        </p:nvSpPr>
        <p:spPr>
          <a:xfrm>
            <a:off x="8119872" y="1106424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6"/>
          <p:cNvSpPr/>
          <p:nvPr/>
        </p:nvSpPr>
        <p:spPr>
          <a:xfrm>
            <a:off x="8375904" y="1106424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8631936" y="1106424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35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2286000" cy="2286000"/>
          </a:xfrm>
          <a:prstGeom prst="rect">
            <a:avLst/>
          </a:prstGeom>
          <a:noFill/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0077A8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2000" dirty="0"/>
          </a:p>
        </p:txBody>
      </p:sp>
      <p:sp>
        <p:nvSpPr>
          <p:cNvPr id="5" name="Shape 3"/>
          <p:cNvSpPr/>
          <p:nvPr/>
        </p:nvSpPr>
        <p:spPr>
          <a:xfrm>
            <a:off x="7132320" y="1371600"/>
            <a:ext cx="1645920" cy="1645920"/>
          </a:xfrm>
          <a:prstGeom prst="ellipse">
            <a:avLst/>
          </a:prstGeom>
          <a:solidFill>
            <a:schemeClr val="bg1"/>
          </a:solidFill>
          <a:ln w="57150">
            <a:solidFill>
              <a:srgbClr val="0077A8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6459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260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7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926080" y="160020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WMA w nawigacji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humanoida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2926080" y="2697480"/>
            <a:ext cx="3931920" cy="27432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926080" y="2834640"/>
            <a:ext cx="393192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Integracja z ROS 2, hierarchia planowania, trening i wdrożenie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7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HIERARCHIA NAWIGACJI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Hierarchiczna architektura nawigacji z WMA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5394960" cy="662026"/>
          </a:xfrm>
          <a:prstGeom prst="rect">
            <a:avLst/>
          </a:prstGeom>
          <a:solidFill>
            <a:srgbClr val="4C1D95"/>
          </a:solidFill>
          <a:ln w="12700">
            <a:solidFill>
              <a:srgbClr val="4C1D95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0680" y="1143000"/>
            <a:ext cx="182880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Poziom misji (LLM/VLM)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851150" y="1143000"/>
            <a:ext cx="269875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Polecenie językowe → sekwencja celów nawigacyjnych; wywołanie co ~2 </a:t>
            </a:r>
            <a:r>
              <a:rPr lang="en-US" sz="11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44368" y="1814170"/>
            <a:ext cx="54864" cy="9144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1914754"/>
            <a:ext cx="5394960" cy="66202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0680" y="1914754"/>
            <a:ext cx="239522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spc="-4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Poziom globalny (A* + SLAM)</a:t>
            </a:r>
            <a:endParaRPr lang="en-US" sz="1250" spc="-40" dirty="0"/>
          </a:p>
        </p:txBody>
      </p:sp>
      <p:sp>
        <p:nvSpPr>
          <p:cNvPr id="12" name="Text 10"/>
          <p:cNvSpPr/>
          <p:nvPr/>
        </p:nvSpPr>
        <p:spPr>
          <a:xfrm>
            <a:off x="2851150" y="1914754"/>
            <a:ext cx="269875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zajętości, ścieżka metryczna do celu; aktualizacja co </a:t>
            </a:r>
            <a:r>
              <a:rPr lang="en-US" sz="11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0,5-2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s; klasyczny planista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944368" y="2585923"/>
            <a:ext cx="54864" cy="9144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320" y="2686507"/>
            <a:ext cx="5394960" cy="66202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60680" y="2686507"/>
            <a:ext cx="239522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spc="-4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Poziom</a:t>
            </a:r>
            <a:r>
              <a:rPr lang="en-US" sz="1250" b="1" spc="-4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250" b="1" spc="-40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lokalny</a:t>
            </a:r>
            <a:r>
              <a:rPr lang="pl-PL" sz="1250" b="1" spc="-4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:</a:t>
            </a:r>
            <a:r>
              <a:rPr lang="en-US" sz="1250" b="1" spc="-40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250" b="1" spc="-4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WMA (TDMPC2)</a:t>
            </a:r>
            <a:endParaRPr lang="en-US" sz="1250" spc="-40" dirty="0"/>
          </a:p>
        </p:txBody>
      </p:sp>
      <p:sp>
        <p:nvSpPr>
          <p:cNvPr id="16" name="Text 14"/>
          <p:cNvSpPr/>
          <p:nvPr/>
        </p:nvSpPr>
        <p:spPr>
          <a:xfrm>
            <a:off x="2851150" y="2686507"/>
            <a:ext cx="269875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model przewiduje H=10 kroków; MPPI wybiera optymalną (v, ω); </a:t>
            </a:r>
            <a:r>
              <a:rPr lang="en-US" sz="11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20-50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944368" y="3357677"/>
            <a:ext cx="54864" cy="9144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3458261"/>
            <a:ext cx="5394960" cy="66202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60680" y="3458261"/>
            <a:ext cx="239522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spc="-4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Poziom</a:t>
            </a:r>
            <a:r>
              <a:rPr lang="en-US" sz="1250" b="1" spc="-4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250" b="1" spc="-40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chodu</a:t>
            </a:r>
            <a:r>
              <a:rPr lang="pl-PL" sz="1250" b="1" spc="-4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:</a:t>
            </a:r>
            <a:r>
              <a:rPr lang="en-US" sz="1250" b="1" spc="-40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250" b="1" spc="-4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WBC + RSSM</a:t>
            </a:r>
            <a:endParaRPr lang="en-US" sz="1250" spc="-40" dirty="0"/>
          </a:p>
        </p:txBody>
      </p:sp>
      <p:sp>
        <p:nvSpPr>
          <p:cNvPr id="20" name="Text 18"/>
          <p:cNvSpPr/>
          <p:nvPr/>
        </p:nvSpPr>
        <p:spPr>
          <a:xfrm>
            <a:off x="2851150" y="3458261"/>
            <a:ext cx="269875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WMA dla lokomocji: planuje sekwencję kroków w latent space; 200 Hz WBC + 10 Hz WMA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944368" y="4129430"/>
            <a:ext cx="54864" cy="9144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4320" y="4230014"/>
            <a:ext cx="5394960" cy="662026"/>
          </a:xfrm>
          <a:prstGeom prst="rect">
            <a:avLst/>
          </a:prstGeom>
          <a:solidFill>
            <a:srgbClr val="92400E"/>
          </a:solidFill>
          <a:ln w="12700">
            <a:solidFill>
              <a:srgbClr val="92400E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60680" y="4230014"/>
            <a:ext cx="239522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Aktuatory (ros2_control)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2851150" y="4230014"/>
            <a:ext cx="2698750" cy="662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Komendy momentów τ [Nm]; pętle PID 1 kHz; enkodery i F/T → sprzężenie zwrotne do WMA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943600" y="1143000"/>
            <a:ext cx="2926080" cy="3749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077A8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43600" y="1143000"/>
            <a:ext cx="2926080" cy="38404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80760" y="116128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Kluczowe cechy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080760" y="1600200"/>
            <a:ext cx="2651760" cy="2724150"/>
          </a:xfrm>
          <a:prstGeom prst="rect">
            <a:avLst/>
          </a:prstGeom>
          <a:noFill/>
          <a:ln/>
        </p:spPr>
        <p:txBody>
          <a:bodyPr wrap="square" lIns="63500" tIns="101600" rIns="63500" bIns="63500" rtlCol="0" anchor="t"/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Każdy poziom ma </a:t>
            </a:r>
            <a:r>
              <a:rPr lang="en-US" sz="1200" dirty="0" err="1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własną</a:t>
            </a: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l-PL" sz="1200" dirty="0" smtClean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br>
              <a:rPr lang="pl-PL" sz="1200" dirty="0" smtClean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00" dirty="0" err="1" smtClean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częstość</a:t>
            </a:r>
            <a:r>
              <a:rPr lang="en-US" sz="1200" dirty="0" smtClean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horyzont</a:t>
            </a:r>
            <a:endParaRPr lang="en-US" sz="12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Błędy WMA nie blokują WBC (fallback)</a:t>
            </a:r>
            <a:endParaRPr lang="en-US" sz="12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Wspólny stan latentny h między poziomami</a:t>
            </a:r>
            <a:endParaRPr lang="en-US" sz="12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Można zastąpić pojedynczy poziom</a:t>
            </a:r>
            <a:endParaRPr lang="en-US" sz="12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Testowany: DreamerV3 + Nav2 </a:t>
            </a:r>
            <a:r>
              <a:rPr lang="pl-PL" sz="1200" dirty="0" smtClean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br>
              <a:rPr lang="pl-PL" sz="1200" dirty="0" smtClean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00" dirty="0" smtClean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</a:t>
            </a: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Gazebo</a:t>
            </a:r>
            <a:endParaRPr lang="en-US" sz="12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200" b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Czas latencji</a:t>
            </a: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WMA ≈ 5 ms / krok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7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TRENING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Etapy trenowania WMA dla nawigacji humanoida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011680" cy="256667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87552" y="1188720"/>
            <a:ext cx="585216" cy="585216"/>
          </a:xfrm>
          <a:prstGeom prst="ellipse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1188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1874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Pre-training w symulacji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2423160"/>
            <a:ext cx="1828800" cy="1082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MuJoCo / Isaac Sim; 10M kroków; polityka eksploracyjna; uczenie RSSM i enkodera na danych proprio + RGB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23160" y="1097280"/>
            <a:ext cx="2011680" cy="256667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36392" y="1188720"/>
            <a:ext cx="585216" cy="585216"/>
          </a:xfrm>
          <a:prstGeom prst="ellipse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36392" y="1188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514600" y="1874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Fine-tuning w symulacji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514600" y="2423160"/>
            <a:ext cx="1828800" cy="1082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Zadanie nawigacyjne: dotarcie do celu ±0,1 m; funkcja nagrody: </a:t>
            </a:r>
            <a:r>
              <a:rPr lang="en-US" sz="11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1100" dirty="0" err="1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d_goal</a:t>
            </a:r>
            <a:r>
              <a:rPr lang="en-US" sz="11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11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bonus_sukces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kolizja; DreamerV3 / TDMPC2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1097280"/>
            <a:ext cx="2011680" cy="256667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85232" y="1188720"/>
            <a:ext cx="585216" cy="585216"/>
          </a:xfrm>
          <a:prstGeom prst="ellipse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85232" y="1188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663440" y="1874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Sim-to-real transfer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3440" y="2423160"/>
            <a:ext cx="1828800" cy="1082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randomization: masa, tarcie, opóźnienia, tekstury; tylko enkoder re-fine-tunowany na 1h danych z realnego robota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720840" y="1097280"/>
            <a:ext cx="2011680" cy="256667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34072" y="1188720"/>
            <a:ext cx="585216" cy="585216"/>
          </a:xfrm>
          <a:prstGeom prst="ellipse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34072" y="1188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812280" y="1874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Online adaptation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12280" y="2423160"/>
            <a:ext cx="1828800" cy="1082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robocie: replay buffer zasilany danymi online; model przejścia update co 100 kroków; polityka adaptuje się w locie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7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FUNKCJA NAGRODY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Projektowanie funkcji nagrody dla nawigacji WMA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/>
              <p:nvPr/>
            </p:nvSpPr>
            <p:spPr>
              <a:xfrm>
                <a:off x="355600" y="1188720"/>
                <a:ext cx="8331200" cy="3520440"/>
              </a:xfrm>
              <a:prstGeom prst="rect">
                <a:avLst/>
              </a:prstGeom>
              <a:noFill/>
              <a:ln/>
            </p:spPr>
            <p:txBody>
              <a:bodyPr wrap="square" lIns="127000" tIns="127000" rIns="127000" bIns="127000" rtlCol="0" anchor="t"/>
              <a:lstStyle/>
              <a:p>
                <a:pPr marL="144000" indent="-144000">
                  <a:spcAft>
                    <a:spcPts val="1200"/>
                  </a:spcAft>
                  <a:buSzPct val="100000"/>
                  <a:buChar char="•"/>
                </a:pPr>
                <a:r>
                  <a:rPr lang="en-US" sz="1450" b="1" dirty="0" smtClean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Nagroda za zbliżenie do </a:t>
                </a:r>
                <a:r>
                  <a:rPr lang="en-US" sz="1450" b="1" dirty="0" err="1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celu</a:t>
                </a:r>
                <a:r>
                  <a:rPr lang="en-US" sz="1450" dirty="0" smtClean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𝑟</m:t>
                        </m:r>
                      </m:e>
                      <m:sub>
                        <m: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𝑔𝑜𝑎𝑙</m:t>
                        </m:r>
                      </m:sub>
                    </m:sSub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= </m:t>
                    </m:r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−</m:t>
                    </m:r>
                    <m:f>
                      <m:fPr>
                        <m:ctrlP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𝑑</m:t>
                        </m:r>
                        <m:d>
                          <m:dPr>
                            <m:ctrlPr>
                              <a:rPr lang="en-US" sz="145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dPr>
                          <m:e>
                            <m:r>
                              <a:rPr lang="en-US" sz="1450" i="1" dirty="0" err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libri" pitchFamily="34" charset="-122"/>
                                <a:cs typeface="Calibri" pitchFamily="34" charset="-120"/>
                              </a:rPr>
                              <m:t>𝑝𝑜</m:t>
                            </m:r>
                            <m:sSub>
                              <m:sSubPr>
                                <m:ctrlPr>
                                  <a:rPr lang="en-US" sz="1450" i="1" dirty="0" err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libri" pitchFamily="34" charset="-122"/>
                                    <a:cs typeface="Calibri" pitchFamily="34" charset="-120"/>
                                  </a:rPr>
                                </m:ctrlPr>
                              </m:sSubPr>
                              <m:e>
                                <m:r>
                                  <a:rPr lang="en-US" sz="1450" i="1" dirty="0" err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libri" pitchFamily="34" charset="-122"/>
                                    <a:cs typeface="Calibri" pitchFamily="34" charset="-12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450" i="1" dirty="0" err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libri" pitchFamily="34" charset="-122"/>
                                    <a:cs typeface="Calibri" pitchFamily="34" charset="-12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sz="145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libri" pitchFamily="34" charset="-122"/>
                                <a:cs typeface="Calibri" pitchFamily="34" charset="-120"/>
                              </a:rPr>
                              <m:t>, </m:t>
                            </m:r>
                            <m:r>
                              <a:rPr lang="pl-PL" sz="145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libri" pitchFamily="34" charset="-122"/>
                                <a:cs typeface="Calibri" pitchFamily="34" charset="-120"/>
                              </a:rPr>
                              <m:t> </m:t>
                            </m:r>
                            <m:r>
                              <a:rPr lang="en-US" sz="145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libri" pitchFamily="34" charset="-122"/>
                                <a:cs typeface="Calibri" pitchFamily="34" charset="-120"/>
                              </a:rPr>
                              <m:t>𝑔𝑜𝑎𝑙</m:t>
                            </m:r>
                          </m:e>
                        </m:d>
                      </m:num>
                      <m:den>
                        <m:sSub>
                          <m:sSubPr>
                            <m:ctrlPr>
                              <a:rPr lang="en-US" sz="145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sSubPr>
                          <m:e>
                            <m:r>
                              <a:rPr lang="en-US" sz="145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libri" pitchFamily="34" charset="-122"/>
                                <a:cs typeface="Calibri" pitchFamily="34" charset="-12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145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libri" pitchFamily="34" charset="-122"/>
                                <a:cs typeface="Calibri" pitchFamily="34" charset="-120"/>
                              </a:rPr>
                              <m:t>𝑖𝑛𝑖𝑡𝑖𝑎𝑙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sz="1450" dirty="0" smtClean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; </a:t>
                </a:r>
                <a:r>
                  <a:rPr lang="en-US" sz="1450" dirty="0" err="1" smtClean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znormalizowana</a:t>
                </a:r>
                <a:r>
                  <a:rPr lang="en-US" sz="145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gęsta</a:t>
                </a:r>
                <a:endParaRPr lang="en-US" sz="1450" dirty="0"/>
              </a:p>
              <a:p>
                <a:pPr marL="144000" indent="-144000">
                  <a:spcAft>
                    <a:spcPts val="1200"/>
                  </a:spcAft>
                  <a:buSzPct val="100000"/>
                  <a:buChar char="•"/>
                </a:pPr>
                <a:r>
                  <a:rPr lang="en-US" sz="1450" b="1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Kara za kolizję</a:t>
                </a:r>
                <a:r>
                  <a:rPr lang="en-US" sz="145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𝑟</m:t>
                        </m:r>
                      </m:e>
                      <m:sub>
                        <m: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𝑐𝑜𝑙𝑙</m:t>
                        </m:r>
                      </m:sub>
                    </m:sSub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= </m:t>
                    </m:r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−10 </m:t>
                    </m:r>
                  </m:oMath>
                </a14:m>
                <a:r>
                  <a:rPr lang="en-US" sz="145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gdy dist(przeszkoda) &lt; 0,3 m; epizod kończy się</a:t>
                </a:r>
                <a:endParaRPr lang="en-US" sz="1450" dirty="0"/>
              </a:p>
              <a:p>
                <a:pPr marL="144000" indent="-144000">
                  <a:spcAft>
                    <a:spcPts val="1200"/>
                  </a:spcAft>
                  <a:buSzPct val="100000"/>
                  <a:buChar char="•"/>
                </a:pPr>
                <a:r>
                  <a:rPr lang="en-US" sz="1450" b="1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Nagroda za stabilność ZMP</a:t>
                </a:r>
                <a:r>
                  <a:rPr lang="en-US" sz="1450" dirty="0">
                    <a:solidFill>
                      <a:schemeClr val="accent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𝑟</m:t>
                        </m:r>
                      </m:e>
                      <m:sub>
                        <m: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𝑧𝑚𝑝</m:t>
                        </m:r>
                      </m:sub>
                    </m:sSub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= +0,2</m:t>
                    </m:r>
                    <m:r>
                      <a:rPr lang="en-US" sz="1450" i="1" dirty="0">
                        <a:solidFill>
                          <a:srgbClr val="0D1B2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 </m:t>
                    </m:r>
                  </m:oMath>
                </a14:m>
                <a:r>
                  <a:rPr lang="en-US" sz="145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gdy ZMP w wieloboku; </a:t>
                </a:r>
                <a:r>
                  <a:rPr lang="en-US" sz="1450" dirty="0" smtClean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-</a:t>
                </a:r>
                <a:r>
                  <a:rPr lang="en-US" sz="1450" dirty="0" smtClean="0">
                    <a:solidFill>
                      <a:schemeClr val="accent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0,5</a:t>
                </a:r>
                <a:r>
                  <a:rPr lang="en-US" sz="1450" dirty="0" smtClean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145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gdy poza marginesem 2 cm</a:t>
                </a:r>
                <a:endParaRPr lang="en-US" sz="1450" dirty="0"/>
              </a:p>
              <a:p>
                <a:pPr marL="144000" indent="-144000">
                  <a:spcAft>
                    <a:spcPts val="1200"/>
                  </a:spcAft>
                  <a:buSzPct val="100000"/>
                  <a:buChar char="•"/>
                </a:pPr>
                <a:r>
                  <a:rPr lang="en-US" sz="1450" b="1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Kara za zużycie energii</a:t>
                </a:r>
                <a:r>
                  <a:rPr lang="en-US" sz="145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𝑟</m:t>
                        </m:r>
                      </m:e>
                      <m:sub>
                        <m: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𝑒𝑛𝑒𝑟𝑔𝑦</m:t>
                        </m:r>
                      </m:sub>
                    </m:sSub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 = </m:t>
                    </m:r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−0,001 </m:t>
                    </m:r>
                    <m:r>
                      <a:rPr lang="en-US" sz="145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· ∑</m:t>
                    </m:r>
                    <m:d>
                      <m:dPr>
                        <m:begChr m:val="|"/>
                        <m:endChr m:val="|"/>
                        <m:ctrlP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5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sSubPr>
                          <m:e>
                            <m:r>
                              <a:rPr lang="en-US" sz="145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libri" pitchFamily="34" charset="-122"/>
                                <a:cs typeface="Calibri" pitchFamily="34" charset="-120"/>
                              </a:rPr>
                              <m:t>𝜏</m:t>
                            </m:r>
                          </m:e>
                          <m:sub>
                            <m:r>
                              <a:rPr lang="en-US" sz="145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libri" pitchFamily="34" charset="-122"/>
                                <a:cs typeface="Calibri" pitchFamily="34" charset="-120"/>
                              </a:rPr>
                              <m:t>𝑖</m:t>
                            </m:r>
                          </m:sub>
                        </m:sSub>
                        <m: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· </m:t>
                        </m:r>
                        <m: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𝑑</m:t>
                        </m:r>
                        <m:sSub>
                          <m:sSubPr>
                            <m:ctrlPr>
                              <a:rPr lang="en-US" sz="145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libri" pitchFamily="34" charset="-122"/>
                                <a:cs typeface="Calibri" pitchFamily="34" charset="-120"/>
                              </a:rPr>
                            </m:ctrlPr>
                          </m:sSubPr>
                          <m:e>
                            <m:r>
                              <a:rPr lang="en-US" sz="145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libri" pitchFamily="34" charset="-122"/>
                                <a:cs typeface="Calibri" pitchFamily="34" charset="-12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45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libri" pitchFamily="34" charset="-122"/>
                                <a:cs typeface="Calibri" pitchFamily="34" charset="-12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45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; </m:t>
                    </m:r>
                  </m:oMath>
                </a14:m>
                <a:r>
                  <a:rPr lang="en-US" sz="145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preferuje płynny chód</a:t>
                </a:r>
                <a:endParaRPr lang="en-US" sz="1450" dirty="0"/>
              </a:p>
              <a:p>
                <a:pPr marL="144000" indent="-144000">
                  <a:spcAft>
                    <a:spcPts val="1200"/>
                  </a:spcAft>
                  <a:buSzPct val="100000"/>
                  <a:buChar char="•"/>
                </a:pPr>
                <a:r>
                  <a:rPr lang="en-US" sz="1450" b="1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Nagroda za prędkość</a:t>
                </a:r>
                <a:r>
                  <a:rPr lang="en-US" sz="145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𝑟</m:t>
                        </m:r>
                      </m:e>
                      <m:sub>
                        <m: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𝑣𝑒𝑙</m:t>
                        </m:r>
                      </m:sub>
                    </m:sSub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 = +0,1 · </m:t>
                    </m:r>
                    <m:sSub>
                      <m:sSubPr>
                        <m:ctrlP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𝑣</m:t>
                        </m:r>
                      </m:e>
                      <m:sub>
                        <m: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𝑓𝑜𝑟𝑤𝑎𝑟𝑑</m:t>
                        </m:r>
                      </m:sub>
                    </m:sSub>
                  </m:oMath>
                </a14:m>
                <a:r>
                  <a:rPr lang="en-US" sz="145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; zachęca do sprawnego ruchu ku celowi</a:t>
                </a:r>
                <a:endParaRPr lang="en-US" sz="1450" dirty="0"/>
              </a:p>
              <a:p>
                <a:pPr marL="144000" indent="-144000">
                  <a:spcAft>
                    <a:spcPts val="1200"/>
                  </a:spcAft>
                  <a:buSzPct val="100000"/>
                  <a:buChar char="•"/>
                </a:pPr>
                <a:r>
                  <a:rPr lang="en-US" sz="1450" b="1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Nagroda za sukces</a:t>
                </a:r>
                <a:r>
                  <a:rPr lang="en-US" sz="145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𝑟</m:t>
                        </m:r>
                      </m:e>
                      <m:sub>
                        <m: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𝑠𝑢𝑐𝑐𝑒𝑠𝑠</m:t>
                        </m:r>
                      </m:sub>
                    </m:sSub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 = +50 </m:t>
                    </m:r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𝑔𝑑𝑦</m:t>
                    </m:r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dPr>
                      <m:e>
                        <m: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𝑝𝑜𝑠</m:t>
                        </m:r>
                        <m: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 − </m:t>
                        </m:r>
                        <m: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𝑔𝑜𝑎𝑙</m:t>
                        </m:r>
                      </m:e>
                    </m:d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 &lt; 0,1 </m:t>
                    </m:r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𝑚</m:t>
                    </m:r>
                  </m:oMath>
                </a14:m>
                <a:r>
                  <a:rPr lang="en-US" sz="145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; jednorazowy bonus</a:t>
                </a:r>
                <a:endParaRPr lang="en-US" sz="1450" dirty="0"/>
              </a:p>
              <a:p>
                <a:pPr marL="144000" indent="-144000">
                  <a:spcAft>
                    <a:spcPts val="1200"/>
                  </a:spcAft>
                  <a:buSzPct val="100000"/>
                  <a:buChar char="•"/>
                </a:pPr>
                <a:r>
                  <a:rPr lang="en-US" sz="1450" b="1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Balans</a:t>
                </a:r>
                <a:r>
                  <a:rPr lang="en-US" sz="145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𝑟</m:t>
                        </m:r>
                      </m:e>
                      <m:sub>
                        <m:r>
                          <a:rPr lang="en-US" sz="145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𝑡𝑜𝑡𝑎𝑙</m:t>
                        </m:r>
                      </m:sub>
                    </m:sSub>
                    <m:r>
                      <a:rPr lang="en-US" sz="145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 </m:t>
                    </m:r>
                    <m:r>
                      <a:rPr lang="en-US" sz="145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= </m:t>
                    </m:r>
                    <m:sSub>
                      <m:sSubPr>
                        <m:ctrlP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𝑟</m:t>
                        </m:r>
                      </m:e>
                      <m:sub>
                        <m: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𝑔𝑜𝑎𝑙</m:t>
                        </m:r>
                      </m:sub>
                    </m:sSub>
                    <m:r>
                      <a:rPr lang="en-US" sz="145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 + </m:t>
                    </m:r>
                    <m:sSub>
                      <m:sSubPr>
                        <m:ctrlP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𝑟</m:t>
                        </m:r>
                      </m:e>
                      <m:sub>
                        <m: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𝑧𝑚𝑝</m:t>
                        </m:r>
                      </m:sub>
                    </m:sSub>
                    <m:r>
                      <a:rPr lang="en-US" sz="145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 + </m:t>
                    </m:r>
                    <m:sSub>
                      <m:sSubPr>
                        <m:ctrlP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𝑟</m:t>
                        </m:r>
                      </m:e>
                      <m:sub>
                        <m: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𝑒𝑛𝑒𝑟𝑔𝑦</m:t>
                        </m:r>
                      </m:sub>
                    </m:sSub>
                    <m:r>
                      <a:rPr lang="en-US" sz="145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 + </m:t>
                    </m:r>
                    <m:sSub>
                      <m:sSubPr>
                        <m:ctrlP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𝑟</m:t>
                        </m:r>
                      </m:e>
                      <m:sub>
                        <m: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𝑣𝑒𝑙</m:t>
                        </m:r>
                      </m:sub>
                    </m:sSub>
                    <m:r>
                      <a:rPr lang="en-US" sz="145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 + </m:t>
                    </m:r>
                    <m:sSub>
                      <m:sSubPr>
                        <m:ctrlP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𝑟</m:t>
                        </m:r>
                      </m:e>
                      <m:sub>
                        <m: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𝑐𝑜𝑙𝑙</m:t>
                        </m:r>
                      </m:sub>
                    </m:sSub>
                    <m:r>
                      <a:rPr lang="en-US" sz="145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 + </m:t>
                    </m:r>
                    <m:sSub>
                      <m:sSubPr>
                        <m:ctrlP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𝑟</m:t>
                        </m:r>
                      </m:e>
                      <m:sub>
                        <m:r>
                          <a:rPr lang="en-US" sz="145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𝑠𝑢𝑐𝑐𝑒𝑠𝑠</m:t>
                        </m:r>
                      </m:sub>
                    </m:sSub>
                  </m:oMath>
                </a14:m>
                <a:r>
                  <a:rPr lang="en-US" sz="1450" dirty="0">
                    <a:solidFill>
                      <a:srgbClr val="0D1B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; wagi dobierane eksperymentalnie</a:t>
                </a:r>
                <a:endParaRPr lang="en-US" sz="1450" dirty="0"/>
              </a:p>
            </p:txBody>
          </p:sp>
        </mc:Choice>
        <mc:Fallback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600" y="1188720"/>
                <a:ext cx="8331200" cy="35204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7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INTEGRACJA ROS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Integracja WMA z ROS 2 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 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wzorzec implementacji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92227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9250" y="1188720"/>
            <a:ext cx="8388350" cy="270383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5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/wma_policy</a:t>
            </a:r>
            <a:r>
              <a:rPr lang="en-US" sz="145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subskrybuje /camera/image_raw + /odom + /joint_states; publikuje /cmd_vel lub /footstep_goal</a:t>
            </a:r>
            <a:endParaRPr lang="en-US" sz="1450" spc="-6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Cykl działania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encode(obs) → rssm.imagine(H=10) → mppi_select_action() → publish</a:t>
            </a:r>
            <a:endParaRPr lang="en-US" sz="145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Latencja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TDMPC2 ~3 ms, DreamerV3 ~8 ms na Jetson AGX Orin; mieści się w cyklu 50 Hz</a:t>
            </a:r>
            <a:endParaRPr lang="en-US" sz="145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Interfejs z Nav2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/wma_policy jako custom local planner plugin (nav2_core::Controller interface)</a:t>
            </a:r>
            <a:endParaRPr lang="en-US" sz="145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TF2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node czyta transformacje map→odom→base; stan latentny enkoduje RELATYWNĄ pozycję celu</a:t>
            </a:r>
            <a:endParaRPr lang="en-US" sz="145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Watchdog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jeśli WMA nie odpowie przez &gt;50 ms → Nav2 fallback do DWB controller</a:t>
            </a:r>
            <a:endParaRPr lang="en-US" sz="145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Diagnostics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/wma_diagnostics publikuje latencję, wartość funkcji wartości V(h,z), błąd predykcji</a:t>
            </a:r>
            <a:endParaRPr lang="en-US" sz="14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WMA jako kontroler lokalny w Nav2 (Python szkielet)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3150870"/>
          </a:xfrm>
          <a:prstGeom prst="rect">
            <a:avLst/>
          </a:prstGeom>
          <a:solidFill>
            <a:srgbClr val="071520"/>
          </a:solidFill>
          <a:ln w="12700">
            <a:solidFill>
              <a:srgbClr val="D9770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119872" y="1060704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75904" y="1060704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31936" y="1060704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0896" y="939038"/>
            <a:ext cx="8321040" cy="3084322"/>
          </a:xfrm>
          <a:prstGeom prst="rect">
            <a:avLst/>
          </a:prstGeom>
          <a:noFill/>
          <a:ln/>
        </p:spPr>
        <p:txBody>
          <a:bodyPr wrap="square" lIns="63500" tIns="127000" rIns="127000" bIns="63500" rtlCol="0" anchor="t"/>
          <a:lstStyle/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rclpy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;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from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rclpy.node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Node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torch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numpy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as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from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geometry_msgs.msg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Twist</a:t>
            </a: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000" dirty="0" err="1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WMAController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Node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init</a:t>
            </a:r>
            <a:r>
              <a:rPr lang="pl-PL" sz="1000" dirty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>
                <a:solidFill>
                  <a:srgbClr val="4EC9B0"/>
                </a:solidFill>
                <a:latin typeface="Consolas" panose="020B0609020204030204" pitchFamily="49" charset="0"/>
              </a:rPr>
              <a:t>super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().</a:t>
            </a:r>
            <a:r>
              <a:rPr lang="pl-PL" sz="1000" dirty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init</a:t>
            </a:r>
            <a:r>
              <a:rPr lang="pl-PL" sz="1000" dirty="0">
                <a:solidFill>
                  <a:srgbClr val="DCDCAA"/>
                </a:solidFill>
                <a:latin typeface="Consolas" panose="020B0609020204030204" pitchFamily="49" charset="0"/>
              </a:rPr>
              <a:t>__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wma_controller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rssm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torch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load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'rssm_humanoid.pt'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).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eval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().cuda()</a:t>
            </a: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actor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torch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load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'actor_nav.pt'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).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eval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().cuda()</a:t>
            </a: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torch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zeros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512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).</a:t>
            </a:r>
            <a:r>
              <a:rPr lang="pl-PL" sz="1000" dirty="0">
                <a:solidFill>
                  <a:srgbClr val="DCDCAA"/>
                </a:solidFill>
                <a:latin typeface="Consolas" panose="020B0609020204030204" pitchFamily="49" charset="0"/>
              </a:rPr>
              <a:t>cuda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()     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# stan deterministyczny GRU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z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torch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zeros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32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32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).</a:t>
            </a:r>
            <a:r>
              <a:rPr lang="pl-PL" sz="1000" dirty="0">
                <a:solidFill>
                  <a:srgbClr val="DCDCAA"/>
                </a:solidFill>
                <a:latin typeface="Consolas" panose="020B0609020204030204" pitchFamily="49" charset="0"/>
              </a:rPr>
              <a:t>cuda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()  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# stan stochastyczny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cmd_pub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.create_publisher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(Twist, 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'/</a:t>
            </a:r>
            <a:r>
              <a:rPr lang="pl-PL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cmd_vel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obs_sub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.create_subscription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CompressedImage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'/</a:t>
            </a:r>
            <a:r>
              <a:rPr lang="pl-PL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camera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/</a:t>
            </a:r>
            <a:r>
              <a:rPr lang="pl-PL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compressed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obs_cb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obs_cb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msg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obs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preprocess_image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msg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             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# (1, 3, 64, 64) tensor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with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torch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no_grad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():</a:t>
            </a: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z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rssm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.observe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obs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z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action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actor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z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.view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)).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mean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cmd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Twist()</a:t>
            </a: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cmd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.linear.x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action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].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clamp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0.5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0.5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))</a:t>
            </a: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cmd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.angular.z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action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].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clamp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1.0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1.0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))</a:t>
            </a:r>
          </a:p>
          <a:p>
            <a:pPr>
              <a:lnSpc>
                <a:spcPts val="1000"/>
              </a:lnSpc>
            </a:pP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cmd_pub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.publish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cmd</a:t>
            </a:r>
            <a:r>
              <a:rPr lang="pl-PL" sz="10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74320" y="4559300"/>
            <a:ext cx="8595360" cy="378460"/>
          </a:xfrm>
          <a:prstGeom prst="rect">
            <a:avLst/>
          </a:prstGeom>
          <a:solidFill>
            <a:srgbClr val="1A3550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425950"/>
            <a:ext cx="8321040" cy="511810"/>
          </a:xfrm>
          <a:prstGeom prst="rect">
            <a:avLst/>
          </a:prstGeom>
          <a:noFill/>
          <a:ln/>
        </p:spPr>
        <p:txBody>
          <a:bodyPr wrap="square" lIns="0" tIns="127000" rIns="12700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Opis: </a:t>
            </a: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observe() aktualizuje (h,z) z nowej klatki; actor wybiera akcję z latent state; cmd_vel do Nav2 </a:t>
            </a:r>
            <a:r>
              <a:rPr lang="en-US" sz="14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costmap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7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PORÓWNANIE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WMA vs. VLM vs. 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klasyczny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planista</a:t>
            </a:r>
            <a:r>
              <a:rPr lang="pl-PL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-&gt; </a:t>
            </a:r>
            <a:r>
              <a:rPr lang="en-US" sz="24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kiedy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stosować?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2651760" cy="25527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43000"/>
            <a:ext cx="2651760" cy="41148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16128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Klasyczny planer (A* + DWA)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28930" y="1627632"/>
            <a:ext cx="2540000" cy="2010918"/>
          </a:xfrm>
          <a:prstGeom prst="rect">
            <a:avLst/>
          </a:prstGeom>
          <a:noFill/>
          <a:ln/>
        </p:spPr>
        <p:txBody>
          <a:bodyPr wrap="square" lIns="50800" tIns="76200" rIns="50800" bIns="50800" rtlCol="0" anchor="t"/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1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Deterministyczny</a:t>
            </a:r>
            <a:r>
              <a:rPr lang="en-US" sz="11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 formalnie poprawny</a:t>
            </a:r>
            <a:endParaRPr lang="en-US" sz="115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1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Wymaga gotowej mapy </a:t>
            </a:r>
            <a:r>
              <a:rPr lang="en-US" sz="11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środowiska</a:t>
            </a:r>
            <a:endParaRPr lang="en-US" sz="115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1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 = współrzędne </a:t>
            </a:r>
            <a:r>
              <a:rPr lang="en-US" sz="11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(x, y) w mapie</a:t>
            </a:r>
            <a:endParaRPr lang="en-US" sz="115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1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uczenia</a:t>
            </a:r>
            <a:r>
              <a:rPr lang="en-US" sz="11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brak adaptacji online</a:t>
            </a:r>
            <a:endParaRPr lang="en-US" sz="115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1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Szybki</a:t>
            </a:r>
            <a:r>
              <a:rPr lang="en-US" sz="11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A* ~5 ms, DWA ~2 ms</a:t>
            </a:r>
            <a:endParaRPr lang="en-US" sz="115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1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Najlepszy</a:t>
            </a:r>
            <a:r>
              <a:rPr lang="en-US" sz="11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znane, statyczne środowisko</a:t>
            </a:r>
            <a:endParaRPr lang="en-US" sz="1150" spc="-40" dirty="0"/>
          </a:p>
        </p:txBody>
      </p:sp>
      <p:sp>
        <p:nvSpPr>
          <p:cNvPr id="10" name="Shape 8"/>
          <p:cNvSpPr/>
          <p:nvPr/>
        </p:nvSpPr>
        <p:spPr>
          <a:xfrm>
            <a:off x="3154680" y="1143000"/>
            <a:ext cx="2651760" cy="25527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143000"/>
            <a:ext cx="2651760" cy="4114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116128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VLM (CLIP, LLaVA)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209290" y="1627632"/>
            <a:ext cx="2540000" cy="2010918"/>
          </a:xfrm>
          <a:prstGeom prst="rect">
            <a:avLst/>
          </a:prstGeom>
          <a:noFill/>
          <a:ln/>
        </p:spPr>
        <p:txBody>
          <a:bodyPr wrap="square" lIns="50800" tIns="76200" rIns="50800" bIns="50800" rtlCol="0" anchor="t"/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1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Rozumie polecenia </a:t>
            </a:r>
            <a:r>
              <a:rPr lang="en-US" sz="1150" spc="-4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językowe</a:t>
            </a:r>
            <a:r>
              <a:rPr lang="en-US" sz="11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spc="-4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150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semantykę</a:t>
            </a:r>
            <a:endParaRPr lang="en-US" sz="115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1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</a:t>
            </a:r>
            <a:r>
              <a:rPr lang="en-US" sz="11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nie wymaga mapy etykiet</a:t>
            </a:r>
            <a:endParaRPr lang="en-US" sz="115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1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Wolny</a:t>
            </a:r>
            <a:r>
              <a:rPr lang="en-US" sz="11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150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100-800 </a:t>
            </a:r>
            <a:r>
              <a:rPr lang="en-US" sz="11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/ zapytanie</a:t>
            </a:r>
            <a:endParaRPr lang="en-US" sz="115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1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 planuje </a:t>
            </a:r>
            <a:r>
              <a:rPr lang="en-US" sz="1150" b="1" spc="-4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fizyki</a:t>
            </a:r>
            <a:r>
              <a:rPr lang="en-US" sz="11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1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tylko co i gdzie</a:t>
            </a:r>
            <a:endParaRPr lang="en-US" sz="115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1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Najlepszy</a:t>
            </a:r>
            <a:r>
              <a:rPr lang="en-US" sz="11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grounding, instruction follow</a:t>
            </a:r>
            <a:endParaRPr lang="en-US" sz="115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1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Łączy się z A* </a:t>
            </a:r>
            <a:r>
              <a:rPr lang="en-US" sz="11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jako oracle celu</a:t>
            </a:r>
            <a:endParaRPr lang="en-US" sz="1150" spc="-40" dirty="0"/>
          </a:p>
        </p:txBody>
      </p:sp>
      <p:sp>
        <p:nvSpPr>
          <p:cNvPr id="14" name="Shape 12"/>
          <p:cNvSpPr/>
          <p:nvPr/>
        </p:nvSpPr>
        <p:spPr>
          <a:xfrm>
            <a:off x="6035040" y="1143000"/>
            <a:ext cx="2778760" cy="25527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143000"/>
            <a:ext cx="2778760" cy="411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44768" y="116128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WMA (DreamerV3, TDMPC2)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089650" y="1627632"/>
            <a:ext cx="2667000" cy="2010918"/>
          </a:xfrm>
          <a:prstGeom prst="rect">
            <a:avLst/>
          </a:prstGeom>
          <a:noFill/>
          <a:ln/>
        </p:spPr>
        <p:txBody>
          <a:bodyPr wrap="square" lIns="50800" tIns="76200" rIns="50800" bIns="50800" rtlCol="0" anchor="t"/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1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Uczy się fizyki środowiska </a:t>
            </a:r>
            <a:r>
              <a:rPr lang="en-US" sz="11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doświadczeń</a:t>
            </a:r>
            <a:endParaRPr lang="en-US" sz="115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1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Szybkie planowanie</a:t>
            </a:r>
            <a:r>
              <a:rPr lang="en-US" sz="11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~</a:t>
            </a:r>
            <a:r>
              <a:rPr lang="en-US" sz="1150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3-8 </a:t>
            </a:r>
            <a:r>
              <a:rPr lang="en-US" sz="11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/ krok</a:t>
            </a:r>
            <a:endParaRPr lang="en-US" sz="115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1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Generalizuje: nowe ułożenia mebli OK</a:t>
            </a:r>
            <a:endParaRPr lang="en-US" sz="115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1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Wymaga treningu </a:t>
            </a:r>
            <a:r>
              <a:rPr lang="en-US" sz="11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(~100k kroków sim.)</a:t>
            </a:r>
            <a:endParaRPr lang="en-US" sz="115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15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Najlepszy</a:t>
            </a:r>
            <a:r>
              <a:rPr lang="en-US" sz="115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dynamiczna lokomocja, przeszkody</a:t>
            </a:r>
            <a:endParaRPr lang="en-US" sz="1150" spc="-6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1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Łączy się z VLM </a:t>
            </a:r>
            <a:r>
              <a:rPr lang="en-US" sz="11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(cel) + A* (trasa globalna)</a:t>
            </a:r>
            <a:endParaRPr lang="en-US" sz="1150" spc="-4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OGRANICZENIA I BADANIA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Ograniczenia i otwarte wyzwania WMA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60520" cy="3335020"/>
          </a:xfrm>
          <a:prstGeom prst="rect">
            <a:avLst/>
          </a:prstGeom>
          <a:solidFill>
            <a:srgbClr val="FFFBEB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709160" y="1097280"/>
            <a:ext cx="4160520" cy="333502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97280"/>
            <a:ext cx="4160520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1155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Problemy techniczne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09160" y="1097280"/>
            <a:ext cx="4160520" cy="4114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1155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Kierunki badań i rozwiązania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0360" y="1600200"/>
            <a:ext cx="3911600" cy="2755900"/>
          </a:xfrm>
          <a:prstGeom prst="rect">
            <a:avLst/>
          </a:prstGeom>
          <a:noFill/>
          <a:ln/>
        </p:spPr>
        <p:txBody>
          <a:bodyPr wrap="square" lIns="63500" tIns="101600" rIns="101600" bIns="63500" rtlCol="0" anchor="t"/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2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Błąd kompounding</a:t>
            </a:r>
            <a:r>
              <a:rPr lang="en-US" sz="12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 przejścia po 20+ krokach wyobraźni kumuluje błędy predykcji</a:t>
            </a:r>
            <a:endParaRPr lang="en-US" sz="125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2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Trudność z rzadkimi zdarzeniami</a:t>
            </a:r>
            <a:r>
              <a:rPr lang="en-US" sz="12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upadek, kolizja; replay buffer rzadko je zawiera</a:t>
            </a:r>
            <a:endParaRPr lang="en-US" sz="125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2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Kosztowne uczenie</a:t>
            </a:r>
            <a:r>
              <a:rPr lang="en-US" sz="12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10M kroków simul. × 5 ms/krok ≈ 14h; realny robot = dni</a:t>
            </a:r>
            <a:endParaRPr lang="en-US" sz="125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2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Sim-to-real gap</a:t>
            </a:r>
            <a:r>
              <a:rPr lang="en-US" sz="12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 przejścia nie uwzględnia elastyczności struktury, tarcia statycznego</a:t>
            </a:r>
            <a:endParaRPr lang="en-US" sz="125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2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Rozkład wielomodalny</a:t>
            </a:r>
            <a:r>
              <a:rPr lang="en-US" sz="12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kilka równie dobrych ścieżek; RSSM z rozk. Gaussa słabo je modeluje</a:t>
            </a:r>
            <a:endParaRPr lang="en-US" sz="1250" spc="-40" dirty="0"/>
          </a:p>
        </p:txBody>
      </p:sp>
      <p:sp>
        <p:nvSpPr>
          <p:cNvPr id="13" name="Text 11"/>
          <p:cNvSpPr/>
          <p:nvPr/>
        </p:nvSpPr>
        <p:spPr>
          <a:xfrm>
            <a:off x="4775200" y="1600200"/>
            <a:ext cx="3911600" cy="2755900"/>
          </a:xfrm>
          <a:prstGeom prst="rect">
            <a:avLst/>
          </a:prstGeom>
          <a:noFill/>
          <a:ln/>
        </p:spPr>
        <p:txBody>
          <a:bodyPr wrap="square" lIns="63500" tIns="101600" rIns="101600" bIns="63500" rtlCol="0" anchor="t"/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2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Dłuższy efektywny horyzont</a:t>
            </a:r>
            <a:r>
              <a:rPr lang="en-US" sz="12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hierarchiczne WMA (krótki + długi horyzont)</a:t>
            </a:r>
            <a:endParaRPr lang="en-US" sz="125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2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Aktywne zbieranie danych</a:t>
            </a:r>
            <a:r>
              <a:rPr lang="en-US" sz="12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polityka eksploracyjna celowo szuka rzadkich zdarzeń (curiousity)</a:t>
            </a:r>
            <a:endParaRPr lang="en-US" sz="125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2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fine-tuning</a:t>
            </a:r>
            <a:r>
              <a:rPr lang="en-US" sz="12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1h danych z robota + pre-trained sim model → sim-to-real w ~30 min</a:t>
            </a:r>
            <a:endParaRPr lang="en-US" sz="125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2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Normalizing flows / diffusion</a:t>
            </a:r>
            <a:r>
              <a:rPr lang="en-US" sz="12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lepsze modelowanie wielomodalności niż Gauss</a:t>
            </a:r>
            <a:endParaRPr lang="en-US" sz="125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2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World Models</a:t>
            </a:r>
            <a:r>
              <a:rPr lang="en-US" sz="12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duży model pre-trained na danych z wielu robotów (Open-X-Embodiment)</a:t>
            </a:r>
            <a:endParaRPr lang="en-US" sz="1250" spc="-4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7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STUDIUM PRZYPADKU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24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</a:t>
            </a: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pl-PL" sz="24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case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: 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WMA dla humanoida patrolującego budynek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122680"/>
            <a:ext cx="8595360" cy="271907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8229600" cy="255143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Platforma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Unitree H1 / Agility Digit; symulacja: MuJoCo Menagerie z MJCF modelem robota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Architektura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LLM task planner → A* global path → TDMPC2 local navigation → WBC footstep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Trening TDMPC2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5M kroków symulacji (≈7 h na RTX 4090); nagroda: r_goal + r_zmp + r_energy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Dane realne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45 min teleoperation w budynku → fine-tuning enkodera (tylko E); reszta zamrożona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Wyniki walidacji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success rate 92% (vs. 71% DWA) na trasach z dynamicznymi przeszkodami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Zużycie energii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45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-18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względem DWA; WMA wybiera płynniejsze trajektorie z mniejszymi momentami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Czas odpowiedzi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TDMPC2 ~4 ms/krok na Jetson Orin; A* co 1 s; LLM co 5 s (asynchronicznie)</a:t>
            </a:r>
            <a:endParaRPr lang="en-US" sz="14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45720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PODSUMOWANI</a:t>
            </a:r>
            <a:r>
              <a:rPr lang="pl-PL" sz="2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0" y="1005840"/>
            <a:ext cx="365760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188720"/>
            <a:ext cx="502920" cy="5029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2344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świata </a:t>
            </a: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uczy się przewidywać kolejne stany środowiska z obserwacji i akcji; planowanie odbywa się w przestrzeni latentnej.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947672"/>
            <a:ext cx="502920" cy="5029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947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199339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WMA = enkoder + model przejścia + model nagrody/wartości + planista + polityka</a:t>
            </a: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każdy komponent jest uczony przez RL lub imitation learning.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2706624"/>
            <a:ext cx="502920" cy="5029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7066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752344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DreamerV3 i TDMPC2 </a:t>
            </a: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referencyjne implementacje gotowe do adaptacji na dane robotyczne z lokomocją humanoidalną.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65760" y="3465576"/>
            <a:ext cx="502920" cy="5029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34655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351129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Planowanie w wyobraźni </a:t>
            </a: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eliminuje kosztowne rollout-y na robocie i przyspiesza uczenie o </a:t>
            </a:r>
            <a:r>
              <a:rPr lang="en-US" sz="1400" dirty="0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10-100</a:t>
            </a: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4224528"/>
            <a:ext cx="502920" cy="5029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4224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427024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WMA, VLM i klasyczny planer A* </a:t>
            </a: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 komplementarne i mogą działać w jednej hierarchicznej architekturze nawigacji.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ZADANIE PROJEKTOWE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Zadanie projektowe i pytania problemowe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8229600" cy="352044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900"/>
              </a:spcAft>
              <a:buSzPct val="100000"/>
              <a:buFont typeface="+mj-lt"/>
              <a:buAutoNum type="arabicPeriod"/>
            </a:pP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Wyjaśnij własnymi słowami różnicę między posterior </a:t>
            </a:r>
            <a:r>
              <a:rPr lang="en-US" sz="16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q(</a:t>
            </a:r>
            <a:r>
              <a:rPr lang="en-US" sz="1600" dirty="0" err="1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z|h,o</a:t>
            </a:r>
            <a:r>
              <a:rPr lang="en-US" sz="1600" dirty="0" smtClean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pl-PL" sz="160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60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6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p(z|h) w RSSM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Dlaczego w fazie "wyobraźni" używamy prioru, a nie posterioru?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Font typeface="+mj-lt"/>
              <a:buAutoNum type="arabicPeriod"/>
            </a:pP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Dlaczego planowanie w przestrzeni latentnej jest szybsze niż planowanie z surowymi obserwacjami? Podaj konkretne liczby (wymiarowość, liczba operacji).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Font typeface="+mj-lt"/>
              <a:buAutoNum type="arabicPeriod"/>
            </a:pP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Jakie hiperparametry DreamerV3 należałoby dostroić, gdybyś trenował robot </a:t>
            </a:r>
            <a:r>
              <a:rPr lang="pl-PL" sz="160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br>
              <a:rPr lang="pl-PL" sz="160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</a:t>
            </a:r>
            <a:r>
              <a:rPr lang="en-US" sz="16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nawigacji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ciemnym korytarzu z kamerą termowizyjną zamiast RGB?</a:t>
            </a:r>
            <a:endParaRPr lang="en-US" sz="1600" dirty="0"/>
          </a:p>
          <a:p>
            <a:pPr algn="just">
              <a:spcBef>
                <a:spcPts val="600"/>
              </a:spcBef>
              <a:spcAft>
                <a:spcPts val="900"/>
              </a:spcAft>
              <a:buSzPct val="100000"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Zadanie projektowe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zaimplementuj uproszczony RSSM (enkoder 2-warstwy MLP, GRU 256, prior 2-warstwy MLP) i wytrenuj go na danych z symulowanego wahadła odwróconego (CartPole). Sprawdź, czy model potrafi wyobrazić sobie 10-krokową trajektorię startując z losowego stanu.</a:t>
            </a:r>
            <a:endParaRPr lang="en-US" sz="1600" dirty="0"/>
          </a:p>
          <a:p>
            <a:pPr algn="just">
              <a:spcAft>
                <a:spcPts val="900"/>
              </a:spcAft>
              <a:buSzPct val="100000"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połącz TDMPC2 z Nav2 w Gazebo dla robota kołowego (TurtleBot3) i porównaj success rate z DWB na mapie z 5 dynamicznymi przeszkodami.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4537</Words>
  <Application>Microsoft Office PowerPoint</Application>
  <PresentationFormat>Pokaz na ekranie (16:9)</PresentationFormat>
  <Paragraphs>438</Paragraphs>
  <Slides>30</Slides>
  <Notes>30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30</vt:i4>
      </vt:variant>
    </vt:vector>
  </HeadingPairs>
  <TitlesOfParts>
    <vt:vector size="36" baseType="lpstr">
      <vt:lpstr>Arial</vt:lpstr>
      <vt:lpstr>Calibri</vt:lpstr>
      <vt:lpstr>Cambria Math</vt:lpstr>
      <vt:lpstr>Consolas</vt:lpstr>
      <vt:lpstr>Trebuchet MS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Wykład 6 – World-Model-Action (WMA) w nawigacji humanoida</dc:title>
  <dc:subject>PptxGenJS Presentation</dc:subject>
  <dc:creator>Politechnika – Katedra Robotyki</dc:creator>
  <cp:lastModifiedBy>Mateusz Pomianek</cp:lastModifiedBy>
  <cp:revision>46</cp:revision>
  <dcterms:created xsi:type="dcterms:W3CDTF">2026-04-17T12:29:11Z</dcterms:created>
  <dcterms:modified xsi:type="dcterms:W3CDTF">2026-04-29T15:26:20Z</dcterms:modified>
</cp:coreProperties>
</file>