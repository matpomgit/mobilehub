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9897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822960"/>
            <a:ext cx="2286000" cy="2286000"/>
          </a:xfrm>
          <a:prstGeom prst="ellipse">
            <a:avLst/>
          </a:prstGeom>
          <a:solidFill>
            <a:srgbClr val="1A3550"/>
          </a:solidFill>
          <a:ln w="38100">
            <a:solidFill>
              <a:srgbClr val="F59E0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143000"/>
            <a:ext cx="164592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8229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NAWIGACJA ROBOTÓW HUMANOIDALNYCH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20040" y="123444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WYKŁAD 6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320040" y="192024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World-Model-Action (WMA)
w nawigacji humanoida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320040" y="2834640"/>
            <a:ext cx="576072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9718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b="1" dirty="0" smtClean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inż. Mateusz Pomianek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0040" y="4096512"/>
            <a:ext cx="1993392" cy="566928"/>
          </a:xfrm>
          <a:prstGeom prst="rect">
            <a:avLst/>
          </a:prstGeom>
          <a:solidFill>
            <a:srgbClr val="1A355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4096512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świata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468880" y="4096512"/>
            <a:ext cx="1993392" cy="566928"/>
          </a:xfrm>
          <a:prstGeom prst="rect">
            <a:avLst/>
          </a:prstGeom>
          <a:solidFill>
            <a:srgbClr val="1A3550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68880" y="4096512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Planowanie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617720" y="4096512"/>
            <a:ext cx="1993392" cy="566928"/>
          </a:xfrm>
          <a:prstGeom prst="rect">
            <a:avLst/>
          </a:prstGeom>
          <a:solidFill>
            <a:srgbClr val="1A3550"/>
          </a:solidFill>
          <a:ln w="19050">
            <a:solidFill>
              <a:srgbClr val="0077A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17720" y="4096512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DreamerV3/TDMPC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766560" y="4096512"/>
            <a:ext cx="1993392" cy="566928"/>
          </a:xfrm>
          <a:prstGeom prst="rect">
            <a:avLst/>
          </a:prstGeom>
          <a:solidFill>
            <a:srgbClr val="1A3550"/>
          </a:solidFill>
          <a:ln w="19050">
            <a:solidFill>
              <a:srgbClr val="90E0E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0" y="4096512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ROS 2 + WMA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WPROWADZENIE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wykładu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41605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34440"/>
            <a:ext cx="394106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84048" y="1853489"/>
            <a:ext cx="394106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Intuicja i architektura WMA: model świata, stan latentny, planowanie w wyobraźni, RSSM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43000"/>
            <a:ext cx="416052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234440"/>
            <a:ext cx="394106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18888" y="1853489"/>
            <a:ext cx="394106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Algorytmy i implementacje: DreamerV3, TDMPC2, JEPA; jak działają krok po kroku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71800"/>
            <a:ext cx="4160520" cy="548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063240"/>
            <a:ext cx="394106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84048" y="3682289"/>
            <a:ext cx="394106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WMA w nawigacji humanoida: integracja z ROS 2, planista wielopoziomowy, trening i wdrożenie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09160" y="29718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971800"/>
            <a:ext cx="4160520" cy="54864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3063240"/>
            <a:ext cx="394106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Kody Python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18888" y="3682289"/>
            <a:ext cx="394106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RSSM, planowanie w wyobraźni, trening DreamerV3, integracja z Nav2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2286000" cy="228600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F59E0B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0"/>
            <a:ext cx="1645920" cy="1645920"/>
          </a:xfrm>
          <a:prstGeom prst="ellipse">
            <a:avLst/>
          </a:prstGeom>
          <a:solidFill>
            <a:srgbClr val="0D1B2A"/>
          </a:solidFill>
          <a:ln w="25400">
            <a:solidFill>
              <a:srgbClr val="F59E0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64592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260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926080" y="16002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Czym jest WMA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model świata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2926080" y="2697480"/>
            <a:ext cx="393192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26080" y="28346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Intuicja, architektura, stan latentny i planowanie w wyobraźni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ANALOGIA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Intuicja: jak człowiek planuje ruch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35204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Zanim wstaniesz z krzesła i przejdziesz do kuchni, wyobrażasz sobie tę trasę w głowie</a:t>
            </a:r>
            <a:endParaRPr lang="en-US" sz="1600" spc="-4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Twój mózg posiada wewnętrzny model </a:t>
            </a:r>
            <a:r>
              <a:rPr lang="en-US" sz="1600" spc="-4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mieszkania</a:t>
            </a:r>
            <a:r>
              <a:rPr lang="en-US" sz="16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6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przewiduje, co zobaczysz za rogiem</a:t>
            </a:r>
            <a:endParaRPr lang="en-US" sz="1600" spc="-4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testujesz każdego kroku fizycznie; symulacja w głowie jest tańsza i bezpieczniejsza</a:t>
            </a:r>
            <a:endParaRPr lang="en-US" sz="1600" spc="-4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Jeśli wyobrażona ścieżka prowadzi do kolizji, wybierasz inną ZANIM zaczniesz iść</a:t>
            </a:r>
            <a:endParaRPr lang="en-US" sz="1600" spc="-4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właśnie robi World Model</a:t>
            </a:r>
            <a:r>
              <a:rPr lang="en-US" sz="16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uczy się kompaktowej reprezentacji (stanu latentnego) i symuluje przyszłość</a:t>
            </a:r>
            <a:endParaRPr lang="en-US" sz="1600" spc="-4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WMA </a:t>
            </a:r>
            <a:r>
              <a:rPr lang="pl-PL" sz="16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r>
              <a:rPr lang="en-US" sz="1600" b="1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z wbudowaną wyobraźnią</a:t>
            </a:r>
            <a:r>
              <a:rPr lang="en-US" sz="16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planuje w przestrzeni latentnej, nie na fizycznym robocie</a:t>
            </a:r>
            <a:endParaRPr lang="en-US" sz="1600" spc="-40" dirty="0"/>
          </a:p>
          <a:p>
            <a:pPr marL="144000" indent="-144000">
              <a:spcAft>
                <a:spcPts val="1200"/>
              </a:spcAft>
              <a:buSzPct val="100000"/>
              <a:buChar char="•"/>
            </a:pPr>
            <a:r>
              <a:rPr lang="en-US" sz="1600" b="1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Korzyść</a:t>
            </a:r>
            <a:r>
              <a:rPr lang="en-US" sz="16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można przetestować tysiące sekwencji akcji w milisekundach bez ryzyka uszkodzenia sprzętu</a:t>
            </a:r>
            <a:endParaRPr lang="en-US" sz="1600" spc="-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PORÓWNANIE PODEJŚĆ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Trzy podejścia do sterowania robotem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2651760" cy="41148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16128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Reaktywne (Reflex)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4048" y="1627632"/>
            <a:ext cx="2432304" cy="3154680"/>
          </a:xfrm>
          <a:prstGeom prst="rect">
            <a:avLst/>
          </a:prstGeom>
          <a:noFill/>
          <a:ln/>
        </p:spPr>
        <p:txBody>
          <a:bodyPr wrap="square" lIns="50800" tIns="76200" rIns="50800" bIns="50800" rtlCol="0" anchor="t"/>
          <a:lstStyle/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action natychmiast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Szybkie, proste (PID, DWA)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planowania do przodu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uczy się środowiska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Wrażliwe na zmiany otoczenia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Przykład: regulator P dla yaw</a:t>
            </a:r>
            <a:endParaRPr lang="en-US" sz="1400" spc="-40" dirty="0"/>
          </a:p>
        </p:txBody>
      </p:sp>
      <p:sp>
        <p:nvSpPr>
          <p:cNvPr id="10" name="Shape 8"/>
          <p:cNvSpPr/>
          <p:nvPr/>
        </p:nvSpPr>
        <p:spPr>
          <a:xfrm>
            <a:off x="3154680" y="114300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143000"/>
            <a:ext cx="265176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16128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Model-free RL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64408" y="1627632"/>
            <a:ext cx="2432304" cy="3154680"/>
          </a:xfrm>
          <a:prstGeom prst="rect">
            <a:avLst/>
          </a:prstGeom>
          <a:noFill/>
          <a:ln/>
        </p:spPr>
        <p:txBody>
          <a:bodyPr wrap="square" lIns="50800" tIns="76200" rIns="50800" bIns="50800" rtlCol="0" anchor="t"/>
          <a:lstStyle/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Polityka uczona metodą prób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Miliony rollout-ów na robocie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jawnego modelu środowiska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Dobra wydajność końcowa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Drogie: czas + zużycie sprzętu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Przykład: PPO, SAC, TD3</a:t>
            </a:r>
            <a:endParaRPr lang="en-US" sz="1400" spc="-40" dirty="0"/>
          </a:p>
        </p:txBody>
      </p:sp>
      <p:sp>
        <p:nvSpPr>
          <p:cNvPr id="14" name="Shape 12"/>
          <p:cNvSpPr/>
          <p:nvPr/>
        </p:nvSpPr>
        <p:spPr>
          <a:xfrm>
            <a:off x="6035040" y="114300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143000"/>
            <a:ext cx="265176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116128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WMA (Model-based)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93968" y="1627632"/>
            <a:ext cx="2542032" cy="3154680"/>
          </a:xfrm>
          <a:prstGeom prst="rect">
            <a:avLst/>
          </a:prstGeom>
          <a:noFill/>
          <a:ln/>
        </p:spPr>
        <p:txBody>
          <a:bodyPr wrap="square" lIns="50800" tIns="76200" rIns="50800" bIns="50800" rtlCol="0" anchor="t"/>
          <a:lstStyle/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świata: (</a:t>
            </a:r>
            <a:r>
              <a:rPr lang="en-US" sz="140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400" spc="-40" baseline="-2500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400" spc="-40" baseline="-250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→ </a:t>
            </a:r>
            <a:r>
              <a:rPr lang="en-US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400" spc="-40" baseline="-250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t+1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Planowanie w wyobraźni (latent)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8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pl-PL" sz="1400" spc="-8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400" spc="-8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r>
              <a:rPr lang="en-US" sz="1400" spc="-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mniej </a:t>
            </a:r>
            <a:r>
              <a:rPr lang="en-US" sz="1400" spc="-8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interakcji</a:t>
            </a:r>
            <a:r>
              <a:rPr lang="en-US" sz="1400" spc="-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8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</a:t>
            </a:r>
            <a:r>
              <a:rPr lang="en-US" sz="1400" spc="-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robotem</a:t>
            </a:r>
            <a:endParaRPr lang="en-US" sz="1400" spc="-8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Generalizacja z modelu na nowe sceny</a:t>
            </a:r>
            <a:endParaRPr lang="en-US" sz="1400" spc="-40" dirty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8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Wymaga</a:t>
            </a:r>
            <a:r>
              <a:rPr lang="en-US" sz="1400" spc="-8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8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dobrego</a:t>
            </a:r>
            <a:r>
              <a:rPr lang="en-US" sz="1400" spc="-8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8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modelu</a:t>
            </a:r>
            <a:r>
              <a:rPr lang="en-US" sz="1400" spc="-8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spc="-8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przejścia</a:t>
            </a:r>
            <a:endParaRPr lang="en-US" sz="1400" spc="-80" dirty="0" smtClean="0"/>
          </a:p>
          <a:p>
            <a:pPr marL="144000" indent="-144000">
              <a:spcAft>
                <a:spcPts val="800"/>
              </a:spcAft>
              <a:buSzPct val="100000"/>
              <a:buChar char="•"/>
            </a:pPr>
            <a:r>
              <a:rPr lang="en-US" sz="1400" spc="-4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</a:t>
            </a:r>
            <a:r>
              <a:rPr lang="en-US" sz="1400" spc="-4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DreamerV3, TDMPC2</a:t>
            </a:r>
            <a:endParaRPr lang="en-US" sz="1400" spc="-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DEFINICJA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Definicja i składowe architektury WMA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35204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WMA (World-Model-Action) 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system sterowania zbudowany wokół wyuczonego modelu dynamiki środowiska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 1 </a:t>
            </a:r>
            <a:r>
              <a:rPr lang="en-US" sz="1400" b="1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Enkoder (encoder): </a:t>
            </a:r>
            <a:r>
              <a:rPr lang="en-US" sz="14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obserwacja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o_t</a:t>
            </a:r>
            <a:r>
              <a:rPr lang="en-US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stan </a:t>
            </a:r>
            <a:r>
              <a:rPr lang="en-US" sz="14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latentny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r>
              <a:rPr lang="en-US" sz="1400" baseline="-2500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4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kompresja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niskwymiarowej reprezentacji)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 2 </a:t>
            </a:r>
            <a:r>
              <a:rPr lang="en-US" sz="1400" b="1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przejścia (transition model): 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40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z_t</a:t>
            </a:r>
            <a:r>
              <a:rPr lang="en-US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a_t</a:t>
            </a:r>
            <a:r>
              <a:rPr lang="en-US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z_{t+1} (przewiduje następny stan w przestrzeni latentnej)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 3 </a:t>
            </a:r>
            <a:r>
              <a:rPr lang="en-US" sz="1400" b="1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nagrody/wartości (reward/value head): </a:t>
            </a:r>
            <a:r>
              <a:rPr lang="en-US" sz="140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z_t</a:t>
            </a:r>
            <a:r>
              <a:rPr lang="en-US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40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r_t</a:t>
            </a:r>
            <a:r>
              <a:rPr lang="en-US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lub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</a:t>
            </a:r>
            <a:r>
              <a:rPr lang="en-US" sz="140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z_t</a:t>
            </a:r>
            <a:r>
              <a:rPr lang="en-US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(ocena jakości stanu)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 4 </a:t>
            </a:r>
            <a:r>
              <a:rPr lang="en-US" sz="1400" b="1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Dekoder (decoder, opcjonalny): </a:t>
            </a:r>
            <a:r>
              <a:rPr lang="en-US" sz="140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z_t</a:t>
            </a:r>
            <a:r>
              <a:rPr lang="en-US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40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ô_t</a:t>
            </a:r>
            <a:r>
              <a:rPr lang="en-US" sz="14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(rekonstrukcja obserwacji; służy do uczenia enkodera)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 5 </a:t>
            </a:r>
            <a:r>
              <a:rPr lang="en-US" sz="1400" b="1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Planista/polityka (policy): 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planuje sekwencję akcji maksymalizującą wartość w przestrzeni latentnej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Trening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minimalizacja błędu rekonstrukcji + błędu predykcji przejścia + maximalizacja nagrody (ELBO / RL)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ARCHITEKTURA WMA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Architektura WMA </a:t>
            </a:r>
            <a:r>
              <a:rPr lang="en-US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 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od obserwacji do akcji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5394960" cy="662026"/>
          </a:xfrm>
          <a:prstGeom prst="rect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143000"/>
            <a:ext cx="18288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Obserwacja</a:t>
            </a:r>
            <a:r>
              <a:rPr lang="en-US" sz="12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250" b="1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o_t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331720" y="1143000"/>
            <a:ext cx="315468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Obraz RGB, chmura LiDAR, propriocepcja (q, dq, τ) </a:t>
            </a:r>
            <a:r>
              <a:rPr lang="en-US" sz="11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surowe dane z sensorów robota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44368" y="1814170"/>
            <a:ext cx="54864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914754"/>
            <a:ext cx="5394960" cy="66202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1914754"/>
            <a:ext cx="18288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Enkoder E(·)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331720" y="1914754"/>
            <a:ext cx="315468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lub ViT kompresuje obserwację do stanu </a:t>
            </a:r>
            <a:r>
              <a:rPr lang="en-US" sz="110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latentnego</a:t>
            </a: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z_t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∈ ℝ^d (d = </a:t>
            </a:r>
            <a:r>
              <a:rPr lang="en-US" sz="11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512-2048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44368" y="2585923"/>
            <a:ext cx="54864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686507"/>
            <a:ext cx="5394960" cy="66202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2686507"/>
            <a:ext cx="18288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Recurrent </a:t>
            </a:r>
            <a:r>
              <a:rPr lang="en-US" sz="12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</a:t>
            </a:r>
            <a:r>
              <a:rPr lang="en-US" sz="1250" b="1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h_t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331720" y="2686507"/>
            <a:ext cx="315468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GRU/LSTM przechowuje historię</a:t>
            </a: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lang="en-US" sz="110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h_t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f(h_{t-1</a:t>
            </a: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}, </a:t>
            </a:r>
            <a:r>
              <a:rPr lang="en-US" sz="110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z_t);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modeluje zależności czasowe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44368" y="3357677"/>
            <a:ext cx="54864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458261"/>
            <a:ext cx="5394960" cy="66202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3458261"/>
            <a:ext cx="18288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przejścia T(·)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331720" y="3458261"/>
            <a:ext cx="315468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MLP/Transformer: </a:t>
            </a: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10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h_t, a_t)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ẑ_{t+1}; predykcja w wyobraźni bez rzeczywistego kroku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944368" y="4129430"/>
            <a:ext cx="54864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230014"/>
            <a:ext cx="5394960" cy="66202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4230014"/>
            <a:ext cx="18288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Planista + polityka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331720" y="4230014"/>
            <a:ext cx="315468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MPPI / CEM / actor-critic planuje N kroków do przodu w latent space; </a:t>
            </a:r>
            <a:r>
              <a:rPr lang="en-US" sz="110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wybiera</a:t>
            </a: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a_t*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0" y="1143000"/>
            <a:ext cx="2926080" cy="3749040"/>
          </a:xfrm>
          <a:prstGeom prst="rect">
            <a:avLst/>
          </a:prstGeom>
          <a:solidFill>
            <a:srgbClr val="0D1B2A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0" y="1143000"/>
            <a:ext cx="292608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11612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Kluczowe cechy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080760" y="1600200"/>
            <a:ext cx="2651760" cy="3200400"/>
          </a:xfrm>
          <a:prstGeom prst="rect">
            <a:avLst/>
          </a:prstGeom>
          <a:noFill/>
          <a:ln/>
        </p:spPr>
        <p:txBody>
          <a:bodyPr wrap="square" lIns="63500" tIns="101600" rIns="63500" bIns="635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Planowanie bez GPU-heavy forward pass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dim 512: 1000 trajektorii w ~5 ms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przejścia: ~2M parametrów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Enkoder: ViT-S ~22M lub CNN ~5M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Trening: </a:t>
            </a:r>
            <a:r>
              <a:rPr lang="en-US" sz="1200" dirty="0" smtClean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100k-10M </a:t>
            </a: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klatek z robota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Inferencja: ~1 ms na GPU embedded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STAN LATENTNY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 </a:t>
            </a:r>
            <a:r>
              <a:rPr lang="en-US" sz="2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latentny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 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czym jest i dlaczego działa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09160" y="109728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97280"/>
            <a:ext cx="41605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155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Czym jest stan </a:t>
            </a:r>
            <a:r>
              <a:rPr lang="en-US" sz="16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latentny</a:t>
            </a: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600" b="1" dirty="0" err="1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</a:t>
            </a:r>
            <a:r>
              <a:rPr lang="en-US" sz="1600" b="1" baseline="-25000" dirty="0" err="1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6052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4250" y="1115568"/>
            <a:ext cx="40754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spc="-4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Dlaczego planowanie w latent space działa?</a:t>
            </a:r>
            <a:endParaRPr lang="en-US" sz="1600" spc="-40" dirty="0"/>
          </a:p>
        </p:txBody>
      </p:sp>
      <p:sp>
        <p:nvSpPr>
          <p:cNvPr id="12" name="Text 10"/>
          <p:cNvSpPr/>
          <p:nvPr/>
        </p:nvSpPr>
        <p:spPr>
          <a:xfrm>
            <a:off x="457200" y="1600200"/>
            <a:ext cx="3794760" cy="3108960"/>
          </a:xfrm>
          <a:prstGeom prst="rect">
            <a:avLst/>
          </a:prstGeom>
          <a:noFill/>
          <a:ln/>
        </p:spPr>
        <p:txBody>
          <a:bodyPr wrap="square" lIns="63500" tIns="101600" rIns="63500" bIns="6350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pl-PL" sz="13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Kompresja obserwacji do wektora o wymiarze d (np. 512)</a:t>
            </a:r>
            <a:endParaRPr lang="pl-PL" sz="1300" dirty="0" smtClean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pl-PL" sz="130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Enkoder</a:t>
            </a:r>
            <a:r>
              <a:rPr lang="pl-PL" sz="13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uczy się wybrać z 1920×1080 RGB tylko istotne cechy</a:t>
            </a:r>
            <a:endParaRPr lang="pl-PL" sz="1300" dirty="0" smtClean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pl-PL" sz="130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z_t </a:t>
            </a:r>
            <a:r>
              <a:rPr lang="pl-PL" sz="13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zawiera: pozycję obiektów, kształt przejść, kierunek ruchu</a:t>
            </a:r>
            <a:endParaRPr lang="pl-PL" sz="1300" dirty="0" smtClean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pl-PL" sz="13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notatka "drzwi otwarte, 2 m do przodu" zamiast całego obrazu</a:t>
            </a:r>
            <a:endParaRPr lang="pl-PL" sz="1300" dirty="0" smtClean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pl-PL" sz="13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Stochastyczny</a:t>
            </a:r>
            <a:r>
              <a:rPr lang="pl-PL" sz="130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z_t ~ q(z|o_t) </a:t>
            </a:r>
            <a:r>
              <a:rPr lang="pl-PL" sz="13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rozkład Gaussa; próbkowanie</a:t>
            </a:r>
            <a:endParaRPr lang="pl-PL" sz="1300" dirty="0" smtClean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pl-PL" sz="13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Deterministyczny</a:t>
            </a:r>
            <a:r>
              <a:rPr lang="pl-PL" sz="130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h_t </a:t>
            </a:r>
            <a:r>
              <a:rPr lang="pl-PL" sz="13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GRU(h_{t-1</a:t>
            </a:r>
            <a:r>
              <a:rPr lang="pl-PL" sz="130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}, z_t) </a:t>
            </a:r>
            <a:r>
              <a:rPr lang="pl-PL" sz="13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pamięć sekwencji</a:t>
            </a:r>
            <a:endParaRPr lang="pl-PL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600200"/>
            <a:ext cx="3794760" cy="3108960"/>
          </a:xfrm>
          <a:prstGeom prst="rect">
            <a:avLst/>
          </a:prstGeom>
          <a:noFill/>
          <a:ln/>
        </p:spPr>
        <p:txBody>
          <a:bodyPr wrap="square" lIns="63500" tIns="101600" rIns="63500" bIns="6350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przejścia T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30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z_t, a_t) 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z_{t+1} jest gładki i ciągły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propaguje się przez wirtualne kroki → uczenie polityki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trajektorii w latent space = 1000 wyobrażeń w ~2 ms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przejścia generalizują: jeśli korytarz podobny → działa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Błędy kumulują się po ~10-20 krokach; stąd krótki horyzont planowania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Re-planowanie co krok: plan 1 kroku, wykonaj, planuj od nowa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RSSM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RSSM </a:t>
            </a:r>
            <a:r>
              <a:rPr lang="en-US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 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Recurrent State Space Model (serce WMA)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35204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RSSM to podstawowy blok DreamerV3; łączy deterministyczny i stochastyczny model stanu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Deterministyczna część</a:t>
            </a:r>
            <a:r>
              <a:rPr lang="en-US" sz="14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5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h_t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f_θ(h_{t-1}, z_{t-1}, a_{t-1})  </a:t>
            </a:r>
            <a:r>
              <a:rPr lang="en-US" sz="14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GRU; zapewnia ciągłość historii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Stochastyczna część</a:t>
            </a:r>
            <a:r>
              <a:rPr lang="en-US" sz="14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5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z_t </a:t>
            </a:r>
            <a:r>
              <a:rPr lang="en-US" sz="14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</a:t>
            </a:r>
            <a:r>
              <a:rPr lang="en-US" sz="145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q_φ(z|h_t, o_t)  </a:t>
            </a:r>
            <a:r>
              <a:rPr lang="en-US" sz="14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enkoder posterior</a:t>
            </a:r>
            <a:r>
              <a:rPr lang="en-US" sz="14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lang="en-US" sz="145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z_t </a:t>
            </a:r>
            <a:r>
              <a:rPr lang="en-US" sz="14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</a:t>
            </a:r>
            <a:r>
              <a:rPr lang="en-US" sz="145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p_θ(z|h_t)  </a:t>
            </a:r>
            <a:r>
              <a:rPr lang="en-US" sz="14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Predykcja bez obserwacji (wyobraźnia): zaczynając od </a:t>
            </a:r>
            <a:r>
              <a:rPr lang="en-US" sz="14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45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h_t, z_t)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propaguj TYLKO prior bez </a:t>
            </a:r>
            <a:r>
              <a:rPr lang="en-US" sz="145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nowych</a:t>
            </a:r>
            <a:r>
              <a:rPr lang="en-US" sz="14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o_t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Funkcja straty: L = L_recon + β·KL(posterior || prior) + L_reward + L_continue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KL-balancing: gradient przez prior i posterior osobno skalowany (β = 0,1→0,5 dla prior)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Wynik: model umie jednocześnie OPISYWAĆ teraźniejszość i WYOBRAŻAĆ sobie przyszłość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1 | PLANOWANIE W WYOBRAŹNI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Planowanie w </a:t>
            </a:r>
            <a:r>
              <a:rPr lang="en-US" sz="2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wyobraźni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 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krok po kroku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87552" y="1188720"/>
            <a:ext cx="585216" cy="5852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188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Kodowanie bieżącej obserwacji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423160"/>
            <a:ext cx="1828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Enkoder E pobiera </a:t>
            </a:r>
            <a:r>
              <a:rPr lang="en-US" sz="110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klatkę</a:t>
            </a:r>
            <a:r>
              <a:rPr lang="en-US" sz="11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o_t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r>
              <a:rPr lang="en-US" sz="110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tworzy</a:t>
            </a:r>
            <a:r>
              <a:rPr lang="en-US" sz="11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z_t;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</a:t>
            </a:r>
            <a:r>
              <a:rPr lang="en-US" sz="110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aktualizuje</a:t>
            </a:r>
            <a:r>
              <a:rPr lang="en-US" sz="11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h_t;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razem = bieżący stan świata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23160" y="109728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36392" y="1188720"/>
            <a:ext cx="585216" cy="5852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36392" y="1188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51460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Rozwinięcie wyobraźni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14600" y="2423160"/>
            <a:ext cx="1828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Polityka π(a|h,z) proponuje akcje; model T(h,z,a)→(h',z') propaguje stan TYLKO w latent space przez H kroków (H=15)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109728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85232" y="1188720"/>
            <a:ext cx="585216" cy="5852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85232" y="1188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66344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Ocena trajektorii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63440" y="2423160"/>
            <a:ext cx="1828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wartości V(h,z) i nagrody r(h,z) oceniają każdy wirtualny krok; λ-return sumuje zdyskontowane nagrody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20840" y="109728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34072" y="1188720"/>
            <a:ext cx="585216" cy="5852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34072" y="1188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81228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Aktualizacja polityki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12280" y="2423160"/>
            <a:ext cx="1828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z V i r propaguje się wstecz przez wirtualne kroki aż do π; actor-critic update bez fizycznego robota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3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 PYTHON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RSSM </a:t>
            </a:r>
            <a:r>
              <a:rPr lang="en-US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 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implementacja rdzenia modelu świata (PyTorch)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017520"/>
          </a:xfrm>
          <a:prstGeom prst="rect">
            <a:avLst/>
          </a:prstGeom>
          <a:solidFill>
            <a:srgbClr val="071520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11556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1115568"/>
            <a:ext cx="146304" cy="146304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4984" y="1115568"/>
            <a:ext cx="146304" cy="146304"/>
          </a:xfrm>
          <a:prstGeom prst="ellipse">
            <a:avLst/>
          </a:prstGeom>
          <a:solidFill>
            <a:srgbClr val="C3F584"/>
          </a:solidFill>
          <a:ln w="12700">
            <a:solidFill>
              <a:srgbClr val="C3F5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71600"/>
            <a:ext cx="8321040" cy="2560320"/>
          </a:xfrm>
          <a:prstGeom prst="rect">
            <a:avLst/>
          </a:prstGeom>
          <a:noFill/>
          <a:ln/>
        </p:spPr>
        <p:txBody>
          <a:bodyPr wrap="square" lIns="63500" tIns="127000" rIns="127000" bIns="6350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torch, torch.nn as nn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RSSM(nn.Module):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obs_dim=512, act_dim=7,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det_dim=512, stoch_dim=32, stoch_classes=32):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E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Deterministyczna czesc (GRU)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self.gru = nn.GRUCell(stoch_dim*stoch_classes + act_dim, det_dim)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E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Prior p(z | h)  </a:t>
            </a:r>
            <a:r>
              <a:rPr lang="en-US" sz="1000" dirty="0" smtClean="0">
                <a:solidFill>
                  <a:srgbClr val="5E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</a:t>
            </a:r>
            <a:r>
              <a:rPr lang="en-US" sz="1000" dirty="0">
                <a:solidFill>
                  <a:srgbClr val="5E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bez obserwacji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self.prior = nn.Linear(det_dim, stoch_dim * stoch_classes)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E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Posterior q(z | h, obs)  </a:t>
            </a:r>
            <a:r>
              <a:rPr lang="en-US" sz="1000" dirty="0" smtClean="0">
                <a:solidFill>
                  <a:srgbClr val="5E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</a:t>
            </a:r>
            <a:r>
              <a:rPr lang="en-US" sz="1000" dirty="0">
                <a:solidFill>
                  <a:srgbClr val="5E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obserwacja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self.posterior = nn.Linear(det_dim + obs_dim, stoch_dim * stoch_classes)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self.stoch_dim, self.stoch_classes = stoch_dim, stoch_classes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imagine_step(self, h, z, action):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E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"""Krok wyobrazni: (h,z,a) -&gt; (h_next,z_next) BEZ obserwacji."""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z_flat = z.view(z.shape[0], -1)  # (B, stoch*classes)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3F5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h_next = self.gru(torch.cat([z_flat, action], -1), h)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logits = self.prior(h_next)       # prior p(z|h)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3F5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z_next = self._gumbel(logits)     # Gumbel-softmax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h_next, z_next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_gumbel(self, l):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 = l.view(-1, self.stoch_dim, self.stoch_classes)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3F5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nn.functional.gumbel_softmax(l, tau=1.0, hard=True)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4160520"/>
            <a:ext cx="8595360" cy="777240"/>
          </a:xfrm>
          <a:prstGeom prst="rect">
            <a:avLst/>
          </a:prstGeom>
          <a:solidFill>
            <a:srgbClr val="1A3550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160520"/>
            <a:ext cx="8321040" cy="777240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Opis: </a:t>
            </a:r>
            <a:r>
              <a:rPr lang="en-US" sz="120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imagine_step() propaguje stan w latent space; nie potrzebuje </a:t>
            </a:r>
            <a:r>
              <a:rPr lang="en-US" sz="1200" dirty="0" err="1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obserwacji</a:t>
            </a:r>
            <a:r>
              <a:rPr lang="en-US" sz="120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0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planowanie w wyobraźni.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2286000" cy="228600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D97706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0"/>
            <a:ext cx="1645920" cy="1645920"/>
          </a:xfrm>
          <a:prstGeom prst="ellipse">
            <a:avLst/>
          </a:prstGeom>
          <a:solidFill>
            <a:srgbClr val="0D1B2A"/>
          </a:solidFill>
          <a:ln w="25400">
            <a:solidFill>
              <a:srgbClr val="D97706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64592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260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926080" y="16002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Algorytmy WMA </a:t>
            </a:r>
            <a:r>
              <a:rPr lang="en-US" sz="26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DreamerV3, TDMPC2, JEPA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2926080" y="2697480"/>
            <a:ext cx="3931920" cy="27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26080" y="28346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działają krok po kroku; różnice i zastosowania w lokomocji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DREAMERV3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DreamerV3 </a:t>
            </a:r>
            <a:r>
              <a:rPr lang="en-US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 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architektura i cykl uczenia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5394960" cy="662026"/>
          </a:xfrm>
          <a:prstGeom prst="rect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143000"/>
            <a:ext cx="18288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Zbieranie danych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331720" y="1143000"/>
            <a:ext cx="315468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Polityka π wykonuje akcje na robocie; (o, a, r, done) zapisywane do replay buffer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44368" y="1814170"/>
            <a:ext cx="54864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914754"/>
            <a:ext cx="5394960" cy="66202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1914754"/>
            <a:ext cx="18288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Uczenie modelu świata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331720" y="1914754"/>
            <a:ext cx="315468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Mini-batch z replay → RSSM; minimalizacja L_recon + KL + L_reward + L_continue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44368" y="2585923"/>
            <a:ext cx="54864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686507"/>
            <a:ext cx="5394960" cy="66202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2686507"/>
            <a:ext cx="18288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Wyobraźnia (Imagine)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331720" y="2686507"/>
            <a:ext cx="315468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replay buffer inicjuj stany; rozwiń H=15 kroków wyłącznie modelem T; bez robota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44368" y="3357677"/>
            <a:ext cx="54864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458261"/>
            <a:ext cx="5394960" cy="66202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3458261"/>
            <a:ext cx="18288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Uczenie aktora-krytyka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331720" y="3458261"/>
            <a:ext cx="315468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Actor: max λ-return przez gradienty z wyobraźni; Critic: regresja na λ-return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944368" y="4129430"/>
            <a:ext cx="54864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230014"/>
            <a:ext cx="5394960" cy="66202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4230014"/>
            <a:ext cx="18288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Wykonanie na robocie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331720" y="4230014"/>
            <a:ext cx="315468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Polityka π(a|h,z) w latent space; akcja dekodowana i wysyłana do ros2_control / WBC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0" y="1143000"/>
            <a:ext cx="2926080" cy="3749040"/>
          </a:xfrm>
          <a:prstGeom prst="rect">
            <a:avLst/>
          </a:prstGeom>
          <a:solidFill>
            <a:srgbClr val="0D1B2A"/>
          </a:solidFill>
          <a:ln w="1270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0" y="1143000"/>
            <a:ext cx="292608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11612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Kluczowe cechy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080760" y="1600200"/>
            <a:ext cx="2651760" cy="3200400"/>
          </a:xfrm>
          <a:prstGeom prst="rect">
            <a:avLst/>
          </a:prstGeom>
          <a:noFill/>
          <a:ln/>
        </p:spPr>
        <p:txBody>
          <a:bodyPr wrap="square" lIns="63500" tIns="101600" rIns="63500" bIns="635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Symultaniczny trening: model + policy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GPU (RTX 3090): ~10h training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Działa z obrazem RGB lub proprio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DreamerV3: zunifikowane hiperparametry dla wszystkich środowisk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Atari, DMControl, HumanoidWalk: SoTA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Open-source: github.com/danijar/dreamerv3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TDMPC2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TDMPC2 </a:t>
            </a:r>
            <a:r>
              <a:rPr lang="en-US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 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Temporal Difference Model Predictive Control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35204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TDMPC2 łączy model świata z optymalizacją trajektorii w stylu MPC (Model Predictive Control)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world model: enkoder E + model przejścia T + głowica nagrody R + value function V (wszystkie MLP)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Planowanie przez MPPI (Model Predictive Path Integral): próbkuj N trajektorii w latent space, weź najlepszą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consistency loss: predykcja H kroków do przodu; gradienty przez cały horyzont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Kluczowa zaleta: bardzo małe modele (~</a:t>
            </a:r>
            <a:r>
              <a:rPr lang="en-US" sz="14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0,5M-5M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parametrów) i szybka inferencja (~0,5 ms/krok)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SoTA na Humanoid-9DoF (DMControl); chód, bieg, backflip w ciągłej przestrzeni akcji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Open-source: github.com/nicklashansen/tdmpc2; gotowy interfejs dla robotów z PyTorch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JEPA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JEPA </a:t>
            </a:r>
            <a:r>
              <a:rPr lang="en-US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 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Joint Embedding Predictive Architecture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09160" y="109728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97280"/>
            <a:ext cx="41605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155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 JEPA (LeCun, Meta AI)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6052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155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JEPA w nawigacji robota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1600200"/>
            <a:ext cx="3794760" cy="3108960"/>
          </a:xfrm>
          <a:prstGeom prst="rect">
            <a:avLst/>
          </a:prstGeom>
          <a:noFill/>
          <a:ln/>
        </p:spPr>
        <p:txBody>
          <a:bodyPr wrap="square" lIns="63500" tIns="101600" rIns="63500" bIns="6350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Predykcja w przestrzeni reprezentacji, nie pikseli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encoder: koduje widoczny fragment sceny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encoder: koduje ukryty/przyszły fragment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Predictor: próbuje przewidzieć target z context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dekodera: nie rekonstruuje surowych pikseli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Zaleta: uczy się abstrakcyjnych cech, a nie tekstur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Szybszy trening: bez kosztownej rekonstrukcji RGB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600200"/>
            <a:ext cx="3794760" cy="3108960"/>
          </a:xfrm>
          <a:prstGeom prst="rect">
            <a:avLst/>
          </a:prstGeom>
          <a:noFill/>
          <a:ln/>
        </p:spPr>
        <p:txBody>
          <a:bodyPr wrap="square" lIns="63500" tIns="101600" rIns="63500" bIns="6350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I-JEPA (obraz): pre-training enkodera ViT bez etykiet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V-JEPA (wideo): predykcja przyszłych klatek wideo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Używane jako pre-trained backbone dla RSSM lub TDMPC2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widzi lewą połowę korytarza → przewiduje prawą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Semantyczne reprezentacje lepsze niż px-rekonstrukcja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Integracja: JEPA encoder → </a:t>
            </a:r>
            <a:r>
              <a:rPr lang="en-US" sz="13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</a:t>
            </a:r>
            <a:r>
              <a:rPr lang="en-US" sz="130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z_t 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RSSM/TDMPC2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PORÓWNANIE ALGORYTMÓW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Porównanie algorytmów WMA dla humanoida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344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DreamerV3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8534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RSSM + actor-critic; imagen. H=15; SoTA na humanoid locomotion; pełny kod open-source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11430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143000"/>
            <a:ext cx="265176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2344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TDMPC2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64408" y="18534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world model + MPPI; 0,5M param; szybki; idealny na Jetson; SoTA DMControl Humanoid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1430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143000"/>
            <a:ext cx="265176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12344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44768" y="18534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model jako autoregressive transformer (jak GPT); tokeny stanu; silny w rzadkich nagrodach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71800"/>
            <a:ext cx="2651760" cy="5486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0632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DayDreamer (robot)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" y="36822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Adaptacja Dreamer do real robotów; trening na żywym robocie bez resetów; prawie zero-shot transfer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54680" y="29718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2971800"/>
            <a:ext cx="265176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64408" y="30632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HarmonyDream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64408" y="36822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WMA dla humanoid navigation: hierarchia Dreamer (wysoki) + TDMPC2 (niski); wyniki ICRA 2024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35040" y="29718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2971800"/>
            <a:ext cx="2651760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44768" y="3063240"/>
            <a:ext cx="2432304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SWIM (MuJoCo)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44768" y="3682289"/>
            <a:ext cx="2432304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World-model for Imagination; 3D voxel world model; planowanie 3D dla humanoida na schodach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2 | UCZENIE WMA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Uczenie WMA </a:t>
            </a:r>
            <a:r>
              <a:rPr lang="en-US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 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dane, trening i hiperparametry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35204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 wejściowe: sekwencje (o₁, a₁, r₁, o₂, a₂, …) z eksploracyjnej polityki lub teleoperation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Rozmiar replay buffer: </a:t>
            </a:r>
            <a:r>
              <a:rPr lang="en-US" sz="14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typowo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1M-10M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kroków; priorytetowe próbkowanie (PER) poprawia próbkowanie rzadkich zdarzeń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 16 sekwencji × 64 kroki = 1024 kroków na batch; częstość uczenia: 1 krok uczenia / 1 krok środowiska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Hiperparametry DreamerV3 zunifikowane: lr=1e-4, γ=0,997, λ=0,95, β=1,0; działają bez strojenia między środowiskami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Curriculum: zacznij od krótkich trajektorii i prostych środowisk; stopniowo zwiększaj horyzont i złożoność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Augmentacja danych: random crop, color jitter, losowe wycinki </a:t>
            </a:r>
            <a:r>
              <a:rPr lang="en-US" sz="14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czasowe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podwaja efektywność danych z robota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Metryki treningu: błąd rekonstrukcji, KL divergence, episode return podczas walidacji w symulacji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3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 PYTHON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Planowanie w </a:t>
            </a:r>
            <a:r>
              <a:rPr lang="en-US" sz="2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wyobraźni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 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horyzont H kroków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017520"/>
          </a:xfrm>
          <a:prstGeom prst="rect">
            <a:avLst/>
          </a:prstGeom>
          <a:solidFill>
            <a:srgbClr val="071520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11556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1115568"/>
            <a:ext cx="146304" cy="146304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4984" y="1115568"/>
            <a:ext cx="146304" cy="146304"/>
          </a:xfrm>
          <a:prstGeom prst="ellipse">
            <a:avLst/>
          </a:prstGeom>
          <a:solidFill>
            <a:srgbClr val="C3F584"/>
          </a:solidFill>
          <a:ln w="12700">
            <a:solidFill>
              <a:srgbClr val="C3F5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71600"/>
            <a:ext cx="8321040" cy="2560320"/>
          </a:xfrm>
          <a:prstGeom prst="rect">
            <a:avLst/>
          </a:prstGeom>
          <a:noFill/>
          <a:ln/>
        </p:spPr>
        <p:txBody>
          <a:bodyPr wrap="square" lIns="63500" tIns="127000" rIns="127000" bIns="6350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imagine_rollout(rssm, actor, h0, z0, horizon=15</a:t>
            </a:r>
            <a:r>
              <a:rPr lang="en-US" sz="100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00" smtClean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n_traj=512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E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"""Rozija N trajektorii w przestrzeni latentnej przez H krokow."""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 </a:t>
            </a:r>
            <a:r>
              <a:rPr lang="en-US" sz="100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000" smtClean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n_traj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E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Inicjalizacja: powiel stan poczatkowy dla wszystkich trajektorii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 = h0.unsqueeze(0).expand(B, -1)   # (B, det_dim)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z = z0.unsqueeze(0).expand(B, -1, -1)  # (B, stoch_dim, classes)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states_h, states_z, actions = [h], [z], []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_ in range(horizon):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E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Polityka wybiera akcje z biezacego stanu latentnego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z_flat = z.view(B, -1)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3F5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a_dist = actor(torch.cat([h, z_flat], dim=-1))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3F5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      = a_dist.rsample()       # rozniczkowane probkowanie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E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Krok wyobrazni (bez robota!)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3F5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h, z   = rssm.imagine_step(h, z, a)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states_h.append(h); states_z.append(z); actions.append(a)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E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Zwroc stosy tensorow: (H+1, B, dim)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3F5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torch.stack(states_h), torch.stack(states_z), torch.stack(actions)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4160520"/>
            <a:ext cx="8595360" cy="777240"/>
          </a:xfrm>
          <a:prstGeom prst="rect">
            <a:avLst/>
          </a:prstGeom>
          <a:solidFill>
            <a:srgbClr val="1A3550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160520"/>
            <a:ext cx="8321040" cy="777240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</a:t>
            </a:r>
            <a:r>
              <a:rPr lang="en-US" sz="12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n_traj=512 </a:t>
            </a:r>
            <a:r>
              <a:rPr lang="en-US" sz="120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trajektorii × H=15 kroków: cały rollout zajmuje ~2 ms na GPU; gradients flow przez wszystkie kroki.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23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 PYTHON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Szkielet treningu DreamerV3 (pętla treningowa)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017520"/>
          </a:xfrm>
          <a:prstGeom prst="rect">
            <a:avLst/>
          </a:prstGeom>
          <a:solidFill>
            <a:srgbClr val="071520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11556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1115568"/>
            <a:ext cx="146304" cy="146304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4984" y="1115568"/>
            <a:ext cx="146304" cy="146304"/>
          </a:xfrm>
          <a:prstGeom prst="ellipse">
            <a:avLst/>
          </a:prstGeom>
          <a:solidFill>
            <a:srgbClr val="C3F584"/>
          </a:solidFill>
          <a:ln w="12700">
            <a:solidFill>
              <a:srgbClr val="C3F5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71600"/>
            <a:ext cx="8321040" cy="2560320"/>
          </a:xfrm>
          <a:prstGeom prst="rect">
            <a:avLst/>
          </a:prstGeom>
          <a:noFill/>
          <a:ln/>
        </p:spPr>
        <p:txBody>
          <a:bodyPr wrap="square" lIns="63500" tIns="127000" rIns="127000" bIns="635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E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Zakładamy: rssm, decoder, reward_head, value_fn, actor, critic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E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replay_buffer przechowuje sekwencje (o,a,r,done)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step in range(total_steps):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E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--- 1. Krok na robocie ---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obs = robot.get_observation()           # RGB + proprio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3F5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z, h = rssm.encode_and_update(obs)      # posterior + GRU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3F5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action = actor(h, z).sample().clamp(-1, 1)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reward, next_obs, done = robot.step(action)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replay_buffer.add(obs, action, reward, done)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E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--- 2. Uczenie modelu swiata ---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batch = replay_buffer.sample(batch_size=16, seq_len=64)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3F5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loss_wm = world_model_loss(rssm, decoder, reward_head, batch)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3F5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loss_wm.backward(); opt_wm.step(); opt_wm.zero_grad()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E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--- 3. Uczenie aktora-krytyka w wyobrazni ---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h0, z0 = rssm.get_current_state()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3F5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hs, zs, acts = imagine_rollout(rssm, actor, h0, z0)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3F5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returns   = compute_lambda_returns(reward_head, value_fn, hs, zs)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3F5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loss_ac   = actor_critic_loss(actor, critic, hs, zs, acts, returns)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3F5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loss_ac.backward(); opt_ac.step(); opt_ac.zero_grad()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4160520"/>
            <a:ext cx="8595360" cy="777240"/>
          </a:xfrm>
          <a:prstGeom prst="rect">
            <a:avLst/>
          </a:prstGeom>
          <a:solidFill>
            <a:srgbClr val="1A3550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160520"/>
            <a:ext cx="8321040" cy="777240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Opis: </a:t>
            </a:r>
            <a:r>
              <a:rPr lang="en-US" sz="120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Trzy fazy w każdym kroku: rollout na robocie → ucz model świata → ucz actor-critic w wyobraźni.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3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2286000" cy="228600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0077A8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0"/>
            <a:ext cx="1645920" cy="1645920"/>
          </a:xfrm>
          <a:prstGeom prst="ellipse">
            <a:avLst/>
          </a:prstGeom>
          <a:solidFill>
            <a:srgbClr val="0D1B2A"/>
          </a:solidFill>
          <a:ln w="25400">
            <a:solidFill>
              <a:srgbClr val="0077A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64592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260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7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926080" y="16002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WMA w nawigacji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humanoida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2926080" y="2697480"/>
            <a:ext cx="3931920" cy="2743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26080" y="28346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Integracja z ROS 2, hierarchia planowania, trening i wdrożenie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HIERARCHIA NAWIGACJI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Hierarchiczna architektura nawigacji z WMA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5394960" cy="662026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143000"/>
            <a:ext cx="18288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Poziom misji (LLM/VLM)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331720" y="1143000"/>
            <a:ext cx="315468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Polecenie językowe → sekwencja celów nawigacyjnych; wywołanie co ~2 s (patrz Wykład 5)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44368" y="1814170"/>
            <a:ext cx="54864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914754"/>
            <a:ext cx="5394960" cy="66202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1914754"/>
            <a:ext cx="18288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Poziom globalny (A* + SLAM)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331720" y="1914754"/>
            <a:ext cx="315468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zajętości, ścieżka metryczna do celu; aktualizacja co </a:t>
            </a:r>
            <a:r>
              <a:rPr lang="en-US" sz="11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0,5-2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s; klasyczny planista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44368" y="2585923"/>
            <a:ext cx="54864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686507"/>
            <a:ext cx="5394960" cy="66202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2686507"/>
            <a:ext cx="18288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Poziom </a:t>
            </a:r>
            <a:r>
              <a:rPr lang="en-US" sz="125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lokalny</a:t>
            </a: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25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 </a:t>
            </a: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WMA (TDMPC2)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331720" y="2686507"/>
            <a:ext cx="315468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model przewiduje H=10 kroków; MPPI wybiera optymalną (v, ω); </a:t>
            </a:r>
            <a:r>
              <a:rPr lang="en-US" sz="11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20-50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44368" y="3357677"/>
            <a:ext cx="54864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458261"/>
            <a:ext cx="5394960" cy="66202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3458261"/>
            <a:ext cx="18288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Poziom </a:t>
            </a:r>
            <a:r>
              <a:rPr lang="en-US" sz="125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chodu</a:t>
            </a: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25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 </a:t>
            </a: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WBC + RSSM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331720" y="3458261"/>
            <a:ext cx="315468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WMA dla lokomocji: planuje sekwencję kroków w latent space; 200 Hz WBC + 10 Hz WMA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944368" y="4129430"/>
            <a:ext cx="54864" cy="914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230014"/>
            <a:ext cx="5394960" cy="662026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4230014"/>
            <a:ext cx="18288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Aktuatory (ros2_control)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331720" y="4230014"/>
            <a:ext cx="315468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Komendy momentów τ [Nm]; pętle PID 1 kHz; enkodery i F/T → sprzężenie zwrotne do WMA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0" y="1143000"/>
            <a:ext cx="2926080" cy="3749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77A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0" y="1143000"/>
            <a:ext cx="2926080" cy="38404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11612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Kluczowe cechy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080760" y="1600200"/>
            <a:ext cx="2651760" cy="3200400"/>
          </a:xfrm>
          <a:prstGeom prst="rect">
            <a:avLst/>
          </a:prstGeom>
          <a:noFill/>
          <a:ln/>
        </p:spPr>
        <p:txBody>
          <a:bodyPr wrap="square" lIns="63500" tIns="101600" rIns="63500" bIns="635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Każdy poziom ma własną częstość i horyzont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Błędy WMA nie blokują WBC (fallback)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Wspólny stan latentny h między poziomami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Można zastąpić pojedynczy poziom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Testowany: DreamerV3 + Nav2 w Gazebo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Czas latencji: WMA ≈ 5 ms / krok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TRENING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Etapy trenowania WMA dla nawigacji humanoida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87552" y="1188720"/>
            <a:ext cx="585216" cy="585216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188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Pre-training w symulacji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423160"/>
            <a:ext cx="1828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MuJoCo / Isaac Sim; 10M kroków; polityka eksploracyjna; uczenie RSSM i enkodera na danych proprio + RGB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23160" y="109728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36392" y="1188720"/>
            <a:ext cx="585216" cy="585216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36392" y="1188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51460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Fine-tuning w symulacji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14600" y="2423160"/>
            <a:ext cx="1828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Zadanie nawigacyjne: dotarcie do celu ±0,1 m; funkcja nagrody: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dirty="0" err="1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d_goal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bonus_sukces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kolizja; DreamerV3 / TDMPC2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109728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85232" y="1188720"/>
            <a:ext cx="585216" cy="585216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85232" y="1188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66344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Sim-to-real transfer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63440" y="2423160"/>
            <a:ext cx="1828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randomization: masa, tarcie, opóźnienia, tekstury; tylko enkoder re-fine-tunowany na 1h danych z realnego robota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20840" y="109728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34072" y="1188720"/>
            <a:ext cx="585216" cy="585216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34072" y="11887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81228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Online adaptation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12280" y="2423160"/>
            <a:ext cx="1828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robocie: replay buffer zasilany danymi online; model przejścia update co 100 kroków; polityka adaptuje się w locie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FUNKCJA NAGRODY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Projektowanie funkcji nagrody dla nawigacji WMA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35204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Nagroda za zbliżenie do celu: r_goal = </a:t>
            </a:r>
            <a:r>
              <a:rPr lang="en-US" sz="145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-d(pos_t,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goal) / d_initial; znormalizowana, gęsta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 za kolizję: r_coll = </a:t>
            </a:r>
            <a:r>
              <a:rPr lang="en-US" sz="14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gdy dist(przeszkoda) &lt; 0,3 m; epizod kończy się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Nagroda za stabilność ZMP: r_zmp = +0,2 gdy ZMP w wieloboku; </a:t>
            </a:r>
            <a:r>
              <a:rPr lang="en-US" sz="14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-0,5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gdy poza marginesem 2 cm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 za zużycie energii: r_energy = </a:t>
            </a:r>
            <a:r>
              <a:rPr lang="en-US" sz="14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-0,001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∑|τ_i · dq_i|; preferuje płynny chód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Nagroda za prędkość: r_vel = +0,1 · v_forward; zachęca do sprawnego ruchu ku celowi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Nagroda za sukces: r_success = +50 gdy |pos - goal| &lt; 0,1 m; jednorazowy bonus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Balans</a:t>
            </a:r>
            <a:r>
              <a:rPr lang="en-US" sz="14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5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r_total 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r_goal + r_zmp + r_energy + r_vel + r_coll + r_success; wagi dobierane eksperymentalnie</a:t>
            </a:r>
            <a:endParaRPr lang="en-US" sz="14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INTEGRACJA ROS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Integracja WMA z ROS 2 </a:t>
            </a:r>
            <a:r>
              <a:rPr lang="en-US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 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wzorzec implementacji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35204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/wma_policy: subskrybuje /camera/image_raw + /odom + /joint_states; publikuje /cmd_vel lub /footstep_goal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Cykl działania: encode(obs) → rssm.imagine(H=10) → mppi_select_action() → publish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Latencja: TDMPC2 ~3 ms, DreamerV3 ~8 ms na Jetson AGX Orin; mieści się w cyklu 50 Hz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Interfejs z Nav2: /wma_policy jako custom local planner plugin (nav2_core::Controller interface)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TF2: node czyta transformacje map→odom→base; stan latentny enkoduje RELATYWNĄ pozycję celu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Watchdog: jeśli WMA nie odpowie przez &gt;50 ms → Nav2 fallback do DWB controller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Diagnostics: /wma_diagnostics publikuje latencję, wartość funkcji wartości V(h,z), błąd predykcji</a:t>
            </a:r>
            <a:endParaRPr lang="en-US" sz="1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23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KOD PYTHON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WMA jako kontroler lokalny w Nav2 (Python szkielet)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017520"/>
          </a:xfrm>
          <a:prstGeom prst="rect">
            <a:avLst/>
          </a:prstGeom>
          <a:solidFill>
            <a:srgbClr val="071520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11556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1115568"/>
            <a:ext cx="146304" cy="146304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4984" y="1115568"/>
            <a:ext cx="146304" cy="146304"/>
          </a:xfrm>
          <a:prstGeom prst="ellipse">
            <a:avLst/>
          </a:prstGeom>
          <a:solidFill>
            <a:srgbClr val="C3F584"/>
          </a:solidFill>
          <a:ln w="12700">
            <a:solidFill>
              <a:srgbClr val="C3F5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71600"/>
            <a:ext cx="8321040" cy="2560320"/>
          </a:xfrm>
          <a:prstGeom prst="rect">
            <a:avLst/>
          </a:prstGeom>
          <a:noFill/>
          <a:ln/>
        </p:spPr>
        <p:txBody>
          <a:bodyPr wrap="square" lIns="63500" tIns="127000" rIns="127000" bIns="6350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rclpy; from rclpy.node import Node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torch, numpy as np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geometry_msgs.msg import Twist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WMAController(Node):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super().__init__('wma_controller')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self.rssm  = torch.load('rssm_humanoid.pt').eval().cuda()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self.actor = torch.load('actor_nav.pt').eval().cuda()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self.h = torch.zeros(1, 512).cuda()     # stan deterministyczny GRU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self.z = torch.zeros(1, 32, 32).cuda()  # stan stochastyczny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self.cmd_pub  = self.create_publisher(Twist, '/cmd_vel', 1)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self.obs_sub  = self.create_subscription(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CompressedImage, '/camera/compressed', self.obs_cb, 1)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obs_cb(self, msg):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obs = preprocess_image(msg)             # (1, 3, 64, 64) tensor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 torch.no_grad():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3F5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self.h, self.z = self.rssm.observe(obs, self.h, self.z)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3F5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action = self.actor(self.h, self.z.view(1,-1)).mean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cmd = Twist()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3F5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cmd.linear.x  = float(action[0].clamp(-0.5, 0.5))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3F5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cmd.angular.z = float(action[1].clamp(-1.0, 1.0))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self.cmd_pub.publish(cmd)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4160520"/>
            <a:ext cx="8595360" cy="777240"/>
          </a:xfrm>
          <a:prstGeom prst="rect">
            <a:avLst/>
          </a:prstGeom>
          <a:solidFill>
            <a:srgbClr val="1A3550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160520"/>
            <a:ext cx="8321040" cy="777240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Opis: </a:t>
            </a:r>
            <a:r>
              <a:rPr lang="en-US" sz="120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observe() aktualizuje (h,z) z nowej klatki; actor wybiera akcję z latent state; cmd_vel do Nav2 costmap.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PORÓWNANIE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WMA vs. VLM vs. klasyczny </a:t>
            </a:r>
            <a:r>
              <a:rPr lang="en-US" sz="2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planista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 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kiedy stosować?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2651760" cy="41148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16128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Klasyczny planer (A* + DWA)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" y="1627632"/>
            <a:ext cx="2432304" cy="3154680"/>
          </a:xfrm>
          <a:prstGeom prst="rect">
            <a:avLst/>
          </a:prstGeom>
          <a:noFill/>
          <a:ln/>
        </p:spPr>
        <p:txBody>
          <a:bodyPr wrap="square" lIns="50800" tIns="76200" rIns="50800" bIns="5080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Deterministyczny i formalnie poprawny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Wymaga gotowej mapy środowiska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 = współrzędne (x, y) w mapie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uczenia: brak adaptacji online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Szybki: A* ~5 ms, DWA ~2 ms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Najlepszy: znane, statyczne środowisko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54680" y="114300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143000"/>
            <a:ext cx="265176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16128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VLM (CLIP, LLaVA)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264408" y="1627632"/>
            <a:ext cx="2432304" cy="3154680"/>
          </a:xfrm>
          <a:prstGeom prst="rect">
            <a:avLst/>
          </a:prstGeom>
          <a:noFill/>
          <a:ln/>
        </p:spPr>
        <p:txBody>
          <a:bodyPr wrap="square" lIns="50800" tIns="76200" rIns="50800" bIns="5080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Rozumie polecenia językowe i semantykę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Zero-shot: nie wymaga mapy etykiet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Wolny: </a:t>
            </a:r>
            <a:r>
              <a:rPr lang="en-US" sz="11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100-800 </a:t>
            </a: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/ zapytanie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planuje </a:t>
            </a:r>
            <a:r>
              <a:rPr lang="en-US" sz="11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fizyki</a:t>
            </a: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tylko co i gdzie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Najlepszy: grounding, instruction follow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Łączy się z A* jako oracle celu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114300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143000"/>
            <a:ext cx="265176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116128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WMA (DreamerV3, TDMPC2)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144768" y="1627632"/>
            <a:ext cx="2432304" cy="3154680"/>
          </a:xfrm>
          <a:prstGeom prst="rect">
            <a:avLst/>
          </a:prstGeom>
          <a:noFill/>
          <a:ln/>
        </p:spPr>
        <p:txBody>
          <a:bodyPr wrap="square" lIns="50800" tIns="76200" rIns="50800" bIns="5080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Uczy się fizyki środowiska z doświadczeń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Szybkie planowanie: ~</a:t>
            </a:r>
            <a:r>
              <a:rPr lang="en-US" sz="11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3-8 </a:t>
            </a: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/ krok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Generalizuje: nowe ułożenia mebli OK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Wymaga treningu (~100k kroków sim.)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Najlepszy: dynamiczna lokomocja, przeszkody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Łączy się z VLM (cel) + A* (trasa globalna)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OGRANICZENIA I BADANIA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Ograniczenia i otwarte wyzwania WMA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60520" cy="374904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09160" y="1097280"/>
            <a:ext cx="4160520" cy="3749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97280"/>
            <a:ext cx="416052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155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Problemy techniczne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60520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155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Kierunki badań i rozwiązania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1600200"/>
            <a:ext cx="3794760" cy="3108960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Błąd kompounding: model przejścia po 20+ krokach wyobraźni kumuluje błędy predykcji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Trudność z rzadkimi zdarzeniami: upadek, kolizja; replay buffer rzadko je zawiera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Kosztowne uczenie: 10M kroków simul. × 5 ms/krok ≈ 14h; realny robot = dni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Sim-to-real gap: model przejścia nie uwzględnia elastyczności struktury, tarcia statycznego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Rozkład wielomodalny: kilka równie dobrych ścieżek; RSSM z rozk. Gaussa słabo je modeluje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92040" y="1600200"/>
            <a:ext cx="3794760" cy="3108960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Dłuższy efektywny horyzont: hierarchiczne WMA (krótki + długi horyzont)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Aktywne zbieranie danych: polityka eksploracyjna celowo szuka rzadkich zdarzeń (curiousity)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fine-tuning: 1h danych z robota + pre-trained sim model → sim-to-real w ~30 min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Normalizing flows / diffusion: lepsze modelowanie wielomodalności niż Gauss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World Models: duży model pre-trained na danych z wielu robotów (Open-X-Embodiment)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SEKCJA 3 | STUDIUM PRZYPADKU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2400" b="1" dirty="0" err="1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</a:t>
            </a:r>
            <a:r>
              <a:rPr lang="pl-PL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pl-PL" sz="2400" b="1" dirty="0" err="1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</a:t>
            </a:r>
            <a:r>
              <a:rPr lang="en-US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 </a:t>
            </a: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WMA dla humanoida patrolującego budynek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35204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Platforma: Unitree H1 / Agility Digit; symulacja: MuJoCo Menagerie z MJCF modelem robota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Architektura: LLM task planner → A* global path → TDMPC2 local navigation → WBC footstep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Trening TDMPC2: 5M kroków symulacji (≈7 h na RTX 4090); nagroda: r_goal + r_zmp + r_energy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 realne: 45 min teleoperation w budynku → fine-tuning enkodera (tylko E); reszta zamrożona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Wyniki walidacji: success rate 92% (vs. 71% DWA) na trasach z dynamicznymi przeszkodami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Zużycie energii: </a:t>
            </a:r>
            <a:r>
              <a:rPr lang="en-US" sz="145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-18</a:t>
            </a: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względem DWA; WMA wybiera płynniejsze trajektorie z mniejszymi momentami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Czas odpowiedzi: TDMPC2 ~4 ms/krok na Jetson Orin; A* co 1 s; LLM co 5 s (asynchronicznie)</a:t>
            </a:r>
            <a:endParaRPr lang="en-US" sz="14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PODSUMOWANI</a:t>
            </a:r>
            <a:r>
              <a:rPr lang="pl-PL" sz="28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0" y="1005840"/>
            <a:ext cx="36576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2344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świata uczy się przewidywać kolejne stany środowiska z obserwacji i akcji; planowanie odbywa się w przestrzeni latentnej.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947672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99339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WMA = enkoder + model przejścia + model nagrody/wartości + planista + polityka; każdy komponent jest uczony przez RL lub imitation learning.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706624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706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75234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DreamerV3 i TDMPC2 to referencyjne implementacje gotowe do adaptacji na dane robotyczne z lokomocją humanoidalną.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465576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465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511296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Planowanie w wyobraźni eliminuje kosztowne rollout-y na robocie i przyspiesza uczenie o </a:t>
            </a:r>
            <a:r>
              <a:rPr lang="en-US" sz="1400" dirty="0" smtClean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10-100</a:t>
            </a:r>
            <a:r>
              <a:rPr lang="en-US" sz="140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4224528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224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427024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2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WMA, VLM i klasyczny planer A* są komplementarne i mogą działać w jednej hierarchicznej architekturze nawigacji.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ZADANIE PROJEKTOWE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743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Zadanie projektowe i pytania problemowe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F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35204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Wyjaśnij własnymi słowami różnicę między posterior q(</a:t>
            </a:r>
            <a:r>
              <a:rPr lang="en-US" sz="16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z|h,o</a:t>
            </a:r>
            <a:r>
              <a:rPr lang="en-US" sz="16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pl-PL" sz="16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6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 p(z|h) w RSSM. Dlaczego w fazie "wyobraźni" używamy prioru, a nie posterioru?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Dlaczego planowanie w przestrzeni latentnej jest szybsze niż planowanie z surowymi obserwacjami? Podaj konkretne liczby (wymiarowość, liczba operacji).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Jakie hiperparametry DreamerV3 należałoby dostroić, gdybyś trenował robot </a:t>
            </a:r>
            <a:r>
              <a:rPr lang="pl-PL" sz="16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pl-PL" sz="16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</a:t>
            </a:r>
            <a:r>
              <a:rPr lang="en-US" sz="16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nawigacji</a:t>
            </a: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</a:t>
            </a: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ciemnym korytarzu z kamerą termowizyjną zamiast RGB?</a:t>
            </a:r>
            <a:endParaRPr lang="en-US" sz="1600" dirty="0"/>
          </a:p>
          <a:p>
            <a:pPr algn="just">
              <a:spcBef>
                <a:spcPts val="600"/>
              </a:spcBef>
              <a:spcAft>
                <a:spcPts val="900"/>
              </a:spcAft>
              <a:buSzPct val="100000"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Zadanie projektowe</a:t>
            </a: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zaimplementuj uproszczony RSSM (enkoder 2-warstwy MLP, GRU 256, prior 2-warstwy MLP) i wytrenuj go na danych z symulowanego wahadła odwróconego (CartPole). Sprawdź, czy model potrafi wyobrazić sobie 10-krokową trajektorię startując z losowego stanu.</a:t>
            </a:r>
            <a:endParaRPr lang="en-US" sz="1600" dirty="0"/>
          </a:p>
          <a:p>
            <a:pPr algn="just">
              <a:spcAft>
                <a:spcPts val="900"/>
              </a:spcAft>
              <a:buSzPct val="100000"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r>
              <a:rPr lang="en-US" sz="16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połącz TDMPC2 z Nav2 w Gazebo dla robota kołowego (TurtleBot3) i porównaj success rate z DWB na mapie z 5 dynamicznymi przeszkodami.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3919</Words>
  <Application>Microsoft Office PowerPoint</Application>
  <PresentationFormat>Pokaz na ekranie (16:9)</PresentationFormat>
  <Paragraphs>445</Paragraphs>
  <Slides>30</Slides>
  <Notes>30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30</vt:i4>
      </vt:variant>
    </vt:vector>
  </HeadingPairs>
  <TitlesOfParts>
    <vt:vector size="35" baseType="lpstr">
      <vt:lpstr>Arial</vt:lpstr>
      <vt:lpstr>Calibri</vt:lpstr>
      <vt:lpstr>Consolas</vt:lpstr>
      <vt:lpstr>Trebuchet MS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Wykład 6 – World-Model-Action (WMA) w nawigacji humanoida</dc:title>
  <dc:subject>PptxGenJS Presentation</dc:subject>
  <dc:creator>Politechnika – Katedra Robotyki</dc:creator>
  <cp:lastModifiedBy>Mateusz Pomianek</cp:lastModifiedBy>
  <cp:revision>15</cp:revision>
  <dcterms:created xsi:type="dcterms:W3CDTF">2026-04-17T12:29:11Z</dcterms:created>
  <dcterms:modified xsi:type="dcterms:W3CDTF">2026-04-17T12:40:28Z</dcterms:modified>
</cp:coreProperties>
</file>